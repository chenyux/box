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</a:rPr>
              <a:t>http://cs224w.stanford.edu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60B5CC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</a:rPr>
              <a:t>http://cs224w.stanford.edu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</a:rPr>
              <a:t>http://cs224w.stanford.edu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</a:rPr>
              <a:t>http://cs224w.stanford.edu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</a:rPr>
              <a:t>http://cs224w.stanford.edu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996696"/>
            <a:ext cx="9144000" cy="1127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9363" y="1335531"/>
            <a:ext cx="501777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8108" y="1850770"/>
            <a:ext cx="7852409" cy="4051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60B5CC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73615" y="6699893"/>
            <a:ext cx="4343400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</a:rPr>
              <a:t>http://cs224w.stanford.edu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54227" y="6699893"/>
            <a:ext cx="343534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06997" y="6699893"/>
            <a:ext cx="165100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5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7.jpg"/><Relationship Id="rId4" Type="http://schemas.openxmlformats.org/officeDocument/2006/relationships/image" Target="../media/image8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11.jpg"/><Relationship Id="rId4" Type="http://schemas.openxmlformats.org/officeDocument/2006/relationships/hyperlink" Target="http://cs224w.stanford.edu/" TargetMode="Externa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jpg"/><Relationship Id="rId4" Type="http://schemas.openxmlformats.org/officeDocument/2006/relationships/hyperlink" Target="http://cs224w.stanford.edu/" TargetMode="Externa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17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hyperlink" Target="http://cs224w.stanford.edu/" TargetMode="Externa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hyperlink" Target="http://cs224w.stanford.edu/" TargetMode="Externa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hyperlink" Target="http://cs224w.stanford.edu/" TargetMode="Externa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jpg"/><Relationship Id="rId4" Type="http://schemas.openxmlformats.org/officeDocument/2006/relationships/hyperlink" Target="http://cs224w.stanford.edu/" TargetMode="Externa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hyperlink" Target="http://cs224w.stanford.edu/" TargetMode="Externa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hyperlink" Target="http://cs224w.stanford.edu/" TargetMode="Externa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30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hyperlink" Target="http://cs224w.stanford.edu/" TargetMode="Externa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hyperlink" Target="http://cs224w.stanford.edu/" TargetMode="Externa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hyperlink" Target="http://cs224w.stanford.edu/" TargetMode="Externa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hyperlink" Target="http://cs224w.stanford.edu/" TargetMode="Externa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3" Type="http://schemas.openxmlformats.org/officeDocument/2006/relationships/hyperlink" Target="http://cs224w.stanford.edu/" TargetMode="Externa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hyperlink" Target="http://cs224w.stanford.edu/" TargetMode="Externa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hyperlink" Target="http://cs224w.stanford.edu/" TargetMode="Externa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png"/><Relationship Id="rId3" Type="http://schemas.openxmlformats.org/officeDocument/2006/relationships/hyperlink" Target="http://cs224w.stanford.edu/" TargetMode="Externa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3" Type="http://schemas.openxmlformats.org/officeDocument/2006/relationships/image" Target="../media/image41.jpg"/><Relationship Id="rId4" Type="http://schemas.openxmlformats.org/officeDocument/2006/relationships/hyperlink" Target="http://cs224w.stanford.edu/" TargetMode="Externa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43.jpg"/><Relationship Id="rId4" Type="http://schemas.openxmlformats.org/officeDocument/2006/relationships/hyperlink" Target="http://cs224w.stanford.edu/" TargetMode="Externa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3" Type="http://schemas.openxmlformats.org/officeDocument/2006/relationships/hyperlink" Target="http://cs224w.stanford.edu/" TargetMode="Externa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5.png"/><Relationship Id="rId3" Type="http://schemas.openxmlformats.org/officeDocument/2006/relationships/hyperlink" Target="http://cs224w.stanford.edu/" TargetMode="Externa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hyperlink" Target="http://cs224w.stanford.edu/" TargetMode="Externa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3" Type="http://schemas.openxmlformats.org/officeDocument/2006/relationships/hyperlink" Target="http://cs224w.stanford.edu/" TargetMode="Externa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hyperlink" Target="http://cs224w.stanford.edu/" TargetMode="Externa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3" Type="http://schemas.openxmlformats.org/officeDocument/2006/relationships/hyperlink" Target="http://cs224w.stanford.edu/" TargetMode="Externa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3" Type="http://schemas.openxmlformats.org/officeDocument/2006/relationships/hyperlink" Target="http://cs224w.stanford.edu/" TargetMode="Externa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3" Type="http://schemas.openxmlformats.org/officeDocument/2006/relationships/hyperlink" Target="http://cs224w.stanford.edu/" TargetMode="Externa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hyperlink" Target="http://cs224w.stanford.edu/" TargetMode="Externa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3" Type="http://schemas.openxmlformats.org/officeDocument/2006/relationships/hyperlink" Target="http://cs224w.stanford.edu/" TargetMode="Externa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4.png"/><Relationship Id="rId3" Type="http://schemas.openxmlformats.org/officeDocument/2006/relationships/hyperlink" Target="http://cs224w.stanford.edu/" TargetMode="Externa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5.png"/><Relationship Id="rId3" Type="http://schemas.openxmlformats.org/officeDocument/2006/relationships/hyperlink" Target="http://cs224w.stanford.edu/" TargetMode="Externa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6.png"/><Relationship Id="rId3" Type="http://schemas.openxmlformats.org/officeDocument/2006/relationships/hyperlink" Target="http://cs224w.stanford.edu/" TargetMode="Externa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7.png"/><Relationship Id="rId3" Type="http://schemas.openxmlformats.org/officeDocument/2006/relationships/hyperlink" Target="http://cs224w.stanford.edu/" TargetMode="Externa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8.png"/><Relationship Id="rId3" Type="http://schemas.openxmlformats.org/officeDocument/2006/relationships/hyperlink" Target="http://cs224w.stanford.edu/" TargetMode="Externa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9.png"/><Relationship Id="rId3" Type="http://schemas.openxmlformats.org/officeDocument/2006/relationships/hyperlink" Target="http://cs224w.stanford.edu/" TargetMode="Externa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png"/><Relationship Id="rId3" Type="http://schemas.openxmlformats.org/officeDocument/2006/relationships/hyperlink" Target="http://cs224w.stanford.edu/" TargetMode="Externa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hyperlink" Target="http://cs224w.stanford.edu/" TargetMode="Externa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3" Type="http://schemas.openxmlformats.org/officeDocument/2006/relationships/hyperlink" Target="http://cs224w.stanford.edu/" TargetMode="Externa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Relationship Id="rId3" Type="http://schemas.openxmlformats.org/officeDocument/2006/relationships/hyperlink" Target="http://cs224w.stanford.edu/" TargetMode="Externa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hyperlink" Target="http://cs224w.stanford.edu/" TargetMode="Externa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.png"/><Relationship Id="rId3" Type="http://schemas.openxmlformats.org/officeDocument/2006/relationships/image" Target="../media/image67.jpg"/><Relationship Id="rId4" Type="http://schemas.openxmlformats.org/officeDocument/2006/relationships/image" Target="../media/image68.jpg"/><Relationship Id="rId5" Type="http://schemas.openxmlformats.org/officeDocument/2006/relationships/hyperlink" Target="http://cs224w.stanford.edu/" TargetMode="Externa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9.png"/><Relationship Id="rId3" Type="http://schemas.openxmlformats.org/officeDocument/2006/relationships/image" Target="../media/image70.jpg"/><Relationship Id="rId4" Type="http://schemas.openxmlformats.org/officeDocument/2006/relationships/hyperlink" Target="http://cs224w.stanford.edu/" TargetMode="Externa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1.png"/><Relationship Id="rId3" Type="http://schemas.openxmlformats.org/officeDocument/2006/relationships/image" Target="../media/image72.jpg"/><Relationship Id="rId4" Type="http://schemas.openxmlformats.org/officeDocument/2006/relationships/hyperlink" Target="http://cs224w.stanford.edu/" TargetMode="External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Relationship Id="rId3" Type="http://schemas.openxmlformats.org/officeDocument/2006/relationships/image" Target="../media/image75.jpg"/><Relationship Id="rId4" Type="http://schemas.openxmlformats.org/officeDocument/2006/relationships/image" Target="../media/image76.jp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png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9.png"/><Relationship Id="rId3" Type="http://schemas.openxmlformats.org/officeDocument/2006/relationships/image" Target="../media/image80.jpg"/><Relationship Id="rId4" Type="http://schemas.openxmlformats.org/officeDocument/2006/relationships/image" Target="../media/image81.jpg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2.png"/><Relationship Id="rId3" Type="http://schemas.openxmlformats.org/officeDocument/2006/relationships/image" Target="../media/image83.jpg"/><Relationship Id="rId4" Type="http://schemas.openxmlformats.org/officeDocument/2006/relationships/image" Target="../media/image84.jpg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5.png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hyperlink" Target="http://cs224w.stanford.edu/" TargetMode="External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Relationship Id="rId4" Type="http://schemas.openxmlformats.org/officeDocument/2006/relationships/hyperlink" Target="http://cs224w.stanford.edu/" TargetMode="External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0.png"/><Relationship Id="rId3" Type="http://schemas.openxmlformats.org/officeDocument/2006/relationships/hyperlink" Target="http://cs224w.stanford.edu/" TargetMode="External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1.png"/><Relationship Id="rId3" Type="http://schemas.openxmlformats.org/officeDocument/2006/relationships/hyperlink" Target="http://cs224w.stanford.edu/" TargetMode="External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2.png"/><Relationship Id="rId3" Type="http://schemas.openxmlformats.org/officeDocument/2006/relationships/image" Target="../media/image93.png"/><Relationship Id="rId4" Type="http://schemas.openxmlformats.org/officeDocument/2006/relationships/image" Target="../media/image94.png"/><Relationship Id="rId5" Type="http://schemas.openxmlformats.org/officeDocument/2006/relationships/hyperlink" Target="http://cs224w.stanford.edu/" TargetMode="External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5.png"/><Relationship Id="rId3" Type="http://schemas.openxmlformats.org/officeDocument/2006/relationships/hyperlink" Target="http://cs224w.stanford.edu/" TargetMode="External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6.png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7.png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8.png"/><Relationship Id="rId3" Type="http://schemas.openxmlformats.org/officeDocument/2006/relationships/image" Target="../media/image99.jpg"/><Relationship Id="rId4" Type="http://schemas.openxmlformats.org/officeDocument/2006/relationships/hyperlink" Target="http://cs224w.stanford.edu/" TargetMode="External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0.png"/><Relationship Id="rId3" Type="http://schemas.openxmlformats.org/officeDocument/2006/relationships/image" Target="../media/image101.jpg"/><Relationship Id="rId4" Type="http://schemas.openxmlformats.org/officeDocument/2006/relationships/hyperlink" Target="http://cs224w.stanford.edu/" TargetMode="External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2.png"/><Relationship Id="rId3" Type="http://schemas.openxmlformats.org/officeDocument/2006/relationships/image" Target="../media/image103.jpg"/><Relationship Id="rId4" Type="http://schemas.openxmlformats.org/officeDocument/2006/relationships/hyperlink" Target="http://cs224w.stanford.edu/" TargetMode="External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4.png"/><Relationship Id="rId3" Type="http://schemas.openxmlformats.org/officeDocument/2006/relationships/hyperlink" Target="http://cs224w.stanford.edu/" TargetMode="External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5.png"/><Relationship Id="rId3" Type="http://schemas.openxmlformats.org/officeDocument/2006/relationships/image" Target="../media/image106.jpg"/><Relationship Id="rId4" Type="http://schemas.openxmlformats.org/officeDocument/2006/relationships/hyperlink" Target="http://cs224w.stanford.edu/" TargetMode="External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7.png"/><Relationship Id="rId3" Type="http://schemas.openxmlformats.org/officeDocument/2006/relationships/hyperlink" Target="http://cs224w.stanford.edu/" TargetMode="External"/><Relationship Id="rId4" Type="http://schemas.openxmlformats.org/officeDocument/2006/relationships/image" Target="../media/image108.jpg"/><Relationship Id="rId5" Type="http://schemas.openxmlformats.org/officeDocument/2006/relationships/image" Target="../media/image109.jpg"/><Relationship Id="rId6" Type="http://schemas.openxmlformats.org/officeDocument/2006/relationships/image" Target="../media/image110.jpg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1.png"/><Relationship Id="rId3" Type="http://schemas.openxmlformats.org/officeDocument/2006/relationships/hyperlink" Target="http://cs224w.stanford.edu/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98576" y="2392679"/>
            <a:ext cx="7117080" cy="201472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65759"/>
            <a:ext cx="7571232" cy="499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444740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0" b="0">
                <a:latin typeface="Calibri"/>
                <a:cs typeface="Calibri"/>
              </a:rPr>
              <a:t>We </a:t>
            </a:r>
            <a:r>
              <a:rPr dirty="0" sz="3200" spc="-20" b="0">
                <a:latin typeface="Calibri"/>
                <a:cs typeface="Calibri"/>
              </a:rPr>
              <a:t>want </a:t>
            </a:r>
            <a:r>
              <a:rPr dirty="0" sz="3200" spc="-15" b="0">
                <a:latin typeface="Calibri"/>
                <a:cs typeface="Calibri"/>
              </a:rPr>
              <a:t>to </a:t>
            </a:r>
            <a:r>
              <a:rPr dirty="0" sz="3200" spc="-25" b="0">
                <a:latin typeface="Calibri"/>
                <a:cs typeface="Calibri"/>
              </a:rPr>
              <a:t>generate </a:t>
            </a:r>
            <a:r>
              <a:rPr dirty="0" sz="3200" spc="-15" b="0">
                <a:latin typeface="Calibri"/>
                <a:cs typeface="Calibri"/>
              </a:rPr>
              <a:t>realistic graphs,</a:t>
            </a:r>
            <a:r>
              <a:rPr dirty="0" sz="3200" spc="190" b="0">
                <a:latin typeface="Calibri"/>
                <a:cs typeface="Calibri"/>
              </a:rPr>
              <a:t> </a:t>
            </a:r>
            <a:r>
              <a:rPr dirty="0" sz="3200" spc="-5" b="0">
                <a:latin typeface="Calibri"/>
                <a:cs typeface="Calibri"/>
              </a:rPr>
              <a:t>using</a:t>
            </a:r>
            <a:endParaRPr sz="3200">
              <a:latin typeface="Calibri"/>
              <a:cs typeface="Calibri"/>
            </a:endParaRPr>
          </a:p>
          <a:p>
            <a:pPr marL="332740">
              <a:lnSpc>
                <a:spcPts val="3815"/>
              </a:lnSpc>
            </a:pPr>
            <a:r>
              <a:rPr dirty="0" sz="3200" spc="-20"/>
              <a:t>graph generative</a:t>
            </a:r>
            <a:r>
              <a:rPr dirty="0" sz="3200" spc="-60"/>
              <a:t> </a:t>
            </a:r>
            <a:r>
              <a:rPr dirty="0" sz="3200" spc="-5"/>
              <a:t>models</a:t>
            </a:r>
            <a:endParaRPr sz="3200"/>
          </a:p>
        </p:txBody>
      </p:sp>
      <p:sp>
        <p:nvSpPr>
          <p:cNvPr id="4" name="object 4"/>
          <p:cNvSpPr/>
          <p:nvPr/>
        </p:nvSpPr>
        <p:spPr>
          <a:xfrm>
            <a:off x="6708490" y="3490759"/>
            <a:ext cx="2133600" cy="17357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170830" y="5226811"/>
            <a:ext cx="14351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5" b="1">
                <a:latin typeface="Corbel"/>
                <a:cs typeface="Corbel"/>
              </a:rPr>
              <a:t>Real</a:t>
            </a:r>
            <a:r>
              <a:rPr dirty="0" sz="2400" spc="-70" b="1">
                <a:latin typeface="Corbel"/>
                <a:cs typeface="Corbel"/>
              </a:rPr>
              <a:t> </a:t>
            </a:r>
            <a:r>
              <a:rPr dirty="0" sz="2400" spc="-5" b="1">
                <a:latin typeface="Corbel"/>
                <a:cs typeface="Corbel"/>
              </a:rPr>
              <a:t>graph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74599" y="5226811"/>
            <a:ext cx="21304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Corbel"/>
                <a:cs typeface="Corbel"/>
              </a:rPr>
              <a:t>Synthetic</a:t>
            </a:r>
            <a:r>
              <a:rPr dirty="0" sz="2400" spc="-35" b="1">
                <a:latin typeface="Corbel"/>
                <a:cs typeface="Corbel"/>
              </a:rPr>
              <a:t> </a:t>
            </a:r>
            <a:r>
              <a:rPr dirty="0" sz="2400" spc="-5" b="1">
                <a:latin typeface="Corbel"/>
                <a:cs typeface="Corbel"/>
              </a:rPr>
              <a:t>graph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84688" y="3376005"/>
            <a:ext cx="2416003" cy="181200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916695" y="4241153"/>
            <a:ext cx="609600" cy="381000"/>
          </a:xfrm>
          <a:custGeom>
            <a:avLst/>
            <a:gdLst/>
            <a:ahLst/>
            <a:cxnLst/>
            <a:rect l="l" t="t" r="r" b="b"/>
            <a:pathLst>
              <a:path w="609600" h="381000">
                <a:moveTo>
                  <a:pt x="457200" y="0"/>
                </a:moveTo>
                <a:lnTo>
                  <a:pt x="457200" y="95250"/>
                </a:lnTo>
                <a:lnTo>
                  <a:pt x="0" y="95250"/>
                </a:lnTo>
                <a:lnTo>
                  <a:pt x="0" y="285750"/>
                </a:lnTo>
                <a:lnTo>
                  <a:pt x="457200" y="285750"/>
                </a:lnTo>
                <a:lnTo>
                  <a:pt x="457200" y="381000"/>
                </a:lnTo>
                <a:lnTo>
                  <a:pt x="609600" y="190500"/>
                </a:lnTo>
                <a:lnTo>
                  <a:pt x="45720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916695" y="4241153"/>
            <a:ext cx="609600" cy="381000"/>
          </a:xfrm>
          <a:custGeom>
            <a:avLst/>
            <a:gdLst/>
            <a:ahLst/>
            <a:cxnLst/>
            <a:rect l="l" t="t" r="r" b="b"/>
            <a:pathLst>
              <a:path w="609600" h="381000">
                <a:moveTo>
                  <a:pt x="0" y="95250"/>
                </a:moveTo>
                <a:lnTo>
                  <a:pt x="457200" y="95250"/>
                </a:lnTo>
                <a:lnTo>
                  <a:pt x="457200" y="0"/>
                </a:lnTo>
                <a:lnTo>
                  <a:pt x="609600" y="190500"/>
                </a:lnTo>
                <a:lnTo>
                  <a:pt x="457200" y="381000"/>
                </a:lnTo>
                <a:lnTo>
                  <a:pt x="457200" y="285750"/>
                </a:lnTo>
                <a:lnTo>
                  <a:pt x="0" y="285750"/>
                </a:lnTo>
                <a:lnTo>
                  <a:pt x="0" y="952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88080" y="3646463"/>
            <a:ext cx="1393190" cy="1570990"/>
          </a:xfrm>
          <a:custGeom>
            <a:avLst/>
            <a:gdLst/>
            <a:ahLst/>
            <a:cxnLst/>
            <a:rect l="l" t="t" r="r" b="b"/>
            <a:pathLst>
              <a:path w="1393190" h="1570989">
                <a:moveTo>
                  <a:pt x="1368898" y="0"/>
                </a:moveTo>
                <a:lnTo>
                  <a:pt x="23999" y="0"/>
                </a:lnTo>
                <a:lnTo>
                  <a:pt x="14658" y="1885"/>
                </a:lnTo>
                <a:lnTo>
                  <a:pt x="7029" y="7028"/>
                </a:lnTo>
                <a:lnTo>
                  <a:pt x="1886" y="14657"/>
                </a:lnTo>
                <a:lnTo>
                  <a:pt x="0" y="23999"/>
                </a:lnTo>
                <a:lnTo>
                  <a:pt x="0" y="1546379"/>
                </a:lnTo>
                <a:lnTo>
                  <a:pt x="1886" y="1555721"/>
                </a:lnTo>
                <a:lnTo>
                  <a:pt x="7029" y="1563350"/>
                </a:lnTo>
                <a:lnTo>
                  <a:pt x="14658" y="1568494"/>
                </a:lnTo>
                <a:lnTo>
                  <a:pt x="23999" y="1570380"/>
                </a:lnTo>
                <a:lnTo>
                  <a:pt x="1368898" y="1570380"/>
                </a:lnTo>
                <a:lnTo>
                  <a:pt x="1378240" y="1568494"/>
                </a:lnTo>
                <a:lnTo>
                  <a:pt x="1385868" y="1563350"/>
                </a:lnTo>
                <a:lnTo>
                  <a:pt x="1391012" y="1555721"/>
                </a:lnTo>
                <a:lnTo>
                  <a:pt x="1392898" y="1546379"/>
                </a:lnTo>
                <a:lnTo>
                  <a:pt x="1392898" y="1541580"/>
                </a:lnTo>
                <a:lnTo>
                  <a:pt x="28800" y="1541580"/>
                </a:lnTo>
                <a:lnTo>
                  <a:pt x="28800" y="28799"/>
                </a:lnTo>
                <a:lnTo>
                  <a:pt x="1392898" y="28799"/>
                </a:lnTo>
                <a:lnTo>
                  <a:pt x="1392898" y="23999"/>
                </a:lnTo>
                <a:lnTo>
                  <a:pt x="1391012" y="14657"/>
                </a:lnTo>
                <a:lnTo>
                  <a:pt x="1385868" y="7028"/>
                </a:lnTo>
                <a:lnTo>
                  <a:pt x="1378240" y="1885"/>
                </a:lnTo>
                <a:lnTo>
                  <a:pt x="1368898" y="0"/>
                </a:lnTo>
                <a:close/>
              </a:path>
              <a:path w="1393190" h="1570989">
                <a:moveTo>
                  <a:pt x="1392898" y="28799"/>
                </a:moveTo>
                <a:lnTo>
                  <a:pt x="1364097" y="28799"/>
                </a:lnTo>
                <a:lnTo>
                  <a:pt x="1364097" y="1541580"/>
                </a:lnTo>
                <a:lnTo>
                  <a:pt x="1392898" y="1541580"/>
                </a:lnTo>
                <a:lnTo>
                  <a:pt x="1392898" y="28799"/>
                </a:lnTo>
                <a:close/>
              </a:path>
              <a:path w="1393190" h="1570989">
                <a:moveTo>
                  <a:pt x="1354497" y="38399"/>
                </a:moveTo>
                <a:lnTo>
                  <a:pt x="38399" y="38399"/>
                </a:lnTo>
                <a:lnTo>
                  <a:pt x="38399" y="1531980"/>
                </a:lnTo>
                <a:lnTo>
                  <a:pt x="1354497" y="1531980"/>
                </a:lnTo>
                <a:lnTo>
                  <a:pt x="1354497" y="1522380"/>
                </a:lnTo>
                <a:lnTo>
                  <a:pt x="48000" y="1522380"/>
                </a:lnTo>
                <a:lnTo>
                  <a:pt x="48000" y="47999"/>
                </a:lnTo>
                <a:lnTo>
                  <a:pt x="1354497" y="47999"/>
                </a:lnTo>
                <a:lnTo>
                  <a:pt x="1354497" y="38399"/>
                </a:lnTo>
                <a:close/>
              </a:path>
              <a:path w="1393190" h="1570989">
                <a:moveTo>
                  <a:pt x="1354497" y="47999"/>
                </a:moveTo>
                <a:lnTo>
                  <a:pt x="1344897" y="47999"/>
                </a:lnTo>
                <a:lnTo>
                  <a:pt x="1344897" y="1522380"/>
                </a:lnTo>
                <a:lnTo>
                  <a:pt x="1354497" y="1522380"/>
                </a:lnTo>
                <a:lnTo>
                  <a:pt x="1354497" y="47999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12079" y="3670462"/>
            <a:ext cx="1344930" cy="1522730"/>
          </a:xfrm>
          <a:prstGeom prst="rect">
            <a:avLst/>
          </a:prstGeom>
          <a:solidFill>
            <a:srgbClr val="F0AD00"/>
          </a:solidFill>
        </p:spPr>
        <p:txBody>
          <a:bodyPr wrap="square" lIns="0" tIns="57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1950">
              <a:latin typeface="Times New Roman"/>
              <a:cs typeface="Times New Roman"/>
            </a:endParaRPr>
          </a:p>
          <a:p>
            <a:pPr algn="ctr" marL="92075" marR="85090" indent="635">
              <a:lnSpc>
                <a:spcPct val="100000"/>
              </a:lnSpc>
            </a:pPr>
            <a:r>
              <a:rPr dirty="0" sz="2000" spc="-10" b="1">
                <a:solidFill>
                  <a:srgbClr val="FFFFFF"/>
                </a:solidFill>
                <a:latin typeface="Calibri"/>
                <a:cs typeface="Calibri"/>
              </a:rPr>
              <a:t>Graph  </a:t>
            </a:r>
            <a:r>
              <a:rPr dirty="0" sz="2000" b="1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dirty="0" sz="2000" spc="0" b="1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2000" b="1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dirty="0" sz="2000" spc="0" b="1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2000" spc="-45" b="1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dirty="0" sz="2000" spc="-20" b="1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000" spc="-10" b="1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2000" spc="-5" b="1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sz="2000" spc="-20" b="1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dirty="0" sz="2000" b="1">
                <a:solidFill>
                  <a:srgbClr val="FFFFFF"/>
                </a:solidFill>
                <a:latin typeface="Calibri"/>
                <a:cs typeface="Calibri"/>
              </a:rPr>
              <a:t>e  </a:t>
            </a:r>
            <a:r>
              <a:rPr dirty="0" sz="2000" spc="-5" b="1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673615" y="6699893"/>
            <a:ext cx="4027804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5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18397" y="3782059"/>
            <a:ext cx="12465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00FF"/>
                </a:solidFill>
                <a:latin typeface="Corbel"/>
                <a:cs typeface="Corbel"/>
              </a:rPr>
              <a:t>G</a:t>
            </a:r>
            <a:r>
              <a:rPr dirty="0" sz="2400" spc="-10" b="1">
                <a:solidFill>
                  <a:srgbClr val="0000FF"/>
                </a:solidFill>
                <a:latin typeface="Corbel"/>
                <a:cs typeface="Corbel"/>
              </a:rPr>
              <a:t>e</a:t>
            </a:r>
            <a:r>
              <a:rPr dirty="0" sz="2400" spc="0" b="1">
                <a:solidFill>
                  <a:srgbClr val="0000FF"/>
                </a:solidFill>
                <a:latin typeface="Corbel"/>
                <a:cs typeface="Corbel"/>
              </a:rPr>
              <a:t>n</a:t>
            </a:r>
            <a:r>
              <a:rPr dirty="0" sz="2400" spc="-10" b="1">
                <a:solidFill>
                  <a:srgbClr val="0000FF"/>
                </a:solidFill>
                <a:latin typeface="Corbel"/>
                <a:cs typeface="Corbel"/>
              </a:rPr>
              <a:t>e</a:t>
            </a:r>
            <a:r>
              <a:rPr dirty="0" sz="2400" spc="-5" b="1">
                <a:solidFill>
                  <a:srgbClr val="0000FF"/>
                </a:solidFill>
                <a:latin typeface="Corbel"/>
                <a:cs typeface="Corbel"/>
              </a:rPr>
              <a:t>r</a:t>
            </a:r>
            <a:r>
              <a:rPr dirty="0" sz="2400" b="1">
                <a:solidFill>
                  <a:srgbClr val="0000FF"/>
                </a:solidFill>
                <a:latin typeface="Corbel"/>
                <a:cs typeface="Corbel"/>
              </a:rPr>
              <a:t>ate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42399" y="4043172"/>
            <a:ext cx="423545" cy="695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>
                <a:latin typeface="Cambria Math"/>
                <a:cs typeface="Cambria Math"/>
              </a:rPr>
              <a:t>~</a:t>
            </a:r>
            <a:endParaRPr sz="4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52671" y="3613403"/>
            <a:ext cx="9023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0000FF"/>
                </a:solidFill>
                <a:latin typeface="Corbel"/>
                <a:cs typeface="Corbel"/>
              </a:rPr>
              <a:t>which</a:t>
            </a:r>
            <a:r>
              <a:rPr dirty="0" sz="2000" spc="-90" b="1">
                <a:solidFill>
                  <a:srgbClr val="0000FF"/>
                </a:solidFill>
                <a:latin typeface="Corbel"/>
                <a:cs typeface="Corbel"/>
              </a:rPr>
              <a:t> </a:t>
            </a:r>
            <a:r>
              <a:rPr dirty="0" sz="2000" b="1">
                <a:solidFill>
                  <a:srgbClr val="0000FF"/>
                </a:solidFill>
                <a:latin typeface="Corbel"/>
                <a:cs typeface="Corbel"/>
              </a:rPr>
              <a:t>is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52671" y="3918203"/>
            <a:ext cx="104902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0000FF"/>
                </a:solidFill>
                <a:latin typeface="Corbel"/>
                <a:cs typeface="Corbel"/>
              </a:rPr>
              <a:t>similar</a:t>
            </a:r>
            <a:r>
              <a:rPr dirty="0" sz="2000" spc="-80" b="1">
                <a:solidFill>
                  <a:srgbClr val="0000FF"/>
                </a:solidFill>
                <a:latin typeface="Corbel"/>
                <a:cs typeface="Corbel"/>
              </a:rPr>
              <a:t> </a:t>
            </a:r>
            <a:r>
              <a:rPr dirty="0" sz="2000" b="1">
                <a:solidFill>
                  <a:srgbClr val="0000FF"/>
                </a:solidFill>
                <a:latin typeface="Corbel"/>
                <a:cs typeface="Corbel"/>
              </a:rPr>
              <a:t>to</a:t>
            </a:r>
            <a:endParaRPr sz="20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7504176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84657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/>
              <a:t>Step </a:t>
            </a:r>
            <a:r>
              <a:rPr dirty="0" sz="3200"/>
              <a:t>1: </a:t>
            </a:r>
            <a:r>
              <a:rPr dirty="0" sz="3200" spc="-10">
                <a:solidFill>
                  <a:srgbClr val="479249"/>
                </a:solidFill>
              </a:rPr>
              <a:t>Properties </a:t>
            </a:r>
            <a:r>
              <a:rPr dirty="0" sz="3200">
                <a:solidFill>
                  <a:srgbClr val="479249"/>
                </a:solidFill>
              </a:rPr>
              <a:t>of </a:t>
            </a:r>
            <a:r>
              <a:rPr dirty="0" sz="3200" spc="-10">
                <a:solidFill>
                  <a:srgbClr val="479249"/>
                </a:solidFill>
              </a:rPr>
              <a:t>real-world</a:t>
            </a:r>
            <a:r>
              <a:rPr dirty="0" sz="3200" spc="-5">
                <a:solidFill>
                  <a:srgbClr val="479249"/>
                </a:solidFill>
              </a:rPr>
              <a:t> </a:t>
            </a:r>
            <a:r>
              <a:rPr dirty="0" sz="3200" spc="-20">
                <a:solidFill>
                  <a:srgbClr val="479249"/>
                </a:solidFill>
              </a:rPr>
              <a:t>graphs</a:t>
            </a:r>
            <a:endParaRPr sz="3200"/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673615" y="6699893"/>
            <a:ext cx="4027804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5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1920747"/>
            <a:ext cx="8072755" cy="381762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625475" marR="752475" indent="-274320">
              <a:lnSpc>
                <a:spcPct val="100699"/>
              </a:lnSpc>
              <a:spcBef>
                <a:spcPts val="7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5">
                <a:latin typeface="Calibri"/>
                <a:cs typeface="Calibri"/>
              </a:rPr>
              <a:t>successful </a:t>
            </a:r>
            <a:r>
              <a:rPr dirty="0" sz="2800" spc="-15">
                <a:latin typeface="Calibri"/>
                <a:cs typeface="Calibri"/>
              </a:rPr>
              <a:t>graph </a:t>
            </a:r>
            <a:r>
              <a:rPr dirty="0" sz="2800" spc="-20">
                <a:latin typeface="Calibri"/>
                <a:cs typeface="Calibri"/>
              </a:rPr>
              <a:t>generative </a:t>
            </a:r>
            <a:r>
              <a:rPr dirty="0" sz="2800" spc="-5">
                <a:latin typeface="Calibri"/>
                <a:cs typeface="Calibri"/>
              </a:rPr>
              <a:t>model should </a:t>
            </a:r>
            <a:r>
              <a:rPr dirty="0" sz="2800" spc="-210">
                <a:latin typeface="Calibri"/>
                <a:cs typeface="Calibri"/>
              </a:rPr>
              <a:t>fit  </a:t>
            </a:r>
            <a:r>
              <a:rPr dirty="0" sz="2800" spc="-5">
                <a:latin typeface="Calibri"/>
                <a:cs typeface="Calibri"/>
              </a:rPr>
              <a:t>these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properties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80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latin typeface="Calibri"/>
                <a:cs typeface="Calibri"/>
              </a:rPr>
              <a:t>Step </a:t>
            </a:r>
            <a:r>
              <a:rPr dirty="0" sz="3200" b="1">
                <a:latin typeface="Calibri"/>
                <a:cs typeface="Calibri"/>
              </a:rPr>
              <a:t>2: </a:t>
            </a:r>
            <a:r>
              <a:rPr dirty="0" sz="3200" spc="-25" b="1">
                <a:solidFill>
                  <a:srgbClr val="0070C0"/>
                </a:solidFill>
                <a:latin typeface="Calibri"/>
                <a:cs typeface="Calibri"/>
              </a:rPr>
              <a:t>Traditional </a:t>
            </a:r>
            <a:r>
              <a:rPr dirty="0" sz="3200" spc="-20" b="1">
                <a:solidFill>
                  <a:srgbClr val="0070C0"/>
                </a:solidFill>
                <a:latin typeface="Calibri"/>
                <a:cs typeface="Calibri"/>
              </a:rPr>
              <a:t>graph generative</a:t>
            </a:r>
            <a:r>
              <a:rPr dirty="0" sz="3200" spc="-15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0070C0"/>
                </a:solidFill>
                <a:latin typeface="Calibri"/>
                <a:cs typeface="Calibri"/>
              </a:rPr>
              <a:t>models</a:t>
            </a:r>
            <a:endParaRPr sz="3200">
              <a:latin typeface="Calibri"/>
              <a:cs typeface="Calibri"/>
            </a:endParaRPr>
          </a:p>
          <a:p>
            <a:pPr lvl="1" marL="625475" marR="5080" indent="-274320">
              <a:lnSpc>
                <a:spcPts val="3290"/>
              </a:lnSpc>
              <a:spcBef>
                <a:spcPts val="93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Each </a:t>
            </a:r>
            <a:r>
              <a:rPr dirty="0" sz="2800" spc="-10">
                <a:latin typeface="Calibri"/>
                <a:cs typeface="Calibri"/>
              </a:rPr>
              <a:t>come </a:t>
            </a:r>
            <a:r>
              <a:rPr dirty="0" sz="2800" spc="-5">
                <a:latin typeface="Calibri"/>
                <a:cs typeface="Calibri"/>
              </a:rPr>
              <a:t>with </a:t>
            </a:r>
            <a:r>
              <a:rPr dirty="0" sz="2800" spc="-25">
                <a:latin typeface="Calibri"/>
                <a:cs typeface="Calibri"/>
              </a:rPr>
              <a:t>different </a:t>
            </a:r>
            <a:r>
              <a:rPr dirty="0" sz="2800" spc="-5">
                <a:latin typeface="Calibri"/>
                <a:cs typeface="Calibri"/>
              </a:rPr>
              <a:t>assumptions on </a:t>
            </a:r>
            <a:r>
              <a:rPr dirty="0" sz="2800">
                <a:latin typeface="Calibri"/>
                <a:cs typeface="Calibri"/>
              </a:rPr>
              <a:t>the </a:t>
            </a:r>
            <a:r>
              <a:rPr dirty="0" sz="2800" spc="-110">
                <a:latin typeface="Calibri"/>
                <a:cs typeface="Calibri"/>
              </a:rPr>
              <a:t>graph  </a:t>
            </a:r>
            <a:r>
              <a:rPr dirty="0" sz="2800" spc="-15">
                <a:latin typeface="Calibri"/>
                <a:cs typeface="Calibri"/>
              </a:rPr>
              <a:t>formulation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process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77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latin typeface="Calibri"/>
                <a:cs typeface="Calibri"/>
              </a:rPr>
              <a:t>Step </a:t>
            </a:r>
            <a:r>
              <a:rPr dirty="0" sz="3200" b="1">
                <a:latin typeface="Calibri"/>
                <a:cs typeface="Calibri"/>
              </a:rPr>
              <a:t>3: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Deep </a:t>
            </a:r>
            <a:r>
              <a:rPr dirty="0" sz="3200" spc="-20" b="1">
                <a:solidFill>
                  <a:srgbClr val="C00000"/>
                </a:solidFill>
                <a:latin typeface="Calibri"/>
                <a:cs typeface="Calibri"/>
              </a:rPr>
              <a:t>graph generative</a:t>
            </a:r>
            <a:r>
              <a:rPr dirty="0" sz="3200" spc="-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models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Learn the </a:t>
            </a:r>
            <a:r>
              <a:rPr dirty="0" sz="2800" spc="-15">
                <a:latin typeface="Calibri"/>
                <a:cs typeface="Calibri"/>
              </a:rPr>
              <a:t>graph formation </a:t>
            </a:r>
            <a:r>
              <a:rPr dirty="0" sz="2800" spc="-10">
                <a:latin typeface="Calibri"/>
                <a:cs typeface="Calibri"/>
              </a:rPr>
              <a:t>process </a:t>
            </a:r>
            <a:r>
              <a:rPr dirty="0" sz="2800" spc="-15">
                <a:latin typeface="Calibri"/>
                <a:cs typeface="Calibri"/>
              </a:rPr>
              <a:t>from </a:t>
            </a:r>
            <a:r>
              <a:rPr dirty="0" sz="2800" spc="-5">
                <a:latin typeface="Calibri"/>
                <a:cs typeface="Calibri"/>
              </a:rPr>
              <a:t>the</a:t>
            </a:r>
            <a:r>
              <a:rPr dirty="0" sz="2800" spc="3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data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This</a:t>
            </a:r>
            <a:r>
              <a:rPr dirty="0" sz="2800" spc="-8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lecture!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254752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992" y="1600200"/>
            <a:ext cx="8229599" cy="47460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511524" y="3726370"/>
            <a:ext cx="431800" cy="503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100" spc="100">
                <a:latin typeface="Arial"/>
                <a:cs typeface="Arial"/>
              </a:rPr>
              <a:t>…</a:t>
            </a:r>
            <a:endParaRPr sz="31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343400" y="4797351"/>
            <a:ext cx="4648200" cy="1223010"/>
          </a:xfrm>
          <a:custGeom>
            <a:avLst/>
            <a:gdLst/>
            <a:ahLst/>
            <a:cxnLst/>
            <a:rect l="l" t="t" r="r" b="b"/>
            <a:pathLst>
              <a:path w="4648200" h="1223010">
                <a:moveTo>
                  <a:pt x="4648200" y="572852"/>
                </a:moveTo>
                <a:lnTo>
                  <a:pt x="0" y="572852"/>
                </a:lnTo>
                <a:lnTo>
                  <a:pt x="0" y="1222448"/>
                </a:lnTo>
                <a:lnTo>
                  <a:pt x="4648200" y="1222448"/>
                </a:lnTo>
                <a:lnTo>
                  <a:pt x="4648200" y="572852"/>
                </a:lnTo>
                <a:close/>
              </a:path>
              <a:path w="4648200" h="1223010">
                <a:moveTo>
                  <a:pt x="4397754" y="0"/>
                </a:moveTo>
                <a:lnTo>
                  <a:pt x="2711450" y="572852"/>
                </a:lnTo>
                <a:lnTo>
                  <a:pt x="3873500" y="572852"/>
                </a:lnTo>
                <a:lnTo>
                  <a:pt x="439775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314825" y="4768774"/>
            <a:ext cx="4705350" cy="1280160"/>
          </a:xfrm>
          <a:custGeom>
            <a:avLst/>
            <a:gdLst/>
            <a:ahLst/>
            <a:cxnLst/>
            <a:rect l="l" t="t" r="r" b="b"/>
            <a:pathLst>
              <a:path w="4705350" h="1280160">
                <a:moveTo>
                  <a:pt x="4426520" y="0"/>
                </a:moveTo>
                <a:lnTo>
                  <a:pt x="4417137" y="1520"/>
                </a:lnTo>
                <a:lnTo>
                  <a:pt x="2735304" y="572854"/>
                </a:lnTo>
                <a:lnTo>
                  <a:pt x="28575" y="572854"/>
                </a:lnTo>
                <a:lnTo>
                  <a:pt x="17452" y="575100"/>
                </a:lnTo>
                <a:lnTo>
                  <a:pt x="8369" y="581224"/>
                </a:lnTo>
                <a:lnTo>
                  <a:pt x="2245" y="590307"/>
                </a:lnTo>
                <a:lnTo>
                  <a:pt x="0" y="601429"/>
                </a:lnTo>
                <a:lnTo>
                  <a:pt x="0" y="1251025"/>
                </a:lnTo>
                <a:lnTo>
                  <a:pt x="2245" y="1262148"/>
                </a:lnTo>
                <a:lnTo>
                  <a:pt x="8369" y="1271231"/>
                </a:lnTo>
                <a:lnTo>
                  <a:pt x="17452" y="1277354"/>
                </a:lnTo>
                <a:lnTo>
                  <a:pt x="28575" y="1279600"/>
                </a:lnTo>
                <a:lnTo>
                  <a:pt x="4676775" y="1279600"/>
                </a:lnTo>
                <a:lnTo>
                  <a:pt x="4687897" y="1277354"/>
                </a:lnTo>
                <a:lnTo>
                  <a:pt x="4696980" y="1271231"/>
                </a:lnTo>
                <a:lnTo>
                  <a:pt x="4703104" y="1262148"/>
                </a:lnTo>
                <a:lnTo>
                  <a:pt x="4705350" y="1251025"/>
                </a:lnTo>
                <a:lnTo>
                  <a:pt x="4705350" y="1245310"/>
                </a:lnTo>
                <a:lnTo>
                  <a:pt x="34289" y="1245310"/>
                </a:lnTo>
                <a:lnTo>
                  <a:pt x="34289" y="607144"/>
                </a:lnTo>
                <a:lnTo>
                  <a:pt x="2740649" y="607144"/>
                </a:lnTo>
                <a:lnTo>
                  <a:pt x="2741270" y="607041"/>
                </a:lnTo>
                <a:lnTo>
                  <a:pt x="4362103" y="56431"/>
                </a:lnTo>
                <a:lnTo>
                  <a:pt x="4405249" y="9285"/>
                </a:lnTo>
                <a:lnTo>
                  <a:pt x="4446870" y="9285"/>
                </a:lnTo>
                <a:lnTo>
                  <a:pt x="4443806" y="5966"/>
                </a:lnTo>
                <a:lnTo>
                  <a:pt x="4435652" y="1565"/>
                </a:lnTo>
                <a:lnTo>
                  <a:pt x="4426520" y="0"/>
                </a:lnTo>
                <a:close/>
              </a:path>
              <a:path w="4705350" h="1280160">
                <a:moveTo>
                  <a:pt x="4454307" y="24718"/>
                </a:moveTo>
                <a:lnTo>
                  <a:pt x="4422113" y="24718"/>
                </a:lnTo>
                <a:lnTo>
                  <a:pt x="4428167" y="33988"/>
                </a:lnTo>
                <a:lnTo>
                  <a:pt x="4425391" y="34931"/>
                </a:lnTo>
                <a:lnTo>
                  <a:pt x="4431844" y="44810"/>
                </a:lnTo>
                <a:lnTo>
                  <a:pt x="4429067" y="45753"/>
                </a:lnTo>
                <a:lnTo>
                  <a:pt x="4435520" y="55633"/>
                </a:lnTo>
                <a:lnTo>
                  <a:pt x="4375009" y="76189"/>
                </a:lnTo>
                <a:lnTo>
                  <a:pt x="3896329" y="599242"/>
                </a:lnTo>
                <a:lnTo>
                  <a:pt x="3895932" y="601659"/>
                </a:lnTo>
                <a:lnTo>
                  <a:pt x="3897756" y="605805"/>
                </a:lnTo>
                <a:lnTo>
                  <a:pt x="3899809" y="607144"/>
                </a:lnTo>
                <a:lnTo>
                  <a:pt x="4671059" y="607144"/>
                </a:lnTo>
                <a:lnTo>
                  <a:pt x="4671059" y="1245310"/>
                </a:lnTo>
                <a:lnTo>
                  <a:pt x="4705350" y="1245310"/>
                </a:lnTo>
                <a:lnTo>
                  <a:pt x="4705350" y="601429"/>
                </a:lnTo>
                <a:lnTo>
                  <a:pt x="4703104" y="590307"/>
                </a:lnTo>
                <a:lnTo>
                  <a:pt x="4696980" y="581224"/>
                </a:lnTo>
                <a:lnTo>
                  <a:pt x="4687897" y="575100"/>
                </a:lnTo>
                <a:lnTo>
                  <a:pt x="4676775" y="572854"/>
                </a:lnTo>
                <a:lnTo>
                  <a:pt x="3966960" y="572854"/>
                </a:lnTo>
                <a:lnTo>
                  <a:pt x="4447409" y="47868"/>
                </a:lnTo>
                <a:lnTo>
                  <a:pt x="4452573" y="39887"/>
                </a:lnTo>
                <a:lnTo>
                  <a:pt x="4454810" y="30896"/>
                </a:lnTo>
                <a:lnTo>
                  <a:pt x="4454307" y="24718"/>
                </a:lnTo>
                <a:close/>
              </a:path>
              <a:path w="4705350" h="1280160">
                <a:moveTo>
                  <a:pt x="4346072" y="73947"/>
                </a:moveTo>
                <a:lnTo>
                  <a:pt x="2743763" y="618267"/>
                </a:lnTo>
                <a:lnTo>
                  <a:pt x="2741900" y="618574"/>
                </a:lnTo>
                <a:lnTo>
                  <a:pt x="45720" y="618574"/>
                </a:lnTo>
                <a:lnTo>
                  <a:pt x="45720" y="1233880"/>
                </a:lnTo>
                <a:lnTo>
                  <a:pt x="4659630" y="1233880"/>
                </a:lnTo>
                <a:lnTo>
                  <a:pt x="4659630" y="1222450"/>
                </a:lnTo>
                <a:lnTo>
                  <a:pt x="57150" y="1222450"/>
                </a:lnTo>
                <a:lnTo>
                  <a:pt x="57150" y="630004"/>
                </a:lnTo>
                <a:lnTo>
                  <a:pt x="2743150" y="630004"/>
                </a:lnTo>
                <a:lnTo>
                  <a:pt x="2746255" y="629491"/>
                </a:lnTo>
                <a:lnTo>
                  <a:pt x="4330040" y="91465"/>
                </a:lnTo>
                <a:lnTo>
                  <a:pt x="4346072" y="73947"/>
                </a:lnTo>
                <a:close/>
              </a:path>
              <a:path w="4705350" h="1280160">
                <a:moveTo>
                  <a:pt x="4352525" y="83827"/>
                </a:moveTo>
                <a:lnTo>
                  <a:pt x="3880994" y="582138"/>
                </a:lnTo>
                <a:lnTo>
                  <a:pt x="3873714" y="604933"/>
                </a:lnTo>
                <a:lnTo>
                  <a:pt x="3875923" y="612945"/>
                </a:lnTo>
                <a:lnTo>
                  <a:pt x="3880342" y="619984"/>
                </a:lnTo>
                <a:lnTo>
                  <a:pt x="3886463" y="625362"/>
                </a:lnTo>
                <a:lnTo>
                  <a:pt x="3893851" y="628796"/>
                </a:lnTo>
                <a:lnTo>
                  <a:pt x="3902075" y="630004"/>
                </a:lnTo>
                <a:lnTo>
                  <a:pt x="4648200" y="630004"/>
                </a:lnTo>
                <a:lnTo>
                  <a:pt x="4648200" y="1222450"/>
                </a:lnTo>
                <a:lnTo>
                  <a:pt x="4659630" y="1222450"/>
                </a:lnTo>
                <a:lnTo>
                  <a:pt x="4659630" y="618574"/>
                </a:lnTo>
                <a:lnTo>
                  <a:pt x="3895277" y="618574"/>
                </a:lnTo>
                <a:lnTo>
                  <a:pt x="3889123" y="614560"/>
                </a:lnTo>
                <a:lnTo>
                  <a:pt x="3883644" y="602119"/>
                </a:lnTo>
                <a:lnTo>
                  <a:pt x="3884838" y="594868"/>
                </a:lnTo>
                <a:lnTo>
                  <a:pt x="4352525" y="83827"/>
                </a:lnTo>
                <a:close/>
              </a:path>
              <a:path w="4705350" h="1280160">
                <a:moveTo>
                  <a:pt x="4368557" y="66309"/>
                </a:moveTo>
                <a:lnTo>
                  <a:pt x="4346072" y="73947"/>
                </a:lnTo>
                <a:lnTo>
                  <a:pt x="4330040" y="91465"/>
                </a:lnTo>
                <a:lnTo>
                  <a:pt x="4352525" y="83827"/>
                </a:lnTo>
                <a:lnTo>
                  <a:pt x="4368557" y="66309"/>
                </a:lnTo>
                <a:close/>
              </a:path>
              <a:path w="4705350" h="1280160">
                <a:moveTo>
                  <a:pt x="4391041" y="58671"/>
                </a:moveTo>
                <a:lnTo>
                  <a:pt x="4368557" y="66309"/>
                </a:lnTo>
                <a:lnTo>
                  <a:pt x="4352525" y="83827"/>
                </a:lnTo>
                <a:lnTo>
                  <a:pt x="4375009" y="76189"/>
                </a:lnTo>
                <a:lnTo>
                  <a:pt x="4391041" y="58671"/>
                </a:lnTo>
                <a:close/>
              </a:path>
              <a:path w="4705350" h="1280160">
                <a:moveTo>
                  <a:pt x="4429067" y="45753"/>
                </a:moveTo>
                <a:lnTo>
                  <a:pt x="4391041" y="58671"/>
                </a:lnTo>
                <a:lnTo>
                  <a:pt x="4375009" y="76189"/>
                </a:lnTo>
                <a:lnTo>
                  <a:pt x="4435520" y="55633"/>
                </a:lnTo>
                <a:lnTo>
                  <a:pt x="4429067" y="45753"/>
                </a:lnTo>
                <a:close/>
              </a:path>
              <a:path w="4705350" h="1280160">
                <a:moveTo>
                  <a:pt x="4384588" y="48792"/>
                </a:moveTo>
                <a:lnTo>
                  <a:pt x="4362103" y="56431"/>
                </a:lnTo>
                <a:lnTo>
                  <a:pt x="4346072" y="73947"/>
                </a:lnTo>
                <a:lnTo>
                  <a:pt x="4368557" y="66309"/>
                </a:lnTo>
                <a:lnTo>
                  <a:pt x="4384588" y="48792"/>
                </a:lnTo>
                <a:close/>
              </a:path>
              <a:path w="4705350" h="1280160">
                <a:moveTo>
                  <a:pt x="4422615" y="35874"/>
                </a:moveTo>
                <a:lnTo>
                  <a:pt x="4407071" y="41154"/>
                </a:lnTo>
                <a:lnTo>
                  <a:pt x="4391041" y="58671"/>
                </a:lnTo>
                <a:lnTo>
                  <a:pt x="4429067" y="45753"/>
                </a:lnTo>
                <a:lnTo>
                  <a:pt x="4422615" y="35874"/>
                </a:lnTo>
                <a:close/>
              </a:path>
              <a:path w="4705350" h="1280160">
                <a:moveTo>
                  <a:pt x="4405249" y="9285"/>
                </a:moveTo>
                <a:lnTo>
                  <a:pt x="4362103" y="56431"/>
                </a:lnTo>
                <a:lnTo>
                  <a:pt x="4384588" y="48792"/>
                </a:lnTo>
                <a:lnTo>
                  <a:pt x="4411702" y="19165"/>
                </a:lnTo>
                <a:lnTo>
                  <a:pt x="4405249" y="9285"/>
                </a:lnTo>
                <a:close/>
              </a:path>
              <a:path w="4705350" h="1280160">
                <a:moveTo>
                  <a:pt x="4411702" y="19165"/>
                </a:moveTo>
                <a:lnTo>
                  <a:pt x="4384588" y="48792"/>
                </a:lnTo>
                <a:lnTo>
                  <a:pt x="4407071" y="41154"/>
                </a:lnTo>
                <a:lnTo>
                  <a:pt x="4418154" y="29044"/>
                </a:lnTo>
                <a:lnTo>
                  <a:pt x="4411702" y="19165"/>
                </a:lnTo>
                <a:close/>
              </a:path>
              <a:path w="4705350" h="1280160">
                <a:moveTo>
                  <a:pt x="4418154" y="29044"/>
                </a:moveTo>
                <a:lnTo>
                  <a:pt x="4407071" y="41154"/>
                </a:lnTo>
                <a:lnTo>
                  <a:pt x="4422615" y="35874"/>
                </a:lnTo>
                <a:lnTo>
                  <a:pt x="4418154" y="29044"/>
                </a:lnTo>
                <a:close/>
              </a:path>
              <a:path w="4705350" h="1280160">
                <a:moveTo>
                  <a:pt x="4420134" y="26881"/>
                </a:moveTo>
                <a:lnTo>
                  <a:pt x="4418154" y="29044"/>
                </a:lnTo>
                <a:lnTo>
                  <a:pt x="4422615" y="35874"/>
                </a:lnTo>
                <a:lnTo>
                  <a:pt x="4425391" y="34931"/>
                </a:lnTo>
                <a:lnTo>
                  <a:pt x="4420134" y="26881"/>
                </a:lnTo>
                <a:close/>
              </a:path>
              <a:path w="4705350" h="1280160">
                <a:moveTo>
                  <a:pt x="4422113" y="24718"/>
                </a:moveTo>
                <a:lnTo>
                  <a:pt x="4420134" y="26881"/>
                </a:lnTo>
                <a:lnTo>
                  <a:pt x="4425391" y="34931"/>
                </a:lnTo>
                <a:lnTo>
                  <a:pt x="4428167" y="33988"/>
                </a:lnTo>
                <a:lnTo>
                  <a:pt x="4422113" y="24718"/>
                </a:lnTo>
                <a:close/>
              </a:path>
              <a:path w="4705350" h="1280160">
                <a:moveTo>
                  <a:pt x="4452023" y="17002"/>
                </a:moveTo>
                <a:lnTo>
                  <a:pt x="4413681" y="17002"/>
                </a:lnTo>
                <a:lnTo>
                  <a:pt x="4420134" y="26881"/>
                </a:lnTo>
                <a:lnTo>
                  <a:pt x="4422113" y="24718"/>
                </a:lnTo>
                <a:lnTo>
                  <a:pt x="4454307" y="24718"/>
                </a:lnTo>
                <a:lnTo>
                  <a:pt x="4454058" y="21661"/>
                </a:lnTo>
                <a:lnTo>
                  <a:pt x="4452023" y="17002"/>
                </a:lnTo>
                <a:close/>
              </a:path>
              <a:path w="4705350" h="1280160">
                <a:moveTo>
                  <a:pt x="4446870" y="9285"/>
                </a:moveTo>
                <a:lnTo>
                  <a:pt x="4405249" y="9285"/>
                </a:lnTo>
                <a:lnTo>
                  <a:pt x="4411702" y="19165"/>
                </a:lnTo>
                <a:lnTo>
                  <a:pt x="4413681" y="17002"/>
                </a:lnTo>
                <a:lnTo>
                  <a:pt x="4452023" y="17002"/>
                </a:lnTo>
                <a:lnTo>
                  <a:pt x="4450253" y="12950"/>
                </a:lnTo>
                <a:lnTo>
                  <a:pt x="4446870" y="92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422140" y="5424932"/>
            <a:ext cx="36360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D60093"/>
                </a:solidFill>
                <a:latin typeface="Arial"/>
                <a:cs typeface="Arial"/>
              </a:rPr>
              <a:t>Output: </a:t>
            </a:r>
            <a:r>
              <a:rPr dirty="0" sz="2400">
                <a:latin typeface="Arial"/>
                <a:cs typeface="Arial"/>
              </a:rPr>
              <a:t>node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embeddings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04950" y="1160525"/>
            <a:ext cx="5671820" cy="381000"/>
          </a:xfrm>
          <a:custGeom>
            <a:avLst/>
            <a:gdLst/>
            <a:ahLst/>
            <a:cxnLst/>
            <a:rect l="l" t="t" r="r" b="b"/>
            <a:pathLst>
              <a:path w="5671820" h="381000">
                <a:moveTo>
                  <a:pt x="5481314" y="0"/>
                </a:moveTo>
                <a:lnTo>
                  <a:pt x="5481314" y="95250"/>
                </a:lnTo>
                <a:lnTo>
                  <a:pt x="0" y="95250"/>
                </a:lnTo>
                <a:lnTo>
                  <a:pt x="0" y="285750"/>
                </a:lnTo>
                <a:lnTo>
                  <a:pt x="5481314" y="285750"/>
                </a:lnTo>
                <a:lnTo>
                  <a:pt x="5481314" y="381000"/>
                </a:lnTo>
                <a:lnTo>
                  <a:pt x="5671814" y="190500"/>
                </a:lnTo>
                <a:lnTo>
                  <a:pt x="5481314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480949" y="1102584"/>
            <a:ext cx="5730240" cy="497205"/>
          </a:xfrm>
          <a:custGeom>
            <a:avLst/>
            <a:gdLst/>
            <a:ahLst/>
            <a:cxnLst/>
            <a:rect l="l" t="t" r="r" b="b"/>
            <a:pathLst>
              <a:path w="5730240" h="497205">
                <a:moveTo>
                  <a:pt x="5481316" y="0"/>
                </a:moveTo>
                <a:lnTo>
                  <a:pt x="5481316" y="129190"/>
                </a:lnTo>
                <a:lnTo>
                  <a:pt x="0" y="129190"/>
                </a:lnTo>
                <a:lnTo>
                  <a:pt x="0" y="367691"/>
                </a:lnTo>
                <a:lnTo>
                  <a:pt x="5481316" y="367691"/>
                </a:lnTo>
                <a:lnTo>
                  <a:pt x="5481316" y="496882"/>
                </a:lnTo>
                <a:lnTo>
                  <a:pt x="5550845" y="427352"/>
                </a:lnTo>
                <a:lnTo>
                  <a:pt x="5510115" y="427352"/>
                </a:lnTo>
                <a:lnTo>
                  <a:pt x="5510115" y="338890"/>
                </a:lnTo>
                <a:lnTo>
                  <a:pt x="28801" y="338890"/>
                </a:lnTo>
                <a:lnTo>
                  <a:pt x="28801" y="157991"/>
                </a:lnTo>
                <a:lnTo>
                  <a:pt x="5510115" y="157991"/>
                </a:lnTo>
                <a:lnTo>
                  <a:pt x="5510115" y="69529"/>
                </a:lnTo>
                <a:lnTo>
                  <a:pt x="5550845" y="69529"/>
                </a:lnTo>
                <a:lnTo>
                  <a:pt x="5481316" y="0"/>
                </a:lnTo>
                <a:close/>
              </a:path>
              <a:path w="5730240" h="497205">
                <a:moveTo>
                  <a:pt x="5550845" y="69529"/>
                </a:moveTo>
                <a:lnTo>
                  <a:pt x="5510115" y="69529"/>
                </a:lnTo>
                <a:lnTo>
                  <a:pt x="5689027" y="248441"/>
                </a:lnTo>
                <a:lnTo>
                  <a:pt x="5510115" y="427352"/>
                </a:lnTo>
                <a:lnTo>
                  <a:pt x="5550845" y="427352"/>
                </a:lnTo>
                <a:lnTo>
                  <a:pt x="5729756" y="248441"/>
                </a:lnTo>
                <a:lnTo>
                  <a:pt x="5550845" y="69529"/>
                </a:lnTo>
                <a:close/>
              </a:path>
              <a:path w="5730240" h="497205">
                <a:moveTo>
                  <a:pt x="5519715" y="92706"/>
                </a:moveTo>
                <a:lnTo>
                  <a:pt x="5519715" y="167591"/>
                </a:lnTo>
                <a:lnTo>
                  <a:pt x="38400" y="167591"/>
                </a:lnTo>
                <a:lnTo>
                  <a:pt x="38400" y="329290"/>
                </a:lnTo>
                <a:lnTo>
                  <a:pt x="5519715" y="329290"/>
                </a:lnTo>
                <a:lnTo>
                  <a:pt x="5519715" y="404176"/>
                </a:lnTo>
                <a:lnTo>
                  <a:pt x="5542892" y="381000"/>
                </a:lnTo>
                <a:lnTo>
                  <a:pt x="5529315" y="381000"/>
                </a:lnTo>
                <a:lnTo>
                  <a:pt x="5529315" y="319690"/>
                </a:lnTo>
                <a:lnTo>
                  <a:pt x="48000" y="319690"/>
                </a:lnTo>
                <a:lnTo>
                  <a:pt x="48000" y="177191"/>
                </a:lnTo>
                <a:lnTo>
                  <a:pt x="5529315" y="177191"/>
                </a:lnTo>
                <a:lnTo>
                  <a:pt x="5529315" y="115882"/>
                </a:lnTo>
                <a:lnTo>
                  <a:pt x="5542892" y="115882"/>
                </a:lnTo>
                <a:lnTo>
                  <a:pt x="5519715" y="92706"/>
                </a:lnTo>
                <a:close/>
              </a:path>
              <a:path w="5730240" h="497205">
                <a:moveTo>
                  <a:pt x="5542892" y="115882"/>
                </a:moveTo>
                <a:lnTo>
                  <a:pt x="5529315" y="115882"/>
                </a:lnTo>
                <a:lnTo>
                  <a:pt x="5661874" y="248441"/>
                </a:lnTo>
                <a:lnTo>
                  <a:pt x="5529315" y="381000"/>
                </a:lnTo>
                <a:lnTo>
                  <a:pt x="5542892" y="381000"/>
                </a:lnTo>
                <a:lnTo>
                  <a:pt x="5675450" y="248441"/>
                </a:lnTo>
                <a:lnTo>
                  <a:pt x="5542892" y="115882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4"/>
              </a:rPr>
              <a:t>http://cs224w.stanford.edu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4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2544" y="347472"/>
            <a:ext cx="713841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992" y="1600200"/>
            <a:ext cx="8229599" cy="47460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511524" y="3726370"/>
            <a:ext cx="431800" cy="503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100" spc="100">
                <a:latin typeface="Arial"/>
                <a:cs typeface="Arial"/>
              </a:rPr>
              <a:t>…</a:t>
            </a:r>
            <a:endParaRPr sz="31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71600" y="5193665"/>
            <a:ext cx="4648200" cy="1283335"/>
          </a:xfrm>
          <a:custGeom>
            <a:avLst/>
            <a:gdLst/>
            <a:ahLst/>
            <a:cxnLst/>
            <a:rect l="l" t="t" r="r" b="b"/>
            <a:pathLst>
              <a:path w="4648200" h="1283335">
                <a:moveTo>
                  <a:pt x="4648200" y="537101"/>
                </a:moveTo>
                <a:lnTo>
                  <a:pt x="0" y="537101"/>
                </a:lnTo>
                <a:lnTo>
                  <a:pt x="0" y="1283335"/>
                </a:lnTo>
                <a:lnTo>
                  <a:pt x="4648200" y="1283335"/>
                </a:lnTo>
                <a:lnTo>
                  <a:pt x="4648200" y="537101"/>
                </a:lnTo>
                <a:close/>
              </a:path>
              <a:path w="4648200" h="1283335">
                <a:moveTo>
                  <a:pt x="254394" y="0"/>
                </a:moveTo>
                <a:lnTo>
                  <a:pt x="774700" y="537101"/>
                </a:lnTo>
                <a:lnTo>
                  <a:pt x="1936750" y="537101"/>
                </a:lnTo>
                <a:lnTo>
                  <a:pt x="2543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343025" y="5165097"/>
            <a:ext cx="4705350" cy="1340485"/>
          </a:xfrm>
          <a:custGeom>
            <a:avLst/>
            <a:gdLst/>
            <a:ahLst/>
            <a:cxnLst/>
            <a:rect l="l" t="t" r="r" b="b"/>
            <a:pathLst>
              <a:path w="4705350" h="1340484">
                <a:moveTo>
                  <a:pt x="282214" y="0"/>
                </a:moveTo>
                <a:lnTo>
                  <a:pt x="254559" y="31624"/>
                </a:lnTo>
                <a:lnTo>
                  <a:pt x="257043" y="40586"/>
                </a:lnTo>
                <a:lnTo>
                  <a:pt x="262446" y="48450"/>
                </a:lnTo>
                <a:lnTo>
                  <a:pt x="735808" y="537093"/>
                </a:lnTo>
                <a:lnTo>
                  <a:pt x="28575" y="537093"/>
                </a:lnTo>
                <a:lnTo>
                  <a:pt x="17452" y="539338"/>
                </a:lnTo>
                <a:lnTo>
                  <a:pt x="8369" y="545462"/>
                </a:lnTo>
                <a:lnTo>
                  <a:pt x="2245" y="554545"/>
                </a:lnTo>
                <a:lnTo>
                  <a:pt x="0" y="565668"/>
                </a:lnTo>
                <a:lnTo>
                  <a:pt x="0" y="1311902"/>
                </a:lnTo>
                <a:lnTo>
                  <a:pt x="2245" y="1323024"/>
                </a:lnTo>
                <a:lnTo>
                  <a:pt x="8369" y="1332107"/>
                </a:lnTo>
                <a:lnTo>
                  <a:pt x="17452" y="1338231"/>
                </a:lnTo>
                <a:lnTo>
                  <a:pt x="28575" y="1340477"/>
                </a:lnTo>
                <a:lnTo>
                  <a:pt x="4676775" y="1340477"/>
                </a:lnTo>
                <a:lnTo>
                  <a:pt x="4687897" y="1338231"/>
                </a:lnTo>
                <a:lnTo>
                  <a:pt x="4696980" y="1332107"/>
                </a:lnTo>
                <a:lnTo>
                  <a:pt x="4703104" y="1323024"/>
                </a:lnTo>
                <a:lnTo>
                  <a:pt x="4705350" y="1311902"/>
                </a:lnTo>
                <a:lnTo>
                  <a:pt x="4705350" y="1306187"/>
                </a:lnTo>
                <a:lnTo>
                  <a:pt x="34290" y="1306187"/>
                </a:lnTo>
                <a:lnTo>
                  <a:pt x="34290" y="571383"/>
                </a:lnTo>
                <a:lnTo>
                  <a:pt x="805569" y="571383"/>
                </a:lnTo>
                <a:lnTo>
                  <a:pt x="807642" y="570010"/>
                </a:lnTo>
                <a:lnTo>
                  <a:pt x="809334" y="566015"/>
                </a:lnTo>
                <a:lnTo>
                  <a:pt x="809410" y="565668"/>
                </a:lnTo>
                <a:lnTo>
                  <a:pt x="808976" y="563340"/>
                </a:lnTo>
                <a:lnTo>
                  <a:pt x="336559" y="75672"/>
                </a:lnTo>
                <a:lnTo>
                  <a:pt x="274279" y="55789"/>
                </a:lnTo>
                <a:lnTo>
                  <a:pt x="280491" y="45773"/>
                </a:lnTo>
                <a:lnTo>
                  <a:pt x="277756" y="44900"/>
                </a:lnTo>
                <a:lnTo>
                  <a:pt x="283968" y="34885"/>
                </a:lnTo>
                <a:lnTo>
                  <a:pt x="281232" y="34011"/>
                </a:lnTo>
                <a:lnTo>
                  <a:pt x="287074" y="24590"/>
                </a:lnTo>
                <a:lnTo>
                  <a:pt x="290352" y="24590"/>
                </a:lnTo>
                <a:lnTo>
                  <a:pt x="295285" y="16638"/>
                </a:lnTo>
                <a:lnTo>
                  <a:pt x="298561" y="16638"/>
                </a:lnTo>
                <a:lnTo>
                  <a:pt x="303494" y="8685"/>
                </a:lnTo>
                <a:lnTo>
                  <a:pt x="314649" y="8685"/>
                </a:lnTo>
                <a:lnTo>
                  <a:pt x="291660" y="1346"/>
                </a:lnTo>
                <a:lnTo>
                  <a:pt x="282214" y="0"/>
                </a:lnTo>
                <a:close/>
              </a:path>
              <a:path w="4705350" h="1340484">
                <a:moveTo>
                  <a:pt x="314649" y="8685"/>
                </a:moveTo>
                <a:lnTo>
                  <a:pt x="303494" y="8685"/>
                </a:lnTo>
                <a:lnTo>
                  <a:pt x="348981" y="55641"/>
                </a:lnTo>
                <a:lnTo>
                  <a:pt x="1964148" y="571291"/>
                </a:lnTo>
                <a:lnTo>
                  <a:pt x="1964734" y="571383"/>
                </a:lnTo>
                <a:lnTo>
                  <a:pt x="4671060" y="571383"/>
                </a:lnTo>
                <a:lnTo>
                  <a:pt x="4671060" y="1306187"/>
                </a:lnTo>
                <a:lnTo>
                  <a:pt x="4705350" y="1306187"/>
                </a:lnTo>
                <a:lnTo>
                  <a:pt x="4705350" y="565668"/>
                </a:lnTo>
                <a:lnTo>
                  <a:pt x="4703104" y="554545"/>
                </a:lnTo>
                <a:lnTo>
                  <a:pt x="4696980" y="545462"/>
                </a:lnTo>
                <a:lnTo>
                  <a:pt x="4687897" y="539338"/>
                </a:lnTo>
                <a:lnTo>
                  <a:pt x="4676775" y="537093"/>
                </a:lnTo>
                <a:lnTo>
                  <a:pt x="1969775" y="537093"/>
                </a:lnTo>
                <a:lnTo>
                  <a:pt x="314649" y="8685"/>
                </a:lnTo>
                <a:close/>
              </a:path>
              <a:path w="4705350" h="1340484">
                <a:moveTo>
                  <a:pt x="359599" y="83028"/>
                </a:moveTo>
                <a:lnTo>
                  <a:pt x="820379" y="558684"/>
                </a:lnTo>
                <a:lnTo>
                  <a:pt x="821747" y="566015"/>
                </a:lnTo>
                <a:lnTo>
                  <a:pt x="816377" y="578694"/>
                </a:lnTo>
                <a:lnTo>
                  <a:pt x="810159" y="582813"/>
                </a:lnTo>
                <a:lnTo>
                  <a:pt x="45719" y="582813"/>
                </a:lnTo>
                <a:lnTo>
                  <a:pt x="45719" y="1294757"/>
                </a:lnTo>
                <a:lnTo>
                  <a:pt x="4659630" y="1294757"/>
                </a:lnTo>
                <a:lnTo>
                  <a:pt x="4659630" y="1283327"/>
                </a:lnTo>
                <a:lnTo>
                  <a:pt x="57150" y="1283327"/>
                </a:lnTo>
                <a:lnTo>
                  <a:pt x="57150" y="594243"/>
                </a:lnTo>
                <a:lnTo>
                  <a:pt x="803275" y="594243"/>
                </a:lnTo>
                <a:lnTo>
                  <a:pt x="811597" y="593005"/>
                </a:lnTo>
                <a:lnTo>
                  <a:pt x="819055" y="589490"/>
                </a:lnTo>
                <a:lnTo>
                  <a:pt x="825201" y="583993"/>
                </a:lnTo>
                <a:lnTo>
                  <a:pt x="829586" y="576812"/>
                </a:lnTo>
                <a:lnTo>
                  <a:pt x="831693" y="568666"/>
                </a:lnTo>
                <a:lnTo>
                  <a:pt x="831365" y="560427"/>
                </a:lnTo>
                <a:lnTo>
                  <a:pt x="828701" y="552625"/>
                </a:lnTo>
                <a:lnTo>
                  <a:pt x="823799" y="545786"/>
                </a:lnTo>
                <a:lnTo>
                  <a:pt x="382637" y="90383"/>
                </a:lnTo>
                <a:lnTo>
                  <a:pt x="359599" y="83028"/>
                </a:lnTo>
                <a:close/>
              </a:path>
              <a:path w="4705350" h="1340484">
                <a:moveTo>
                  <a:pt x="365809" y="73012"/>
                </a:moveTo>
                <a:lnTo>
                  <a:pt x="382637" y="90383"/>
                </a:lnTo>
                <a:lnTo>
                  <a:pt x="1959443" y="593786"/>
                </a:lnTo>
                <a:lnTo>
                  <a:pt x="1962374" y="594243"/>
                </a:lnTo>
                <a:lnTo>
                  <a:pt x="4648200" y="594243"/>
                </a:lnTo>
                <a:lnTo>
                  <a:pt x="4648200" y="1283327"/>
                </a:lnTo>
                <a:lnTo>
                  <a:pt x="4659630" y="1283327"/>
                </a:lnTo>
                <a:lnTo>
                  <a:pt x="4659630" y="582813"/>
                </a:lnTo>
                <a:lnTo>
                  <a:pt x="1963555" y="582813"/>
                </a:lnTo>
                <a:lnTo>
                  <a:pt x="1961796" y="582539"/>
                </a:lnTo>
                <a:lnTo>
                  <a:pt x="365809" y="73012"/>
                </a:lnTo>
                <a:close/>
              </a:path>
              <a:path w="4705350" h="1340484">
                <a:moveTo>
                  <a:pt x="342770" y="65656"/>
                </a:moveTo>
                <a:lnTo>
                  <a:pt x="359599" y="83028"/>
                </a:lnTo>
                <a:lnTo>
                  <a:pt x="382637" y="90383"/>
                </a:lnTo>
                <a:lnTo>
                  <a:pt x="365809" y="73012"/>
                </a:lnTo>
                <a:lnTo>
                  <a:pt x="342770" y="65656"/>
                </a:lnTo>
                <a:close/>
              </a:path>
              <a:path w="4705350" h="1340484">
                <a:moveTo>
                  <a:pt x="319730" y="58301"/>
                </a:moveTo>
                <a:lnTo>
                  <a:pt x="336559" y="75672"/>
                </a:lnTo>
                <a:lnTo>
                  <a:pt x="359599" y="83028"/>
                </a:lnTo>
                <a:lnTo>
                  <a:pt x="342770" y="65656"/>
                </a:lnTo>
                <a:lnTo>
                  <a:pt x="319730" y="58301"/>
                </a:lnTo>
                <a:close/>
              </a:path>
              <a:path w="4705350" h="1340484">
                <a:moveTo>
                  <a:pt x="280491" y="45773"/>
                </a:moveTo>
                <a:lnTo>
                  <a:pt x="274279" y="55789"/>
                </a:lnTo>
                <a:lnTo>
                  <a:pt x="336559" y="75672"/>
                </a:lnTo>
                <a:lnTo>
                  <a:pt x="319730" y="58301"/>
                </a:lnTo>
                <a:lnTo>
                  <a:pt x="280491" y="45773"/>
                </a:lnTo>
                <a:close/>
              </a:path>
              <a:path w="4705350" h="1340484">
                <a:moveTo>
                  <a:pt x="325943" y="48285"/>
                </a:moveTo>
                <a:lnTo>
                  <a:pt x="342770" y="65656"/>
                </a:lnTo>
                <a:lnTo>
                  <a:pt x="365809" y="73012"/>
                </a:lnTo>
                <a:lnTo>
                  <a:pt x="348981" y="55641"/>
                </a:lnTo>
                <a:lnTo>
                  <a:pt x="325943" y="48285"/>
                </a:lnTo>
                <a:close/>
              </a:path>
              <a:path w="4705350" h="1340484">
                <a:moveTo>
                  <a:pt x="286703" y="35758"/>
                </a:moveTo>
                <a:lnTo>
                  <a:pt x="280491" y="45773"/>
                </a:lnTo>
                <a:lnTo>
                  <a:pt x="319730" y="58301"/>
                </a:lnTo>
                <a:lnTo>
                  <a:pt x="302902" y="40930"/>
                </a:lnTo>
                <a:lnTo>
                  <a:pt x="286703" y="35758"/>
                </a:lnTo>
                <a:close/>
              </a:path>
              <a:path w="4705350" h="1340484">
                <a:moveTo>
                  <a:pt x="303494" y="8685"/>
                </a:moveTo>
                <a:lnTo>
                  <a:pt x="297282" y="18700"/>
                </a:lnTo>
                <a:lnTo>
                  <a:pt x="325943" y="48285"/>
                </a:lnTo>
                <a:lnTo>
                  <a:pt x="348981" y="55641"/>
                </a:lnTo>
                <a:lnTo>
                  <a:pt x="303494" y="8685"/>
                </a:lnTo>
                <a:close/>
              </a:path>
              <a:path w="4705350" h="1340484">
                <a:moveTo>
                  <a:pt x="297282" y="18700"/>
                </a:moveTo>
                <a:lnTo>
                  <a:pt x="291070" y="28716"/>
                </a:lnTo>
                <a:lnTo>
                  <a:pt x="302902" y="40930"/>
                </a:lnTo>
                <a:lnTo>
                  <a:pt x="325943" y="48285"/>
                </a:lnTo>
                <a:lnTo>
                  <a:pt x="297282" y="18700"/>
                </a:lnTo>
                <a:close/>
              </a:path>
              <a:path w="4705350" h="1340484">
                <a:moveTo>
                  <a:pt x="291070" y="28716"/>
                </a:moveTo>
                <a:lnTo>
                  <a:pt x="286703" y="35758"/>
                </a:lnTo>
                <a:lnTo>
                  <a:pt x="302902" y="40930"/>
                </a:lnTo>
                <a:lnTo>
                  <a:pt x="291070" y="28716"/>
                </a:lnTo>
                <a:close/>
              </a:path>
              <a:path w="4705350" h="1340484">
                <a:moveTo>
                  <a:pt x="289073" y="26654"/>
                </a:moveTo>
                <a:lnTo>
                  <a:pt x="283968" y="34885"/>
                </a:lnTo>
                <a:lnTo>
                  <a:pt x="286703" y="35758"/>
                </a:lnTo>
                <a:lnTo>
                  <a:pt x="291070" y="28716"/>
                </a:lnTo>
                <a:lnTo>
                  <a:pt x="289073" y="26654"/>
                </a:lnTo>
                <a:close/>
              </a:path>
              <a:path w="4705350" h="1340484">
                <a:moveTo>
                  <a:pt x="287074" y="24590"/>
                </a:moveTo>
                <a:lnTo>
                  <a:pt x="281232" y="34011"/>
                </a:lnTo>
                <a:lnTo>
                  <a:pt x="283968" y="34885"/>
                </a:lnTo>
                <a:lnTo>
                  <a:pt x="289073" y="26654"/>
                </a:lnTo>
                <a:lnTo>
                  <a:pt x="287074" y="24590"/>
                </a:lnTo>
                <a:close/>
              </a:path>
              <a:path w="4705350" h="1340484">
                <a:moveTo>
                  <a:pt x="290352" y="24590"/>
                </a:moveTo>
                <a:lnTo>
                  <a:pt x="287074" y="24590"/>
                </a:lnTo>
                <a:lnTo>
                  <a:pt x="289073" y="26654"/>
                </a:lnTo>
                <a:lnTo>
                  <a:pt x="290352" y="24590"/>
                </a:lnTo>
                <a:close/>
              </a:path>
              <a:path w="4705350" h="1340484">
                <a:moveTo>
                  <a:pt x="298561" y="16638"/>
                </a:moveTo>
                <a:lnTo>
                  <a:pt x="295285" y="16638"/>
                </a:lnTo>
                <a:lnTo>
                  <a:pt x="297282" y="18700"/>
                </a:lnTo>
                <a:lnTo>
                  <a:pt x="298561" y="166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450339" y="5784596"/>
            <a:ext cx="34613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D60093"/>
                </a:solidFill>
                <a:latin typeface="Arial"/>
                <a:cs typeface="Arial"/>
              </a:rPr>
              <a:t>Output: </a:t>
            </a:r>
            <a:r>
              <a:rPr dirty="0" sz="2400" spc="-5">
                <a:latin typeface="Arial"/>
                <a:cs typeface="Arial"/>
              </a:rPr>
              <a:t>Graph</a:t>
            </a:r>
            <a:r>
              <a:rPr dirty="0" sz="2400" spc="-30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Structure!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04950" y="1160525"/>
            <a:ext cx="5671820" cy="381000"/>
          </a:xfrm>
          <a:custGeom>
            <a:avLst/>
            <a:gdLst/>
            <a:ahLst/>
            <a:cxnLst/>
            <a:rect l="l" t="t" r="r" b="b"/>
            <a:pathLst>
              <a:path w="5671820" h="381000">
                <a:moveTo>
                  <a:pt x="190500" y="0"/>
                </a:moveTo>
                <a:lnTo>
                  <a:pt x="0" y="190500"/>
                </a:lnTo>
                <a:lnTo>
                  <a:pt x="190500" y="381000"/>
                </a:lnTo>
                <a:lnTo>
                  <a:pt x="190500" y="285750"/>
                </a:lnTo>
                <a:lnTo>
                  <a:pt x="5671814" y="285750"/>
                </a:lnTo>
                <a:lnTo>
                  <a:pt x="5671814" y="95250"/>
                </a:lnTo>
                <a:lnTo>
                  <a:pt x="190500" y="95250"/>
                </a:lnTo>
                <a:lnTo>
                  <a:pt x="190500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471009" y="1102584"/>
            <a:ext cx="5730240" cy="497205"/>
          </a:xfrm>
          <a:custGeom>
            <a:avLst/>
            <a:gdLst/>
            <a:ahLst/>
            <a:cxnLst/>
            <a:rect l="l" t="t" r="r" b="b"/>
            <a:pathLst>
              <a:path w="5730240" h="497205">
                <a:moveTo>
                  <a:pt x="248439" y="0"/>
                </a:moveTo>
                <a:lnTo>
                  <a:pt x="0" y="248441"/>
                </a:lnTo>
                <a:lnTo>
                  <a:pt x="248439" y="496882"/>
                </a:lnTo>
                <a:lnTo>
                  <a:pt x="248439" y="427352"/>
                </a:lnTo>
                <a:lnTo>
                  <a:pt x="219640" y="427352"/>
                </a:lnTo>
                <a:lnTo>
                  <a:pt x="40728" y="248441"/>
                </a:lnTo>
                <a:lnTo>
                  <a:pt x="219640" y="69529"/>
                </a:lnTo>
                <a:lnTo>
                  <a:pt x="248439" y="69529"/>
                </a:lnTo>
                <a:lnTo>
                  <a:pt x="248439" y="0"/>
                </a:lnTo>
                <a:close/>
              </a:path>
              <a:path w="5730240" h="497205">
                <a:moveTo>
                  <a:pt x="248439" y="69529"/>
                </a:moveTo>
                <a:lnTo>
                  <a:pt x="219640" y="69529"/>
                </a:lnTo>
                <a:lnTo>
                  <a:pt x="219640" y="157991"/>
                </a:lnTo>
                <a:lnTo>
                  <a:pt x="5700956" y="157991"/>
                </a:lnTo>
                <a:lnTo>
                  <a:pt x="5700956" y="338890"/>
                </a:lnTo>
                <a:lnTo>
                  <a:pt x="219640" y="338890"/>
                </a:lnTo>
                <a:lnTo>
                  <a:pt x="219640" y="427352"/>
                </a:lnTo>
                <a:lnTo>
                  <a:pt x="248439" y="427352"/>
                </a:lnTo>
                <a:lnTo>
                  <a:pt x="248439" y="367691"/>
                </a:lnTo>
                <a:lnTo>
                  <a:pt x="5729756" y="367691"/>
                </a:lnTo>
                <a:lnTo>
                  <a:pt x="5729756" y="129190"/>
                </a:lnTo>
                <a:lnTo>
                  <a:pt x="248439" y="129190"/>
                </a:lnTo>
                <a:lnTo>
                  <a:pt x="248439" y="69529"/>
                </a:lnTo>
                <a:close/>
              </a:path>
              <a:path w="5730240" h="497205">
                <a:moveTo>
                  <a:pt x="210040" y="92706"/>
                </a:moveTo>
                <a:lnTo>
                  <a:pt x="54305" y="248441"/>
                </a:lnTo>
                <a:lnTo>
                  <a:pt x="210040" y="404176"/>
                </a:lnTo>
                <a:lnTo>
                  <a:pt x="210040" y="381000"/>
                </a:lnTo>
                <a:lnTo>
                  <a:pt x="200440" y="381000"/>
                </a:lnTo>
                <a:lnTo>
                  <a:pt x="67881" y="248441"/>
                </a:lnTo>
                <a:lnTo>
                  <a:pt x="200440" y="115882"/>
                </a:lnTo>
                <a:lnTo>
                  <a:pt x="210040" y="115882"/>
                </a:lnTo>
                <a:lnTo>
                  <a:pt x="210040" y="92706"/>
                </a:lnTo>
                <a:close/>
              </a:path>
              <a:path w="5730240" h="497205">
                <a:moveTo>
                  <a:pt x="210040" y="115882"/>
                </a:moveTo>
                <a:lnTo>
                  <a:pt x="200440" y="115882"/>
                </a:lnTo>
                <a:lnTo>
                  <a:pt x="200440" y="177191"/>
                </a:lnTo>
                <a:lnTo>
                  <a:pt x="5681756" y="177191"/>
                </a:lnTo>
                <a:lnTo>
                  <a:pt x="5681756" y="319690"/>
                </a:lnTo>
                <a:lnTo>
                  <a:pt x="200440" y="319690"/>
                </a:lnTo>
                <a:lnTo>
                  <a:pt x="200440" y="381000"/>
                </a:lnTo>
                <a:lnTo>
                  <a:pt x="210040" y="381000"/>
                </a:lnTo>
                <a:lnTo>
                  <a:pt x="210040" y="329290"/>
                </a:lnTo>
                <a:lnTo>
                  <a:pt x="5691356" y="329290"/>
                </a:lnTo>
                <a:lnTo>
                  <a:pt x="5691356" y="167591"/>
                </a:lnTo>
                <a:lnTo>
                  <a:pt x="210040" y="167591"/>
                </a:lnTo>
                <a:lnTo>
                  <a:pt x="210040" y="115882"/>
                </a:lnTo>
                <a:close/>
              </a:path>
            </a:pathLst>
          </a:custGeom>
          <a:solidFill>
            <a:srgbClr val="A94D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4"/>
              </a:rPr>
              <a:t>http://cs224w.stanford.edu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4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95527" y="2484120"/>
            <a:ext cx="5084064" cy="19171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38327"/>
            <a:ext cx="6169152" cy="5821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7463" y="1413763"/>
            <a:ext cx="632841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70">
                <a:solidFill>
                  <a:srgbClr val="C00000"/>
                </a:solidFill>
              </a:rPr>
              <a:t>Task </a:t>
            </a:r>
            <a:r>
              <a:rPr dirty="0" sz="3600" spc="-5">
                <a:solidFill>
                  <a:srgbClr val="C00000"/>
                </a:solidFill>
              </a:rPr>
              <a:t>1: </a:t>
            </a:r>
            <a:r>
              <a:rPr dirty="0" sz="3600" spc="-15">
                <a:solidFill>
                  <a:srgbClr val="C00000"/>
                </a:solidFill>
              </a:rPr>
              <a:t>Realistic </a:t>
            </a:r>
            <a:r>
              <a:rPr dirty="0" sz="3600" spc="-20">
                <a:solidFill>
                  <a:srgbClr val="C00000"/>
                </a:solidFill>
              </a:rPr>
              <a:t>graph</a:t>
            </a:r>
            <a:r>
              <a:rPr dirty="0" sz="3600" spc="55">
                <a:solidFill>
                  <a:srgbClr val="C00000"/>
                </a:solidFill>
              </a:rPr>
              <a:t> </a:t>
            </a:r>
            <a:r>
              <a:rPr dirty="0" sz="3600" spc="-20">
                <a:solidFill>
                  <a:srgbClr val="C00000"/>
                </a:solidFill>
              </a:rPr>
              <a:t>generation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7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7463" y="1961388"/>
            <a:ext cx="7557770" cy="341122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451484" marR="5080" indent="-320040">
              <a:lnSpc>
                <a:spcPct val="101299"/>
              </a:lnSpc>
              <a:spcBef>
                <a:spcPts val="5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451484" algn="l"/>
              </a:tabLst>
            </a:pPr>
            <a:r>
              <a:rPr dirty="0" sz="3200" spc="-20">
                <a:latin typeface="Calibri"/>
                <a:cs typeface="Calibri"/>
              </a:rPr>
              <a:t>Generate </a:t>
            </a:r>
            <a:r>
              <a:rPr dirty="0" sz="3200" spc="-15">
                <a:latin typeface="Calibri"/>
                <a:cs typeface="Calibri"/>
              </a:rPr>
              <a:t>graphs </a:t>
            </a:r>
            <a:r>
              <a:rPr dirty="0" sz="3200" spc="-10">
                <a:latin typeface="Calibri"/>
                <a:cs typeface="Calibri"/>
              </a:rPr>
              <a:t>that </a:t>
            </a:r>
            <a:r>
              <a:rPr dirty="0" sz="3200" spc="-20">
                <a:latin typeface="Calibri"/>
                <a:cs typeface="Calibri"/>
              </a:rPr>
              <a:t>are </a:t>
            </a:r>
            <a:r>
              <a:rPr dirty="0" sz="3200" spc="-5" b="1">
                <a:latin typeface="Calibri"/>
                <a:cs typeface="Calibri"/>
              </a:rPr>
              <a:t>similar </a:t>
            </a:r>
            <a:r>
              <a:rPr dirty="0" sz="3200" spc="-15" b="1">
                <a:latin typeface="Calibri"/>
                <a:cs typeface="Calibri"/>
              </a:rPr>
              <a:t>to </a:t>
            </a:r>
            <a:r>
              <a:rPr dirty="0" sz="3200" b="1">
                <a:latin typeface="Calibri"/>
                <a:cs typeface="Calibri"/>
              </a:rPr>
              <a:t>a </a:t>
            </a:r>
            <a:r>
              <a:rPr dirty="0" sz="3200" spc="-10" b="1">
                <a:latin typeface="Calibri"/>
                <a:cs typeface="Calibri"/>
              </a:rPr>
              <a:t>given  set </a:t>
            </a:r>
            <a:r>
              <a:rPr dirty="0" sz="3200" b="1">
                <a:latin typeface="Calibri"/>
                <a:cs typeface="Calibri"/>
              </a:rPr>
              <a:t>of </a:t>
            </a:r>
            <a:r>
              <a:rPr dirty="0" sz="3200" spc="-20" b="1">
                <a:latin typeface="Calibri"/>
                <a:cs typeface="Calibri"/>
              </a:rPr>
              <a:t>graphs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[Focus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of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this</a:t>
            </a:r>
            <a:r>
              <a:rPr dirty="0" sz="3200" spc="1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lecture]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765"/>
              </a:spcBef>
            </a:pPr>
            <a:r>
              <a:rPr dirty="0" sz="3600" spc="-70" b="1">
                <a:solidFill>
                  <a:srgbClr val="C00000"/>
                </a:solidFill>
                <a:latin typeface="Calibri"/>
                <a:cs typeface="Calibri"/>
              </a:rPr>
              <a:t>Task </a:t>
            </a:r>
            <a:r>
              <a:rPr dirty="0" sz="3600" spc="-5" b="1">
                <a:solidFill>
                  <a:srgbClr val="C00000"/>
                </a:solidFill>
                <a:latin typeface="Calibri"/>
                <a:cs typeface="Calibri"/>
              </a:rPr>
              <a:t>2: </a:t>
            </a:r>
            <a:r>
              <a:rPr dirty="0" sz="3600" spc="-10" b="1">
                <a:solidFill>
                  <a:srgbClr val="C00000"/>
                </a:solidFill>
                <a:latin typeface="Calibri"/>
                <a:cs typeface="Calibri"/>
              </a:rPr>
              <a:t>Goal-directed </a:t>
            </a:r>
            <a:r>
              <a:rPr dirty="0" sz="3600" spc="-20" b="1">
                <a:solidFill>
                  <a:srgbClr val="C00000"/>
                </a:solidFill>
                <a:latin typeface="Calibri"/>
                <a:cs typeface="Calibri"/>
              </a:rPr>
              <a:t>graph</a:t>
            </a:r>
            <a:r>
              <a:rPr dirty="0" sz="3600" spc="7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600" spc="-20" b="1">
                <a:solidFill>
                  <a:srgbClr val="C00000"/>
                </a:solidFill>
                <a:latin typeface="Calibri"/>
                <a:cs typeface="Calibri"/>
              </a:rPr>
              <a:t>generation</a:t>
            </a:r>
            <a:endParaRPr sz="3600">
              <a:latin typeface="Calibri"/>
              <a:cs typeface="Calibri"/>
            </a:endParaRPr>
          </a:p>
          <a:p>
            <a:pPr marL="451484" marR="1040765" indent="-320040">
              <a:lnSpc>
                <a:spcPts val="3790"/>
              </a:lnSpc>
              <a:spcBef>
                <a:spcPts val="25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451484" algn="l"/>
              </a:tabLst>
            </a:pPr>
            <a:r>
              <a:rPr dirty="0" sz="3200" spc="-20">
                <a:latin typeface="Calibri"/>
                <a:cs typeface="Calibri"/>
              </a:rPr>
              <a:t>Generate </a:t>
            </a:r>
            <a:r>
              <a:rPr dirty="0" sz="3200" spc="-15">
                <a:latin typeface="Calibri"/>
                <a:cs typeface="Calibri"/>
              </a:rPr>
              <a:t>graphs </a:t>
            </a:r>
            <a:r>
              <a:rPr dirty="0" sz="3200" spc="-10">
                <a:latin typeface="Calibri"/>
                <a:cs typeface="Calibri"/>
              </a:rPr>
              <a:t>that </a:t>
            </a:r>
            <a:r>
              <a:rPr dirty="0" sz="3200" spc="-15" b="1">
                <a:latin typeface="Calibri"/>
                <a:cs typeface="Calibri"/>
              </a:rPr>
              <a:t>optimize </a:t>
            </a:r>
            <a:r>
              <a:rPr dirty="0" sz="3200" spc="-10" b="1">
                <a:latin typeface="Calibri"/>
                <a:cs typeface="Calibri"/>
              </a:rPr>
              <a:t>given  </a:t>
            </a:r>
            <a:r>
              <a:rPr dirty="0" sz="3200" spc="-15" b="1">
                <a:latin typeface="Calibri"/>
                <a:cs typeface="Calibri"/>
              </a:rPr>
              <a:t>objectives/constraints</a:t>
            </a:r>
            <a:endParaRPr sz="3200">
              <a:latin typeface="Calibri"/>
              <a:cs typeface="Calibri"/>
            </a:endParaRPr>
          </a:p>
          <a:p>
            <a:pPr lvl="1" marL="744220" indent="-274320">
              <a:lnSpc>
                <a:spcPct val="100000"/>
              </a:lnSpc>
              <a:spcBef>
                <a:spcPts val="635"/>
              </a:spcBef>
              <a:buClr>
                <a:srgbClr val="60B5CC"/>
              </a:buClr>
              <a:buFont typeface="Malgun Gothic"/>
              <a:buChar char="▪"/>
              <a:tabLst>
                <a:tab pos="744220" algn="l"/>
              </a:tabLst>
            </a:pPr>
            <a:r>
              <a:rPr dirty="0" sz="2800">
                <a:latin typeface="Calibri"/>
                <a:cs typeface="Calibri"/>
              </a:rPr>
              <a:t>E.g., </a:t>
            </a:r>
            <a:r>
              <a:rPr dirty="0" sz="2800" spc="-5">
                <a:latin typeface="Calibri"/>
                <a:cs typeface="Calibri"/>
              </a:rPr>
              <a:t>Drug molecule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generation/optimization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619353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9755"/>
            <a:ext cx="7497445" cy="11201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4310"/>
              </a:lnSpc>
              <a:spcBef>
                <a:spcPts val="100"/>
              </a:spcBef>
              <a:buClr>
                <a:srgbClr val="F0AD00"/>
              </a:buClr>
              <a:buSzPct val="80555"/>
              <a:buFont typeface="Arial"/>
              <a:buChar char="▪"/>
              <a:tabLst>
                <a:tab pos="332740" algn="l"/>
              </a:tabLst>
            </a:pPr>
            <a:r>
              <a:rPr dirty="0" sz="3600" spc="-10"/>
              <a:t>Given: </a:t>
            </a:r>
            <a:r>
              <a:rPr dirty="0" sz="3600" spc="-20" b="0">
                <a:latin typeface="Calibri"/>
                <a:cs typeface="Calibri"/>
              </a:rPr>
              <a:t>Graphs </a:t>
            </a:r>
            <a:r>
              <a:rPr dirty="0" sz="3600" spc="-5" b="0">
                <a:latin typeface="Calibri"/>
                <a:cs typeface="Calibri"/>
              </a:rPr>
              <a:t>sampled </a:t>
            </a:r>
            <a:r>
              <a:rPr dirty="0" sz="3600" spc="-20" b="0">
                <a:latin typeface="Calibri"/>
                <a:cs typeface="Calibri"/>
              </a:rPr>
              <a:t>from</a:t>
            </a:r>
            <a:r>
              <a:rPr dirty="0" sz="3600" spc="30" b="0">
                <a:latin typeface="Calibri"/>
                <a:cs typeface="Calibri"/>
              </a:rPr>
              <a:t> </a:t>
            </a:r>
            <a:r>
              <a:rPr dirty="0" sz="3600" spc="225" b="0">
                <a:latin typeface="Cambria Math"/>
                <a:cs typeface="Cambria Math"/>
              </a:rPr>
              <a:t>𝑝</a:t>
            </a:r>
            <a:r>
              <a:rPr dirty="0" baseline="-14957" sz="3900" spc="337" b="0">
                <a:latin typeface="Cambria Math"/>
                <a:cs typeface="Cambria Math"/>
              </a:rPr>
              <a:t>!"#"</a:t>
            </a:r>
            <a:r>
              <a:rPr dirty="0" sz="3600" spc="225" b="0">
                <a:latin typeface="Cambria Math"/>
                <a:cs typeface="Cambria Math"/>
              </a:rPr>
              <a:t>(𝐺)</a:t>
            </a:r>
            <a:endParaRPr sz="3600">
              <a:latin typeface="Cambria Math"/>
              <a:cs typeface="Cambria Math"/>
            </a:endParaRPr>
          </a:p>
          <a:p>
            <a:pPr marL="332740" indent="-320040">
              <a:lnSpc>
                <a:spcPts val="4310"/>
              </a:lnSpc>
              <a:buClr>
                <a:srgbClr val="F0AD00"/>
              </a:buClr>
              <a:buSzPct val="80555"/>
              <a:buFont typeface="Arial"/>
              <a:buChar char="▪"/>
              <a:tabLst>
                <a:tab pos="332740" algn="l"/>
              </a:tabLst>
            </a:pPr>
            <a:r>
              <a:rPr dirty="0" sz="3600" spc="-5"/>
              <a:t>Goal: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956563" y="2440939"/>
            <a:ext cx="6397625" cy="1348740"/>
          </a:xfrm>
          <a:prstGeom prst="rect">
            <a:avLst/>
          </a:prstGeom>
        </p:spPr>
        <p:txBody>
          <a:bodyPr wrap="square" lIns="0" tIns="12509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98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3600" spc="-5">
                <a:latin typeface="Calibri"/>
                <a:cs typeface="Calibri"/>
              </a:rPr>
              <a:t>Learn the </a:t>
            </a:r>
            <a:r>
              <a:rPr dirty="0" sz="3600" spc="-10">
                <a:latin typeface="Calibri"/>
                <a:cs typeface="Calibri"/>
              </a:rPr>
              <a:t>distribution</a:t>
            </a:r>
            <a:r>
              <a:rPr dirty="0" sz="3600" spc="-70">
                <a:latin typeface="Calibri"/>
                <a:cs typeface="Calibri"/>
              </a:rPr>
              <a:t> </a:t>
            </a:r>
            <a:r>
              <a:rPr dirty="0" sz="3600" spc="110">
                <a:latin typeface="Cambria Math"/>
                <a:cs typeface="Cambria Math"/>
              </a:rPr>
              <a:t>𝑝</a:t>
            </a:r>
            <a:r>
              <a:rPr dirty="0" baseline="-16025" sz="3900" spc="165">
                <a:latin typeface="Cambria Math"/>
                <a:cs typeface="Cambria Math"/>
              </a:rPr>
              <a:t>$%!&amp;'</a:t>
            </a:r>
            <a:r>
              <a:rPr dirty="0" sz="3600" spc="110">
                <a:latin typeface="Cambria Math"/>
                <a:cs typeface="Cambria Math"/>
              </a:rPr>
              <a:t>(𝐺)</a:t>
            </a:r>
            <a:endParaRPr sz="3600">
              <a:latin typeface="Cambria Math"/>
              <a:cs typeface="Cambria Math"/>
            </a:endParaRPr>
          </a:p>
          <a:p>
            <a:pPr marL="287020" indent="-274320">
              <a:lnSpc>
                <a:spcPct val="100000"/>
              </a:lnSpc>
              <a:spcBef>
                <a:spcPts val="88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3600" spc="-5">
                <a:latin typeface="Calibri"/>
                <a:cs typeface="Calibri"/>
              </a:rPr>
              <a:t>Sample </a:t>
            </a:r>
            <a:r>
              <a:rPr dirty="0" sz="3600" spc="-20">
                <a:latin typeface="Calibri"/>
                <a:cs typeface="Calibri"/>
              </a:rPr>
              <a:t>from </a:t>
            </a:r>
            <a:r>
              <a:rPr dirty="0" sz="3600" spc="150">
                <a:latin typeface="Cambria Math"/>
                <a:cs typeface="Cambria Math"/>
              </a:rPr>
              <a:t>𝑝</a:t>
            </a:r>
            <a:r>
              <a:rPr dirty="0" baseline="-16025" sz="3900" spc="225">
                <a:latin typeface="Cambria Math"/>
                <a:cs typeface="Cambria Math"/>
              </a:rPr>
              <a:t>$%!&amp;'</a:t>
            </a:r>
            <a:r>
              <a:rPr dirty="0" sz="3600" spc="150">
                <a:latin typeface="Cambria Math"/>
                <a:cs typeface="Cambria Math"/>
              </a:rPr>
              <a:t>(𝐺)</a:t>
            </a:r>
            <a:endParaRPr sz="36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0679" y="5137949"/>
            <a:ext cx="3300985" cy="88914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06375" y="5042300"/>
            <a:ext cx="3493770" cy="1115060"/>
          </a:xfrm>
          <a:custGeom>
            <a:avLst/>
            <a:gdLst/>
            <a:ahLst/>
            <a:cxnLst/>
            <a:rect l="l" t="t" r="r" b="b"/>
            <a:pathLst>
              <a:path w="3493770" h="1115060">
                <a:moveTo>
                  <a:pt x="3320541" y="0"/>
                </a:moveTo>
                <a:lnTo>
                  <a:pt x="172271" y="0"/>
                </a:lnTo>
                <a:lnTo>
                  <a:pt x="134750" y="7620"/>
                </a:lnTo>
                <a:lnTo>
                  <a:pt x="84451" y="33020"/>
                </a:lnTo>
                <a:lnTo>
                  <a:pt x="43658" y="69850"/>
                </a:lnTo>
                <a:lnTo>
                  <a:pt x="14952" y="116840"/>
                </a:lnTo>
                <a:lnTo>
                  <a:pt x="3824" y="153670"/>
                </a:lnTo>
                <a:lnTo>
                  <a:pt x="0" y="191770"/>
                </a:lnTo>
                <a:lnTo>
                  <a:pt x="12" y="923290"/>
                </a:lnTo>
                <a:lnTo>
                  <a:pt x="4015" y="962660"/>
                </a:lnTo>
                <a:lnTo>
                  <a:pt x="23457" y="1016000"/>
                </a:lnTo>
                <a:lnTo>
                  <a:pt x="56683" y="1059180"/>
                </a:lnTo>
                <a:lnTo>
                  <a:pt x="101101" y="1092200"/>
                </a:lnTo>
                <a:lnTo>
                  <a:pt x="173228" y="1115060"/>
                </a:lnTo>
                <a:lnTo>
                  <a:pt x="3321498" y="1115060"/>
                </a:lnTo>
                <a:lnTo>
                  <a:pt x="3359020" y="1107440"/>
                </a:lnTo>
                <a:lnTo>
                  <a:pt x="3364907" y="1104900"/>
                </a:lnTo>
                <a:lnTo>
                  <a:pt x="192407" y="1104900"/>
                </a:lnTo>
                <a:lnTo>
                  <a:pt x="173804" y="1103630"/>
                </a:lnTo>
                <a:lnTo>
                  <a:pt x="121876" y="1089660"/>
                </a:lnTo>
                <a:lnTo>
                  <a:pt x="77218" y="1062990"/>
                </a:lnTo>
                <a:lnTo>
                  <a:pt x="42284" y="1024890"/>
                </a:lnTo>
                <a:lnTo>
                  <a:pt x="19536" y="976630"/>
                </a:lnTo>
                <a:lnTo>
                  <a:pt x="11427" y="923290"/>
                </a:lnTo>
                <a:lnTo>
                  <a:pt x="11429" y="191770"/>
                </a:lnTo>
                <a:lnTo>
                  <a:pt x="19592" y="138430"/>
                </a:lnTo>
                <a:lnTo>
                  <a:pt x="42386" y="90170"/>
                </a:lnTo>
                <a:lnTo>
                  <a:pt x="77358" y="52070"/>
                </a:lnTo>
                <a:lnTo>
                  <a:pt x="122048" y="25400"/>
                </a:lnTo>
                <a:lnTo>
                  <a:pt x="173996" y="11430"/>
                </a:lnTo>
                <a:lnTo>
                  <a:pt x="192503" y="10160"/>
                </a:lnTo>
                <a:lnTo>
                  <a:pt x="3365200" y="10160"/>
                </a:lnTo>
                <a:lnTo>
                  <a:pt x="3358118" y="7620"/>
                </a:lnTo>
                <a:lnTo>
                  <a:pt x="3320541" y="0"/>
                </a:lnTo>
                <a:close/>
              </a:path>
              <a:path w="3493770" h="1115060">
                <a:moveTo>
                  <a:pt x="3365200" y="10160"/>
                </a:moveTo>
                <a:lnTo>
                  <a:pt x="192503" y="10160"/>
                </a:lnTo>
                <a:lnTo>
                  <a:pt x="3319965" y="11430"/>
                </a:lnTo>
                <a:lnTo>
                  <a:pt x="3337932" y="13970"/>
                </a:lnTo>
                <a:lnTo>
                  <a:pt x="3387708" y="33020"/>
                </a:lnTo>
                <a:lnTo>
                  <a:pt x="3429398" y="63500"/>
                </a:lnTo>
                <a:lnTo>
                  <a:pt x="3460544" y="105410"/>
                </a:lnTo>
                <a:lnTo>
                  <a:pt x="3478684" y="154940"/>
                </a:lnTo>
                <a:lnTo>
                  <a:pt x="3482342" y="191770"/>
                </a:lnTo>
                <a:lnTo>
                  <a:pt x="3482340" y="923290"/>
                </a:lnTo>
                <a:lnTo>
                  <a:pt x="3474177" y="976630"/>
                </a:lnTo>
                <a:lnTo>
                  <a:pt x="3451383" y="1024890"/>
                </a:lnTo>
                <a:lnTo>
                  <a:pt x="3416411" y="1062990"/>
                </a:lnTo>
                <a:lnTo>
                  <a:pt x="3371721" y="1089660"/>
                </a:lnTo>
                <a:lnTo>
                  <a:pt x="3319773" y="1103630"/>
                </a:lnTo>
                <a:lnTo>
                  <a:pt x="3301265" y="1104900"/>
                </a:lnTo>
                <a:lnTo>
                  <a:pt x="3364907" y="1104900"/>
                </a:lnTo>
                <a:lnTo>
                  <a:pt x="3409317" y="1082040"/>
                </a:lnTo>
                <a:lnTo>
                  <a:pt x="3450111" y="1045210"/>
                </a:lnTo>
                <a:lnTo>
                  <a:pt x="3478818" y="998220"/>
                </a:lnTo>
                <a:lnTo>
                  <a:pt x="3489946" y="961390"/>
                </a:lnTo>
                <a:lnTo>
                  <a:pt x="3493770" y="923290"/>
                </a:lnTo>
                <a:lnTo>
                  <a:pt x="3493757" y="191770"/>
                </a:lnTo>
                <a:lnTo>
                  <a:pt x="3489754" y="152400"/>
                </a:lnTo>
                <a:lnTo>
                  <a:pt x="3470311" y="99060"/>
                </a:lnTo>
                <a:lnTo>
                  <a:pt x="3437086" y="55880"/>
                </a:lnTo>
                <a:lnTo>
                  <a:pt x="3392669" y="22860"/>
                </a:lnTo>
                <a:lnTo>
                  <a:pt x="3375822" y="13970"/>
                </a:lnTo>
                <a:lnTo>
                  <a:pt x="3365200" y="10160"/>
                </a:lnTo>
                <a:close/>
              </a:path>
              <a:path w="3493770" h="1115060">
                <a:moveTo>
                  <a:pt x="192695" y="13970"/>
                </a:moveTo>
                <a:lnTo>
                  <a:pt x="139988" y="22860"/>
                </a:lnTo>
                <a:lnTo>
                  <a:pt x="93578" y="44450"/>
                </a:lnTo>
                <a:lnTo>
                  <a:pt x="55863" y="78740"/>
                </a:lnTo>
                <a:lnTo>
                  <a:pt x="29263" y="121920"/>
                </a:lnTo>
                <a:lnTo>
                  <a:pt x="16176" y="173990"/>
                </a:lnTo>
                <a:lnTo>
                  <a:pt x="15232" y="923290"/>
                </a:lnTo>
                <a:lnTo>
                  <a:pt x="16118" y="941070"/>
                </a:lnTo>
                <a:lnTo>
                  <a:pt x="29045" y="991870"/>
                </a:lnTo>
                <a:lnTo>
                  <a:pt x="55515" y="1036320"/>
                </a:lnTo>
                <a:lnTo>
                  <a:pt x="93123" y="1070610"/>
                </a:lnTo>
                <a:lnTo>
                  <a:pt x="139447" y="1092200"/>
                </a:lnTo>
                <a:lnTo>
                  <a:pt x="192407" y="1101090"/>
                </a:lnTo>
                <a:lnTo>
                  <a:pt x="3301074" y="1101090"/>
                </a:lnTo>
                <a:lnTo>
                  <a:pt x="3319198" y="1099820"/>
                </a:lnTo>
                <a:lnTo>
                  <a:pt x="3336796" y="1097280"/>
                </a:lnTo>
                <a:lnTo>
                  <a:pt x="3300882" y="1097280"/>
                </a:lnTo>
                <a:lnTo>
                  <a:pt x="174189" y="1096010"/>
                </a:lnTo>
                <a:lnTo>
                  <a:pt x="124495" y="1083310"/>
                </a:lnTo>
                <a:lnTo>
                  <a:pt x="81781" y="1056640"/>
                </a:lnTo>
                <a:lnTo>
                  <a:pt x="48386" y="1019810"/>
                </a:lnTo>
                <a:lnTo>
                  <a:pt x="26691" y="974090"/>
                </a:lnTo>
                <a:lnTo>
                  <a:pt x="19037" y="923290"/>
                </a:lnTo>
                <a:lnTo>
                  <a:pt x="19050" y="191770"/>
                </a:lnTo>
                <a:lnTo>
                  <a:pt x="26972" y="139700"/>
                </a:lnTo>
                <a:lnTo>
                  <a:pt x="48898" y="93980"/>
                </a:lnTo>
                <a:lnTo>
                  <a:pt x="82483" y="57150"/>
                </a:lnTo>
                <a:lnTo>
                  <a:pt x="125355" y="31750"/>
                </a:lnTo>
                <a:lnTo>
                  <a:pt x="175145" y="19050"/>
                </a:lnTo>
                <a:lnTo>
                  <a:pt x="192887" y="17780"/>
                </a:lnTo>
                <a:lnTo>
                  <a:pt x="3337356" y="17780"/>
                </a:lnTo>
                <a:lnTo>
                  <a:pt x="3319772" y="15240"/>
                </a:lnTo>
                <a:lnTo>
                  <a:pt x="192695" y="13970"/>
                </a:lnTo>
                <a:close/>
              </a:path>
              <a:path w="3493770" h="1115060">
                <a:moveTo>
                  <a:pt x="3337356" y="17780"/>
                </a:moveTo>
                <a:lnTo>
                  <a:pt x="192887" y="17780"/>
                </a:lnTo>
                <a:lnTo>
                  <a:pt x="3319580" y="19050"/>
                </a:lnTo>
                <a:lnTo>
                  <a:pt x="3336782" y="21590"/>
                </a:lnTo>
                <a:lnTo>
                  <a:pt x="3384401" y="39370"/>
                </a:lnTo>
                <a:lnTo>
                  <a:pt x="3424273" y="69850"/>
                </a:lnTo>
                <a:lnTo>
                  <a:pt x="3454031" y="109220"/>
                </a:lnTo>
                <a:lnTo>
                  <a:pt x="3471304" y="157480"/>
                </a:lnTo>
                <a:lnTo>
                  <a:pt x="3474731" y="191770"/>
                </a:lnTo>
                <a:lnTo>
                  <a:pt x="3474720" y="923290"/>
                </a:lnTo>
                <a:lnTo>
                  <a:pt x="3466797" y="975360"/>
                </a:lnTo>
                <a:lnTo>
                  <a:pt x="3444871" y="1021080"/>
                </a:lnTo>
                <a:lnTo>
                  <a:pt x="3411286" y="1057910"/>
                </a:lnTo>
                <a:lnTo>
                  <a:pt x="3368414" y="1083310"/>
                </a:lnTo>
                <a:lnTo>
                  <a:pt x="3318624" y="1096010"/>
                </a:lnTo>
                <a:lnTo>
                  <a:pt x="3300882" y="1097280"/>
                </a:lnTo>
                <a:lnTo>
                  <a:pt x="3336796" y="1097280"/>
                </a:lnTo>
                <a:lnTo>
                  <a:pt x="3385568" y="1079500"/>
                </a:lnTo>
                <a:lnTo>
                  <a:pt x="3426451" y="1049020"/>
                </a:lnTo>
                <a:lnTo>
                  <a:pt x="3457022" y="1008380"/>
                </a:lnTo>
                <a:lnTo>
                  <a:pt x="3474880" y="958850"/>
                </a:lnTo>
                <a:lnTo>
                  <a:pt x="3478537" y="191770"/>
                </a:lnTo>
                <a:lnTo>
                  <a:pt x="3477651" y="173990"/>
                </a:lnTo>
                <a:lnTo>
                  <a:pt x="3464723" y="123190"/>
                </a:lnTo>
                <a:lnTo>
                  <a:pt x="3438254" y="78740"/>
                </a:lnTo>
                <a:lnTo>
                  <a:pt x="3400645" y="44450"/>
                </a:lnTo>
                <a:lnTo>
                  <a:pt x="3354322" y="22860"/>
                </a:lnTo>
                <a:lnTo>
                  <a:pt x="3337356" y="17780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326499" y="4407915"/>
            <a:ext cx="137350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180">
                <a:solidFill>
                  <a:srgbClr val="0070C0"/>
                </a:solidFill>
                <a:latin typeface="Cambria Math"/>
                <a:cs typeface="Cambria Math"/>
              </a:rPr>
              <a:t>𝑝</a:t>
            </a:r>
            <a:r>
              <a:rPr dirty="0" baseline="-16666" sz="3000" spc="270">
                <a:solidFill>
                  <a:srgbClr val="0070C0"/>
                </a:solidFill>
                <a:latin typeface="Cambria Math"/>
                <a:cs typeface="Cambria Math"/>
              </a:rPr>
              <a:t>!"#"</a:t>
            </a:r>
            <a:r>
              <a:rPr dirty="0" sz="2800" spc="180">
                <a:solidFill>
                  <a:srgbClr val="0070C0"/>
                </a:solidFill>
                <a:latin typeface="Cambria Math"/>
                <a:cs typeface="Cambria Math"/>
              </a:rPr>
              <a:t>(𝐺)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437850" y="5198148"/>
            <a:ext cx="3358894" cy="8613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312501" y="5034500"/>
            <a:ext cx="3493770" cy="1116330"/>
          </a:xfrm>
          <a:custGeom>
            <a:avLst/>
            <a:gdLst/>
            <a:ahLst/>
            <a:cxnLst/>
            <a:rect l="l" t="t" r="r" b="b"/>
            <a:pathLst>
              <a:path w="3493770" h="1116329">
                <a:moveTo>
                  <a:pt x="3301362" y="0"/>
                </a:moveTo>
                <a:lnTo>
                  <a:pt x="172271" y="1269"/>
                </a:lnTo>
                <a:lnTo>
                  <a:pt x="134749" y="8889"/>
                </a:lnTo>
                <a:lnTo>
                  <a:pt x="84451" y="34289"/>
                </a:lnTo>
                <a:lnTo>
                  <a:pt x="43657" y="71119"/>
                </a:lnTo>
                <a:lnTo>
                  <a:pt x="14951" y="118109"/>
                </a:lnTo>
                <a:lnTo>
                  <a:pt x="3823" y="154939"/>
                </a:lnTo>
                <a:lnTo>
                  <a:pt x="0" y="193039"/>
                </a:lnTo>
                <a:lnTo>
                  <a:pt x="11" y="924559"/>
                </a:lnTo>
                <a:lnTo>
                  <a:pt x="4014" y="963929"/>
                </a:lnTo>
                <a:lnTo>
                  <a:pt x="23456" y="1017269"/>
                </a:lnTo>
                <a:lnTo>
                  <a:pt x="56682" y="1060449"/>
                </a:lnTo>
                <a:lnTo>
                  <a:pt x="101100" y="1093470"/>
                </a:lnTo>
                <a:lnTo>
                  <a:pt x="173227" y="1116329"/>
                </a:lnTo>
                <a:lnTo>
                  <a:pt x="3321497" y="1116329"/>
                </a:lnTo>
                <a:lnTo>
                  <a:pt x="3359019" y="1108709"/>
                </a:lnTo>
                <a:lnTo>
                  <a:pt x="3364906" y="1106170"/>
                </a:lnTo>
                <a:lnTo>
                  <a:pt x="3301265" y="1106170"/>
                </a:lnTo>
                <a:lnTo>
                  <a:pt x="173804" y="1104899"/>
                </a:lnTo>
                <a:lnTo>
                  <a:pt x="121875" y="1090929"/>
                </a:lnTo>
                <a:lnTo>
                  <a:pt x="77217" y="1064259"/>
                </a:lnTo>
                <a:lnTo>
                  <a:pt x="42283" y="1026159"/>
                </a:lnTo>
                <a:lnTo>
                  <a:pt x="19535" y="977899"/>
                </a:lnTo>
                <a:lnTo>
                  <a:pt x="11427" y="924559"/>
                </a:lnTo>
                <a:lnTo>
                  <a:pt x="11429" y="193039"/>
                </a:lnTo>
                <a:lnTo>
                  <a:pt x="19591" y="139699"/>
                </a:lnTo>
                <a:lnTo>
                  <a:pt x="42386" y="91439"/>
                </a:lnTo>
                <a:lnTo>
                  <a:pt x="77358" y="53339"/>
                </a:lnTo>
                <a:lnTo>
                  <a:pt x="122048" y="26669"/>
                </a:lnTo>
                <a:lnTo>
                  <a:pt x="173996" y="12699"/>
                </a:lnTo>
                <a:lnTo>
                  <a:pt x="192502" y="11429"/>
                </a:lnTo>
                <a:lnTo>
                  <a:pt x="3365199" y="11429"/>
                </a:lnTo>
                <a:lnTo>
                  <a:pt x="3358117" y="8889"/>
                </a:lnTo>
                <a:lnTo>
                  <a:pt x="3320540" y="1269"/>
                </a:lnTo>
                <a:lnTo>
                  <a:pt x="3301362" y="0"/>
                </a:lnTo>
                <a:close/>
              </a:path>
              <a:path w="3493770" h="1116329">
                <a:moveTo>
                  <a:pt x="3365199" y="11429"/>
                </a:moveTo>
                <a:lnTo>
                  <a:pt x="3301362" y="11429"/>
                </a:lnTo>
                <a:lnTo>
                  <a:pt x="3319964" y="12699"/>
                </a:lnTo>
                <a:lnTo>
                  <a:pt x="3337932" y="15239"/>
                </a:lnTo>
                <a:lnTo>
                  <a:pt x="3387708" y="34289"/>
                </a:lnTo>
                <a:lnTo>
                  <a:pt x="3429397" y="64769"/>
                </a:lnTo>
                <a:lnTo>
                  <a:pt x="3460542" y="106679"/>
                </a:lnTo>
                <a:lnTo>
                  <a:pt x="3478683" y="156209"/>
                </a:lnTo>
                <a:lnTo>
                  <a:pt x="3482341" y="193039"/>
                </a:lnTo>
                <a:lnTo>
                  <a:pt x="3482340" y="924559"/>
                </a:lnTo>
                <a:lnTo>
                  <a:pt x="3474177" y="977899"/>
                </a:lnTo>
                <a:lnTo>
                  <a:pt x="3451382" y="1026159"/>
                </a:lnTo>
                <a:lnTo>
                  <a:pt x="3416410" y="1064259"/>
                </a:lnTo>
                <a:lnTo>
                  <a:pt x="3371721" y="1090929"/>
                </a:lnTo>
                <a:lnTo>
                  <a:pt x="3319773" y="1104899"/>
                </a:lnTo>
                <a:lnTo>
                  <a:pt x="3301265" y="1106170"/>
                </a:lnTo>
                <a:lnTo>
                  <a:pt x="3364906" y="1106170"/>
                </a:lnTo>
                <a:lnTo>
                  <a:pt x="3409317" y="1083309"/>
                </a:lnTo>
                <a:lnTo>
                  <a:pt x="3450111" y="1046479"/>
                </a:lnTo>
                <a:lnTo>
                  <a:pt x="3478817" y="999489"/>
                </a:lnTo>
                <a:lnTo>
                  <a:pt x="3489944" y="962659"/>
                </a:lnTo>
                <a:lnTo>
                  <a:pt x="3493769" y="924559"/>
                </a:lnTo>
                <a:lnTo>
                  <a:pt x="3493757" y="193039"/>
                </a:lnTo>
                <a:lnTo>
                  <a:pt x="3489754" y="153669"/>
                </a:lnTo>
                <a:lnTo>
                  <a:pt x="3470311" y="100329"/>
                </a:lnTo>
                <a:lnTo>
                  <a:pt x="3437086" y="57149"/>
                </a:lnTo>
                <a:lnTo>
                  <a:pt x="3392667" y="24129"/>
                </a:lnTo>
                <a:lnTo>
                  <a:pt x="3375821" y="15239"/>
                </a:lnTo>
                <a:lnTo>
                  <a:pt x="3365199" y="11429"/>
                </a:lnTo>
                <a:close/>
              </a:path>
              <a:path w="3493770" h="1116329">
                <a:moveTo>
                  <a:pt x="3301362" y="15239"/>
                </a:moveTo>
                <a:lnTo>
                  <a:pt x="192695" y="15239"/>
                </a:lnTo>
                <a:lnTo>
                  <a:pt x="174570" y="16509"/>
                </a:lnTo>
                <a:lnTo>
                  <a:pt x="123701" y="29209"/>
                </a:lnTo>
                <a:lnTo>
                  <a:pt x="79921" y="55879"/>
                </a:lnTo>
                <a:lnTo>
                  <a:pt x="45642" y="93979"/>
                </a:lnTo>
                <a:lnTo>
                  <a:pt x="23281" y="139699"/>
                </a:lnTo>
                <a:lnTo>
                  <a:pt x="15239" y="193039"/>
                </a:lnTo>
                <a:lnTo>
                  <a:pt x="15232" y="924559"/>
                </a:lnTo>
                <a:lnTo>
                  <a:pt x="16118" y="942339"/>
                </a:lnTo>
                <a:lnTo>
                  <a:pt x="29044" y="993139"/>
                </a:lnTo>
                <a:lnTo>
                  <a:pt x="55515" y="1037589"/>
                </a:lnTo>
                <a:lnTo>
                  <a:pt x="93122" y="1071879"/>
                </a:lnTo>
                <a:lnTo>
                  <a:pt x="139445" y="1093470"/>
                </a:lnTo>
                <a:lnTo>
                  <a:pt x="3301074" y="1102359"/>
                </a:lnTo>
                <a:lnTo>
                  <a:pt x="3319198" y="1101089"/>
                </a:lnTo>
                <a:lnTo>
                  <a:pt x="3336795" y="1098549"/>
                </a:lnTo>
                <a:lnTo>
                  <a:pt x="3300881" y="1098549"/>
                </a:lnTo>
                <a:lnTo>
                  <a:pt x="174189" y="1097279"/>
                </a:lnTo>
                <a:lnTo>
                  <a:pt x="124494" y="1084579"/>
                </a:lnTo>
                <a:lnTo>
                  <a:pt x="81780" y="1057909"/>
                </a:lnTo>
                <a:lnTo>
                  <a:pt x="48385" y="1021079"/>
                </a:lnTo>
                <a:lnTo>
                  <a:pt x="26691" y="975359"/>
                </a:lnTo>
                <a:lnTo>
                  <a:pt x="19037" y="924559"/>
                </a:lnTo>
                <a:lnTo>
                  <a:pt x="19050" y="193039"/>
                </a:lnTo>
                <a:lnTo>
                  <a:pt x="26970" y="140969"/>
                </a:lnTo>
                <a:lnTo>
                  <a:pt x="48898" y="95249"/>
                </a:lnTo>
                <a:lnTo>
                  <a:pt x="82482" y="58419"/>
                </a:lnTo>
                <a:lnTo>
                  <a:pt x="125354" y="33019"/>
                </a:lnTo>
                <a:lnTo>
                  <a:pt x="175145" y="20319"/>
                </a:lnTo>
                <a:lnTo>
                  <a:pt x="192887" y="19049"/>
                </a:lnTo>
                <a:lnTo>
                  <a:pt x="3337356" y="19049"/>
                </a:lnTo>
                <a:lnTo>
                  <a:pt x="3319772" y="16509"/>
                </a:lnTo>
                <a:lnTo>
                  <a:pt x="3301362" y="15239"/>
                </a:lnTo>
                <a:close/>
              </a:path>
              <a:path w="3493770" h="1116329">
                <a:moveTo>
                  <a:pt x="3337356" y="19049"/>
                </a:moveTo>
                <a:lnTo>
                  <a:pt x="3301362" y="19049"/>
                </a:lnTo>
                <a:lnTo>
                  <a:pt x="3319580" y="20319"/>
                </a:lnTo>
                <a:lnTo>
                  <a:pt x="3336782" y="22859"/>
                </a:lnTo>
                <a:lnTo>
                  <a:pt x="3384401" y="40639"/>
                </a:lnTo>
                <a:lnTo>
                  <a:pt x="3424273" y="71119"/>
                </a:lnTo>
                <a:lnTo>
                  <a:pt x="3454030" y="110489"/>
                </a:lnTo>
                <a:lnTo>
                  <a:pt x="3471303" y="158749"/>
                </a:lnTo>
                <a:lnTo>
                  <a:pt x="3474731" y="193039"/>
                </a:lnTo>
                <a:lnTo>
                  <a:pt x="3474719" y="924559"/>
                </a:lnTo>
                <a:lnTo>
                  <a:pt x="3466797" y="976629"/>
                </a:lnTo>
                <a:lnTo>
                  <a:pt x="3444869" y="1022349"/>
                </a:lnTo>
                <a:lnTo>
                  <a:pt x="3411286" y="1059179"/>
                </a:lnTo>
                <a:lnTo>
                  <a:pt x="3368414" y="1084579"/>
                </a:lnTo>
                <a:lnTo>
                  <a:pt x="3318623" y="1097279"/>
                </a:lnTo>
                <a:lnTo>
                  <a:pt x="3300881" y="1098549"/>
                </a:lnTo>
                <a:lnTo>
                  <a:pt x="3336795" y="1098549"/>
                </a:lnTo>
                <a:lnTo>
                  <a:pt x="3385567" y="1080770"/>
                </a:lnTo>
                <a:lnTo>
                  <a:pt x="3426449" y="1050289"/>
                </a:lnTo>
                <a:lnTo>
                  <a:pt x="3457022" y="1009649"/>
                </a:lnTo>
                <a:lnTo>
                  <a:pt x="3474878" y="960119"/>
                </a:lnTo>
                <a:lnTo>
                  <a:pt x="3478536" y="193039"/>
                </a:lnTo>
                <a:lnTo>
                  <a:pt x="3477651" y="175259"/>
                </a:lnTo>
                <a:lnTo>
                  <a:pt x="3464723" y="124459"/>
                </a:lnTo>
                <a:lnTo>
                  <a:pt x="3438253" y="80009"/>
                </a:lnTo>
                <a:lnTo>
                  <a:pt x="3400645" y="45719"/>
                </a:lnTo>
                <a:lnTo>
                  <a:pt x="3354322" y="24129"/>
                </a:lnTo>
                <a:lnTo>
                  <a:pt x="3337356" y="19049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414990" y="4462779"/>
            <a:ext cx="156654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1904" sz="4200" spc="187">
                <a:solidFill>
                  <a:srgbClr val="0070C0"/>
                </a:solidFill>
                <a:latin typeface="Cambria Math"/>
                <a:cs typeface="Cambria Math"/>
              </a:rPr>
              <a:t>𝑝</a:t>
            </a:r>
            <a:r>
              <a:rPr dirty="0" sz="2000" spc="125">
                <a:solidFill>
                  <a:srgbClr val="0070C0"/>
                </a:solidFill>
                <a:latin typeface="Cambria Math"/>
                <a:cs typeface="Cambria Math"/>
              </a:rPr>
              <a:t>$%!&amp;'</a:t>
            </a:r>
            <a:r>
              <a:rPr dirty="0" baseline="11904" sz="4200" spc="187">
                <a:solidFill>
                  <a:srgbClr val="0070C0"/>
                </a:solidFill>
                <a:latin typeface="Cambria Math"/>
                <a:cs typeface="Cambria Math"/>
              </a:rPr>
              <a:t>(𝐺)</a:t>
            </a:r>
            <a:endParaRPr baseline="11904" sz="42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026626" y="5430121"/>
            <a:ext cx="1016000" cy="304800"/>
          </a:xfrm>
          <a:custGeom>
            <a:avLst/>
            <a:gdLst/>
            <a:ahLst/>
            <a:cxnLst/>
            <a:rect l="l" t="t" r="r" b="b"/>
            <a:pathLst>
              <a:path w="1016000" h="304800">
                <a:moveTo>
                  <a:pt x="863600" y="0"/>
                </a:moveTo>
                <a:lnTo>
                  <a:pt x="863600" y="76200"/>
                </a:lnTo>
                <a:lnTo>
                  <a:pt x="0" y="76200"/>
                </a:lnTo>
                <a:lnTo>
                  <a:pt x="0" y="228599"/>
                </a:lnTo>
                <a:lnTo>
                  <a:pt x="863600" y="228599"/>
                </a:lnTo>
                <a:lnTo>
                  <a:pt x="863600" y="304799"/>
                </a:lnTo>
                <a:lnTo>
                  <a:pt x="1016000" y="152400"/>
                </a:lnTo>
                <a:lnTo>
                  <a:pt x="86360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002625" y="5372179"/>
            <a:ext cx="1074420" cy="421005"/>
          </a:xfrm>
          <a:custGeom>
            <a:avLst/>
            <a:gdLst/>
            <a:ahLst/>
            <a:cxnLst/>
            <a:rect l="l" t="t" r="r" b="b"/>
            <a:pathLst>
              <a:path w="1074420" h="421004">
                <a:moveTo>
                  <a:pt x="863600" y="0"/>
                </a:moveTo>
                <a:lnTo>
                  <a:pt x="863600" y="110140"/>
                </a:lnTo>
                <a:lnTo>
                  <a:pt x="0" y="110140"/>
                </a:lnTo>
                <a:lnTo>
                  <a:pt x="0" y="310540"/>
                </a:lnTo>
                <a:lnTo>
                  <a:pt x="863600" y="310540"/>
                </a:lnTo>
                <a:lnTo>
                  <a:pt x="863600" y="420682"/>
                </a:lnTo>
                <a:lnTo>
                  <a:pt x="933129" y="351152"/>
                </a:lnTo>
                <a:lnTo>
                  <a:pt x="892399" y="351152"/>
                </a:lnTo>
                <a:lnTo>
                  <a:pt x="892399" y="281740"/>
                </a:lnTo>
                <a:lnTo>
                  <a:pt x="28799" y="281740"/>
                </a:lnTo>
                <a:lnTo>
                  <a:pt x="28799" y="138940"/>
                </a:lnTo>
                <a:lnTo>
                  <a:pt x="892399" y="138940"/>
                </a:lnTo>
                <a:lnTo>
                  <a:pt x="892399" y="69528"/>
                </a:lnTo>
                <a:lnTo>
                  <a:pt x="933128" y="69528"/>
                </a:lnTo>
                <a:lnTo>
                  <a:pt x="863600" y="0"/>
                </a:lnTo>
                <a:close/>
              </a:path>
              <a:path w="1074420" h="421004">
                <a:moveTo>
                  <a:pt x="933128" y="69528"/>
                </a:moveTo>
                <a:lnTo>
                  <a:pt x="892399" y="69528"/>
                </a:lnTo>
                <a:lnTo>
                  <a:pt x="1033212" y="210341"/>
                </a:lnTo>
                <a:lnTo>
                  <a:pt x="892399" y="351152"/>
                </a:lnTo>
                <a:lnTo>
                  <a:pt x="933129" y="351152"/>
                </a:lnTo>
                <a:lnTo>
                  <a:pt x="1073941" y="210341"/>
                </a:lnTo>
                <a:lnTo>
                  <a:pt x="933128" y="69528"/>
                </a:lnTo>
                <a:close/>
              </a:path>
              <a:path w="1074420" h="421004">
                <a:moveTo>
                  <a:pt x="901999" y="92706"/>
                </a:moveTo>
                <a:lnTo>
                  <a:pt x="901999" y="148540"/>
                </a:lnTo>
                <a:lnTo>
                  <a:pt x="38399" y="148540"/>
                </a:lnTo>
                <a:lnTo>
                  <a:pt x="38399" y="272140"/>
                </a:lnTo>
                <a:lnTo>
                  <a:pt x="901999" y="272140"/>
                </a:lnTo>
                <a:lnTo>
                  <a:pt x="901999" y="327976"/>
                </a:lnTo>
                <a:lnTo>
                  <a:pt x="925176" y="304799"/>
                </a:lnTo>
                <a:lnTo>
                  <a:pt x="911599" y="304799"/>
                </a:lnTo>
                <a:lnTo>
                  <a:pt x="911599" y="262540"/>
                </a:lnTo>
                <a:lnTo>
                  <a:pt x="47999" y="262540"/>
                </a:lnTo>
                <a:lnTo>
                  <a:pt x="47999" y="158140"/>
                </a:lnTo>
                <a:lnTo>
                  <a:pt x="911599" y="158140"/>
                </a:lnTo>
                <a:lnTo>
                  <a:pt x="911599" y="115882"/>
                </a:lnTo>
                <a:lnTo>
                  <a:pt x="925175" y="115882"/>
                </a:lnTo>
                <a:lnTo>
                  <a:pt x="901999" y="92706"/>
                </a:lnTo>
                <a:close/>
              </a:path>
              <a:path w="1074420" h="421004">
                <a:moveTo>
                  <a:pt x="925175" y="115882"/>
                </a:moveTo>
                <a:lnTo>
                  <a:pt x="911599" y="115882"/>
                </a:lnTo>
                <a:lnTo>
                  <a:pt x="1006058" y="210341"/>
                </a:lnTo>
                <a:lnTo>
                  <a:pt x="911599" y="304799"/>
                </a:lnTo>
                <a:lnTo>
                  <a:pt x="925176" y="304799"/>
                </a:lnTo>
                <a:lnTo>
                  <a:pt x="1019634" y="210341"/>
                </a:lnTo>
                <a:lnTo>
                  <a:pt x="925175" y="115882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889087" y="4517644"/>
            <a:ext cx="1209675" cy="86995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3290"/>
              </a:lnSpc>
              <a:spcBef>
                <a:spcPts val="265"/>
              </a:spcBef>
            </a:pPr>
            <a:r>
              <a:rPr dirty="0" sz="2800" spc="-70">
                <a:solidFill>
                  <a:srgbClr val="0070C0"/>
                </a:solidFill>
                <a:latin typeface="Arial"/>
                <a:cs typeface="Arial"/>
              </a:rPr>
              <a:t>Learn</a:t>
            </a:r>
            <a:r>
              <a:rPr dirty="0" sz="2800" spc="-85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800" spc="-160">
                <a:solidFill>
                  <a:srgbClr val="0070C0"/>
                </a:solidFill>
                <a:latin typeface="Arial"/>
                <a:cs typeface="Arial"/>
              </a:rPr>
              <a:t>&amp;  </a:t>
            </a:r>
            <a:r>
              <a:rPr dirty="0" sz="2800" spc="-65">
                <a:solidFill>
                  <a:srgbClr val="0070C0"/>
                </a:solidFill>
                <a:latin typeface="Arial"/>
                <a:cs typeface="Arial"/>
              </a:rPr>
              <a:t>Sample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5"/>
              </a:rPr>
              <a:t>http://cs224w.stanford.edu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7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6233160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7939"/>
            <a:ext cx="7303134" cy="13087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445"/>
              </a:lnSpc>
              <a:spcBef>
                <a:spcPts val="100"/>
              </a:spcBef>
            </a:pPr>
            <a:r>
              <a:rPr dirty="0" sz="3000" spc="-10">
                <a:solidFill>
                  <a:srgbClr val="C00000"/>
                </a:solidFill>
              </a:rPr>
              <a:t>Setup:</a:t>
            </a:r>
            <a:endParaRPr sz="3000"/>
          </a:p>
          <a:p>
            <a:pPr marL="332740" marR="5080" indent="-320040">
              <a:lnSpc>
                <a:spcPts val="3220"/>
              </a:lnSpc>
              <a:spcBef>
                <a:spcPts val="265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0">
                <a:latin typeface="Calibri"/>
                <a:cs typeface="Calibri"/>
              </a:rPr>
              <a:t>Assume </a:t>
            </a:r>
            <a:r>
              <a:rPr dirty="0" sz="3000" spc="-15" b="0">
                <a:latin typeface="Calibri"/>
                <a:cs typeface="Calibri"/>
              </a:rPr>
              <a:t>we want </a:t>
            </a:r>
            <a:r>
              <a:rPr dirty="0" sz="3000" spc="-20" b="0">
                <a:latin typeface="Calibri"/>
                <a:cs typeface="Calibri"/>
              </a:rPr>
              <a:t>to </a:t>
            </a:r>
            <a:r>
              <a:rPr dirty="0" sz="3000" spc="-5" b="0">
                <a:latin typeface="Calibri"/>
                <a:cs typeface="Calibri"/>
              </a:rPr>
              <a:t>learn </a:t>
            </a:r>
            <a:r>
              <a:rPr dirty="0" sz="3000" b="0">
                <a:latin typeface="Calibri"/>
                <a:cs typeface="Calibri"/>
              </a:rPr>
              <a:t>a </a:t>
            </a:r>
            <a:r>
              <a:rPr dirty="0" sz="3000" spc="-20" b="0">
                <a:latin typeface="Calibri"/>
                <a:cs typeface="Calibri"/>
              </a:rPr>
              <a:t>generative </a:t>
            </a:r>
            <a:r>
              <a:rPr dirty="0" sz="3000" spc="-5" b="0">
                <a:latin typeface="Calibri"/>
                <a:cs typeface="Calibri"/>
              </a:rPr>
              <a:t>model  </a:t>
            </a:r>
            <a:r>
              <a:rPr dirty="0" sz="3000" spc="-15" b="0">
                <a:latin typeface="Calibri"/>
                <a:cs typeface="Calibri"/>
              </a:rPr>
              <a:t>from </a:t>
            </a:r>
            <a:r>
              <a:rPr dirty="0" sz="3000" b="0">
                <a:latin typeface="Calibri"/>
                <a:cs typeface="Calibri"/>
              </a:rPr>
              <a:t>a </a:t>
            </a:r>
            <a:r>
              <a:rPr dirty="0" sz="3000" spc="-10" b="0">
                <a:latin typeface="Calibri"/>
                <a:cs typeface="Calibri"/>
              </a:rPr>
              <a:t>set </a:t>
            </a:r>
            <a:r>
              <a:rPr dirty="0" sz="3000" b="0">
                <a:latin typeface="Calibri"/>
                <a:cs typeface="Calibri"/>
              </a:rPr>
              <a:t>of </a:t>
            </a:r>
            <a:r>
              <a:rPr dirty="0" sz="3000" spc="-20" b="0">
                <a:latin typeface="Calibri"/>
                <a:cs typeface="Calibri"/>
              </a:rPr>
              <a:t>data </a:t>
            </a:r>
            <a:r>
              <a:rPr dirty="0" sz="3000" spc="-10" b="0">
                <a:latin typeface="Calibri"/>
                <a:cs typeface="Calibri"/>
              </a:rPr>
              <a:t>points </a:t>
            </a:r>
            <a:r>
              <a:rPr dirty="0" sz="3000" spc="-5" b="0">
                <a:latin typeface="Calibri"/>
                <a:cs typeface="Calibri"/>
              </a:rPr>
              <a:t>(i.e., </a:t>
            </a:r>
            <a:r>
              <a:rPr dirty="0" sz="3000" spc="-10" b="0">
                <a:latin typeface="Calibri"/>
                <a:cs typeface="Calibri"/>
              </a:rPr>
              <a:t>graphs)</a:t>
            </a:r>
            <a:r>
              <a:rPr dirty="0" sz="3000" spc="-5" b="0">
                <a:latin typeface="Calibri"/>
                <a:cs typeface="Calibri"/>
              </a:rPr>
              <a:t> </a:t>
            </a:r>
            <a:r>
              <a:rPr dirty="0" sz="3000" spc="60" b="0">
                <a:latin typeface="Cambria Math"/>
                <a:cs typeface="Cambria Math"/>
              </a:rPr>
              <a:t>{𝒙</a:t>
            </a:r>
            <a:r>
              <a:rPr dirty="0" baseline="-15151" sz="3300" spc="89" b="0">
                <a:latin typeface="Cambria Math"/>
                <a:cs typeface="Cambria Math"/>
              </a:rPr>
              <a:t>!</a:t>
            </a:r>
            <a:r>
              <a:rPr dirty="0" sz="3000" spc="60" b="0">
                <a:latin typeface="Cambria Math"/>
                <a:cs typeface="Cambria Math"/>
              </a:rPr>
              <a:t>}</a:t>
            </a:r>
            <a:endParaRPr sz="30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72117" y="4721038"/>
            <a:ext cx="740410" cy="306070"/>
          </a:xfrm>
          <a:custGeom>
            <a:avLst/>
            <a:gdLst/>
            <a:ahLst/>
            <a:cxnLst/>
            <a:rect l="l" t="t" r="r" b="b"/>
            <a:pathLst>
              <a:path w="740410" h="306070">
                <a:moveTo>
                  <a:pt x="642430" y="0"/>
                </a:moveTo>
                <a:lnTo>
                  <a:pt x="638077" y="12414"/>
                </a:lnTo>
                <a:lnTo>
                  <a:pt x="655782" y="20098"/>
                </a:lnTo>
                <a:lnTo>
                  <a:pt x="671008" y="30734"/>
                </a:lnTo>
                <a:lnTo>
                  <a:pt x="701924" y="80035"/>
                </a:lnTo>
                <a:lnTo>
                  <a:pt x="710952" y="125301"/>
                </a:lnTo>
                <a:lnTo>
                  <a:pt x="712081" y="151395"/>
                </a:lnTo>
                <a:lnTo>
                  <a:pt x="710947" y="178370"/>
                </a:lnTo>
                <a:lnTo>
                  <a:pt x="701879" y="224885"/>
                </a:lnTo>
                <a:lnTo>
                  <a:pt x="683680" y="261213"/>
                </a:lnTo>
                <a:lnTo>
                  <a:pt x="638561" y="293438"/>
                </a:lnTo>
                <a:lnTo>
                  <a:pt x="642430" y="305854"/>
                </a:lnTo>
                <a:lnTo>
                  <a:pt x="684149" y="286284"/>
                </a:lnTo>
                <a:lnTo>
                  <a:pt x="714823" y="252406"/>
                </a:lnTo>
                <a:lnTo>
                  <a:pt x="733686" y="207039"/>
                </a:lnTo>
                <a:lnTo>
                  <a:pt x="739974" y="153007"/>
                </a:lnTo>
                <a:lnTo>
                  <a:pt x="738397" y="124968"/>
                </a:lnTo>
                <a:lnTo>
                  <a:pt x="725781" y="75269"/>
                </a:lnTo>
                <a:lnTo>
                  <a:pt x="700760" y="34810"/>
                </a:lnTo>
                <a:lnTo>
                  <a:pt x="664604" y="8006"/>
                </a:lnTo>
                <a:lnTo>
                  <a:pt x="642430" y="0"/>
                </a:lnTo>
                <a:close/>
              </a:path>
              <a:path w="740410" h="306070">
                <a:moveTo>
                  <a:pt x="97544" y="0"/>
                </a:moveTo>
                <a:lnTo>
                  <a:pt x="55927" y="19609"/>
                </a:lnTo>
                <a:lnTo>
                  <a:pt x="25233" y="53609"/>
                </a:lnTo>
                <a:lnTo>
                  <a:pt x="6308" y="99055"/>
                </a:lnTo>
                <a:lnTo>
                  <a:pt x="0" y="153007"/>
                </a:lnTo>
                <a:lnTo>
                  <a:pt x="1572" y="181106"/>
                </a:lnTo>
                <a:lnTo>
                  <a:pt x="14148" y="230806"/>
                </a:lnTo>
                <a:lnTo>
                  <a:pt x="39108" y="271134"/>
                </a:lnTo>
                <a:lnTo>
                  <a:pt x="75305" y="297858"/>
                </a:lnTo>
                <a:lnTo>
                  <a:pt x="97544" y="305854"/>
                </a:lnTo>
                <a:lnTo>
                  <a:pt x="101414" y="293438"/>
                </a:lnTo>
                <a:lnTo>
                  <a:pt x="83986" y="285719"/>
                </a:lnTo>
                <a:lnTo>
                  <a:pt x="68946" y="274978"/>
                </a:lnTo>
                <a:lnTo>
                  <a:pt x="46031" y="244425"/>
                </a:lnTo>
                <a:lnTo>
                  <a:pt x="32427" y="202867"/>
                </a:lnTo>
                <a:lnTo>
                  <a:pt x="27893" y="151395"/>
                </a:lnTo>
                <a:lnTo>
                  <a:pt x="29026" y="125301"/>
                </a:lnTo>
                <a:lnTo>
                  <a:pt x="38095" y="80035"/>
                </a:lnTo>
                <a:lnTo>
                  <a:pt x="56325" y="44323"/>
                </a:lnTo>
                <a:lnTo>
                  <a:pt x="101898" y="12414"/>
                </a:lnTo>
                <a:lnTo>
                  <a:pt x="9754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214365" y="4721038"/>
            <a:ext cx="402590" cy="306070"/>
          </a:xfrm>
          <a:custGeom>
            <a:avLst/>
            <a:gdLst/>
            <a:ahLst/>
            <a:cxnLst/>
            <a:rect l="l" t="t" r="r" b="b"/>
            <a:pathLst>
              <a:path w="402590" h="306070">
                <a:moveTo>
                  <a:pt x="304673" y="0"/>
                </a:moveTo>
                <a:lnTo>
                  <a:pt x="300320" y="12414"/>
                </a:lnTo>
                <a:lnTo>
                  <a:pt x="318025" y="20098"/>
                </a:lnTo>
                <a:lnTo>
                  <a:pt x="333251" y="30734"/>
                </a:lnTo>
                <a:lnTo>
                  <a:pt x="364167" y="80035"/>
                </a:lnTo>
                <a:lnTo>
                  <a:pt x="373196" y="125301"/>
                </a:lnTo>
                <a:lnTo>
                  <a:pt x="374324" y="151395"/>
                </a:lnTo>
                <a:lnTo>
                  <a:pt x="373191" y="178370"/>
                </a:lnTo>
                <a:lnTo>
                  <a:pt x="364121" y="224885"/>
                </a:lnTo>
                <a:lnTo>
                  <a:pt x="345923" y="261213"/>
                </a:lnTo>
                <a:lnTo>
                  <a:pt x="300804" y="293438"/>
                </a:lnTo>
                <a:lnTo>
                  <a:pt x="304673" y="305854"/>
                </a:lnTo>
                <a:lnTo>
                  <a:pt x="346391" y="286284"/>
                </a:lnTo>
                <a:lnTo>
                  <a:pt x="377065" y="252406"/>
                </a:lnTo>
                <a:lnTo>
                  <a:pt x="395930" y="207039"/>
                </a:lnTo>
                <a:lnTo>
                  <a:pt x="402217" y="153007"/>
                </a:lnTo>
                <a:lnTo>
                  <a:pt x="400640" y="124968"/>
                </a:lnTo>
                <a:lnTo>
                  <a:pt x="388024" y="75269"/>
                </a:lnTo>
                <a:lnTo>
                  <a:pt x="363004" y="34810"/>
                </a:lnTo>
                <a:lnTo>
                  <a:pt x="326847" y="8006"/>
                </a:lnTo>
                <a:lnTo>
                  <a:pt x="304673" y="0"/>
                </a:lnTo>
                <a:close/>
              </a:path>
              <a:path w="402590" h="306070">
                <a:moveTo>
                  <a:pt x="97544" y="0"/>
                </a:moveTo>
                <a:lnTo>
                  <a:pt x="55926" y="19609"/>
                </a:lnTo>
                <a:lnTo>
                  <a:pt x="25232" y="53609"/>
                </a:lnTo>
                <a:lnTo>
                  <a:pt x="6308" y="99055"/>
                </a:lnTo>
                <a:lnTo>
                  <a:pt x="0" y="153007"/>
                </a:lnTo>
                <a:lnTo>
                  <a:pt x="1572" y="181106"/>
                </a:lnTo>
                <a:lnTo>
                  <a:pt x="14148" y="230806"/>
                </a:lnTo>
                <a:lnTo>
                  <a:pt x="39108" y="271134"/>
                </a:lnTo>
                <a:lnTo>
                  <a:pt x="75305" y="297858"/>
                </a:lnTo>
                <a:lnTo>
                  <a:pt x="97544" y="305854"/>
                </a:lnTo>
                <a:lnTo>
                  <a:pt x="101414" y="293438"/>
                </a:lnTo>
                <a:lnTo>
                  <a:pt x="83986" y="285719"/>
                </a:lnTo>
                <a:lnTo>
                  <a:pt x="68946" y="274978"/>
                </a:lnTo>
                <a:lnTo>
                  <a:pt x="46031" y="244425"/>
                </a:lnTo>
                <a:lnTo>
                  <a:pt x="32427" y="202867"/>
                </a:lnTo>
                <a:lnTo>
                  <a:pt x="27893" y="151395"/>
                </a:lnTo>
                <a:lnTo>
                  <a:pt x="29026" y="125301"/>
                </a:lnTo>
                <a:lnTo>
                  <a:pt x="38095" y="80035"/>
                </a:lnTo>
                <a:lnTo>
                  <a:pt x="56325" y="44323"/>
                </a:lnTo>
                <a:lnTo>
                  <a:pt x="101898" y="12414"/>
                </a:lnTo>
                <a:lnTo>
                  <a:pt x="9754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900038" y="5508438"/>
            <a:ext cx="740410" cy="306070"/>
          </a:xfrm>
          <a:custGeom>
            <a:avLst/>
            <a:gdLst/>
            <a:ahLst/>
            <a:cxnLst/>
            <a:rect l="l" t="t" r="r" b="b"/>
            <a:pathLst>
              <a:path w="740409" h="306070">
                <a:moveTo>
                  <a:pt x="642430" y="0"/>
                </a:moveTo>
                <a:lnTo>
                  <a:pt x="638077" y="12414"/>
                </a:lnTo>
                <a:lnTo>
                  <a:pt x="655782" y="20098"/>
                </a:lnTo>
                <a:lnTo>
                  <a:pt x="671008" y="30734"/>
                </a:lnTo>
                <a:lnTo>
                  <a:pt x="701924" y="80035"/>
                </a:lnTo>
                <a:lnTo>
                  <a:pt x="710952" y="125300"/>
                </a:lnTo>
                <a:lnTo>
                  <a:pt x="712081" y="151395"/>
                </a:lnTo>
                <a:lnTo>
                  <a:pt x="710947" y="178370"/>
                </a:lnTo>
                <a:lnTo>
                  <a:pt x="701879" y="224885"/>
                </a:lnTo>
                <a:lnTo>
                  <a:pt x="683680" y="261213"/>
                </a:lnTo>
                <a:lnTo>
                  <a:pt x="638561" y="293439"/>
                </a:lnTo>
                <a:lnTo>
                  <a:pt x="642430" y="305853"/>
                </a:lnTo>
                <a:lnTo>
                  <a:pt x="684148" y="286284"/>
                </a:lnTo>
                <a:lnTo>
                  <a:pt x="714823" y="252405"/>
                </a:lnTo>
                <a:lnTo>
                  <a:pt x="733686" y="207039"/>
                </a:lnTo>
                <a:lnTo>
                  <a:pt x="739974" y="153007"/>
                </a:lnTo>
                <a:lnTo>
                  <a:pt x="738397" y="124968"/>
                </a:lnTo>
                <a:lnTo>
                  <a:pt x="725781" y="75269"/>
                </a:lnTo>
                <a:lnTo>
                  <a:pt x="700760" y="34810"/>
                </a:lnTo>
                <a:lnTo>
                  <a:pt x="664604" y="8006"/>
                </a:lnTo>
                <a:lnTo>
                  <a:pt x="642430" y="0"/>
                </a:lnTo>
                <a:close/>
              </a:path>
              <a:path w="740409" h="306070">
                <a:moveTo>
                  <a:pt x="97544" y="0"/>
                </a:moveTo>
                <a:lnTo>
                  <a:pt x="55926" y="19609"/>
                </a:lnTo>
                <a:lnTo>
                  <a:pt x="25232" y="53609"/>
                </a:lnTo>
                <a:lnTo>
                  <a:pt x="6308" y="99055"/>
                </a:lnTo>
                <a:lnTo>
                  <a:pt x="0" y="153007"/>
                </a:lnTo>
                <a:lnTo>
                  <a:pt x="1572" y="181106"/>
                </a:lnTo>
                <a:lnTo>
                  <a:pt x="14148" y="230806"/>
                </a:lnTo>
                <a:lnTo>
                  <a:pt x="39108" y="271133"/>
                </a:lnTo>
                <a:lnTo>
                  <a:pt x="75304" y="297857"/>
                </a:lnTo>
                <a:lnTo>
                  <a:pt x="97544" y="305853"/>
                </a:lnTo>
                <a:lnTo>
                  <a:pt x="101414" y="293439"/>
                </a:lnTo>
                <a:lnTo>
                  <a:pt x="83986" y="285720"/>
                </a:lnTo>
                <a:lnTo>
                  <a:pt x="68946" y="274978"/>
                </a:lnTo>
                <a:lnTo>
                  <a:pt x="46031" y="244424"/>
                </a:lnTo>
                <a:lnTo>
                  <a:pt x="32427" y="202867"/>
                </a:lnTo>
                <a:lnTo>
                  <a:pt x="27893" y="151395"/>
                </a:lnTo>
                <a:lnTo>
                  <a:pt x="29026" y="125300"/>
                </a:lnTo>
                <a:lnTo>
                  <a:pt x="38095" y="80035"/>
                </a:lnTo>
                <a:lnTo>
                  <a:pt x="56325" y="44323"/>
                </a:lnTo>
                <a:lnTo>
                  <a:pt x="101897" y="12414"/>
                </a:lnTo>
                <a:lnTo>
                  <a:pt x="9754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507205" y="6282976"/>
            <a:ext cx="628650" cy="259079"/>
          </a:xfrm>
          <a:custGeom>
            <a:avLst/>
            <a:gdLst/>
            <a:ahLst/>
            <a:cxnLst/>
            <a:rect l="l" t="t" r="r" b="b"/>
            <a:pathLst>
              <a:path w="628650" h="259079">
                <a:moveTo>
                  <a:pt x="545524" y="0"/>
                </a:moveTo>
                <a:lnTo>
                  <a:pt x="541841" y="10504"/>
                </a:lnTo>
                <a:lnTo>
                  <a:pt x="556822" y="17006"/>
                </a:lnTo>
                <a:lnTo>
                  <a:pt x="569706" y="26006"/>
                </a:lnTo>
                <a:lnTo>
                  <a:pt x="595865" y="67722"/>
                </a:lnTo>
                <a:lnTo>
                  <a:pt x="603505" y="106024"/>
                </a:lnTo>
                <a:lnTo>
                  <a:pt x="604460" y="128103"/>
                </a:lnTo>
                <a:lnTo>
                  <a:pt x="603501" y="150929"/>
                </a:lnTo>
                <a:lnTo>
                  <a:pt x="595827" y="190288"/>
                </a:lnTo>
                <a:lnTo>
                  <a:pt x="569723" y="232674"/>
                </a:lnTo>
                <a:lnTo>
                  <a:pt x="542250" y="248294"/>
                </a:lnTo>
                <a:lnTo>
                  <a:pt x="545524" y="258799"/>
                </a:lnTo>
                <a:lnTo>
                  <a:pt x="580824" y="242240"/>
                </a:lnTo>
                <a:lnTo>
                  <a:pt x="606779" y="213574"/>
                </a:lnTo>
                <a:lnTo>
                  <a:pt x="622741" y="175187"/>
                </a:lnTo>
                <a:lnTo>
                  <a:pt x="628061" y="129467"/>
                </a:lnTo>
                <a:lnTo>
                  <a:pt x="626727" y="105742"/>
                </a:lnTo>
                <a:lnTo>
                  <a:pt x="616052" y="63689"/>
                </a:lnTo>
                <a:lnTo>
                  <a:pt x="594881" y="29455"/>
                </a:lnTo>
                <a:lnTo>
                  <a:pt x="564287" y="6774"/>
                </a:lnTo>
                <a:lnTo>
                  <a:pt x="545524" y="0"/>
                </a:lnTo>
                <a:close/>
              </a:path>
              <a:path w="628650" h="259079">
                <a:moveTo>
                  <a:pt x="82538" y="0"/>
                </a:moveTo>
                <a:lnTo>
                  <a:pt x="47323" y="16592"/>
                </a:lnTo>
                <a:lnTo>
                  <a:pt x="21351" y="45361"/>
                </a:lnTo>
                <a:lnTo>
                  <a:pt x="5337" y="83816"/>
                </a:lnTo>
                <a:lnTo>
                  <a:pt x="0" y="129467"/>
                </a:lnTo>
                <a:lnTo>
                  <a:pt x="1330" y="153244"/>
                </a:lnTo>
                <a:lnTo>
                  <a:pt x="11971" y="195297"/>
                </a:lnTo>
                <a:lnTo>
                  <a:pt x="33092" y="229421"/>
                </a:lnTo>
                <a:lnTo>
                  <a:pt x="82538" y="258799"/>
                </a:lnTo>
                <a:lnTo>
                  <a:pt x="85812" y="248294"/>
                </a:lnTo>
                <a:lnTo>
                  <a:pt x="71065" y="241763"/>
                </a:lnTo>
                <a:lnTo>
                  <a:pt x="58339" y="232674"/>
                </a:lnTo>
                <a:lnTo>
                  <a:pt x="32235" y="190288"/>
                </a:lnTo>
                <a:lnTo>
                  <a:pt x="24561" y="150929"/>
                </a:lnTo>
                <a:lnTo>
                  <a:pt x="23601" y="128103"/>
                </a:lnTo>
                <a:lnTo>
                  <a:pt x="24561" y="106024"/>
                </a:lnTo>
                <a:lnTo>
                  <a:pt x="32235" y="67722"/>
                </a:lnTo>
                <a:lnTo>
                  <a:pt x="58441" y="26006"/>
                </a:lnTo>
                <a:lnTo>
                  <a:pt x="86221" y="10504"/>
                </a:lnTo>
                <a:lnTo>
                  <a:pt x="825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18108" y="2631948"/>
            <a:ext cx="8013065" cy="3929379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625475" marR="5080" indent="-274320">
              <a:lnSpc>
                <a:spcPts val="2780"/>
              </a:lnSpc>
              <a:spcBef>
                <a:spcPts val="47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150">
                <a:latin typeface="Cambria Math"/>
                <a:cs typeface="Cambria Math"/>
              </a:rPr>
              <a:t>𝑝</a:t>
            </a:r>
            <a:r>
              <a:rPr dirty="0" baseline="-16081" sz="2850" spc="225">
                <a:latin typeface="Cambria Math"/>
                <a:cs typeface="Cambria Math"/>
              </a:rPr>
              <a:t>!"#"</a:t>
            </a:r>
            <a:r>
              <a:rPr dirty="0" sz="2600" spc="150">
                <a:latin typeface="Cambria Math"/>
                <a:cs typeface="Cambria Math"/>
              </a:rPr>
              <a:t>(𝒙) </a:t>
            </a:r>
            <a:r>
              <a:rPr dirty="0" sz="2600">
                <a:latin typeface="Calibri"/>
                <a:cs typeface="Calibri"/>
              </a:rPr>
              <a:t>is </a:t>
            </a:r>
            <a:r>
              <a:rPr dirty="0" sz="2600" spc="-5">
                <a:latin typeface="Calibri"/>
                <a:cs typeface="Calibri"/>
              </a:rPr>
              <a:t>the </a:t>
            </a:r>
            <a:r>
              <a:rPr dirty="0" sz="2600" spc="-15">
                <a:solidFill>
                  <a:srgbClr val="C64847"/>
                </a:solidFill>
                <a:latin typeface="Calibri"/>
                <a:cs typeface="Calibri"/>
              </a:rPr>
              <a:t>data </a:t>
            </a:r>
            <a:r>
              <a:rPr dirty="0" sz="2600" spc="-5">
                <a:solidFill>
                  <a:srgbClr val="C64847"/>
                </a:solidFill>
                <a:latin typeface="Calibri"/>
                <a:cs typeface="Calibri"/>
              </a:rPr>
              <a:t>distribution</a:t>
            </a:r>
            <a:r>
              <a:rPr dirty="0" sz="2600" spc="-5">
                <a:latin typeface="Calibri"/>
                <a:cs typeface="Calibri"/>
              </a:rPr>
              <a:t>, which </a:t>
            </a:r>
            <a:r>
              <a:rPr dirty="0" sz="2600">
                <a:latin typeface="Calibri"/>
                <a:cs typeface="Calibri"/>
              </a:rPr>
              <a:t>is </a:t>
            </a:r>
            <a:r>
              <a:rPr dirty="0" sz="2600" spc="-15">
                <a:latin typeface="Calibri"/>
                <a:cs typeface="Calibri"/>
              </a:rPr>
              <a:t>never </a:t>
            </a:r>
            <a:r>
              <a:rPr dirty="0" sz="2600" spc="-90">
                <a:latin typeface="Calibri"/>
                <a:cs typeface="Calibri"/>
              </a:rPr>
              <a:t>known  </a:t>
            </a:r>
            <a:r>
              <a:rPr dirty="0" sz="2600" spc="-15">
                <a:latin typeface="Calibri"/>
                <a:cs typeface="Calibri"/>
              </a:rPr>
              <a:t>to </a:t>
            </a:r>
            <a:r>
              <a:rPr dirty="0" sz="2600" spc="-5">
                <a:latin typeface="Calibri"/>
                <a:cs typeface="Calibri"/>
              </a:rPr>
              <a:t>us, but </a:t>
            </a:r>
            <a:r>
              <a:rPr dirty="0" sz="2600" spc="-10">
                <a:latin typeface="Calibri"/>
                <a:cs typeface="Calibri"/>
              </a:rPr>
              <a:t>we </a:t>
            </a:r>
            <a:r>
              <a:rPr dirty="0" sz="2600" spc="-20">
                <a:latin typeface="Calibri"/>
                <a:cs typeface="Calibri"/>
              </a:rPr>
              <a:t>have </a:t>
            </a:r>
            <a:r>
              <a:rPr dirty="0" sz="2600" spc="-5">
                <a:latin typeface="Calibri"/>
                <a:cs typeface="Calibri"/>
              </a:rPr>
              <a:t>sampled </a:t>
            </a:r>
            <a:r>
              <a:rPr dirty="0" sz="2600" spc="-150">
                <a:latin typeface="Cambria Math"/>
                <a:cs typeface="Cambria Math"/>
              </a:rPr>
              <a:t>𝒙</a:t>
            </a:r>
            <a:r>
              <a:rPr dirty="0" baseline="-16081" sz="2850" spc="-225">
                <a:latin typeface="Cambria Math"/>
                <a:cs typeface="Cambria Math"/>
              </a:rPr>
              <a:t>$  </a:t>
            </a:r>
            <a:r>
              <a:rPr dirty="0" sz="2600">
                <a:latin typeface="Cambria Math"/>
                <a:cs typeface="Cambria Math"/>
              </a:rPr>
              <a:t>~</a:t>
            </a:r>
            <a:r>
              <a:rPr dirty="0" sz="2600" spc="0">
                <a:latin typeface="Cambria Math"/>
                <a:cs typeface="Cambria Math"/>
              </a:rPr>
              <a:t> </a:t>
            </a:r>
            <a:r>
              <a:rPr dirty="0" sz="2600" spc="150">
                <a:latin typeface="Cambria Math"/>
                <a:cs typeface="Cambria Math"/>
              </a:rPr>
              <a:t>𝑝</a:t>
            </a:r>
            <a:r>
              <a:rPr dirty="0" baseline="-16081" sz="2850" spc="225">
                <a:latin typeface="Cambria Math"/>
                <a:cs typeface="Cambria Math"/>
              </a:rPr>
              <a:t>!"#"</a:t>
            </a:r>
            <a:r>
              <a:rPr dirty="0" sz="2600" spc="150">
                <a:latin typeface="Cambria Math"/>
                <a:cs typeface="Cambria Math"/>
              </a:rPr>
              <a:t>(𝒙)</a:t>
            </a:r>
            <a:endParaRPr sz="2600">
              <a:latin typeface="Cambria Math"/>
              <a:cs typeface="Cambria Math"/>
            </a:endParaRPr>
          </a:p>
          <a:p>
            <a:pPr marL="625475" marR="128270" indent="-274320">
              <a:lnSpc>
                <a:spcPts val="2810"/>
              </a:lnSpc>
              <a:spcBef>
                <a:spcPts val="6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110">
                <a:latin typeface="Cambria Math"/>
                <a:cs typeface="Cambria Math"/>
              </a:rPr>
              <a:t>𝑝</a:t>
            </a:r>
            <a:r>
              <a:rPr dirty="0" baseline="-16081" sz="2850" spc="165">
                <a:latin typeface="Cambria Math"/>
                <a:cs typeface="Cambria Math"/>
              </a:rPr>
              <a:t>%&amp;!'(</a:t>
            </a:r>
            <a:r>
              <a:rPr dirty="0" sz="2600" spc="110">
                <a:latin typeface="Cambria Math"/>
                <a:cs typeface="Cambria Math"/>
              </a:rPr>
              <a:t>(𝒙; </a:t>
            </a:r>
            <a:r>
              <a:rPr dirty="0" sz="2600" spc="30">
                <a:latin typeface="Cambria Math"/>
                <a:cs typeface="Cambria Math"/>
              </a:rPr>
              <a:t>𝜃) </a:t>
            </a:r>
            <a:r>
              <a:rPr dirty="0" sz="2600">
                <a:latin typeface="Calibri"/>
                <a:cs typeface="Calibri"/>
              </a:rPr>
              <a:t>is </a:t>
            </a:r>
            <a:r>
              <a:rPr dirty="0" sz="2600" spc="-5">
                <a:latin typeface="Calibri"/>
                <a:cs typeface="Calibri"/>
              </a:rPr>
              <a:t>the </a:t>
            </a:r>
            <a:r>
              <a:rPr dirty="0" sz="2600" spc="-5">
                <a:solidFill>
                  <a:srgbClr val="C64847"/>
                </a:solidFill>
                <a:latin typeface="Calibri"/>
                <a:cs typeface="Calibri"/>
              </a:rPr>
              <a:t>model</a:t>
            </a:r>
            <a:r>
              <a:rPr dirty="0" sz="2600" spc="-5">
                <a:latin typeface="Calibri"/>
                <a:cs typeface="Calibri"/>
              </a:rPr>
              <a:t>, </a:t>
            </a:r>
            <a:r>
              <a:rPr dirty="0" sz="2600" spc="-15">
                <a:latin typeface="Calibri"/>
                <a:cs typeface="Calibri"/>
              </a:rPr>
              <a:t>parametrized </a:t>
            </a:r>
            <a:r>
              <a:rPr dirty="0" sz="2600" spc="-10">
                <a:latin typeface="Calibri"/>
                <a:cs typeface="Calibri"/>
              </a:rPr>
              <a:t>by </a:t>
            </a:r>
            <a:r>
              <a:rPr dirty="0" sz="2600" spc="30">
                <a:latin typeface="Cambria Math"/>
                <a:cs typeface="Cambria Math"/>
              </a:rPr>
              <a:t>𝜃</a:t>
            </a:r>
            <a:r>
              <a:rPr dirty="0" sz="2600" spc="30">
                <a:latin typeface="Calibri"/>
                <a:cs typeface="Calibri"/>
              </a:rPr>
              <a:t>, </a:t>
            </a:r>
            <a:r>
              <a:rPr dirty="0" sz="2600" spc="-10">
                <a:latin typeface="Calibri"/>
                <a:cs typeface="Calibri"/>
              </a:rPr>
              <a:t>that </a:t>
            </a:r>
            <a:r>
              <a:rPr dirty="0" sz="2600" spc="-254">
                <a:latin typeface="Calibri"/>
                <a:cs typeface="Calibri"/>
              </a:rPr>
              <a:t>we  </a:t>
            </a:r>
            <a:r>
              <a:rPr dirty="0" sz="2600" spc="-5">
                <a:latin typeface="Calibri"/>
                <a:cs typeface="Calibri"/>
              </a:rPr>
              <a:t>use </a:t>
            </a:r>
            <a:r>
              <a:rPr dirty="0" sz="2600" spc="-15">
                <a:latin typeface="Calibri"/>
                <a:cs typeface="Calibri"/>
              </a:rPr>
              <a:t>to approximate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150">
                <a:latin typeface="Cambria Math"/>
                <a:cs typeface="Cambria Math"/>
              </a:rPr>
              <a:t>𝑝</a:t>
            </a:r>
            <a:r>
              <a:rPr dirty="0" baseline="-16081" sz="2850" spc="225">
                <a:latin typeface="Cambria Math"/>
                <a:cs typeface="Cambria Math"/>
              </a:rPr>
              <a:t>!"#"</a:t>
            </a:r>
            <a:r>
              <a:rPr dirty="0" sz="2600" spc="150">
                <a:latin typeface="Cambria Math"/>
                <a:cs typeface="Cambria Math"/>
              </a:rPr>
              <a:t>(𝒙)</a:t>
            </a:r>
            <a:endParaRPr sz="2600">
              <a:latin typeface="Cambria Math"/>
              <a:cs typeface="Cambria Math"/>
            </a:endParaRPr>
          </a:p>
          <a:p>
            <a:pPr marL="332740" indent="-320040">
              <a:lnSpc>
                <a:spcPts val="3135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1">
                <a:solidFill>
                  <a:srgbClr val="0000FF"/>
                </a:solidFill>
                <a:latin typeface="Calibri"/>
                <a:cs typeface="Calibri"/>
              </a:rPr>
              <a:t>Goal:</a:t>
            </a:r>
            <a:endParaRPr sz="3000">
              <a:latin typeface="Calibri"/>
              <a:cs typeface="Calibri"/>
            </a:endParaRPr>
          </a:p>
          <a:p>
            <a:pPr lvl="1" marL="625475" marR="767080" indent="-274320">
              <a:lnSpc>
                <a:spcPts val="2810"/>
              </a:lnSpc>
              <a:spcBef>
                <a:spcPts val="75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  <a:tab pos="3696970" algn="l"/>
                <a:tab pos="6101715" algn="l"/>
              </a:tabLst>
            </a:pPr>
            <a:r>
              <a:rPr dirty="0" sz="2600" b="1">
                <a:solidFill>
                  <a:srgbClr val="C00000"/>
                </a:solidFill>
                <a:latin typeface="Calibri"/>
                <a:cs typeface="Calibri"/>
              </a:rPr>
              <a:t>(</a:t>
            </a:r>
            <a:r>
              <a:rPr dirty="0" sz="2600" spc="-10" b="1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r>
              <a:rPr dirty="0" sz="2600" b="1">
                <a:solidFill>
                  <a:srgbClr val="C00000"/>
                </a:solidFill>
                <a:latin typeface="Calibri"/>
                <a:cs typeface="Calibri"/>
              </a:rPr>
              <a:t>) </a:t>
            </a:r>
            <a:r>
              <a:rPr dirty="0" sz="2600">
                <a:solidFill>
                  <a:srgbClr val="C00000"/>
                </a:solidFill>
                <a:latin typeface="Calibri"/>
                <a:cs typeface="Calibri"/>
              </a:rPr>
              <a:t>Ma</a:t>
            </a:r>
            <a:r>
              <a:rPr dirty="0" sz="2600" spc="-80">
                <a:solidFill>
                  <a:srgbClr val="C00000"/>
                </a:solidFill>
                <a:latin typeface="Calibri"/>
                <a:cs typeface="Calibri"/>
              </a:rPr>
              <a:t>k</a:t>
            </a:r>
            <a:r>
              <a:rPr dirty="0" sz="260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dirty="0" sz="2600" spc="-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600" spc="-85">
                <a:solidFill>
                  <a:srgbClr val="C00000"/>
                </a:solidFill>
                <a:latin typeface="Cambria Math"/>
                <a:cs typeface="Cambria Math"/>
              </a:rPr>
              <a:t>𝑝</a:t>
            </a:r>
            <a:r>
              <a:rPr dirty="0" baseline="-16081" sz="2850" spc="-97">
                <a:solidFill>
                  <a:srgbClr val="C00000"/>
                </a:solidFill>
                <a:latin typeface="Cambria Math"/>
                <a:cs typeface="Cambria Math"/>
              </a:rPr>
              <a:t>%</a:t>
            </a:r>
            <a:r>
              <a:rPr dirty="0" baseline="-16081" sz="2850" spc="-82">
                <a:solidFill>
                  <a:srgbClr val="C00000"/>
                </a:solidFill>
                <a:latin typeface="Cambria Math"/>
                <a:cs typeface="Cambria Math"/>
              </a:rPr>
              <a:t>&amp;</a:t>
            </a:r>
            <a:r>
              <a:rPr dirty="0" baseline="-16081" sz="2850" spc="1012">
                <a:solidFill>
                  <a:srgbClr val="C00000"/>
                </a:solidFill>
                <a:latin typeface="Cambria Math"/>
                <a:cs typeface="Cambria Math"/>
              </a:rPr>
              <a:t>!</a:t>
            </a:r>
            <a:r>
              <a:rPr dirty="0" baseline="-16081" sz="2850" spc="825">
                <a:solidFill>
                  <a:srgbClr val="C00000"/>
                </a:solidFill>
                <a:latin typeface="Cambria Math"/>
                <a:cs typeface="Cambria Math"/>
              </a:rPr>
              <a:t>'</a:t>
            </a:r>
            <a:r>
              <a:rPr dirty="0" baseline="-16081" sz="2850" spc="-179">
                <a:solidFill>
                  <a:srgbClr val="C00000"/>
                </a:solidFill>
                <a:latin typeface="Cambria Math"/>
                <a:cs typeface="Cambria Math"/>
              </a:rPr>
              <a:t>(</a:t>
            </a:r>
            <a:r>
              <a:rPr dirty="0" baseline="-16081" sz="285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-16081" sz="2850" spc="112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600" spc="75">
                <a:solidFill>
                  <a:srgbClr val="C00000"/>
                </a:solidFill>
                <a:latin typeface="Cambria Math"/>
                <a:cs typeface="Cambria Math"/>
              </a:rPr>
              <a:t>𝑥</a:t>
            </a:r>
            <a:r>
              <a:rPr dirty="0" sz="2600">
                <a:solidFill>
                  <a:srgbClr val="C00000"/>
                </a:solidFill>
                <a:latin typeface="Cambria Math"/>
                <a:cs typeface="Cambria Math"/>
              </a:rPr>
              <a:t>;</a:t>
            </a:r>
            <a:r>
              <a:rPr dirty="0" sz="2600" spc="-14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600">
                <a:solidFill>
                  <a:srgbClr val="C00000"/>
                </a:solidFill>
                <a:latin typeface="Cambria Math"/>
                <a:cs typeface="Cambria Math"/>
              </a:rPr>
              <a:t>𝜃	</a:t>
            </a:r>
            <a:r>
              <a:rPr dirty="0" sz="2600">
                <a:solidFill>
                  <a:srgbClr val="C00000"/>
                </a:solidFill>
                <a:latin typeface="Calibri"/>
                <a:cs typeface="Calibri"/>
              </a:rPr>
              <a:t>clo</a:t>
            </a:r>
            <a:r>
              <a:rPr dirty="0" sz="2600" spc="-5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r>
              <a:rPr dirty="0" sz="260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dirty="0" sz="2600" spc="-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dirty="0" sz="2600">
                <a:solidFill>
                  <a:srgbClr val="C00000"/>
                </a:solidFill>
                <a:latin typeface="Calibri"/>
                <a:cs typeface="Calibri"/>
              </a:rPr>
              <a:t>o </a:t>
            </a:r>
            <a:r>
              <a:rPr dirty="0" sz="2600" spc="-85">
                <a:solidFill>
                  <a:srgbClr val="C00000"/>
                </a:solidFill>
                <a:latin typeface="Cambria Math"/>
                <a:cs typeface="Cambria Math"/>
              </a:rPr>
              <a:t>𝑝</a:t>
            </a:r>
            <a:r>
              <a:rPr dirty="0" baseline="-16081" sz="2850" spc="989">
                <a:solidFill>
                  <a:srgbClr val="C00000"/>
                </a:solidFill>
                <a:latin typeface="Cambria Math"/>
                <a:cs typeface="Cambria Math"/>
              </a:rPr>
              <a:t>!</a:t>
            </a:r>
            <a:r>
              <a:rPr dirty="0" baseline="-16081" sz="2850" spc="75">
                <a:solidFill>
                  <a:srgbClr val="C00000"/>
                </a:solidFill>
                <a:latin typeface="Cambria Math"/>
                <a:cs typeface="Cambria Math"/>
              </a:rPr>
              <a:t>"#</a:t>
            </a:r>
            <a:r>
              <a:rPr dirty="0" baseline="-16081" sz="2850" spc="644">
                <a:solidFill>
                  <a:srgbClr val="C00000"/>
                </a:solidFill>
                <a:latin typeface="Cambria Math"/>
                <a:cs typeface="Cambria Math"/>
              </a:rPr>
              <a:t>"</a:t>
            </a:r>
            <a:r>
              <a:rPr dirty="0" baseline="-16081" sz="285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-16081" sz="2850" spc="82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600">
                <a:solidFill>
                  <a:srgbClr val="C00000"/>
                </a:solidFill>
                <a:latin typeface="Cambria Math"/>
                <a:cs typeface="Cambria Math"/>
              </a:rPr>
              <a:t>𝑥	</a:t>
            </a:r>
            <a:r>
              <a:rPr dirty="0" sz="2600" spc="-5">
                <a:solidFill>
                  <a:srgbClr val="C00000"/>
                </a:solidFill>
                <a:latin typeface="Calibri"/>
                <a:cs typeface="Calibri"/>
              </a:rPr>
              <a:t>(</a:t>
            </a:r>
            <a:r>
              <a:rPr dirty="0" sz="2600" spc="-5" b="1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dirty="0" sz="2600" b="1">
                <a:solidFill>
                  <a:srgbClr val="C00000"/>
                </a:solidFill>
                <a:latin typeface="Calibri"/>
                <a:cs typeface="Calibri"/>
              </a:rPr>
              <a:t>ens</a:t>
            </a:r>
            <a:r>
              <a:rPr dirty="0" sz="2600" spc="-5" b="1">
                <a:solidFill>
                  <a:srgbClr val="C00000"/>
                </a:solidFill>
                <a:latin typeface="Calibri"/>
                <a:cs typeface="Calibri"/>
              </a:rPr>
              <a:t>it</a:t>
            </a:r>
            <a:r>
              <a:rPr dirty="0" sz="2600" b="1">
                <a:solidFill>
                  <a:srgbClr val="C00000"/>
                </a:solidFill>
                <a:latin typeface="Calibri"/>
                <a:cs typeface="Calibri"/>
              </a:rPr>
              <a:t>y  </a:t>
            </a:r>
            <a:r>
              <a:rPr dirty="0" sz="2600" spc="-10" b="1">
                <a:solidFill>
                  <a:srgbClr val="C00000"/>
                </a:solidFill>
                <a:latin typeface="Calibri"/>
                <a:cs typeface="Calibri"/>
              </a:rPr>
              <a:t>estimation</a:t>
            </a:r>
            <a:r>
              <a:rPr dirty="0" sz="2600" spc="-10">
                <a:solidFill>
                  <a:srgbClr val="C00000"/>
                </a:solidFill>
                <a:latin typeface="Calibri"/>
                <a:cs typeface="Calibri"/>
              </a:rPr>
              <a:t>)</a:t>
            </a:r>
            <a:endParaRPr sz="2600">
              <a:latin typeface="Calibri"/>
              <a:cs typeface="Calibri"/>
            </a:endParaRPr>
          </a:p>
          <a:p>
            <a:pPr lvl="1" marL="625475" indent="-274320">
              <a:lnSpc>
                <a:spcPts val="2965"/>
              </a:lnSpc>
              <a:spcBef>
                <a:spcPts val="22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" b="1">
                <a:solidFill>
                  <a:srgbClr val="C00000"/>
                </a:solidFill>
                <a:latin typeface="Calibri"/>
                <a:cs typeface="Calibri"/>
              </a:rPr>
              <a:t>(2) </a:t>
            </a:r>
            <a:r>
              <a:rPr dirty="0" sz="2600" spc="-20">
                <a:solidFill>
                  <a:srgbClr val="C00000"/>
                </a:solidFill>
                <a:latin typeface="Calibri"/>
                <a:cs typeface="Calibri"/>
              </a:rPr>
              <a:t>Make </a:t>
            </a:r>
            <a:r>
              <a:rPr dirty="0" sz="2600" spc="-10">
                <a:solidFill>
                  <a:srgbClr val="C00000"/>
                </a:solidFill>
                <a:latin typeface="Calibri"/>
                <a:cs typeface="Calibri"/>
              </a:rPr>
              <a:t>sure we can </a:t>
            </a:r>
            <a:r>
              <a:rPr dirty="0" sz="2600" spc="-5">
                <a:solidFill>
                  <a:srgbClr val="C00000"/>
                </a:solidFill>
                <a:latin typeface="Calibri"/>
                <a:cs typeface="Calibri"/>
              </a:rPr>
              <a:t>sample </a:t>
            </a:r>
            <a:r>
              <a:rPr dirty="0" sz="2600" spc="-15">
                <a:solidFill>
                  <a:srgbClr val="C00000"/>
                </a:solidFill>
                <a:latin typeface="Calibri"/>
                <a:cs typeface="Calibri"/>
              </a:rPr>
              <a:t>from </a:t>
            </a:r>
            <a:r>
              <a:rPr dirty="0" sz="2600" spc="150">
                <a:solidFill>
                  <a:srgbClr val="C00000"/>
                </a:solidFill>
                <a:latin typeface="Cambria Math"/>
                <a:cs typeface="Cambria Math"/>
              </a:rPr>
              <a:t>𝑝</a:t>
            </a:r>
            <a:r>
              <a:rPr dirty="0" baseline="-16081" sz="2850" spc="225">
                <a:solidFill>
                  <a:srgbClr val="C00000"/>
                </a:solidFill>
                <a:latin typeface="Cambria Math"/>
                <a:cs typeface="Cambria Math"/>
              </a:rPr>
              <a:t>%&amp;!'(  </a:t>
            </a:r>
            <a:r>
              <a:rPr dirty="0" sz="2600" spc="30">
                <a:solidFill>
                  <a:srgbClr val="C00000"/>
                </a:solidFill>
                <a:latin typeface="Cambria Math"/>
                <a:cs typeface="Cambria Math"/>
              </a:rPr>
              <a:t>𝑥;</a:t>
            </a:r>
            <a:r>
              <a:rPr dirty="0" sz="2600" spc="-37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600">
                <a:solidFill>
                  <a:srgbClr val="C00000"/>
                </a:solidFill>
                <a:latin typeface="Cambria Math"/>
                <a:cs typeface="Cambria Math"/>
              </a:rPr>
              <a:t>𝜃</a:t>
            </a:r>
            <a:endParaRPr sz="2600">
              <a:latin typeface="Cambria Math"/>
              <a:cs typeface="Cambria Math"/>
            </a:endParaRPr>
          </a:p>
          <a:p>
            <a:pPr marL="625475">
              <a:lnSpc>
                <a:spcPts val="2965"/>
              </a:lnSpc>
            </a:pPr>
            <a:r>
              <a:rPr dirty="0" sz="2600" spc="-5">
                <a:solidFill>
                  <a:srgbClr val="C00000"/>
                </a:solidFill>
                <a:latin typeface="Calibri"/>
                <a:cs typeface="Calibri"/>
              </a:rPr>
              <a:t>(</a:t>
            </a:r>
            <a:r>
              <a:rPr dirty="0" sz="2600" spc="-5" b="1">
                <a:solidFill>
                  <a:srgbClr val="C00000"/>
                </a:solidFill>
                <a:latin typeface="Calibri"/>
                <a:cs typeface="Calibri"/>
              </a:rPr>
              <a:t>Sampling</a:t>
            </a:r>
            <a:r>
              <a:rPr dirty="0" sz="2600" spc="-5">
                <a:solidFill>
                  <a:srgbClr val="C00000"/>
                </a:solidFill>
                <a:latin typeface="Calibri"/>
                <a:cs typeface="Calibri"/>
              </a:rPr>
              <a:t>)</a:t>
            </a:r>
            <a:endParaRPr sz="2600">
              <a:latin typeface="Calibri"/>
              <a:cs typeface="Calibri"/>
            </a:endParaRPr>
          </a:p>
          <a:p>
            <a:pPr lvl="2" marL="890905" indent="-228600">
              <a:lnSpc>
                <a:spcPct val="100000"/>
              </a:lnSpc>
              <a:spcBef>
                <a:spcPts val="280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200" spc="-40">
                <a:latin typeface="Calibri"/>
                <a:cs typeface="Calibri"/>
              </a:rPr>
              <a:t>We </a:t>
            </a:r>
            <a:r>
              <a:rPr dirty="0" sz="2200" spc="-5">
                <a:latin typeface="Calibri"/>
                <a:cs typeface="Calibri"/>
              </a:rPr>
              <a:t>need </a:t>
            </a:r>
            <a:r>
              <a:rPr dirty="0" sz="2200" spc="-15">
                <a:latin typeface="Calibri"/>
                <a:cs typeface="Calibri"/>
              </a:rPr>
              <a:t>to </a:t>
            </a:r>
            <a:r>
              <a:rPr dirty="0" sz="2200" spc="-20">
                <a:latin typeface="Calibri"/>
                <a:cs typeface="Calibri"/>
              </a:rPr>
              <a:t>generate </a:t>
            </a:r>
            <a:r>
              <a:rPr dirty="0" sz="2200" spc="-15">
                <a:latin typeface="Calibri"/>
                <a:cs typeface="Calibri"/>
              </a:rPr>
              <a:t>examples </a:t>
            </a:r>
            <a:r>
              <a:rPr dirty="0" sz="2200" spc="-10">
                <a:latin typeface="Calibri"/>
                <a:cs typeface="Calibri"/>
              </a:rPr>
              <a:t>(graphs) from </a:t>
            </a:r>
            <a:r>
              <a:rPr dirty="0" sz="2200" spc="75">
                <a:latin typeface="Cambria Math"/>
                <a:cs typeface="Cambria Math"/>
              </a:rPr>
              <a:t>𝑝</a:t>
            </a:r>
            <a:r>
              <a:rPr dirty="0" baseline="-15625" sz="2400" spc="112">
                <a:latin typeface="Cambria Math"/>
                <a:cs typeface="Cambria Math"/>
              </a:rPr>
              <a:t>!"#$%  </a:t>
            </a:r>
            <a:r>
              <a:rPr dirty="0" sz="2200" spc="-5">
                <a:latin typeface="Cambria Math"/>
                <a:cs typeface="Cambria Math"/>
              </a:rPr>
              <a:t>𝒙;</a:t>
            </a:r>
            <a:r>
              <a:rPr dirty="0" sz="2200" spc="-60">
                <a:latin typeface="Cambria Math"/>
                <a:cs typeface="Cambria Math"/>
              </a:rPr>
              <a:t> </a:t>
            </a:r>
            <a:r>
              <a:rPr dirty="0" sz="2200">
                <a:latin typeface="Cambria Math"/>
                <a:cs typeface="Cambria Math"/>
              </a:rPr>
              <a:t>𝜃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7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6233160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434556" y="1463572"/>
            <a:ext cx="930910" cy="376555"/>
          </a:xfrm>
          <a:custGeom>
            <a:avLst/>
            <a:gdLst/>
            <a:ahLst/>
            <a:cxnLst/>
            <a:rect l="l" t="t" r="r" b="b"/>
            <a:pathLst>
              <a:path w="930910" h="376555">
                <a:moveTo>
                  <a:pt x="810489" y="0"/>
                </a:moveTo>
                <a:lnTo>
                  <a:pt x="805131" y="15279"/>
                </a:lnTo>
                <a:lnTo>
                  <a:pt x="826923" y="24736"/>
                </a:lnTo>
                <a:lnTo>
                  <a:pt x="845662" y="37826"/>
                </a:lnTo>
                <a:lnTo>
                  <a:pt x="873989" y="74909"/>
                </a:lnTo>
                <a:lnTo>
                  <a:pt x="890658" y="124940"/>
                </a:lnTo>
                <a:lnTo>
                  <a:pt x="896214" y="186331"/>
                </a:lnTo>
                <a:lnTo>
                  <a:pt x="894819" y="219533"/>
                </a:lnTo>
                <a:lnTo>
                  <a:pt x="883657" y="276782"/>
                </a:lnTo>
                <a:lnTo>
                  <a:pt x="861258" y="321493"/>
                </a:lnTo>
                <a:lnTo>
                  <a:pt x="827176" y="351655"/>
                </a:lnTo>
                <a:lnTo>
                  <a:pt x="805727" y="361156"/>
                </a:lnTo>
                <a:lnTo>
                  <a:pt x="810489" y="376435"/>
                </a:lnTo>
                <a:lnTo>
                  <a:pt x="861835" y="352349"/>
                </a:lnTo>
                <a:lnTo>
                  <a:pt x="899587" y="310653"/>
                </a:lnTo>
                <a:lnTo>
                  <a:pt x="922805" y="254818"/>
                </a:lnTo>
                <a:lnTo>
                  <a:pt x="930544" y="188316"/>
                </a:lnTo>
                <a:lnTo>
                  <a:pt x="928603" y="153807"/>
                </a:lnTo>
                <a:lnTo>
                  <a:pt x="913075" y="92638"/>
                </a:lnTo>
                <a:lnTo>
                  <a:pt x="882280" y="42843"/>
                </a:lnTo>
                <a:lnTo>
                  <a:pt x="837781" y="9853"/>
                </a:lnTo>
                <a:lnTo>
                  <a:pt x="810489" y="0"/>
                </a:lnTo>
                <a:close/>
              </a:path>
              <a:path w="930910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5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876700" y="1463572"/>
            <a:ext cx="501015" cy="376555"/>
          </a:xfrm>
          <a:custGeom>
            <a:avLst/>
            <a:gdLst/>
            <a:ahLst/>
            <a:cxnLst/>
            <a:rect l="l" t="t" r="r" b="b"/>
            <a:pathLst>
              <a:path w="501015" h="376555">
                <a:moveTo>
                  <a:pt x="380785" y="0"/>
                </a:moveTo>
                <a:lnTo>
                  <a:pt x="375427" y="15279"/>
                </a:lnTo>
                <a:lnTo>
                  <a:pt x="397218" y="24736"/>
                </a:lnTo>
                <a:lnTo>
                  <a:pt x="415958" y="37826"/>
                </a:lnTo>
                <a:lnTo>
                  <a:pt x="444285" y="74909"/>
                </a:lnTo>
                <a:lnTo>
                  <a:pt x="460954" y="124940"/>
                </a:lnTo>
                <a:lnTo>
                  <a:pt x="466510" y="186331"/>
                </a:lnTo>
                <a:lnTo>
                  <a:pt x="465114" y="219533"/>
                </a:lnTo>
                <a:lnTo>
                  <a:pt x="453952" y="276782"/>
                </a:lnTo>
                <a:lnTo>
                  <a:pt x="431554" y="321493"/>
                </a:lnTo>
                <a:lnTo>
                  <a:pt x="397472" y="351655"/>
                </a:lnTo>
                <a:lnTo>
                  <a:pt x="376022" y="361156"/>
                </a:lnTo>
                <a:lnTo>
                  <a:pt x="380785" y="376435"/>
                </a:lnTo>
                <a:lnTo>
                  <a:pt x="432130" y="352349"/>
                </a:lnTo>
                <a:lnTo>
                  <a:pt x="469883" y="310653"/>
                </a:lnTo>
                <a:lnTo>
                  <a:pt x="493100" y="254818"/>
                </a:lnTo>
                <a:lnTo>
                  <a:pt x="500839" y="188316"/>
                </a:lnTo>
                <a:lnTo>
                  <a:pt x="498898" y="153807"/>
                </a:lnTo>
                <a:lnTo>
                  <a:pt x="483371" y="92638"/>
                </a:lnTo>
                <a:lnTo>
                  <a:pt x="452576" y="42843"/>
                </a:lnTo>
                <a:lnTo>
                  <a:pt x="408076" y="9853"/>
                </a:lnTo>
                <a:lnTo>
                  <a:pt x="380785" y="0"/>
                </a:lnTo>
                <a:close/>
              </a:path>
              <a:path w="501015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6" y="351655"/>
                </a:lnTo>
                <a:lnTo>
                  <a:pt x="84856" y="338435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63892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815"/>
              </a:lnSpc>
              <a:spcBef>
                <a:spcPts val="100"/>
              </a:spcBef>
              <a:tabLst>
                <a:tab pos="2948940" algn="l"/>
                <a:tab pos="3874135" algn="l"/>
                <a:tab pos="6391275" algn="l"/>
              </a:tabLst>
            </a:pPr>
            <a:r>
              <a:rPr dirty="0" sz="3200">
                <a:solidFill>
                  <a:srgbClr val="0000FF"/>
                </a:solidFill>
              </a:rPr>
              <a:t>(1)</a:t>
            </a:r>
            <a:r>
              <a:rPr dirty="0" sz="3200" spc="0">
                <a:solidFill>
                  <a:srgbClr val="0000FF"/>
                </a:solidFill>
              </a:rPr>
              <a:t> </a:t>
            </a:r>
            <a:r>
              <a:rPr dirty="0" sz="3200">
                <a:solidFill>
                  <a:srgbClr val="0000FF"/>
                </a:solidFill>
              </a:rPr>
              <a:t>M</a:t>
            </a:r>
            <a:r>
              <a:rPr dirty="0" sz="3200" spc="-5">
                <a:solidFill>
                  <a:srgbClr val="0000FF"/>
                </a:solidFill>
              </a:rPr>
              <a:t>a</a:t>
            </a:r>
            <a:r>
              <a:rPr dirty="0" sz="3200" spc="-85">
                <a:solidFill>
                  <a:srgbClr val="0000FF"/>
                </a:solidFill>
              </a:rPr>
              <a:t>k</a:t>
            </a:r>
            <a:r>
              <a:rPr dirty="0" sz="3200">
                <a:solidFill>
                  <a:srgbClr val="0000FF"/>
                </a:solidFill>
              </a:rPr>
              <a:t>e</a:t>
            </a:r>
            <a:r>
              <a:rPr dirty="0" sz="3200" spc="-10">
                <a:solidFill>
                  <a:srgbClr val="0000FF"/>
                </a:solidFill>
              </a:rPr>
              <a:t> </a:t>
            </a:r>
            <a:r>
              <a:rPr dirty="0" sz="3200" b="0">
                <a:solidFill>
                  <a:srgbClr val="0000FF"/>
                </a:solidFill>
                <a:latin typeface="Cambria Math"/>
                <a:cs typeface="Cambria Math"/>
              </a:rPr>
              <a:t>𝒑</a:t>
            </a:r>
            <a:r>
              <a:rPr dirty="0" baseline="-15700" sz="3450" spc="7" b="0">
                <a:solidFill>
                  <a:srgbClr val="0000FF"/>
                </a:solidFill>
                <a:latin typeface="Cambria Math"/>
                <a:cs typeface="Cambria Math"/>
              </a:rPr>
              <a:t>𝒎</a:t>
            </a:r>
            <a:r>
              <a:rPr dirty="0" baseline="-15700" sz="3450" spc="0" b="0">
                <a:solidFill>
                  <a:srgbClr val="0000FF"/>
                </a:solidFill>
                <a:latin typeface="Cambria Math"/>
                <a:cs typeface="Cambria Math"/>
              </a:rPr>
              <a:t>𝒐</a:t>
            </a:r>
            <a:r>
              <a:rPr dirty="0" baseline="-15700" sz="3450" spc="15" b="0">
                <a:solidFill>
                  <a:srgbClr val="0000FF"/>
                </a:solidFill>
                <a:latin typeface="Cambria Math"/>
                <a:cs typeface="Cambria Math"/>
              </a:rPr>
              <a:t>𝒅</a:t>
            </a:r>
            <a:r>
              <a:rPr dirty="0" baseline="-15700" sz="3450" spc="37" b="0">
                <a:solidFill>
                  <a:srgbClr val="0000FF"/>
                </a:solidFill>
                <a:latin typeface="Cambria Math"/>
                <a:cs typeface="Cambria Math"/>
              </a:rPr>
              <a:t>𝒆</a:t>
            </a:r>
            <a:r>
              <a:rPr dirty="0" baseline="-15700" sz="3450" b="0">
                <a:solidFill>
                  <a:srgbClr val="0000FF"/>
                </a:solidFill>
                <a:latin typeface="Cambria Math"/>
                <a:cs typeface="Cambria Math"/>
              </a:rPr>
              <a:t>𝒍	</a:t>
            </a:r>
            <a:r>
              <a:rPr dirty="0" sz="3200" b="0">
                <a:solidFill>
                  <a:srgbClr val="0000FF"/>
                </a:solidFill>
                <a:latin typeface="Cambria Math"/>
                <a:cs typeface="Cambria Math"/>
              </a:rPr>
              <a:t>𝒙;</a:t>
            </a:r>
            <a:r>
              <a:rPr dirty="0" sz="3200" spc="-165" b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3200" b="0">
                <a:solidFill>
                  <a:srgbClr val="0000FF"/>
                </a:solidFill>
                <a:latin typeface="Cambria Math"/>
                <a:cs typeface="Cambria Math"/>
              </a:rPr>
              <a:t>𝜽	</a:t>
            </a:r>
            <a:r>
              <a:rPr dirty="0" sz="3200" spc="-5">
                <a:solidFill>
                  <a:srgbClr val="0000FF"/>
                </a:solidFill>
              </a:rPr>
              <a:t>cl</a:t>
            </a:r>
            <a:r>
              <a:rPr dirty="0" sz="3200">
                <a:solidFill>
                  <a:srgbClr val="0000FF"/>
                </a:solidFill>
              </a:rPr>
              <a:t>o</a:t>
            </a:r>
            <a:r>
              <a:rPr dirty="0" sz="3200" spc="-5">
                <a:solidFill>
                  <a:srgbClr val="0000FF"/>
                </a:solidFill>
              </a:rPr>
              <a:t>s</a:t>
            </a:r>
            <a:r>
              <a:rPr dirty="0" sz="3200">
                <a:solidFill>
                  <a:srgbClr val="0000FF"/>
                </a:solidFill>
              </a:rPr>
              <a:t>e </a:t>
            </a:r>
            <a:r>
              <a:rPr dirty="0" sz="3200" spc="-30">
                <a:solidFill>
                  <a:srgbClr val="0000FF"/>
                </a:solidFill>
              </a:rPr>
              <a:t>t</a:t>
            </a:r>
            <a:r>
              <a:rPr dirty="0" sz="3200">
                <a:solidFill>
                  <a:srgbClr val="0000FF"/>
                </a:solidFill>
              </a:rPr>
              <a:t>o</a:t>
            </a:r>
            <a:r>
              <a:rPr dirty="0" sz="3200" spc="0">
                <a:solidFill>
                  <a:srgbClr val="0000FF"/>
                </a:solidFill>
              </a:rPr>
              <a:t> </a:t>
            </a:r>
            <a:r>
              <a:rPr dirty="0" sz="3200" b="0">
                <a:solidFill>
                  <a:srgbClr val="0000FF"/>
                </a:solidFill>
                <a:latin typeface="Cambria Math"/>
                <a:cs typeface="Cambria Math"/>
              </a:rPr>
              <a:t>𝒑</a:t>
            </a:r>
            <a:r>
              <a:rPr dirty="0" baseline="-15700" sz="3450" spc="15" b="0">
                <a:solidFill>
                  <a:srgbClr val="0000FF"/>
                </a:solidFill>
                <a:latin typeface="Cambria Math"/>
                <a:cs typeface="Cambria Math"/>
              </a:rPr>
              <a:t>𝒅</a:t>
            </a:r>
            <a:r>
              <a:rPr dirty="0" baseline="-15700" sz="3450" spc="22" b="0">
                <a:solidFill>
                  <a:srgbClr val="0000FF"/>
                </a:solidFill>
                <a:latin typeface="Cambria Math"/>
                <a:cs typeface="Cambria Math"/>
              </a:rPr>
              <a:t>𝒂</a:t>
            </a:r>
            <a:r>
              <a:rPr dirty="0" baseline="-15700" sz="3450" spc="7" b="0">
                <a:solidFill>
                  <a:srgbClr val="0000FF"/>
                </a:solidFill>
                <a:latin typeface="Cambria Math"/>
                <a:cs typeface="Cambria Math"/>
              </a:rPr>
              <a:t>𝒕</a:t>
            </a:r>
            <a:r>
              <a:rPr dirty="0" baseline="-15700" sz="3450" b="0">
                <a:solidFill>
                  <a:srgbClr val="0000FF"/>
                </a:solidFill>
                <a:latin typeface="Cambria Math"/>
                <a:cs typeface="Cambria Math"/>
              </a:rPr>
              <a:t>𝒂	</a:t>
            </a:r>
            <a:r>
              <a:rPr dirty="0" sz="3200" b="0">
                <a:solidFill>
                  <a:srgbClr val="0000FF"/>
                </a:solidFill>
                <a:latin typeface="Cambria Math"/>
                <a:cs typeface="Cambria Math"/>
              </a:rPr>
              <a:t>𝒙</a:t>
            </a:r>
            <a:endParaRPr sz="3200">
              <a:latin typeface="Cambria Math"/>
              <a:cs typeface="Cambria Math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30"/>
              <a:t>Key </a:t>
            </a:r>
            <a:r>
              <a:rPr dirty="0" sz="3200" spc="-5"/>
              <a:t>Principle</a:t>
            </a:r>
            <a:r>
              <a:rPr dirty="0" sz="3200" spc="-5" b="0">
                <a:latin typeface="Calibri"/>
                <a:cs typeface="Calibri"/>
              </a:rPr>
              <a:t>: </a:t>
            </a:r>
            <a:r>
              <a:rPr dirty="0" sz="3200" spc="-10">
                <a:solidFill>
                  <a:srgbClr val="FF0066"/>
                </a:solidFill>
              </a:rPr>
              <a:t>Maximum</a:t>
            </a:r>
            <a:r>
              <a:rPr dirty="0" sz="3200" spc="5">
                <a:solidFill>
                  <a:srgbClr val="FF0066"/>
                </a:solidFill>
              </a:rPr>
              <a:t> </a:t>
            </a:r>
            <a:r>
              <a:rPr dirty="0" sz="3200" spc="-15">
                <a:solidFill>
                  <a:srgbClr val="FF0066"/>
                </a:solidFill>
              </a:rPr>
              <a:t>Likelihood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108" y="2325116"/>
            <a:ext cx="790067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0">
                <a:latin typeface="Calibri"/>
                <a:cs typeface="Calibri"/>
              </a:rPr>
              <a:t>Fundamental approach </a:t>
            </a:r>
            <a:r>
              <a:rPr dirty="0" sz="3000" spc="-20">
                <a:latin typeface="Calibri"/>
                <a:cs typeface="Calibri"/>
              </a:rPr>
              <a:t>to </a:t>
            </a:r>
            <a:r>
              <a:rPr dirty="0" sz="3000" spc="-5">
                <a:latin typeface="Calibri"/>
                <a:cs typeface="Calibri"/>
              </a:rPr>
              <a:t>modeling</a:t>
            </a:r>
            <a:r>
              <a:rPr dirty="0" sz="300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distributions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766255" y="4867073"/>
            <a:ext cx="1062355" cy="329565"/>
          </a:xfrm>
          <a:custGeom>
            <a:avLst/>
            <a:gdLst/>
            <a:ahLst/>
            <a:cxnLst/>
            <a:rect l="l" t="t" r="r" b="b"/>
            <a:pathLst>
              <a:path w="1062354" h="329564">
                <a:moveTo>
                  <a:pt x="956852" y="0"/>
                </a:moveTo>
                <a:lnTo>
                  <a:pt x="952164" y="13370"/>
                </a:lnTo>
                <a:lnTo>
                  <a:pt x="971231" y="21644"/>
                </a:lnTo>
                <a:lnTo>
                  <a:pt x="987628" y="33099"/>
                </a:lnTo>
                <a:lnTo>
                  <a:pt x="1012414" y="65547"/>
                </a:lnTo>
                <a:lnTo>
                  <a:pt x="1027000" y="109324"/>
                </a:lnTo>
                <a:lnTo>
                  <a:pt x="1031862" y="163041"/>
                </a:lnTo>
                <a:lnTo>
                  <a:pt x="1030641" y="192092"/>
                </a:lnTo>
                <a:lnTo>
                  <a:pt x="1020874" y="242185"/>
                </a:lnTo>
                <a:lnTo>
                  <a:pt x="1001275" y="281307"/>
                </a:lnTo>
                <a:lnTo>
                  <a:pt x="971454" y="307699"/>
                </a:lnTo>
                <a:lnTo>
                  <a:pt x="952685" y="316011"/>
                </a:lnTo>
                <a:lnTo>
                  <a:pt x="956852" y="329382"/>
                </a:lnTo>
                <a:lnTo>
                  <a:pt x="1001779" y="308306"/>
                </a:lnTo>
                <a:lnTo>
                  <a:pt x="1034813" y="271821"/>
                </a:lnTo>
                <a:lnTo>
                  <a:pt x="1055128" y="222966"/>
                </a:lnTo>
                <a:lnTo>
                  <a:pt x="1061900" y="164777"/>
                </a:lnTo>
                <a:lnTo>
                  <a:pt x="1060202" y="134581"/>
                </a:lnTo>
                <a:lnTo>
                  <a:pt x="1046615" y="81059"/>
                </a:lnTo>
                <a:lnTo>
                  <a:pt x="1019669" y="37488"/>
                </a:lnTo>
                <a:lnTo>
                  <a:pt x="980732" y="8621"/>
                </a:lnTo>
                <a:lnTo>
                  <a:pt x="956852" y="0"/>
                </a:lnTo>
                <a:close/>
              </a:path>
              <a:path w="1062354" h="329564">
                <a:moveTo>
                  <a:pt x="105048" y="0"/>
                </a:moveTo>
                <a:lnTo>
                  <a:pt x="60228" y="21117"/>
                </a:lnTo>
                <a:lnTo>
                  <a:pt x="27174" y="57732"/>
                </a:lnTo>
                <a:lnTo>
                  <a:pt x="6793" y="106676"/>
                </a:lnTo>
                <a:lnTo>
                  <a:pt x="0" y="164777"/>
                </a:lnTo>
                <a:lnTo>
                  <a:pt x="1693" y="195038"/>
                </a:lnTo>
                <a:lnTo>
                  <a:pt x="15236" y="248560"/>
                </a:lnTo>
                <a:lnTo>
                  <a:pt x="42116" y="291990"/>
                </a:lnTo>
                <a:lnTo>
                  <a:pt x="81097" y="320770"/>
                </a:lnTo>
                <a:lnTo>
                  <a:pt x="105048" y="329382"/>
                </a:lnTo>
                <a:lnTo>
                  <a:pt x="109214" y="316011"/>
                </a:lnTo>
                <a:lnTo>
                  <a:pt x="90446" y="307699"/>
                </a:lnTo>
                <a:lnTo>
                  <a:pt x="74249" y="296130"/>
                </a:lnTo>
                <a:lnTo>
                  <a:pt x="49571" y="263227"/>
                </a:lnTo>
                <a:lnTo>
                  <a:pt x="34922" y="218473"/>
                </a:lnTo>
                <a:lnTo>
                  <a:pt x="30039" y="163041"/>
                </a:lnTo>
                <a:lnTo>
                  <a:pt x="31259" y="134940"/>
                </a:lnTo>
                <a:lnTo>
                  <a:pt x="41026" y="86193"/>
                </a:lnTo>
                <a:lnTo>
                  <a:pt x="60657" y="47733"/>
                </a:lnTo>
                <a:lnTo>
                  <a:pt x="90739" y="21644"/>
                </a:lnTo>
                <a:lnTo>
                  <a:pt x="109735" y="13370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56563" y="4331715"/>
            <a:ext cx="7227570" cy="211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marR="508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  <a:tab pos="5980430" algn="l"/>
              </a:tabLst>
            </a:pPr>
            <a:r>
              <a:rPr dirty="0" sz="2800" spc="-5">
                <a:latin typeface="Calibri"/>
                <a:cs typeface="Calibri"/>
              </a:rPr>
              <a:t>Find </a:t>
            </a:r>
            <a:r>
              <a:rPr dirty="0" sz="2800" spc="-20">
                <a:latin typeface="Calibri"/>
                <a:cs typeface="Calibri"/>
              </a:rPr>
              <a:t>parameters </a:t>
            </a:r>
            <a:r>
              <a:rPr dirty="0" sz="2800" spc="65">
                <a:latin typeface="Cambria Math"/>
                <a:cs typeface="Cambria Math"/>
              </a:rPr>
              <a:t>𝜃</a:t>
            </a:r>
            <a:r>
              <a:rPr dirty="0" baseline="27777" sz="3000" spc="97">
                <a:latin typeface="Cambria Math"/>
                <a:cs typeface="Cambria Math"/>
              </a:rPr>
              <a:t>∗</a:t>
            </a:r>
            <a:r>
              <a:rPr dirty="0" sz="2800" spc="65">
                <a:latin typeface="Calibri"/>
                <a:cs typeface="Calibri"/>
              </a:rPr>
              <a:t>, </a:t>
            </a:r>
            <a:r>
              <a:rPr dirty="0" sz="2800">
                <a:latin typeface="Calibri"/>
                <a:cs typeface="Calibri"/>
              </a:rPr>
              <a:t>such </a:t>
            </a:r>
            <a:r>
              <a:rPr dirty="0" sz="2800" spc="-10">
                <a:latin typeface="Calibri"/>
                <a:cs typeface="Calibri"/>
              </a:rPr>
              <a:t>that </a:t>
            </a:r>
            <a:r>
              <a:rPr dirty="0" sz="2800" spc="-25">
                <a:latin typeface="Calibri"/>
                <a:cs typeface="Calibri"/>
              </a:rPr>
              <a:t>for </a:t>
            </a:r>
            <a:r>
              <a:rPr dirty="0" sz="2800" spc="-10">
                <a:latin typeface="Calibri"/>
                <a:cs typeface="Calibri"/>
              </a:rPr>
              <a:t>observed </a:t>
            </a:r>
            <a:r>
              <a:rPr dirty="0" sz="2800" spc="-160">
                <a:latin typeface="Calibri"/>
                <a:cs typeface="Calibri"/>
              </a:rPr>
              <a:t>data  </a:t>
            </a:r>
            <a:r>
              <a:rPr dirty="0" sz="2800" spc="-10">
                <a:latin typeface="Calibri"/>
                <a:cs typeface="Calibri"/>
              </a:rPr>
              <a:t>points </a:t>
            </a:r>
            <a:r>
              <a:rPr dirty="0" sz="2800" spc="150">
                <a:latin typeface="Cambria Math"/>
                <a:cs typeface="Cambria Math"/>
              </a:rPr>
              <a:t>𝒙</a:t>
            </a:r>
            <a:r>
              <a:rPr dirty="0" baseline="-16666" sz="3000" spc="225">
                <a:latin typeface="Cambria Math"/>
                <a:cs typeface="Cambria Math"/>
              </a:rPr>
              <a:t>)</a:t>
            </a:r>
            <a:r>
              <a:rPr dirty="0" sz="2800" spc="150">
                <a:latin typeface="Cambria Math"/>
                <a:cs typeface="Cambria Math"/>
              </a:rPr>
              <a:t>~𝑝</a:t>
            </a:r>
            <a:r>
              <a:rPr dirty="0" baseline="-16666" sz="3000" spc="225">
                <a:latin typeface="Cambria Math"/>
                <a:cs typeface="Cambria Math"/>
              </a:rPr>
              <a:t>!"#"</a:t>
            </a:r>
            <a:r>
              <a:rPr dirty="0" sz="2800" spc="150">
                <a:latin typeface="Calibri"/>
                <a:cs typeface="Calibri"/>
              </a:rPr>
              <a:t>, </a:t>
            </a:r>
            <a:r>
              <a:rPr dirty="0" baseline="1984" sz="4200" spc="-97">
                <a:latin typeface="Cambria Math"/>
                <a:cs typeface="Cambria Math"/>
              </a:rPr>
              <a:t>∑</a:t>
            </a:r>
            <a:r>
              <a:rPr dirty="0" baseline="-19444" sz="3000" spc="-97">
                <a:latin typeface="Cambria Math"/>
                <a:cs typeface="Cambria Math"/>
              </a:rPr>
              <a:t>) </a:t>
            </a:r>
            <a:r>
              <a:rPr dirty="0" sz="2800" spc="-5">
                <a:latin typeface="Cambria Math"/>
                <a:cs typeface="Cambria Math"/>
              </a:rPr>
              <a:t>log </a:t>
            </a:r>
            <a:r>
              <a:rPr dirty="0" sz="2800" spc="150">
                <a:latin typeface="Cambria Math"/>
                <a:cs typeface="Cambria Math"/>
              </a:rPr>
              <a:t>𝑝</a:t>
            </a:r>
            <a:r>
              <a:rPr dirty="0" baseline="-16666" sz="3000" spc="225">
                <a:latin typeface="Cambria Math"/>
                <a:cs typeface="Cambria Math"/>
              </a:rPr>
              <a:t>$%!&amp;'</a:t>
            </a:r>
            <a:r>
              <a:rPr dirty="0" baseline="-16666" sz="3000" spc="727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𝒙</a:t>
            </a:r>
            <a:r>
              <a:rPr dirty="0" baseline="-16666" sz="3000">
                <a:latin typeface="Cambria Math"/>
                <a:cs typeface="Cambria Math"/>
              </a:rPr>
              <a:t>)</a:t>
            </a:r>
            <a:r>
              <a:rPr dirty="0" sz="2800">
                <a:latin typeface="Cambria Math"/>
                <a:cs typeface="Cambria Math"/>
              </a:rPr>
              <a:t>;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 spc="60">
                <a:latin typeface="Cambria Math"/>
                <a:cs typeface="Cambria Math"/>
              </a:rPr>
              <a:t>𝜃</a:t>
            </a:r>
            <a:r>
              <a:rPr dirty="0" baseline="29166" sz="3000" spc="89">
                <a:latin typeface="Cambria Math"/>
                <a:cs typeface="Cambria Math"/>
              </a:rPr>
              <a:t>∗	</a:t>
            </a:r>
            <a:r>
              <a:rPr dirty="0" sz="2800" spc="-5">
                <a:latin typeface="Calibri"/>
                <a:cs typeface="Calibri"/>
              </a:rPr>
              <a:t>has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highest </a:t>
            </a:r>
            <a:r>
              <a:rPr dirty="0" sz="2800" spc="-15">
                <a:latin typeface="Calibri"/>
                <a:cs typeface="Calibri"/>
              </a:rPr>
              <a:t>value, </a:t>
            </a:r>
            <a:r>
              <a:rPr dirty="0" sz="2800" spc="-5">
                <a:latin typeface="Calibri"/>
                <a:cs typeface="Calibri"/>
              </a:rPr>
              <a:t>among all possible choices of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>
                <a:latin typeface="Cambria Math"/>
                <a:cs typeface="Cambria Math"/>
              </a:rPr>
              <a:t>𝜃</a:t>
            </a:r>
            <a:endParaRPr sz="2800">
              <a:latin typeface="Cambria Math"/>
              <a:cs typeface="Cambria Math"/>
            </a:endParaRPr>
          </a:p>
          <a:p>
            <a:pPr lvl="1" marL="552450" marR="688975" indent="-228600">
              <a:lnSpc>
                <a:spcPct val="100000"/>
              </a:lnSpc>
              <a:spcBef>
                <a:spcPts val="640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10">
                <a:latin typeface="Calibri"/>
                <a:cs typeface="Calibri"/>
              </a:rPr>
              <a:t>That </a:t>
            </a:r>
            <a:r>
              <a:rPr dirty="0" sz="2400" spc="-5">
                <a:latin typeface="Calibri"/>
                <a:cs typeface="Calibri"/>
              </a:rPr>
              <a:t>is, find the model </a:t>
            </a:r>
            <a:r>
              <a:rPr dirty="0" sz="2400" spc="-10">
                <a:latin typeface="Calibri"/>
                <a:cs typeface="Calibri"/>
              </a:rPr>
              <a:t>that </a:t>
            </a:r>
            <a:r>
              <a:rPr dirty="0" sz="2400" spc="-5">
                <a:latin typeface="Calibri"/>
                <a:cs typeface="Calibri"/>
              </a:rPr>
              <a:t>is </a:t>
            </a:r>
            <a:r>
              <a:rPr dirty="0" sz="2400" spc="-10">
                <a:latin typeface="Calibri"/>
                <a:cs typeface="Calibri"/>
              </a:rPr>
              <a:t>most </a:t>
            </a:r>
            <a:r>
              <a:rPr dirty="0" sz="2400" spc="-20">
                <a:latin typeface="Calibri"/>
                <a:cs typeface="Calibri"/>
              </a:rPr>
              <a:t>likely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 spc="-150">
                <a:latin typeface="Calibri"/>
                <a:cs typeface="Calibri"/>
              </a:rPr>
              <a:t>have  </a:t>
            </a:r>
            <a:r>
              <a:rPr dirty="0" sz="2400" spc="-15">
                <a:latin typeface="Calibri"/>
                <a:cs typeface="Calibri"/>
              </a:rPr>
              <a:t>generated </a:t>
            </a:r>
            <a:r>
              <a:rPr dirty="0" sz="2400" spc="-5">
                <a:latin typeface="Calibri"/>
                <a:cs typeface="Calibri"/>
              </a:rPr>
              <a:t>the observed </a:t>
            </a:r>
            <a:r>
              <a:rPr dirty="0" sz="2400" spc="-15">
                <a:latin typeface="Calibri"/>
                <a:cs typeface="Calibri"/>
              </a:rPr>
              <a:t>data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mbria Math"/>
                <a:cs typeface="Cambria Math"/>
              </a:rPr>
              <a:t>𝑥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85515" y="3048000"/>
            <a:ext cx="7162799" cy="9795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4"/>
              </a:rPr>
              <a:t>http://cs224w.stanford.edu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6233160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644040" y="1463572"/>
            <a:ext cx="930910" cy="376555"/>
          </a:xfrm>
          <a:custGeom>
            <a:avLst/>
            <a:gdLst/>
            <a:ahLst/>
            <a:cxnLst/>
            <a:rect l="l" t="t" r="r" b="b"/>
            <a:pathLst>
              <a:path w="930910" h="376555">
                <a:moveTo>
                  <a:pt x="810489" y="0"/>
                </a:moveTo>
                <a:lnTo>
                  <a:pt x="805131" y="15279"/>
                </a:lnTo>
                <a:lnTo>
                  <a:pt x="826922" y="24736"/>
                </a:lnTo>
                <a:lnTo>
                  <a:pt x="845662" y="37826"/>
                </a:lnTo>
                <a:lnTo>
                  <a:pt x="873989" y="74909"/>
                </a:lnTo>
                <a:lnTo>
                  <a:pt x="890658" y="124940"/>
                </a:lnTo>
                <a:lnTo>
                  <a:pt x="896214" y="186331"/>
                </a:lnTo>
                <a:lnTo>
                  <a:pt x="894819" y="219533"/>
                </a:lnTo>
                <a:lnTo>
                  <a:pt x="883657" y="276782"/>
                </a:lnTo>
                <a:lnTo>
                  <a:pt x="861258" y="321493"/>
                </a:lnTo>
                <a:lnTo>
                  <a:pt x="827176" y="351655"/>
                </a:lnTo>
                <a:lnTo>
                  <a:pt x="805727" y="361156"/>
                </a:lnTo>
                <a:lnTo>
                  <a:pt x="810489" y="376435"/>
                </a:lnTo>
                <a:lnTo>
                  <a:pt x="861835" y="352349"/>
                </a:lnTo>
                <a:lnTo>
                  <a:pt x="899587" y="310653"/>
                </a:lnTo>
                <a:lnTo>
                  <a:pt x="922805" y="254818"/>
                </a:lnTo>
                <a:lnTo>
                  <a:pt x="930544" y="188316"/>
                </a:lnTo>
                <a:lnTo>
                  <a:pt x="928603" y="153807"/>
                </a:lnTo>
                <a:lnTo>
                  <a:pt x="913075" y="92638"/>
                </a:lnTo>
                <a:lnTo>
                  <a:pt x="882280" y="42843"/>
                </a:lnTo>
                <a:lnTo>
                  <a:pt x="837781" y="9853"/>
                </a:lnTo>
                <a:lnTo>
                  <a:pt x="810489" y="0"/>
                </a:lnTo>
                <a:close/>
              </a:path>
              <a:path w="930910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6" y="351655"/>
                </a:lnTo>
                <a:lnTo>
                  <a:pt x="84856" y="338435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212330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815"/>
              </a:lnSpc>
              <a:spcBef>
                <a:spcPts val="100"/>
              </a:spcBef>
              <a:tabLst>
                <a:tab pos="4158615" algn="l"/>
              </a:tabLst>
            </a:pPr>
            <a:r>
              <a:rPr dirty="0" sz="3200">
                <a:solidFill>
                  <a:srgbClr val="0000FF"/>
                </a:solidFill>
              </a:rPr>
              <a:t>(2) </a:t>
            </a:r>
            <a:r>
              <a:rPr dirty="0" sz="3200" spc="-5">
                <a:solidFill>
                  <a:srgbClr val="0000FF"/>
                </a:solidFill>
              </a:rPr>
              <a:t>Sample</a:t>
            </a:r>
            <a:r>
              <a:rPr dirty="0" sz="3200" spc="25">
                <a:solidFill>
                  <a:srgbClr val="0000FF"/>
                </a:solidFill>
              </a:rPr>
              <a:t> </a:t>
            </a:r>
            <a:r>
              <a:rPr dirty="0" sz="3200" spc="-10">
                <a:solidFill>
                  <a:srgbClr val="0000FF"/>
                </a:solidFill>
              </a:rPr>
              <a:t>from</a:t>
            </a:r>
            <a:r>
              <a:rPr dirty="0" sz="3200" spc="-15">
                <a:solidFill>
                  <a:srgbClr val="0000FF"/>
                </a:solidFill>
              </a:rPr>
              <a:t> </a:t>
            </a:r>
            <a:r>
              <a:rPr dirty="0" sz="3200" spc="0" b="0">
                <a:solidFill>
                  <a:srgbClr val="0000FF"/>
                </a:solidFill>
                <a:latin typeface="Cambria Math"/>
                <a:cs typeface="Cambria Math"/>
              </a:rPr>
              <a:t>𝒑</a:t>
            </a:r>
            <a:r>
              <a:rPr dirty="0" baseline="-15700" sz="3450" spc="0" b="0">
                <a:solidFill>
                  <a:srgbClr val="0000FF"/>
                </a:solidFill>
                <a:latin typeface="Cambria Math"/>
                <a:cs typeface="Cambria Math"/>
              </a:rPr>
              <a:t>𝒎𝒐𝒅𝒆𝒍	</a:t>
            </a:r>
            <a:r>
              <a:rPr dirty="0" sz="3200" b="0">
                <a:solidFill>
                  <a:srgbClr val="0000FF"/>
                </a:solidFill>
                <a:latin typeface="Cambria Math"/>
                <a:cs typeface="Cambria Math"/>
              </a:rPr>
              <a:t>𝒙;</a:t>
            </a:r>
            <a:r>
              <a:rPr dirty="0" sz="3200" spc="-265" b="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3200" b="0">
                <a:solidFill>
                  <a:srgbClr val="0000FF"/>
                </a:solidFill>
                <a:latin typeface="Cambria Math"/>
                <a:cs typeface="Cambria Math"/>
              </a:rPr>
              <a:t>𝜽</a:t>
            </a:r>
            <a:endParaRPr sz="3200">
              <a:latin typeface="Cambria Math"/>
              <a:cs typeface="Cambria Math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solidFill>
                  <a:srgbClr val="D60093"/>
                </a:solidFill>
              </a:rPr>
              <a:t>Goal</a:t>
            </a:r>
            <a:r>
              <a:rPr dirty="0" sz="3200" spc="-5" b="0">
                <a:solidFill>
                  <a:srgbClr val="D60093"/>
                </a:solidFill>
                <a:latin typeface="Calibri"/>
                <a:cs typeface="Calibri"/>
              </a:rPr>
              <a:t>: </a:t>
            </a:r>
            <a:r>
              <a:rPr dirty="0" sz="3200" b="0">
                <a:latin typeface="Calibri"/>
                <a:cs typeface="Calibri"/>
              </a:rPr>
              <a:t>Sample </a:t>
            </a:r>
            <a:r>
              <a:rPr dirty="0" sz="3200" spc="-20" b="0">
                <a:latin typeface="Calibri"/>
                <a:cs typeface="Calibri"/>
              </a:rPr>
              <a:t>from </a:t>
            </a:r>
            <a:r>
              <a:rPr dirty="0" sz="3200" b="0">
                <a:latin typeface="Calibri"/>
                <a:cs typeface="Calibri"/>
              </a:rPr>
              <a:t>a </a:t>
            </a:r>
            <a:r>
              <a:rPr dirty="0" sz="3200" spc="-15" b="0">
                <a:latin typeface="Calibri"/>
                <a:cs typeface="Calibri"/>
              </a:rPr>
              <a:t>complex</a:t>
            </a:r>
            <a:r>
              <a:rPr dirty="0" sz="3200" spc="0" b="0">
                <a:latin typeface="Calibri"/>
                <a:cs typeface="Calibri"/>
              </a:rPr>
              <a:t> </a:t>
            </a:r>
            <a:r>
              <a:rPr dirty="0" sz="3200" spc="-5" b="0">
                <a:latin typeface="Calibri"/>
                <a:cs typeface="Calibri"/>
              </a:rPr>
              <a:t>distribution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11</a:t>
            </a:fld>
          </a:p>
        </p:txBody>
      </p:sp>
      <p:sp>
        <p:nvSpPr>
          <p:cNvPr id="5" name="object 5"/>
          <p:cNvSpPr txBox="1"/>
          <p:nvPr/>
        </p:nvSpPr>
        <p:spPr>
          <a:xfrm>
            <a:off x="618108" y="2230773"/>
            <a:ext cx="7242175" cy="4456430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5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5">
                <a:latin typeface="Calibri"/>
                <a:cs typeface="Calibri"/>
              </a:rPr>
              <a:t>most </a:t>
            </a:r>
            <a:r>
              <a:rPr dirty="0" sz="3200" spc="-10">
                <a:latin typeface="Calibri"/>
                <a:cs typeface="Calibri"/>
              </a:rPr>
              <a:t>common</a:t>
            </a:r>
            <a:r>
              <a:rPr dirty="0" sz="3200" spc="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approach: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b="1">
                <a:latin typeface="Calibri"/>
                <a:cs typeface="Calibri"/>
              </a:rPr>
              <a:t>(1) </a:t>
            </a:r>
            <a:r>
              <a:rPr dirty="0" sz="2800" spc="-5">
                <a:latin typeface="Calibri"/>
                <a:cs typeface="Calibri"/>
              </a:rPr>
              <a:t>Sample </a:t>
            </a:r>
            <a:r>
              <a:rPr dirty="0" sz="2800" spc="-15">
                <a:latin typeface="Calibri"/>
                <a:cs typeface="Calibri"/>
              </a:rPr>
              <a:t>from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5">
                <a:latin typeface="Calibri"/>
                <a:cs typeface="Calibri"/>
              </a:rPr>
              <a:t>simple noise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distribution</a:t>
            </a:r>
            <a:endParaRPr sz="2800">
              <a:latin typeface="Calibri"/>
              <a:cs typeface="Calibri"/>
            </a:endParaRPr>
          </a:p>
          <a:p>
            <a:pPr algn="ctr" marR="132715">
              <a:lnSpc>
                <a:spcPct val="100000"/>
              </a:lnSpc>
              <a:spcBef>
                <a:spcPts val="20"/>
              </a:spcBef>
            </a:pPr>
            <a:r>
              <a:rPr dirty="0" sz="2800" spc="0">
                <a:latin typeface="Cambria Math"/>
                <a:cs typeface="Cambria Math"/>
              </a:rPr>
              <a:t>𝒛</a:t>
            </a:r>
            <a:r>
              <a:rPr dirty="0" baseline="-16666" sz="3000" spc="0">
                <a:latin typeface="Cambria Math"/>
                <a:cs typeface="Cambria Math"/>
              </a:rPr>
              <a:t>)</a:t>
            </a:r>
            <a:r>
              <a:rPr dirty="0" sz="2800" spc="0">
                <a:latin typeface="Cambria Math"/>
                <a:cs typeface="Cambria Math"/>
              </a:rPr>
              <a:t>~𝑁(0,1)</a:t>
            </a:r>
            <a:endParaRPr sz="2800">
              <a:latin typeface="Cambria Math"/>
              <a:cs typeface="Cambria Math"/>
            </a:endParaRPr>
          </a:p>
          <a:p>
            <a:pPr lvl="1" marL="62547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b="1">
                <a:latin typeface="Calibri"/>
                <a:cs typeface="Calibri"/>
              </a:rPr>
              <a:t>(2) </a:t>
            </a:r>
            <a:r>
              <a:rPr dirty="0" sz="2800" spc="-40">
                <a:solidFill>
                  <a:srgbClr val="D60093"/>
                </a:solidFill>
                <a:latin typeface="Calibri"/>
                <a:cs typeface="Calibri"/>
              </a:rPr>
              <a:t>Transform </a:t>
            </a:r>
            <a:r>
              <a:rPr dirty="0" sz="2800" spc="-5">
                <a:solidFill>
                  <a:srgbClr val="D60093"/>
                </a:solidFill>
                <a:latin typeface="Calibri"/>
                <a:cs typeface="Calibri"/>
              </a:rPr>
              <a:t>the noise </a:t>
            </a:r>
            <a:r>
              <a:rPr dirty="0" sz="2800" spc="-105">
                <a:solidFill>
                  <a:srgbClr val="D60093"/>
                </a:solidFill>
                <a:latin typeface="Cambria Math"/>
                <a:cs typeface="Cambria Math"/>
              </a:rPr>
              <a:t>𝑧</a:t>
            </a:r>
            <a:r>
              <a:rPr dirty="0" baseline="-16666" sz="3000" spc="-157">
                <a:solidFill>
                  <a:srgbClr val="D60093"/>
                </a:solidFill>
                <a:latin typeface="Cambria Math"/>
                <a:cs typeface="Cambria Math"/>
              </a:rPr>
              <a:t>)  </a:t>
            </a:r>
            <a:r>
              <a:rPr dirty="0" sz="2800" spc="-5">
                <a:solidFill>
                  <a:srgbClr val="D60093"/>
                </a:solidFill>
                <a:latin typeface="Calibri"/>
                <a:cs typeface="Calibri"/>
              </a:rPr>
              <a:t>via</a:t>
            </a:r>
            <a:r>
              <a:rPr dirty="0" sz="2800" spc="-65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2800" spc="10">
                <a:solidFill>
                  <a:srgbClr val="D60093"/>
                </a:solidFill>
                <a:latin typeface="Cambria Math"/>
                <a:cs typeface="Cambria Math"/>
              </a:rPr>
              <a:t>𝑓(⋅)</a:t>
            </a:r>
            <a:endParaRPr sz="2800">
              <a:latin typeface="Cambria Math"/>
              <a:cs typeface="Cambria Math"/>
            </a:endParaRPr>
          </a:p>
          <a:p>
            <a:pPr algn="ctr" marL="170180">
              <a:lnSpc>
                <a:spcPct val="100000"/>
              </a:lnSpc>
              <a:spcBef>
                <a:spcPts val="45"/>
              </a:spcBef>
            </a:pPr>
            <a:r>
              <a:rPr dirty="0" sz="2800" spc="-70">
                <a:latin typeface="Cambria Math"/>
                <a:cs typeface="Cambria Math"/>
              </a:rPr>
              <a:t>𝒙</a:t>
            </a:r>
            <a:r>
              <a:rPr dirty="0" baseline="-15277" sz="3000" spc="-104">
                <a:latin typeface="Cambria Math"/>
                <a:cs typeface="Cambria Math"/>
              </a:rPr>
              <a:t>)  </a:t>
            </a:r>
            <a:r>
              <a:rPr dirty="0" sz="2800">
                <a:latin typeface="Cambria Math"/>
                <a:cs typeface="Cambria Math"/>
              </a:rPr>
              <a:t>= </a:t>
            </a:r>
            <a:r>
              <a:rPr dirty="0" sz="2800" spc="10">
                <a:latin typeface="Cambria Math"/>
                <a:cs typeface="Cambria Math"/>
              </a:rPr>
              <a:t>𝑓(𝒛</a:t>
            </a:r>
            <a:r>
              <a:rPr dirty="0" baseline="-15277" sz="3000" spc="15">
                <a:latin typeface="Cambria Math"/>
                <a:cs typeface="Cambria Math"/>
              </a:rPr>
              <a:t>)</a:t>
            </a:r>
            <a:r>
              <a:rPr dirty="0" sz="2800" spc="10">
                <a:latin typeface="Cambria Math"/>
                <a:cs typeface="Cambria Math"/>
              </a:rPr>
              <a:t>;</a:t>
            </a:r>
            <a:r>
              <a:rPr dirty="0" sz="2800" spc="-114">
                <a:latin typeface="Cambria Math"/>
                <a:cs typeface="Cambria Math"/>
              </a:rPr>
              <a:t> </a:t>
            </a:r>
            <a:r>
              <a:rPr dirty="0" sz="2800" spc="30">
                <a:latin typeface="Cambria Math"/>
                <a:cs typeface="Cambria Math"/>
              </a:rPr>
              <a:t>𝜃)</a:t>
            </a:r>
            <a:endParaRPr sz="2800">
              <a:latin typeface="Cambria Math"/>
              <a:cs typeface="Cambria Math"/>
            </a:endParaRPr>
          </a:p>
          <a:p>
            <a:pPr marL="350520">
              <a:lnSpc>
                <a:spcPts val="3329"/>
              </a:lnSpc>
              <a:spcBef>
                <a:spcPts val="620"/>
              </a:spcBef>
            </a:pPr>
            <a:r>
              <a:rPr dirty="0" sz="2800" spc="-5">
                <a:latin typeface="Calibri"/>
                <a:cs typeface="Calibri"/>
              </a:rPr>
              <a:t>Then </a:t>
            </a:r>
            <a:r>
              <a:rPr dirty="0" sz="2800" spc="-70">
                <a:latin typeface="Cambria Math"/>
                <a:cs typeface="Cambria Math"/>
              </a:rPr>
              <a:t>𝒙</a:t>
            </a:r>
            <a:r>
              <a:rPr dirty="0" baseline="-16666" sz="3000" spc="-104">
                <a:latin typeface="Cambria Math"/>
                <a:cs typeface="Cambria Math"/>
              </a:rPr>
              <a:t>)  </a:t>
            </a:r>
            <a:r>
              <a:rPr dirty="0" sz="2800" spc="-20">
                <a:latin typeface="Calibri"/>
                <a:cs typeface="Calibri"/>
              </a:rPr>
              <a:t>follows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5">
                <a:latin typeface="Calibri"/>
                <a:cs typeface="Calibri"/>
              </a:rPr>
              <a:t>complex</a:t>
            </a:r>
            <a:r>
              <a:rPr dirty="0" sz="2800" spc="-1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distribution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81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b="1">
                <a:solidFill>
                  <a:srgbClr val="008000"/>
                </a:solidFill>
                <a:latin typeface="Calibri"/>
                <a:cs typeface="Calibri"/>
              </a:rPr>
              <a:t>Q: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How </a:t>
            </a:r>
            <a:r>
              <a:rPr dirty="0" sz="3200" spc="-15" b="1">
                <a:solidFill>
                  <a:srgbClr val="008000"/>
                </a:solidFill>
                <a:latin typeface="Calibri"/>
                <a:cs typeface="Calibri"/>
              </a:rPr>
              <a:t>to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design</a:t>
            </a:r>
            <a:r>
              <a:rPr dirty="0" sz="3200" spc="-40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3200" spc="-5">
                <a:solidFill>
                  <a:srgbClr val="008000"/>
                </a:solidFill>
                <a:latin typeface="Cambria Math"/>
                <a:cs typeface="Cambria Math"/>
              </a:rPr>
              <a:t>𝒇(⋅)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  <a:p>
            <a:pPr marL="332740" marR="5080" indent="-320040">
              <a:lnSpc>
                <a:spcPts val="3790"/>
              </a:lnSpc>
              <a:spcBef>
                <a:spcPts val="24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A</a:t>
            </a:r>
            <a:r>
              <a:rPr dirty="0" sz="3200" spc="-5">
                <a:latin typeface="Calibri"/>
                <a:cs typeface="Calibri"/>
              </a:rPr>
              <a:t>: </a:t>
            </a:r>
            <a:r>
              <a:rPr dirty="0" sz="3200" spc="-5">
                <a:solidFill>
                  <a:srgbClr val="D60093"/>
                </a:solidFill>
                <a:latin typeface="Calibri"/>
                <a:cs typeface="Calibri"/>
              </a:rPr>
              <a:t>Use Deep </a:t>
            </a:r>
            <a:r>
              <a:rPr dirty="0" sz="3200" spc="-15">
                <a:solidFill>
                  <a:srgbClr val="D60093"/>
                </a:solidFill>
                <a:latin typeface="Calibri"/>
                <a:cs typeface="Calibri"/>
              </a:rPr>
              <a:t>Neural Networks</a:t>
            </a:r>
            <a:r>
              <a:rPr dirty="0" sz="3200" spc="-15">
                <a:latin typeface="Calibri"/>
                <a:cs typeface="Calibri"/>
              </a:rPr>
              <a:t>, </a:t>
            </a:r>
            <a:r>
              <a:rPr dirty="0" sz="3200">
                <a:latin typeface="Calibri"/>
                <a:cs typeface="Calibri"/>
              </a:rPr>
              <a:t>and </a:t>
            </a:r>
            <a:r>
              <a:rPr dirty="0" sz="3200" spc="-15">
                <a:latin typeface="Calibri"/>
                <a:cs typeface="Calibri"/>
              </a:rPr>
              <a:t>train </a:t>
            </a:r>
            <a:r>
              <a:rPr dirty="0" sz="3200">
                <a:latin typeface="Calibri"/>
                <a:cs typeface="Calibri"/>
              </a:rPr>
              <a:t>it  </a:t>
            </a:r>
            <a:r>
              <a:rPr dirty="0" sz="3200" spc="-5">
                <a:latin typeface="Calibri"/>
                <a:cs typeface="Calibri"/>
              </a:rPr>
              <a:t>using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20">
                <a:latin typeface="Calibri"/>
                <a:cs typeface="Calibri"/>
              </a:rPr>
              <a:t>data </a:t>
            </a:r>
            <a:r>
              <a:rPr dirty="0" sz="3200" spc="-15">
                <a:latin typeface="Calibri"/>
                <a:cs typeface="Calibri"/>
              </a:rPr>
              <a:t>we</a:t>
            </a:r>
            <a:r>
              <a:rPr dirty="0" sz="3200" spc="-20">
                <a:latin typeface="Calibri"/>
                <a:cs typeface="Calibri"/>
              </a:rPr>
              <a:t> have!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96188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65508" y="1946172"/>
            <a:ext cx="930910" cy="376555"/>
          </a:xfrm>
          <a:custGeom>
            <a:avLst/>
            <a:gdLst/>
            <a:ahLst/>
            <a:cxnLst/>
            <a:rect l="l" t="t" r="r" b="b"/>
            <a:pathLst>
              <a:path w="930910" h="376555">
                <a:moveTo>
                  <a:pt x="810489" y="0"/>
                </a:moveTo>
                <a:lnTo>
                  <a:pt x="805131" y="15279"/>
                </a:lnTo>
                <a:lnTo>
                  <a:pt x="826923" y="24736"/>
                </a:lnTo>
                <a:lnTo>
                  <a:pt x="845662" y="37826"/>
                </a:lnTo>
                <a:lnTo>
                  <a:pt x="873989" y="74909"/>
                </a:lnTo>
                <a:lnTo>
                  <a:pt x="890658" y="124940"/>
                </a:lnTo>
                <a:lnTo>
                  <a:pt x="896214" y="186331"/>
                </a:lnTo>
                <a:lnTo>
                  <a:pt x="894819" y="219533"/>
                </a:lnTo>
                <a:lnTo>
                  <a:pt x="883657" y="276782"/>
                </a:lnTo>
                <a:lnTo>
                  <a:pt x="861258" y="321493"/>
                </a:lnTo>
                <a:lnTo>
                  <a:pt x="827177" y="351655"/>
                </a:lnTo>
                <a:lnTo>
                  <a:pt x="805727" y="361156"/>
                </a:lnTo>
                <a:lnTo>
                  <a:pt x="810489" y="376435"/>
                </a:lnTo>
                <a:lnTo>
                  <a:pt x="861835" y="352349"/>
                </a:lnTo>
                <a:lnTo>
                  <a:pt x="899587" y="310653"/>
                </a:lnTo>
                <a:lnTo>
                  <a:pt x="922805" y="254818"/>
                </a:lnTo>
                <a:lnTo>
                  <a:pt x="930544" y="188316"/>
                </a:lnTo>
                <a:lnTo>
                  <a:pt x="928603" y="153807"/>
                </a:lnTo>
                <a:lnTo>
                  <a:pt x="913075" y="92638"/>
                </a:lnTo>
                <a:lnTo>
                  <a:pt x="882280" y="42843"/>
                </a:lnTo>
                <a:lnTo>
                  <a:pt x="837781" y="9853"/>
                </a:lnTo>
                <a:lnTo>
                  <a:pt x="810489" y="0"/>
                </a:lnTo>
                <a:close/>
              </a:path>
              <a:path w="930910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8366125" cy="14916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815"/>
              </a:lnSpc>
              <a:spcBef>
                <a:spcPts val="100"/>
              </a:spcBef>
            </a:pPr>
            <a:r>
              <a:rPr dirty="0" sz="3200" spc="-15">
                <a:solidFill>
                  <a:srgbClr val="D60093"/>
                </a:solidFill>
              </a:rPr>
              <a:t>Auto-regressive</a:t>
            </a:r>
            <a:r>
              <a:rPr dirty="0" sz="3200" spc="-20">
                <a:solidFill>
                  <a:srgbClr val="D60093"/>
                </a:solidFill>
              </a:rPr>
              <a:t> </a:t>
            </a:r>
            <a:r>
              <a:rPr dirty="0" sz="3200" spc="-5">
                <a:solidFill>
                  <a:srgbClr val="D60093"/>
                </a:solidFill>
              </a:rPr>
              <a:t>models:</a:t>
            </a:r>
            <a:endParaRPr sz="3200"/>
          </a:p>
          <a:p>
            <a:pPr marL="332740" marR="5080" indent="-320040">
              <a:lnSpc>
                <a:spcPts val="3910"/>
              </a:lnSpc>
              <a:spcBef>
                <a:spcPts val="4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  <a:tab pos="1680210" algn="l"/>
                <a:tab pos="2605405" algn="l"/>
              </a:tabLst>
            </a:pPr>
            <a:r>
              <a:rPr dirty="0" sz="3200" spc="0" b="0">
                <a:solidFill>
                  <a:srgbClr val="C00000"/>
                </a:solidFill>
                <a:latin typeface="Cambria Math"/>
                <a:cs typeface="Cambria Math"/>
              </a:rPr>
              <a:t>𝒑</a:t>
            </a:r>
            <a:r>
              <a:rPr dirty="0" baseline="-15700" sz="3450" spc="0" b="0">
                <a:solidFill>
                  <a:srgbClr val="C00000"/>
                </a:solidFill>
                <a:latin typeface="Cambria Math"/>
                <a:cs typeface="Cambria Math"/>
              </a:rPr>
              <a:t>𝒎𝒐𝒅𝒆𝒍	</a:t>
            </a:r>
            <a:r>
              <a:rPr dirty="0" sz="3200" b="0">
                <a:solidFill>
                  <a:srgbClr val="C00000"/>
                </a:solidFill>
                <a:latin typeface="Cambria Math"/>
                <a:cs typeface="Cambria Math"/>
              </a:rPr>
              <a:t>𝒙;</a:t>
            </a:r>
            <a:r>
              <a:rPr dirty="0" sz="3200" spc="-165" b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3200" b="0">
                <a:solidFill>
                  <a:srgbClr val="C00000"/>
                </a:solidFill>
                <a:latin typeface="Cambria Math"/>
                <a:cs typeface="Cambria Math"/>
              </a:rPr>
              <a:t>𝜽	</a:t>
            </a:r>
            <a:r>
              <a:rPr dirty="0" sz="3200" b="0">
                <a:latin typeface="Calibri"/>
                <a:cs typeface="Calibri"/>
              </a:rPr>
              <a:t>is </a:t>
            </a:r>
            <a:r>
              <a:rPr dirty="0" sz="3200" spc="-5" b="0">
                <a:latin typeface="Calibri"/>
                <a:cs typeface="Calibri"/>
              </a:rPr>
              <a:t>used </a:t>
            </a:r>
            <a:r>
              <a:rPr dirty="0" sz="3200" spc="-25" b="0">
                <a:latin typeface="Calibri"/>
                <a:cs typeface="Calibri"/>
              </a:rPr>
              <a:t>for</a:t>
            </a:r>
            <a:r>
              <a:rPr dirty="0" sz="3200" spc="-30" b="0">
                <a:latin typeface="Calibri"/>
                <a:cs typeface="Calibri"/>
              </a:rPr>
              <a:t> </a:t>
            </a:r>
            <a:r>
              <a:rPr dirty="0" sz="3200" spc="-5"/>
              <a:t>both</a:t>
            </a:r>
            <a:r>
              <a:rPr dirty="0" sz="3200" spc="-20"/>
              <a:t> </a:t>
            </a:r>
            <a:r>
              <a:rPr dirty="0" sz="3200" spc="-5">
                <a:solidFill>
                  <a:srgbClr val="C00000"/>
                </a:solidFill>
              </a:rPr>
              <a:t>density </a:t>
            </a:r>
            <a:r>
              <a:rPr dirty="0" sz="3200">
                <a:solidFill>
                  <a:srgbClr val="C00000"/>
                </a:solidFill>
              </a:rPr>
              <a:t> </a:t>
            </a:r>
            <a:r>
              <a:rPr dirty="0" sz="3200" spc="-10">
                <a:solidFill>
                  <a:srgbClr val="C00000"/>
                </a:solidFill>
              </a:rPr>
              <a:t>estimation </a:t>
            </a:r>
            <a:r>
              <a:rPr dirty="0" sz="3200" spc="-5"/>
              <a:t>and </a:t>
            </a:r>
            <a:r>
              <a:rPr dirty="0" sz="3200" spc="-5">
                <a:solidFill>
                  <a:srgbClr val="C00000"/>
                </a:solidFill>
              </a:rPr>
              <a:t>sampling </a:t>
            </a:r>
            <a:r>
              <a:rPr dirty="0" sz="2800" spc="-10" b="0">
                <a:solidFill>
                  <a:srgbClr val="7F7F7F"/>
                </a:solidFill>
                <a:latin typeface="Calibri"/>
                <a:cs typeface="Calibri"/>
              </a:rPr>
              <a:t>(remember </a:t>
            </a:r>
            <a:r>
              <a:rPr dirty="0" sz="2800" spc="-5" b="0">
                <a:solidFill>
                  <a:srgbClr val="7F7F7F"/>
                </a:solidFill>
                <a:latin typeface="Calibri"/>
                <a:cs typeface="Calibri"/>
              </a:rPr>
              <a:t>our </a:t>
            </a:r>
            <a:r>
              <a:rPr dirty="0" sz="2800" spc="-15" b="0">
                <a:solidFill>
                  <a:srgbClr val="7F7F7F"/>
                </a:solidFill>
                <a:latin typeface="Calibri"/>
                <a:cs typeface="Calibri"/>
              </a:rPr>
              <a:t>two </a:t>
            </a:r>
            <a:r>
              <a:rPr dirty="0" sz="2800" spc="-10" b="0">
                <a:solidFill>
                  <a:srgbClr val="7F7F7F"/>
                </a:solidFill>
                <a:latin typeface="Calibri"/>
                <a:cs typeface="Calibri"/>
              </a:rPr>
              <a:t>goals)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45414" y="4778138"/>
            <a:ext cx="688340" cy="282575"/>
          </a:xfrm>
          <a:custGeom>
            <a:avLst/>
            <a:gdLst/>
            <a:ahLst/>
            <a:cxnLst/>
            <a:rect l="l" t="t" r="r" b="b"/>
            <a:pathLst>
              <a:path w="688339" h="282575">
                <a:moveTo>
                  <a:pt x="597754" y="0"/>
                </a:moveTo>
                <a:lnTo>
                  <a:pt x="593736" y="11459"/>
                </a:lnTo>
                <a:lnTo>
                  <a:pt x="610079" y="18552"/>
                </a:lnTo>
                <a:lnTo>
                  <a:pt x="624134" y="28370"/>
                </a:lnTo>
                <a:lnTo>
                  <a:pt x="652672" y="73878"/>
                </a:lnTo>
                <a:lnTo>
                  <a:pt x="661006" y="115662"/>
                </a:lnTo>
                <a:lnTo>
                  <a:pt x="662048" y="139749"/>
                </a:lnTo>
                <a:lnTo>
                  <a:pt x="661001" y="164650"/>
                </a:lnTo>
                <a:lnTo>
                  <a:pt x="652629" y="207587"/>
                </a:lnTo>
                <a:lnTo>
                  <a:pt x="624152" y="253826"/>
                </a:lnTo>
                <a:lnTo>
                  <a:pt x="594182" y="270866"/>
                </a:lnTo>
                <a:lnTo>
                  <a:pt x="597754" y="282327"/>
                </a:lnTo>
                <a:lnTo>
                  <a:pt x="636264" y="264263"/>
                </a:lnTo>
                <a:lnTo>
                  <a:pt x="664578" y="232990"/>
                </a:lnTo>
                <a:lnTo>
                  <a:pt x="681991" y="191113"/>
                </a:lnTo>
                <a:lnTo>
                  <a:pt x="687795" y="141237"/>
                </a:lnTo>
                <a:lnTo>
                  <a:pt x="686339" y="115355"/>
                </a:lnTo>
                <a:lnTo>
                  <a:pt x="674694" y="69479"/>
                </a:lnTo>
                <a:lnTo>
                  <a:pt x="651598" y="32133"/>
                </a:lnTo>
                <a:lnTo>
                  <a:pt x="618222" y="7390"/>
                </a:lnTo>
                <a:lnTo>
                  <a:pt x="597754" y="0"/>
                </a:lnTo>
                <a:close/>
              </a:path>
              <a:path w="688339" h="282575">
                <a:moveTo>
                  <a:pt x="90040" y="0"/>
                </a:moveTo>
                <a:lnTo>
                  <a:pt x="51624" y="18101"/>
                </a:lnTo>
                <a:lnTo>
                  <a:pt x="23290" y="49485"/>
                </a:lnTo>
                <a:lnTo>
                  <a:pt x="5822" y="91436"/>
                </a:lnTo>
                <a:lnTo>
                  <a:pt x="0" y="141237"/>
                </a:lnTo>
                <a:lnTo>
                  <a:pt x="1450" y="167175"/>
                </a:lnTo>
                <a:lnTo>
                  <a:pt x="13059" y="213051"/>
                </a:lnTo>
                <a:lnTo>
                  <a:pt x="36099" y="250277"/>
                </a:lnTo>
                <a:lnTo>
                  <a:pt x="69511" y="274946"/>
                </a:lnTo>
                <a:lnTo>
                  <a:pt x="90040" y="282327"/>
                </a:lnTo>
                <a:lnTo>
                  <a:pt x="93612" y="270866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3" y="164650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8"/>
                </a:lnTo>
                <a:lnTo>
                  <a:pt x="63754" y="28370"/>
                </a:lnTo>
                <a:lnTo>
                  <a:pt x="94058" y="11459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844420" y="4751323"/>
            <a:ext cx="14928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1574" sz="3600" spc="97">
                <a:latin typeface="Cambria Math"/>
                <a:cs typeface="Cambria Math"/>
              </a:rPr>
              <a:t>𝑝</a:t>
            </a:r>
            <a:r>
              <a:rPr dirty="0" sz="1800" spc="65">
                <a:latin typeface="Cambria Math"/>
                <a:cs typeface="Cambria Math"/>
              </a:rPr>
              <a:t>!"#$%  </a:t>
            </a:r>
            <a:r>
              <a:rPr dirty="0" baseline="11574" sz="3600">
                <a:latin typeface="Cambria Math"/>
                <a:cs typeface="Cambria Math"/>
              </a:rPr>
              <a:t>𝒙;</a:t>
            </a:r>
            <a:r>
              <a:rPr dirty="0" baseline="11574" sz="3600" spc="-434">
                <a:latin typeface="Cambria Math"/>
                <a:cs typeface="Cambria Math"/>
              </a:rPr>
              <a:t> </a:t>
            </a:r>
            <a:r>
              <a:rPr dirty="0" baseline="11574" sz="3600">
                <a:latin typeface="Cambria Math"/>
                <a:cs typeface="Cambria Math"/>
              </a:rPr>
              <a:t>𝜃</a:t>
            </a:r>
            <a:endParaRPr baseline="11574" sz="36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11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956563" y="2873755"/>
            <a:ext cx="7734300" cy="173863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771525" marR="5080" indent="-182880">
              <a:lnSpc>
                <a:spcPct val="101099"/>
              </a:lnSpc>
              <a:spcBef>
                <a:spcPts val="75"/>
              </a:spcBef>
              <a:buClr>
                <a:srgbClr val="6BB76D"/>
              </a:buClr>
              <a:buFont typeface="Malgun Gothic"/>
              <a:buChar char="▪"/>
              <a:tabLst>
                <a:tab pos="771525" algn="l"/>
              </a:tabLst>
            </a:pPr>
            <a:r>
              <a:rPr dirty="0" sz="1800" spc="-5">
                <a:latin typeface="Calibri"/>
                <a:cs typeface="Calibri"/>
              </a:rPr>
              <a:t>Other models </a:t>
            </a:r>
            <a:r>
              <a:rPr dirty="0" sz="1800" spc="-20">
                <a:latin typeface="Calibri"/>
                <a:cs typeface="Calibri"/>
              </a:rPr>
              <a:t>like </a:t>
            </a:r>
            <a:r>
              <a:rPr dirty="0" sz="1800" spc="-15">
                <a:latin typeface="Calibri"/>
                <a:cs typeface="Calibri"/>
              </a:rPr>
              <a:t>Variational </a:t>
            </a:r>
            <a:r>
              <a:rPr dirty="0" sz="1800" spc="-10">
                <a:latin typeface="Calibri"/>
                <a:cs typeface="Calibri"/>
              </a:rPr>
              <a:t>Auto Encoders </a:t>
            </a:r>
            <a:r>
              <a:rPr dirty="0" sz="1800" spc="-15">
                <a:latin typeface="Calibri"/>
                <a:cs typeface="Calibri"/>
              </a:rPr>
              <a:t>(VAEs), </a:t>
            </a:r>
            <a:r>
              <a:rPr dirty="0" sz="1800" spc="-10">
                <a:latin typeface="Calibri"/>
                <a:cs typeface="Calibri"/>
              </a:rPr>
              <a:t>Generative </a:t>
            </a:r>
            <a:r>
              <a:rPr dirty="0" sz="1800" spc="-35">
                <a:latin typeface="Calibri"/>
                <a:cs typeface="Calibri"/>
              </a:rPr>
              <a:t>Adversarial  </a:t>
            </a:r>
            <a:r>
              <a:rPr dirty="0" sz="1800" spc="-5">
                <a:latin typeface="Calibri"/>
                <a:cs typeface="Calibri"/>
              </a:rPr>
              <a:t>Nets (GANs) </a:t>
            </a:r>
            <a:r>
              <a:rPr dirty="0" sz="1800" spc="-15">
                <a:latin typeface="Calibri"/>
                <a:cs typeface="Calibri"/>
              </a:rPr>
              <a:t>have </a:t>
            </a:r>
            <a:r>
              <a:rPr dirty="0" sz="1800">
                <a:latin typeface="Calibri"/>
                <a:cs typeface="Calibri"/>
              </a:rPr>
              <a:t>2 or </a:t>
            </a:r>
            <a:r>
              <a:rPr dirty="0" sz="1800" spc="-10">
                <a:latin typeface="Calibri"/>
                <a:cs typeface="Calibri"/>
              </a:rPr>
              <a:t>more </a:t>
            </a:r>
            <a:r>
              <a:rPr dirty="0" sz="1800" spc="-5">
                <a:latin typeface="Calibri"/>
                <a:cs typeface="Calibri"/>
              </a:rPr>
              <a:t>models, </a:t>
            </a:r>
            <a:r>
              <a:rPr dirty="0" sz="1800">
                <a:latin typeface="Calibri"/>
                <a:cs typeface="Calibri"/>
              </a:rPr>
              <a:t>each </a:t>
            </a:r>
            <a:r>
              <a:rPr dirty="0" sz="1800" spc="-10">
                <a:latin typeface="Calibri"/>
                <a:cs typeface="Calibri"/>
              </a:rPr>
              <a:t>playing </a:t>
            </a:r>
            <a:r>
              <a:rPr dirty="0" sz="1800">
                <a:latin typeface="Calibri"/>
                <a:cs typeface="Calibri"/>
              </a:rPr>
              <a:t>one of </a:t>
            </a:r>
            <a:r>
              <a:rPr dirty="0" sz="1800" spc="-5">
                <a:latin typeface="Calibri"/>
                <a:cs typeface="Calibri"/>
              </a:rPr>
              <a:t>the</a:t>
            </a:r>
            <a:r>
              <a:rPr dirty="0" sz="1800" spc="114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roles</a:t>
            </a:r>
            <a:endParaRPr sz="1800">
              <a:latin typeface="Calibri"/>
              <a:cs typeface="Calibri"/>
            </a:endParaRPr>
          </a:p>
          <a:p>
            <a:pPr marL="287020" marR="351790" indent="-274320">
              <a:lnSpc>
                <a:spcPts val="3290"/>
              </a:lnSpc>
              <a:spcBef>
                <a:spcPts val="819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 b="1">
                <a:solidFill>
                  <a:srgbClr val="0000FF"/>
                </a:solidFill>
                <a:latin typeface="Calibri"/>
                <a:cs typeface="Calibri"/>
              </a:rPr>
              <a:t>Idea: Chain rule. </a:t>
            </a:r>
            <a:r>
              <a:rPr dirty="0" sz="2800" spc="-10">
                <a:latin typeface="Calibri"/>
                <a:cs typeface="Calibri"/>
              </a:rPr>
              <a:t>Joint </a:t>
            </a:r>
            <a:r>
              <a:rPr dirty="0" sz="2800" spc="-5">
                <a:latin typeface="Calibri"/>
                <a:cs typeface="Calibri"/>
              </a:rPr>
              <a:t>distribution is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0">
                <a:latin typeface="Calibri"/>
                <a:cs typeface="Calibri"/>
              </a:rPr>
              <a:t>product </a:t>
            </a:r>
            <a:r>
              <a:rPr dirty="0" sz="2800" spc="-295">
                <a:latin typeface="Calibri"/>
                <a:cs typeface="Calibri"/>
              </a:rPr>
              <a:t>of  </a:t>
            </a:r>
            <a:r>
              <a:rPr dirty="0" sz="2800" spc="-5">
                <a:latin typeface="Calibri"/>
                <a:cs typeface="Calibri"/>
              </a:rPr>
              <a:t>conditional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distributions:</a:t>
            </a:r>
            <a:endParaRPr sz="2800">
              <a:latin typeface="Calibri"/>
              <a:cs typeface="Calibri"/>
            </a:endParaRPr>
          </a:p>
          <a:p>
            <a:pPr algn="ctr" marR="1466850">
              <a:lnSpc>
                <a:spcPts val="1739"/>
              </a:lnSpc>
            </a:pPr>
            <a:r>
              <a:rPr dirty="0" sz="1800" spc="415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31933" y="4553203"/>
            <a:ext cx="4012565" cy="900430"/>
          </a:xfrm>
          <a:prstGeom prst="rect">
            <a:avLst/>
          </a:prstGeom>
        </p:spPr>
        <p:txBody>
          <a:bodyPr wrap="square" lIns="0" tIns="146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10">
                <a:latin typeface="Cambria Math"/>
                <a:cs typeface="Cambria Math"/>
              </a:rPr>
              <a:t> </a:t>
            </a:r>
            <a:r>
              <a:rPr dirty="0" sz="2400" spc="2835">
                <a:latin typeface="Cambria Math"/>
                <a:cs typeface="Cambria Math"/>
              </a:rPr>
              <a:t>'</a:t>
            </a:r>
            <a:r>
              <a:rPr dirty="0" sz="2400" spc="-140">
                <a:latin typeface="Cambria Math"/>
                <a:cs typeface="Cambria Math"/>
              </a:rPr>
              <a:t> </a:t>
            </a:r>
            <a:r>
              <a:rPr dirty="0" sz="2400" spc="25">
                <a:latin typeface="Cambria Math"/>
                <a:cs typeface="Cambria Math"/>
              </a:rPr>
              <a:t>𝑝</a:t>
            </a:r>
            <a:r>
              <a:rPr dirty="0" baseline="-15432" sz="2700" spc="37">
                <a:latin typeface="Cambria Math"/>
                <a:cs typeface="Cambria Math"/>
              </a:rPr>
              <a:t>!"#$%</a:t>
            </a:r>
            <a:r>
              <a:rPr dirty="0" sz="2400" spc="25">
                <a:latin typeface="Cambria Math"/>
                <a:cs typeface="Cambria Math"/>
              </a:rPr>
              <a:t>(𝑥</a:t>
            </a:r>
            <a:r>
              <a:rPr dirty="0" baseline="-15432" sz="2700" spc="37">
                <a:latin typeface="Cambria Math"/>
                <a:cs typeface="Cambria Math"/>
              </a:rPr>
              <a:t>&amp;</a:t>
            </a:r>
            <a:r>
              <a:rPr dirty="0" sz="2400" spc="25">
                <a:latin typeface="Cambria Math"/>
                <a:cs typeface="Cambria Math"/>
              </a:rPr>
              <a:t>|𝑥</a:t>
            </a:r>
            <a:r>
              <a:rPr dirty="0" baseline="-15432" sz="2700" spc="37">
                <a:latin typeface="Cambria Math"/>
                <a:cs typeface="Cambria Math"/>
              </a:rPr>
              <a:t>(</a:t>
            </a:r>
            <a:r>
              <a:rPr dirty="0" sz="2400" spc="25">
                <a:latin typeface="Cambria Math"/>
                <a:cs typeface="Cambria Math"/>
              </a:rPr>
              <a:t>,</a:t>
            </a:r>
            <a:r>
              <a:rPr dirty="0" sz="2400" spc="-14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…</a:t>
            </a:r>
            <a:r>
              <a:rPr dirty="0" sz="2400" spc="-14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145">
                <a:latin typeface="Cambria Math"/>
                <a:cs typeface="Cambria Math"/>
              </a:rPr>
              <a:t> </a:t>
            </a:r>
            <a:r>
              <a:rPr dirty="0" sz="2400" spc="75">
                <a:latin typeface="Cambria Math"/>
                <a:cs typeface="Cambria Math"/>
              </a:rPr>
              <a:t>𝑥</a:t>
            </a:r>
            <a:r>
              <a:rPr dirty="0" baseline="-15432" sz="2700" spc="112">
                <a:latin typeface="Cambria Math"/>
                <a:cs typeface="Cambria Math"/>
              </a:rPr>
              <a:t>&amp;*(</a:t>
            </a:r>
            <a:r>
              <a:rPr dirty="0" sz="2400" spc="75">
                <a:latin typeface="Cambria Math"/>
                <a:cs typeface="Cambria Math"/>
              </a:rPr>
              <a:t>;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25">
                <a:latin typeface="Cambria Math"/>
                <a:cs typeface="Cambria Math"/>
              </a:rPr>
              <a:t>𝜃)</a:t>
            </a:r>
            <a:endParaRPr sz="2400">
              <a:latin typeface="Cambria Math"/>
              <a:cs typeface="Cambria Math"/>
            </a:endParaRPr>
          </a:p>
          <a:p>
            <a:pPr marL="356235">
              <a:lnSpc>
                <a:spcPct val="100000"/>
              </a:lnSpc>
              <a:spcBef>
                <a:spcPts val="790"/>
              </a:spcBef>
            </a:pPr>
            <a:r>
              <a:rPr dirty="0" sz="1800" spc="235">
                <a:latin typeface="Cambria Math"/>
                <a:cs typeface="Cambria Math"/>
              </a:rPr>
              <a:t>&amp;'(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67713" y="5437123"/>
            <a:ext cx="7503159" cy="1193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ts val="2845"/>
              </a:lnSpc>
              <a:spcBef>
                <a:spcPts val="100"/>
              </a:spcBef>
              <a:buClr>
                <a:srgbClr val="E66C7D"/>
              </a:buClr>
              <a:buFont typeface="Malgun Gothic"/>
              <a:buChar char="▪"/>
              <a:tabLst>
                <a:tab pos="241300" algn="l"/>
              </a:tabLst>
            </a:pPr>
            <a:r>
              <a:rPr dirty="0" sz="2400">
                <a:latin typeface="Calibri"/>
                <a:cs typeface="Calibri"/>
              </a:rPr>
              <a:t>E.g., </a:t>
            </a:r>
            <a:r>
              <a:rPr dirty="0" sz="2400">
                <a:latin typeface="Cambria Math"/>
                <a:cs typeface="Cambria Math"/>
              </a:rPr>
              <a:t>𝒙 </a:t>
            </a:r>
            <a:r>
              <a:rPr dirty="0" sz="2400" spc="-5">
                <a:latin typeface="Calibri"/>
                <a:cs typeface="Calibri"/>
              </a:rPr>
              <a:t>is </a:t>
            </a:r>
            <a:r>
              <a:rPr dirty="0" sz="2400">
                <a:latin typeface="Calibri"/>
                <a:cs typeface="Calibri"/>
              </a:rPr>
              <a:t>a </a:t>
            </a:r>
            <a:r>
              <a:rPr dirty="0" sz="2400" spc="-40">
                <a:latin typeface="Calibri"/>
                <a:cs typeface="Calibri"/>
              </a:rPr>
              <a:t>vector, </a:t>
            </a:r>
            <a:r>
              <a:rPr dirty="0" sz="2400" spc="-240">
                <a:latin typeface="Cambria Math"/>
                <a:cs typeface="Cambria Math"/>
              </a:rPr>
              <a:t>𝑥</a:t>
            </a:r>
            <a:r>
              <a:rPr dirty="0" baseline="-15432" sz="2700" spc="-359">
                <a:latin typeface="Cambria Math"/>
                <a:cs typeface="Cambria Math"/>
              </a:rPr>
              <a:t>&amp;   </a:t>
            </a:r>
            <a:r>
              <a:rPr dirty="0" sz="2400" spc="-5">
                <a:latin typeface="Calibri"/>
                <a:cs typeface="Calibri"/>
              </a:rPr>
              <a:t>is the </a:t>
            </a:r>
            <a:r>
              <a:rPr dirty="0" sz="2400" spc="5">
                <a:latin typeface="Cambria Math"/>
                <a:cs typeface="Cambria Math"/>
              </a:rPr>
              <a:t>𝑡</a:t>
            </a:r>
            <a:r>
              <a:rPr dirty="0" sz="2400" spc="5">
                <a:latin typeface="Calibri"/>
                <a:cs typeface="Calibri"/>
              </a:rPr>
              <a:t>-th</a:t>
            </a:r>
            <a:r>
              <a:rPr dirty="0" sz="2400" spc="3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dimension;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845"/>
              </a:lnSpc>
            </a:pPr>
            <a:r>
              <a:rPr dirty="0" sz="2400">
                <a:latin typeface="Cambria Math"/>
                <a:cs typeface="Cambria Math"/>
              </a:rPr>
              <a:t>𝒙 </a:t>
            </a:r>
            <a:r>
              <a:rPr dirty="0" sz="2400" spc="-5">
                <a:latin typeface="Calibri"/>
                <a:cs typeface="Calibri"/>
              </a:rPr>
              <a:t>is </a:t>
            </a:r>
            <a:r>
              <a:rPr dirty="0" sz="2400">
                <a:latin typeface="Calibri"/>
                <a:cs typeface="Calibri"/>
              </a:rPr>
              <a:t>a </a:t>
            </a:r>
            <a:r>
              <a:rPr dirty="0" sz="2400" spc="-10">
                <a:latin typeface="Calibri"/>
                <a:cs typeface="Calibri"/>
              </a:rPr>
              <a:t>sentence, </a:t>
            </a:r>
            <a:r>
              <a:rPr dirty="0" sz="2400" spc="-240">
                <a:latin typeface="Cambria Math"/>
                <a:cs typeface="Cambria Math"/>
              </a:rPr>
              <a:t>𝑥</a:t>
            </a:r>
            <a:r>
              <a:rPr dirty="0" baseline="-15432" sz="2700" spc="-359">
                <a:latin typeface="Cambria Math"/>
                <a:cs typeface="Cambria Math"/>
              </a:rPr>
              <a:t>&amp;   </a:t>
            </a:r>
            <a:r>
              <a:rPr dirty="0" sz="2400" spc="-5">
                <a:latin typeface="Calibri"/>
                <a:cs typeface="Calibri"/>
              </a:rPr>
              <a:t>is the </a:t>
            </a:r>
            <a:r>
              <a:rPr dirty="0" sz="2400" spc="5">
                <a:latin typeface="Cambria Math"/>
                <a:cs typeface="Cambria Math"/>
              </a:rPr>
              <a:t>𝑡</a:t>
            </a:r>
            <a:r>
              <a:rPr dirty="0" sz="2400" spc="5">
                <a:latin typeface="Calibri"/>
                <a:cs typeface="Calibri"/>
              </a:rPr>
              <a:t>-th </a:t>
            </a:r>
            <a:r>
              <a:rPr dirty="0" sz="2400" spc="-15">
                <a:latin typeface="Calibri"/>
                <a:cs typeface="Calibri"/>
              </a:rPr>
              <a:t>word.</a:t>
            </a:r>
            <a:endParaRPr sz="2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Clr>
                <a:srgbClr val="E66C7D"/>
              </a:buClr>
              <a:buFont typeface="Malgun Gothic"/>
              <a:buChar char="▪"/>
              <a:tabLst>
                <a:tab pos="241300" algn="l"/>
              </a:tabLst>
            </a:pPr>
            <a:r>
              <a:rPr dirty="0" sz="2400" spc="-5" b="1">
                <a:solidFill>
                  <a:srgbClr val="0000FF"/>
                </a:solidFill>
                <a:latin typeface="Calibri"/>
                <a:cs typeface="Calibri"/>
              </a:rPr>
              <a:t>In our case: </a:t>
            </a:r>
            <a:r>
              <a:rPr dirty="0" sz="2400" spc="-240">
                <a:solidFill>
                  <a:srgbClr val="FF0066"/>
                </a:solidFill>
                <a:latin typeface="Cambria Math"/>
                <a:cs typeface="Cambria Math"/>
              </a:rPr>
              <a:t>𝑥</a:t>
            </a:r>
            <a:r>
              <a:rPr dirty="0" baseline="-15432" sz="2700" spc="-359">
                <a:solidFill>
                  <a:srgbClr val="FF0066"/>
                </a:solidFill>
                <a:latin typeface="Cambria Math"/>
                <a:cs typeface="Cambria Math"/>
              </a:rPr>
              <a:t>&amp;   </a:t>
            </a:r>
            <a:r>
              <a:rPr dirty="0" sz="2400" spc="-5">
                <a:solidFill>
                  <a:srgbClr val="FF0066"/>
                </a:solidFill>
                <a:latin typeface="Calibri"/>
                <a:cs typeface="Calibri"/>
              </a:rPr>
              <a:t>will </a:t>
            </a:r>
            <a:r>
              <a:rPr dirty="0" sz="2400">
                <a:solidFill>
                  <a:srgbClr val="FF0066"/>
                </a:solidFill>
                <a:latin typeface="Calibri"/>
                <a:cs typeface="Calibri"/>
              </a:rPr>
              <a:t>be </a:t>
            </a:r>
            <a:r>
              <a:rPr dirty="0" sz="2400" spc="-5">
                <a:solidFill>
                  <a:srgbClr val="FF0066"/>
                </a:solidFill>
                <a:latin typeface="Calibri"/>
                <a:cs typeface="Calibri"/>
              </a:rPr>
              <a:t>the </a:t>
            </a:r>
            <a:r>
              <a:rPr dirty="0" sz="2400" spc="5">
                <a:solidFill>
                  <a:srgbClr val="FF0066"/>
                </a:solidFill>
                <a:latin typeface="Cambria Math"/>
                <a:cs typeface="Cambria Math"/>
              </a:rPr>
              <a:t>𝑡</a:t>
            </a:r>
            <a:r>
              <a:rPr dirty="0" sz="2400" spc="5">
                <a:solidFill>
                  <a:srgbClr val="FF0066"/>
                </a:solidFill>
                <a:latin typeface="Calibri"/>
                <a:cs typeface="Calibri"/>
              </a:rPr>
              <a:t>-th </a:t>
            </a:r>
            <a:r>
              <a:rPr dirty="0" sz="2400" spc="-5">
                <a:solidFill>
                  <a:srgbClr val="FF0066"/>
                </a:solidFill>
                <a:latin typeface="Calibri"/>
                <a:cs typeface="Calibri"/>
              </a:rPr>
              <a:t>action (add node, </a:t>
            </a:r>
            <a:r>
              <a:rPr dirty="0" sz="2400">
                <a:solidFill>
                  <a:srgbClr val="FF0066"/>
                </a:solidFill>
                <a:latin typeface="Calibri"/>
                <a:cs typeface="Calibri"/>
              </a:rPr>
              <a:t>add</a:t>
            </a:r>
            <a:r>
              <a:rPr dirty="0" sz="2400" spc="35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dirty="0" sz="2400" spc="-60">
                <a:solidFill>
                  <a:srgbClr val="FF0066"/>
                </a:solidFill>
                <a:latin typeface="Calibri"/>
                <a:cs typeface="Calibri"/>
              </a:rPr>
              <a:t>edge)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98576" y="2392679"/>
            <a:ext cx="7080504" cy="20238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383438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9363" y="1229868"/>
            <a:ext cx="7074534" cy="998219"/>
          </a:xfrm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 marR="5080">
              <a:lnSpc>
                <a:spcPts val="3820"/>
              </a:lnSpc>
              <a:spcBef>
                <a:spcPts val="240"/>
              </a:spcBef>
            </a:pPr>
            <a:r>
              <a:rPr dirty="0" sz="3200" spc="-15">
                <a:solidFill>
                  <a:srgbClr val="C00000"/>
                </a:solidFill>
              </a:rPr>
              <a:t>Generating </a:t>
            </a:r>
            <a:r>
              <a:rPr dirty="0" sz="3200" spc="-20">
                <a:solidFill>
                  <a:srgbClr val="C00000"/>
                </a:solidFill>
              </a:rPr>
              <a:t>graphs </a:t>
            </a:r>
            <a:r>
              <a:rPr dirty="0" sz="3200" spc="-5">
                <a:solidFill>
                  <a:srgbClr val="C00000"/>
                </a:solidFill>
              </a:rPr>
              <a:t>via </a:t>
            </a:r>
            <a:r>
              <a:rPr dirty="0" sz="3200" spc="-10">
                <a:solidFill>
                  <a:srgbClr val="C00000"/>
                </a:solidFill>
              </a:rPr>
              <a:t>sequentially adding  </a:t>
            </a:r>
            <a:r>
              <a:rPr dirty="0" sz="3200" spc="-5">
                <a:solidFill>
                  <a:srgbClr val="C00000"/>
                </a:solidFill>
              </a:rPr>
              <a:t>nodes and</a:t>
            </a:r>
            <a:r>
              <a:rPr dirty="0" sz="3200" spc="-70">
                <a:solidFill>
                  <a:srgbClr val="C00000"/>
                </a:solidFill>
              </a:rPr>
              <a:t> </a:t>
            </a:r>
            <a:r>
              <a:rPr dirty="0" sz="3200" spc="-10">
                <a:solidFill>
                  <a:srgbClr val="C00000"/>
                </a:solidFill>
              </a:rPr>
              <a:t>edges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6902937" y="0"/>
            <a:ext cx="21412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0">
                <a:solidFill>
                  <a:srgbClr val="FFFFFF"/>
                </a:solidFill>
                <a:latin typeface="Corbel"/>
                <a:cs typeface="Corbel"/>
              </a:rPr>
              <a:t>[You </a:t>
            </a:r>
            <a:r>
              <a:rPr dirty="0" sz="1800">
                <a:solidFill>
                  <a:srgbClr val="FFFFFF"/>
                </a:solidFill>
                <a:latin typeface="Corbel"/>
                <a:cs typeface="Corbel"/>
              </a:rPr>
              <a:t>et </a:t>
            </a:r>
            <a:r>
              <a:rPr dirty="0" sz="1800" spc="-5">
                <a:solidFill>
                  <a:srgbClr val="FFFFFF"/>
                </a:solidFill>
                <a:latin typeface="Corbel"/>
                <a:cs typeface="Corbel"/>
              </a:rPr>
              <a:t>al., ICML</a:t>
            </a:r>
            <a:r>
              <a:rPr dirty="0" sz="1800" spc="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orbel"/>
                <a:cs typeface="Corbel"/>
              </a:rPr>
              <a:t>2018]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9768" y="4646781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45017" y="4635500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89408" y="4650273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689408" y="548305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872288" y="5016035"/>
            <a:ext cx="0" cy="467359"/>
          </a:xfrm>
          <a:custGeom>
            <a:avLst/>
            <a:gdLst/>
            <a:ahLst/>
            <a:cxnLst/>
            <a:rect l="l" t="t" r="r" b="b"/>
            <a:pathLst>
              <a:path w="0" h="467360">
                <a:moveTo>
                  <a:pt x="0" y="0"/>
                </a:moveTo>
                <a:lnTo>
                  <a:pt x="1" y="467017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719900" y="464223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719900" y="5475009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774657" y="4638547"/>
            <a:ext cx="1225550" cy="1223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42669" algn="l"/>
              </a:tabLst>
            </a:pPr>
            <a:r>
              <a:rPr dirty="0" sz="2400" spc="-5">
                <a:latin typeface="Arial"/>
                <a:cs typeface="Arial"/>
              </a:rPr>
              <a:t>1</a:t>
            </a:r>
            <a:r>
              <a:rPr dirty="0" sz="2400" spc="-5">
                <a:latin typeface="Arial"/>
                <a:cs typeface="Arial"/>
              </a:rPr>
              <a:t>	</a:t>
            </a:r>
            <a:r>
              <a:rPr dirty="0" baseline="1157" sz="3600" spc="-7">
                <a:latin typeface="Arial"/>
                <a:cs typeface="Arial"/>
              </a:rPr>
              <a:t>1</a:t>
            </a:r>
            <a:endParaRPr baseline="1157" sz="3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1042669" algn="l"/>
              </a:tabLst>
            </a:pP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	</a:t>
            </a:r>
            <a:r>
              <a:rPr dirty="0" baseline="1157" sz="3600" spc="-7">
                <a:latin typeface="Arial"/>
                <a:cs typeface="Arial"/>
              </a:rPr>
              <a:t>2</a:t>
            </a:r>
            <a:endParaRPr baseline="1157" sz="36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703055" y="4633963"/>
            <a:ext cx="384810" cy="383540"/>
          </a:xfrm>
          <a:custGeom>
            <a:avLst/>
            <a:gdLst/>
            <a:ahLst/>
            <a:cxnLst/>
            <a:rect l="l" t="t" r="r" b="b"/>
            <a:pathLst>
              <a:path w="384810" h="383539">
                <a:moveTo>
                  <a:pt x="211571" y="0"/>
                </a:moveTo>
                <a:lnTo>
                  <a:pt x="172257" y="0"/>
                </a:lnTo>
                <a:lnTo>
                  <a:pt x="134736" y="7619"/>
                </a:lnTo>
                <a:lnTo>
                  <a:pt x="84438" y="33019"/>
                </a:lnTo>
                <a:lnTo>
                  <a:pt x="43646" y="69850"/>
                </a:lnTo>
                <a:lnTo>
                  <a:pt x="14940" y="116839"/>
                </a:lnTo>
                <a:lnTo>
                  <a:pt x="3812" y="153669"/>
                </a:lnTo>
                <a:lnTo>
                  <a:pt x="0" y="191769"/>
                </a:lnTo>
                <a:lnTo>
                  <a:pt x="1041" y="212089"/>
                </a:lnTo>
                <a:lnTo>
                  <a:pt x="15303" y="266700"/>
                </a:lnTo>
                <a:lnTo>
                  <a:pt x="44225" y="314959"/>
                </a:lnTo>
                <a:lnTo>
                  <a:pt x="85197" y="351789"/>
                </a:lnTo>
                <a:lnTo>
                  <a:pt x="135638" y="375919"/>
                </a:lnTo>
                <a:lnTo>
                  <a:pt x="173214" y="383539"/>
                </a:lnTo>
                <a:lnTo>
                  <a:pt x="212528" y="383539"/>
                </a:lnTo>
                <a:lnTo>
                  <a:pt x="250050" y="375919"/>
                </a:lnTo>
                <a:lnTo>
                  <a:pt x="255937" y="373379"/>
                </a:lnTo>
                <a:lnTo>
                  <a:pt x="192297" y="373379"/>
                </a:lnTo>
                <a:lnTo>
                  <a:pt x="173790" y="372109"/>
                </a:lnTo>
                <a:lnTo>
                  <a:pt x="121862" y="358139"/>
                </a:lnTo>
                <a:lnTo>
                  <a:pt x="77204" y="331469"/>
                </a:lnTo>
                <a:lnTo>
                  <a:pt x="42271" y="293369"/>
                </a:lnTo>
                <a:lnTo>
                  <a:pt x="19523" y="245109"/>
                </a:lnTo>
                <a:lnTo>
                  <a:pt x="11416" y="191769"/>
                </a:lnTo>
                <a:lnTo>
                  <a:pt x="12359" y="172719"/>
                </a:lnTo>
                <a:lnTo>
                  <a:pt x="25673" y="120650"/>
                </a:lnTo>
                <a:lnTo>
                  <a:pt x="52798" y="76200"/>
                </a:lnTo>
                <a:lnTo>
                  <a:pt x="91283" y="41909"/>
                </a:lnTo>
                <a:lnTo>
                  <a:pt x="138664" y="19050"/>
                </a:lnTo>
                <a:lnTo>
                  <a:pt x="173982" y="11429"/>
                </a:lnTo>
                <a:lnTo>
                  <a:pt x="259770" y="11429"/>
                </a:lnTo>
                <a:lnTo>
                  <a:pt x="249147" y="7619"/>
                </a:lnTo>
                <a:lnTo>
                  <a:pt x="211571" y="0"/>
                </a:lnTo>
                <a:close/>
              </a:path>
              <a:path w="384810" h="383539">
                <a:moveTo>
                  <a:pt x="259770" y="11429"/>
                </a:moveTo>
                <a:lnTo>
                  <a:pt x="210995" y="11429"/>
                </a:lnTo>
                <a:lnTo>
                  <a:pt x="228961" y="13969"/>
                </a:lnTo>
                <a:lnTo>
                  <a:pt x="246301" y="19050"/>
                </a:lnTo>
                <a:lnTo>
                  <a:pt x="293653" y="41909"/>
                </a:lnTo>
                <a:lnTo>
                  <a:pt x="332102" y="76200"/>
                </a:lnTo>
                <a:lnTo>
                  <a:pt x="359185" y="121919"/>
                </a:lnTo>
                <a:lnTo>
                  <a:pt x="372445" y="173989"/>
                </a:lnTo>
                <a:lnTo>
                  <a:pt x="373369" y="191769"/>
                </a:lnTo>
                <a:lnTo>
                  <a:pt x="372426" y="210819"/>
                </a:lnTo>
                <a:lnTo>
                  <a:pt x="359112" y="262889"/>
                </a:lnTo>
                <a:lnTo>
                  <a:pt x="331986" y="307339"/>
                </a:lnTo>
                <a:lnTo>
                  <a:pt x="293502" y="341629"/>
                </a:lnTo>
                <a:lnTo>
                  <a:pt x="246120" y="364489"/>
                </a:lnTo>
                <a:lnTo>
                  <a:pt x="192297" y="373379"/>
                </a:lnTo>
                <a:lnTo>
                  <a:pt x="255937" y="373379"/>
                </a:lnTo>
                <a:lnTo>
                  <a:pt x="300347" y="350519"/>
                </a:lnTo>
                <a:lnTo>
                  <a:pt x="341139" y="313689"/>
                </a:lnTo>
                <a:lnTo>
                  <a:pt x="369845" y="266700"/>
                </a:lnTo>
                <a:lnTo>
                  <a:pt x="380973" y="229869"/>
                </a:lnTo>
                <a:lnTo>
                  <a:pt x="384785" y="191769"/>
                </a:lnTo>
                <a:lnTo>
                  <a:pt x="383744" y="171450"/>
                </a:lnTo>
                <a:lnTo>
                  <a:pt x="369482" y="116839"/>
                </a:lnTo>
                <a:lnTo>
                  <a:pt x="340560" y="68579"/>
                </a:lnTo>
                <a:lnTo>
                  <a:pt x="299587" y="31750"/>
                </a:lnTo>
                <a:lnTo>
                  <a:pt x="266852" y="13969"/>
                </a:lnTo>
                <a:lnTo>
                  <a:pt x="259770" y="11429"/>
                </a:lnTo>
                <a:close/>
              </a:path>
              <a:path w="384810" h="383539">
                <a:moveTo>
                  <a:pt x="210803" y="15239"/>
                </a:moveTo>
                <a:lnTo>
                  <a:pt x="174556" y="15239"/>
                </a:lnTo>
                <a:lnTo>
                  <a:pt x="156959" y="17779"/>
                </a:lnTo>
                <a:lnTo>
                  <a:pt x="108188" y="35559"/>
                </a:lnTo>
                <a:lnTo>
                  <a:pt x="67306" y="66039"/>
                </a:lnTo>
                <a:lnTo>
                  <a:pt x="36734" y="106679"/>
                </a:lnTo>
                <a:lnTo>
                  <a:pt x="18878" y="156209"/>
                </a:lnTo>
                <a:lnTo>
                  <a:pt x="15220" y="191769"/>
                </a:lnTo>
                <a:lnTo>
                  <a:pt x="16106" y="209550"/>
                </a:lnTo>
                <a:lnTo>
                  <a:pt x="29033" y="260350"/>
                </a:lnTo>
                <a:lnTo>
                  <a:pt x="55502" y="304800"/>
                </a:lnTo>
                <a:lnTo>
                  <a:pt x="93110" y="339089"/>
                </a:lnTo>
                <a:lnTo>
                  <a:pt x="139433" y="360679"/>
                </a:lnTo>
                <a:lnTo>
                  <a:pt x="192105" y="369569"/>
                </a:lnTo>
                <a:lnTo>
                  <a:pt x="210229" y="368300"/>
                </a:lnTo>
                <a:lnTo>
                  <a:pt x="227826" y="365759"/>
                </a:lnTo>
                <a:lnTo>
                  <a:pt x="191912" y="365759"/>
                </a:lnTo>
                <a:lnTo>
                  <a:pt x="174175" y="364489"/>
                </a:lnTo>
                <a:lnTo>
                  <a:pt x="124481" y="351789"/>
                </a:lnTo>
                <a:lnTo>
                  <a:pt x="81768" y="325119"/>
                </a:lnTo>
                <a:lnTo>
                  <a:pt x="48374" y="288289"/>
                </a:lnTo>
                <a:lnTo>
                  <a:pt x="26680" y="242569"/>
                </a:lnTo>
                <a:lnTo>
                  <a:pt x="19025" y="191769"/>
                </a:lnTo>
                <a:lnTo>
                  <a:pt x="19969" y="173989"/>
                </a:lnTo>
                <a:lnTo>
                  <a:pt x="32829" y="124459"/>
                </a:lnTo>
                <a:lnTo>
                  <a:pt x="58902" y="81279"/>
                </a:lnTo>
                <a:lnTo>
                  <a:pt x="95846" y="48259"/>
                </a:lnTo>
                <a:lnTo>
                  <a:pt x="141283" y="26669"/>
                </a:lnTo>
                <a:lnTo>
                  <a:pt x="192873" y="17779"/>
                </a:lnTo>
                <a:lnTo>
                  <a:pt x="228387" y="17779"/>
                </a:lnTo>
                <a:lnTo>
                  <a:pt x="210803" y="15239"/>
                </a:lnTo>
                <a:close/>
              </a:path>
              <a:path w="384810" h="383539">
                <a:moveTo>
                  <a:pt x="228387" y="17779"/>
                </a:moveTo>
                <a:lnTo>
                  <a:pt x="192873" y="17779"/>
                </a:lnTo>
                <a:lnTo>
                  <a:pt x="210610" y="19050"/>
                </a:lnTo>
                <a:lnTo>
                  <a:pt x="227812" y="21589"/>
                </a:lnTo>
                <a:lnTo>
                  <a:pt x="275431" y="39369"/>
                </a:lnTo>
                <a:lnTo>
                  <a:pt x="315302" y="69850"/>
                </a:lnTo>
                <a:lnTo>
                  <a:pt x="345060" y="109219"/>
                </a:lnTo>
                <a:lnTo>
                  <a:pt x="362332" y="157479"/>
                </a:lnTo>
                <a:lnTo>
                  <a:pt x="365760" y="191769"/>
                </a:lnTo>
                <a:lnTo>
                  <a:pt x="364816" y="209550"/>
                </a:lnTo>
                <a:lnTo>
                  <a:pt x="351956" y="259079"/>
                </a:lnTo>
                <a:lnTo>
                  <a:pt x="325884" y="302259"/>
                </a:lnTo>
                <a:lnTo>
                  <a:pt x="288938" y="335279"/>
                </a:lnTo>
                <a:lnTo>
                  <a:pt x="243502" y="356869"/>
                </a:lnTo>
                <a:lnTo>
                  <a:pt x="191912" y="365759"/>
                </a:lnTo>
                <a:lnTo>
                  <a:pt x="227826" y="365759"/>
                </a:lnTo>
                <a:lnTo>
                  <a:pt x="276597" y="347979"/>
                </a:lnTo>
                <a:lnTo>
                  <a:pt x="317479" y="317500"/>
                </a:lnTo>
                <a:lnTo>
                  <a:pt x="348051" y="276859"/>
                </a:lnTo>
                <a:lnTo>
                  <a:pt x="365907" y="227329"/>
                </a:lnTo>
                <a:lnTo>
                  <a:pt x="369564" y="191769"/>
                </a:lnTo>
                <a:lnTo>
                  <a:pt x="368679" y="173989"/>
                </a:lnTo>
                <a:lnTo>
                  <a:pt x="355752" y="123189"/>
                </a:lnTo>
                <a:lnTo>
                  <a:pt x="329283" y="78739"/>
                </a:lnTo>
                <a:lnTo>
                  <a:pt x="291675" y="44450"/>
                </a:lnTo>
                <a:lnTo>
                  <a:pt x="245352" y="22859"/>
                </a:lnTo>
                <a:lnTo>
                  <a:pt x="228387" y="1777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902780" y="5007992"/>
            <a:ext cx="0" cy="467359"/>
          </a:xfrm>
          <a:custGeom>
            <a:avLst/>
            <a:gdLst/>
            <a:ahLst/>
            <a:cxnLst/>
            <a:rect l="l" t="t" r="r" b="b"/>
            <a:pathLst>
              <a:path w="0" h="467360">
                <a:moveTo>
                  <a:pt x="0" y="0"/>
                </a:moveTo>
                <a:lnTo>
                  <a:pt x="1" y="467017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85660" y="4825110"/>
            <a:ext cx="627380" cy="0"/>
          </a:xfrm>
          <a:custGeom>
            <a:avLst/>
            <a:gdLst/>
            <a:ahLst/>
            <a:cxnLst/>
            <a:rect l="l" t="t" r="r" b="b"/>
            <a:pathLst>
              <a:path w="627379" h="0">
                <a:moveTo>
                  <a:pt x="0" y="0"/>
                </a:moveTo>
                <a:lnTo>
                  <a:pt x="626909" y="1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676729" y="4645573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676729" y="547835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669398" y="547835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042489" y="5657432"/>
            <a:ext cx="627380" cy="0"/>
          </a:xfrm>
          <a:custGeom>
            <a:avLst/>
            <a:gdLst/>
            <a:ahLst/>
            <a:cxnLst/>
            <a:rect l="l" t="t" r="r" b="b"/>
            <a:pathLst>
              <a:path w="627379" h="0">
                <a:moveTo>
                  <a:pt x="0" y="0"/>
                </a:moveTo>
                <a:lnTo>
                  <a:pt x="626909" y="1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659884" y="4637307"/>
            <a:ext cx="384810" cy="383540"/>
          </a:xfrm>
          <a:custGeom>
            <a:avLst/>
            <a:gdLst/>
            <a:ahLst/>
            <a:cxnLst/>
            <a:rect l="l" t="t" r="r" b="b"/>
            <a:pathLst>
              <a:path w="384810" h="383539">
                <a:moveTo>
                  <a:pt x="211571" y="0"/>
                </a:moveTo>
                <a:lnTo>
                  <a:pt x="172257" y="0"/>
                </a:lnTo>
                <a:lnTo>
                  <a:pt x="134736" y="7620"/>
                </a:lnTo>
                <a:lnTo>
                  <a:pt x="84439" y="33020"/>
                </a:lnTo>
                <a:lnTo>
                  <a:pt x="43646" y="69850"/>
                </a:lnTo>
                <a:lnTo>
                  <a:pt x="14940" y="116840"/>
                </a:lnTo>
                <a:lnTo>
                  <a:pt x="3812" y="153670"/>
                </a:lnTo>
                <a:lnTo>
                  <a:pt x="0" y="191770"/>
                </a:lnTo>
                <a:lnTo>
                  <a:pt x="1041" y="212090"/>
                </a:lnTo>
                <a:lnTo>
                  <a:pt x="15303" y="266700"/>
                </a:lnTo>
                <a:lnTo>
                  <a:pt x="44225" y="314960"/>
                </a:lnTo>
                <a:lnTo>
                  <a:pt x="85197" y="351790"/>
                </a:lnTo>
                <a:lnTo>
                  <a:pt x="135638" y="375920"/>
                </a:lnTo>
                <a:lnTo>
                  <a:pt x="173214" y="383540"/>
                </a:lnTo>
                <a:lnTo>
                  <a:pt x="212528" y="383540"/>
                </a:lnTo>
                <a:lnTo>
                  <a:pt x="250050" y="375920"/>
                </a:lnTo>
                <a:lnTo>
                  <a:pt x="255937" y="373380"/>
                </a:lnTo>
                <a:lnTo>
                  <a:pt x="192297" y="373380"/>
                </a:lnTo>
                <a:lnTo>
                  <a:pt x="173790" y="372110"/>
                </a:lnTo>
                <a:lnTo>
                  <a:pt x="121862" y="358140"/>
                </a:lnTo>
                <a:lnTo>
                  <a:pt x="77205" y="331470"/>
                </a:lnTo>
                <a:lnTo>
                  <a:pt x="42271" y="293370"/>
                </a:lnTo>
                <a:lnTo>
                  <a:pt x="19523" y="245110"/>
                </a:lnTo>
                <a:lnTo>
                  <a:pt x="11416" y="191770"/>
                </a:lnTo>
                <a:lnTo>
                  <a:pt x="12359" y="172720"/>
                </a:lnTo>
                <a:lnTo>
                  <a:pt x="25674" y="120650"/>
                </a:lnTo>
                <a:lnTo>
                  <a:pt x="52800" y="76200"/>
                </a:lnTo>
                <a:lnTo>
                  <a:pt x="91283" y="41910"/>
                </a:lnTo>
                <a:lnTo>
                  <a:pt x="138664" y="19050"/>
                </a:lnTo>
                <a:lnTo>
                  <a:pt x="173982" y="11430"/>
                </a:lnTo>
                <a:lnTo>
                  <a:pt x="259770" y="11430"/>
                </a:lnTo>
                <a:lnTo>
                  <a:pt x="249148" y="7620"/>
                </a:lnTo>
                <a:lnTo>
                  <a:pt x="211571" y="0"/>
                </a:lnTo>
                <a:close/>
              </a:path>
              <a:path w="384810" h="383539">
                <a:moveTo>
                  <a:pt x="259770" y="11430"/>
                </a:moveTo>
                <a:lnTo>
                  <a:pt x="210995" y="11430"/>
                </a:lnTo>
                <a:lnTo>
                  <a:pt x="228961" y="13970"/>
                </a:lnTo>
                <a:lnTo>
                  <a:pt x="246301" y="19050"/>
                </a:lnTo>
                <a:lnTo>
                  <a:pt x="293654" y="41910"/>
                </a:lnTo>
                <a:lnTo>
                  <a:pt x="332102" y="76200"/>
                </a:lnTo>
                <a:lnTo>
                  <a:pt x="359185" y="121920"/>
                </a:lnTo>
                <a:lnTo>
                  <a:pt x="372445" y="173990"/>
                </a:lnTo>
                <a:lnTo>
                  <a:pt x="373371" y="191770"/>
                </a:lnTo>
                <a:lnTo>
                  <a:pt x="372426" y="210820"/>
                </a:lnTo>
                <a:lnTo>
                  <a:pt x="359112" y="262890"/>
                </a:lnTo>
                <a:lnTo>
                  <a:pt x="331986" y="307340"/>
                </a:lnTo>
                <a:lnTo>
                  <a:pt x="293502" y="341630"/>
                </a:lnTo>
                <a:lnTo>
                  <a:pt x="246120" y="364490"/>
                </a:lnTo>
                <a:lnTo>
                  <a:pt x="192297" y="373380"/>
                </a:lnTo>
                <a:lnTo>
                  <a:pt x="255937" y="373380"/>
                </a:lnTo>
                <a:lnTo>
                  <a:pt x="300347" y="350520"/>
                </a:lnTo>
                <a:lnTo>
                  <a:pt x="341141" y="313690"/>
                </a:lnTo>
                <a:lnTo>
                  <a:pt x="369846" y="266700"/>
                </a:lnTo>
                <a:lnTo>
                  <a:pt x="380973" y="229870"/>
                </a:lnTo>
                <a:lnTo>
                  <a:pt x="384785" y="191770"/>
                </a:lnTo>
                <a:lnTo>
                  <a:pt x="383744" y="171450"/>
                </a:lnTo>
                <a:lnTo>
                  <a:pt x="369482" y="116840"/>
                </a:lnTo>
                <a:lnTo>
                  <a:pt x="340560" y="68580"/>
                </a:lnTo>
                <a:lnTo>
                  <a:pt x="299589" y="31750"/>
                </a:lnTo>
                <a:lnTo>
                  <a:pt x="266852" y="13970"/>
                </a:lnTo>
                <a:lnTo>
                  <a:pt x="259770" y="11430"/>
                </a:lnTo>
                <a:close/>
              </a:path>
              <a:path w="384810" h="383539">
                <a:moveTo>
                  <a:pt x="210803" y="15240"/>
                </a:moveTo>
                <a:lnTo>
                  <a:pt x="174557" y="15240"/>
                </a:lnTo>
                <a:lnTo>
                  <a:pt x="156959" y="17780"/>
                </a:lnTo>
                <a:lnTo>
                  <a:pt x="108188" y="35560"/>
                </a:lnTo>
                <a:lnTo>
                  <a:pt x="67307" y="66040"/>
                </a:lnTo>
                <a:lnTo>
                  <a:pt x="36734" y="106680"/>
                </a:lnTo>
                <a:lnTo>
                  <a:pt x="18878" y="156210"/>
                </a:lnTo>
                <a:lnTo>
                  <a:pt x="15220" y="191770"/>
                </a:lnTo>
                <a:lnTo>
                  <a:pt x="16107" y="209550"/>
                </a:lnTo>
                <a:lnTo>
                  <a:pt x="29033" y="260350"/>
                </a:lnTo>
                <a:lnTo>
                  <a:pt x="55502" y="304800"/>
                </a:lnTo>
                <a:lnTo>
                  <a:pt x="93110" y="339090"/>
                </a:lnTo>
                <a:lnTo>
                  <a:pt x="139433" y="360680"/>
                </a:lnTo>
                <a:lnTo>
                  <a:pt x="192105" y="369570"/>
                </a:lnTo>
                <a:lnTo>
                  <a:pt x="210229" y="368300"/>
                </a:lnTo>
                <a:lnTo>
                  <a:pt x="227826" y="365760"/>
                </a:lnTo>
                <a:lnTo>
                  <a:pt x="191913" y="365760"/>
                </a:lnTo>
                <a:lnTo>
                  <a:pt x="174175" y="364490"/>
                </a:lnTo>
                <a:lnTo>
                  <a:pt x="124481" y="351790"/>
                </a:lnTo>
                <a:lnTo>
                  <a:pt x="81768" y="325120"/>
                </a:lnTo>
                <a:lnTo>
                  <a:pt x="48374" y="288290"/>
                </a:lnTo>
                <a:lnTo>
                  <a:pt x="26680" y="242570"/>
                </a:lnTo>
                <a:lnTo>
                  <a:pt x="19025" y="191770"/>
                </a:lnTo>
                <a:lnTo>
                  <a:pt x="19970" y="173990"/>
                </a:lnTo>
                <a:lnTo>
                  <a:pt x="32829" y="124460"/>
                </a:lnTo>
                <a:lnTo>
                  <a:pt x="58902" y="81280"/>
                </a:lnTo>
                <a:lnTo>
                  <a:pt x="95846" y="48260"/>
                </a:lnTo>
                <a:lnTo>
                  <a:pt x="141283" y="26670"/>
                </a:lnTo>
                <a:lnTo>
                  <a:pt x="175131" y="19050"/>
                </a:lnTo>
                <a:lnTo>
                  <a:pt x="232629" y="19050"/>
                </a:lnTo>
                <a:lnTo>
                  <a:pt x="228387" y="17780"/>
                </a:lnTo>
                <a:lnTo>
                  <a:pt x="210803" y="15240"/>
                </a:lnTo>
                <a:close/>
              </a:path>
              <a:path w="384810" h="383539">
                <a:moveTo>
                  <a:pt x="232629" y="19050"/>
                </a:moveTo>
                <a:lnTo>
                  <a:pt x="210611" y="19050"/>
                </a:lnTo>
                <a:lnTo>
                  <a:pt x="227812" y="21590"/>
                </a:lnTo>
                <a:lnTo>
                  <a:pt x="244403" y="26670"/>
                </a:lnTo>
                <a:lnTo>
                  <a:pt x="289697" y="48260"/>
                </a:lnTo>
                <a:lnTo>
                  <a:pt x="326463" y="81280"/>
                </a:lnTo>
                <a:lnTo>
                  <a:pt x="352320" y="124460"/>
                </a:lnTo>
                <a:lnTo>
                  <a:pt x="364912" y="173990"/>
                </a:lnTo>
                <a:lnTo>
                  <a:pt x="365760" y="191770"/>
                </a:lnTo>
                <a:lnTo>
                  <a:pt x="364816" y="209550"/>
                </a:lnTo>
                <a:lnTo>
                  <a:pt x="351956" y="259080"/>
                </a:lnTo>
                <a:lnTo>
                  <a:pt x="325884" y="302260"/>
                </a:lnTo>
                <a:lnTo>
                  <a:pt x="288938" y="335280"/>
                </a:lnTo>
                <a:lnTo>
                  <a:pt x="243502" y="356870"/>
                </a:lnTo>
                <a:lnTo>
                  <a:pt x="191913" y="365760"/>
                </a:lnTo>
                <a:lnTo>
                  <a:pt x="227826" y="365760"/>
                </a:lnTo>
                <a:lnTo>
                  <a:pt x="276597" y="347980"/>
                </a:lnTo>
                <a:lnTo>
                  <a:pt x="317479" y="317500"/>
                </a:lnTo>
                <a:lnTo>
                  <a:pt x="348052" y="276860"/>
                </a:lnTo>
                <a:lnTo>
                  <a:pt x="365908" y="227330"/>
                </a:lnTo>
                <a:lnTo>
                  <a:pt x="369564" y="191770"/>
                </a:lnTo>
                <a:lnTo>
                  <a:pt x="368679" y="173990"/>
                </a:lnTo>
                <a:lnTo>
                  <a:pt x="355752" y="123190"/>
                </a:lnTo>
                <a:lnTo>
                  <a:pt x="329283" y="78740"/>
                </a:lnTo>
                <a:lnTo>
                  <a:pt x="291675" y="44450"/>
                </a:lnTo>
                <a:lnTo>
                  <a:pt x="245352" y="22860"/>
                </a:lnTo>
                <a:lnTo>
                  <a:pt x="232629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859609" y="5011334"/>
            <a:ext cx="0" cy="467359"/>
          </a:xfrm>
          <a:custGeom>
            <a:avLst/>
            <a:gdLst/>
            <a:ahLst/>
            <a:cxnLst/>
            <a:rect l="l" t="t" r="r" b="b"/>
            <a:pathLst>
              <a:path w="0" h="467360">
                <a:moveTo>
                  <a:pt x="0" y="0"/>
                </a:moveTo>
                <a:lnTo>
                  <a:pt x="1" y="467017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042489" y="4828453"/>
            <a:ext cx="627380" cy="0"/>
          </a:xfrm>
          <a:custGeom>
            <a:avLst/>
            <a:gdLst/>
            <a:ahLst/>
            <a:cxnLst/>
            <a:rect l="l" t="t" r="r" b="b"/>
            <a:pathLst>
              <a:path w="627379" h="0">
                <a:moveTo>
                  <a:pt x="0" y="0"/>
                </a:moveTo>
                <a:lnTo>
                  <a:pt x="626909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852278" y="5011334"/>
            <a:ext cx="0" cy="467359"/>
          </a:xfrm>
          <a:custGeom>
            <a:avLst/>
            <a:gdLst/>
            <a:ahLst/>
            <a:cxnLst/>
            <a:rect l="l" t="t" r="r" b="b"/>
            <a:pathLst>
              <a:path w="0" h="467360">
                <a:moveTo>
                  <a:pt x="0" y="0"/>
                </a:moveTo>
                <a:lnTo>
                  <a:pt x="1" y="467017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707670" y="4649027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707670" y="548180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700339" y="548180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073430" y="566088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79" h="0">
                <a:moveTo>
                  <a:pt x="0" y="0"/>
                </a:moveTo>
                <a:lnTo>
                  <a:pt x="626909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690825" y="4640760"/>
            <a:ext cx="384810" cy="383540"/>
          </a:xfrm>
          <a:custGeom>
            <a:avLst/>
            <a:gdLst/>
            <a:ahLst/>
            <a:cxnLst/>
            <a:rect l="l" t="t" r="r" b="b"/>
            <a:pathLst>
              <a:path w="384809" h="383539">
                <a:moveTo>
                  <a:pt x="211571" y="0"/>
                </a:moveTo>
                <a:lnTo>
                  <a:pt x="172257" y="0"/>
                </a:lnTo>
                <a:lnTo>
                  <a:pt x="134736" y="7619"/>
                </a:lnTo>
                <a:lnTo>
                  <a:pt x="84439" y="33019"/>
                </a:lnTo>
                <a:lnTo>
                  <a:pt x="43646" y="69849"/>
                </a:lnTo>
                <a:lnTo>
                  <a:pt x="14940" y="116839"/>
                </a:lnTo>
                <a:lnTo>
                  <a:pt x="3812" y="153669"/>
                </a:lnTo>
                <a:lnTo>
                  <a:pt x="0" y="191769"/>
                </a:lnTo>
                <a:lnTo>
                  <a:pt x="1041" y="212089"/>
                </a:lnTo>
                <a:lnTo>
                  <a:pt x="15303" y="266699"/>
                </a:lnTo>
                <a:lnTo>
                  <a:pt x="44225" y="314959"/>
                </a:lnTo>
                <a:lnTo>
                  <a:pt x="85197" y="351789"/>
                </a:lnTo>
                <a:lnTo>
                  <a:pt x="135638" y="375919"/>
                </a:lnTo>
                <a:lnTo>
                  <a:pt x="173214" y="383539"/>
                </a:lnTo>
                <a:lnTo>
                  <a:pt x="212529" y="383539"/>
                </a:lnTo>
                <a:lnTo>
                  <a:pt x="250050" y="375919"/>
                </a:lnTo>
                <a:lnTo>
                  <a:pt x="255937" y="373379"/>
                </a:lnTo>
                <a:lnTo>
                  <a:pt x="192297" y="373379"/>
                </a:lnTo>
                <a:lnTo>
                  <a:pt x="173790" y="372109"/>
                </a:lnTo>
                <a:lnTo>
                  <a:pt x="121862" y="358139"/>
                </a:lnTo>
                <a:lnTo>
                  <a:pt x="77205" y="331469"/>
                </a:lnTo>
                <a:lnTo>
                  <a:pt x="42271" y="293369"/>
                </a:lnTo>
                <a:lnTo>
                  <a:pt x="19523" y="245109"/>
                </a:lnTo>
                <a:lnTo>
                  <a:pt x="11416" y="191769"/>
                </a:lnTo>
                <a:lnTo>
                  <a:pt x="12359" y="172719"/>
                </a:lnTo>
                <a:lnTo>
                  <a:pt x="25674" y="120649"/>
                </a:lnTo>
                <a:lnTo>
                  <a:pt x="52800" y="76199"/>
                </a:lnTo>
                <a:lnTo>
                  <a:pt x="91283" y="41909"/>
                </a:lnTo>
                <a:lnTo>
                  <a:pt x="138664" y="19049"/>
                </a:lnTo>
                <a:lnTo>
                  <a:pt x="173982" y="11429"/>
                </a:lnTo>
                <a:lnTo>
                  <a:pt x="259770" y="11429"/>
                </a:lnTo>
                <a:lnTo>
                  <a:pt x="249148" y="7619"/>
                </a:lnTo>
                <a:lnTo>
                  <a:pt x="211571" y="0"/>
                </a:lnTo>
                <a:close/>
              </a:path>
              <a:path w="384809" h="383539">
                <a:moveTo>
                  <a:pt x="259770" y="11429"/>
                </a:moveTo>
                <a:lnTo>
                  <a:pt x="210995" y="11429"/>
                </a:lnTo>
                <a:lnTo>
                  <a:pt x="228963" y="13969"/>
                </a:lnTo>
                <a:lnTo>
                  <a:pt x="246301" y="19049"/>
                </a:lnTo>
                <a:lnTo>
                  <a:pt x="293654" y="41909"/>
                </a:lnTo>
                <a:lnTo>
                  <a:pt x="332102" y="76199"/>
                </a:lnTo>
                <a:lnTo>
                  <a:pt x="359185" y="121919"/>
                </a:lnTo>
                <a:lnTo>
                  <a:pt x="372446" y="173989"/>
                </a:lnTo>
                <a:lnTo>
                  <a:pt x="373371" y="191769"/>
                </a:lnTo>
                <a:lnTo>
                  <a:pt x="372426" y="210819"/>
                </a:lnTo>
                <a:lnTo>
                  <a:pt x="359112" y="262889"/>
                </a:lnTo>
                <a:lnTo>
                  <a:pt x="331986" y="307339"/>
                </a:lnTo>
                <a:lnTo>
                  <a:pt x="293502" y="341629"/>
                </a:lnTo>
                <a:lnTo>
                  <a:pt x="246120" y="364489"/>
                </a:lnTo>
                <a:lnTo>
                  <a:pt x="192297" y="373379"/>
                </a:lnTo>
                <a:lnTo>
                  <a:pt x="255937" y="373379"/>
                </a:lnTo>
                <a:lnTo>
                  <a:pt x="300347" y="350519"/>
                </a:lnTo>
                <a:lnTo>
                  <a:pt x="341141" y="313689"/>
                </a:lnTo>
                <a:lnTo>
                  <a:pt x="369846" y="266699"/>
                </a:lnTo>
                <a:lnTo>
                  <a:pt x="380973" y="229869"/>
                </a:lnTo>
                <a:lnTo>
                  <a:pt x="384785" y="191769"/>
                </a:lnTo>
                <a:lnTo>
                  <a:pt x="383745" y="171449"/>
                </a:lnTo>
                <a:lnTo>
                  <a:pt x="369482" y="116839"/>
                </a:lnTo>
                <a:lnTo>
                  <a:pt x="340560" y="68579"/>
                </a:lnTo>
                <a:lnTo>
                  <a:pt x="299589" y="31749"/>
                </a:lnTo>
                <a:lnTo>
                  <a:pt x="266852" y="13969"/>
                </a:lnTo>
                <a:lnTo>
                  <a:pt x="259770" y="11429"/>
                </a:lnTo>
                <a:close/>
              </a:path>
              <a:path w="384809" h="383539">
                <a:moveTo>
                  <a:pt x="210803" y="15239"/>
                </a:moveTo>
                <a:lnTo>
                  <a:pt x="174557" y="15239"/>
                </a:lnTo>
                <a:lnTo>
                  <a:pt x="156959" y="17779"/>
                </a:lnTo>
                <a:lnTo>
                  <a:pt x="108188" y="35559"/>
                </a:lnTo>
                <a:lnTo>
                  <a:pt x="67307" y="66039"/>
                </a:lnTo>
                <a:lnTo>
                  <a:pt x="36734" y="106679"/>
                </a:lnTo>
                <a:lnTo>
                  <a:pt x="18878" y="156209"/>
                </a:lnTo>
                <a:lnTo>
                  <a:pt x="15220" y="191769"/>
                </a:lnTo>
                <a:lnTo>
                  <a:pt x="16107" y="209549"/>
                </a:lnTo>
                <a:lnTo>
                  <a:pt x="29033" y="260349"/>
                </a:lnTo>
                <a:lnTo>
                  <a:pt x="55504" y="304799"/>
                </a:lnTo>
                <a:lnTo>
                  <a:pt x="93111" y="339089"/>
                </a:lnTo>
                <a:lnTo>
                  <a:pt x="139433" y="360679"/>
                </a:lnTo>
                <a:lnTo>
                  <a:pt x="192105" y="369569"/>
                </a:lnTo>
                <a:lnTo>
                  <a:pt x="210229" y="368299"/>
                </a:lnTo>
                <a:lnTo>
                  <a:pt x="227826" y="365759"/>
                </a:lnTo>
                <a:lnTo>
                  <a:pt x="191913" y="365759"/>
                </a:lnTo>
                <a:lnTo>
                  <a:pt x="174175" y="364489"/>
                </a:lnTo>
                <a:lnTo>
                  <a:pt x="124481" y="351789"/>
                </a:lnTo>
                <a:lnTo>
                  <a:pt x="81768" y="325119"/>
                </a:lnTo>
                <a:lnTo>
                  <a:pt x="48374" y="288289"/>
                </a:lnTo>
                <a:lnTo>
                  <a:pt x="26680" y="242569"/>
                </a:lnTo>
                <a:lnTo>
                  <a:pt x="19025" y="191769"/>
                </a:lnTo>
                <a:lnTo>
                  <a:pt x="19970" y="173989"/>
                </a:lnTo>
                <a:lnTo>
                  <a:pt x="32829" y="124459"/>
                </a:lnTo>
                <a:lnTo>
                  <a:pt x="58902" y="81279"/>
                </a:lnTo>
                <a:lnTo>
                  <a:pt x="95848" y="48259"/>
                </a:lnTo>
                <a:lnTo>
                  <a:pt x="141283" y="26669"/>
                </a:lnTo>
                <a:lnTo>
                  <a:pt x="192873" y="17779"/>
                </a:lnTo>
                <a:lnTo>
                  <a:pt x="228387" y="17779"/>
                </a:lnTo>
                <a:lnTo>
                  <a:pt x="210803" y="15239"/>
                </a:lnTo>
                <a:close/>
              </a:path>
              <a:path w="384809" h="383539">
                <a:moveTo>
                  <a:pt x="228387" y="17779"/>
                </a:moveTo>
                <a:lnTo>
                  <a:pt x="192873" y="17779"/>
                </a:lnTo>
                <a:lnTo>
                  <a:pt x="210611" y="19049"/>
                </a:lnTo>
                <a:lnTo>
                  <a:pt x="227812" y="21589"/>
                </a:lnTo>
                <a:lnTo>
                  <a:pt x="275431" y="39369"/>
                </a:lnTo>
                <a:lnTo>
                  <a:pt x="315302" y="69849"/>
                </a:lnTo>
                <a:lnTo>
                  <a:pt x="345060" y="109219"/>
                </a:lnTo>
                <a:lnTo>
                  <a:pt x="362333" y="157479"/>
                </a:lnTo>
                <a:lnTo>
                  <a:pt x="365759" y="191769"/>
                </a:lnTo>
                <a:lnTo>
                  <a:pt x="364816" y="209549"/>
                </a:lnTo>
                <a:lnTo>
                  <a:pt x="351957" y="259079"/>
                </a:lnTo>
                <a:lnTo>
                  <a:pt x="325884" y="302259"/>
                </a:lnTo>
                <a:lnTo>
                  <a:pt x="288938" y="335279"/>
                </a:lnTo>
                <a:lnTo>
                  <a:pt x="243502" y="356869"/>
                </a:lnTo>
                <a:lnTo>
                  <a:pt x="191913" y="365759"/>
                </a:lnTo>
                <a:lnTo>
                  <a:pt x="227826" y="365759"/>
                </a:lnTo>
                <a:lnTo>
                  <a:pt x="276597" y="347979"/>
                </a:lnTo>
                <a:lnTo>
                  <a:pt x="317479" y="317499"/>
                </a:lnTo>
                <a:lnTo>
                  <a:pt x="348052" y="276859"/>
                </a:lnTo>
                <a:lnTo>
                  <a:pt x="365908" y="227329"/>
                </a:lnTo>
                <a:lnTo>
                  <a:pt x="369566" y="191769"/>
                </a:lnTo>
                <a:lnTo>
                  <a:pt x="368679" y="173989"/>
                </a:lnTo>
                <a:lnTo>
                  <a:pt x="355752" y="123189"/>
                </a:lnTo>
                <a:lnTo>
                  <a:pt x="329283" y="78739"/>
                </a:lnTo>
                <a:lnTo>
                  <a:pt x="291675" y="44449"/>
                </a:lnTo>
                <a:lnTo>
                  <a:pt x="245352" y="22859"/>
                </a:lnTo>
                <a:lnTo>
                  <a:pt x="228387" y="177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3797817" y="4635500"/>
            <a:ext cx="4182745" cy="1223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76630" algn="l"/>
                <a:tab pos="1969135" algn="l"/>
                <a:tab pos="3007360" algn="l"/>
                <a:tab pos="3999865" algn="l"/>
              </a:tabLst>
            </a:pPr>
            <a:r>
              <a:rPr dirty="0" baseline="1157" sz="3600" spc="-7">
                <a:solidFill>
                  <a:srgbClr val="C00000"/>
                </a:solidFill>
                <a:latin typeface="Arial"/>
                <a:cs typeface="Arial"/>
              </a:rPr>
              <a:t>3</a:t>
            </a:r>
            <a:r>
              <a:rPr dirty="0" baseline="1157" sz="3600" spc="-7">
                <a:solidFill>
                  <a:srgbClr val="C00000"/>
                </a:solidFill>
                <a:latin typeface="Arial"/>
                <a:cs typeface="Arial"/>
              </a:rPr>
              <a:t>	</a:t>
            </a:r>
            <a:r>
              <a:rPr dirty="0" sz="2400" spc="-5">
                <a:latin typeface="Arial"/>
                <a:cs typeface="Arial"/>
              </a:rPr>
              <a:t>1</a:t>
            </a:r>
            <a:r>
              <a:rPr dirty="0" sz="2400" spc="-5">
                <a:latin typeface="Arial"/>
                <a:cs typeface="Arial"/>
              </a:rPr>
              <a:t>	</a:t>
            </a:r>
            <a:r>
              <a:rPr dirty="0" sz="2400" spc="-5">
                <a:latin typeface="Arial"/>
                <a:cs typeface="Arial"/>
              </a:rPr>
              <a:t>3</a:t>
            </a:r>
            <a:r>
              <a:rPr dirty="0" sz="2400" spc="-5">
                <a:latin typeface="Arial"/>
                <a:cs typeface="Arial"/>
              </a:rPr>
              <a:t>	</a:t>
            </a:r>
            <a:r>
              <a:rPr dirty="0" sz="2400" spc="-5">
                <a:latin typeface="Arial"/>
                <a:cs typeface="Arial"/>
              </a:rPr>
              <a:t>1</a:t>
            </a:r>
            <a:r>
              <a:rPr dirty="0" sz="2400" spc="-5">
                <a:latin typeface="Arial"/>
                <a:cs typeface="Arial"/>
              </a:rPr>
              <a:t>	</a:t>
            </a:r>
            <a:r>
              <a:rPr dirty="0" sz="2400" spc="-5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150">
              <a:latin typeface="Times New Roman"/>
              <a:cs typeface="Times New Roman"/>
            </a:endParaRPr>
          </a:p>
          <a:p>
            <a:pPr marL="976630">
              <a:lnSpc>
                <a:spcPct val="100000"/>
              </a:lnSpc>
              <a:spcBef>
                <a:spcPts val="5"/>
              </a:spcBef>
              <a:tabLst>
                <a:tab pos="1969135" algn="l"/>
                <a:tab pos="3007360" algn="l"/>
                <a:tab pos="3999865" algn="l"/>
              </a:tabLst>
            </a:pPr>
            <a:r>
              <a:rPr dirty="0" sz="2400" spc="-5">
                <a:latin typeface="Arial"/>
                <a:cs typeface="Arial"/>
              </a:rPr>
              <a:t>2</a:t>
            </a:r>
            <a:r>
              <a:rPr dirty="0" sz="2400" spc="-5">
                <a:latin typeface="Arial"/>
                <a:cs typeface="Arial"/>
              </a:rPr>
              <a:t>	</a:t>
            </a: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4</a:t>
            </a: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	</a:t>
            </a:r>
            <a:r>
              <a:rPr dirty="0" sz="2400" spc="-5">
                <a:latin typeface="Arial"/>
                <a:cs typeface="Arial"/>
              </a:rPr>
              <a:t>2</a:t>
            </a:r>
            <a:r>
              <a:rPr dirty="0" sz="2400" spc="-5">
                <a:latin typeface="Arial"/>
                <a:cs typeface="Arial"/>
              </a:rPr>
              <a:t>	</a:t>
            </a:r>
            <a:r>
              <a:rPr dirty="0" sz="2400" spc="-5">
                <a:latin typeface="Arial"/>
                <a:cs typeface="Arial"/>
              </a:rPr>
              <a:t>4</a:t>
            </a:r>
            <a:endParaRPr sz="24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387726" y="5103978"/>
            <a:ext cx="384810" cy="383540"/>
          </a:xfrm>
          <a:custGeom>
            <a:avLst/>
            <a:gdLst/>
            <a:ahLst/>
            <a:cxnLst/>
            <a:rect l="l" t="t" r="r" b="b"/>
            <a:pathLst>
              <a:path w="384809" h="383539">
                <a:moveTo>
                  <a:pt x="211571" y="0"/>
                </a:moveTo>
                <a:lnTo>
                  <a:pt x="172257" y="0"/>
                </a:lnTo>
                <a:lnTo>
                  <a:pt x="134736" y="7619"/>
                </a:lnTo>
                <a:lnTo>
                  <a:pt x="84439" y="33019"/>
                </a:lnTo>
                <a:lnTo>
                  <a:pt x="43646" y="69850"/>
                </a:lnTo>
                <a:lnTo>
                  <a:pt x="14940" y="116839"/>
                </a:lnTo>
                <a:lnTo>
                  <a:pt x="3812" y="153669"/>
                </a:lnTo>
                <a:lnTo>
                  <a:pt x="0" y="191769"/>
                </a:lnTo>
                <a:lnTo>
                  <a:pt x="1041" y="212089"/>
                </a:lnTo>
                <a:lnTo>
                  <a:pt x="15303" y="266699"/>
                </a:lnTo>
                <a:lnTo>
                  <a:pt x="44225" y="314959"/>
                </a:lnTo>
                <a:lnTo>
                  <a:pt x="85197" y="351789"/>
                </a:lnTo>
                <a:lnTo>
                  <a:pt x="135638" y="375919"/>
                </a:lnTo>
                <a:lnTo>
                  <a:pt x="173214" y="383539"/>
                </a:lnTo>
                <a:lnTo>
                  <a:pt x="212529" y="383539"/>
                </a:lnTo>
                <a:lnTo>
                  <a:pt x="250050" y="375919"/>
                </a:lnTo>
                <a:lnTo>
                  <a:pt x="255937" y="373379"/>
                </a:lnTo>
                <a:lnTo>
                  <a:pt x="192297" y="373379"/>
                </a:lnTo>
                <a:lnTo>
                  <a:pt x="173790" y="372109"/>
                </a:lnTo>
                <a:lnTo>
                  <a:pt x="121862" y="358139"/>
                </a:lnTo>
                <a:lnTo>
                  <a:pt x="77205" y="331469"/>
                </a:lnTo>
                <a:lnTo>
                  <a:pt x="42271" y="293369"/>
                </a:lnTo>
                <a:lnTo>
                  <a:pt x="19523" y="245109"/>
                </a:lnTo>
                <a:lnTo>
                  <a:pt x="11416" y="191769"/>
                </a:lnTo>
                <a:lnTo>
                  <a:pt x="12359" y="172719"/>
                </a:lnTo>
                <a:lnTo>
                  <a:pt x="25674" y="120650"/>
                </a:lnTo>
                <a:lnTo>
                  <a:pt x="52800" y="76200"/>
                </a:lnTo>
                <a:lnTo>
                  <a:pt x="91283" y="41909"/>
                </a:lnTo>
                <a:lnTo>
                  <a:pt x="138664" y="19050"/>
                </a:lnTo>
                <a:lnTo>
                  <a:pt x="173982" y="11429"/>
                </a:lnTo>
                <a:lnTo>
                  <a:pt x="259770" y="11429"/>
                </a:lnTo>
                <a:lnTo>
                  <a:pt x="249148" y="7619"/>
                </a:lnTo>
                <a:lnTo>
                  <a:pt x="211571" y="0"/>
                </a:lnTo>
                <a:close/>
              </a:path>
              <a:path w="384809" h="383539">
                <a:moveTo>
                  <a:pt x="259770" y="11429"/>
                </a:moveTo>
                <a:lnTo>
                  <a:pt x="210995" y="11429"/>
                </a:lnTo>
                <a:lnTo>
                  <a:pt x="228963" y="13969"/>
                </a:lnTo>
                <a:lnTo>
                  <a:pt x="246301" y="19050"/>
                </a:lnTo>
                <a:lnTo>
                  <a:pt x="293654" y="41909"/>
                </a:lnTo>
                <a:lnTo>
                  <a:pt x="332102" y="76200"/>
                </a:lnTo>
                <a:lnTo>
                  <a:pt x="359185" y="121919"/>
                </a:lnTo>
                <a:lnTo>
                  <a:pt x="372446" y="173989"/>
                </a:lnTo>
                <a:lnTo>
                  <a:pt x="373371" y="191769"/>
                </a:lnTo>
                <a:lnTo>
                  <a:pt x="372426" y="210819"/>
                </a:lnTo>
                <a:lnTo>
                  <a:pt x="359112" y="262889"/>
                </a:lnTo>
                <a:lnTo>
                  <a:pt x="331986" y="307339"/>
                </a:lnTo>
                <a:lnTo>
                  <a:pt x="293502" y="341629"/>
                </a:lnTo>
                <a:lnTo>
                  <a:pt x="246120" y="364489"/>
                </a:lnTo>
                <a:lnTo>
                  <a:pt x="192297" y="373379"/>
                </a:lnTo>
                <a:lnTo>
                  <a:pt x="255937" y="373379"/>
                </a:lnTo>
                <a:lnTo>
                  <a:pt x="300347" y="350519"/>
                </a:lnTo>
                <a:lnTo>
                  <a:pt x="341141" y="313689"/>
                </a:lnTo>
                <a:lnTo>
                  <a:pt x="369846" y="266699"/>
                </a:lnTo>
                <a:lnTo>
                  <a:pt x="380973" y="229869"/>
                </a:lnTo>
                <a:lnTo>
                  <a:pt x="384785" y="191769"/>
                </a:lnTo>
                <a:lnTo>
                  <a:pt x="383745" y="171449"/>
                </a:lnTo>
                <a:lnTo>
                  <a:pt x="369482" y="116839"/>
                </a:lnTo>
                <a:lnTo>
                  <a:pt x="340560" y="68579"/>
                </a:lnTo>
                <a:lnTo>
                  <a:pt x="299589" y="31750"/>
                </a:lnTo>
                <a:lnTo>
                  <a:pt x="266852" y="13969"/>
                </a:lnTo>
                <a:lnTo>
                  <a:pt x="259770" y="11429"/>
                </a:lnTo>
                <a:close/>
              </a:path>
              <a:path w="384809" h="383539">
                <a:moveTo>
                  <a:pt x="210803" y="15239"/>
                </a:moveTo>
                <a:lnTo>
                  <a:pt x="174557" y="15239"/>
                </a:lnTo>
                <a:lnTo>
                  <a:pt x="156959" y="17779"/>
                </a:lnTo>
                <a:lnTo>
                  <a:pt x="108188" y="35559"/>
                </a:lnTo>
                <a:lnTo>
                  <a:pt x="67307" y="66039"/>
                </a:lnTo>
                <a:lnTo>
                  <a:pt x="36734" y="106679"/>
                </a:lnTo>
                <a:lnTo>
                  <a:pt x="18878" y="156209"/>
                </a:lnTo>
                <a:lnTo>
                  <a:pt x="15220" y="191769"/>
                </a:lnTo>
                <a:lnTo>
                  <a:pt x="16107" y="209549"/>
                </a:lnTo>
                <a:lnTo>
                  <a:pt x="29033" y="260349"/>
                </a:lnTo>
                <a:lnTo>
                  <a:pt x="55504" y="304799"/>
                </a:lnTo>
                <a:lnTo>
                  <a:pt x="93111" y="339089"/>
                </a:lnTo>
                <a:lnTo>
                  <a:pt x="139433" y="360679"/>
                </a:lnTo>
                <a:lnTo>
                  <a:pt x="192105" y="369569"/>
                </a:lnTo>
                <a:lnTo>
                  <a:pt x="210229" y="368299"/>
                </a:lnTo>
                <a:lnTo>
                  <a:pt x="227826" y="365759"/>
                </a:lnTo>
                <a:lnTo>
                  <a:pt x="191913" y="365759"/>
                </a:lnTo>
                <a:lnTo>
                  <a:pt x="174175" y="364489"/>
                </a:lnTo>
                <a:lnTo>
                  <a:pt x="124481" y="351789"/>
                </a:lnTo>
                <a:lnTo>
                  <a:pt x="81768" y="325119"/>
                </a:lnTo>
                <a:lnTo>
                  <a:pt x="48374" y="288289"/>
                </a:lnTo>
                <a:lnTo>
                  <a:pt x="26680" y="242569"/>
                </a:lnTo>
                <a:lnTo>
                  <a:pt x="19025" y="191769"/>
                </a:lnTo>
                <a:lnTo>
                  <a:pt x="19970" y="173989"/>
                </a:lnTo>
                <a:lnTo>
                  <a:pt x="32829" y="124459"/>
                </a:lnTo>
                <a:lnTo>
                  <a:pt x="58902" y="81279"/>
                </a:lnTo>
                <a:lnTo>
                  <a:pt x="95848" y="48259"/>
                </a:lnTo>
                <a:lnTo>
                  <a:pt x="141283" y="26669"/>
                </a:lnTo>
                <a:lnTo>
                  <a:pt x="192873" y="17779"/>
                </a:lnTo>
                <a:lnTo>
                  <a:pt x="228387" y="17779"/>
                </a:lnTo>
                <a:lnTo>
                  <a:pt x="210803" y="15239"/>
                </a:lnTo>
                <a:close/>
              </a:path>
              <a:path w="384809" h="383539">
                <a:moveTo>
                  <a:pt x="228387" y="17779"/>
                </a:moveTo>
                <a:lnTo>
                  <a:pt x="192873" y="17779"/>
                </a:lnTo>
                <a:lnTo>
                  <a:pt x="210611" y="19050"/>
                </a:lnTo>
                <a:lnTo>
                  <a:pt x="227812" y="21589"/>
                </a:lnTo>
                <a:lnTo>
                  <a:pt x="275431" y="39369"/>
                </a:lnTo>
                <a:lnTo>
                  <a:pt x="315302" y="69850"/>
                </a:lnTo>
                <a:lnTo>
                  <a:pt x="345060" y="109219"/>
                </a:lnTo>
                <a:lnTo>
                  <a:pt x="362333" y="157479"/>
                </a:lnTo>
                <a:lnTo>
                  <a:pt x="365759" y="191769"/>
                </a:lnTo>
                <a:lnTo>
                  <a:pt x="364816" y="209549"/>
                </a:lnTo>
                <a:lnTo>
                  <a:pt x="351957" y="259079"/>
                </a:lnTo>
                <a:lnTo>
                  <a:pt x="325884" y="302259"/>
                </a:lnTo>
                <a:lnTo>
                  <a:pt x="288938" y="335279"/>
                </a:lnTo>
                <a:lnTo>
                  <a:pt x="243502" y="356869"/>
                </a:lnTo>
                <a:lnTo>
                  <a:pt x="191913" y="365759"/>
                </a:lnTo>
                <a:lnTo>
                  <a:pt x="227826" y="365759"/>
                </a:lnTo>
                <a:lnTo>
                  <a:pt x="276597" y="347979"/>
                </a:lnTo>
                <a:lnTo>
                  <a:pt x="317479" y="317499"/>
                </a:lnTo>
                <a:lnTo>
                  <a:pt x="348052" y="276859"/>
                </a:lnTo>
                <a:lnTo>
                  <a:pt x="365908" y="227329"/>
                </a:lnTo>
                <a:lnTo>
                  <a:pt x="369566" y="191769"/>
                </a:lnTo>
                <a:lnTo>
                  <a:pt x="368679" y="173989"/>
                </a:lnTo>
                <a:lnTo>
                  <a:pt x="355752" y="123189"/>
                </a:lnTo>
                <a:lnTo>
                  <a:pt x="329283" y="78739"/>
                </a:lnTo>
                <a:lnTo>
                  <a:pt x="291675" y="44450"/>
                </a:lnTo>
                <a:lnTo>
                  <a:pt x="245352" y="22859"/>
                </a:lnTo>
                <a:lnTo>
                  <a:pt x="228387" y="1777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8482487" y="5098796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5</a:t>
            </a:r>
            <a:endParaRPr sz="24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890549" y="5014789"/>
            <a:ext cx="0" cy="467359"/>
          </a:xfrm>
          <a:custGeom>
            <a:avLst/>
            <a:gdLst/>
            <a:ahLst/>
            <a:cxnLst/>
            <a:rect l="l" t="t" r="r" b="b"/>
            <a:pathLst>
              <a:path w="0" h="467360">
                <a:moveTo>
                  <a:pt x="0" y="0"/>
                </a:moveTo>
                <a:lnTo>
                  <a:pt x="1" y="467017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073430" y="4831908"/>
            <a:ext cx="627380" cy="0"/>
          </a:xfrm>
          <a:custGeom>
            <a:avLst/>
            <a:gdLst/>
            <a:ahLst/>
            <a:cxnLst/>
            <a:rect l="l" t="t" r="r" b="b"/>
            <a:pathLst>
              <a:path w="627379" h="0">
                <a:moveTo>
                  <a:pt x="0" y="0"/>
                </a:moveTo>
                <a:lnTo>
                  <a:pt x="626909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883218" y="5014789"/>
            <a:ext cx="0" cy="467359"/>
          </a:xfrm>
          <a:custGeom>
            <a:avLst/>
            <a:gdLst/>
            <a:ahLst/>
            <a:cxnLst/>
            <a:rect l="l" t="t" r="r" b="b"/>
            <a:pathLst>
              <a:path w="0" h="467360">
                <a:moveTo>
                  <a:pt x="0" y="0"/>
                </a:moveTo>
                <a:lnTo>
                  <a:pt x="1" y="467017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8066099" y="4831909"/>
            <a:ext cx="384810" cy="334010"/>
          </a:xfrm>
          <a:custGeom>
            <a:avLst/>
            <a:gdLst/>
            <a:ahLst/>
            <a:cxnLst/>
            <a:rect l="l" t="t" r="r" b="b"/>
            <a:pathLst>
              <a:path w="384809" h="334010">
                <a:moveTo>
                  <a:pt x="0" y="0"/>
                </a:moveTo>
                <a:lnTo>
                  <a:pt x="384705" y="333901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8066099" y="5424441"/>
            <a:ext cx="384810" cy="240665"/>
          </a:xfrm>
          <a:custGeom>
            <a:avLst/>
            <a:gdLst/>
            <a:ahLst/>
            <a:cxnLst/>
            <a:rect l="l" t="t" r="r" b="b"/>
            <a:pathLst>
              <a:path w="384809" h="240664">
                <a:moveTo>
                  <a:pt x="0" y="240244"/>
                </a:moveTo>
                <a:lnTo>
                  <a:pt x="384705" y="0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655531" y="2690799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655531" y="352357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648200" y="352357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021290" y="3702658"/>
            <a:ext cx="627380" cy="0"/>
          </a:xfrm>
          <a:custGeom>
            <a:avLst/>
            <a:gdLst/>
            <a:ahLst/>
            <a:cxnLst/>
            <a:rect l="l" t="t" r="r" b="b"/>
            <a:pathLst>
              <a:path w="627379" h="0">
                <a:moveTo>
                  <a:pt x="0" y="0"/>
                </a:moveTo>
                <a:lnTo>
                  <a:pt x="626909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638686" y="2682533"/>
            <a:ext cx="384810" cy="383540"/>
          </a:xfrm>
          <a:custGeom>
            <a:avLst/>
            <a:gdLst/>
            <a:ahLst/>
            <a:cxnLst/>
            <a:rect l="l" t="t" r="r" b="b"/>
            <a:pathLst>
              <a:path w="384810" h="383539">
                <a:moveTo>
                  <a:pt x="211571" y="0"/>
                </a:moveTo>
                <a:lnTo>
                  <a:pt x="172257" y="0"/>
                </a:lnTo>
                <a:lnTo>
                  <a:pt x="134736" y="7619"/>
                </a:lnTo>
                <a:lnTo>
                  <a:pt x="84439" y="33019"/>
                </a:lnTo>
                <a:lnTo>
                  <a:pt x="43646" y="69850"/>
                </a:lnTo>
                <a:lnTo>
                  <a:pt x="14940" y="116839"/>
                </a:lnTo>
                <a:lnTo>
                  <a:pt x="3812" y="153669"/>
                </a:lnTo>
                <a:lnTo>
                  <a:pt x="0" y="191769"/>
                </a:lnTo>
                <a:lnTo>
                  <a:pt x="1041" y="212089"/>
                </a:lnTo>
                <a:lnTo>
                  <a:pt x="15303" y="266700"/>
                </a:lnTo>
                <a:lnTo>
                  <a:pt x="44225" y="314960"/>
                </a:lnTo>
                <a:lnTo>
                  <a:pt x="85197" y="351789"/>
                </a:lnTo>
                <a:lnTo>
                  <a:pt x="135638" y="375919"/>
                </a:lnTo>
                <a:lnTo>
                  <a:pt x="173215" y="383539"/>
                </a:lnTo>
                <a:lnTo>
                  <a:pt x="212529" y="383539"/>
                </a:lnTo>
                <a:lnTo>
                  <a:pt x="250050" y="375919"/>
                </a:lnTo>
                <a:lnTo>
                  <a:pt x="255937" y="373379"/>
                </a:lnTo>
                <a:lnTo>
                  <a:pt x="192297" y="373379"/>
                </a:lnTo>
                <a:lnTo>
                  <a:pt x="173790" y="372110"/>
                </a:lnTo>
                <a:lnTo>
                  <a:pt x="121862" y="358139"/>
                </a:lnTo>
                <a:lnTo>
                  <a:pt x="77205" y="331469"/>
                </a:lnTo>
                <a:lnTo>
                  <a:pt x="42271" y="293369"/>
                </a:lnTo>
                <a:lnTo>
                  <a:pt x="19523" y="245110"/>
                </a:lnTo>
                <a:lnTo>
                  <a:pt x="11416" y="191769"/>
                </a:lnTo>
                <a:lnTo>
                  <a:pt x="12359" y="172719"/>
                </a:lnTo>
                <a:lnTo>
                  <a:pt x="25674" y="120650"/>
                </a:lnTo>
                <a:lnTo>
                  <a:pt x="52800" y="76200"/>
                </a:lnTo>
                <a:lnTo>
                  <a:pt x="91283" y="41910"/>
                </a:lnTo>
                <a:lnTo>
                  <a:pt x="138664" y="19050"/>
                </a:lnTo>
                <a:lnTo>
                  <a:pt x="173982" y="11429"/>
                </a:lnTo>
                <a:lnTo>
                  <a:pt x="259770" y="11429"/>
                </a:lnTo>
                <a:lnTo>
                  <a:pt x="249148" y="7619"/>
                </a:lnTo>
                <a:lnTo>
                  <a:pt x="211571" y="0"/>
                </a:lnTo>
                <a:close/>
              </a:path>
              <a:path w="384810" h="383539">
                <a:moveTo>
                  <a:pt x="259770" y="11429"/>
                </a:moveTo>
                <a:lnTo>
                  <a:pt x="210995" y="11429"/>
                </a:lnTo>
                <a:lnTo>
                  <a:pt x="228963" y="13969"/>
                </a:lnTo>
                <a:lnTo>
                  <a:pt x="246302" y="19050"/>
                </a:lnTo>
                <a:lnTo>
                  <a:pt x="293654" y="41910"/>
                </a:lnTo>
                <a:lnTo>
                  <a:pt x="332102" y="76200"/>
                </a:lnTo>
                <a:lnTo>
                  <a:pt x="359185" y="121919"/>
                </a:lnTo>
                <a:lnTo>
                  <a:pt x="372446" y="173989"/>
                </a:lnTo>
                <a:lnTo>
                  <a:pt x="373371" y="191769"/>
                </a:lnTo>
                <a:lnTo>
                  <a:pt x="372426" y="210819"/>
                </a:lnTo>
                <a:lnTo>
                  <a:pt x="359112" y="262889"/>
                </a:lnTo>
                <a:lnTo>
                  <a:pt x="331986" y="307339"/>
                </a:lnTo>
                <a:lnTo>
                  <a:pt x="293502" y="341629"/>
                </a:lnTo>
                <a:lnTo>
                  <a:pt x="246122" y="364489"/>
                </a:lnTo>
                <a:lnTo>
                  <a:pt x="192297" y="373379"/>
                </a:lnTo>
                <a:lnTo>
                  <a:pt x="255937" y="373379"/>
                </a:lnTo>
                <a:lnTo>
                  <a:pt x="300347" y="350519"/>
                </a:lnTo>
                <a:lnTo>
                  <a:pt x="341141" y="313689"/>
                </a:lnTo>
                <a:lnTo>
                  <a:pt x="369846" y="266700"/>
                </a:lnTo>
                <a:lnTo>
                  <a:pt x="380973" y="229869"/>
                </a:lnTo>
                <a:lnTo>
                  <a:pt x="384785" y="191769"/>
                </a:lnTo>
                <a:lnTo>
                  <a:pt x="383745" y="171450"/>
                </a:lnTo>
                <a:lnTo>
                  <a:pt x="369483" y="116839"/>
                </a:lnTo>
                <a:lnTo>
                  <a:pt x="340560" y="68579"/>
                </a:lnTo>
                <a:lnTo>
                  <a:pt x="299589" y="31750"/>
                </a:lnTo>
                <a:lnTo>
                  <a:pt x="266852" y="13969"/>
                </a:lnTo>
                <a:lnTo>
                  <a:pt x="259770" y="11429"/>
                </a:lnTo>
                <a:close/>
              </a:path>
              <a:path w="384810" h="383539">
                <a:moveTo>
                  <a:pt x="210803" y="15239"/>
                </a:moveTo>
                <a:lnTo>
                  <a:pt x="174557" y="15239"/>
                </a:lnTo>
                <a:lnTo>
                  <a:pt x="156960" y="17779"/>
                </a:lnTo>
                <a:lnTo>
                  <a:pt x="108188" y="35560"/>
                </a:lnTo>
                <a:lnTo>
                  <a:pt x="67307" y="66039"/>
                </a:lnTo>
                <a:lnTo>
                  <a:pt x="36734" y="106679"/>
                </a:lnTo>
                <a:lnTo>
                  <a:pt x="18878" y="156210"/>
                </a:lnTo>
                <a:lnTo>
                  <a:pt x="15220" y="191769"/>
                </a:lnTo>
                <a:lnTo>
                  <a:pt x="16107" y="209550"/>
                </a:lnTo>
                <a:lnTo>
                  <a:pt x="29033" y="260350"/>
                </a:lnTo>
                <a:lnTo>
                  <a:pt x="55504" y="304800"/>
                </a:lnTo>
                <a:lnTo>
                  <a:pt x="93111" y="339089"/>
                </a:lnTo>
                <a:lnTo>
                  <a:pt x="139433" y="360679"/>
                </a:lnTo>
                <a:lnTo>
                  <a:pt x="192105" y="369569"/>
                </a:lnTo>
                <a:lnTo>
                  <a:pt x="210229" y="368300"/>
                </a:lnTo>
                <a:lnTo>
                  <a:pt x="227826" y="365760"/>
                </a:lnTo>
                <a:lnTo>
                  <a:pt x="191913" y="365760"/>
                </a:lnTo>
                <a:lnTo>
                  <a:pt x="174175" y="364489"/>
                </a:lnTo>
                <a:lnTo>
                  <a:pt x="124481" y="351789"/>
                </a:lnTo>
                <a:lnTo>
                  <a:pt x="81768" y="325119"/>
                </a:lnTo>
                <a:lnTo>
                  <a:pt x="48374" y="288289"/>
                </a:lnTo>
                <a:lnTo>
                  <a:pt x="26680" y="242569"/>
                </a:lnTo>
                <a:lnTo>
                  <a:pt x="19025" y="191769"/>
                </a:lnTo>
                <a:lnTo>
                  <a:pt x="19970" y="173989"/>
                </a:lnTo>
                <a:lnTo>
                  <a:pt x="32829" y="124460"/>
                </a:lnTo>
                <a:lnTo>
                  <a:pt x="58902" y="81279"/>
                </a:lnTo>
                <a:lnTo>
                  <a:pt x="95848" y="48260"/>
                </a:lnTo>
                <a:lnTo>
                  <a:pt x="141284" y="26669"/>
                </a:lnTo>
                <a:lnTo>
                  <a:pt x="175131" y="19050"/>
                </a:lnTo>
                <a:lnTo>
                  <a:pt x="232629" y="19050"/>
                </a:lnTo>
                <a:lnTo>
                  <a:pt x="228387" y="17779"/>
                </a:lnTo>
                <a:lnTo>
                  <a:pt x="210803" y="15239"/>
                </a:lnTo>
                <a:close/>
              </a:path>
              <a:path w="384810" h="383539">
                <a:moveTo>
                  <a:pt x="232629" y="19050"/>
                </a:moveTo>
                <a:lnTo>
                  <a:pt x="210611" y="19050"/>
                </a:lnTo>
                <a:lnTo>
                  <a:pt x="227812" y="21589"/>
                </a:lnTo>
                <a:lnTo>
                  <a:pt x="244403" y="26669"/>
                </a:lnTo>
                <a:lnTo>
                  <a:pt x="289698" y="48260"/>
                </a:lnTo>
                <a:lnTo>
                  <a:pt x="326463" y="81279"/>
                </a:lnTo>
                <a:lnTo>
                  <a:pt x="352320" y="124460"/>
                </a:lnTo>
                <a:lnTo>
                  <a:pt x="364912" y="173989"/>
                </a:lnTo>
                <a:lnTo>
                  <a:pt x="365760" y="191769"/>
                </a:lnTo>
                <a:lnTo>
                  <a:pt x="364816" y="209550"/>
                </a:lnTo>
                <a:lnTo>
                  <a:pt x="351957" y="259079"/>
                </a:lnTo>
                <a:lnTo>
                  <a:pt x="325884" y="302260"/>
                </a:lnTo>
                <a:lnTo>
                  <a:pt x="288938" y="335279"/>
                </a:lnTo>
                <a:lnTo>
                  <a:pt x="243502" y="356869"/>
                </a:lnTo>
                <a:lnTo>
                  <a:pt x="191913" y="365760"/>
                </a:lnTo>
                <a:lnTo>
                  <a:pt x="227826" y="365760"/>
                </a:lnTo>
                <a:lnTo>
                  <a:pt x="276597" y="347979"/>
                </a:lnTo>
                <a:lnTo>
                  <a:pt x="317479" y="317500"/>
                </a:lnTo>
                <a:lnTo>
                  <a:pt x="348052" y="276860"/>
                </a:lnTo>
                <a:lnTo>
                  <a:pt x="365908" y="227329"/>
                </a:lnTo>
                <a:lnTo>
                  <a:pt x="369566" y="191769"/>
                </a:lnTo>
                <a:lnTo>
                  <a:pt x="368679" y="173989"/>
                </a:lnTo>
                <a:lnTo>
                  <a:pt x="355753" y="123189"/>
                </a:lnTo>
                <a:lnTo>
                  <a:pt x="329283" y="78739"/>
                </a:lnTo>
                <a:lnTo>
                  <a:pt x="291675" y="44450"/>
                </a:lnTo>
                <a:lnTo>
                  <a:pt x="245352" y="22860"/>
                </a:lnTo>
                <a:lnTo>
                  <a:pt x="232629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335587" y="3145750"/>
            <a:ext cx="384810" cy="383540"/>
          </a:xfrm>
          <a:custGeom>
            <a:avLst/>
            <a:gdLst/>
            <a:ahLst/>
            <a:cxnLst/>
            <a:rect l="l" t="t" r="r" b="b"/>
            <a:pathLst>
              <a:path w="384810" h="383539">
                <a:moveTo>
                  <a:pt x="211571" y="0"/>
                </a:moveTo>
                <a:lnTo>
                  <a:pt x="172257" y="0"/>
                </a:lnTo>
                <a:lnTo>
                  <a:pt x="134736" y="7619"/>
                </a:lnTo>
                <a:lnTo>
                  <a:pt x="84439" y="33019"/>
                </a:lnTo>
                <a:lnTo>
                  <a:pt x="43646" y="69850"/>
                </a:lnTo>
                <a:lnTo>
                  <a:pt x="14940" y="116839"/>
                </a:lnTo>
                <a:lnTo>
                  <a:pt x="3812" y="153669"/>
                </a:lnTo>
                <a:lnTo>
                  <a:pt x="0" y="191769"/>
                </a:lnTo>
                <a:lnTo>
                  <a:pt x="1041" y="212089"/>
                </a:lnTo>
                <a:lnTo>
                  <a:pt x="15303" y="266700"/>
                </a:lnTo>
                <a:lnTo>
                  <a:pt x="44225" y="314960"/>
                </a:lnTo>
                <a:lnTo>
                  <a:pt x="85197" y="351789"/>
                </a:lnTo>
                <a:lnTo>
                  <a:pt x="135638" y="375919"/>
                </a:lnTo>
                <a:lnTo>
                  <a:pt x="173215" y="383539"/>
                </a:lnTo>
                <a:lnTo>
                  <a:pt x="212529" y="383539"/>
                </a:lnTo>
                <a:lnTo>
                  <a:pt x="250050" y="375919"/>
                </a:lnTo>
                <a:lnTo>
                  <a:pt x="255937" y="373379"/>
                </a:lnTo>
                <a:lnTo>
                  <a:pt x="192297" y="373379"/>
                </a:lnTo>
                <a:lnTo>
                  <a:pt x="173790" y="372110"/>
                </a:lnTo>
                <a:lnTo>
                  <a:pt x="121862" y="358139"/>
                </a:lnTo>
                <a:lnTo>
                  <a:pt x="77205" y="331469"/>
                </a:lnTo>
                <a:lnTo>
                  <a:pt x="42271" y="293369"/>
                </a:lnTo>
                <a:lnTo>
                  <a:pt x="19523" y="245110"/>
                </a:lnTo>
                <a:lnTo>
                  <a:pt x="11416" y="191769"/>
                </a:lnTo>
                <a:lnTo>
                  <a:pt x="12359" y="172719"/>
                </a:lnTo>
                <a:lnTo>
                  <a:pt x="25674" y="120650"/>
                </a:lnTo>
                <a:lnTo>
                  <a:pt x="52800" y="76200"/>
                </a:lnTo>
                <a:lnTo>
                  <a:pt x="91283" y="41910"/>
                </a:lnTo>
                <a:lnTo>
                  <a:pt x="138664" y="19050"/>
                </a:lnTo>
                <a:lnTo>
                  <a:pt x="173982" y="11429"/>
                </a:lnTo>
                <a:lnTo>
                  <a:pt x="259770" y="11429"/>
                </a:lnTo>
                <a:lnTo>
                  <a:pt x="249148" y="7619"/>
                </a:lnTo>
                <a:lnTo>
                  <a:pt x="211571" y="0"/>
                </a:lnTo>
                <a:close/>
              </a:path>
              <a:path w="384810" h="383539">
                <a:moveTo>
                  <a:pt x="259770" y="11429"/>
                </a:moveTo>
                <a:lnTo>
                  <a:pt x="210995" y="11429"/>
                </a:lnTo>
                <a:lnTo>
                  <a:pt x="228963" y="13969"/>
                </a:lnTo>
                <a:lnTo>
                  <a:pt x="246302" y="19050"/>
                </a:lnTo>
                <a:lnTo>
                  <a:pt x="293654" y="41910"/>
                </a:lnTo>
                <a:lnTo>
                  <a:pt x="332102" y="76200"/>
                </a:lnTo>
                <a:lnTo>
                  <a:pt x="359185" y="121919"/>
                </a:lnTo>
                <a:lnTo>
                  <a:pt x="372446" y="173989"/>
                </a:lnTo>
                <a:lnTo>
                  <a:pt x="373371" y="191769"/>
                </a:lnTo>
                <a:lnTo>
                  <a:pt x="372426" y="210819"/>
                </a:lnTo>
                <a:lnTo>
                  <a:pt x="359112" y="262889"/>
                </a:lnTo>
                <a:lnTo>
                  <a:pt x="331986" y="307339"/>
                </a:lnTo>
                <a:lnTo>
                  <a:pt x="293502" y="341629"/>
                </a:lnTo>
                <a:lnTo>
                  <a:pt x="246122" y="364489"/>
                </a:lnTo>
                <a:lnTo>
                  <a:pt x="192297" y="373379"/>
                </a:lnTo>
                <a:lnTo>
                  <a:pt x="255937" y="373379"/>
                </a:lnTo>
                <a:lnTo>
                  <a:pt x="300347" y="350519"/>
                </a:lnTo>
                <a:lnTo>
                  <a:pt x="341141" y="313689"/>
                </a:lnTo>
                <a:lnTo>
                  <a:pt x="369846" y="266700"/>
                </a:lnTo>
                <a:lnTo>
                  <a:pt x="380973" y="229869"/>
                </a:lnTo>
                <a:lnTo>
                  <a:pt x="384785" y="191769"/>
                </a:lnTo>
                <a:lnTo>
                  <a:pt x="383745" y="171450"/>
                </a:lnTo>
                <a:lnTo>
                  <a:pt x="369483" y="116839"/>
                </a:lnTo>
                <a:lnTo>
                  <a:pt x="340560" y="68579"/>
                </a:lnTo>
                <a:lnTo>
                  <a:pt x="299589" y="31750"/>
                </a:lnTo>
                <a:lnTo>
                  <a:pt x="266852" y="13969"/>
                </a:lnTo>
                <a:lnTo>
                  <a:pt x="259770" y="11429"/>
                </a:lnTo>
                <a:close/>
              </a:path>
              <a:path w="384810" h="383539">
                <a:moveTo>
                  <a:pt x="210803" y="15239"/>
                </a:moveTo>
                <a:lnTo>
                  <a:pt x="174557" y="15239"/>
                </a:lnTo>
                <a:lnTo>
                  <a:pt x="156960" y="17779"/>
                </a:lnTo>
                <a:lnTo>
                  <a:pt x="108188" y="35560"/>
                </a:lnTo>
                <a:lnTo>
                  <a:pt x="67307" y="66039"/>
                </a:lnTo>
                <a:lnTo>
                  <a:pt x="36734" y="106679"/>
                </a:lnTo>
                <a:lnTo>
                  <a:pt x="18878" y="156210"/>
                </a:lnTo>
                <a:lnTo>
                  <a:pt x="15220" y="191769"/>
                </a:lnTo>
                <a:lnTo>
                  <a:pt x="16107" y="209550"/>
                </a:lnTo>
                <a:lnTo>
                  <a:pt x="29033" y="260350"/>
                </a:lnTo>
                <a:lnTo>
                  <a:pt x="55504" y="304800"/>
                </a:lnTo>
                <a:lnTo>
                  <a:pt x="93111" y="339089"/>
                </a:lnTo>
                <a:lnTo>
                  <a:pt x="139433" y="360679"/>
                </a:lnTo>
                <a:lnTo>
                  <a:pt x="192105" y="369569"/>
                </a:lnTo>
                <a:lnTo>
                  <a:pt x="210229" y="368300"/>
                </a:lnTo>
                <a:lnTo>
                  <a:pt x="227826" y="365760"/>
                </a:lnTo>
                <a:lnTo>
                  <a:pt x="191913" y="365760"/>
                </a:lnTo>
                <a:lnTo>
                  <a:pt x="174175" y="364489"/>
                </a:lnTo>
                <a:lnTo>
                  <a:pt x="124481" y="351789"/>
                </a:lnTo>
                <a:lnTo>
                  <a:pt x="81768" y="325119"/>
                </a:lnTo>
                <a:lnTo>
                  <a:pt x="48374" y="288289"/>
                </a:lnTo>
                <a:lnTo>
                  <a:pt x="26680" y="242569"/>
                </a:lnTo>
                <a:lnTo>
                  <a:pt x="19025" y="191769"/>
                </a:lnTo>
                <a:lnTo>
                  <a:pt x="19970" y="173989"/>
                </a:lnTo>
                <a:lnTo>
                  <a:pt x="32829" y="124460"/>
                </a:lnTo>
                <a:lnTo>
                  <a:pt x="58902" y="81279"/>
                </a:lnTo>
                <a:lnTo>
                  <a:pt x="95848" y="48260"/>
                </a:lnTo>
                <a:lnTo>
                  <a:pt x="141284" y="26669"/>
                </a:lnTo>
                <a:lnTo>
                  <a:pt x="192873" y="17779"/>
                </a:lnTo>
                <a:lnTo>
                  <a:pt x="228387" y="17779"/>
                </a:lnTo>
                <a:lnTo>
                  <a:pt x="210803" y="15239"/>
                </a:lnTo>
                <a:close/>
              </a:path>
              <a:path w="384810" h="383539">
                <a:moveTo>
                  <a:pt x="228387" y="17779"/>
                </a:moveTo>
                <a:lnTo>
                  <a:pt x="192873" y="17779"/>
                </a:lnTo>
                <a:lnTo>
                  <a:pt x="210611" y="19050"/>
                </a:lnTo>
                <a:lnTo>
                  <a:pt x="227812" y="21589"/>
                </a:lnTo>
                <a:lnTo>
                  <a:pt x="275431" y="39369"/>
                </a:lnTo>
                <a:lnTo>
                  <a:pt x="315302" y="69850"/>
                </a:lnTo>
                <a:lnTo>
                  <a:pt x="345060" y="109219"/>
                </a:lnTo>
                <a:lnTo>
                  <a:pt x="362333" y="157479"/>
                </a:lnTo>
                <a:lnTo>
                  <a:pt x="365760" y="191769"/>
                </a:lnTo>
                <a:lnTo>
                  <a:pt x="364816" y="209550"/>
                </a:lnTo>
                <a:lnTo>
                  <a:pt x="351957" y="259079"/>
                </a:lnTo>
                <a:lnTo>
                  <a:pt x="325884" y="302260"/>
                </a:lnTo>
                <a:lnTo>
                  <a:pt x="288938" y="335279"/>
                </a:lnTo>
                <a:lnTo>
                  <a:pt x="243502" y="356869"/>
                </a:lnTo>
                <a:lnTo>
                  <a:pt x="191913" y="365760"/>
                </a:lnTo>
                <a:lnTo>
                  <a:pt x="227826" y="365760"/>
                </a:lnTo>
                <a:lnTo>
                  <a:pt x="276597" y="347979"/>
                </a:lnTo>
                <a:lnTo>
                  <a:pt x="317479" y="317500"/>
                </a:lnTo>
                <a:lnTo>
                  <a:pt x="348052" y="276860"/>
                </a:lnTo>
                <a:lnTo>
                  <a:pt x="365908" y="227329"/>
                </a:lnTo>
                <a:lnTo>
                  <a:pt x="369566" y="191769"/>
                </a:lnTo>
                <a:lnTo>
                  <a:pt x="368679" y="173989"/>
                </a:lnTo>
                <a:lnTo>
                  <a:pt x="355753" y="123189"/>
                </a:lnTo>
                <a:lnTo>
                  <a:pt x="329283" y="78739"/>
                </a:lnTo>
                <a:lnTo>
                  <a:pt x="291675" y="44450"/>
                </a:lnTo>
                <a:lnTo>
                  <a:pt x="245352" y="22860"/>
                </a:lnTo>
                <a:lnTo>
                  <a:pt x="228387" y="177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5430349" y="3141979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5</a:t>
            </a:r>
            <a:endParaRPr sz="240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838411" y="3056561"/>
            <a:ext cx="0" cy="467359"/>
          </a:xfrm>
          <a:custGeom>
            <a:avLst/>
            <a:gdLst/>
            <a:ahLst/>
            <a:cxnLst/>
            <a:rect l="l" t="t" r="r" b="b"/>
            <a:pathLst>
              <a:path w="0" h="467360">
                <a:moveTo>
                  <a:pt x="0" y="0"/>
                </a:moveTo>
                <a:lnTo>
                  <a:pt x="1" y="467017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021290" y="2873679"/>
            <a:ext cx="627380" cy="0"/>
          </a:xfrm>
          <a:custGeom>
            <a:avLst/>
            <a:gdLst/>
            <a:ahLst/>
            <a:cxnLst/>
            <a:rect l="l" t="t" r="r" b="b"/>
            <a:pathLst>
              <a:path w="627379" h="0">
                <a:moveTo>
                  <a:pt x="0" y="0"/>
                </a:moveTo>
                <a:lnTo>
                  <a:pt x="626909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831079" y="3056561"/>
            <a:ext cx="0" cy="467359"/>
          </a:xfrm>
          <a:custGeom>
            <a:avLst/>
            <a:gdLst/>
            <a:ahLst/>
            <a:cxnLst/>
            <a:rect l="l" t="t" r="r" b="b"/>
            <a:pathLst>
              <a:path w="0" h="467360">
                <a:moveTo>
                  <a:pt x="0" y="0"/>
                </a:moveTo>
                <a:lnTo>
                  <a:pt x="1" y="467017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013961" y="2873680"/>
            <a:ext cx="384810" cy="334010"/>
          </a:xfrm>
          <a:custGeom>
            <a:avLst/>
            <a:gdLst/>
            <a:ahLst/>
            <a:cxnLst/>
            <a:rect l="l" t="t" r="r" b="b"/>
            <a:pathLst>
              <a:path w="384810" h="334010">
                <a:moveTo>
                  <a:pt x="0" y="0"/>
                </a:moveTo>
                <a:lnTo>
                  <a:pt x="384705" y="33390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5013961" y="3466214"/>
            <a:ext cx="384810" cy="240665"/>
          </a:xfrm>
          <a:custGeom>
            <a:avLst/>
            <a:gdLst/>
            <a:ahLst/>
            <a:cxnLst/>
            <a:rect l="l" t="t" r="r" b="b"/>
            <a:pathLst>
              <a:path w="384810" h="240664">
                <a:moveTo>
                  <a:pt x="0" y="240244"/>
                </a:moveTo>
                <a:lnTo>
                  <a:pt x="384705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249714" y="4743424"/>
            <a:ext cx="298450" cy="166370"/>
          </a:xfrm>
          <a:custGeom>
            <a:avLst/>
            <a:gdLst/>
            <a:ahLst/>
            <a:cxnLst/>
            <a:rect l="l" t="t" r="r" b="b"/>
            <a:pathLst>
              <a:path w="298450" h="166370">
                <a:moveTo>
                  <a:pt x="215430" y="0"/>
                </a:moveTo>
                <a:lnTo>
                  <a:pt x="215430" y="41466"/>
                </a:lnTo>
                <a:lnTo>
                  <a:pt x="0" y="41466"/>
                </a:lnTo>
                <a:lnTo>
                  <a:pt x="0" y="124397"/>
                </a:lnTo>
                <a:lnTo>
                  <a:pt x="215430" y="124397"/>
                </a:lnTo>
                <a:lnTo>
                  <a:pt x="215430" y="165864"/>
                </a:lnTo>
                <a:lnTo>
                  <a:pt x="298361" y="82932"/>
                </a:lnTo>
                <a:lnTo>
                  <a:pt x="21543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225715" y="4685483"/>
            <a:ext cx="356870" cy="281940"/>
          </a:xfrm>
          <a:custGeom>
            <a:avLst/>
            <a:gdLst/>
            <a:ahLst/>
            <a:cxnLst/>
            <a:rect l="l" t="t" r="r" b="b"/>
            <a:pathLst>
              <a:path w="356869" h="281939">
                <a:moveTo>
                  <a:pt x="215430" y="0"/>
                </a:moveTo>
                <a:lnTo>
                  <a:pt x="215430" y="75407"/>
                </a:lnTo>
                <a:lnTo>
                  <a:pt x="0" y="75407"/>
                </a:lnTo>
                <a:lnTo>
                  <a:pt x="0" y="206339"/>
                </a:lnTo>
                <a:lnTo>
                  <a:pt x="215430" y="206339"/>
                </a:lnTo>
                <a:lnTo>
                  <a:pt x="215430" y="281746"/>
                </a:lnTo>
                <a:lnTo>
                  <a:pt x="284959" y="212217"/>
                </a:lnTo>
                <a:lnTo>
                  <a:pt x="244230" y="212217"/>
                </a:lnTo>
                <a:lnTo>
                  <a:pt x="244230" y="177539"/>
                </a:lnTo>
                <a:lnTo>
                  <a:pt x="28799" y="177539"/>
                </a:lnTo>
                <a:lnTo>
                  <a:pt x="28799" y="104207"/>
                </a:lnTo>
                <a:lnTo>
                  <a:pt x="244230" y="104207"/>
                </a:lnTo>
                <a:lnTo>
                  <a:pt x="244230" y="69529"/>
                </a:lnTo>
                <a:lnTo>
                  <a:pt x="284959" y="69529"/>
                </a:lnTo>
                <a:lnTo>
                  <a:pt x="215430" y="0"/>
                </a:lnTo>
                <a:close/>
              </a:path>
              <a:path w="356869" h="281939">
                <a:moveTo>
                  <a:pt x="284959" y="69529"/>
                </a:moveTo>
                <a:lnTo>
                  <a:pt x="244230" y="69529"/>
                </a:lnTo>
                <a:lnTo>
                  <a:pt x="315573" y="140873"/>
                </a:lnTo>
                <a:lnTo>
                  <a:pt x="244230" y="212217"/>
                </a:lnTo>
                <a:lnTo>
                  <a:pt x="284959" y="212217"/>
                </a:lnTo>
                <a:lnTo>
                  <a:pt x="356302" y="140873"/>
                </a:lnTo>
                <a:lnTo>
                  <a:pt x="284959" y="69529"/>
                </a:lnTo>
                <a:close/>
              </a:path>
              <a:path w="356869" h="281939">
                <a:moveTo>
                  <a:pt x="253829" y="92706"/>
                </a:moveTo>
                <a:lnTo>
                  <a:pt x="253829" y="113807"/>
                </a:lnTo>
                <a:lnTo>
                  <a:pt x="38399" y="113807"/>
                </a:lnTo>
                <a:lnTo>
                  <a:pt x="38399" y="167939"/>
                </a:lnTo>
                <a:lnTo>
                  <a:pt x="253829" y="167939"/>
                </a:lnTo>
                <a:lnTo>
                  <a:pt x="253829" y="189040"/>
                </a:lnTo>
                <a:lnTo>
                  <a:pt x="277006" y="165864"/>
                </a:lnTo>
                <a:lnTo>
                  <a:pt x="263429" y="165864"/>
                </a:lnTo>
                <a:lnTo>
                  <a:pt x="263429" y="158339"/>
                </a:lnTo>
                <a:lnTo>
                  <a:pt x="47999" y="158339"/>
                </a:lnTo>
                <a:lnTo>
                  <a:pt x="47999" y="123407"/>
                </a:lnTo>
                <a:lnTo>
                  <a:pt x="263429" y="123407"/>
                </a:lnTo>
                <a:lnTo>
                  <a:pt x="263429" y="115882"/>
                </a:lnTo>
                <a:lnTo>
                  <a:pt x="277006" y="115882"/>
                </a:lnTo>
                <a:lnTo>
                  <a:pt x="253829" y="92706"/>
                </a:lnTo>
                <a:close/>
              </a:path>
              <a:path w="356869" h="281939">
                <a:moveTo>
                  <a:pt x="277006" y="115882"/>
                </a:moveTo>
                <a:lnTo>
                  <a:pt x="263429" y="115882"/>
                </a:lnTo>
                <a:lnTo>
                  <a:pt x="288420" y="140873"/>
                </a:lnTo>
                <a:lnTo>
                  <a:pt x="263429" y="165864"/>
                </a:lnTo>
                <a:lnTo>
                  <a:pt x="277006" y="165864"/>
                </a:lnTo>
                <a:lnTo>
                  <a:pt x="301997" y="140873"/>
                </a:lnTo>
                <a:lnTo>
                  <a:pt x="277006" y="115882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216305" y="4743424"/>
            <a:ext cx="298450" cy="166370"/>
          </a:xfrm>
          <a:custGeom>
            <a:avLst/>
            <a:gdLst/>
            <a:ahLst/>
            <a:cxnLst/>
            <a:rect l="l" t="t" r="r" b="b"/>
            <a:pathLst>
              <a:path w="298450" h="166370">
                <a:moveTo>
                  <a:pt x="215430" y="0"/>
                </a:moveTo>
                <a:lnTo>
                  <a:pt x="215430" y="41466"/>
                </a:lnTo>
                <a:lnTo>
                  <a:pt x="0" y="41466"/>
                </a:lnTo>
                <a:lnTo>
                  <a:pt x="0" y="124397"/>
                </a:lnTo>
                <a:lnTo>
                  <a:pt x="215430" y="124397"/>
                </a:lnTo>
                <a:lnTo>
                  <a:pt x="215430" y="165864"/>
                </a:lnTo>
                <a:lnTo>
                  <a:pt x="298362" y="82932"/>
                </a:lnTo>
                <a:lnTo>
                  <a:pt x="21543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192304" y="4685483"/>
            <a:ext cx="356870" cy="281940"/>
          </a:xfrm>
          <a:custGeom>
            <a:avLst/>
            <a:gdLst/>
            <a:ahLst/>
            <a:cxnLst/>
            <a:rect l="l" t="t" r="r" b="b"/>
            <a:pathLst>
              <a:path w="356869" h="281939">
                <a:moveTo>
                  <a:pt x="215430" y="0"/>
                </a:moveTo>
                <a:lnTo>
                  <a:pt x="215430" y="75407"/>
                </a:lnTo>
                <a:lnTo>
                  <a:pt x="0" y="75407"/>
                </a:lnTo>
                <a:lnTo>
                  <a:pt x="0" y="206339"/>
                </a:lnTo>
                <a:lnTo>
                  <a:pt x="215430" y="206339"/>
                </a:lnTo>
                <a:lnTo>
                  <a:pt x="215430" y="281746"/>
                </a:lnTo>
                <a:lnTo>
                  <a:pt x="284960" y="212217"/>
                </a:lnTo>
                <a:lnTo>
                  <a:pt x="244231" y="212217"/>
                </a:lnTo>
                <a:lnTo>
                  <a:pt x="244231" y="177539"/>
                </a:lnTo>
                <a:lnTo>
                  <a:pt x="28801" y="177539"/>
                </a:lnTo>
                <a:lnTo>
                  <a:pt x="28801" y="104207"/>
                </a:lnTo>
                <a:lnTo>
                  <a:pt x="244231" y="104207"/>
                </a:lnTo>
                <a:lnTo>
                  <a:pt x="244231" y="69529"/>
                </a:lnTo>
                <a:lnTo>
                  <a:pt x="284960" y="69529"/>
                </a:lnTo>
                <a:lnTo>
                  <a:pt x="215430" y="0"/>
                </a:lnTo>
                <a:close/>
              </a:path>
              <a:path w="356869" h="281939">
                <a:moveTo>
                  <a:pt x="284960" y="69529"/>
                </a:moveTo>
                <a:lnTo>
                  <a:pt x="244231" y="69529"/>
                </a:lnTo>
                <a:lnTo>
                  <a:pt x="315574" y="140873"/>
                </a:lnTo>
                <a:lnTo>
                  <a:pt x="244231" y="212217"/>
                </a:lnTo>
                <a:lnTo>
                  <a:pt x="284960" y="212217"/>
                </a:lnTo>
                <a:lnTo>
                  <a:pt x="356303" y="140873"/>
                </a:lnTo>
                <a:lnTo>
                  <a:pt x="284960" y="69529"/>
                </a:lnTo>
                <a:close/>
              </a:path>
              <a:path w="356869" h="281939">
                <a:moveTo>
                  <a:pt x="253831" y="92706"/>
                </a:moveTo>
                <a:lnTo>
                  <a:pt x="253831" y="113807"/>
                </a:lnTo>
                <a:lnTo>
                  <a:pt x="38400" y="113807"/>
                </a:lnTo>
                <a:lnTo>
                  <a:pt x="38400" y="167939"/>
                </a:lnTo>
                <a:lnTo>
                  <a:pt x="253831" y="167939"/>
                </a:lnTo>
                <a:lnTo>
                  <a:pt x="253831" y="189040"/>
                </a:lnTo>
                <a:lnTo>
                  <a:pt x="277007" y="165864"/>
                </a:lnTo>
                <a:lnTo>
                  <a:pt x="263431" y="165864"/>
                </a:lnTo>
                <a:lnTo>
                  <a:pt x="263431" y="158339"/>
                </a:lnTo>
                <a:lnTo>
                  <a:pt x="48000" y="158339"/>
                </a:lnTo>
                <a:lnTo>
                  <a:pt x="48000" y="123407"/>
                </a:lnTo>
                <a:lnTo>
                  <a:pt x="263431" y="123407"/>
                </a:lnTo>
                <a:lnTo>
                  <a:pt x="263431" y="115882"/>
                </a:lnTo>
                <a:lnTo>
                  <a:pt x="277007" y="115882"/>
                </a:lnTo>
                <a:lnTo>
                  <a:pt x="253831" y="92706"/>
                </a:lnTo>
                <a:close/>
              </a:path>
              <a:path w="356869" h="281939">
                <a:moveTo>
                  <a:pt x="277007" y="115882"/>
                </a:moveTo>
                <a:lnTo>
                  <a:pt x="263431" y="115882"/>
                </a:lnTo>
                <a:lnTo>
                  <a:pt x="288422" y="140873"/>
                </a:lnTo>
                <a:lnTo>
                  <a:pt x="263431" y="165864"/>
                </a:lnTo>
                <a:lnTo>
                  <a:pt x="277007" y="165864"/>
                </a:lnTo>
                <a:lnTo>
                  <a:pt x="301998" y="140873"/>
                </a:lnTo>
                <a:lnTo>
                  <a:pt x="277007" y="115882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4224289" y="4742178"/>
            <a:ext cx="298450" cy="166370"/>
          </a:xfrm>
          <a:custGeom>
            <a:avLst/>
            <a:gdLst/>
            <a:ahLst/>
            <a:cxnLst/>
            <a:rect l="l" t="t" r="r" b="b"/>
            <a:pathLst>
              <a:path w="298450" h="166370">
                <a:moveTo>
                  <a:pt x="215430" y="0"/>
                </a:moveTo>
                <a:lnTo>
                  <a:pt x="215430" y="41466"/>
                </a:lnTo>
                <a:lnTo>
                  <a:pt x="0" y="41466"/>
                </a:lnTo>
                <a:lnTo>
                  <a:pt x="0" y="124397"/>
                </a:lnTo>
                <a:lnTo>
                  <a:pt x="215430" y="124397"/>
                </a:lnTo>
                <a:lnTo>
                  <a:pt x="215430" y="165864"/>
                </a:lnTo>
                <a:lnTo>
                  <a:pt x="298362" y="82932"/>
                </a:lnTo>
                <a:lnTo>
                  <a:pt x="21543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200290" y="4684237"/>
            <a:ext cx="356870" cy="281940"/>
          </a:xfrm>
          <a:custGeom>
            <a:avLst/>
            <a:gdLst/>
            <a:ahLst/>
            <a:cxnLst/>
            <a:rect l="l" t="t" r="r" b="b"/>
            <a:pathLst>
              <a:path w="356870" h="281939">
                <a:moveTo>
                  <a:pt x="215430" y="0"/>
                </a:moveTo>
                <a:lnTo>
                  <a:pt x="215430" y="75407"/>
                </a:lnTo>
                <a:lnTo>
                  <a:pt x="0" y="75407"/>
                </a:lnTo>
                <a:lnTo>
                  <a:pt x="0" y="206339"/>
                </a:lnTo>
                <a:lnTo>
                  <a:pt x="215430" y="206339"/>
                </a:lnTo>
                <a:lnTo>
                  <a:pt x="215430" y="281746"/>
                </a:lnTo>
                <a:lnTo>
                  <a:pt x="284959" y="212216"/>
                </a:lnTo>
                <a:lnTo>
                  <a:pt x="244229" y="212216"/>
                </a:lnTo>
                <a:lnTo>
                  <a:pt x="244229" y="177539"/>
                </a:lnTo>
                <a:lnTo>
                  <a:pt x="28799" y="177539"/>
                </a:lnTo>
                <a:lnTo>
                  <a:pt x="28799" y="104207"/>
                </a:lnTo>
                <a:lnTo>
                  <a:pt x="244229" y="104207"/>
                </a:lnTo>
                <a:lnTo>
                  <a:pt x="244229" y="69529"/>
                </a:lnTo>
                <a:lnTo>
                  <a:pt x="284959" y="69529"/>
                </a:lnTo>
                <a:lnTo>
                  <a:pt x="215430" y="0"/>
                </a:lnTo>
                <a:close/>
              </a:path>
              <a:path w="356870" h="281939">
                <a:moveTo>
                  <a:pt x="284959" y="69529"/>
                </a:moveTo>
                <a:lnTo>
                  <a:pt x="244229" y="69529"/>
                </a:lnTo>
                <a:lnTo>
                  <a:pt x="315573" y="140873"/>
                </a:lnTo>
                <a:lnTo>
                  <a:pt x="244229" y="212216"/>
                </a:lnTo>
                <a:lnTo>
                  <a:pt x="284959" y="212216"/>
                </a:lnTo>
                <a:lnTo>
                  <a:pt x="356302" y="140873"/>
                </a:lnTo>
                <a:lnTo>
                  <a:pt x="284959" y="69529"/>
                </a:lnTo>
                <a:close/>
              </a:path>
              <a:path w="356870" h="281939">
                <a:moveTo>
                  <a:pt x="253829" y="92706"/>
                </a:moveTo>
                <a:lnTo>
                  <a:pt x="253829" y="113807"/>
                </a:lnTo>
                <a:lnTo>
                  <a:pt x="38399" y="113807"/>
                </a:lnTo>
                <a:lnTo>
                  <a:pt x="38399" y="167939"/>
                </a:lnTo>
                <a:lnTo>
                  <a:pt x="253829" y="167939"/>
                </a:lnTo>
                <a:lnTo>
                  <a:pt x="253829" y="189040"/>
                </a:lnTo>
                <a:lnTo>
                  <a:pt x="277006" y="165864"/>
                </a:lnTo>
                <a:lnTo>
                  <a:pt x="263429" y="165864"/>
                </a:lnTo>
                <a:lnTo>
                  <a:pt x="263429" y="158339"/>
                </a:lnTo>
                <a:lnTo>
                  <a:pt x="47999" y="158339"/>
                </a:lnTo>
                <a:lnTo>
                  <a:pt x="47999" y="123407"/>
                </a:lnTo>
                <a:lnTo>
                  <a:pt x="263429" y="123407"/>
                </a:lnTo>
                <a:lnTo>
                  <a:pt x="263429" y="115882"/>
                </a:lnTo>
                <a:lnTo>
                  <a:pt x="277006" y="115882"/>
                </a:lnTo>
                <a:lnTo>
                  <a:pt x="253829" y="92706"/>
                </a:lnTo>
                <a:close/>
              </a:path>
              <a:path w="356870" h="281939">
                <a:moveTo>
                  <a:pt x="277006" y="115882"/>
                </a:moveTo>
                <a:lnTo>
                  <a:pt x="263429" y="115882"/>
                </a:lnTo>
                <a:lnTo>
                  <a:pt x="288420" y="140873"/>
                </a:lnTo>
                <a:lnTo>
                  <a:pt x="263429" y="165864"/>
                </a:lnTo>
                <a:lnTo>
                  <a:pt x="277006" y="165864"/>
                </a:lnTo>
                <a:lnTo>
                  <a:pt x="301997" y="140873"/>
                </a:lnTo>
                <a:lnTo>
                  <a:pt x="277006" y="115882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6188237" y="4750221"/>
            <a:ext cx="298450" cy="166370"/>
          </a:xfrm>
          <a:custGeom>
            <a:avLst/>
            <a:gdLst/>
            <a:ahLst/>
            <a:cxnLst/>
            <a:rect l="l" t="t" r="r" b="b"/>
            <a:pathLst>
              <a:path w="298450" h="166370">
                <a:moveTo>
                  <a:pt x="215430" y="0"/>
                </a:moveTo>
                <a:lnTo>
                  <a:pt x="215430" y="41466"/>
                </a:lnTo>
                <a:lnTo>
                  <a:pt x="0" y="41466"/>
                </a:lnTo>
                <a:lnTo>
                  <a:pt x="0" y="124397"/>
                </a:lnTo>
                <a:lnTo>
                  <a:pt x="215430" y="124397"/>
                </a:lnTo>
                <a:lnTo>
                  <a:pt x="215430" y="165864"/>
                </a:lnTo>
                <a:lnTo>
                  <a:pt x="298362" y="82932"/>
                </a:lnTo>
                <a:lnTo>
                  <a:pt x="21543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164238" y="4692280"/>
            <a:ext cx="356870" cy="281940"/>
          </a:xfrm>
          <a:custGeom>
            <a:avLst/>
            <a:gdLst/>
            <a:ahLst/>
            <a:cxnLst/>
            <a:rect l="l" t="t" r="r" b="b"/>
            <a:pathLst>
              <a:path w="356870" h="281939">
                <a:moveTo>
                  <a:pt x="215430" y="0"/>
                </a:moveTo>
                <a:lnTo>
                  <a:pt x="215430" y="75407"/>
                </a:lnTo>
                <a:lnTo>
                  <a:pt x="0" y="75407"/>
                </a:lnTo>
                <a:lnTo>
                  <a:pt x="0" y="206339"/>
                </a:lnTo>
                <a:lnTo>
                  <a:pt x="215430" y="206339"/>
                </a:lnTo>
                <a:lnTo>
                  <a:pt x="215430" y="281746"/>
                </a:lnTo>
                <a:lnTo>
                  <a:pt x="284959" y="212216"/>
                </a:lnTo>
                <a:lnTo>
                  <a:pt x="244229" y="212216"/>
                </a:lnTo>
                <a:lnTo>
                  <a:pt x="244229" y="177539"/>
                </a:lnTo>
                <a:lnTo>
                  <a:pt x="28799" y="177539"/>
                </a:lnTo>
                <a:lnTo>
                  <a:pt x="28799" y="104207"/>
                </a:lnTo>
                <a:lnTo>
                  <a:pt x="244229" y="104207"/>
                </a:lnTo>
                <a:lnTo>
                  <a:pt x="244229" y="69529"/>
                </a:lnTo>
                <a:lnTo>
                  <a:pt x="284959" y="69529"/>
                </a:lnTo>
                <a:lnTo>
                  <a:pt x="215430" y="0"/>
                </a:lnTo>
                <a:close/>
              </a:path>
              <a:path w="356870" h="281939">
                <a:moveTo>
                  <a:pt x="284959" y="69529"/>
                </a:moveTo>
                <a:lnTo>
                  <a:pt x="244229" y="69529"/>
                </a:lnTo>
                <a:lnTo>
                  <a:pt x="315573" y="140873"/>
                </a:lnTo>
                <a:lnTo>
                  <a:pt x="244229" y="212216"/>
                </a:lnTo>
                <a:lnTo>
                  <a:pt x="284959" y="212216"/>
                </a:lnTo>
                <a:lnTo>
                  <a:pt x="356302" y="140873"/>
                </a:lnTo>
                <a:lnTo>
                  <a:pt x="284959" y="69529"/>
                </a:lnTo>
                <a:close/>
              </a:path>
              <a:path w="356870" h="281939">
                <a:moveTo>
                  <a:pt x="253829" y="92706"/>
                </a:moveTo>
                <a:lnTo>
                  <a:pt x="253829" y="113807"/>
                </a:lnTo>
                <a:lnTo>
                  <a:pt x="38399" y="113807"/>
                </a:lnTo>
                <a:lnTo>
                  <a:pt x="38399" y="167939"/>
                </a:lnTo>
                <a:lnTo>
                  <a:pt x="253829" y="167939"/>
                </a:lnTo>
                <a:lnTo>
                  <a:pt x="253829" y="189040"/>
                </a:lnTo>
                <a:lnTo>
                  <a:pt x="277006" y="165864"/>
                </a:lnTo>
                <a:lnTo>
                  <a:pt x="263429" y="165864"/>
                </a:lnTo>
                <a:lnTo>
                  <a:pt x="263429" y="158339"/>
                </a:lnTo>
                <a:lnTo>
                  <a:pt x="47999" y="158339"/>
                </a:lnTo>
                <a:lnTo>
                  <a:pt x="47999" y="123407"/>
                </a:lnTo>
                <a:lnTo>
                  <a:pt x="263429" y="123407"/>
                </a:lnTo>
                <a:lnTo>
                  <a:pt x="263429" y="115882"/>
                </a:lnTo>
                <a:lnTo>
                  <a:pt x="277006" y="115882"/>
                </a:lnTo>
                <a:lnTo>
                  <a:pt x="253829" y="92706"/>
                </a:lnTo>
                <a:close/>
              </a:path>
              <a:path w="356870" h="281939">
                <a:moveTo>
                  <a:pt x="277006" y="115882"/>
                </a:moveTo>
                <a:lnTo>
                  <a:pt x="263429" y="115882"/>
                </a:lnTo>
                <a:lnTo>
                  <a:pt x="288420" y="140873"/>
                </a:lnTo>
                <a:lnTo>
                  <a:pt x="263429" y="165864"/>
                </a:lnTo>
                <a:lnTo>
                  <a:pt x="277006" y="165864"/>
                </a:lnTo>
                <a:lnTo>
                  <a:pt x="301997" y="140873"/>
                </a:lnTo>
                <a:lnTo>
                  <a:pt x="277006" y="115882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3740779" y="2016421"/>
            <a:ext cx="1298575" cy="1053465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marL="78105">
              <a:lnSpc>
                <a:spcPct val="100000"/>
              </a:lnSpc>
              <a:spcBef>
                <a:spcPts val="1095"/>
              </a:spcBef>
            </a:pPr>
            <a:r>
              <a:rPr dirty="0" sz="2800" spc="-15">
                <a:latin typeface="Calibri"/>
                <a:cs typeface="Calibri"/>
              </a:rPr>
              <a:t>Graph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>
                <a:latin typeface="Cambria Math"/>
                <a:cs typeface="Cambria Math"/>
              </a:rPr>
              <a:t>𝐺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  <a:tabLst>
                <a:tab pos="1005205" algn="l"/>
              </a:tabLst>
            </a:pPr>
            <a:r>
              <a:rPr dirty="0" sz="2400" spc="-5">
                <a:latin typeface="Arial"/>
                <a:cs typeface="Arial"/>
              </a:rPr>
              <a:t>1	3</a:t>
            </a:r>
            <a:endParaRPr sz="2400">
              <a:latin typeface="Arial"/>
              <a:cs typeface="Arial"/>
            </a:endParaRPr>
          </a:p>
        </p:txBody>
      </p:sp>
      <p:sp>
        <p:nvSpPr>
          <p:cNvPr id="60" name="object 6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61" name="object 6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62" name="object 6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14</a:t>
            </a:fld>
          </a:p>
        </p:txBody>
      </p:sp>
      <p:sp>
        <p:nvSpPr>
          <p:cNvPr id="58" name="object 58"/>
          <p:cNvSpPr txBox="1"/>
          <p:nvPr/>
        </p:nvSpPr>
        <p:spPr>
          <a:xfrm>
            <a:off x="2990178" y="3355775"/>
            <a:ext cx="3282950" cy="1153795"/>
          </a:xfrm>
          <a:prstGeom prst="rect">
            <a:avLst/>
          </a:prstGeom>
        </p:spPr>
        <p:txBody>
          <a:bodyPr wrap="square" lIns="0" tIns="167640" rIns="0" bIns="0" rtlCol="0" vert="horz">
            <a:spAutoFit/>
          </a:bodyPr>
          <a:lstStyle/>
          <a:p>
            <a:pPr marL="763270">
              <a:lnSpc>
                <a:spcPct val="100000"/>
              </a:lnSpc>
              <a:spcBef>
                <a:spcPts val="1320"/>
              </a:spcBef>
              <a:tabLst>
                <a:tab pos="1755775" algn="l"/>
              </a:tabLst>
            </a:pPr>
            <a:r>
              <a:rPr dirty="0" sz="2400" spc="-5">
                <a:latin typeface="Arial"/>
                <a:cs typeface="Arial"/>
              </a:rPr>
              <a:t>2	4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dirty="0" sz="2800" spc="-15">
                <a:solidFill>
                  <a:srgbClr val="0000FF"/>
                </a:solidFill>
                <a:latin typeface="Calibri"/>
                <a:cs typeface="Calibri"/>
              </a:rPr>
              <a:t>Generation </a:t>
            </a:r>
            <a:r>
              <a:rPr dirty="0" sz="2800" spc="-10">
                <a:solidFill>
                  <a:srgbClr val="0000FF"/>
                </a:solidFill>
                <a:latin typeface="Calibri"/>
                <a:cs typeface="Calibri"/>
              </a:rPr>
              <a:t>process</a:t>
            </a:r>
            <a:r>
              <a:rPr dirty="0" sz="2800" spc="-3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800" spc="300">
                <a:solidFill>
                  <a:srgbClr val="0000FF"/>
                </a:solidFill>
                <a:latin typeface="Cambria Math"/>
                <a:cs typeface="Cambria Math"/>
              </a:rPr>
              <a:t>𝑆</a:t>
            </a:r>
            <a:r>
              <a:rPr dirty="0" baseline="29166" sz="3000" spc="450">
                <a:solidFill>
                  <a:srgbClr val="0000FF"/>
                </a:solidFill>
                <a:latin typeface="Cambria Math"/>
                <a:cs typeface="Cambria Math"/>
              </a:rPr>
              <a:t>*</a:t>
            </a:r>
            <a:endParaRPr baseline="29166" sz="3000">
              <a:latin typeface="Cambria Math"/>
              <a:cs typeface="Cambria Math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23350" y="6225540"/>
            <a:ext cx="8514080" cy="443230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>
              <a:lnSpc>
                <a:spcPts val="1610"/>
              </a:lnSpc>
              <a:spcBef>
                <a:spcPts val="210"/>
              </a:spcBef>
            </a:pPr>
            <a:r>
              <a:rPr dirty="0" sz="1400" spc="-5" u="sng">
                <a:solidFill>
                  <a:srgbClr val="168BBA"/>
                </a:solidFill>
                <a:latin typeface="Verdana"/>
                <a:cs typeface="Verdana"/>
              </a:rPr>
              <a:t>GraphRNN: Generating </a:t>
            </a:r>
            <a:r>
              <a:rPr dirty="0" sz="1400" spc="-10" u="sng">
                <a:solidFill>
                  <a:srgbClr val="168BBA"/>
                </a:solidFill>
                <a:latin typeface="Verdana"/>
                <a:cs typeface="Verdana"/>
              </a:rPr>
              <a:t>Realistic </a:t>
            </a:r>
            <a:r>
              <a:rPr dirty="0" sz="1400" spc="-5" u="sng">
                <a:solidFill>
                  <a:srgbClr val="168BBA"/>
                </a:solidFill>
                <a:latin typeface="Verdana"/>
                <a:cs typeface="Verdana"/>
              </a:rPr>
              <a:t>Graphs with Deep Auto-regressive Models</a:t>
            </a:r>
            <a:r>
              <a:rPr dirty="0" sz="1400" spc="-5">
                <a:latin typeface="Verdana"/>
                <a:cs typeface="Verdana"/>
              </a:rPr>
              <a:t>. </a:t>
            </a:r>
            <a:r>
              <a:rPr dirty="0" sz="1400" spc="-10">
                <a:latin typeface="Verdana"/>
                <a:cs typeface="Verdana"/>
              </a:rPr>
              <a:t>J. </a:t>
            </a:r>
            <a:r>
              <a:rPr dirty="0" sz="1400" spc="-25">
                <a:latin typeface="Verdana"/>
                <a:cs typeface="Verdana"/>
              </a:rPr>
              <a:t>You, </a:t>
            </a:r>
            <a:r>
              <a:rPr dirty="0" sz="1400">
                <a:latin typeface="Verdana"/>
                <a:cs typeface="Verdana"/>
              </a:rPr>
              <a:t>R. Ying, X.  </a:t>
            </a:r>
            <a:r>
              <a:rPr dirty="0" sz="1400" spc="-10">
                <a:latin typeface="Verdana"/>
                <a:cs typeface="Verdana"/>
              </a:rPr>
              <a:t>Ren, </a:t>
            </a:r>
            <a:r>
              <a:rPr dirty="0" sz="1400" spc="-75">
                <a:latin typeface="Verdana"/>
                <a:cs typeface="Verdana"/>
              </a:rPr>
              <a:t>W. </a:t>
            </a:r>
            <a:r>
              <a:rPr dirty="0" sz="1400" spc="-5">
                <a:latin typeface="Verdana"/>
                <a:cs typeface="Verdana"/>
              </a:rPr>
              <a:t>L. Hamilton, </a:t>
            </a:r>
            <a:r>
              <a:rPr dirty="0" sz="1400" spc="-10">
                <a:latin typeface="Verdana"/>
                <a:cs typeface="Verdana"/>
              </a:rPr>
              <a:t>J. Leskovec. </a:t>
            </a:r>
            <a:r>
              <a:rPr dirty="0" sz="1400" spc="-5" i="1">
                <a:latin typeface="Verdana"/>
                <a:cs typeface="Verdana"/>
              </a:rPr>
              <a:t>International Conference </a:t>
            </a:r>
            <a:r>
              <a:rPr dirty="0" sz="1400" i="1">
                <a:latin typeface="Verdana"/>
                <a:cs typeface="Verdana"/>
              </a:rPr>
              <a:t>on </a:t>
            </a:r>
            <a:r>
              <a:rPr dirty="0" sz="1400" spc="-5" i="1">
                <a:latin typeface="Verdana"/>
                <a:cs typeface="Verdana"/>
              </a:rPr>
              <a:t>Machine Learning (ICML)</a:t>
            </a:r>
            <a:r>
              <a:rPr dirty="0" sz="1400" spc="-5">
                <a:latin typeface="Verdana"/>
                <a:cs typeface="Verdana"/>
              </a:rPr>
              <a:t>,</a:t>
            </a:r>
            <a:r>
              <a:rPr dirty="0" sz="1400" spc="180">
                <a:latin typeface="Verdana"/>
                <a:cs typeface="Verdana"/>
              </a:rPr>
              <a:t> </a:t>
            </a:r>
            <a:r>
              <a:rPr dirty="0" sz="1400" spc="-5">
                <a:latin typeface="Verdana"/>
                <a:cs typeface="Verdana"/>
              </a:rPr>
              <a:t>2018.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751320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353037" y="2500555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353037" y="3333333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345706" y="3333333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718797" y="3512412"/>
            <a:ext cx="627380" cy="0"/>
          </a:xfrm>
          <a:custGeom>
            <a:avLst/>
            <a:gdLst/>
            <a:ahLst/>
            <a:cxnLst/>
            <a:rect l="l" t="t" r="r" b="b"/>
            <a:pathLst>
              <a:path w="627379" h="0">
                <a:moveTo>
                  <a:pt x="0" y="0"/>
                </a:moveTo>
                <a:lnTo>
                  <a:pt x="626909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336193" y="2492287"/>
            <a:ext cx="384810" cy="383540"/>
          </a:xfrm>
          <a:custGeom>
            <a:avLst/>
            <a:gdLst/>
            <a:ahLst/>
            <a:cxnLst/>
            <a:rect l="l" t="t" r="r" b="b"/>
            <a:pathLst>
              <a:path w="384810" h="383539">
                <a:moveTo>
                  <a:pt x="211571" y="0"/>
                </a:moveTo>
                <a:lnTo>
                  <a:pt x="172257" y="0"/>
                </a:lnTo>
                <a:lnTo>
                  <a:pt x="134735" y="7619"/>
                </a:lnTo>
                <a:lnTo>
                  <a:pt x="84438" y="33019"/>
                </a:lnTo>
                <a:lnTo>
                  <a:pt x="43646" y="69850"/>
                </a:lnTo>
                <a:lnTo>
                  <a:pt x="14939" y="116839"/>
                </a:lnTo>
                <a:lnTo>
                  <a:pt x="3812" y="153669"/>
                </a:lnTo>
                <a:lnTo>
                  <a:pt x="0" y="191769"/>
                </a:lnTo>
                <a:lnTo>
                  <a:pt x="1041" y="212089"/>
                </a:lnTo>
                <a:lnTo>
                  <a:pt x="15303" y="266700"/>
                </a:lnTo>
                <a:lnTo>
                  <a:pt x="44225" y="314960"/>
                </a:lnTo>
                <a:lnTo>
                  <a:pt x="85196" y="351789"/>
                </a:lnTo>
                <a:lnTo>
                  <a:pt x="135637" y="375919"/>
                </a:lnTo>
                <a:lnTo>
                  <a:pt x="173214" y="383539"/>
                </a:lnTo>
                <a:lnTo>
                  <a:pt x="212528" y="383539"/>
                </a:lnTo>
                <a:lnTo>
                  <a:pt x="250049" y="375919"/>
                </a:lnTo>
                <a:lnTo>
                  <a:pt x="255936" y="373379"/>
                </a:lnTo>
                <a:lnTo>
                  <a:pt x="192297" y="373379"/>
                </a:lnTo>
                <a:lnTo>
                  <a:pt x="173790" y="372110"/>
                </a:lnTo>
                <a:lnTo>
                  <a:pt x="121862" y="358139"/>
                </a:lnTo>
                <a:lnTo>
                  <a:pt x="77204" y="331469"/>
                </a:lnTo>
                <a:lnTo>
                  <a:pt x="42271" y="293369"/>
                </a:lnTo>
                <a:lnTo>
                  <a:pt x="19523" y="245110"/>
                </a:lnTo>
                <a:lnTo>
                  <a:pt x="11414" y="191769"/>
                </a:lnTo>
                <a:lnTo>
                  <a:pt x="12359" y="172719"/>
                </a:lnTo>
                <a:lnTo>
                  <a:pt x="25673" y="120650"/>
                </a:lnTo>
                <a:lnTo>
                  <a:pt x="52798" y="76200"/>
                </a:lnTo>
                <a:lnTo>
                  <a:pt x="91283" y="41910"/>
                </a:lnTo>
                <a:lnTo>
                  <a:pt x="138664" y="19050"/>
                </a:lnTo>
                <a:lnTo>
                  <a:pt x="173981" y="11429"/>
                </a:lnTo>
                <a:lnTo>
                  <a:pt x="259769" y="11429"/>
                </a:lnTo>
                <a:lnTo>
                  <a:pt x="249147" y="7619"/>
                </a:lnTo>
                <a:lnTo>
                  <a:pt x="211571" y="0"/>
                </a:lnTo>
                <a:close/>
              </a:path>
              <a:path w="384810" h="383539">
                <a:moveTo>
                  <a:pt x="259769" y="11429"/>
                </a:moveTo>
                <a:lnTo>
                  <a:pt x="210995" y="11429"/>
                </a:lnTo>
                <a:lnTo>
                  <a:pt x="228961" y="13969"/>
                </a:lnTo>
                <a:lnTo>
                  <a:pt x="246301" y="19050"/>
                </a:lnTo>
                <a:lnTo>
                  <a:pt x="293653" y="41910"/>
                </a:lnTo>
                <a:lnTo>
                  <a:pt x="332102" y="76200"/>
                </a:lnTo>
                <a:lnTo>
                  <a:pt x="359185" y="121919"/>
                </a:lnTo>
                <a:lnTo>
                  <a:pt x="372445" y="173989"/>
                </a:lnTo>
                <a:lnTo>
                  <a:pt x="373369" y="191769"/>
                </a:lnTo>
                <a:lnTo>
                  <a:pt x="372426" y="210819"/>
                </a:lnTo>
                <a:lnTo>
                  <a:pt x="359111" y="262889"/>
                </a:lnTo>
                <a:lnTo>
                  <a:pt x="331985" y="307339"/>
                </a:lnTo>
                <a:lnTo>
                  <a:pt x="293502" y="341629"/>
                </a:lnTo>
                <a:lnTo>
                  <a:pt x="246120" y="364489"/>
                </a:lnTo>
                <a:lnTo>
                  <a:pt x="192297" y="373379"/>
                </a:lnTo>
                <a:lnTo>
                  <a:pt x="255936" y="373379"/>
                </a:lnTo>
                <a:lnTo>
                  <a:pt x="300347" y="350519"/>
                </a:lnTo>
                <a:lnTo>
                  <a:pt x="341139" y="313689"/>
                </a:lnTo>
                <a:lnTo>
                  <a:pt x="369845" y="266700"/>
                </a:lnTo>
                <a:lnTo>
                  <a:pt x="380973" y="229869"/>
                </a:lnTo>
                <a:lnTo>
                  <a:pt x="384785" y="191769"/>
                </a:lnTo>
                <a:lnTo>
                  <a:pt x="383744" y="171450"/>
                </a:lnTo>
                <a:lnTo>
                  <a:pt x="369482" y="116839"/>
                </a:lnTo>
                <a:lnTo>
                  <a:pt x="340560" y="68579"/>
                </a:lnTo>
                <a:lnTo>
                  <a:pt x="299587" y="31750"/>
                </a:lnTo>
                <a:lnTo>
                  <a:pt x="266851" y="13969"/>
                </a:lnTo>
                <a:lnTo>
                  <a:pt x="259769" y="11429"/>
                </a:lnTo>
                <a:close/>
              </a:path>
              <a:path w="384810" h="383539">
                <a:moveTo>
                  <a:pt x="210803" y="15239"/>
                </a:moveTo>
                <a:lnTo>
                  <a:pt x="174556" y="15239"/>
                </a:lnTo>
                <a:lnTo>
                  <a:pt x="156959" y="17779"/>
                </a:lnTo>
                <a:lnTo>
                  <a:pt x="108188" y="35560"/>
                </a:lnTo>
                <a:lnTo>
                  <a:pt x="67306" y="66039"/>
                </a:lnTo>
                <a:lnTo>
                  <a:pt x="36733" y="106679"/>
                </a:lnTo>
                <a:lnTo>
                  <a:pt x="18877" y="156210"/>
                </a:lnTo>
                <a:lnTo>
                  <a:pt x="15220" y="191769"/>
                </a:lnTo>
                <a:lnTo>
                  <a:pt x="16106" y="209550"/>
                </a:lnTo>
                <a:lnTo>
                  <a:pt x="29033" y="260350"/>
                </a:lnTo>
                <a:lnTo>
                  <a:pt x="55502" y="304800"/>
                </a:lnTo>
                <a:lnTo>
                  <a:pt x="93110" y="339089"/>
                </a:lnTo>
                <a:lnTo>
                  <a:pt x="139433" y="360679"/>
                </a:lnTo>
                <a:lnTo>
                  <a:pt x="192104" y="369569"/>
                </a:lnTo>
                <a:lnTo>
                  <a:pt x="210229" y="368300"/>
                </a:lnTo>
                <a:lnTo>
                  <a:pt x="227826" y="365760"/>
                </a:lnTo>
                <a:lnTo>
                  <a:pt x="191912" y="365760"/>
                </a:lnTo>
                <a:lnTo>
                  <a:pt x="174174" y="364489"/>
                </a:lnTo>
                <a:lnTo>
                  <a:pt x="124481" y="351789"/>
                </a:lnTo>
                <a:lnTo>
                  <a:pt x="81767" y="325119"/>
                </a:lnTo>
                <a:lnTo>
                  <a:pt x="48374" y="288289"/>
                </a:lnTo>
                <a:lnTo>
                  <a:pt x="26678" y="242569"/>
                </a:lnTo>
                <a:lnTo>
                  <a:pt x="19025" y="191769"/>
                </a:lnTo>
                <a:lnTo>
                  <a:pt x="19969" y="173989"/>
                </a:lnTo>
                <a:lnTo>
                  <a:pt x="32829" y="124460"/>
                </a:lnTo>
                <a:lnTo>
                  <a:pt x="58901" y="81279"/>
                </a:lnTo>
                <a:lnTo>
                  <a:pt x="95846" y="48260"/>
                </a:lnTo>
                <a:lnTo>
                  <a:pt x="141283" y="26669"/>
                </a:lnTo>
                <a:lnTo>
                  <a:pt x="192873" y="17779"/>
                </a:lnTo>
                <a:lnTo>
                  <a:pt x="228386" y="17779"/>
                </a:lnTo>
                <a:lnTo>
                  <a:pt x="210803" y="15239"/>
                </a:lnTo>
                <a:close/>
              </a:path>
              <a:path w="384810" h="383539">
                <a:moveTo>
                  <a:pt x="228386" y="17779"/>
                </a:moveTo>
                <a:lnTo>
                  <a:pt x="192873" y="17779"/>
                </a:lnTo>
                <a:lnTo>
                  <a:pt x="210610" y="19050"/>
                </a:lnTo>
                <a:lnTo>
                  <a:pt x="227812" y="21589"/>
                </a:lnTo>
                <a:lnTo>
                  <a:pt x="275429" y="39369"/>
                </a:lnTo>
                <a:lnTo>
                  <a:pt x="315301" y="69850"/>
                </a:lnTo>
                <a:lnTo>
                  <a:pt x="345059" y="109219"/>
                </a:lnTo>
                <a:lnTo>
                  <a:pt x="362332" y="157479"/>
                </a:lnTo>
                <a:lnTo>
                  <a:pt x="365760" y="191769"/>
                </a:lnTo>
                <a:lnTo>
                  <a:pt x="364815" y="209550"/>
                </a:lnTo>
                <a:lnTo>
                  <a:pt x="351956" y="259079"/>
                </a:lnTo>
                <a:lnTo>
                  <a:pt x="325883" y="302260"/>
                </a:lnTo>
                <a:lnTo>
                  <a:pt x="288938" y="335279"/>
                </a:lnTo>
                <a:lnTo>
                  <a:pt x="243502" y="356869"/>
                </a:lnTo>
                <a:lnTo>
                  <a:pt x="191912" y="365760"/>
                </a:lnTo>
                <a:lnTo>
                  <a:pt x="227826" y="365760"/>
                </a:lnTo>
                <a:lnTo>
                  <a:pt x="276597" y="347979"/>
                </a:lnTo>
                <a:lnTo>
                  <a:pt x="317479" y="317500"/>
                </a:lnTo>
                <a:lnTo>
                  <a:pt x="348051" y="276860"/>
                </a:lnTo>
                <a:lnTo>
                  <a:pt x="365907" y="227329"/>
                </a:lnTo>
                <a:lnTo>
                  <a:pt x="369564" y="191769"/>
                </a:lnTo>
                <a:lnTo>
                  <a:pt x="368678" y="173989"/>
                </a:lnTo>
                <a:lnTo>
                  <a:pt x="355752" y="123189"/>
                </a:lnTo>
                <a:lnTo>
                  <a:pt x="329283" y="78739"/>
                </a:lnTo>
                <a:lnTo>
                  <a:pt x="291675" y="44450"/>
                </a:lnTo>
                <a:lnTo>
                  <a:pt x="245352" y="22860"/>
                </a:lnTo>
                <a:lnTo>
                  <a:pt x="228386" y="177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438286" y="2486660"/>
            <a:ext cx="1188085" cy="1226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05205" algn="l"/>
              </a:tabLst>
            </a:pPr>
            <a:r>
              <a:rPr dirty="0" sz="2400" spc="-5">
                <a:latin typeface="Arial"/>
                <a:cs typeface="Arial"/>
              </a:rPr>
              <a:t>1</a:t>
            </a:r>
            <a:r>
              <a:rPr dirty="0" sz="2400" spc="-5">
                <a:latin typeface="Arial"/>
                <a:cs typeface="Arial"/>
              </a:rPr>
              <a:t>	</a:t>
            </a:r>
            <a:r>
              <a:rPr dirty="0" sz="2400" spc="-5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005205" algn="l"/>
              </a:tabLst>
            </a:pPr>
            <a:r>
              <a:rPr dirty="0" sz="2400" spc="-5">
                <a:latin typeface="Arial"/>
                <a:cs typeface="Arial"/>
              </a:rPr>
              <a:t>2</a:t>
            </a:r>
            <a:r>
              <a:rPr dirty="0" sz="2400" spc="-5">
                <a:latin typeface="Arial"/>
                <a:cs typeface="Arial"/>
              </a:rPr>
              <a:t>	</a:t>
            </a:r>
            <a:r>
              <a:rPr dirty="0" sz="2400" spc="-5">
                <a:latin typeface="Arial"/>
                <a:cs typeface="Arial"/>
              </a:rPr>
              <a:t>4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033095" y="2955505"/>
            <a:ext cx="384810" cy="383540"/>
          </a:xfrm>
          <a:custGeom>
            <a:avLst/>
            <a:gdLst/>
            <a:ahLst/>
            <a:cxnLst/>
            <a:rect l="l" t="t" r="r" b="b"/>
            <a:pathLst>
              <a:path w="384810" h="383539">
                <a:moveTo>
                  <a:pt x="211571" y="0"/>
                </a:moveTo>
                <a:lnTo>
                  <a:pt x="172257" y="0"/>
                </a:lnTo>
                <a:lnTo>
                  <a:pt x="134735" y="7619"/>
                </a:lnTo>
                <a:lnTo>
                  <a:pt x="84438" y="33019"/>
                </a:lnTo>
                <a:lnTo>
                  <a:pt x="43646" y="69850"/>
                </a:lnTo>
                <a:lnTo>
                  <a:pt x="14939" y="116839"/>
                </a:lnTo>
                <a:lnTo>
                  <a:pt x="3812" y="153669"/>
                </a:lnTo>
                <a:lnTo>
                  <a:pt x="0" y="191769"/>
                </a:lnTo>
                <a:lnTo>
                  <a:pt x="1041" y="212089"/>
                </a:lnTo>
                <a:lnTo>
                  <a:pt x="15303" y="266700"/>
                </a:lnTo>
                <a:lnTo>
                  <a:pt x="44225" y="314960"/>
                </a:lnTo>
                <a:lnTo>
                  <a:pt x="85196" y="351789"/>
                </a:lnTo>
                <a:lnTo>
                  <a:pt x="135637" y="375919"/>
                </a:lnTo>
                <a:lnTo>
                  <a:pt x="173214" y="383539"/>
                </a:lnTo>
                <a:lnTo>
                  <a:pt x="212528" y="383539"/>
                </a:lnTo>
                <a:lnTo>
                  <a:pt x="250049" y="375919"/>
                </a:lnTo>
                <a:lnTo>
                  <a:pt x="255936" y="373379"/>
                </a:lnTo>
                <a:lnTo>
                  <a:pt x="192297" y="373379"/>
                </a:lnTo>
                <a:lnTo>
                  <a:pt x="173790" y="372110"/>
                </a:lnTo>
                <a:lnTo>
                  <a:pt x="121862" y="358139"/>
                </a:lnTo>
                <a:lnTo>
                  <a:pt x="77204" y="331469"/>
                </a:lnTo>
                <a:lnTo>
                  <a:pt x="42271" y="293369"/>
                </a:lnTo>
                <a:lnTo>
                  <a:pt x="19523" y="245110"/>
                </a:lnTo>
                <a:lnTo>
                  <a:pt x="11414" y="191769"/>
                </a:lnTo>
                <a:lnTo>
                  <a:pt x="12359" y="172719"/>
                </a:lnTo>
                <a:lnTo>
                  <a:pt x="25673" y="120650"/>
                </a:lnTo>
                <a:lnTo>
                  <a:pt x="52798" y="76200"/>
                </a:lnTo>
                <a:lnTo>
                  <a:pt x="91283" y="41910"/>
                </a:lnTo>
                <a:lnTo>
                  <a:pt x="138664" y="19050"/>
                </a:lnTo>
                <a:lnTo>
                  <a:pt x="173981" y="11429"/>
                </a:lnTo>
                <a:lnTo>
                  <a:pt x="259769" y="11429"/>
                </a:lnTo>
                <a:lnTo>
                  <a:pt x="249147" y="7619"/>
                </a:lnTo>
                <a:lnTo>
                  <a:pt x="211571" y="0"/>
                </a:lnTo>
                <a:close/>
              </a:path>
              <a:path w="384810" h="383539">
                <a:moveTo>
                  <a:pt x="259769" y="11429"/>
                </a:moveTo>
                <a:lnTo>
                  <a:pt x="210995" y="11429"/>
                </a:lnTo>
                <a:lnTo>
                  <a:pt x="228961" y="13969"/>
                </a:lnTo>
                <a:lnTo>
                  <a:pt x="246301" y="19050"/>
                </a:lnTo>
                <a:lnTo>
                  <a:pt x="293653" y="41910"/>
                </a:lnTo>
                <a:lnTo>
                  <a:pt x="332102" y="76200"/>
                </a:lnTo>
                <a:lnTo>
                  <a:pt x="359185" y="121919"/>
                </a:lnTo>
                <a:lnTo>
                  <a:pt x="372445" y="173989"/>
                </a:lnTo>
                <a:lnTo>
                  <a:pt x="373369" y="191769"/>
                </a:lnTo>
                <a:lnTo>
                  <a:pt x="372426" y="210819"/>
                </a:lnTo>
                <a:lnTo>
                  <a:pt x="359111" y="262889"/>
                </a:lnTo>
                <a:lnTo>
                  <a:pt x="331985" y="307339"/>
                </a:lnTo>
                <a:lnTo>
                  <a:pt x="293502" y="341629"/>
                </a:lnTo>
                <a:lnTo>
                  <a:pt x="246120" y="364489"/>
                </a:lnTo>
                <a:lnTo>
                  <a:pt x="192297" y="373379"/>
                </a:lnTo>
                <a:lnTo>
                  <a:pt x="255936" y="373379"/>
                </a:lnTo>
                <a:lnTo>
                  <a:pt x="300347" y="350519"/>
                </a:lnTo>
                <a:lnTo>
                  <a:pt x="341139" y="313689"/>
                </a:lnTo>
                <a:lnTo>
                  <a:pt x="369845" y="266700"/>
                </a:lnTo>
                <a:lnTo>
                  <a:pt x="380973" y="229869"/>
                </a:lnTo>
                <a:lnTo>
                  <a:pt x="384785" y="191769"/>
                </a:lnTo>
                <a:lnTo>
                  <a:pt x="383744" y="171450"/>
                </a:lnTo>
                <a:lnTo>
                  <a:pt x="369482" y="116839"/>
                </a:lnTo>
                <a:lnTo>
                  <a:pt x="340560" y="68579"/>
                </a:lnTo>
                <a:lnTo>
                  <a:pt x="299587" y="31750"/>
                </a:lnTo>
                <a:lnTo>
                  <a:pt x="266851" y="13969"/>
                </a:lnTo>
                <a:lnTo>
                  <a:pt x="259769" y="11429"/>
                </a:lnTo>
                <a:close/>
              </a:path>
              <a:path w="384810" h="383539">
                <a:moveTo>
                  <a:pt x="210803" y="15239"/>
                </a:moveTo>
                <a:lnTo>
                  <a:pt x="174556" y="15239"/>
                </a:lnTo>
                <a:lnTo>
                  <a:pt x="156959" y="17779"/>
                </a:lnTo>
                <a:lnTo>
                  <a:pt x="108188" y="35560"/>
                </a:lnTo>
                <a:lnTo>
                  <a:pt x="67306" y="66039"/>
                </a:lnTo>
                <a:lnTo>
                  <a:pt x="36733" y="106679"/>
                </a:lnTo>
                <a:lnTo>
                  <a:pt x="18877" y="156210"/>
                </a:lnTo>
                <a:lnTo>
                  <a:pt x="15220" y="191769"/>
                </a:lnTo>
                <a:lnTo>
                  <a:pt x="16106" y="209550"/>
                </a:lnTo>
                <a:lnTo>
                  <a:pt x="29033" y="260350"/>
                </a:lnTo>
                <a:lnTo>
                  <a:pt x="55502" y="304800"/>
                </a:lnTo>
                <a:lnTo>
                  <a:pt x="93110" y="339089"/>
                </a:lnTo>
                <a:lnTo>
                  <a:pt x="139433" y="360679"/>
                </a:lnTo>
                <a:lnTo>
                  <a:pt x="192104" y="369569"/>
                </a:lnTo>
                <a:lnTo>
                  <a:pt x="210229" y="368300"/>
                </a:lnTo>
                <a:lnTo>
                  <a:pt x="227826" y="365760"/>
                </a:lnTo>
                <a:lnTo>
                  <a:pt x="191912" y="365760"/>
                </a:lnTo>
                <a:lnTo>
                  <a:pt x="174174" y="364489"/>
                </a:lnTo>
                <a:lnTo>
                  <a:pt x="124481" y="351789"/>
                </a:lnTo>
                <a:lnTo>
                  <a:pt x="81767" y="325119"/>
                </a:lnTo>
                <a:lnTo>
                  <a:pt x="48374" y="288289"/>
                </a:lnTo>
                <a:lnTo>
                  <a:pt x="26678" y="242569"/>
                </a:lnTo>
                <a:lnTo>
                  <a:pt x="19025" y="191769"/>
                </a:lnTo>
                <a:lnTo>
                  <a:pt x="19969" y="173989"/>
                </a:lnTo>
                <a:lnTo>
                  <a:pt x="32829" y="124460"/>
                </a:lnTo>
                <a:lnTo>
                  <a:pt x="58901" y="81279"/>
                </a:lnTo>
                <a:lnTo>
                  <a:pt x="95846" y="48260"/>
                </a:lnTo>
                <a:lnTo>
                  <a:pt x="141283" y="26669"/>
                </a:lnTo>
                <a:lnTo>
                  <a:pt x="175131" y="19050"/>
                </a:lnTo>
                <a:lnTo>
                  <a:pt x="232628" y="19050"/>
                </a:lnTo>
                <a:lnTo>
                  <a:pt x="228386" y="17779"/>
                </a:lnTo>
                <a:lnTo>
                  <a:pt x="210803" y="15239"/>
                </a:lnTo>
                <a:close/>
              </a:path>
              <a:path w="384810" h="383539">
                <a:moveTo>
                  <a:pt x="232628" y="19050"/>
                </a:moveTo>
                <a:lnTo>
                  <a:pt x="210610" y="19050"/>
                </a:lnTo>
                <a:lnTo>
                  <a:pt x="227812" y="21589"/>
                </a:lnTo>
                <a:lnTo>
                  <a:pt x="244403" y="26669"/>
                </a:lnTo>
                <a:lnTo>
                  <a:pt x="289697" y="48260"/>
                </a:lnTo>
                <a:lnTo>
                  <a:pt x="326463" y="81279"/>
                </a:lnTo>
                <a:lnTo>
                  <a:pt x="352319" y="124460"/>
                </a:lnTo>
                <a:lnTo>
                  <a:pt x="364912" y="173989"/>
                </a:lnTo>
                <a:lnTo>
                  <a:pt x="365760" y="191769"/>
                </a:lnTo>
                <a:lnTo>
                  <a:pt x="364815" y="209550"/>
                </a:lnTo>
                <a:lnTo>
                  <a:pt x="351956" y="259079"/>
                </a:lnTo>
                <a:lnTo>
                  <a:pt x="325883" y="302260"/>
                </a:lnTo>
                <a:lnTo>
                  <a:pt x="288938" y="335279"/>
                </a:lnTo>
                <a:lnTo>
                  <a:pt x="243502" y="356869"/>
                </a:lnTo>
                <a:lnTo>
                  <a:pt x="191912" y="365760"/>
                </a:lnTo>
                <a:lnTo>
                  <a:pt x="227826" y="365760"/>
                </a:lnTo>
                <a:lnTo>
                  <a:pt x="276597" y="347979"/>
                </a:lnTo>
                <a:lnTo>
                  <a:pt x="317479" y="317500"/>
                </a:lnTo>
                <a:lnTo>
                  <a:pt x="348051" y="276860"/>
                </a:lnTo>
                <a:lnTo>
                  <a:pt x="365907" y="227329"/>
                </a:lnTo>
                <a:lnTo>
                  <a:pt x="369564" y="191769"/>
                </a:lnTo>
                <a:lnTo>
                  <a:pt x="368678" y="173989"/>
                </a:lnTo>
                <a:lnTo>
                  <a:pt x="355752" y="123189"/>
                </a:lnTo>
                <a:lnTo>
                  <a:pt x="329283" y="78739"/>
                </a:lnTo>
                <a:lnTo>
                  <a:pt x="291675" y="44450"/>
                </a:lnTo>
                <a:lnTo>
                  <a:pt x="245352" y="22860"/>
                </a:lnTo>
                <a:lnTo>
                  <a:pt x="232628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127855" y="2949955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5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535917" y="2866316"/>
            <a:ext cx="0" cy="467359"/>
          </a:xfrm>
          <a:custGeom>
            <a:avLst/>
            <a:gdLst/>
            <a:ahLst/>
            <a:cxnLst/>
            <a:rect l="l" t="t" r="r" b="b"/>
            <a:pathLst>
              <a:path w="0" h="467360">
                <a:moveTo>
                  <a:pt x="0" y="0"/>
                </a:moveTo>
                <a:lnTo>
                  <a:pt x="1" y="467017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718797" y="268343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79" h="0">
                <a:moveTo>
                  <a:pt x="0" y="0"/>
                </a:moveTo>
                <a:lnTo>
                  <a:pt x="626909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528586" y="2866316"/>
            <a:ext cx="0" cy="467359"/>
          </a:xfrm>
          <a:custGeom>
            <a:avLst/>
            <a:gdLst/>
            <a:ahLst/>
            <a:cxnLst/>
            <a:rect l="l" t="t" r="r" b="b"/>
            <a:pathLst>
              <a:path w="0" h="467360">
                <a:moveTo>
                  <a:pt x="0" y="0"/>
                </a:moveTo>
                <a:lnTo>
                  <a:pt x="1" y="467017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711467" y="2683436"/>
            <a:ext cx="384810" cy="334010"/>
          </a:xfrm>
          <a:custGeom>
            <a:avLst/>
            <a:gdLst/>
            <a:ahLst/>
            <a:cxnLst/>
            <a:rect l="l" t="t" r="r" b="b"/>
            <a:pathLst>
              <a:path w="384810" h="334010">
                <a:moveTo>
                  <a:pt x="0" y="0"/>
                </a:moveTo>
                <a:lnTo>
                  <a:pt x="384705" y="33390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711467" y="3275969"/>
            <a:ext cx="384810" cy="240665"/>
          </a:xfrm>
          <a:custGeom>
            <a:avLst/>
            <a:gdLst/>
            <a:ahLst/>
            <a:cxnLst/>
            <a:rect l="l" t="t" r="r" b="b"/>
            <a:pathLst>
              <a:path w="384810" h="240664">
                <a:moveTo>
                  <a:pt x="0" y="240244"/>
                </a:moveTo>
                <a:lnTo>
                  <a:pt x="384705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660048" y="3886994"/>
            <a:ext cx="304800" cy="530860"/>
          </a:xfrm>
          <a:custGeom>
            <a:avLst/>
            <a:gdLst/>
            <a:ahLst/>
            <a:cxnLst/>
            <a:rect l="l" t="t" r="r" b="b"/>
            <a:pathLst>
              <a:path w="304800" h="530860">
                <a:moveTo>
                  <a:pt x="304800" y="378105"/>
                </a:moveTo>
                <a:lnTo>
                  <a:pt x="0" y="378105"/>
                </a:lnTo>
                <a:lnTo>
                  <a:pt x="152400" y="530505"/>
                </a:lnTo>
                <a:lnTo>
                  <a:pt x="304800" y="378105"/>
                </a:lnTo>
                <a:close/>
              </a:path>
              <a:path w="304800" h="530860">
                <a:moveTo>
                  <a:pt x="228600" y="0"/>
                </a:moveTo>
                <a:lnTo>
                  <a:pt x="76200" y="0"/>
                </a:lnTo>
                <a:lnTo>
                  <a:pt x="76200" y="378105"/>
                </a:lnTo>
                <a:lnTo>
                  <a:pt x="228600" y="378105"/>
                </a:lnTo>
                <a:lnTo>
                  <a:pt x="22860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602107" y="3862995"/>
            <a:ext cx="421005" cy="588645"/>
          </a:xfrm>
          <a:custGeom>
            <a:avLst/>
            <a:gdLst/>
            <a:ahLst/>
            <a:cxnLst/>
            <a:rect l="l" t="t" r="r" b="b"/>
            <a:pathLst>
              <a:path w="421004" h="588645">
                <a:moveTo>
                  <a:pt x="310541" y="0"/>
                </a:moveTo>
                <a:lnTo>
                  <a:pt x="110140" y="0"/>
                </a:lnTo>
                <a:lnTo>
                  <a:pt x="110140" y="378105"/>
                </a:lnTo>
                <a:lnTo>
                  <a:pt x="0" y="378105"/>
                </a:lnTo>
                <a:lnTo>
                  <a:pt x="210341" y="588445"/>
                </a:lnTo>
                <a:lnTo>
                  <a:pt x="251070" y="547716"/>
                </a:lnTo>
                <a:lnTo>
                  <a:pt x="210341" y="547716"/>
                </a:lnTo>
                <a:lnTo>
                  <a:pt x="69529" y="406905"/>
                </a:lnTo>
                <a:lnTo>
                  <a:pt x="138940" y="406905"/>
                </a:lnTo>
                <a:lnTo>
                  <a:pt x="138940" y="28799"/>
                </a:lnTo>
                <a:lnTo>
                  <a:pt x="310541" y="28799"/>
                </a:lnTo>
                <a:lnTo>
                  <a:pt x="310541" y="0"/>
                </a:lnTo>
                <a:close/>
              </a:path>
              <a:path w="421004" h="588645">
                <a:moveTo>
                  <a:pt x="310541" y="28799"/>
                </a:moveTo>
                <a:lnTo>
                  <a:pt x="281741" y="28799"/>
                </a:lnTo>
                <a:lnTo>
                  <a:pt x="281741" y="406905"/>
                </a:lnTo>
                <a:lnTo>
                  <a:pt x="351152" y="406905"/>
                </a:lnTo>
                <a:lnTo>
                  <a:pt x="210341" y="547716"/>
                </a:lnTo>
                <a:lnTo>
                  <a:pt x="251070" y="547716"/>
                </a:lnTo>
                <a:lnTo>
                  <a:pt x="420682" y="378105"/>
                </a:lnTo>
                <a:lnTo>
                  <a:pt x="310541" y="378105"/>
                </a:lnTo>
                <a:lnTo>
                  <a:pt x="310541" y="28799"/>
                </a:lnTo>
                <a:close/>
              </a:path>
              <a:path w="421004" h="588645">
                <a:moveTo>
                  <a:pt x="272140" y="38399"/>
                </a:moveTo>
                <a:lnTo>
                  <a:pt x="148540" y="38399"/>
                </a:lnTo>
                <a:lnTo>
                  <a:pt x="148540" y="416505"/>
                </a:lnTo>
                <a:lnTo>
                  <a:pt x="92706" y="416505"/>
                </a:lnTo>
                <a:lnTo>
                  <a:pt x="210341" y="534140"/>
                </a:lnTo>
                <a:lnTo>
                  <a:pt x="223917" y="520564"/>
                </a:lnTo>
                <a:lnTo>
                  <a:pt x="210341" y="520564"/>
                </a:lnTo>
                <a:lnTo>
                  <a:pt x="115882" y="426105"/>
                </a:lnTo>
                <a:lnTo>
                  <a:pt x="158140" y="426105"/>
                </a:lnTo>
                <a:lnTo>
                  <a:pt x="158140" y="47999"/>
                </a:lnTo>
                <a:lnTo>
                  <a:pt x="272140" y="47999"/>
                </a:lnTo>
                <a:lnTo>
                  <a:pt x="272140" y="38399"/>
                </a:lnTo>
                <a:close/>
              </a:path>
              <a:path w="421004" h="588645">
                <a:moveTo>
                  <a:pt x="272140" y="47999"/>
                </a:moveTo>
                <a:lnTo>
                  <a:pt x="262540" y="47999"/>
                </a:lnTo>
                <a:lnTo>
                  <a:pt x="262540" y="426105"/>
                </a:lnTo>
                <a:lnTo>
                  <a:pt x="304800" y="426105"/>
                </a:lnTo>
                <a:lnTo>
                  <a:pt x="210341" y="520564"/>
                </a:lnTo>
                <a:lnTo>
                  <a:pt x="223917" y="520564"/>
                </a:lnTo>
                <a:lnTo>
                  <a:pt x="327976" y="416505"/>
                </a:lnTo>
                <a:lnTo>
                  <a:pt x="272140" y="416505"/>
                </a:lnTo>
                <a:lnTo>
                  <a:pt x="272140" y="47999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225855" y="3886994"/>
            <a:ext cx="304800" cy="530860"/>
          </a:xfrm>
          <a:custGeom>
            <a:avLst/>
            <a:gdLst/>
            <a:ahLst/>
            <a:cxnLst/>
            <a:rect l="l" t="t" r="r" b="b"/>
            <a:pathLst>
              <a:path w="304800" h="530860">
                <a:moveTo>
                  <a:pt x="228601" y="152400"/>
                </a:moveTo>
                <a:lnTo>
                  <a:pt x="76200" y="152400"/>
                </a:lnTo>
                <a:lnTo>
                  <a:pt x="76200" y="530506"/>
                </a:lnTo>
                <a:lnTo>
                  <a:pt x="228601" y="530506"/>
                </a:lnTo>
                <a:lnTo>
                  <a:pt x="228601" y="152400"/>
                </a:lnTo>
                <a:close/>
              </a:path>
              <a:path w="304800" h="530860">
                <a:moveTo>
                  <a:pt x="152401" y="0"/>
                </a:moveTo>
                <a:lnTo>
                  <a:pt x="0" y="152400"/>
                </a:lnTo>
                <a:lnTo>
                  <a:pt x="304801" y="152400"/>
                </a:lnTo>
                <a:lnTo>
                  <a:pt x="152401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167913" y="3853054"/>
            <a:ext cx="421005" cy="588645"/>
          </a:xfrm>
          <a:custGeom>
            <a:avLst/>
            <a:gdLst/>
            <a:ahLst/>
            <a:cxnLst/>
            <a:rect l="l" t="t" r="r" b="b"/>
            <a:pathLst>
              <a:path w="421004" h="588645">
                <a:moveTo>
                  <a:pt x="210342" y="0"/>
                </a:moveTo>
                <a:lnTo>
                  <a:pt x="0" y="210341"/>
                </a:lnTo>
                <a:lnTo>
                  <a:pt x="110142" y="210341"/>
                </a:lnTo>
                <a:lnTo>
                  <a:pt x="110142" y="588448"/>
                </a:lnTo>
                <a:lnTo>
                  <a:pt x="310542" y="588448"/>
                </a:lnTo>
                <a:lnTo>
                  <a:pt x="310542" y="559648"/>
                </a:lnTo>
                <a:lnTo>
                  <a:pt x="138941" y="559648"/>
                </a:lnTo>
                <a:lnTo>
                  <a:pt x="138941" y="181541"/>
                </a:lnTo>
                <a:lnTo>
                  <a:pt x="69529" y="181541"/>
                </a:lnTo>
                <a:lnTo>
                  <a:pt x="210342" y="40728"/>
                </a:lnTo>
                <a:lnTo>
                  <a:pt x="251071" y="40728"/>
                </a:lnTo>
                <a:lnTo>
                  <a:pt x="210342" y="0"/>
                </a:lnTo>
                <a:close/>
              </a:path>
              <a:path w="421004" h="588645">
                <a:moveTo>
                  <a:pt x="251071" y="40728"/>
                </a:moveTo>
                <a:lnTo>
                  <a:pt x="210342" y="40728"/>
                </a:lnTo>
                <a:lnTo>
                  <a:pt x="351154" y="181541"/>
                </a:lnTo>
                <a:lnTo>
                  <a:pt x="281743" y="181541"/>
                </a:lnTo>
                <a:lnTo>
                  <a:pt x="281743" y="559648"/>
                </a:lnTo>
                <a:lnTo>
                  <a:pt x="310542" y="559648"/>
                </a:lnTo>
                <a:lnTo>
                  <a:pt x="310542" y="210341"/>
                </a:lnTo>
                <a:lnTo>
                  <a:pt x="420683" y="210341"/>
                </a:lnTo>
                <a:lnTo>
                  <a:pt x="251071" y="40728"/>
                </a:lnTo>
                <a:close/>
              </a:path>
              <a:path w="421004" h="588645">
                <a:moveTo>
                  <a:pt x="210342" y="54306"/>
                </a:moveTo>
                <a:lnTo>
                  <a:pt x="92706" y="171941"/>
                </a:lnTo>
                <a:lnTo>
                  <a:pt x="148541" y="171941"/>
                </a:lnTo>
                <a:lnTo>
                  <a:pt x="148541" y="550048"/>
                </a:lnTo>
                <a:lnTo>
                  <a:pt x="272141" y="550048"/>
                </a:lnTo>
                <a:lnTo>
                  <a:pt x="272141" y="540448"/>
                </a:lnTo>
                <a:lnTo>
                  <a:pt x="158141" y="540448"/>
                </a:lnTo>
                <a:lnTo>
                  <a:pt x="158141" y="162341"/>
                </a:lnTo>
                <a:lnTo>
                  <a:pt x="115882" y="162341"/>
                </a:lnTo>
                <a:lnTo>
                  <a:pt x="210342" y="67882"/>
                </a:lnTo>
                <a:lnTo>
                  <a:pt x="223918" y="67882"/>
                </a:lnTo>
                <a:lnTo>
                  <a:pt x="210342" y="54306"/>
                </a:lnTo>
                <a:close/>
              </a:path>
              <a:path w="421004" h="588645">
                <a:moveTo>
                  <a:pt x="223918" y="67882"/>
                </a:moveTo>
                <a:lnTo>
                  <a:pt x="210342" y="67882"/>
                </a:lnTo>
                <a:lnTo>
                  <a:pt x="304801" y="162341"/>
                </a:lnTo>
                <a:lnTo>
                  <a:pt x="262542" y="162341"/>
                </a:lnTo>
                <a:lnTo>
                  <a:pt x="262542" y="540448"/>
                </a:lnTo>
                <a:lnTo>
                  <a:pt x="272141" y="540448"/>
                </a:lnTo>
                <a:lnTo>
                  <a:pt x="272141" y="171941"/>
                </a:lnTo>
                <a:lnTo>
                  <a:pt x="327977" y="171941"/>
                </a:lnTo>
                <a:lnTo>
                  <a:pt x="223918" y="67882"/>
                </a:lnTo>
                <a:close/>
              </a:path>
            </a:pathLst>
          </a:custGeom>
          <a:solidFill>
            <a:srgbClr val="2F62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265484" y="1219200"/>
            <a:ext cx="8608695" cy="1040765"/>
          </a:xfrm>
          <a:prstGeom prst="rect"/>
          <a:solidFill>
            <a:srgbClr val="92D050"/>
          </a:solidFill>
        </p:spPr>
        <p:txBody>
          <a:bodyPr wrap="square" lIns="0" tIns="26034" rIns="0" bIns="0" rtlCol="0" vert="horz">
            <a:spAutoFit/>
          </a:bodyPr>
          <a:lstStyle/>
          <a:p>
            <a:pPr marL="1611630" marR="159385" indent="-1392555">
              <a:lnSpc>
                <a:spcPct val="102299"/>
              </a:lnSpc>
              <a:spcBef>
                <a:spcPts val="204"/>
              </a:spcBef>
            </a:pPr>
            <a:r>
              <a:rPr dirty="0" sz="2600" spc="-15" b="0">
                <a:solidFill>
                  <a:srgbClr val="FFFFFF"/>
                </a:solidFill>
                <a:latin typeface="Calibri"/>
                <a:cs typeface="Calibri"/>
              </a:rPr>
              <a:t>Graph </a:t>
            </a:r>
            <a:r>
              <a:rPr dirty="0" sz="2600" b="0">
                <a:solidFill>
                  <a:srgbClr val="FFFFFF"/>
                </a:solidFill>
                <a:latin typeface="Cambria Math"/>
                <a:cs typeface="Cambria Math"/>
              </a:rPr>
              <a:t>G </a:t>
            </a:r>
            <a:r>
              <a:rPr dirty="0" sz="2600" b="0">
                <a:solidFill>
                  <a:srgbClr val="FFFFFF"/>
                </a:solidFill>
                <a:latin typeface="Calibri"/>
                <a:cs typeface="Calibri"/>
              </a:rPr>
              <a:t>with </a:t>
            </a:r>
            <a:r>
              <a:rPr dirty="0" sz="2600" spc="-5" b="0">
                <a:solidFill>
                  <a:srgbClr val="FFFFFF"/>
                </a:solidFill>
                <a:latin typeface="Calibri"/>
                <a:cs typeface="Calibri"/>
              </a:rPr>
              <a:t>node </a:t>
            </a:r>
            <a:r>
              <a:rPr dirty="0" sz="2600" spc="-10" b="0">
                <a:solidFill>
                  <a:srgbClr val="FFFFFF"/>
                </a:solidFill>
                <a:latin typeface="Calibri"/>
                <a:cs typeface="Calibri"/>
              </a:rPr>
              <a:t>ordering </a:t>
            </a:r>
            <a:r>
              <a:rPr dirty="0" sz="2600" b="0">
                <a:solidFill>
                  <a:srgbClr val="FFFFFF"/>
                </a:solidFill>
                <a:latin typeface="Cambria Math"/>
                <a:cs typeface="Cambria Math"/>
              </a:rPr>
              <a:t>π </a:t>
            </a:r>
            <a:r>
              <a:rPr dirty="0" sz="2600" spc="-10" b="0">
                <a:solidFill>
                  <a:srgbClr val="FFFFFF"/>
                </a:solidFill>
                <a:latin typeface="Calibri"/>
                <a:cs typeface="Calibri"/>
              </a:rPr>
              <a:t>can </a:t>
            </a:r>
            <a:r>
              <a:rPr dirty="0" sz="2600" spc="-5" b="0">
                <a:solidFill>
                  <a:srgbClr val="FFFFFF"/>
                </a:solidFill>
                <a:latin typeface="Calibri"/>
                <a:cs typeface="Calibri"/>
              </a:rPr>
              <a:t>be uniquely mapped </a:t>
            </a:r>
            <a:r>
              <a:rPr dirty="0" sz="2600" spc="-15" b="0">
                <a:solidFill>
                  <a:srgbClr val="FFFFFF"/>
                </a:solidFill>
                <a:latin typeface="Calibri"/>
                <a:cs typeface="Calibri"/>
              </a:rPr>
              <a:t>into </a:t>
            </a:r>
            <a:r>
              <a:rPr dirty="0" sz="2600" b="0">
                <a:solidFill>
                  <a:srgbClr val="FFFFFF"/>
                </a:solidFill>
                <a:latin typeface="Calibri"/>
                <a:cs typeface="Calibri"/>
              </a:rPr>
              <a:t>a  </a:t>
            </a:r>
            <a:r>
              <a:rPr dirty="0" sz="2600" spc="-5" b="0">
                <a:solidFill>
                  <a:srgbClr val="FFFFFF"/>
                </a:solidFill>
                <a:latin typeface="Calibri"/>
                <a:cs typeface="Calibri"/>
              </a:rPr>
              <a:t>sequence </a:t>
            </a:r>
            <a:r>
              <a:rPr dirty="0" sz="2600" b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dirty="0" sz="2600" spc="-5" b="0">
                <a:solidFill>
                  <a:srgbClr val="FFFFFF"/>
                </a:solidFill>
                <a:latin typeface="Calibri"/>
                <a:cs typeface="Calibri"/>
              </a:rPr>
              <a:t>node and </a:t>
            </a:r>
            <a:r>
              <a:rPr dirty="0" sz="2600" spc="-10" b="0">
                <a:solidFill>
                  <a:srgbClr val="FFFFFF"/>
                </a:solidFill>
                <a:latin typeface="Calibri"/>
                <a:cs typeface="Calibri"/>
              </a:rPr>
              <a:t>edge </a:t>
            </a:r>
            <a:r>
              <a:rPr dirty="0" sz="2600" spc="-5" b="0">
                <a:solidFill>
                  <a:srgbClr val="FFFFFF"/>
                </a:solidFill>
                <a:latin typeface="Calibri"/>
                <a:cs typeface="Calibri"/>
              </a:rPr>
              <a:t>additions</a:t>
            </a:r>
            <a:r>
              <a:rPr dirty="0" sz="2600" spc="-70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280" b="0">
                <a:solidFill>
                  <a:srgbClr val="FFFFFF"/>
                </a:solidFill>
                <a:latin typeface="Cambria Math"/>
                <a:cs typeface="Cambria Math"/>
              </a:rPr>
              <a:t>S</a:t>
            </a:r>
            <a:r>
              <a:rPr dirty="0" baseline="27777" sz="2850" spc="419" b="0">
                <a:solidFill>
                  <a:srgbClr val="FFFFFF"/>
                </a:solidFill>
                <a:latin typeface="Cambria Math"/>
                <a:cs typeface="Cambria Math"/>
              </a:rPr>
              <a:t>)</a:t>
            </a:r>
            <a:endParaRPr baseline="27777" sz="285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863656" y="4653413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625656" y="4656905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625656" y="548968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710903" y="5476747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808536" y="5022667"/>
            <a:ext cx="0" cy="467359"/>
          </a:xfrm>
          <a:custGeom>
            <a:avLst/>
            <a:gdLst/>
            <a:ahLst/>
            <a:cxnLst/>
            <a:rect l="l" t="t" r="r" b="b"/>
            <a:pathLst>
              <a:path w="0" h="467360">
                <a:moveTo>
                  <a:pt x="0" y="0"/>
                </a:moveTo>
                <a:lnTo>
                  <a:pt x="1" y="467017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324626" y="465390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324626" y="5486687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3409875" y="5473700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307782" y="4645642"/>
            <a:ext cx="384810" cy="383540"/>
          </a:xfrm>
          <a:custGeom>
            <a:avLst/>
            <a:gdLst/>
            <a:ahLst/>
            <a:cxnLst/>
            <a:rect l="l" t="t" r="r" b="b"/>
            <a:pathLst>
              <a:path w="384810" h="383539">
                <a:moveTo>
                  <a:pt x="211571" y="0"/>
                </a:moveTo>
                <a:lnTo>
                  <a:pt x="172257" y="0"/>
                </a:lnTo>
                <a:lnTo>
                  <a:pt x="134736" y="7619"/>
                </a:lnTo>
                <a:lnTo>
                  <a:pt x="84438" y="33019"/>
                </a:lnTo>
                <a:lnTo>
                  <a:pt x="43646" y="69850"/>
                </a:lnTo>
                <a:lnTo>
                  <a:pt x="14940" y="116839"/>
                </a:lnTo>
                <a:lnTo>
                  <a:pt x="3812" y="153669"/>
                </a:lnTo>
                <a:lnTo>
                  <a:pt x="0" y="191769"/>
                </a:lnTo>
                <a:lnTo>
                  <a:pt x="1041" y="212089"/>
                </a:lnTo>
                <a:lnTo>
                  <a:pt x="15303" y="266700"/>
                </a:lnTo>
                <a:lnTo>
                  <a:pt x="44225" y="314959"/>
                </a:lnTo>
                <a:lnTo>
                  <a:pt x="85197" y="351789"/>
                </a:lnTo>
                <a:lnTo>
                  <a:pt x="135638" y="375919"/>
                </a:lnTo>
                <a:lnTo>
                  <a:pt x="173214" y="383539"/>
                </a:lnTo>
                <a:lnTo>
                  <a:pt x="212528" y="383539"/>
                </a:lnTo>
                <a:lnTo>
                  <a:pt x="250050" y="375919"/>
                </a:lnTo>
                <a:lnTo>
                  <a:pt x="255937" y="373379"/>
                </a:lnTo>
                <a:lnTo>
                  <a:pt x="192297" y="373379"/>
                </a:lnTo>
                <a:lnTo>
                  <a:pt x="173790" y="372109"/>
                </a:lnTo>
                <a:lnTo>
                  <a:pt x="121862" y="358139"/>
                </a:lnTo>
                <a:lnTo>
                  <a:pt x="77204" y="331469"/>
                </a:lnTo>
                <a:lnTo>
                  <a:pt x="42271" y="293369"/>
                </a:lnTo>
                <a:lnTo>
                  <a:pt x="19523" y="245109"/>
                </a:lnTo>
                <a:lnTo>
                  <a:pt x="11416" y="191769"/>
                </a:lnTo>
                <a:lnTo>
                  <a:pt x="12359" y="172719"/>
                </a:lnTo>
                <a:lnTo>
                  <a:pt x="25673" y="120650"/>
                </a:lnTo>
                <a:lnTo>
                  <a:pt x="52798" y="76200"/>
                </a:lnTo>
                <a:lnTo>
                  <a:pt x="91283" y="41909"/>
                </a:lnTo>
                <a:lnTo>
                  <a:pt x="138664" y="19050"/>
                </a:lnTo>
                <a:lnTo>
                  <a:pt x="173982" y="11429"/>
                </a:lnTo>
                <a:lnTo>
                  <a:pt x="259770" y="11429"/>
                </a:lnTo>
                <a:lnTo>
                  <a:pt x="249147" y="7619"/>
                </a:lnTo>
                <a:lnTo>
                  <a:pt x="211571" y="0"/>
                </a:lnTo>
                <a:close/>
              </a:path>
              <a:path w="384810" h="383539">
                <a:moveTo>
                  <a:pt x="259770" y="11429"/>
                </a:moveTo>
                <a:lnTo>
                  <a:pt x="210995" y="11429"/>
                </a:lnTo>
                <a:lnTo>
                  <a:pt x="228961" y="13969"/>
                </a:lnTo>
                <a:lnTo>
                  <a:pt x="246301" y="19050"/>
                </a:lnTo>
                <a:lnTo>
                  <a:pt x="293653" y="41909"/>
                </a:lnTo>
                <a:lnTo>
                  <a:pt x="332102" y="76200"/>
                </a:lnTo>
                <a:lnTo>
                  <a:pt x="359185" y="121919"/>
                </a:lnTo>
                <a:lnTo>
                  <a:pt x="372445" y="173989"/>
                </a:lnTo>
                <a:lnTo>
                  <a:pt x="373369" y="191769"/>
                </a:lnTo>
                <a:lnTo>
                  <a:pt x="372426" y="210819"/>
                </a:lnTo>
                <a:lnTo>
                  <a:pt x="359112" y="262889"/>
                </a:lnTo>
                <a:lnTo>
                  <a:pt x="331986" y="307339"/>
                </a:lnTo>
                <a:lnTo>
                  <a:pt x="293502" y="341629"/>
                </a:lnTo>
                <a:lnTo>
                  <a:pt x="246120" y="364489"/>
                </a:lnTo>
                <a:lnTo>
                  <a:pt x="192297" y="373379"/>
                </a:lnTo>
                <a:lnTo>
                  <a:pt x="255937" y="373379"/>
                </a:lnTo>
                <a:lnTo>
                  <a:pt x="300347" y="350519"/>
                </a:lnTo>
                <a:lnTo>
                  <a:pt x="341139" y="313689"/>
                </a:lnTo>
                <a:lnTo>
                  <a:pt x="369845" y="266700"/>
                </a:lnTo>
                <a:lnTo>
                  <a:pt x="380973" y="229869"/>
                </a:lnTo>
                <a:lnTo>
                  <a:pt x="384785" y="191769"/>
                </a:lnTo>
                <a:lnTo>
                  <a:pt x="383744" y="171450"/>
                </a:lnTo>
                <a:lnTo>
                  <a:pt x="369482" y="116839"/>
                </a:lnTo>
                <a:lnTo>
                  <a:pt x="340560" y="68579"/>
                </a:lnTo>
                <a:lnTo>
                  <a:pt x="299587" y="31750"/>
                </a:lnTo>
                <a:lnTo>
                  <a:pt x="266852" y="13969"/>
                </a:lnTo>
                <a:lnTo>
                  <a:pt x="259770" y="11429"/>
                </a:lnTo>
                <a:close/>
              </a:path>
              <a:path w="384810" h="383539">
                <a:moveTo>
                  <a:pt x="210803" y="15239"/>
                </a:moveTo>
                <a:lnTo>
                  <a:pt x="174556" y="15239"/>
                </a:lnTo>
                <a:lnTo>
                  <a:pt x="156959" y="17779"/>
                </a:lnTo>
                <a:lnTo>
                  <a:pt x="108188" y="35559"/>
                </a:lnTo>
                <a:lnTo>
                  <a:pt x="67306" y="66039"/>
                </a:lnTo>
                <a:lnTo>
                  <a:pt x="36734" y="106679"/>
                </a:lnTo>
                <a:lnTo>
                  <a:pt x="18878" y="156209"/>
                </a:lnTo>
                <a:lnTo>
                  <a:pt x="15220" y="191769"/>
                </a:lnTo>
                <a:lnTo>
                  <a:pt x="16106" y="209550"/>
                </a:lnTo>
                <a:lnTo>
                  <a:pt x="29033" y="260350"/>
                </a:lnTo>
                <a:lnTo>
                  <a:pt x="55502" y="304800"/>
                </a:lnTo>
                <a:lnTo>
                  <a:pt x="93110" y="339089"/>
                </a:lnTo>
                <a:lnTo>
                  <a:pt x="139433" y="360679"/>
                </a:lnTo>
                <a:lnTo>
                  <a:pt x="192105" y="369569"/>
                </a:lnTo>
                <a:lnTo>
                  <a:pt x="210229" y="368300"/>
                </a:lnTo>
                <a:lnTo>
                  <a:pt x="227826" y="365759"/>
                </a:lnTo>
                <a:lnTo>
                  <a:pt x="191912" y="365759"/>
                </a:lnTo>
                <a:lnTo>
                  <a:pt x="174175" y="364489"/>
                </a:lnTo>
                <a:lnTo>
                  <a:pt x="124481" y="351789"/>
                </a:lnTo>
                <a:lnTo>
                  <a:pt x="81768" y="325119"/>
                </a:lnTo>
                <a:lnTo>
                  <a:pt x="48374" y="288289"/>
                </a:lnTo>
                <a:lnTo>
                  <a:pt x="26680" y="242569"/>
                </a:lnTo>
                <a:lnTo>
                  <a:pt x="19025" y="191769"/>
                </a:lnTo>
                <a:lnTo>
                  <a:pt x="19969" y="173989"/>
                </a:lnTo>
                <a:lnTo>
                  <a:pt x="32829" y="124459"/>
                </a:lnTo>
                <a:lnTo>
                  <a:pt x="58902" y="81279"/>
                </a:lnTo>
                <a:lnTo>
                  <a:pt x="95846" y="48259"/>
                </a:lnTo>
                <a:lnTo>
                  <a:pt x="141283" y="26669"/>
                </a:lnTo>
                <a:lnTo>
                  <a:pt x="192873" y="17779"/>
                </a:lnTo>
                <a:lnTo>
                  <a:pt x="228387" y="17779"/>
                </a:lnTo>
                <a:lnTo>
                  <a:pt x="210803" y="15239"/>
                </a:lnTo>
                <a:close/>
              </a:path>
              <a:path w="384810" h="383539">
                <a:moveTo>
                  <a:pt x="228387" y="17779"/>
                </a:moveTo>
                <a:lnTo>
                  <a:pt x="192873" y="17779"/>
                </a:lnTo>
                <a:lnTo>
                  <a:pt x="210610" y="19050"/>
                </a:lnTo>
                <a:lnTo>
                  <a:pt x="227812" y="21589"/>
                </a:lnTo>
                <a:lnTo>
                  <a:pt x="275431" y="39369"/>
                </a:lnTo>
                <a:lnTo>
                  <a:pt x="315302" y="69850"/>
                </a:lnTo>
                <a:lnTo>
                  <a:pt x="345060" y="109219"/>
                </a:lnTo>
                <a:lnTo>
                  <a:pt x="362332" y="157479"/>
                </a:lnTo>
                <a:lnTo>
                  <a:pt x="365760" y="191769"/>
                </a:lnTo>
                <a:lnTo>
                  <a:pt x="364816" y="209550"/>
                </a:lnTo>
                <a:lnTo>
                  <a:pt x="351956" y="259079"/>
                </a:lnTo>
                <a:lnTo>
                  <a:pt x="325884" y="302259"/>
                </a:lnTo>
                <a:lnTo>
                  <a:pt x="288938" y="335279"/>
                </a:lnTo>
                <a:lnTo>
                  <a:pt x="243502" y="356869"/>
                </a:lnTo>
                <a:lnTo>
                  <a:pt x="191912" y="365759"/>
                </a:lnTo>
                <a:lnTo>
                  <a:pt x="227826" y="365759"/>
                </a:lnTo>
                <a:lnTo>
                  <a:pt x="276597" y="347979"/>
                </a:lnTo>
                <a:lnTo>
                  <a:pt x="317479" y="317500"/>
                </a:lnTo>
                <a:lnTo>
                  <a:pt x="348051" y="276859"/>
                </a:lnTo>
                <a:lnTo>
                  <a:pt x="365907" y="227329"/>
                </a:lnTo>
                <a:lnTo>
                  <a:pt x="369564" y="191769"/>
                </a:lnTo>
                <a:lnTo>
                  <a:pt x="368679" y="173989"/>
                </a:lnTo>
                <a:lnTo>
                  <a:pt x="355752" y="123189"/>
                </a:lnTo>
                <a:lnTo>
                  <a:pt x="329283" y="78739"/>
                </a:lnTo>
                <a:lnTo>
                  <a:pt x="291675" y="44450"/>
                </a:lnTo>
                <a:lnTo>
                  <a:pt x="245352" y="22859"/>
                </a:lnTo>
                <a:lnTo>
                  <a:pt x="228387" y="1777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507506" y="5019669"/>
            <a:ext cx="0" cy="467359"/>
          </a:xfrm>
          <a:custGeom>
            <a:avLst/>
            <a:gdLst/>
            <a:ahLst/>
            <a:cxnLst/>
            <a:rect l="l" t="t" r="r" b="b"/>
            <a:pathLst>
              <a:path w="0" h="467360">
                <a:moveTo>
                  <a:pt x="0" y="0"/>
                </a:moveTo>
                <a:lnTo>
                  <a:pt x="1" y="467017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690386" y="4836788"/>
            <a:ext cx="627380" cy="0"/>
          </a:xfrm>
          <a:custGeom>
            <a:avLst/>
            <a:gdLst/>
            <a:ahLst/>
            <a:cxnLst/>
            <a:rect l="l" t="t" r="r" b="b"/>
            <a:pathLst>
              <a:path w="627379" h="0">
                <a:moveTo>
                  <a:pt x="0" y="0"/>
                </a:moveTo>
                <a:lnTo>
                  <a:pt x="626909" y="1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077226" y="465390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4402544" y="4641596"/>
            <a:ext cx="9550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2160" algn="l"/>
              </a:tabLst>
            </a:pP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3</a:t>
            </a: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	</a:t>
            </a:r>
            <a:r>
              <a:rPr dirty="0" sz="2400" spc="-5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077226" y="5486687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5162475" y="5473700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069895" y="5486687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6155144" y="5473700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4</a:t>
            </a:r>
            <a:endParaRPr sz="24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442986" y="5665766"/>
            <a:ext cx="627380" cy="0"/>
          </a:xfrm>
          <a:custGeom>
            <a:avLst/>
            <a:gdLst/>
            <a:ahLst/>
            <a:cxnLst/>
            <a:rect l="l" t="t" r="r" b="b"/>
            <a:pathLst>
              <a:path w="627379" h="0">
                <a:moveTo>
                  <a:pt x="0" y="0"/>
                </a:moveTo>
                <a:lnTo>
                  <a:pt x="626909" y="1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060382" y="4645642"/>
            <a:ext cx="384810" cy="383540"/>
          </a:xfrm>
          <a:custGeom>
            <a:avLst/>
            <a:gdLst/>
            <a:ahLst/>
            <a:cxnLst/>
            <a:rect l="l" t="t" r="r" b="b"/>
            <a:pathLst>
              <a:path w="384810" h="383539">
                <a:moveTo>
                  <a:pt x="211571" y="0"/>
                </a:moveTo>
                <a:lnTo>
                  <a:pt x="172257" y="0"/>
                </a:lnTo>
                <a:lnTo>
                  <a:pt x="134735" y="7619"/>
                </a:lnTo>
                <a:lnTo>
                  <a:pt x="84438" y="33019"/>
                </a:lnTo>
                <a:lnTo>
                  <a:pt x="43646" y="69850"/>
                </a:lnTo>
                <a:lnTo>
                  <a:pt x="14940" y="116839"/>
                </a:lnTo>
                <a:lnTo>
                  <a:pt x="3812" y="153669"/>
                </a:lnTo>
                <a:lnTo>
                  <a:pt x="0" y="191769"/>
                </a:lnTo>
                <a:lnTo>
                  <a:pt x="1041" y="212089"/>
                </a:lnTo>
                <a:lnTo>
                  <a:pt x="15303" y="266700"/>
                </a:lnTo>
                <a:lnTo>
                  <a:pt x="44225" y="314959"/>
                </a:lnTo>
                <a:lnTo>
                  <a:pt x="85197" y="351789"/>
                </a:lnTo>
                <a:lnTo>
                  <a:pt x="135638" y="375919"/>
                </a:lnTo>
                <a:lnTo>
                  <a:pt x="173214" y="383539"/>
                </a:lnTo>
                <a:lnTo>
                  <a:pt x="212528" y="383539"/>
                </a:lnTo>
                <a:lnTo>
                  <a:pt x="250049" y="375919"/>
                </a:lnTo>
                <a:lnTo>
                  <a:pt x="255936" y="373379"/>
                </a:lnTo>
                <a:lnTo>
                  <a:pt x="192297" y="373379"/>
                </a:lnTo>
                <a:lnTo>
                  <a:pt x="173790" y="372109"/>
                </a:lnTo>
                <a:lnTo>
                  <a:pt x="121862" y="358139"/>
                </a:lnTo>
                <a:lnTo>
                  <a:pt x="77204" y="331469"/>
                </a:lnTo>
                <a:lnTo>
                  <a:pt x="42271" y="293369"/>
                </a:lnTo>
                <a:lnTo>
                  <a:pt x="19523" y="245109"/>
                </a:lnTo>
                <a:lnTo>
                  <a:pt x="11416" y="191769"/>
                </a:lnTo>
                <a:lnTo>
                  <a:pt x="12359" y="172719"/>
                </a:lnTo>
                <a:lnTo>
                  <a:pt x="25673" y="120650"/>
                </a:lnTo>
                <a:lnTo>
                  <a:pt x="52798" y="76200"/>
                </a:lnTo>
                <a:lnTo>
                  <a:pt x="91283" y="41909"/>
                </a:lnTo>
                <a:lnTo>
                  <a:pt x="138664" y="19050"/>
                </a:lnTo>
                <a:lnTo>
                  <a:pt x="173982" y="11429"/>
                </a:lnTo>
                <a:lnTo>
                  <a:pt x="259770" y="11429"/>
                </a:lnTo>
                <a:lnTo>
                  <a:pt x="249147" y="7619"/>
                </a:lnTo>
                <a:lnTo>
                  <a:pt x="211571" y="0"/>
                </a:lnTo>
                <a:close/>
              </a:path>
              <a:path w="384810" h="383539">
                <a:moveTo>
                  <a:pt x="259770" y="11429"/>
                </a:moveTo>
                <a:lnTo>
                  <a:pt x="210995" y="11429"/>
                </a:lnTo>
                <a:lnTo>
                  <a:pt x="228961" y="13969"/>
                </a:lnTo>
                <a:lnTo>
                  <a:pt x="246301" y="19050"/>
                </a:lnTo>
                <a:lnTo>
                  <a:pt x="293653" y="41909"/>
                </a:lnTo>
                <a:lnTo>
                  <a:pt x="332102" y="76200"/>
                </a:lnTo>
                <a:lnTo>
                  <a:pt x="359185" y="121919"/>
                </a:lnTo>
                <a:lnTo>
                  <a:pt x="372445" y="173989"/>
                </a:lnTo>
                <a:lnTo>
                  <a:pt x="373369" y="191769"/>
                </a:lnTo>
                <a:lnTo>
                  <a:pt x="372426" y="210819"/>
                </a:lnTo>
                <a:lnTo>
                  <a:pt x="359112" y="262889"/>
                </a:lnTo>
                <a:lnTo>
                  <a:pt x="331986" y="307339"/>
                </a:lnTo>
                <a:lnTo>
                  <a:pt x="293502" y="341629"/>
                </a:lnTo>
                <a:lnTo>
                  <a:pt x="246120" y="364489"/>
                </a:lnTo>
                <a:lnTo>
                  <a:pt x="192297" y="373379"/>
                </a:lnTo>
                <a:lnTo>
                  <a:pt x="255936" y="373379"/>
                </a:lnTo>
                <a:lnTo>
                  <a:pt x="300347" y="350519"/>
                </a:lnTo>
                <a:lnTo>
                  <a:pt x="341139" y="313689"/>
                </a:lnTo>
                <a:lnTo>
                  <a:pt x="369845" y="266700"/>
                </a:lnTo>
                <a:lnTo>
                  <a:pt x="380973" y="229869"/>
                </a:lnTo>
                <a:lnTo>
                  <a:pt x="384785" y="191769"/>
                </a:lnTo>
                <a:lnTo>
                  <a:pt x="383744" y="171450"/>
                </a:lnTo>
                <a:lnTo>
                  <a:pt x="369482" y="116839"/>
                </a:lnTo>
                <a:lnTo>
                  <a:pt x="340560" y="68579"/>
                </a:lnTo>
                <a:lnTo>
                  <a:pt x="299587" y="31750"/>
                </a:lnTo>
                <a:lnTo>
                  <a:pt x="266852" y="13969"/>
                </a:lnTo>
                <a:lnTo>
                  <a:pt x="259770" y="11429"/>
                </a:lnTo>
                <a:close/>
              </a:path>
              <a:path w="384810" h="383539">
                <a:moveTo>
                  <a:pt x="210803" y="15239"/>
                </a:moveTo>
                <a:lnTo>
                  <a:pt x="174556" y="15239"/>
                </a:lnTo>
                <a:lnTo>
                  <a:pt x="156959" y="17779"/>
                </a:lnTo>
                <a:lnTo>
                  <a:pt x="108188" y="35559"/>
                </a:lnTo>
                <a:lnTo>
                  <a:pt x="67306" y="66039"/>
                </a:lnTo>
                <a:lnTo>
                  <a:pt x="36734" y="106679"/>
                </a:lnTo>
                <a:lnTo>
                  <a:pt x="18878" y="156209"/>
                </a:lnTo>
                <a:lnTo>
                  <a:pt x="15220" y="191769"/>
                </a:lnTo>
                <a:lnTo>
                  <a:pt x="16106" y="209550"/>
                </a:lnTo>
                <a:lnTo>
                  <a:pt x="29033" y="260350"/>
                </a:lnTo>
                <a:lnTo>
                  <a:pt x="55502" y="304800"/>
                </a:lnTo>
                <a:lnTo>
                  <a:pt x="93110" y="339089"/>
                </a:lnTo>
                <a:lnTo>
                  <a:pt x="139433" y="360679"/>
                </a:lnTo>
                <a:lnTo>
                  <a:pt x="192105" y="369569"/>
                </a:lnTo>
                <a:lnTo>
                  <a:pt x="210229" y="368300"/>
                </a:lnTo>
                <a:lnTo>
                  <a:pt x="227826" y="365759"/>
                </a:lnTo>
                <a:lnTo>
                  <a:pt x="191912" y="365759"/>
                </a:lnTo>
                <a:lnTo>
                  <a:pt x="174175" y="364489"/>
                </a:lnTo>
                <a:lnTo>
                  <a:pt x="124481" y="351789"/>
                </a:lnTo>
                <a:lnTo>
                  <a:pt x="81768" y="325119"/>
                </a:lnTo>
                <a:lnTo>
                  <a:pt x="48374" y="288289"/>
                </a:lnTo>
                <a:lnTo>
                  <a:pt x="26680" y="242569"/>
                </a:lnTo>
                <a:lnTo>
                  <a:pt x="19025" y="191769"/>
                </a:lnTo>
                <a:lnTo>
                  <a:pt x="19969" y="173989"/>
                </a:lnTo>
                <a:lnTo>
                  <a:pt x="32829" y="124459"/>
                </a:lnTo>
                <a:lnTo>
                  <a:pt x="58901" y="81279"/>
                </a:lnTo>
                <a:lnTo>
                  <a:pt x="95846" y="48259"/>
                </a:lnTo>
                <a:lnTo>
                  <a:pt x="141283" y="26669"/>
                </a:lnTo>
                <a:lnTo>
                  <a:pt x="192873" y="17779"/>
                </a:lnTo>
                <a:lnTo>
                  <a:pt x="228387" y="17779"/>
                </a:lnTo>
                <a:lnTo>
                  <a:pt x="210803" y="15239"/>
                </a:lnTo>
                <a:close/>
              </a:path>
              <a:path w="384810" h="383539">
                <a:moveTo>
                  <a:pt x="228387" y="17779"/>
                </a:moveTo>
                <a:lnTo>
                  <a:pt x="192873" y="17779"/>
                </a:lnTo>
                <a:lnTo>
                  <a:pt x="210610" y="19050"/>
                </a:lnTo>
                <a:lnTo>
                  <a:pt x="227812" y="21589"/>
                </a:lnTo>
                <a:lnTo>
                  <a:pt x="275429" y="39369"/>
                </a:lnTo>
                <a:lnTo>
                  <a:pt x="315302" y="69850"/>
                </a:lnTo>
                <a:lnTo>
                  <a:pt x="345060" y="109219"/>
                </a:lnTo>
                <a:lnTo>
                  <a:pt x="362332" y="157479"/>
                </a:lnTo>
                <a:lnTo>
                  <a:pt x="365760" y="191769"/>
                </a:lnTo>
                <a:lnTo>
                  <a:pt x="364816" y="209550"/>
                </a:lnTo>
                <a:lnTo>
                  <a:pt x="351956" y="259079"/>
                </a:lnTo>
                <a:lnTo>
                  <a:pt x="325884" y="302259"/>
                </a:lnTo>
                <a:lnTo>
                  <a:pt x="288938" y="335279"/>
                </a:lnTo>
                <a:lnTo>
                  <a:pt x="243502" y="356869"/>
                </a:lnTo>
                <a:lnTo>
                  <a:pt x="191912" y="365759"/>
                </a:lnTo>
                <a:lnTo>
                  <a:pt x="227826" y="365759"/>
                </a:lnTo>
                <a:lnTo>
                  <a:pt x="276597" y="347979"/>
                </a:lnTo>
                <a:lnTo>
                  <a:pt x="317479" y="317500"/>
                </a:lnTo>
                <a:lnTo>
                  <a:pt x="348051" y="276859"/>
                </a:lnTo>
                <a:lnTo>
                  <a:pt x="365907" y="227329"/>
                </a:lnTo>
                <a:lnTo>
                  <a:pt x="369564" y="191769"/>
                </a:lnTo>
                <a:lnTo>
                  <a:pt x="368679" y="173989"/>
                </a:lnTo>
                <a:lnTo>
                  <a:pt x="355752" y="123189"/>
                </a:lnTo>
                <a:lnTo>
                  <a:pt x="329283" y="78739"/>
                </a:lnTo>
                <a:lnTo>
                  <a:pt x="291675" y="44450"/>
                </a:lnTo>
                <a:lnTo>
                  <a:pt x="245352" y="22859"/>
                </a:lnTo>
                <a:lnTo>
                  <a:pt x="228387" y="177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6155144" y="4641596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5260106" y="5019669"/>
            <a:ext cx="0" cy="467359"/>
          </a:xfrm>
          <a:custGeom>
            <a:avLst/>
            <a:gdLst/>
            <a:ahLst/>
            <a:cxnLst/>
            <a:rect l="l" t="t" r="r" b="b"/>
            <a:pathLst>
              <a:path w="0" h="467360">
                <a:moveTo>
                  <a:pt x="0" y="0"/>
                </a:moveTo>
                <a:lnTo>
                  <a:pt x="1" y="467017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442986" y="4836788"/>
            <a:ext cx="627380" cy="0"/>
          </a:xfrm>
          <a:custGeom>
            <a:avLst/>
            <a:gdLst/>
            <a:ahLst/>
            <a:cxnLst/>
            <a:rect l="l" t="t" r="r" b="b"/>
            <a:pathLst>
              <a:path w="627379" h="0">
                <a:moveTo>
                  <a:pt x="0" y="0"/>
                </a:moveTo>
                <a:lnTo>
                  <a:pt x="626909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252776" y="5019669"/>
            <a:ext cx="0" cy="467359"/>
          </a:xfrm>
          <a:custGeom>
            <a:avLst/>
            <a:gdLst/>
            <a:ahLst/>
            <a:cxnLst/>
            <a:rect l="l" t="t" r="r" b="b"/>
            <a:pathLst>
              <a:path w="0" h="467360">
                <a:moveTo>
                  <a:pt x="0" y="0"/>
                </a:moveTo>
                <a:lnTo>
                  <a:pt x="1" y="467017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894924" y="465010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6980173" y="4638547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6894924" y="5482887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6980173" y="5470652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7887595" y="5482887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7972842" y="5470652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4</a:t>
            </a:r>
            <a:endParaRPr sz="24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7260685" y="5661966"/>
            <a:ext cx="627380" cy="0"/>
          </a:xfrm>
          <a:custGeom>
            <a:avLst/>
            <a:gdLst/>
            <a:ahLst/>
            <a:cxnLst/>
            <a:rect l="l" t="t" r="r" b="b"/>
            <a:pathLst>
              <a:path w="627379" h="0">
                <a:moveTo>
                  <a:pt x="0" y="0"/>
                </a:moveTo>
                <a:lnTo>
                  <a:pt x="626909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878081" y="4641842"/>
            <a:ext cx="384810" cy="383540"/>
          </a:xfrm>
          <a:custGeom>
            <a:avLst/>
            <a:gdLst/>
            <a:ahLst/>
            <a:cxnLst/>
            <a:rect l="l" t="t" r="r" b="b"/>
            <a:pathLst>
              <a:path w="384809" h="383539">
                <a:moveTo>
                  <a:pt x="211571" y="0"/>
                </a:moveTo>
                <a:lnTo>
                  <a:pt x="172257" y="0"/>
                </a:lnTo>
                <a:lnTo>
                  <a:pt x="134736" y="7619"/>
                </a:lnTo>
                <a:lnTo>
                  <a:pt x="84438" y="33019"/>
                </a:lnTo>
                <a:lnTo>
                  <a:pt x="43646" y="69849"/>
                </a:lnTo>
                <a:lnTo>
                  <a:pt x="14940" y="116839"/>
                </a:lnTo>
                <a:lnTo>
                  <a:pt x="3812" y="153669"/>
                </a:lnTo>
                <a:lnTo>
                  <a:pt x="0" y="191769"/>
                </a:lnTo>
                <a:lnTo>
                  <a:pt x="1041" y="212089"/>
                </a:lnTo>
                <a:lnTo>
                  <a:pt x="15303" y="266699"/>
                </a:lnTo>
                <a:lnTo>
                  <a:pt x="44225" y="314959"/>
                </a:lnTo>
                <a:lnTo>
                  <a:pt x="85197" y="351789"/>
                </a:lnTo>
                <a:lnTo>
                  <a:pt x="135638" y="375919"/>
                </a:lnTo>
                <a:lnTo>
                  <a:pt x="173214" y="383539"/>
                </a:lnTo>
                <a:lnTo>
                  <a:pt x="212528" y="383539"/>
                </a:lnTo>
                <a:lnTo>
                  <a:pt x="250050" y="375919"/>
                </a:lnTo>
                <a:lnTo>
                  <a:pt x="255937" y="373379"/>
                </a:lnTo>
                <a:lnTo>
                  <a:pt x="192297" y="373379"/>
                </a:lnTo>
                <a:lnTo>
                  <a:pt x="173790" y="372109"/>
                </a:lnTo>
                <a:lnTo>
                  <a:pt x="121862" y="358139"/>
                </a:lnTo>
                <a:lnTo>
                  <a:pt x="77205" y="331469"/>
                </a:lnTo>
                <a:lnTo>
                  <a:pt x="42271" y="293369"/>
                </a:lnTo>
                <a:lnTo>
                  <a:pt x="19523" y="245109"/>
                </a:lnTo>
                <a:lnTo>
                  <a:pt x="11416" y="191769"/>
                </a:lnTo>
                <a:lnTo>
                  <a:pt x="12359" y="172719"/>
                </a:lnTo>
                <a:lnTo>
                  <a:pt x="25674" y="120649"/>
                </a:lnTo>
                <a:lnTo>
                  <a:pt x="52800" y="76199"/>
                </a:lnTo>
                <a:lnTo>
                  <a:pt x="91283" y="41909"/>
                </a:lnTo>
                <a:lnTo>
                  <a:pt x="138664" y="19049"/>
                </a:lnTo>
                <a:lnTo>
                  <a:pt x="173982" y="11429"/>
                </a:lnTo>
                <a:lnTo>
                  <a:pt x="259770" y="11429"/>
                </a:lnTo>
                <a:lnTo>
                  <a:pt x="249148" y="7619"/>
                </a:lnTo>
                <a:lnTo>
                  <a:pt x="211571" y="0"/>
                </a:lnTo>
                <a:close/>
              </a:path>
              <a:path w="384809" h="383539">
                <a:moveTo>
                  <a:pt x="259770" y="11429"/>
                </a:moveTo>
                <a:lnTo>
                  <a:pt x="210995" y="11429"/>
                </a:lnTo>
                <a:lnTo>
                  <a:pt x="228961" y="13969"/>
                </a:lnTo>
                <a:lnTo>
                  <a:pt x="246301" y="19049"/>
                </a:lnTo>
                <a:lnTo>
                  <a:pt x="293654" y="41909"/>
                </a:lnTo>
                <a:lnTo>
                  <a:pt x="332102" y="76199"/>
                </a:lnTo>
                <a:lnTo>
                  <a:pt x="359185" y="121919"/>
                </a:lnTo>
                <a:lnTo>
                  <a:pt x="372445" y="173989"/>
                </a:lnTo>
                <a:lnTo>
                  <a:pt x="373371" y="191769"/>
                </a:lnTo>
                <a:lnTo>
                  <a:pt x="372426" y="210819"/>
                </a:lnTo>
                <a:lnTo>
                  <a:pt x="359112" y="262889"/>
                </a:lnTo>
                <a:lnTo>
                  <a:pt x="331986" y="307339"/>
                </a:lnTo>
                <a:lnTo>
                  <a:pt x="293502" y="341629"/>
                </a:lnTo>
                <a:lnTo>
                  <a:pt x="246120" y="364489"/>
                </a:lnTo>
                <a:lnTo>
                  <a:pt x="192297" y="373379"/>
                </a:lnTo>
                <a:lnTo>
                  <a:pt x="255937" y="373379"/>
                </a:lnTo>
                <a:lnTo>
                  <a:pt x="300347" y="350519"/>
                </a:lnTo>
                <a:lnTo>
                  <a:pt x="341141" y="313689"/>
                </a:lnTo>
                <a:lnTo>
                  <a:pt x="369846" y="266699"/>
                </a:lnTo>
                <a:lnTo>
                  <a:pt x="380973" y="229869"/>
                </a:lnTo>
                <a:lnTo>
                  <a:pt x="384785" y="191769"/>
                </a:lnTo>
                <a:lnTo>
                  <a:pt x="383744" y="171449"/>
                </a:lnTo>
                <a:lnTo>
                  <a:pt x="369482" y="116839"/>
                </a:lnTo>
                <a:lnTo>
                  <a:pt x="340560" y="68579"/>
                </a:lnTo>
                <a:lnTo>
                  <a:pt x="299589" y="31749"/>
                </a:lnTo>
                <a:lnTo>
                  <a:pt x="266852" y="13969"/>
                </a:lnTo>
                <a:lnTo>
                  <a:pt x="259770" y="11429"/>
                </a:lnTo>
                <a:close/>
              </a:path>
              <a:path w="384809" h="383539">
                <a:moveTo>
                  <a:pt x="210803" y="15239"/>
                </a:moveTo>
                <a:lnTo>
                  <a:pt x="174556" y="15239"/>
                </a:lnTo>
                <a:lnTo>
                  <a:pt x="156959" y="17779"/>
                </a:lnTo>
                <a:lnTo>
                  <a:pt x="108188" y="35559"/>
                </a:lnTo>
                <a:lnTo>
                  <a:pt x="67306" y="66039"/>
                </a:lnTo>
                <a:lnTo>
                  <a:pt x="36734" y="106679"/>
                </a:lnTo>
                <a:lnTo>
                  <a:pt x="18878" y="156209"/>
                </a:lnTo>
                <a:lnTo>
                  <a:pt x="15220" y="191769"/>
                </a:lnTo>
                <a:lnTo>
                  <a:pt x="16107" y="209549"/>
                </a:lnTo>
                <a:lnTo>
                  <a:pt x="29033" y="260349"/>
                </a:lnTo>
                <a:lnTo>
                  <a:pt x="55502" y="304799"/>
                </a:lnTo>
                <a:lnTo>
                  <a:pt x="93110" y="339089"/>
                </a:lnTo>
                <a:lnTo>
                  <a:pt x="139433" y="360679"/>
                </a:lnTo>
                <a:lnTo>
                  <a:pt x="192105" y="369569"/>
                </a:lnTo>
                <a:lnTo>
                  <a:pt x="210229" y="368299"/>
                </a:lnTo>
                <a:lnTo>
                  <a:pt x="227826" y="365759"/>
                </a:lnTo>
                <a:lnTo>
                  <a:pt x="191913" y="365759"/>
                </a:lnTo>
                <a:lnTo>
                  <a:pt x="174175" y="364489"/>
                </a:lnTo>
                <a:lnTo>
                  <a:pt x="124481" y="351789"/>
                </a:lnTo>
                <a:lnTo>
                  <a:pt x="81768" y="325119"/>
                </a:lnTo>
                <a:lnTo>
                  <a:pt x="48374" y="288289"/>
                </a:lnTo>
                <a:lnTo>
                  <a:pt x="26680" y="242569"/>
                </a:lnTo>
                <a:lnTo>
                  <a:pt x="19025" y="191769"/>
                </a:lnTo>
                <a:lnTo>
                  <a:pt x="19970" y="173989"/>
                </a:lnTo>
                <a:lnTo>
                  <a:pt x="32829" y="124459"/>
                </a:lnTo>
                <a:lnTo>
                  <a:pt x="58902" y="81279"/>
                </a:lnTo>
                <a:lnTo>
                  <a:pt x="95846" y="48259"/>
                </a:lnTo>
                <a:lnTo>
                  <a:pt x="141283" y="26669"/>
                </a:lnTo>
                <a:lnTo>
                  <a:pt x="175131" y="19049"/>
                </a:lnTo>
                <a:lnTo>
                  <a:pt x="232629" y="19049"/>
                </a:lnTo>
                <a:lnTo>
                  <a:pt x="228387" y="17779"/>
                </a:lnTo>
                <a:lnTo>
                  <a:pt x="210803" y="15239"/>
                </a:lnTo>
                <a:close/>
              </a:path>
              <a:path w="384809" h="383539">
                <a:moveTo>
                  <a:pt x="232629" y="19049"/>
                </a:moveTo>
                <a:lnTo>
                  <a:pt x="210611" y="19049"/>
                </a:lnTo>
                <a:lnTo>
                  <a:pt x="227812" y="21589"/>
                </a:lnTo>
                <a:lnTo>
                  <a:pt x="244403" y="26669"/>
                </a:lnTo>
                <a:lnTo>
                  <a:pt x="289697" y="48259"/>
                </a:lnTo>
                <a:lnTo>
                  <a:pt x="326463" y="81279"/>
                </a:lnTo>
                <a:lnTo>
                  <a:pt x="352320" y="124459"/>
                </a:lnTo>
                <a:lnTo>
                  <a:pt x="364912" y="173989"/>
                </a:lnTo>
                <a:lnTo>
                  <a:pt x="365759" y="191769"/>
                </a:lnTo>
                <a:lnTo>
                  <a:pt x="364816" y="209549"/>
                </a:lnTo>
                <a:lnTo>
                  <a:pt x="351956" y="259079"/>
                </a:lnTo>
                <a:lnTo>
                  <a:pt x="325884" y="302259"/>
                </a:lnTo>
                <a:lnTo>
                  <a:pt x="288938" y="335279"/>
                </a:lnTo>
                <a:lnTo>
                  <a:pt x="243502" y="356869"/>
                </a:lnTo>
                <a:lnTo>
                  <a:pt x="191913" y="365759"/>
                </a:lnTo>
                <a:lnTo>
                  <a:pt x="227826" y="365759"/>
                </a:lnTo>
                <a:lnTo>
                  <a:pt x="276597" y="347979"/>
                </a:lnTo>
                <a:lnTo>
                  <a:pt x="317479" y="317499"/>
                </a:lnTo>
                <a:lnTo>
                  <a:pt x="348052" y="276859"/>
                </a:lnTo>
                <a:lnTo>
                  <a:pt x="365908" y="227329"/>
                </a:lnTo>
                <a:lnTo>
                  <a:pt x="369564" y="191769"/>
                </a:lnTo>
                <a:lnTo>
                  <a:pt x="368679" y="173989"/>
                </a:lnTo>
                <a:lnTo>
                  <a:pt x="355752" y="123189"/>
                </a:lnTo>
                <a:lnTo>
                  <a:pt x="329283" y="78739"/>
                </a:lnTo>
                <a:lnTo>
                  <a:pt x="291675" y="44449"/>
                </a:lnTo>
                <a:lnTo>
                  <a:pt x="245352" y="22859"/>
                </a:lnTo>
                <a:lnTo>
                  <a:pt x="232629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7972842" y="4638547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8574982" y="5105059"/>
            <a:ext cx="384810" cy="383540"/>
          </a:xfrm>
          <a:custGeom>
            <a:avLst/>
            <a:gdLst/>
            <a:ahLst/>
            <a:cxnLst/>
            <a:rect l="l" t="t" r="r" b="b"/>
            <a:pathLst>
              <a:path w="384809" h="383539">
                <a:moveTo>
                  <a:pt x="211571" y="0"/>
                </a:moveTo>
                <a:lnTo>
                  <a:pt x="172257" y="0"/>
                </a:lnTo>
                <a:lnTo>
                  <a:pt x="134736" y="7619"/>
                </a:lnTo>
                <a:lnTo>
                  <a:pt x="84438" y="33019"/>
                </a:lnTo>
                <a:lnTo>
                  <a:pt x="43646" y="69849"/>
                </a:lnTo>
                <a:lnTo>
                  <a:pt x="14940" y="116839"/>
                </a:lnTo>
                <a:lnTo>
                  <a:pt x="3812" y="153669"/>
                </a:lnTo>
                <a:lnTo>
                  <a:pt x="0" y="191769"/>
                </a:lnTo>
                <a:lnTo>
                  <a:pt x="1041" y="212089"/>
                </a:lnTo>
                <a:lnTo>
                  <a:pt x="15303" y="266699"/>
                </a:lnTo>
                <a:lnTo>
                  <a:pt x="44225" y="314959"/>
                </a:lnTo>
                <a:lnTo>
                  <a:pt x="85197" y="351789"/>
                </a:lnTo>
                <a:lnTo>
                  <a:pt x="135638" y="375919"/>
                </a:lnTo>
                <a:lnTo>
                  <a:pt x="173214" y="383539"/>
                </a:lnTo>
                <a:lnTo>
                  <a:pt x="212528" y="383539"/>
                </a:lnTo>
                <a:lnTo>
                  <a:pt x="250050" y="375919"/>
                </a:lnTo>
                <a:lnTo>
                  <a:pt x="255937" y="373379"/>
                </a:lnTo>
                <a:lnTo>
                  <a:pt x="192297" y="373379"/>
                </a:lnTo>
                <a:lnTo>
                  <a:pt x="173790" y="372109"/>
                </a:lnTo>
                <a:lnTo>
                  <a:pt x="121862" y="358139"/>
                </a:lnTo>
                <a:lnTo>
                  <a:pt x="77205" y="331469"/>
                </a:lnTo>
                <a:lnTo>
                  <a:pt x="42271" y="293369"/>
                </a:lnTo>
                <a:lnTo>
                  <a:pt x="19523" y="245109"/>
                </a:lnTo>
                <a:lnTo>
                  <a:pt x="11416" y="191769"/>
                </a:lnTo>
                <a:lnTo>
                  <a:pt x="12359" y="172719"/>
                </a:lnTo>
                <a:lnTo>
                  <a:pt x="25674" y="120649"/>
                </a:lnTo>
                <a:lnTo>
                  <a:pt x="52800" y="76199"/>
                </a:lnTo>
                <a:lnTo>
                  <a:pt x="91283" y="41909"/>
                </a:lnTo>
                <a:lnTo>
                  <a:pt x="138664" y="19049"/>
                </a:lnTo>
                <a:lnTo>
                  <a:pt x="173982" y="11429"/>
                </a:lnTo>
                <a:lnTo>
                  <a:pt x="259770" y="11429"/>
                </a:lnTo>
                <a:lnTo>
                  <a:pt x="249148" y="7619"/>
                </a:lnTo>
                <a:lnTo>
                  <a:pt x="211571" y="0"/>
                </a:lnTo>
                <a:close/>
              </a:path>
              <a:path w="384809" h="383539">
                <a:moveTo>
                  <a:pt x="259770" y="11429"/>
                </a:moveTo>
                <a:lnTo>
                  <a:pt x="210995" y="11429"/>
                </a:lnTo>
                <a:lnTo>
                  <a:pt x="228961" y="13969"/>
                </a:lnTo>
                <a:lnTo>
                  <a:pt x="246301" y="19049"/>
                </a:lnTo>
                <a:lnTo>
                  <a:pt x="293654" y="41909"/>
                </a:lnTo>
                <a:lnTo>
                  <a:pt x="332102" y="76199"/>
                </a:lnTo>
                <a:lnTo>
                  <a:pt x="359185" y="121919"/>
                </a:lnTo>
                <a:lnTo>
                  <a:pt x="372445" y="173989"/>
                </a:lnTo>
                <a:lnTo>
                  <a:pt x="373371" y="191769"/>
                </a:lnTo>
                <a:lnTo>
                  <a:pt x="372426" y="210819"/>
                </a:lnTo>
                <a:lnTo>
                  <a:pt x="359112" y="262889"/>
                </a:lnTo>
                <a:lnTo>
                  <a:pt x="331986" y="307339"/>
                </a:lnTo>
                <a:lnTo>
                  <a:pt x="293502" y="341629"/>
                </a:lnTo>
                <a:lnTo>
                  <a:pt x="246120" y="364489"/>
                </a:lnTo>
                <a:lnTo>
                  <a:pt x="192297" y="373379"/>
                </a:lnTo>
                <a:lnTo>
                  <a:pt x="255937" y="373379"/>
                </a:lnTo>
                <a:lnTo>
                  <a:pt x="300347" y="350519"/>
                </a:lnTo>
                <a:lnTo>
                  <a:pt x="341141" y="313689"/>
                </a:lnTo>
                <a:lnTo>
                  <a:pt x="369846" y="266699"/>
                </a:lnTo>
                <a:lnTo>
                  <a:pt x="380973" y="229869"/>
                </a:lnTo>
                <a:lnTo>
                  <a:pt x="384785" y="191769"/>
                </a:lnTo>
                <a:lnTo>
                  <a:pt x="383744" y="171449"/>
                </a:lnTo>
                <a:lnTo>
                  <a:pt x="369482" y="116839"/>
                </a:lnTo>
                <a:lnTo>
                  <a:pt x="340560" y="68579"/>
                </a:lnTo>
                <a:lnTo>
                  <a:pt x="299589" y="31749"/>
                </a:lnTo>
                <a:lnTo>
                  <a:pt x="266852" y="13969"/>
                </a:lnTo>
                <a:lnTo>
                  <a:pt x="259770" y="11429"/>
                </a:lnTo>
                <a:close/>
              </a:path>
              <a:path w="384809" h="383539">
                <a:moveTo>
                  <a:pt x="210803" y="15239"/>
                </a:moveTo>
                <a:lnTo>
                  <a:pt x="174557" y="15239"/>
                </a:lnTo>
                <a:lnTo>
                  <a:pt x="156959" y="17779"/>
                </a:lnTo>
                <a:lnTo>
                  <a:pt x="108188" y="35559"/>
                </a:lnTo>
                <a:lnTo>
                  <a:pt x="67306" y="66039"/>
                </a:lnTo>
                <a:lnTo>
                  <a:pt x="36734" y="106679"/>
                </a:lnTo>
                <a:lnTo>
                  <a:pt x="18878" y="156209"/>
                </a:lnTo>
                <a:lnTo>
                  <a:pt x="15220" y="191769"/>
                </a:lnTo>
                <a:lnTo>
                  <a:pt x="16107" y="209549"/>
                </a:lnTo>
                <a:lnTo>
                  <a:pt x="29033" y="260349"/>
                </a:lnTo>
                <a:lnTo>
                  <a:pt x="55502" y="304799"/>
                </a:lnTo>
                <a:lnTo>
                  <a:pt x="93110" y="339089"/>
                </a:lnTo>
                <a:lnTo>
                  <a:pt x="139433" y="360679"/>
                </a:lnTo>
                <a:lnTo>
                  <a:pt x="192105" y="369569"/>
                </a:lnTo>
                <a:lnTo>
                  <a:pt x="210229" y="368299"/>
                </a:lnTo>
                <a:lnTo>
                  <a:pt x="227826" y="365759"/>
                </a:lnTo>
                <a:lnTo>
                  <a:pt x="191913" y="365759"/>
                </a:lnTo>
                <a:lnTo>
                  <a:pt x="174175" y="364489"/>
                </a:lnTo>
                <a:lnTo>
                  <a:pt x="124481" y="351789"/>
                </a:lnTo>
                <a:lnTo>
                  <a:pt x="81768" y="325119"/>
                </a:lnTo>
                <a:lnTo>
                  <a:pt x="48374" y="288289"/>
                </a:lnTo>
                <a:lnTo>
                  <a:pt x="26680" y="242569"/>
                </a:lnTo>
                <a:lnTo>
                  <a:pt x="19025" y="191769"/>
                </a:lnTo>
                <a:lnTo>
                  <a:pt x="19970" y="173989"/>
                </a:lnTo>
                <a:lnTo>
                  <a:pt x="32829" y="124459"/>
                </a:lnTo>
                <a:lnTo>
                  <a:pt x="58902" y="81279"/>
                </a:lnTo>
                <a:lnTo>
                  <a:pt x="95846" y="48259"/>
                </a:lnTo>
                <a:lnTo>
                  <a:pt x="141283" y="26669"/>
                </a:lnTo>
                <a:lnTo>
                  <a:pt x="192873" y="17779"/>
                </a:lnTo>
                <a:lnTo>
                  <a:pt x="228387" y="17779"/>
                </a:lnTo>
                <a:lnTo>
                  <a:pt x="210803" y="15239"/>
                </a:lnTo>
                <a:close/>
              </a:path>
              <a:path w="384809" h="383539">
                <a:moveTo>
                  <a:pt x="228387" y="17779"/>
                </a:moveTo>
                <a:lnTo>
                  <a:pt x="192873" y="17779"/>
                </a:lnTo>
                <a:lnTo>
                  <a:pt x="210611" y="19049"/>
                </a:lnTo>
                <a:lnTo>
                  <a:pt x="227812" y="21589"/>
                </a:lnTo>
                <a:lnTo>
                  <a:pt x="275431" y="39369"/>
                </a:lnTo>
                <a:lnTo>
                  <a:pt x="315302" y="69849"/>
                </a:lnTo>
                <a:lnTo>
                  <a:pt x="345060" y="109219"/>
                </a:lnTo>
                <a:lnTo>
                  <a:pt x="362332" y="157479"/>
                </a:lnTo>
                <a:lnTo>
                  <a:pt x="365759" y="191769"/>
                </a:lnTo>
                <a:lnTo>
                  <a:pt x="364816" y="209549"/>
                </a:lnTo>
                <a:lnTo>
                  <a:pt x="351956" y="259079"/>
                </a:lnTo>
                <a:lnTo>
                  <a:pt x="325884" y="302259"/>
                </a:lnTo>
                <a:lnTo>
                  <a:pt x="288938" y="335279"/>
                </a:lnTo>
                <a:lnTo>
                  <a:pt x="243502" y="356869"/>
                </a:lnTo>
                <a:lnTo>
                  <a:pt x="191913" y="365759"/>
                </a:lnTo>
                <a:lnTo>
                  <a:pt x="227826" y="365759"/>
                </a:lnTo>
                <a:lnTo>
                  <a:pt x="276597" y="347979"/>
                </a:lnTo>
                <a:lnTo>
                  <a:pt x="317479" y="317499"/>
                </a:lnTo>
                <a:lnTo>
                  <a:pt x="348052" y="276859"/>
                </a:lnTo>
                <a:lnTo>
                  <a:pt x="365908" y="227329"/>
                </a:lnTo>
                <a:lnTo>
                  <a:pt x="369564" y="191769"/>
                </a:lnTo>
                <a:lnTo>
                  <a:pt x="368679" y="173989"/>
                </a:lnTo>
                <a:lnTo>
                  <a:pt x="355752" y="123189"/>
                </a:lnTo>
                <a:lnTo>
                  <a:pt x="329283" y="78739"/>
                </a:lnTo>
                <a:lnTo>
                  <a:pt x="291675" y="44449"/>
                </a:lnTo>
                <a:lnTo>
                  <a:pt x="245352" y="22859"/>
                </a:lnTo>
                <a:lnTo>
                  <a:pt x="228387" y="1777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8669743" y="5101844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5</a:t>
            </a:r>
            <a:endParaRPr sz="2400">
              <a:latin typeface="Arial"/>
              <a:cs typeface="Arial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7077805" y="5015870"/>
            <a:ext cx="0" cy="467359"/>
          </a:xfrm>
          <a:custGeom>
            <a:avLst/>
            <a:gdLst/>
            <a:ahLst/>
            <a:cxnLst/>
            <a:rect l="l" t="t" r="r" b="b"/>
            <a:pathLst>
              <a:path w="0" h="467360">
                <a:moveTo>
                  <a:pt x="0" y="0"/>
                </a:moveTo>
                <a:lnTo>
                  <a:pt x="1" y="467017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260685" y="4832988"/>
            <a:ext cx="627380" cy="0"/>
          </a:xfrm>
          <a:custGeom>
            <a:avLst/>
            <a:gdLst/>
            <a:ahLst/>
            <a:cxnLst/>
            <a:rect l="l" t="t" r="r" b="b"/>
            <a:pathLst>
              <a:path w="627379" h="0">
                <a:moveTo>
                  <a:pt x="0" y="0"/>
                </a:moveTo>
                <a:lnTo>
                  <a:pt x="626909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8070475" y="5015870"/>
            <a:ext cx="0" cy="467359"/>
          </a:xfrm>
          <a:custGeom>
            <a:avLst/>
            <a:gdLst/>
            <a:ahLst/>
            <a:cxnLst/>
            <a:rect l="l" t="t" r="r" b="b"/>
            <a:pathLst>
              <a:path w="0" h="467360">
                <a:moveTo>
                  <a:pt x="0" y="0"/>
                </a:moveTo>
                <a:lnTo>
                  <a:pt x="1" y="467017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8253355" y="4832990"/>
            <a:ext cx="384810" cy="334010"/>
          </a:xfrm>
          <a:custGeom>
            <a:avLst/>
            <a:gdLst/>
            <a:ahLst/>
            <a:cxnLst/>
            <a:rect l="l" t="t" r="r" b="b"/>
            <a:pathLst>
              <a:path w="384809" h="334010">
                <a:moveTo>
                  <a:pt x="0" y="0"/>
                </a:moveTo>
                <a:lnTo>
                  <a:pt x="384705" y="333901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8253355" y="5425522"/>
            <a:ext cx="384810" cy="240665"/>
          </a:xfrm>
          <a:custGeom>
            <a:avLst/>
            <a:gdLst/>
            <a:ahLst/>
            <a:cxnLst/>
            <a:rect l="l" t="t" r="r" b="b"/>
            <a:pathLst>
              <a:path w="384809" h="240664">
                <a:moveTo>
                  <a:pt x="0" y="240244"/>
                </a:moveTo>
                <a:lnTo>
                  <a:pt x="384705" y="0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265996" y="2548635"/>
            <a:ext cx="2468245" cy="88201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75"/>
              </a:spcBef>
            </a:pPr>
            <a:r>
              <a:rPr dirty="0" sz="2800" spc="-15">
                <a:latin typeface="Calibri"/>
                <a:cs typeface="Calibri"/>
              </a:rPr>
              <a:t>Graph </a:t>
            </a:r>
            <a:r>
              <a:rPr dirty="0" sz="2800">
                <a:latin typeface="Cambria Math"/>
                <a:cs typeface="Cambria Math"/>
              </a:rPr>
              <a:t>𝐺 </a:t>
            </a:r>
            <a:r>
              <a:rPr dirty="0" sz="2800" spc="-5">
                <a:latin typeface="Calibri"/>
                <a:cs typeface="Calibri"/>
              </a:rPr>
              <a:t>with  node </a:t>
            </a:r>
            <a:r>
              <a:rPr dirty="0" sz="2800" spc="-10">
                <a:latin typeface="Calibri"/>
                <a:cs typeface="Calibri"/>
              </a:rPr>
              <a:t>ordering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25">
                <a:latin typeface="Cambria Math"/>
                <a:cs typeface="Cambria Math"/>
              </a:rPr>
              <a:t>𝜋</a:t>
            </a:r>
            <a:r>
              <a:rPr dirty="0" sz="2800" spc="25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65996" y="3870112"/>
            <a:ext cx="3338829" cy="1165860"/>
          </a:xfrm>
          <a:prstGeom prst="rect">
            <a:avLst/>
          </a:prstGeom>
        </p:spPr>
        <p:txBody>
          <a:bodyPr wrap="square" lIns="0" tIns="200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dirty="0" sz="2800" spc="-5">
                <a:latin typeface="Calibri"/>
                <a:cs typeface="Calibri"/>
              </a:rPr>
              <a:t>Sequence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240">
                <a:latin typeface="Cambria Math"/>
                <a:cs typeface="Cambria Math"/>
              </a:rPr>
              <a:t>𝑆</a:t>
            </a:r>
            <a:r>
              <a:rPr dirty="0" baseline="27777" sz="3000" spc="359">
                <a:latin typeface="Cambria Math"/>
                <a:cs typeface="Cambria Math"/>
              </a:rPr>
              <a:t>*</a:t>
            </a:r>
            <a:r>
              <a:rPr dirty="0" sz="2800" spc="240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marL="1695450">
              <a:lnSpc>
                <a:spcPct val="100000"/>
              </a:lnSpc>
              <a:spcBef>
                <a:spcPts val="1265"/>
              </a:spcBef>
              <a:tabLst>
                <a:tab pos="2457450" algn="l"/>
                <a:tab pos="3155950" algn="l"/>
              </a:tabLst>
            </a:pP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1</a:t>
            </a: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	</a:t>
            </a:r>
            <a:r>
              <a:rPr dirty="0" sz="2400" spc="-5">
                <a:latin typeface="Arial"/>
                <a:cs typeface="Arial"/>
              </a:rPr>
              <a:t>1</a:t>
            </a:r>
            <a:r>
              <a:rPr dirty="0" sz="2400" spc="-5">
                <a:latin typeface="Arial"/>
                <a:cs typeface="Arial"/>
              </a:rPr>
              <a:t>	</a:t>
            </a:r>
            <a:r>
              <a:rPr dirty="0" sz="2400" spc="-5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018995" y="6074155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85">
                <a:latin typeface="Cambria Math"/>
                <a:cs typeface="Cambria Math"/>
              </a:rPr>
              <a:t>(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780618" y="6074155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665">
                <a:latin typeface="Cambria Math"/>
                <a:cs typeface="Cambria Math"/>
              </a:rPr>
              <a:t>,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877517" y="5808979"/>
            <a:ext cx="11087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7080" algn="l"/>
              </a:tabLst>
            </a:pPr>
            <a:r>
              <a:rPr dirty="0" baseline="-21990" sz="3600" spc="187">
                <a:latin typeface="Cambria Math"/>
                <a:cs typeface="Cambria Math"/>
              </a:rPr>
              <a:t>𝑆</a:t>
            </a:r>
            <a:r>
              <a:rPr dirty="0" sz="1800" spc="-160">
                <a:latin typeface="Cambria Math"/>
                <a:cs typeface="Cambria Math"/>
              </a:rPr>
              <a:t>+</a:t>
            </a:r>
            <a:r>
              <a:rPr dirty="0" sz="1800">
                <a:latin typeface="Cambria Math"/>
                <a:cs typeface="Cambria Math"/>
              </a:rPr>
              <a:t>	</a:t>
            </a:r>
            <a:r>
              <a:rPr dirty="0" baseline="-21990" sz="3600" spc="187">
                <a:latin typeface="Cambria Math"/>
                <a:cs typeface="Cambria Math"/>
              </a:rPr>
              <a:t>𝑆</a:t>
            </a:r>
            <a:r>
              <a:rPr dirty="0" sz="1800" spc="-160">
                <a:latin typeface="Cambria Math"/>
                <a:cs typeface="Cambria Math"/>
              </a:rPr>
              <a:t>+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733619" y="5790691"/>
            <a:ext cx="3543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0833" sz="3600" spc="187">
                <a:latin typeface="Cambria Math"/>
                <a:cs typeface="Cambria Math"/>
              </a:rPr>
              <a:t>𝑆</a:t>
            </a:r>
            <a:r>
              <a:rPr dirty="0" sz="1800" spc="-160">
                <a:latin typeface="Cambria Math"/>
                <a:cs typeface="Cambria Math"/>
              </a:rPr>
              <a:t>+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716899" y="6071108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665">
                <a:latin typeface="Cambria Math"/>
                <a:cs typeface="Cambria Math"/>
              </a:rPr>
              <a:t>.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568373" y="5808979"/>
            <a:ext cx="3543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1990" sz="3600" spc="187">
                <a:latin typeface="Cambria Math"/>
                <a:cs typeface="Cambria Math"/>
              </a:rPr>
              <a:t>𝑆</a:t>
            </a:r>
            <a:r>
              <a:rPr dirty="0" sz="1800" spc="-160">
                <a:latin typeface="Cambria Math"/>
                <a:cs typeface="Cambria Math"/>
              </a:rPr>
              <a:t>+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552539" y="6055867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50">
                <a:latin typeface="Cambria Math"/>
                <a:cs typeface="Cambria Math"/>
              </a:rPr>
              <a:t>/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404012" y="5787644"/>
            <a:ext cx="3543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1990" sz="3600" spc="187">
                <a:latin typeface="Cambria Math"/>
                <a:cs typeface="Cambria Math"/>
              </a:rPr>
              <a:t>𝑆</a:t>
            </a:r>
            <a:r>
              <a:rPr dirty="0" sz="1800" spc="-160">
                <a:latin typeface="Cambria Math"/>
                <a:cs typeface="Cambria Math"/>
              </a:rPr>
              <a:t>+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376571" y="5915659"/>
            <a:ext cx="152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648556" y="5927852"/>
            <a:ext cx="10356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95985" algn="l"/>
              </a:tabLst>
            </a:pPr>
            <a:r>
              <a:rPr dirty="0" baseline="1157" sz="3600" spc="187">
                <a:latin typeface="Cambria Math"/>
                <a:cs typeface="Cambria Math"/>
              </a:rPr>
              <a:t>𝑆</a:t>
            </a:r>
            <a:r>
              <a:rPr dirty="0" baseline="27777" sz="2700" spc="-240">
                <a:latin typeface="Cambria Math"/>
                <a:cs typeface="Cambria Math"/>
              </a:rPr>
              <a:t>+</a:t>
            </a:r>
            <a:r>
              <a:rPr dirty="0" baseline="27777" sz="2700" spc="270">
                <a:latin typeface="Cambria Math"/>
                <a:cs typeface="Cambria Math"/>
              </a:rPr>
              <a:t> </a:t>
            </a:r>
            <a:r>
              <a:rPr dirty="0" baseline="1157" sz="3600">
                <a:latin typeface="Cambria Math"/>
                <a:cs typeface="Cambria Math"/>
              </a:rPr>
              <a:t>=	</a:t>
            </a:r>
            <a:r>
              <a:rPr dirty="0" sz="2400">
                <a:latin typeface="Cambria Math"/>
                <a:cs typeface="Cambria Math"/>
              </a:rPr>
              <a:t>(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916848" y="3493244"/>
            <a:ext cx="304800" cy="530860"/>
          </a:xfrm>
          <a:custGeom>
            <a:avLst/>
            <a:gdLst/>
            <a:ahLst/>
            <a:cxnLst/>
            <a:rect l="l" t="t" r="r" b="b"/>
            <a:pathLst>
              <a:path w="304800" h="530860">
                <a:moveTo>
                  <a:pt x="304800" y="378105"/>
                </a:moveTo>
                <a:lnTo>
                  <a:pt x="0" y="378105"/>
                </a:lnTo>
                <a:lnTo>
                  <a:pt x="152399" y="530505"/>
                </a:lnTo>
                <a:lnTo>
                  <a:pt x="304800" y="378105"/>
                </a:lnTo>
                <a:close/>
              </a:path>
              <a:path w="304800" h="530860">
                <a:moveTo>
                  <a:pt x="228600" y="0"/>
                </a:moveTo>
                <a:lnTo>
                  <a:pt x="76199" y="0"/>
                </a:lnTo>
                <a:lnTo>
                  <a:pt x="76199" y="378105"/>
                </a:lnTo>
                <a:lnTo>
                  <a:pt x="228600" y="378105"/>
                </a:lnTo>
                <a:lnTo>
                  <a:pt x="22860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858907" y="3469245"/>
            <a:ext cx="421005" cy="588645"/>
          </a:xfrm>
          <a:custGeom>
            <a:avLst/>
            <a:gdLst/>
            <a:ahLst/>
            <a:cxnLst/>
            <a:rect l="l" t="t" r="r" b="b"/>
            <a:pathLst>
              <a:path w="421005" h="588645">
                <a:moveTo>
                  <a:pt x="310541" y="0"/>
                </a:moveTo>
                <a:lnTo>
                  <a:pt x="110141" y="0"/>
                </a:lnTo>
                <a:lnTo>
                  <a:pt x="110141" y="378104"/>
                </a:lnTo>
                <a:lnTo>
                  <a:pt x="0" y="378104"/>
                </a:lnTo>
                <a:lnTo>
                  <a:pt x="210340" y="588445"/>
                </a:lnTo>
                <a:lnTo>
                  <a:pt x="251069" y="547716"/>
                </a:lnTo>
                <a:lnTo>
                  <a:pt x="210340" y="547716"/>
                </a:lnTo>
                <a:lnTo>
                  <a:pt x="69529" y="406905"/>
                </a:lnTo>
                <a:lnTo>
                  <a:pt x="138941" y="406905"/>
                </a:lnTo>
                <a:lnTo>
                  <a:pt x="138941" y="28799"/>
                </a:lnTo>
                <a:lnTo>
                  <a:pt x="310541" y="28799"/>
                </a:lnTo>
                <a:lnTo>
                  <a:pt x="310541" y="0"/>
                </a:lnTo>
                <a:close/>
              </a:path>
              <a:path w="421005" h="588645">
                <a:moveTo>
                  <a:pt x="310541" y="28799"/>
                </a:moveTo>
                <a:lnTo>
                  <a:pt x="281741" y="28799"/>
                </a:lnTo>
                <a:lnTo>
                  <a:pt x="281741" y="406905"/>
                </a:lnTo>
                <a:lnTo>
                  <a:pt x="351152" y="406905"/>
                </a:lnTo>
                <a:lnTo>
                  <a:pt x="210340" y="547716"/>
                </a:lnTo>
                <a:lnTo>
                  <a:pt x="251069" y="547716"/>
                </a:lnTo>
                <a:lnTo>
                  <a:pt x="420682" y="378104"/>
                </a:lnTo>
                <a:lnTo>
                  <a:pt x="310541" y="378104"/>
                </a:lnTo>
                <a:lnTo>
                  <a:pt x="310541" y="28799"/>
                </a:lnTo>
                <a:close/>
              </a:path>
              <a:path w="421005" h="588645">
                <a:moveTo>
                  <a:pt x="272141" y="38399"/>
                </a:moveTo>
                <a:lnTo>
                  <a:pt x="148540" y="38399"/>
                </a:lnTo>
                <a:lnTo>
                  <a:pt x="148540" y="416505"/>
                </a:lnTo>
                <a:lnTo>
                  <a:pt x="92705" y="416505"/>
                </a:lnTo>
                <a:lnTo>
                  <a:pt x="210340" y="534140"/>
                </a:lnTo>
                <a:lnTo>
                  <a:pt x="223918" y="520562"/>
                </a:lnTo>
                <a:lnTo>
                  <a:pt x="210340" y="520562"/>
                </a:lnTo>
                <a:lnTo>
                  <a:pt x="115882" y="426105"/>
                </a:lnTo>
                <a:lnTo>
                  <a:pt x="158141" y="426105"/>
                </a:lnTo>
                <a:lnTo>
                  <a:pt x="158141" y="47999"/>
                </a:lnTo>
                <a:lnTo>
                  <a:pt x="272141" y="47999"/>
                </a:lnTo>
                <a:lnTo>
                  <a:pt x="272141" y="38399"/>
                </a:lnTo>
                <a:close/>
              </a:path>
              <a:path w="421005" h="588645">
                <a:moveTo>
                  <a:pt x="272141" y="47999"/>
                </a:moveTo>
                <a:lnTo>
                  <a:pt x="262541" y="47999"/>
                </a:lnTo>
                <a:lnTo>
                  <a:pt x="262541" y="426105"/>
                </a:lnTo>
                <a:lnTo>
                  <a:pt x="304799" y="426105"/>
                </a:lnTo>
                <a:lnTo>
                  <a:pt x="210340" y="520562"/>
                </a:lnTo>
                <a:lnTo>
                  <a:pt x="223918" y="520562"/>
                </a:lnTo>
                <a:lnTo>
                  <a:pt x="327976" y="416505"/>
                </a:lnTo>
                <a:lnTo>
                  <a:pt x="272141" y="416505"/>
                </a:lnTo>
                <a:lnTo>
                  <a:pt x="272141" y="47999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1482655" y="3493244"/>
            <a:ext cx="304800" cy="530860"/>
          </a:xfrm>
          <a:custGeom>
            <a:avLst/>
            <a:gdLst/>
            <a:ahLst/>
            <a:cxnLst/>
            <a:rect l="l" t="t" r="r" b="b"/>
            <a:pathLst>
              <a:path w="304800" h="530860">
                <a:moveTo>
                  <a:pt x="228601" y="152400"/>
                </a:moveTo>
                <a:lnTo>
                  <a:pt x="76200" y="152400"/>
                </a:lnTo>
                <a:lnTo>
                  <a:pt x="76200" y="530506"/>
                </a:lnTo>
                <a:lnTo>
                  <a:pt x="228601" y="530506"/>
                </a:lnTo>
                <a:lnTo>
                  <a:pt x="228601" y="152400"/>
                </a:lnTo>
                <a:close/>
              </a:path>
              <a:path w="304800" h="530860">
                <a:moveTo>
                  <a:pt x="152401" y="0"/>
                </a:moveTo>
                <a:lnTo>
                  <a:pt x="0" y="152400"/>
                </a:lnTo>
                <a:lnTo>
                  <a:pt x="304801" y="152400"/>
                </a:lnTo>
                <a:lnTo>
                  <a:pt x="152401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424713" y="3459303"/>
            <a:ext cx="421005" cy="588645"/>
          </a:xfrm>
          <a:custGeom>
            <a:avLst/>
            <a:gdLst/>
            <a:ahLst/>
            <a:cxnLst/>
            <a:rect l="l" t="t" r="r" b="b"/>
            <a:pathLst>
              <a:path w="421005" h="588645">
                <a:moveTo>
                  <a:pt x="210342" y="0"/>
                </a:moveTo>
                <a:lnTo>
                  <a:pt x="0" y="210341"/>
                </a:lnTo>
                <a:lnTo>
                  <a:pt x="110142" y="210341"/>
                </a:lnTo>
                <a:lnTo>
                  <a:pt x="110142" y="588448"/>
                </a:lnTo>
                <a:lnTo>
                  <a:pt x="310542" y="588448"/>
                </a:lnTo>
                <a:lnTo>
                  <a:pt x="310542" y="559648"/>
                </a:lnTo>
                <a:lnTo>
                  <a:pt x="138941" y="559648"/>
                </a:lnTo>
                <a:lnTo>
                  <a:pt x="138941" y="181541"/>
                </a:lnTo>
                <a:lnTo>
                  <a:pt x="69529" y="181541"/>
                </a:lnTo>
                <a:lnTo>
                  <a:pt x="210342" y="40728"/>
                </a:lnTo>
                <a:lnTo>
                  <a:pt x="251071" y="40728"/>
                </a:lnTo>
                <a:lnTo>
                  <a:pt x="210342" y="0"/>
                </a:lnTo>
                <a:close/>
              </a:path>
              <a:path w="421005" h="588645">
                <a:moveTo>
                  <a:pt x="251071" y="40728"/>
                </a:moveTo>
                <a:lnTo>
                  <a:pt x="210342" y="40728"/>
                </a:lnTo>
                <a:lnTo>
                  <a:pt x="351155" y="181541"/>
                </a:lnTo>
                <a:lnTo>
                  <a:pt x="281741" y="181541"/>
                </a:lnTo>
                <a:lnTo>
                  <a:pt x="281741" y="559648"/>
                </a:lnTo>
                <a:lnTo>
                  <a:pt x="310542" y="559648"/>
                </a:lnTo>
                <a:lnTo>
                  <a:pt x="310542" y="210341"/>
                </a:lnTo>
                <a:lnTo>
                  <a:pt x="420683" y="210341"/>
                </a:lnTo>
                <a:lnTo>
                  <a:pt x="251071" y="40728"/>
                </a:lnTo>
                <a:close/>
              </a:path>
              <a:path w="421005" h="588645">
                <a:moveTo>
                  <a:pt x="210342" y="54305"/>
                </a:moveTo>
                <a:lnTo>
                  <a:pt x="92706" y="171941"/>
                </a:lnTo>
                <a:lnTo>
                  <a:pt x="148541" y="171941"/>
                </a:lnTo>
                <a:lnTo>
                  <a:pt x="148541" y="550048"/>
                </a:lnTo>
                <a:lnTo>
                  <a:pt x="272141" y="550048"/>
                </a:lnTo>
                <a:lnTo>
                  <a:pt x="272141" y="540447"/>
                </a:lnTo>
                <a:lnTo>
                  <a:pt x="158141" y="540447"/>
                </a:lnTo>
                <a:lnTo>
                  <a:pt x="158141" y="162341"/>
                </a:lnTo>
                <a:lnTo>
                  <a:pt x="115882" y="162341"/>
                </a:lnTo>
                <a:lnTo>
                  <a:pt x="210342" y="67881"/>
                </a:lnTo>
                <a:lnTo>
                  <a:pt x="223918" y="67881"/>
                </a:lnTo>
                <a:lnTo>
                  <a:pt x="210342" y="54305"/>
                </a:lnTo>
                <a:close/>
              </a:path>
              <a:path w="421005" h="588645">
                <a:moveTo>
                  <a:pt x="223918" y="67881"/>
                </a:moveTo>
                <a:lnTo>
                  <a:pt x="210342" y="67881"/>
                </a:lnTo>
                <a:lnTo>
                  <a:pt x="304801" y="162341"/>
                </a:lnTo>
                <a:lnTo>
                  <a:pt x="262542" y="162341"/>
                </a:lnTo>
                <a:lnTo>
                  <a:pt x="262542" y="540447"/>
                </a:lnTo>
                <a:lnTo>
                  <a:pt x="272141" y="540447"/>
                </a:lnTo>
                <a:lnTo>
                  <a:pt x="272141" y="171941"/>
                </a:lnTo>
                <a:lnTo>
                  <a:pt x="327977" y="171941"/>
                </a:lnTo>
                <a:lnTo>
                  <a:pt x="223918" y="67881"/>
                </a:lnTo>
                <a:close/>
              </a:path>
            </a:pathLst>
          </a:custGeom>
          <a:solidFill>
            <a:srgbClr val="2F62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 txBox="1"/>
          <p:nvPr/>
        </p:nvSpPr>
        <p:spPr>
          <a:xfrm>
            <a:off x="2426770" y="5979667"/>
            <a:ext cx="882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0" name="object 8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81" name="object 8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82" name="object 8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14</a:t>
            </a:fld>
          </a:p>
        </p:txBody>
      </p:sp>
      <p:sp>
        <p:nvSpPr>
          <p:cNvPr id="77" name="object 77"/>
          <p:cNvSpPr txBox="1"/>
          <p:nvPr/>
        </p:nvSpPr>
        <p:spPr>
          <a:xfrm>
            <a:off x="3311687" y="5979667"/>
            <a:ext cx="7283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2930" algn="l"/>
              </a:tabLst>
            </a:pPr>
            <a:r>
              <a:rPr dirty="0" sz="2400">
                <a:latin typeface="Cambria Math"/>
                <a:cs typeface="Cambria Math"/>
              </a:rPr>
              <a:t>,	</a:t>
            </a:r>
            <a:r>
              <a:rPr dirty="0" sz="1800" spc="434">
                <a:latin typeface="Cambria Math"/>
                <a:cs typeface="Cambria Math"/>
              </a:rPr>
              <a:t>-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4764187" y="5979667"/>
            <a:ext cx="882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6726915" y="5979667"/>
            <a:ext cx="882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751320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72540"/>
            <a:ext cx="532003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3790"/>
              </a:lnSpc>
              <a:spcBef>
                <a:spcPts val="265"/>
              </a:spcBef>
            </a:pPr>
            <a:r>
              <a:rPr dirty="0" sz="3200" b="0">
                <a:solidFill>
                  <a:srgbClr val="FF0066"/>
                </a:solidFill>
                <a:latin typeface="Calibri"/>
                <a:cs typeface="Calibri"/>
              </a:rPr>
              <a:t>The </a:t>
            </a:r>
            <a:r>
              <a:rPr dirty="0" sz="3200" spc="-5" b="0">
                <a:solidFill>
                  <a:srgbClr val="FF0066"/>
                </a:solidFill>
                <a:latin typeface="Calibri"/>
                <a:cs typeface="Calibri"/>
              </a:rPr>
              <a:t>sequence </a:t>
            </a:r>
            <a:r>
              <a:rPr dirty="0" sz="3200" spc="355" b="0">
                <a:solidFill>
                  <a:srgbClr val="FF0066"/>
                </a:solidFill>
                <a:latin typeface="Cambria Math"/>
                <a:cs typeface="Cambria Math"/>
              </a:rPr>
              <a:t>𝑆</a:t>
            </a:r>
            <a:r>
              <a:rPr dirty="0" baseline="28985" sz="3450" spc="532" b="0">
                <a:solidFill>
                  <a:srgbClr val="FF0066"/>
                </a:solidFill>
                <a:latin typeface="Cambria Math"/>
                <a:cs typeface="Cambria Math"/>
              </a:rPr>
              <a:t>( </a:t>
            </a:r>
            <a:r>
              <a:rPr dirty="0" sz="3200" b="0">
                <a:solidFill>
                  <a:srgbClr val="FF0066"/>
                </a:solidFill>
                <a:latin typeface="Calibri"/>
                <a:cs typeface="Calibri"/>
              </a:rPr>
              <a:t>has </a:t>
            </a:r>
            <a:r>
              <a:rPr dirty="0" sz="3200" spc="-10">
                <a:solidFill>
                  <a:srgbClr val="FF0066"/>
                </a:solidFill>
              </a:rPr>
              <a:t>two levels  </a:t>
            </a:r>
            <a:r>
              <a:rPr dirty="0" sz="3200">
                <a:solidFill>
                  <a:srgbClr val="008000"/>
                </a:solidFill>
              </a:rPr>
              <a:t>(</a:t>
            </a:r>
            <a:r>
              <a:rPr dirty="0" sz="3200" b="0">
                <a:solidFill>
                  <a:srgbClr val="008000"/>
                </a:solidFill>
                <a:latin typeface="Cambria Math"/>
                <a:cs typeface="Cambria Math"/>
              </a:rPr>
              <a:t>𝑆 </a:t>
            </a:r>
            <a:r>
              <a:rPr dirty="0" sz="3200" b="0">
                <a:solidFill>
                  <a:srgbClr val="008000"/>
                </a:solidFill>
                <a:latin typeface="Calibri"/>
                <a:cs typeface="Calibri"/>
              </a:rPr>
              <a:t>is a </a:t>
            </a:r>
            <a:r>
              <a:rPr dirty="0" sz="3200" spc="-5" b="0">
                <a:solidFill>
                  <a:srgbClr val="008000"/>
                </a:solidFill>
                <a:latin typeface="Calibri"/>
                <a:cs typeface="Calibri"/>
              </a:rPr>
              <a:t>sequence </a:t>
            </a:r>
            <a:r>
              <a:rPr dirty="0" sz="3200" b="0">
                <a:solidFill>
                  <a:srgbClr val="008000"/>
                </a:solidFill>
                <a:latin typeface="Calibri"/>
                <a:cs typeface="Calibri"/>
              </a:rPr>
              <a:t>of</a:t>
            </a:r>
            <a:r>
              <a:rPr dirty="0" sz="3200" spc="50" b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3200" spc="-5" b="0">
                <a:solidFill>
                  <a:srgbClr val="008000"/>
                </a:solidFill>
                <a:latin typeface="Calibri"/>
                <a:cs typeface="Calibri"/>
              </a:rPr>
              <a:t>sequences</a:t>
            </a:r>
            <a:r>
              <a:rPr dirty="0" sz="3200" spc="-5">
                <a:solidFill>
                  <a:srgbClr val="008000"/>
                </a:solidFill>
              </a:rPr>
              <a:t>):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36058" y="4251675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398058" y="42551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398058" y="5087945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580938" y="4620928"/>
            <a:ext cx="0" cy="467359"/>
          </a:xfrm>
          <a:custGeom>
            <a:avLst/>
            <a:gdLst/>
            <a:ahLst/>
            <a:cxnLst/>
            <a:rect l="l" t="t" r="r" b="b"/>
            <a:pathLst>
              <a:path w="0" h="467360">
                <a:moveTo>
                  <a:pt x="0" y="0"/>
                </a:moveTo>
                <a:lnTo>
                  <a:pt x="1" y="467017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97029" y="4252169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97029" y="5084947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080186" y="4243902"/>
            <a:ext cx="384810" cy="383540"/>
          </a:xfrm>
          <a:custGeom>
            <a:avLst/>
            <a:gdLst/>
            <a:ahLst/>
            <a:cxnLst/>
            <a:rect l="l" t="t" r="r" b="b"/>
            <a:pathLst>
              <a:path w="384810" h="383539">
                <a:moveTo>
                  <a:pt x="211571" y="0"/>
                </a:moveTo>
                <a:lnTo>
                  <a:pt x="172257" y="0"/>
                </a:lnTo>
                <a:lnTo>
                  <a:pt x="134735" y="7619"/>
                </a:lnTo>
                <a:lnTo>
                  <a:pt x="84438" y="33019"/>
                </a:lnTo>
                <a:lnTo>
                  <a:pt x="43646" y="69849"/>
                </a:lnTo>
                <a:lnTo>
                  <a:pt x="14940" y="116839"/>
                </a:lnTo>
                <a:lnTo>
                  <a:pt x="3812" y="153669"/>
                </a:lnTo>
                <a:lnTo>
                  <a:pt x="0" y="191769"/>
                </a:lnTo>
                <a:lnTo>
                  <a:pt x="1041" y="212089"/>
                </a:lnTo>
                <a:lnTo>
                  <a:pt x="15303" y="266699"/>
                </a:lnTo>
                <a:lnTo>
                  <a:pt x="44225" y="314959"/>
                </a:lnTo>
                <a:lnTo>
                  <a:pt x="85197" y="351789"/>
                </a:lnTo>
                <a:lnTo>
                  <a:pt x="135637" y="375919"/>
                </a:lnTo>
                <a:lnTo>
                  <a:pt x="173214" y="383539"/>
                </a:lnTo>
                <a:lnTo>
                  <a:pt x="212528" y="383539"/>
                </a:lnTo>
                <a:lnTo>
                  <a:pt x="250049" y="375919"/>
                </a:lnTo>
                <a:lnTo>
                  <a:pt x="255936" y="373379"/>
                </a:lnTo>
                <a:lnTo>
                  <a:pt x="192297" y="373379"/>
                </a:lnTo>
                <a:lnTo>
                  <a:pt x="173790" y="372109"/>
                </a:lnTo>
                <a:lnTo>
                  <a:pt x="121862" y="358139"/>
                </a:lnTo>
                <a:lnTo>
                  <a:pt x="77204" y="331469"/>
                </a:lnTo>
                <a:lnTo>
                  <a:pt x="42271" y="293369"/>
                </a:lnTo>
                <a:lnTo>
                  <a:pt x="19523" y="245109"/>
                </a:lnTo>
                <a:lnTo>
                  <a:pt x="11414" y="191769"/>
                </a:lnTo>
                <a:lnTo>
                  <a:pt x="12359" y="172719"/>
                </a:lnTo>
                <a:lnTo>
                  <a:pt x="25673" y="120649"/>
                </a:lnTo>
                <a:lnTo>
                  <a:pt x="52798" y="76199"/>
                </a:lnTo>
                <a:lnTo>
                  <a:pt x="91283" y="41909"/>
                </a:lnTo>
                <a:lnTo>
                  <a:pt x="138664" y="19049"/>
                </a:lnTo>
                <a:lnTo>
                  <a:pt x="173982" y="11429"/>
                </a:lnTo>
                <a:lnTo>
                  <a:pt x="259769" y="11429"/>
                </a:lnTo>
                <a:lnTo>
                  <a:pt x="249147" y="7619"/>
                </a:lnTo>
                <a:lnTo>
                  <a:pt x="211571" y="0"/>
                </a:lnTo>
                <a:close/>
              </a:path>
              <a:path w="384810" h="383539">
                <a:moveTo>
                  <a:pt x="259769" y="11429"/>
                </a:moveTo>
                <a:lnTo>
                  <a:pt x="210995" y="11429"/>
                </a:lnTo>
                <a:lnTo>
                  <a:pt x="228961" y="13969"/>
                </a:lnTo>
                <a:lnTo>
                  <a:pt x="246301" y="19049"/>
                </a:lnTo>
                <a:lnTo>
                  <a:pt x="293653" y="41909"/>
                </a:lnTo>
                <a:lnTo>
                  <a:pt x="332102" y="76199"/>
                </a:lnTo>
                <a:lnTo>
                  <a:pt x="359185" y="121919"/>
                </a:lnTo>
                <a:lnTo>
                  <a:pt x="372445" y="173989"/>
                </a:lnTo>
                <a:lnTo>
                  <a:pt x="373369" y="191769"/>
                </a:lnTo>
                <a:lnTo>
                  <a:pt x="372426" y="210819"/>
                </a:lnTo>
                <a:lnTo>
                  <a:pt x="359112" y="262889"/>
                </a:lnTo>
                <a:lnTo>
                  <a:pt x="331985" y="307339"/>
                </a:lnTo>
                <a:lnTo>
                  <a:pt x="293502" y="341629"/>
                </a:lnTo>
                <a:lnTo>
                  <a:pt x="246120" y="364489"/>
                </a:lnTo>
                <a:lnTo>
                  <a:pt x="192297" y="373379"/>
                </a:lnTo>
                <a:lnTo>
                  <a:pt x="255936" y="373379"/>
                </a:lnTo>
                <a:lnTo>
                  <a:pt x="300347" y="350519"/>
                </a:lnTo>
                <a:lnTo>
                  <a:pt x="341139" y="313689"/>
                </a:lnTo>
                <a:lnTo>
                  <a:pt x="369845" y="266699"/>
                </a:lnTo>
                <a:lnTo>
                  <a:pt x="380973" y="229869"/>
                </a:lnTo>
                <a:lnTo>
                  <a:pt x="384785" y="191769"/>
                </a:lnTo>
                <a:lnTo>
                  <a:pt x="383744" y="171449"/>
                </a:lnTo>
                <a:lnTo>
                  <a:pt x="369482" y="116839"/>
                </a:lnTo>
                <a:lnTo>
                  <a:pt x="340560" y="68579"/>
                </a:lnTo>
                <a:lnTo>
                  <a:pt x="299587" y="31749"/>
                </a:lnTo>
                <a:lnTo>
                  <a:pt x="266851" y="13969"/>
                </a:lnTo>
                <a:lnTo>
                  <a:pt x="259769" y="11429"/>
                </a:lnTo>
                <a:close/>
              </a:path>
              <a:path w="384810" h="383539">
                <a:moveTo>
                  <a:pt x="210803" y="15239"/>
                </a:moveTo>
                <a:lnTo>
                  <a:pt x="174556" y="15239"/>
                </a:lnTo>
                <a:lnTo>
                  <a:pt x="156959" y="17779"/>
                </a:lnTo>
                <a:lnTo>
                  <a:pt x="108188" y="35559"/>
                </a:lnTo>
                <a:lnTo>
                  <a:pt x="67306" y="66039"/>
                </a:lnTo>
                <a:lnTo>
                  <a:pt x="36734" y="106679"/>
                </a:lnTo>
                <a:lnTo>
                  <a:pt x="18877" y="156209"/>
                </a:lnTo>
                <a:lnTo>
                  <a:pt x="15220" y="191769"/>
                </a:lnTo>
                <a:lnTo>
                  <a:pt x="16106" y="209549"/>
                </a:lnTo>
                <a:lnTo>
                  <a:pt x="29033" y="260349"/>
                </a:lnTo>
                <a:lnTo>
                  <a:pt x="55502" y="304799"/>
                </a:lnTo>
                <a:lnTo>
                  <a:pt x="93110" y="339089"/>
                </a:lnTo>
                <a:lnTo>
                  <a:pt x="139433" y="360679"/>
                </a:lnTo>
                <a:lnTo>
                  <a:pt x="192104" y="369569"/>
                </a:lnTo>
                <a:lnTo>
                  <a:pt x="210229" y="368299"/>
                </a:lnTo>
                <a:lnTo>
                  <a:pt x="227826" y="365759"/>
                </a:lnTo>
                <a:lnTo>
                  <a:pt x="191912" y="365759"/>
                </a:lnTo>
                <a:lnTo>
                  <a:pt x="174174" y="364489"/>
                </a:lnTo>
                <a:lnTo>
                  <a:pt x="124481" y="351789"/>
                </a:lnTo>
                <a:lnTo>
                  <a:pt x="81767" y="325119"/>
                </a:lnTo>
                <a:lnTo>
                  <a:pt x="48374" y="288289"/>
                </a:lnTo>
                <a:lnTo>
                  <a:pt x="26678" y="242569"/>
                </a:lnTo>
                <a:lnTo>
                  <a:pt x="19025" y="191769"/>
                </a:lnTo>
                <a:lnTo>
                  <a:pt x="19969" y="173989"/>
                </a:lnTo>
                <a:lnTo>
                  <a:pt x="32829" y="124459"/>
                </a:lnTo>
                <a:lnTo>
                  <a:pt x="58901" y="81279"/>
                </a:lnTo>
                <a:lnTo>
                  <a:pt x="95846" y="48259"/>
                </a:lnTo>
                <a:lnTo>
                  <a:pt x="141283" y="26669"/>
                </a:lnTo>
                <a:lnTo>
                  <a:pt x="192873" y="17779"/>
                </a:lnTo>
                <a:lnTo>
                  <a:pt x="228386" y="17779"/>
                </a:lnTo>
                <a:lnTo>
                  <a:pt x="210803" y="15239"/>
                </a:lnTo>
                <a:close/>
              </a:path>
              <a:path w="384810" h="383539">
                <a:moveTo>
                  <a:pt x="228386" y="17779"/>
                </a:moveTo>
                <a:lnTo>
                  <a:pt x="192873" y="17779"/>
                </a:lnTo>
                <a:lnTo>
                  <a:pt x="210610" y="19049"/>
                </a:lnTo>
                <a:lnTo>
                  <a:pt x="227812" y="21589"/>
                </a:lnTo>
                <a:lnTo>
                  <a:pt x="275429" y="39369"/>
                </a:lnTo>
                <a:lnTo>
                  <a:pt x="315301" y="69849"/>
                </a:lnTo>
                <a:lnTo>
                  <a:pt x="345060" y="109219"/>
                </a:lnTo>
                <a:lnTo>
                  <a:pt x="362332" y="157479"/>
                </a:lnTo>
                <a:lnTo>
                  <a:pt x="365760" y="191769"/>
                </a:lnTo>
                <a:lnTo>
                  <a:pt x="364815" y="209549"/>
                </a:lnTo>
                <a:lnTo>
                  <a:pt x="351956" y="259079"/>
                </a:lnTo>
                <a:lnTo>
                  <a:pt x="325883" y="302259"/>
                </a:lnTo>
                <a:lnTo>
                  <a:pt x="288938" y="335279"/>
                </a:lnTo>
                <a:lnTo>
                  <a:pt x="243502" y="356869"/>
                </a:lnTo>
                <a:lnTo>
                  <a:pt x="191912" y="365759"/>
                </a:lnTo>
                <a:lnTo>
                  <a:pt x="227826" y="365759"/>
                </a:lnTo>
                <a:lnTo>
                  <a:pt x="276597" y="347979"/>
                </a:lnTo>
                <a:lnTo>
                  <a:pt x="317479" y="317499"/>
                </a:lnTo>
                <a:lnTo>
                  <a:pt x="348051" y="276859"/>
                </a:lnTo>
                <a:lnTo>
                  <a:pt x="365907" y="227329"/>
                </a:lnTo>
                <a:lnTo>
                  <a:pt x="369564" y="191769"/>
                </a:lnTo>
                <a:lnTo>
                  <a:pt x="368678" y="173989"/>
                </a:lnTo>
                <a:lnTo>
                  <a:pt x="355752" y="123189"/>
                </a:lnTo>
                <a:lnTo>
                  <a:pt x="329283" y="78739"/>
                </a:lnTo>
                <a:lnTo>
                  <a:pt x="291675" y="44449"/>
                </a:lnTo>
                <a:lnTo>
                  <a:pt x="245352" y="22859"/>
                </a:lnTo>
                <a:lnTo>
                  <a:pt x="228386" y="1777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279909" y="4617930"/>
            <a:ext cx="0" cy="467359"/>
          </a:xfrm>
          <a:custGeom>
            <a:avLst/>
            <a:gdLst/>
            <a:ahLst/>
            <a:cxnLst/>
            <a:rect l="l" t="t" r="r" b="b"/>
            <a:pathLst>
              <a:path w="0" h="467360">
                <a:moveTo>
                  <a:pt x="0" y="0"/>
                </a:moveTo>
                <a:lnTo>
                  <a:pt x="1" y="467017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462789" y="4435049"/>
            <a:ext cx="627380" cy="0"/>
          </a:xfrm>
          <a:custGeom>
            <a:avLst/>
            <a:gdLst/>
            <a:ahLst/>
            <a:cxnLst/>
            <a:rect l="l" t="t" r="r" b="b"/>
            <a:pathLst>
              <a:path w="627379" h="0">
                <a:moveTo>
                  <a:pt x="0" y="0"/>
                </a:moveTo>
                <a:lnTo>
                  <a:pt x="626909" y="1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849629" y="4252169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849629" y="5084947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842298" y="5084947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215389" y="5264027"/>
            <a:ext cx="627380" cy="0"/>
          </a:xfrm>
          <a:custGeom>
            <a:avLst/>
            <a:gdLst/>
            <a:ahLst/>
            <a:cxnLst/>
            <a:rect l="l" t="t" r="r" b="b"/>
            <a:pathLst>
              <a:path w="627379" h="0">
                <a:moveTo>
                  <a:pt x="0" y="0"/>
                </a:moveTo>
                <a:lnTo>
                  <a:pt x="626909" y="1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832786" y="4243902"/>
            <a:ext cx="384810" cy="383540"/>
          </a:xfrm>
          <a:custGeom>
            <a:avLst/>
            <a:gdLst/>
            <a:ahLst/>
            <a:cxnLst/>
            <a:rect l="l" t="t" r="r" b="b"/>
            <a:pathLst>
              <a:path w="384810" h="383539">
                <a:moveTo>
                  <a:pt x="211571" y="0"/>
                </a:moveTo>
                <a:lnTo>
                  <a:pt x="172257" y="0"/>
                </a:lnTo>
                <a:lnTo>
                  <a:pt x="134735" y="7619"/>
                </a:lnTo>
                <a:lnTo>
                  <a:pt x="84438" y="33019"/>
                </a:lnTo>
                <a:lnTo>
                  <a:pt x="43646" y="69849"/>
                </a:lnTo>
                <a:lnTo>
                  <a:pt x="14940" y="116839"/>
                </a:lnTo>
                <a:lnTo>
                  <a:pt x="3812" y="153669"/>
                </a:lnTo>
                <a:lnTo>
                  <a:pt x="0" y="191769"/>
                </a:lnTo>
                <a:lnTo>
                  <a:pt x="1041" y="212089"/>
                </a:lnTo>
                <a:lnTo>
                  <a:pt x="15303" y="266699"/>
                </a:lnTo>
                <a:lnTo>
                  <a:pt x="44225" y="314959"/>
                </a:lnTo>
                <a:lnTo>
                  <a:pt x="85196" y="351789"/>
                </a:lnTo>
                <a:lnTo>
                  <a:pt x="135637" y="375919"/>
                </a:lnTo>
                <a:lnTo>
                  <a:pt x="173214" y="383539"/>
                </a:lnTo>
                <a:lnTo>
                  <a:pt x="212528" y="383539"/>
                </a:lnTo>
                <a:lnTo>
                  <a:pt x="250049" y="375919"/>
                </a:lnTo>
                <a:lnTo>
                  <a:pt x="255936" y="373379"/>
                </a:lnTo>
                <a:lnTo>
                  <a:pt x="192297" y="373379"/>
                </a:lnTo>
                <a:lnTo>
                  <a:pt x="173790" y="372109"/>
                </a:lnTo>
                <a:lnTo>
                  <a:pt x="121862" y="358139"/>
                </a:lnTo>
                <a:lnTo>
                  <a:pt x="77204" y="331469"/>
                </a:lnTo>
                <a:lnTo>
                  <a:pt x="42271" y="293369"/>
                </a:lnTo>
                <a:lnTo>
                  <a:pt x="19523" y="245109"/>
                </a:lnTo>
                <a:lnTo>
                  <a:pt x="11414" y="191769"/>
                </a:lnTo>
                <a:lnTo>
                  <a:pt x="12359" y="172719"/>
                </a:lnTo>
                <a:lnTo>
                  <a:pt x="25673" y="120649"/>
                </a:lnTo>
                <a:lnTo>
                  <a:pt x="52798" y="76199"/>
                </a:lnTo>
                <a:lnTo>
                  <a:pt x="91283" y="41909"/>
                </a:lnTo>
                <a:lnTo>
                  <a:pt x="138664" y="19049"/>
                </a:lnTo>
                <a:lnTo>
                  <a:pt x="173981" y="11429"/>
                </a:lnTo>
                <a:lnTo>
                  <a:pt x="259769" y="11429"/>
                </a:lnTo>
                <a:lnTo>
                  <a:pt x="249147" y="7619"/>
                </a:lnTo>
                <a:lnTo>
                  <a:pt x="211571" y="0"/>
                </a:lnTo>
                <a:close/>
              </a:path>
              <a:path w="384810" h="383539">
                <a:moveTo>
                  <a:pt x="259769" y="11429"/>
                </a:moveTo>
                <a:lnTo>
                  <a:pt x="210995" y="11429"/>
                </a:lnTo>
                <a:lnTo>
                  <a:pt x="228961" y="13969"/>
                </a:lnTo>
                <a:lnTo>
                  <a:pt x="246301" y="19049"/>
                </a:lnTo>
                <a:lnTo>
                  <a:pt x="293653" y="41909"/>
                </a:lnTo>
                <a:lnTo>
                  <a:pt x="332102" y="76199"/>
                </a:lnTo>
                <a:lnTo>
                  <a:pt x="359185" y="121919"/>
                </a:lnTo>
                <a:lnTo>
                  <a:pt x="372445" y="173989"/>
                </a:lnTo>
                <a:lnTo>
                  <a:pt x="373369" y="191769"/>
                </a:lnTo>
                <a:lnTo>
                  <a:pt x="372426" y="210819"/>
                </a:lnTo>
                <a:lnTo>
                  <a:pt x="359111" y="262889"/>
                </a:lnTo>
                <a:lnTo>
                  <a:pt x="331985" y="307339"/>
                </a:lnTo>
                <a:lnTo>
                  <a:pt x="293502" y="341629"/>
                </a:lnTo>
                <a:lnTo>
                  <a:pt x="246120" y="364489"/>
                </a:lnTo>
                <a:lnTo>
                  <a:pt x="192297" y="373379"/>
                </a:lnTo>
                <a:lnTo>
                  <a:pt x="255936" y="373379"/>
                </a:lnTo>
                <a:lnTo>
                  <a:pt x="300347" y="350519"/>
                </a:lnTo>
                <a:lnTo>
                  <a:pt x="341139" y="313689"/>
                </a:lnTo>
                <a:lnTo>
                  <a:pt x="369845" y="266699"/>
                </a:lnTo>
                <a:lnTo>
                  <a:pt x="380973" y="229869"/>
                </a:lnTo>
                <a:lnTo>
                  <a:pt x="384785" y="191769"/>
                </a:lnTo>
                <a:lnTo>
                  <a:pt x="383744" y="171449"/>
                </a:lnTo>
                <a:lnTo>
                  <a:pt x="369482" y="116839"/>
                </a:lnTo>
                <a:lnTo>
                  <a:pt x="340560" y="68579"/>
                </a:lnTo>
                <a:lnTo>
                  <a:pt x="299587" y="31749"/>
                </a:lnTo>
                <a:lnTo>
                  <a:pt x="266851" y="13969"/>
                </a:lnTo>
                <a:lnTo>
                  <a:pt x="259769" y="11429"/>
                </a:lnTo>
                <a:close/>
              </a:path>
              <a:path w="384810" h="383539">
                <a:moveTo>
                  <a:pt x="210803" y="15239"/>
                </a:moveTo>
                <a:lnTo>
                  <a:pt x="174556" y="15239"/>
                </a:lnTo>
                <a:lnTo>
                  <a:pt x="156959" y="17779"/>
                </a:lnTo>
                <a:lnTo>
                  <a:pt x="108188" y="35559"/>
                </a:lnTo>
                <a:lnTo>
                  <a:pt x="67306" y="66039"/>
                </a:lnTo>
                <a:lnTo>
                  <a:pt x="36733" y="106679"/>
                </a:lnTo>
                <a:lnTo>
                  <a:pt x="18877" y="156209"/>
                </a:lnTo>
                <a:lnTo>
                  <a:pt x="15220" y="191769"/>
                </a:lnTo>
                <a:lnTo>
                  <a:pt x="16106" y="209549"/>
                </a:lnTo>
                <a:lnTo>
                  <a:pt x="29033" y="260349"/>
                </a:lnTo>
                <a:lnTo>
                  <a:pt x="55502" y="304799"/>
                </a:lnTo>
                <a:lnTo>
                  <a:pt x="93110" y="339089"/>
                </a:lnTo>
                <a:lnTo>
                  <a:pt x="139433" y="360679"/>
                </a:lnTo>
                <a:lnTo>
                  <a:pt x="192104" y="369569"/>
                </a:lnTo>
                <a:lnTo>
                  <a:pt x="210229" y="368299"/>
                </a:lnTo>
                <a:lnTo>
                  <a:pt x="227826" y="365759"/>
                </a:lnTo>
                <a:lnTo>
                  <a:pt x="191912" y="365759"/>
                </a:lnTo>
                <a:lnTo>
                  <a:pt x="174174" y="364489"/>
                </a:lnTo>
                <a:lnTo>
                  <a:pt x="124481" y="351789"/>
                </a:lnTo>
                <a:lnTo>
                  <a:pt x="81767" y="325119"/>
                </a:lnTo>
                <a:lnTo>
                  <a:pt x="48374" y="288289"/>
                </a:lnTo>
                <a:lnTo>
                  <a:pt x="26678" y="242569"/>
                </a:lnTo>
                <a:lnTo>
                  <a:pt x="19025" y="191769"/>
                </a:lnTo>
                <a:lnTo>
                  <a:pt x="19969" y="173989"/>
                </a:lnTo>
                <a:lnTo>
                  <a:pt x="32829" y="124459"/>
                </a:lnTo>
                <a:lnTo>
                  <a:pt x="58901" y="81279"/>
                </a:lnTo>
                <a:lnTo>
                  <a:pt x="95846" y="48259"/>
                </a:lnTo>
                <a:lnTo>
                  <a:pt x="141283" y="26669"/>
                </a:lnTo>
                <a:lnTo>
                  <a:pt x="192873" y="17779"/>
                </a:lnTo>
                <a:lnTo>
                  <a:pt x="228386" y="17779"/>
                </a:lnTo>
                <a:lnTo>
                  <a:pt x="210803" y="15239"/>
                </a:lnTo>
                <a:close/>
              </a:path>
              <a:path w="384810" h="383539">
                <a:moveTo>
                  <a:pt x="228386" y="17779"/>
                </a:moveTo>
                <a:lnTo>
                  <a:pt x="192873" y="17779"/>
                </a:lnTo>
                <a:lnTo>
                  <a:pt x="210610" y="19049"/>
                </a:lnTo>
                <a:lnTo>
                  <a:pt x="227812" y="21589"/>
                </a:lnTo>
                <a:lnTo>
                  <a:pt x="275429" y="39369"/>
                </a:lnTo>
                <a:lnTo>
                  <a:pt x="315301" y="69849"/>
                </a:lnTo>
                <a:lnTo>
                  <a:pt x="345059" y="109219"/>
                </a:lnTo>
                <a:lnTo>
                  <a:pt x="362332" y="157479"/>
                </a:lnTo>
                <a:lnTo>
                  <a:pt x="365760" y="191769"/>
                </a:lnTo>
                <a:lnTo>
                  <a:pt x="364815" y="209549"/>
                </a:lnTo>
                <a:lnTo>
                  <a:pt x="351956" y="259079"/>
                </a:lnTo>
                <a:lnTo>
                  <a:pt x="325883" y="302259"/>
                </a:lnTo>
                <a:lnTo>
                  <a:pt x="288938" y="335279"/>
                </a:lnTo>
                <a:lnTo>
                  <a:pt x="243502" y="356869"/>
                </a:lnTo>
                <a:lnTo>
                  <a:pt x="191912" y="365759"/>
                </a:lnTo>
                <a:lnTo>
                  <a:pt x="227826" y="365759"/>
                </a:lnTo>
                <a:lnTo>
                  <a:pt x="276597" y="347979"/>
                </a:lnTo>
                <a:lnTo>
                  <a:pt x="317479" y="317499"/>
                </a:lnTo>
                <a:lnTo>
                  <a:pt x="348051" y="276859"/>
                </a:lnTo>
                <a:lnTo>
                  <a:pt x="365907" y="227329"/>
                </a:lnTo>
                <a:lnTo>
                  <a:pt x="369564" y="191769"/>
                </a:lnTo>
                <a:lnTo>
                  <a:pt x="368678" y="173989"/>
                </a:lnTo>
                <a:lnTo>
                  <a:pt x="355752" y="123189"/>
                </a:lnTo>
                <a:lnTo>
                  <a:pt x="329283" y="78739"/>
                </a:lnTo>
                <a:lnTo>
                  <a:pt x="291675" y="44449"/>
                </a:lnTo>
                <a:lnTo>
                  <a:pt x="245352" y="22859"/>
                </a:lnTo>
                <a:lnTo>
                  <a:pt x="228386" y="177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032509" y="4617930"/>
            <a:ext cx="0" cy="467359"/>
          </a:xfrm>
          <a:custGeom>
            <a:avLst/>
            <a:gdLst/>
            <a:ahLst/>
            <a:cxnLst/>
            <a:rect l="l" t="t" r="r" b="b"/>
            <a:pathLst>
              <a:path w="0" h="467360">
                <a:moveTo>
                  <a:pt x="0" y="0"/>
                </a:moveTo>
                <a:lnTo>
                  <a:pt x="1" y="467017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215389" y="4435049"/>
            <a:ext cx="627380" cy="0"/>
          </a:xfrm>
          <a:custGeom>
            <a:avLst/>
            <a:gdLst/>
            <a:ahLst/>
            <a:cxnLst/>
            <a:rect l="l" t="t" r="r" b="b"/>
            <a:pathLst>
              <a:path w="627379" h="0">
                <a:moveTo>
                  <a:pt x="0" y="0"/>
                </a:moveTo>
                <a:lnTo>
                  <a:pt x="626909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025178" y="4617930"/>
            <a:ext cx="0" cy="467359"/>
          </a:xfrm>
          <a:custGeom>
            <a:avLst/>
            <a:gdLst/>
            <a:ahLst/>
            <a:cxnLst/>
            <a:rect l="l" t="t" r="r" b="b"/>
            <a:pathLst>
              <a:path w="0" h="467360">
                <a:moveTo>
                  <a:pt x="0" y="0"/>
                </a:moveTo>
                <a:lnTo>
                  <a:pt x="1" y="467017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667328" y="4248369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667328" y="5081147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659998" y="5081147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033088" y="5260228"/>
            <a:ext cx="627380" cy="0"/>
          </a:xfrm>
          <a:custGeom>
            <a:avLst/>
            <a:gdLst/>
            <a:ahLst/>
            <a:cxnLst/>
            <a:rect l="l" t="t" r="r" b="b"/>
            <a:pathLst>
              <a:path w="627379" h="0">
                <a:moveTo>
                  <a:pt x="0" y="0"/>
                </a:moveTo>
                <a:lnTo>
                  <a:pt x="626909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650484" y="4240103"/>
            <a:ext cx="384810" cy="383540"/>
          </a:xfrm>
          <a:custGeom>
            <a:avLst/>
            <a:gdLst/>
            <a:ahLst/>
            <a:cxnLst/>
            <a:rect l="l" t="t" r="r" b="b"/>
            <a:pathLst>
              <a:path w="384809" h="383539">
                <a:moveTo>
                  <a:pt x="211571" y="0"/>
                </a:moveTo>
                <a:lnTo>
                  <a:pt x="172257" y="0"/>
                </a:lnTo>
                <a:lnTo>
                  <a:pt x="134736" y="7619"/>
                </a:lnTo>
                <a:lnTo>
                  <a:pt x="84438" y="33019"/>
                </a:lnTo>
                <a:lnTo>
                  <a:pt x="43646" y="69850"/>
                </a:lnTo>
                <a:lnTo>
                  <a:pt x="14940" y="116839"/>
                </a:lnTo>
                <a:lnTo>
                  <a:pt x="3812" y="153669"/>
                </a:lnTo>
                <a:lnTo>
                  <a:pt x="0" y="191769"/>
                </a:lnTo>
                <a:lnTo>
                  <a:pt x="1041" y="212089"/>
                </a:lnTo>
                <a:lnTo>
                  <a:pt x="15303" y="266700"/>
                </a:lnTo>
                <a:lnTo>
                  <a:pt x="44225" y="314959"/>
                </a:lnTo>
                <a:lnTo>
                  <a:pt x="85197" y="351789"/>
                </a:lnTo>
                <a:lnTo>
                  <a:pt x="135638" y="375919"/>
                </a:lnTo>
                <a:lnTo>
                  <a:pt x="173214" y="383539"/>
                </a:lnTo>
                <a:lnTo>
                  <a:pt x="212528" y="383539"/>
                </a:lnTo>
                <a:lnTo>
                  <a:pt x="250050" y="375919"/>
                </a:lnTo>
                <a:lnTo>
                  <a:pt x="255937" y="373379"/>
                </a:lnTo>
                <a:lnTo>
                  <a:pt x="192297" y="373379"/>
                </a:lnTo>
                <a:lnTo>
                  <a:pt x="173790" y="372109"/>
                </a:lnTo>
                <a:lnTo>
                  <a:pt x="121862" y="358139"/>
                </a:lnTo>
                <a:lnTo>
                  <a:pt x="77205" y="331469"/>
                </a:lnTo>
                <a:lnTo>
                  <a:pt x="42271" y="293369"/>
                </a:lnTo>
                <a:lnTo>
                  <a:pt x="19523" y="245109"/>
                </a:lnTo>
                <a:lnTo>
                  <a:pt x="11416" y="191769"/>
                </a:lnTo>
                <a:lnTo>
                  <a:pt x="12359" y="172719"/>
                </a:lnTo>
                <a:lnTo>
                  <a:pt x="25673" y="120650"/>
                </a:lnTo>
                <a:lnTo>
                  <a:pt x="52798" y="76200"/>
                </a:lnTo>
                <a:lnTo>
                  <a:pt x="91283" y="41909"/>
                </a:lnTo>
                <a:lnTo>
                  <a:pt x="138664" y="19050"/>
                </a:lnTo>
                <a:lnTo>
                  <a:pt x="173982" y="11429"/>
                </a:lnTo>
                <a:lnTo>
                  <a:pt x="259770" y="11429"/>
                </a:lnTo>
                <a:lnTo>
                  <a:pt x="249147" y="7619"/>
                </a:lnTo>
                <a:lnTo>
                  <a:pt x="211571" y="0"/>
                </a:lnTo>
                <a:close/>
              </a:path>
              <a:path w="384809" h="383539">
                <a:moveTo>
                  <a:pt x="259770" y="11429"/>
                </a:moveTo>
                <a:lnTo>
                  <a:pt x="210995" y="11429"/>
                </a:lnTo>
                <a:lnTo>
                  <a:pt x="228961" y="13969"/>
                </a:lnTo>
                <a:lnTo>
                  <a:pt x="246301" y="19050"/>
                </a:lnTo>
                <a:lnTo>
                  <a:pt x="293654" y="41909"/>
                </a:lnTo>
                <a:lnTo>
                  <a:pt x="332102" y="76200"/>
                </a:lnTo>
                <a:lnTo>
                  <a:pt x="359185" y="121919"/>
                </a:lnTo>
                <a:lnTo>
                  <a:pt x="372445" y="173989"/>
                </a:lnTo>
                <a:lnTo>
                  <a:pt x="373371" y="191769"/>
                </a:lnTo>
                <a:lnTo>
                  <a:pt x="372426" y="210819"/>
                </a:lnTo>
                <a:lnTo>
                  <a:pt x="359112" y="262889"/>
                </a:lnTo>
                <a:lnTo>
                  <a:pt x="331986" y="307339"/>
                </a:lnTo>
                <a:lnTo>
                  <a:pt x="293502" y="341629"/>
                </a:lnTo>
                <a:lnTo>
                  <a:pt x="246120" y="364489"/>
                </a:lnTo>
                <a:lnTo>
                  <a:pt x="192297" y="373379"/>
                </a:lnTo>
                <a:lnTo>
                  <a:pt x="255937" y="373379"/>
                </a:lnTo>
                <a:lnTo>
                  <a:pt x="300347" y="350519"/>
                </a:lnTo>
                <a:lnTo>
                  <a:pt x="341139" y="313689"/>
                </a:lnTo>
                <a:lnTo>
                  <a:pt x="369845" y="266700"/>
                </a:lnTo>
                <a:lnTo>
                  <a:pt x="380973" y="229869"/>
                </a:lnTo>
                <a:lnTo>
                  <a:pt x="384785" y="191769"/>
                </a:lnTo>
                <a:lnTo>
                  <a:pt x="383744" y="171450"/>
                </a:lnTo>
                <a:lnTo>
                  <a:pt x="369482" y="116839"/>
                </a:lnTo>
                <a:lnTo>
                  <a:pt x="340560" y="68579"/>
                </a:lnTo>
                <a:lnTo>
                  <a:pt x="299587" y="31750"/>
                </a:lnTo>
                <a:lnTo>
                  <a:pt x="266852" y="13969"/>
                </a:lnTo>
                <a:lnTo>
                  <a:pt x="259770" y="11429"/>
                </a:lnTo>
                <a:close/>
              </a:path>
              <a:path w="384809" h="383539">
                <a:moveTo>
                  <a:pt x="210803" y="15239"/>
                </a:moveTo>
                <a:lnTo>
                  <a:pt x="174556" y="15239"/>
                </a:lnTo>
                <a:lnTo>
                  <a:pt x="156959" y="17779"/>
                </a:lnTo>
                <a:lnTo>
                  <a:pt x="108188" y="35559"/>
                </a:lnTo>
                <a:lnTo>
                  <a:pt x="67306" y="66039"/>
                </a:lnTo>
                <a:lnTo>
                  <a:pt x="36734" y="106679"/>
                </a:lnTo>
                <a:lnTo>
                  <a:pt x="18878" y="156209"/>
                </a:lnTo>
                <a:lnTo>
                  <a:pt x="15220" y="191769"/>
                </a:lnTo>
                <a:lnTo>
                  <a:pt x="16107" y="209550"/>
                </a:lnTo>
                <a:lnTo>
                  <a:pt x="29033" y="260350"/>
                </a:lnTo>
                <a:lnTo>
                  <a:pt x="55502" y="304800"/>
                </a:lnTo>
                <a:lnTo>
                  <a:pt x="93110" y="339089"/>
                </a:lnTo>
                <a:lnTo>
                  <a:pt x="139433" y="360679"/>
                </a:lnTo>
                <a:lnTo>
                  <a:pt x="192105" y="369569"/>
                </a:lnTo>
                <a:lnTo>
                  <a:pt x="210229" y="368300"/>
                </a:lnTo>
                <a:lnTo>
                  <a:pt x="227826" y="365759"/>
                </a:lnTo>
                <a:lnTo>
                  <a:pt x="191912" y="365759"/>
                </a:lnTo>
                <a:lnTo>
                  <a:pt x="174175" y="364489"/>
                </a:lnTo>
                <a:lnTo>
                  <a:pt x="124481" y="351789"/>
                </a:lnTo>
                <a:lnTo>
                  <a:pt x="81768" y="325119"/>
                </a:lnTo>
                <a:lnTo>
                  <a:pt x="48374" y="288289"/>
                </a:lnTo>
                <a:lnTo>
                  <a:pt x="26680" y="242569"/>
                </a:lnTo>
                <a:lnTo>
                  <a:pt x="19025" y="191769"/>
                </a:lnTo>
                <a:lnTo>
                  <a:pt x="19970" y="173989"/>
                </a:lnTo>
                <a:lnTo>
                  <a:pt x="32829" y="124459"/>
                </a:lnTo>
                <a:lnTo>
                  <a:pt x="58902" y="81279"/>
                </a:lnTo>
                <a:lnTo>
                  <a:pt x="95846" y="48259"/>
                </a:lnTo>
                <a:lnTo>
                  <a:pt x="141283" y="26669"/>
                </a:lnTo>
                <a:lnTo>
                  <a:pt x="175131" y="19050"/>
                </a:lnTo>
                <a:lnTo>
                  <a:pt x="232629" y="19050"/>
                </a:lnTo>
                <a:lnTo>
                  <a:pt x="228387" y="17779"/>
                </a:lnTo>
                <a:lnTo>
                  <a:pt x="210803" y="15239"/>
                </a:lnTo>
                <a:close/>
              </a:path>
              <a:path w="384809" h="383539">
                <a:moveTo>
                  <a:pt x="232629" y="19050"/>
                </a:moveTo>
                <a:lnTo>
                  <a:pt x="210611" y="19050"/>
                </a:lnTo>
                <a:lnTo>
                  <a:pt x="227812" y="21589"/>
                </a:lnTo>
                <a:lnTo>
                  <a:pt x="244403" y="26669"/>
                </a:lnTo>
                <a:lnTo>
                  <a:pt x="289697" y="48259"/>
                </a:lnTo>
                <a:lnTo>
                  <a:pt x="326463" y="81279"/>
                </a:lnTo>
                <a:lnTo>
                  <a:pt x="352319" y="124459"/>
                </a:lnTo>
                <a:lnTo>
                  <a:pt x="364912" y="173989"/>
                </a:lnTo>
                <a:lnTo>
                  <a:pt x="365759" y="191769"/>
                </a:lnTo>
                <a:lnTo>
                  <a:pt x="364816" y="209550"/>
                </a:lnTo>
                <a:lnTo>
                  <a:pt x="351956" y="259079"/>
                </a:lnTo>
                <a:lnTo>
                  <a:pt x="325884" y="302259"/>
                </a:lnTo>
                <a:lnTo>
                  <a:pt x="288938" y="335279"/>
                </a:lnTo>
                <a:lnTo>
                  <a:pt x="243502" y="356869"/>
                </a:lnTo>
                <a:lnTo>
                  <a:pt x="191912" y="365759"/>
                </a:lnTo>
                <a:lnTo>
                  <a:pt x="227826" y="365759"/>
                </a:lnTo>
                <a:lnTo>
                  <a:pt x="276597" y="347979"/>
                </a:lnTo>
                <a:lnTo>
                  <a:pt x="317479" y="317500"/>
                </a:lnTo>
                <a:lnTo>
                  <a:pt x="348051" y="276859"/>
                </a:lnTo>
                <a:lnTo>
                  <a:pt x="365908" y="227329"/>
                </a:lnTo>
                <a:lnTo>
                  <a:pt x="369564" y="191769"/>
                </a:lnTo>
                <a:lnTo>
                  <a:pt x="368679" y="173989"/>
                </a:lnTo>
                <a:lnTo>
                  <a:pt x="355752" y="123189"/>
                </a:lnTo>
                <a:lnTo>
                  <a:pt x="329283" y="78739"/>
                </a:lnTo>
                <a:lnTo>
                  <a:pt x="291675" y="44450"/>
                </a:lnTo>
                <a:lnTo>
                  <a:pt x="245352" y="22859"/>
                </a:lnTo>
                <a:lnTo>
                  <a:pt x="232629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8347385" y="4703320"/>
            <a:ext cx="384810" cy="383540"/>
          </a:xfrm>
          <a:custGeom>
            <a:avLst/>
            <a:gdLst/>
            <a:ahLst/>
            <a:cxnLst/>
            <a:rect l="l" t="t" r="r" b="b"/>
            <a:pathLst>
              <a:path w="384809" h="383539">
                <a:moveTo>
                  <a:pt x="211570" y="0"/>
                </a:moveTo>
                <a:lnTo>
                  <a:pt x="172256" y="0"/>
                </a:lnTo>
                <a:lnTo>
                  <a:pt x="134735" y="7620"/>
                </a:lnTo>
                <a:lnTo>
                  <a:pt x="84438" y="33020"/>
                </a:lnTo>
                <a:lnTo>
                  <a:pt x="43644" y="69850"/>
                </a:lnTo>
                <a:lnTo>
                  <a:pt x="14939" y="116840"/>
                </a:lnTo>
                <a:lnTo>
                  <a:pt x="3811" y="153670"/>
                </a:lnTo>
                <a:lnTo>
                  <a:pt x="0" y="191770"/>
                </a:lnTo>
                <a:lnTo>
                  <a:pt x="1040" y="212090"/>
                </a:lnTo>
                <a:lnTo>
                  <a:pt x="15302" y="266700"/>
                </a:lnTo>
                <a:lnTo>
                  <a:pt x="44223" y="314960"/>
                </a:lnTo>
                <a:lnTo>
                  <a:pt x="85196" y="351790"/>
                </a:lnTo>
                <a:lnTo>
                  <a:pt x="135637" y="375920"/>
                </a:lnTo>
                <a:lnTo>
                  <a:pt x="173214" y="383540"/>
                </a:lnTo>
                <a:lnTo>
                  <a:pt x="212528" y="383540"/>
                </a:lnTo>
                <a:lnTo>
                  <a:pt x="250049" y="375920"/>
                </a:lnTo>
                <a:lnTo>
                  <a:pt x="255936" y="373380"/>
                </a:lnTo>
                <a:lnTo>
                  <a:pt x="192295" y="373380"/>
                </a:lnTo>
                <a:lnTo>
                  <a:pt x="173789" y="372110"/>
                </a:lnTo>
                <a:lnTo>
                  <a:pt x="121861" y="358140"/>
                </a:lnTo>
                <a:lnTo>
                  <a:pt x="77204" y="331470"/>
                </a:lnTo>
                <a:lnTo>
                  <a:pt x="42270" y="293370"/>
                </a:lnTo>
                <a:lnTo>
                  <a:pt x="19523" y="245110"/>
                </a:lnTo>
                <a:lnTo>
                  <a:pt x="11414" y="191770"/>
                </a:lnTo>
                <a:lnTo>
                  <a:pt x="12359" y="172720"/>
                </a:lnTo>
                <a:lnTo>
                  <a:pt x="25673" y="120650"/>
                </a:lnTo>
                <a:lnTo>
                  <a:pt x="52798" y="76200"/>
                </a:lnTo>
                <a:lnTo>
                  <a:pt x="91283" y="41910"/>
                </a:lnTo>
                <a:lnTo>
                  <a:pt x="138663" y="19050"/>
                </a:lnTo>
                <a:lnTo>
                  <a:pt x="173981" y="11430"/>
                </a:lnTo>
                <a:lnTo>
                  <a:pt x="259769" y="11430"/>
                </a:lnTo>
                <a:lnTo>
                  <a:pt x="249147" y="7620"/>
                </a:lnTo>
                <a:lnTo>
                  <a:pt x="211570" y="0"/>
                </a:lnTo>
                <a:close/>
              </a:path>
              <a:path w="384809" h="383539">
                <a:moveTo>
                  <a:pt x="259769" y="11430"/>
                </a:moveTo>
                <a:lnTo>
                  <a:pt x="210995" y="11430"/>
                </a:lnTo>
                <a:lnTo>
                  <a:pt x="228961" y="13970"/>
                </a:lnTo>
                <a:lnTo>
                  <a:pt x="246301" y="19050"/>
                </a:lnTo>
                <a:lnTo>
                  <a:pt x="293653" y="41910"/>
                </a:lnTo>
                <a:lnTo>
                  <a:pt x="332101" y="76200"/>
                </a:lnTo>
                <a:lnTo>
                  <a:pt x="359183" y="121920"/>
                </a:lnTo>
                <a:lnTo>
                  <a:pt x="372445" y="173990"/>
                </a:lnTo>
                <a:lnTo>
                  <a:pt x="373369" y="191770"/>
                </a:lnTo>
                <a:lnTo>
                  <a:pt x="372424" y="210820"/>
                </a:lnTo>
                <a:lnTo>
                  <a:pt x="359111" y="262890"/>
                </a:lnTo>
                <a:lnTo>
                  <a:pt x="331985" y="307340"/>
                </a:lnTo>
                <a:lnTo>
                  <a:pt x="293500" y="341630"/>
                </a:lnTo>
                <a:lnTo>
                  <a:pt x="246120" y="364490"/>
                </a:lnTo>
                <a:lnTo>
                  <a:pt x="192295" y="373380"/>
                </a:lnTo>
                <a:lnTo>
                  <a:pt x="255936" y="373380"/>
                </a:lnTo>
                <a:lnTo>
                  <a:pt x="300346" y="350520"/>
                </a:lnTo>
                <a:lnTo>
                  <a:pt x="341139" y="313690"/>
                </a:lnTo>
                <a:lnTo>
                  <a:pt x="369845" y="266700"/>
                </a:lnTo>
                <a:lnTo>
                  <a:pt x="380973" y="229870"/>
                </a:lnTo>
                <a:lnTo>
                  <a:pt x="384784" y="191770"/>
                </a:lnTo>
                <a:lnTo>
                  <a:pt x="383744" y="171450"/>
                </a:lnTo>
                <a:lnTo>
                  <a:pt x="369482" y="116840"/>
                </a:lnTo>
                <a:lnTo>
                  <a:pt x="340560" y="68580"/>
                </a:lnTo>
                <a:lnTo>
                  <a:pt x="299587" y="31750"/>
                </a:lnTo>
                <a:lnTo>
                  <a:pt x="266851" y="13970"/>
                </a:lnTo>
                <a:lnTo>
                  <a:pt x="259769" y="11430"/>
                </a:lnTo>
                <a:close/>
              </a:path>
              <a:path w="384809" h="383539">
                <a:moveTo>
                  <a:pt x="210802" y="15240"/>
                </a:moveTo>
                <a:lnTo>
                  <a:pt x="174556" y="15240"/>
                </a:lnTo>
                <a:lnTo>
                  <a:pt x="156959" y="17780"/>
                </a:lnTo>
                <a:lnTo>
                  <a:pt x="108188" y="35560"/>
                </a:lnTo>
                <a:lnTo>
                  <a:pt x="67306" y="66040"/>
                </a:lnTo>
                <a:lnTo>
                  <a:pt x="36733" y="106680"/>
                </a:lnTo>
                <a:lnTo>
                  <a:pt x="18877" y="156210"/>
                </a:lnTo>
                <a:lnTo>
                  <a:pt x="15219" y="191770"/>
                </a:lnTo>
                <a:lnTo>
                  <a:pt x="16106" y="209550"/>
                </a:lnTo>
                <a:lnTo>
                  <a:pt x="29032" y="260350"/>
                </a:lnTo>
                <a:lnTo>
                  <a:pt x="55502" y="304800"/>
                </a:lnTo>
                <a:lnTo>
                  <a:pt x="93110" y="339090"/>
                </a:lnTo>
                <a:lnTo>
                  <a:pt x="139432" y="360680"/>
                </a:lnTo>
                <a:lnTo>
                  <a:pt x="192104" y="369570"/>
                </a:lnTo>
                <a:lnTo>
                  <a:pt x="210228" y="368300"/>
                </a:lnTo>
                <a:lnTo>
                  <a:pt x="227825" y="365760"/>
                </a:lnTo>
                <a:lnTo>
                  <a:pt x="191912" y="365760"/>
                </a:lnTo>
                <a:lnTo>
                  <a:pt x="174174" y="364490"/>
                </a:lnTo>
                <a:lnTo>
                  <a:pt x="124481" y="351790"/>
                </a:lnTo>
                <a:lnTo>
                  <a:pt x="81767" y="325120"/>
                </a:lnTo>
                <a:lnTo>
                  <a:pt x="48373" y="288290"/>
                </a:lnTo>
                <a:lnTo>
                  <a:pt x="26678" y="242570"/>
                </a:lnTo>
                <a:lnTo>
                  <a:pt x="19024" y="191770"/>
                </a:lnTo>
                <a:lnTo>
                  <a:pt x="19969" y="173990"/>
                </a:lnTo>
                <a:lnTo>
                  <a:pt x="32828" y="124460"/>
                </a:lnTo>
                <a:lnTo>
                  <a:pt x="58901" y="81280"/>
                </a:lnTo>
                <a:lnTo>
                  <a:pt x="95846" y="48260"/>
                </a:lnTo>
                <a:lnTo>
                  <a:pt x="141283" y="26670"/>
                </a:lnTo>
                <a:lnTo>
                  <a:pt x="192872" y="17780"/>
                </a:lnTo>
                <a:lnTo>
                  <a:pt x="228386" y="17780"/>
                </a:lnTo>
                <a:lnTo>
                  <a:pt x="210802" y="15240"/>
                </a:lnTo>
                <a:close/>
              </a:path>
              <a:path w="384809" h="383539">
                <a:moveTo>
                  <a:pt x="228386" y="17780"/>
                </a:moveTo>
                <a:lnTo>
                  <a:pt x="192872" y="17780"/>
                </a:lnTo>
                <a:lnTo>
                  <a:pt x="210610" y="19050"/>
                </a:lnTo>
                <a:lnTo>
                  <a:pt x="227811" y="21590"/>
                </a:lnTo>
                <a:lnTo>
                  <a:pt x="275429" y="39370"/>
                </a:lnTo>
                <a:lnTo>
                  <a:pt x="315301" y="69850"/>
                </a:lnTo>
                <a:lnTo>
                  <a:pt x="345058" y="109220"/>
                </a:lnTo>
                <a:lnTo>
                  <a:pt x="362332" y="157480"/>
                </a:lnTo>
                <a:lnTo>
                  <a:pt x="365759" y="191770"/>
                </a:lnTo>
                <a:lnTo>
                  <a:pt x="364815" y="209550"/>
                </a:lnTo>
                <a:lnTo>
                  <a:pt x="351956" y="259080"/>
                </a:lnTo>
                <a:lnTo>
                  <a:pt x="325883" y="302260"/>
                </a:lnTo>
                <a:lnTo>
                  <a:pt x="288937" y="335280"/>
                </a:lnTo>
                <a:lnTo>
                  <a:pt x="243500" y="356870"/>
                </a:lnTo>
                <a:lnTo>
                  <a:pt x="191912" y="365760"/>
                </a:lnTo>
                <a:lnTo>
                  <a:pt x="227825" y="365760"/>
                </a:lnTo>
                <a:lnTo>
                  <a:pt x="276597" y="347980"/>
                </a:lnTo>
                <a:lnTo>
                  <a:pt x="317478" y="317500"/>
                </a:lnTo>
                <a:lnTo>
                  <a:pt x="348051" y="276860"/>
                </a:lnTo>
                <a:lnTo>
                  <a:pt x="365907" y="227330"/>
                </a:lnTo>
                <a:lnTo>
                  <a:pt x="369564" y="191770"/>
                </a:lnTo>
                <a:lnTo>
                  <a:pt x="368678" y="173990"/>
                </a:lnTo>
                <a:lnTo>
                  <a:pt x="355752" y="123190"/>
                </a:lnTo>
                <a:lnTo>
                  <a:pt x="329281" y="78740"/>
                </a:lnTo>
                <a:lnTo>
                  <a:pt x="291674" y="44450"/>
                </a:lnTo>
                <a:lnTo>
                  <a:pt x="245352" y="22860"/>
                </a:lnTo>
                <a:lnTo>
                  <a:pt x="228386" y="1778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618108" y="2256027"/>
            <a:ext cx="8019415" cy="320992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 b="1">
                <a:latin typeface="Calibri"/>
                <a:cs typeface="Calibri"/>
              </a:rPr>
              <a:t>Node-level: </a:t>
            </a:r>
            <a:r>
              <a:rPr dirty="0" sz="2800" spc="-5">
                <a:latin typeface="Calibri"/>
                <a:cs typeface="Calibri"/>
              </a:rPr>
              <a:t>add nodes, one </a:t>
            </a:r>
            <a:r>
              <a:rPr dirty="0" sz="2800" spc="-15">
                <a:latin typeface="Calibri"/>
                <a:cs typeface="Calibri"/>
              </a:rPr>
              <a:t>at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time</a:t>
            </a:r>
            <a:endParaRPr sz="2800">
              <a:latin typeface="Calibri"/>
              <a:cs typeface="Calibri"/>
            </a:endParaRPr>
          </a:p>
          <a:p>
            <a:pPr marL="62547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 b="1">
                <a:latin typeface="Calibri"/>
                <a:cs typeface="Calibri"/>
              </a:rPr>
              <a:t>Edge-level: </a:t>
            </a:r>
            <a:r>
              <a:rPr dirty="0" sz="2800" spc="-5">
                <a:latin typeface="Calibri"/>
                <a:cs typeface="Calibri"/>
              </a:rPr>
              <a:t>add </a:t>
            </a:r>
            <a:r>
              <a:rPr dirty="0" sz="2800" spc="-10">
                <a:latin typeface="Calibri"/>
                <a:cs typeface="Calibri"/>
              </a:rPr>
              <a:t>edges </a:t>
            </a:r>
            <a:r>
              <a:rPr dirty="0" sz="2800" spc="-15">
                <a:latin typeface="Calibri"/>
                <a:cs typeface="Calibri"/>
              </a:rPr>
              <a:t>between existing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nodes</a:t>
            </a:r>
            <a:endParaRPr sz="2800">
              <a:latin typeface="Calibri"/>
              <a:cs typeface="Calibri"/>
            </a:endParaRPr>
          </a:p>
          <a:p>
            <a:pPr algn="r" marL="332740" marR="20955" indent="-320040">
              <a:lnSpc>
                <a:spcPct val="100000"/>
              </a:lnSpc>
              <a:spcBef>
                <a:spcPts val="252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Node-level</a:t>
            </a:r>
            <a:r>
              <a:rPr dirty="0" sz="3200" spc="-10">
                <a:solidFill>
                  <a:srgbClr val="008000"/>
                </a:solidFill>
                <a:latin typeface="Calibri"/>
                <a:cs typeface="Calibri"/>
              </a:rPr>
              <a:t>: </a:t>
            </a:r>
            <a:r>
              <a:rPr dirty="0" sz="3200" spc="-45">
                <a:latin typeface="Calibri"/>
                <a:cs typeface="Calibri"/>
              </a:rPr>
              <a:t>At </a:t>
            </a:r>
            <a:r>
              <a:rPr dirty="0" sz="3200" spc="-5">
                <a:latin typeface="Calibri"/>
                <a:cs typeface="Calibri"/>
              </a:rPr>
              <a:t>each </a:t>
            </a:r>
            <a:r>
              <a:rPr dirty="0" sz="3200" spc="-20">
                <a:latin typeface="Calibri"/>
                <a:cs typeface="Calibri"/>
              </a:rPr>
              <a:t>step,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10">
                <a:solidFill>
                  <a:srgbClr val="0000FF"/>
                </a:solidFill>
                <a:latin typeface="Calibri"/>
                <a:cs typeface="Calibri"/>
              </a:rPr>
              <a:t>new </a:t>
            </a:r>
            <a:r>
              <a:rPr dirty="0" sz="3200" spc="-5">
                <a:solidFill>
                  <a:srgbClr val="0000FF"/>
                </a:solidFill>
                <a:latin typeface="Calibri"/>
                <a:cs typeface="Calibri"/>
              </a:rPr>
              <a:t>node </a:t>
            </a:r>
            <a:r>
              <a:rPr dirty="0" sz="3200">
                <a:solidFill>
                  <a:srgbClr val="0000FF"/>
                </a:solidFill>
                <a:latin typeface="Calibri"/>
                <a:cs typeface="Calibri"/>
              </a:rPr>
              <a:t>is</a:t>
            </a:r>
            <a:r>
              <a:rPr dirty="0" sz="3200" spc="1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5">
                <a:solidFill>
                  <a:srgbClr val="0000FF"/>
                </a:solidFill>
                <a:latin typeface="Calibri"/>
                <a:cs typeface="Calibri"/>
              </a:rPr>
              <a:t>added</a:t>
            </a:r>
            <a:endParaRPr sz="3200">
              <a:latin typeface="Calibri"/>
              <a:cs typeface="Calibri"/>
            </a:endParaRPr>
          </a:p>
          <a:p>
            <a:pPr marL="1115695">
              <a:lnSpc>
                <a:spcPct val="100000"/>
              </a:lnSpc>
              <a:spcBef>
                <a:spcPts val="1250"/>
              </a:spcBef>
              <a:tabLst>
                <a:tab pos="1877695" algn="l"/>
                <a:tab pos="2576195" algn="l"/>
                <a:tab pos="3569335" algn="l"/>
                <a:tab pos="4328795" algn="l"/>
                <a:tab pos="5321935" algn="l"/>
                <a:tab pos="6146800" algn="l"/>
                <a:tab pos="7139305" algn="l"/>
              </a:tabLst>
            </a:pP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1	</a:t>
            </a:r>
            <a:r>
              <a:rPr dirty="0" sz="2400" spc="-5">
                <a:latin typeface="Arial"/>
                <a:cs typeface="Arial"/>
              </a:rPr>
              <a:t>1	1	</a:t>
            </a: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3	</a:t>
            </a:r>
            <a:r>
              <a:rPr dirty="0" sz="2400" spc="-5">
                <a:latin typeface="Arial"/>
                <a:cs typeface="Arial"/>
              </a:rPr>
              <a:t>1	3	</a:t>
            </a:r>
            <a:r>
              <a:rPr dirty="0" baseline="1157" sz="3600" spc="-7">
                <a:latin typeface="Arial"/>
                <a:cs typeface="Arial"/>
              </a:rPr>
              <a:t>1	3</a:t>
            </a:r>
            <a:endParaRPr baseline="1157" sz="36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  <a:spcBef>
                <a:spcPts val="715"/>
              </a:spcBef>
            </a:pP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5</a:t>
            </a:r>
            <a:endParaRPr sz="2400">
              <a:latin typeface="Arial"/>
              <a:cs typeface="Arial"/>
            </a:endParaRPr>
          </a:p>
          <a:p>
            <a:pPr marL="1877695">
              <a:lnSpc>
                <a:spcPct val="100000"/>
              </a:lnSpc>
              <a:spcBef>
                <a:spcPts val="70"/>
              </a:spcBef>
              <a:tabLst>
                <a:tab pos="2576195" algn="l"/>
                <a:tab pos="4328795" algn="l"/>
                <a:tab pos="5321935" algn="l"/>
                <a:tab pos="6146800" algn="l"/>
                <a:tab pos="7139305" algn="l"/>
              </a:tabLst>
            </a:pP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2	</a:t>
            </a:r>
            <a:r>
              <a:rPr dirty="0" sz="2400" spc="-5">
                <a:latin typeface="Arial"/>
                <a:cs typeface="Arial"/>
              </a:rPr>
              <a:t>2	2	</a:t>
            </a: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4	</a:t>
            </a:r>
            <a:r>
              <a:rPr dirty="0" baseline="1157" sz="3600" spc="-7">
                <a:latin typeface="Arial"/>
                <a:cs typeface="Arial"/>
              </a:rPr>
              <a:t>2	4</a:t>
            </a:r>
            <a:endParaRPr baseline="1157" sz="36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850208" y="4614131"/>
            <a:ext cx="0" cy="467359"/>
          </a:xfrm>
          <a:custGeom>
            <a:avLst/>
            <a:gdLst/>
            <a:ahLst/>
            <a:cxnLst/>
            <a:rect l="l" t="t" r="r" b="b"/>
            <a:pathLst>
              <a:path w="0" h="467360">
                <a:moveTo>
                  <a:pt x="0" y="0"/>
                </a:moveTo>
                <a:lnTo>
                  <a:pt x="1" y="467017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033088" y="4431249"/>
            <a:ext cx="627380" cy="0"/>
          </a:xfrm>
          <a:custGeom>
            <a:avLst/>
            <a:gdLst/>
            <a:ahLst/>
            <a:cxnLst/>
            <a:rect l="l" t="t" r="r" b="b"/>
            <a:pathLst>
              <a:path w="627379" h="0">
                <a:moveTo>
                  <a:pt x="0" y="0"/>
                </a:moveTo>
                <a:lnTo>
                  <a:pt x="626909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842878" y="4614131"/>
            <a:ext cx="0" cy="467359"/>
          </a:xfrm>
          <a:custGeom>
            <a:avLst/>
            <a:gdLst/>
            <a:ahLst/>
            <a:cxnLst/>
            <a:rect l="l" t="t" r="r" b="b"/>
            <a:pathLst>
              <a:path w="0" h="467360">
                <a:moveTo>
                  <a:pt x="0" y="0"/>
                </a:moveTo>
                <a:lnTo>
                  <a:pt x="1" y="467017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8025758" y="4431250"/>
            <a:ext cx="384810" cy="334010"/>
          </a:xfrm>
          <a:custGeom>
            <a:avLst/>
            <a:gdLst/>
            <a:ahLst/>
            <a:cxnLst/>
            <a:rect l="l" t="t" r="r" b="b"/>
            <a:pathLst>
              <a:path w="384809" h="334010">
                <a:moveTo>
                  <a:pt x="0" y="0"/>
                </a:moveTo>
                <a:lnTo>
                  <a:pt x="384705" y="333901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8025758" y="5023784"/>
            <a:ext cx="384810" cy="240665"/>
          </a:xfrm>
          <a:custGeom>
            <a:avLst/>
            <a:gdLst/>
            <a:ahLst/>
            <a:cxnLst/>
            <a:rect l="l" t="t" r="r" b="b"/>
            <a:pathLst>
              <a:path w="384809" h="240664">
                <a:moveTo>
                  <a:pt x="0" y="240244"/>
                </a:moveTo>
                <a:lnTo>
                  <a:pt x="384705" y="0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1791398" y="5888228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85">
                <a:latin typeface="Cambria Math"/>
                <a:cs typeface="Cambria Math"/>
              </a:rPr>
              <a:t>(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48" name="object 4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49" name="object 4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14</a:t>
            </a:fld>
          </a:p>
        </p:txBody>
      </p:sp>
      <p:sp>
        <p:nvSpPr>
          <p:cNvPr id="34" name="object 34"/>
          <p:cNvSpPr txBox="1"/>
          <p:nvPr/>
        </p:nvSpPr>
        <p:spPr>
          <a:xfrm>
            <a:off x="2553020" y="5888228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665">
                <a:latin typeface="Cambria Math"/>
                <a:cs typeface="Cambria Math"/>
              </a:rPr>
              <a:t>,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49920" y="5626100"/>
            <a:ext cx="11087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7080" algn="l"/>
              </a:tabLst>
            </a:pPr>
            <a:r>
              <a:rPr dirty="0" baseline="-20833" sz="3600" spc="187">
                <a:latin typeface="Cambria Math"/>
                <a:cs typeface="Cambria Math"/>
              </a:rPr>
              <a:t>𝑆</a:t>
            </a:r>
            <a:r>
              <a:rPr dirty="0" sz="1800" spc="-160">
                <a:latin typeface="Cambria Math"/>
                <a:cs typeface="Cambria Math"/>
              </a:rPr>
              <a:t>+</a:t>
            </a:r>
            <a:r>
              <a:rPr dirty="0" sz="1800">
                <a:latin typeface="Cambria Math"/>
                <a:cs typeface="Cambria Math"/>
              </a:rPr>
              <a:t>	</a:t>
            </a:r>
            <a:r>
              <a:rPr dirty="0" baseline="-20833" sz="3600" spc="187">
                <a:latin typeface="Cambria Math"/>
                <a:cs typeface="Cambria Math"/>
              </a:rPr>
              <a:t>𝑆</a:t>
            </a:r>
            <a:r>
              <a:rPr dirty="0" sz="1800" spc="-160">
                <a:latin typeface="Cambria Math"/>
                <a:cs typeface="Cambria Math"/>
              </a:rPr>
              <a:t>+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489301" y="5888228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665">
                <a:latin typeface="Cambria Math"/>
                <a:cs typeface="Cambria Math"/>
              </a:rPr>
              <a:t>.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340775" y="5626100"/>
            <a:ext cx="3543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0833" sz="3600" spc="187">
                <a:latin typeface="Cambria Math"/>
                <a:cs typeface="Cambria Math"/>
              </a:rPr>
              <a:t>𝑆</a:t>
            </a:r>
            <a:r>
              <a:rPr dirty="0" sz="1800" spc="-160">
                <a:latin typeface="Cambria Math"/>
                <a:cs typeface="Cambria Math"/>
              </a:rPr>
              <a:t>+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324942" y="5869940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50">
                <a:latin typeface="Cambria Math"/>
                <a:cs typeface="Cambria Math"/>
              </a:rPr>
              <a:t>/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506022" y="5723635"/>
            <a:ext cx="402462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3000" algn="l"/>
              </a:tabLst>
            </a:pPr>
            <a:r>
              <a:rPr dirty="0" sz="2400" spc="125">
                <a:latin typeface="Cambria Math"/>
                <a:cs typeface="Cambria Math"/>
              </a:rPr>
              <a:t>𝑆</a:t>
            </a:r>
            <a:r>
              <a:rPr dirty="0" baseline="29320" sz="2700" spc="-240">
                <a:latin typeface="Cambria Math"/>
                <a:cs typeface="Cambria Math"/>
              </a:rPr>
              <a:t>+</a:t>
            </a:r>
            <a:r>
              <a:rPr dirty="0" baseline="29320" sz="2700">
                <a:latin typeface="Cambria Math"/>
                <a:cs typeface="Cambria Math"/>
              </a:rPr>
              <a:t>	</a:t>
            </a:r>
            <a:r>
              <a:rPr dirty="0" sz="2400" spc="125">
                <a:latin typeface="Cambria Math"/>
                <a:cs typeface="Cambria Math"/>
              </a:rPr>
              <a:t>𝑆</a:t>
            </a:r>
            <a:r>
              <a:rPr dirty="0" baseline="29320" sz="2700" spc="-240">
                <a:latin typeface="Cambria Math"/>
                <a:cs typeface="Cambria Math"/>
              </a:rPr>
              <a:t>+</a:t>
            </a:r>
            <a:endParaRPr baseline="29320" sz="27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304484" y="5741923"/>
            <a:ext cx="152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(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148975" y="5729732"/>
            <a:ext cx="152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20959" y="5738876"/>
            <a:ext cx="6807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latin typeface="Cambria Math"/>
                <a:cs typeface="Cambria Math"/>
              </a:rPr>
              <a:t>𝑆</a:t>
            </a:r>
            <a:r>
              <a:rPr dirty="0" baseline="27777" sz="2700" spc="-30">
                <a:latin typeface="Cambria Math"/>
                <a:cs typeface="Cambria Math"/>
              </a:rPr>
              <a:t>+</a:t>
            </a:r>
            <a:r>
              <a:rPr dirty="0" baseline="27777" sz="2700" spc="127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499318" y="5796788"/>
            <a:ext cx="882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47551" y="6162547"/>
            <a:ext cx="17894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“Add </a:t>
            </a:r>
            <a:r>
              <a:rPr dirty="0" sz="2400">
                <a:solidFill>
                  <a:srgbClr val="C00000"/>
                </a:solidFill>
                <a:latin typeface="Arial"/>
                <a:cs typeface="Arial"/>
              </a:rPr>
              <a:t>node</a:t>
            </a:r>
            <a:r>
              <a:rPr dirty="0" sz="2400" spc="-9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C00000"/>
                </a:solidFill>
                <a:latin typeface="Arial"/>
                <a:cs typeface="Arial"/>
              </a:rPr>
              <a:t>1”</a:t>
            </a:r>
            <a:endParaRPr sz="24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562840" y="6135115"/>
            <a:ext cx="17894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“Add </a:t>
            </a:r>
            <a:r>
              <a:rPr dirty="0" sz="2400">
                <a:solidFill>
                  <a:srgbClr val="C00000"/>
                </a:solidFill>
                <a:latin typeface="Arial"/>
                <a:cs typeface="Arial"/>
              </a:rPr>
              <a:t>node</a:t>
            </a:r>
            <a:r>
              <a:rPr dirty="0" sz="2400" spc="-9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C00000"/>
                </a:solidFill>
                <a:latin typeface="Arial"/>
                <a:cs typeface="Arial"/>
              </a:rPr>
              <a:t>5”</a:t>
            </a:r>
            <a:endParaRPr sz="24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199173" y="5644388"/>
            <a:ext cx="24257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97255" algn="l"/>
                <a:tab pos="1467485" algn="l"/>
                <a:tab pos="2169160" algn="l"/>
              </a:tabLst>
            </a:pPr>
            <a:r>
              <a:rPr dirty="0" sz="2400">
                <a:latin typeface="Cambria Math"/>
                <a:cs typeface="Cambria Math"/>
              </a:rPr>
              <a:t>,	,	</a:t>
            </a:r>
            <a:r>
              <a:rPr dirty="0" sz="1800" spc="434">
                <a:latin typeface="Cambria Math"/>
                <a:cs typeface="Cambria Math"/>
              </a:rPr>
              <a:t>-</a:t>
            </a:r>
            <a:r>
              <a:rPr dirty="0" sz="1800" spc="434">
                <a:latin typeface="Cambria Math"/>
                <a:cs typeface="Cambria Math"/>
              </a:rPr>
              <a:t>	</a:t>
            </a:r>
            <a:r>
              <a:rPr dirty="0" baseline="-35493" sz="5400" spc="-3270">
                <a:solidFill>
                  <a:srgbClr val="C00000"/>
                </a:solidFill>
                <a:latin typeface="Arial"/>
                <a:cs typeface="Arial"/>
              </a:rPr>
              <a:t>…</a:t>
            </a:r>
            <a:r>
              <a:rPr dirty="0" sz="240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751320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72540"/>
            <a:ext cx="8096884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815"/>
              </a:lnSpc>
              <a:spcBef>
                <a:spcPts val="100"/>
              </a:spcBef>
            </a:pPr>
            <a:r>
              <a:rPr dirty="0" sz="3200" b="0">
                <a:solidFill>
                  <a:srgbClr val="FF0066"/>
                </a:solidFill>
                <a:latin typeface="Calibri"/>
                <a:cs typeface="Calibri"/>
              </a:rPr>
              <a:t>The </a:t>
            </a:r>
            <a:r>
              <a:rPr dirty="0" sz="3200" spc="-5" b="0">
                <a:solidFill>
                  <a:srgbClr val="FF0066"/>
                </a:solidFill>
                <a:latin typeface="Calibri"/>
                <a:cs typeface="Calibri"/>
              </a:rPr>
              <a:t>sequence </a:t>
            </a:r>
            <a:r>
              <a:rPr dirty="0" sz="3200" spc="355" b="0">
                <a:solidFill>
                  <a:srgbClr val="FF0066"/>
                </a:solidFill>
                <a:latin typeface="Cambria Math"/>
                <a:cs typeface="Cambria Math"/>
              </a:rPr>
              <a:t>𝑆</a:t>
            </a:r>
            <a:r>
              <a:rPr dirty="0" baseline="28985" sz="3450" spc="532" b="0">
                <a:solidFill>
                  <a:srgbClr val="FF0066"/>
                </a:solidFill>
                <a:latin typeface="Cambria Math"/>
                <a:cs typeface="Cambria Math"/>
              </a:rPr>
              <a:t>( </a:t>
            </a:r>
            <a:r>
              <a:rPr dirty="0" sz="3200" b="0">
                <a:solidFill>
                  <a:srgbClr val="FF0066"/>
                </a:solidFill>
                <a:latin typeface="Calibri"/>
                <a:cs typeface="Calibri"/>
              </a:rPr>
              <a:t>has </a:t>
            </a:r>
            <a:r>
              <a:rPr dirty="0" sz="3200" spc="-10">
                <a:solidFill>
                  <a:srgbClr val="FF0066"/>
                </a:solidFill>
              </a:rPr>
              <a:t>two</a:t>
            </a:r>
            <a:r>
              <a:rPr dirty="0" sz="3200" spc="-240">
                <a:solidFill>
                  <a:srgbClr val="FF0066"/>
                </a:solidFill>
              </a:rPr>
              <a:t> </a:t>
            </a:r>
            <a:r>
              <a:rPr dirty="0" sz="3200" spc="-10">
                <a:solidFill>
                  <a:srgbClr val="FF0066"/>
                </a:solidFill>
              </a:rPr>
              <a:t>levels: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0">
                <a:latin typeface="Calibri"/>
                <a:cs typeface="Calibri"/>
              </a:rPr>
              <a:t>Each </a:t>
            </a:r>
            <a:r>
              <a:rPr dirty="0" sz="3200" spc="-10" b="0">
                <a:solidFill>
                  <a:srgbClr val="008000"/>
                </a:solidFill>
                <a:latin typeface="Calibri"/>
                <a:cs typeface="Calibri"/>
              </a:rPr>
              <a:t>Node-level </a:t>
            </a:r>
            <a:r>
              <a:rPr dirty="0" sz="3200" spc="-20" b="0">
                <a:latin typeface="Calibri"/>
                <a:cs typeface="Calibri"/>
              </a:rPr>
              <a:t>step </a:t>
            </a:r>
            <a:r>
              <a:rPr dirty="0" sz="3200" b="0">
                <a:latin typeface="Calibri"/>
                <a:cs typeface="Calibri"/>
              </a:rPr>
              <a:t>is an </a:t>
            </a:r>
            <a:r>
              <a:rPr dirty="0" sz="3200" spc="-15" b="0">
                <a:solidFill>
                  <a:srgbClr val="0000FF"/>
                </a:solidFill>
                <a:latin typeface="Calibri"/>
                <a:cs typeface="Calibri"/>
              </a:rPr>
              <a:t>edge-level</a:t>
            </a:r>
            <a:r>
              <a:rPr dirty="0" sz="3200" spc="50" b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5" b="0">
                <a:latin typeface="Calibri"/>
                <a:cs typeface="Calibri"/>
              </a:rPr>
              <a:t>sequence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55481" y="3189555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755481" y="4022333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748151" y="4022333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121241" y="4201414"/>
            <a:ext cx="627380" cy="0"/>
          </a:xfrm>
          <a:custGeom>
            <a:avLst/>
            <a:gdLst/>
            <a:ahLst/>
            <a:cxnLst/>
            <a:rect l="l" t="t" r="r" b="b"/>
            <a:pathLst>
              <a:path w="627379" h="0">
                <a:moveTo>
                  <a:pt x="0" y="0"/>
                </a:moveTo>
                <a:lnTo>
                  <a:pt x="626909" y="1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738637" y="3181288"/>
            <a:ext cx="384810" cy="383540"/>
          </a:xfrm>
          <a:custGeom>
            <a:avLst/>
            <a:gdLst/>
            <a:ahLst/>
            <a:cxnLst/>
            <a:rect l="l" t="t" r="r" b="b"/>
            <a:pathLst>
              <a:path w="384810" h="383539">
                <a:moveTo>
                  <a:pt x="211571" y="0"/>
                </a:moveTo>
                <a:lnTo>
                  <a:pt x="172257" y="0"/>
                </a:lnTo>
                <a:lnTo>
                  <a:pt x="134736" y="7619"/>
                </a:lnTo>
                <a:lnTo>
                  <a:pt x="84438" y="33019"/>
                </a:lnTo>
                <a:lnTo>
                  <a:pt x="43646" y="69850"/>
                </a:lnTo>
                <a:lnTo>
                  <a:pt x="14940" y="116839"/>
                </a:lnTo>
                <a:lnTo>
                  <a:pt x="3812" y="153669"/>
                </a:lnTo>
                <a:lnTo>
                  <a:pt x="0" y="191769"/>
                </a:lnTo>
                <a:lnTo>
                  <a:pt x="1041" y="212089"/>
                </a:lnTo>
                <a:lnTo>
                  <a:pt x="15303" y="266700"/>
                </a:lnTo>
                <a:lnTo>
                  <a:pt x="44225" y="314960"/>
                </a:lnTo>
                <a:lnTo>
                  <a:pt x="85197" y="351789"/>
                </a:lnTo>
                <a:lnTo>
                  <a:pt x="135638" y="375919"/>
                </a:lnTo>
                <a:lnTo>
                  <a:pt x="173214" y="383539"/>
                </a:lnTo>
                <a:lnTo>
                  <a:pt x="212528" y="383539"/>
                </a:lnTo>
                <a:lnTo>
                  <a:pt x="250050" y="375919"/>
                </a:lnTo>
                <a:lnTo>
                  <a:pt x="255937" y="373379"/>
                </a:lnTo>
                <a:lnTo>
                  <a:pt x="192297" y="373379"/>
                </a:lnTo>
                <a:lnTo>
                  <a:pt x="173790" y="372110"/>
                </a:lnTo>
                <a:lnTo>
                  <a:pt x="121862" y="358139"/>
                </a:lnTo>
                <a:lnTo>
                  <a:pt x="77204" y="331469"/>
                </a:lnTo>
                <a:lnTo>
                  <a:pt x="42271" y="293369"/>
                </a:lnTo>
                <a:lnTo>
                  <a:pt x="19523" y="245110"/>
                </a:lnTo>
                <a:lnTo>
                  <a:pt x="11416" y="191769"/>
                </a:lnTo>
                <a:lnTo>
                  <a:pt x="12359" y="172719"/>
                </a:lnTo>
                <a:lnTo>
                  <a:pt x="25673" y="120650"/>
                </a:lnTo>
                <a:lnTo>
                  <a:pt x="52798" y="76200"/>
                </a:lnTo>
                <a:lnTo>
                  <a:pt x="91283" y="41910"/>
                </a:lnTo>
                <a:lnTo>
                  <a:pt x="138664" y="19050"/>
                </a:lnTo>
                <a:lnTo>
                  <a:pt x="173982" y="11429"/>
                </a:lnTo>
                <a:lnTo>
                  <a:pt x="259770" y="11429"/>
                </a:lnTo>
                <a:lnTo>
                  <a:pt x="249147" y="7619"/>
                </a:lnTo>
                <a:lnTo>
                  <a:pt x="211571" y="0"/>
                </a:lnTo>
                <a:close/>
              </a:path>
              <a:path w="384810" h="383539">
                <a:moveTo>
                  <a:pt x="259770" y="11429"/>
                </a:moveTo>
                <a:lnTo>
                  <a:pt x="210995" y="11429"/>
                </a:lnTo>
                <a:lnTo>
                  <a:pt x="228961" y="13969"/>
                </a:lnTo>
                <a:lnTo>
                  <a:pt x="246301" y="19050"/>
                </a:lnTo>
                <a:lnTo>
                  <a:pt x="293654" y="41910"/>
                </a:lnTo>
                <a:lnTo>
                  <a:pt x="332102" y="76200"/>
                </a:lnTo>
                <a:lnTo>
                  <a:pt x="359185" y="121919"/>
                </a:lnTo>
                <a:lnTo>
                  <a:pt x="372445" y="173989"/>
                </a:lnTo>
                <a:lnTo>
                  <a:pt x="373369" y="191769"/>
                </a:lnTo>
                <a:lnTo>
                  <a:pt x="372426" y="210819"/>
                </a:lnTo>
                <a:lnTo>
                  <a:pt x="359112" y="262889"/>
                </a:lnTo>
                <a:lnTo>
                  <a:pt x="331986" y="307339"/>
                </a:lnTo>
                <a:lnTo>
                  <a:pt x="293502" y="341629"/>
                </a:lnTo>
                <a:lnTo>
                  <a:pt x="246120" y="364489"/>
                </a:lnTo>
                <a:lnTo>
                  <a:pt x="192297" y="373379"/>
                </a:lnTo>
                <a:lnTo>
                  <a:pt x="255937" y="373379"/>
                </a:lnTo>
                <a:lnTo>
                  <a:pt x="300347" y="350519"/>
                </a:lnTo>
                <a:lnTo>
                  <a:pt x="341139" y="313689"/>
                </a:lnTo>
                <a:lnTo>
                  <a:pt x="369845" y="266700"/>
                </a:lnTo>
                <a:lnTo>
                  <a:pt x="380973" y="229869"/>
                </a:lnTo>
                <a:lnTo>
                  <a:pt x="384785" y="191769"/>
                </a:lnTo>
                <a:lnTo>
                  <a:pt x="383744" y="171450"/>
                </a:lnTo>
                <a:lnTo>
                  <a:pt x="369482" y="116839"/>
                </a:lnTo>
                <a:lnTo>
                  <a:pt x="340560" y="68579"/>
                </a:lnTo>
                <a:lnTo>
                  <a:pt x="299587" y="31750"/>
                </a:lnTo>
                <a:lnTo>
                  <a:pt x="266852" y="13969"/>
                </a:lnTo>
                <a:lnTo>
                  <a:pt x="259770" y="11429"/>
                </a:lnTo>
                <a:close/>
              </a:path>
              <a:path w="384810" h="383539">
                <a:moveTo>
                  <a:pt x="210803" y="15239"/>
                </a:moveTo>
                <a:lnTo>
                  <a:pt x="174556" y="15239"/>
                </a:lnTo>
                <a:lnTo>
                  <a:pt x="156959" y="17779"/>
                </a:lnTo>
                <a:lnTo>
                  <a:pt x="108188" y="35560"/>
                </a:lnTo>
                <a:lnTo>
                  <a:pt x="67306" y="66039"/>
                </a:lnTo>
                <a:lnTo>
                  <a:pt x="36734" y="106679"/>
                </a:lnTo>
                <a:lnTo>
                  <a:pt x="18878" y="156210"/>
                </a:lnTo>
                <a:lnTo>
                  <a:pt x="15220" y="191769"/>
                </a:lnTo>
                <a:lnTo>
                  <a:pt x="16107" y="209550"/>
                </a:lnTo>
                <a:lnTo>
                  <a:pt x="29033" y="260350"/>
                </a:lnTo>
                <a:lnTo>
                  <a:pt x="55502" y="304800"/>
                </a:lnTo>
                <a:lnTo>
                  <a:pt x="93110" y="339089"/>
                </a:lnTo>
                <a:lnTo>
                  <a:pt x="139433" y="360679"/>
                </a:lnTo>
                <a:lnTo>
                  <a:pt x="192105" y="369569"/>
                </a:lnTo>
                <a:lnTo>
                  <a:pt x="210229" y="368300"/>
                </a:lnTo>
                <a:lnTo>
                  <a:pt x="227826" y="365760"/>
                </a:lnTo>
                <a:lnTo>
                  <a:pt x="191912" y="365760"/>
                </a:lnTo>
                <a:lnTo>
                  <a:pt x="174175" y="364489"/>
                </a:lnTo>
                <a:lnTo>
                  <a:pt x="124481" y="351789"/>
                </a:lnTo>
                <a:lnTo>
                  <a:pt x="81768" y="325119"/>
                </a:lnTo>
                <a:lnTo>
                  <a:pt x="48374" y="288289"/>
                </a:lnTo>
                <a:lnTo>
                  <a:pt x="26680" y="242569"/>
                </a:lnTo>
                <a:lnTo>
                  <a:pt x="19025" y="191769"/>
                </a:lnTo>
                <a:lnTo>
                  <a:pt x="19969" y="173989"/>
                </a:lnTo>
                <a:lnTo>
                  <a:pt x="32829" y="124460"/>
                </a:lnTo>
                <a:lnTo>
                  <a:pt x="58902" y="81279"/>
                </a:lnTo>
                <a:lnTo>
                  <a:pt x="95846" y="48260"/>
                </a:lnTo>
                <a:lnTo>
                  <a:pt x="141283" y="26669"/>
                </a:lnTo>
                <a:lnTo>
                  <a:pt x="192873" y="17779"/>
                </a:lnTo>
                <a:lnTo>
                  <a:pt x="228387" y="17779"/>
                </a:lnTo>
                <a:lnTo>
                  <a:pt x="210803" y="15239"/>
                </a:lnTo>
                <a:close/>
              </a:path>
              <a:path w="384810" h="383539">
                <a:moveTo>
                  <a:pt x="228387" y="17779"/>
                </a:moveTo>
                <a:lnTo>
                  <a:pt x="192873" y="17779"/>
                </a:lnTo>
                <a:lnTo>
                  <a:pt x="210610" y="19050"/>
                </a:lnTo>
                <a:lnTo>
                  <a:pt x="227812" y="21589"/>
                </a:lnTo>
                <a:lnTo>
                  <a:pt x="275431" y="39369"/>
                </a:lnTo>
                <a:lnTo>
                  <a:pt x="315302" y="69850"/>
                </a:lnTo>
                <a:lnTo>
                  <a:pt x="345060" y="109219"/>
                </a:lnTo>
                <a:lnTo>
                  <a:pt x="362332" y="157479"/>
                </a:lnTo>
                <a:lnTo>
                  <a:pt x="365760" y="191769"/>
                </a:lnTo>
                <a:lnTo>
                  <a:pt x="364816" y="209550"/>
                </a:lnTo>
                <a:lnTo>
                  <a:pt x="351956" y="259079"/>
                </a:lnTo>
                <a:lnTo>
                  <a:pt x="325884" y="302260"/>
                </a:lnTo>
                <a:lnTo>
                  <a:pt x="288938" y="335279"/>
                </a:lnTo>
                <a:lnTo>
                  <a:pt x="243502" y="356869"/>
                </a:lnTo>
                <a:lnTo>
                  <a:pt x="191912" y="365760"/>
                </a:lnTo>
                <a:lnTo>
                  <a:pt x="227826" y="365760"/>
                </a:lnTo>
                <a:lnTo>
                  <a:pt x="276597" y="347979"/>
                </a:lnTo>
                <a:lnTo>
                  <a:pt x="317479" y="317500"/>
                </a:lnTo>
                <a:lnTo>
                  <a:pt x="348051" y="276860"/>
                </a:lnTo>
                <a:lnTo>
                  <a:pt x="365908" y="227329"/>
                </a:lnTo>
                <a:lnTo>
                  <a:pt x="369564" y="191769"/>
                </a:lnTo>
                <a:lnTo>
                  <a:pt x="368679" y="173989"/>
                </a:lnTo>
                <a:lnTo>
                  <a:pt x="355752" y="123189"/>
                </a:lnTo>
                <a:lnTo>
                  <a:pt x="329283" y="78739"/>
                </a:lnTo>
                <a:lnTo>
                  <a:pt x="291675" y="44450"/>
                </a:lnTo>
                <a:lnTo>
                  <a:pt x="245352" y="22860"/>
                </a:lnTo>
                <a:lnTo>
                  <a:pt x="228387" y="177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938361" y="3555316"/>
            <a:ext cx="0" cy="467359"/>
          </a:xfrm>
          <a:custGeom>
            <a:avLst/>
            <a:gdLst/>
            <a:ahLst/>
            <a:cxnLst/>
            <a:rect l="l" t="t" r="r" b="b"/>
            <a:pathLst>
              <a:path w="0" h="467360">
                <a:moveTo>
                  <a:pt x="0" y="0"/>
                </a:moveTo>
                <a:lnTo>
                  <a:pt x="1" y="467017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121241" y="337243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79" h="0">
                <a:moveTo>
                  <a:pt x="0" y="0"/>
                </a:moveTo>
                <a:lnTo>
                  <a:pt x="626909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931031" y="3555316"/>
            <a:ext cx="0" cy="467359"/>
          </a:xfrm>
          <a:custGeom>
            <a:avLst/>
            <a:gdLst/>
            <a:ahLst/>
            <a:cxnLst/>
            <a:rect l="l" t="t" r="r" b="b"/>
            <a:pathLst>
              <a:path w="0" h="467360">
                <a:moveTo>
                  <a:pt x="0" y="0"/>
                </a:moveTo>
                <a:lnTo>
                  <a:pt x="1" y="467017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066843" y="5181091"/>
            <a:ext cx="3327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635">
                <a:latin typeface="Cambria Math"/>
                <a:cs typeface="Cambria Math"/>
              </a:rPr>
              <a:t>.</a:t>
            </a:r>
            <a:r>
              <a:rPr dirty="0" sz="1800" spc="-10">
                <a:latin typeface="Cambria Math"/>
                <a:cs typeface="Cambria Math"/>
              </a:rPr>
              <a:t>,</a:t>
            </a:r>
            <a:r>
              <a:rPr dirty="0" sz="1800" spc="285">
                <a:latin typeface="Cambria Math"/>
                <a:cs typeface="Cambria Math"/>
              </a:rPr>
              <a:t>(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14</a:t>
            </a:fld>
          </a:p>
        </p:txBody>
      </p:sp>
      <p:sp>
        <p:nvSpPr>
          <p:cNvPr id="13" name="object 13"/>
          <p:cNvSpPr txBox="1"/>
          <p:nvPr/>
        </p:nvSpPr>
        <p:spPr>
          <a:xfrm>
            <a:off x="1918317" y="4918964"/>
            <a:ext cx="3543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1990" sz="3600" spc="187">
                <a:latin typeface="Cambria Math"/>
                <a:cs typeface="Cambria Math"/>
              </a:rPr>
              <a:t>𝑆</a:t>
            </a:r>
            <a:r>
              <a:rPr dirty="0" sz="1800" spc="-160">
                <a:latin typeface="Cambria Math"/>
                <a:cs typeface="Cambria Math"/>
              </a:rPr>
              <a:t>+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66277" y="5181091"/>
            <a:ext cx="3327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635">
                <a:latin typeface="Cambria Math"/>
                <a:cs typeface="Cambria Math"/>
              </a:rPr>
              <a:t>.</a:t>
            </a:r>
            <a:r>
              <a:rPr dirty="0" sz="1800" spc="-10">
                <a:latin typeface="Cambria Math"/>
                <a:cs typeface="Cambria Math"/>
              </a:rPr>
              <a:t>,</a:t>
            </a:r>
            <a:r>
              <a:rPr dirty="0" sz="1800" spc="665">
                <a:latin typeface="Cambria Math"/>
                <a:cs typeface="Cambria Math"/>
              </a:rPr>
              <a:t>,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17750" y="4918964"/>
            <a:ext cx="3543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1990" sz="3600" spc="187">
                <a:latin typeface="Cambria Math"/>
                <a:cs typeface="Cambria Math"/>
              </a:rPr>
              <a:t>𝑆</a:t>
            </a:r>
            <a:r>
              <a:rPr dirty="0" sz="1800" spc="-160">
                <a:latin typeface="Cambria Math"/>
                <a:cs typeface="Cambria Math"/>
              </a:rPr>
              <a:t>+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79069" y="5162803"/>
            <a:ext cx="3327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635">
                <a:latin typeface="Cambria Math"/>
                <a:cs typeface="Cambria Math"/>
              </a:rPr>
              <a:t>.</a:t>
            </a:r>
            <a:r>
              <a:rPr dirty="0" sz="1800" spc="-10">
                <a:latin typeface="Cambria Math"/>
                <a:cs typeface="Cambria Math"/>
              </a:rPr>
              <a:t>,</a:t>
            </a:r>
            <a:r>
              <a:rPr dirty="0" sz="1800" spc="434">
                <a:latin typeface="Cambria Math"/>
                <a:cs typeface="Cambria Math"/>
              </a:rPr>
              <a:t>-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30542" y="4897627"/>
            <a:ext cx="3543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1990" sz="3600" spc="187">
                <a:latin typeface="Cambria Math"/>
                <a:cs typeface="Cambria Math"/>
              </a:rPr>
              <a:t>𝑆</a:t>
            </a:r>
            <a:r>
              <a:rPr dirty="0" sz="1800" spc="-160">
                <a:latin typeface="Cambria Math"/>
                <a:cs typeface="Cambria Math"/>
              </a:rPr>
              <a:t>+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52999" y="4568444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665">
                <a:latin typeface="Cambria Math"/>
                <a:cs typeface="Cambria Math"/>
              </a:rPr>
              <a:t>.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8108" y="2250948"/>
            <a:ext cx="7100570" cy="2446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Edge-level</a:t>
            </a:r>
            <a:r>
              <a:rPr dirty="0" sz="3200" spc="-15">
                <a:solidFill>
                  <a:srgbClr val="0000FF"/>
                </a:solidFill>
                <a:latin typeface="Calibri"/>
                <a:cs typeface="Calibri"/>
              </a:rPr>
              <a:t>: </a:t>
            </a:r>
            <a:r>
              <a:rPr dirty="0" sz="3200" spc="-45">
                <a:latin typeface="Calibri"/>
                <a:cs typeface="Calibri"/>
              </a:rPr>
              <a:t>At </a:t>
            </a:r>
            <a:r>
              <a:rPr dirty="0" sz="3200" spc="-5">
                <a:latin typeface="Calibri"/>
                <a:cs typeface="Calibri"/>
              </a:rPr>
              <a:t>each </a:t>
            </a:r>
            <a:r>
              <a:rPr dirty="0" sz="3200" spc="-20">
                <a:latin typeface="Calibri"/>
                <a:cs typeface="Calibri"/>
              </a:rPr>
              <a:t>step, </a:t>
            </a:r>
            <a:r>
              <a:rPr dirty="0" sz="3200">
                <a:solidFill>
                  <a:srgbClr val="0000FF"/>
                </a:solidFill>
                <a:latin typeface="Calibri"/>
                <a:cs typeface="Calibri"/>
              </a:rPr>
              <a:t>add a </a:t>
            </a:r>
            <a:r>
              <a:rPr dirty="0" sz="3200" spc="-10">
                <a:solidFill>
                  <a:srgbClr val="0000FF"/>
                </a:solidFill>
                <a:latin typeface="Calibri"/>
                <a:cs typeface="Calibri"/>
              </a:rPr>
              <a:t>new</a:t>
            </a:r>
            <a:r>
              <a:rPr dirty="0" sz="3200" spc="8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0000FF"/>
                </a:solidFill>
                <a:latin typeface="Calibri"/>
                <a:cs typeface="Calibri"/>
              </a:rPr>
              <a:t>edge</a:t>
            </a:r>
            <a:endParaRPr sz="3200">
              <a:latin typeface="Calibri"/>
              <a:cs typeface="Calibri"/>
            </a:endParaRPr>
          </a:p>
          <a:p>
            <a:pPr algn="ctr" marL="532130">
              <a:lnSpc>
                <a:spcPct val="100000"/>
              </a:lnSpc>
              <a:spcBef>
                <a:spcPts val="3440"/>
              </a:spcBef>
              <a:tabLst>
                <a:tab pos="1524635" algn="l"/>
              </a:tabLst>
            </a:pPr>
            <a:r>
              <a:rPr dirty="0" sz="2400" spc="-5">
                <a:latin typeface="Arial"/>
                <a:cs typeface="Arial"/>
              </a:rPr>
              <a:t>1	3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200">
              <a:latin typeface="Times New Roman"/>
              <a:cs typeface="Times New Roman"/>
            </a:endParaRPr>
          </a:p>
          <a:p>
            <a:pPr algn="ctr" marL="532130">
              <a:lnSpc>
                <a:spcPts val="2605"/>
              </a:lnSpc>
              <a:tabLst>
                <a:tab pos="1524635" algn="l"/>
              </a:tabLst>
            </a:pPr>
            <a:r>
              <a:rPr dirty="0" sz="2400" spc="-5">
                <a:latin typeface="Arial"/>
                <a:cs typeface="Arial"/>
              </a:rPr>
              <a:t>2	</a:t>
            </a: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4</a:t>
            </a:r>
            <a:endParaRPr sz="2400">
              <a:latin typeface="Arial"/>
              <a:cs typeface="Arial"/>
            </a:endParaRPr>
          </a:p>
          <a:p>
            <a:pPr algn="ctr" marL="626110">
              <a:lnSpc>
                <a:spcPts val="2605"/>
              </a:lnSpc>
            </a:pPr>
            <a:r>
              <a:rPr dirty="0" baseline="-20833" sz="3600" spc="-30">
                <a:latin typeface="Cambria Math"/>
                <a:cs typeface="Cambria Math"/>
              </a:rPr>
              <a:t>𝑆</a:t>
            </a:r>
            <a:r>
              <a:rPr dirty="0" sz="1800" spc="-20">
                <a:latin typeface="Cambria Math"/>
                <a:cs typeface="Cambria Math"/>
              </a:rPr>
              <a:t>+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32237" y="5016500"/>
            <a:ext cx="152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84466" y="5174996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665">
                <a:latin typeface="Cambria Math"/>
                <a:cs typeface="Cambria Math"/>
              </a:rPr>
              <a:t>.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5940" y="5037835"/>
            <a:ext cx="11099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70280" algn="l"/>
              </a:tabLst>
            </a:pPr>
            <a:r>
              <a:rPr dirty="0" baseline="1157" sz="3600" spc="187">
                <a:latin typeface="Cambria Math"/>
                <a:cs typeface="Cambria Math"/>
              </a:rPr>
              <a:t>𝑆</a:t>
            </a:r>
            <a:r>
              <a:rPr dirty="0" baseline="30864" sz="2700" spc="-240">
                <a:latin typeface="Cambria Math"/>
                <a:cs typeface="Cambria Math"/>
              </a:rPr>
              <a:t>+</a:t>
            </a:r>
            <a:r>
              <a:rPr dirty="0" baseline="30864" sz="2700" spc="270">
                <a:latin typeface="Cambria Math"/>
                <a:cs typeface="Cambria Math"/>
              </a:rPr>
              <a:t> </a:t>
            </a:r>
            <a:r>
              <a:rPr dirty="0" baseline="1157" sz="3600">
                <a:latin typeface="Cambria Math"/>
                <a:cs typeface="Cambria Math"/>
              </a:rPr>
              <a:t>=	</a:t>
            </a:r>
            <a:r>
              <a:rPr dirty="0" sz="2400">
                <a:latin typeface="Cambria Math"/>
                <a:cs typeface="Cambria Math"/>
              </a:rPr>
              <a:t>(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69539" y="5089652"/>
            <a:ext cx="882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096332" y="5089652"/>
            <a:ext cx="882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,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69339" y="5346555"/>
            <a:ext cx="2447925" cy="1120140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dirty="0" sz="2400">
                <a:solidFill>
                  <a:srgbClr val="C00000"/>
                </a:solidFill>
                <a:latin typeface="Arial"/>
                <a:cs typeface="Arial"/>
              </a:rPr>
              <a:t>“Not connect 4,</a:t>
            </a:r>
            <a:r>
              <a:rPr dirty="0" sz="2400" spc="-13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C00000"/>
                </a:solidFill>
                <a:latin typeface="Arial"/>
                <a:cs typeface="Arial"/>
              </a:rPr>
              <a:t>1”</a:t>
            </a:r>
            <a:endParaRPr sz="2400">
              <a:latin typeface="Arial"/>
              <a:cs typeface="Arial"/>
            </a:endParaRPr>
          </a:p>
          <a:p>
            <a:pPr algn="ctr" marR="338455">
              <a:lnSpc>
                <a:spcPct val="100000"/>
              </a:lnSpc>
              <a:spcBef>
                <a:spcPts val="1275"/>
              </a:spcBef>
            </a:pPr>
            <a:r>
              <a:rPr dirty="0" sz="2800">
                <a:solidFill>
                  <a:srgbClr val="C00000"/>
                </a:solidFill>
                <a:latin typeface="Arial"/>
                <a:cs typeface="Arial"/>
              </a:rPr>
              <a:t>0</a:t>
            </a:r>
            <a:endParaRPr sz="2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805810" y="5352215"/>
            <a:ext cx="1957705" cy="1114425"/>
          </a:xfrm>
          <a:prstGeom prst="rect">
            <a:avLst/>
          </a:prstGeom>
        </p:spPr>
        <p:txBody>
          <a:bodyPr wrap="square" lIns="0" tIns="149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2400">
                <a:solidFill>
                  <a:srgbClr val="C00000"/>
                </a:solidFill>
                <a:latin typeface="Arial"/>
                <a:cs typeface="Arial"/>
              </a:rPr>
              <a:t>“Connect 4,</a:t>
            </a:r>
            <a:r>
              <a:rPr dirty="0" sz="2400" spc="-12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C00000"/>
                </a:solidFill>
                <a:latin typeface="Arial"/>
                <a:cs typeface="Arial"/>
              </a:rPr>
              <a:t>2”</a:t>
            </a:r>
            <a:endParaRPr sz="2400">
              <a:latin typeface="Arial"/>
              <a:cs typeface="Arial"/>
            </a:endParaRPr>
          </a:p>
          <a:p>
            <a:pPr algn="ctr" marR="202565">
              <a:lnSpc>
                <a:spcPct val="100000"/>
              </a:lnSpc>
              <a:spcBef>
                <a:spcPts val="1255"/>
              </a:spcBef>
            </a:pPr>
            <a:r>
              <a:rPr dirty="0" sz="2800">
                <a:solidFill>
                  <a:srgbClr val="C00000"/>
                </a:solidFill>
                <a:latin typeface="Arial"/>
                <a:cs typeface="Arial"/>
              </a:rPr>
              <a:t>1</a:t>
            </a:r>
            <a:endParaRPr sz="2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174740" y="5357876"/>
            <a:ext cx="1957705" cy="1108710"/>
          </a:xfrm>
          <a:prstGeom prst="rect">
            <a:avLst/>
          </a:prstGeom>
        </p:spPr>
        <p:txBody>
          <a:bodyPr wrap="square" lIns="0" tIns="146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2400">
                <a:solidFill>
                  <a:srgbClr val="C00000"/>
                </a:solidFill>
                <a:latin typeface="Arial"/>
                <a:cs typeface="Arial"/>
              </a:rPr>
              <a:t>“Connect 4,</a:t>
            </a:r>
            <a:r>
              <a:rPr dirty="0" sz="2400" spc="-12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C00000"/>
                </a:solidFill>
                <a:latin typeface="Arial"/>
                <a:cs typeface="Arial"/>
              </a:rPr>
              <a:t>3”</a:t>
            </a:r>
            <a:endParaRPr sz="2400">
              <a:latin typeface="Arial"/>
              <a:cs typeface="Arial"/>
            </a:endParaRPr>
          </a:p>
          <a:p>
            <a:pPr algn="ctr" marR="351155">
              <a:lnSpc>
                <a:spcPct val="100000"/>
              </a:lnSpc>
              <a:spcBef>
                <a:spcPts val="1230"/>
              </a:spcBef>
            </a:pPr>
            <a:r>
              <a:rPr dirty="0" sz="2800">
                <a:solidFill>
                  <a:srgbClr val="C00000"/>
                </a:solidFill>
                <a:latin typeface="Arial"/>
                <a:cs typeface="Arial"/>
              </a:rPr>
              <a:t>1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751320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819265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/>
              <a:t>Summary: </a:t>
            </a:r>
            <a:r>
              <a:rPr dirty="0" sz="3200">
                <a:solidFill>
                  <a:srgbClr val="C00000"/>
                </a:solidFill>
              </a:rPr>
              <a:t>A </a:t>
            </a:r>
            <a:r>
              <a:rPr dirty="0" sz="3200" spc="-20">
                <a:solidFill>
                  <a:srgbClr val="C00000"/>
                </a:solidFill>
              </a:rPr>
              <a:t>graph </a:t>
            </a:r>
            <a:r>
              <a:rPr dirty="0" sz="3200">
                <a:solidFill>
                  <a:srgbClr val="C00000"/>
                </a:solidFill>
              </a:rPr>
              <a:t>+ a </a:t>
            </a:r>
            <a:r>
              <a:rPr dirty="0" sz="3200" spc="-5">
                <a:solidFill>
                  <a:srgbClr val="C00000"/>
                </a:solidFill>
              </a:rPr>
              <a:t>node </a:t>
            </a:r>
            <a:r>
              <a:rPr dirty="0" sz="3200" spc="-10">
                <a:solidFill>
                  <a:srgbClr val="C00000"/>
                </a:solidFill>
              </a:rPr>
              <a:t>ordering </a:t>
            </a:r>
            <a:r>
              <a:rPr dirty="0" sz="3200">
                <a:solidFill>
                  <a:srgbClr val="C00000"/>
                </a:solidFill>
              </a:rPr>
              <a:t>=  A </a:t>
            </a:r>
            <a:r>
              <a:rPr dirty="0" sz="3200" spc="-5">
                <a:solidFill>
                  <a:srgbClr val="C00000"/>
                </a:solidFill>
              </a:rPr>
              <a:t>sequence </a:t>
            </a:r>
            <a:r>
              <a:rPr dirty="0" sz="3200">
                <a:solidFill>
                  <a:srgbClr val="C00000"/>
                </a:solidFill>
              </a:rPr>
              <a:t>of</a:t>
            </a:r>
            <a:r>
              <a:rPr dirty="0" sz="3200" spc="-60">
                <a:solidFill>
                  <a:srgbClr val="C00000"/>
                </a:solidFill>
              </a:rPr>
              <a:t> </a:t>
            </a:r>
            <a:r>
              <a:rPr dirty="0" sz="3200" spc="-5">
                <a:solidFill>
                  <a:srgbClr val="C00000"/>
                </a:solidFill>
              </a:rPr>
              <a:t>sequences</a:t>
            </a:r>
            <a:endParaRPr sz="320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302526" y="4174737"/>
          <a:ext cx="2129790" cy="2000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0210"/>
                <a:gridCol w="420210"/>
                <a:gridCol w="420210"/>
                <a:gridCol w="420210"/>
                <a:gridCol w="420210"/>
              </a:tblGrid>
              <a:tr h="355600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12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12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12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12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12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806851" y="4229017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92099" y="4214876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06851" y="5061795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92099" y="5050028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799520" y="5061795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84768" y="5050028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4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72611" y="5240875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6909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790006" y="4220750"/>
            <a:ext cx="384810" cy="383540"/>
          </a:xfrm>
          <a:custGeom>
            <a:avLst/>
            <a:gdLst/>
            <a:ahLst/>
            <a:cxnLst/>
            <a:rect l="l" t="t" r="r" b="b"/>
            <a:pathLst>
              <a:path w="384810" h="383539">
                <a:moveTo>
                  <a:pt x="211571" y="0"/>
                </a:moveTo>
                <a:lnTo>
                  <a:pt x="172257" y="0"/>
                </a:lnTo>
                <a:lnTo>
                  <a:pt x="134736" y="7619"/>
                </a:lnTo>
                <a:lnTo>
                  <a:pt x="84439" y="33019"/>
                </a:lnTo>
                <a:lnTo>
                  <a:pt x="43646" y="69850"/>
                </a:lnTo>
                <a:lnTo>
                  <a:pt x="14940" y="116839"/>
                </a:lnTo>
                <a:lnTo>
                  <a:pt x="3812" y="153669"/>
                </a:lnTo>
                <a:lnTo>
                  <a:pt x="0" y="191769"/>
                </a:lnTo>
                <a:lnTo>
                  <a:pt x="1041" y="212089"/>
                </a:lnTo>
                <a:lnTo>
                  <a:pt x="15303" y="266700"/>
                </a:lnTo>
                <a:lnTo>
                  <a:pt x="44225" y="314959"/>
                </a:lnTo>
                <a:lnTo>
                  <a:pt x="85197" y="351789"/>
                </a:lnTo>
                <a:lnTo>
                  <a:pt x="135638" y="375919"/>
                </a:lnTo>
                <a:lnTo>
                  <a:pt x="173214" y="383539"/>
                </a:lnTo>
                <a:lnTo>
                  <a:pt x="212528" y="383539"/>
                </a:lnTo>
                <a:lnTo>
                  <a:pt x="250050" y="375919"/>
                </a:lnTo>
                <a:lnTo>
                  <a:pt x="255937" y="373379"/>
                </a:lnTo>
                <a:lnTo>
                  <a:pt x="192297" y="373379"/>
                </a:lnTo>
                <a:lnTo>
                  <a:pt x="173790" y="372109"/>
                </a:lnTo>
                <a:lnTo>
                  <a:pt x="121862" y="358139"/>
                </a:lnTo>
                <a:lnTo>
                  <a:pt x="77205" y="331469"/>
                </a:lnTo>
                <a:lnTo>
                  <a:pt x="42271" y="293369"/>
                </a:lnTo>
                <a:lnTo>
                  <a:pt x="19523" y="245109"/>
                </a:lnTo>
                <a:lnTo>
                  <a:pt x="11416" y="191769"/>
                </a:lnTo>
                <a:lnTo>
                  <a:pt x="12359" y="172719"/>
                </a:lnTo>
                <a:lnTo>
                  <a:pt x="25674" y="120650"/>
                </a:lnTo>
                <a:lnTo>
                  <a:pt x="52800" y="76200"/>
                </a:lnTo>
                <a:lnTo>
                  <a:pt x="91283" y="41909"/>
                </a:lnTo>
                <a:lnTo>
                  <a:pt x="138664" y="19050"/>
                </a:lnTo>
                <a:lnTo>
                  <a:pt x="173982" y="11429"/>
                </a:lnTo>
                <a:lnTo>
                  <a:pt x="259770" y="11429"/>
                </a:lnTo>
                <a:lnTo>
                  <a:pt x="249148" y="7619"/>
                </a:lnTo>
                <a:lnTo>
                  <a:pt x="211571" y="0"/>
                </a:lnTo>
                <a:close/>
              </a:path>
              <a:path w="384810" h="383539">
                <a:moveTo>
                  <a:pt x="259770" y="11429"/>
                </a:moveTo>
                <a:lnTo>
                  <a:pt x="210995" y="11429"/>
                </a:lnTo>
                <a:lnTo>
                  <a:pt x="228961" y="13969"/>
                </a:lnTo>
                <a:lnTo>
                  <a:pt x="246301" y="19050"/>
                </a:lnTo>
                <a:lnTo>
                  <a:pt x="293654" y="41909"/>
                </a:lnTo>
                <a:lnTo>
                  <a:pt x="332102" y="76200"/>
                </a:lnTo>
                <a:lnTo>
                  <a:pt x="359185" y="121919"/>
                </a:lnTo>
                <a:lnTo>
                  <a:pt x="372446" y="173989"/>
                </a:lnTo>
                <a:lnTo>
                  <a:pt x="373371" y="191769"/>
                </a:lnTo>
                <a:lnTo>
                  <a:pt x="372426" y="210819"/>
                </a:lnTo>
                <a:lnTo>
                  <a:pt x="359112" y="262889"/>
                </a:lnTo>
                <a:lnTo>
                  <a:pt x="331986" y="307339"/>
                </a:lnTo>
                <a:lnTo>
                  <a:pt x="293502" y="341629"/>
                </a:lnTo>
                <a:lnTo>
                  <a:pt x="246120" y="364489"/>
                </a:lnTo>
                <a:lnTo>
                  <a:pt x="192297" y="373379"/>
                </a:lnTo>
                <a:lnTo>
                  <a:pt x="255937" y="373379"/>
                </a:lnTo>
                <a:lnTo>
                  <a:pt x="300347" y="350519"/>
                </a:lnTo>
                <a:lnTo>
                  <a:pt x="341141" y="313689"/>
                </a:lnTo>
                <a:lnTo>
                  <a:pt x="369846" y="266700"/>
                </a:lnTo>
                <a:lnTo>
                  <a:pt x="380973" y="229869"/>
                </a:lnTo>
                <a:lnTo>
                  <a:pt x="384785" y="191769"/>
                </a:lnTo>
                <a:lnTo>
                  <a:pt x="383744" y="171450"/>
                </a:lnTo>
                <a:lnTo>
                  <a:pt x="369482" y="116839"/>
                </a:lnTo>
                <a:lnTo>
                  <a:pt x="340560" y="68579"/>
                </a:lnTo>
                <a:lnTo>
                  <a:pt x="299589" y="31750"/>
                </a:lnTo>
                <a:lnTo>
                  <a:pt x="266852" y="13969"/>
                </a:lnTo>
                <a:lnTo>
                  <a:pt x="259770" y="11429"/>
                </a:lnTo>
                <a:close/>
              </a:path>
              <a:path w="384810" h="383539">
                <a:moveTo>
                  <a:pt x="210803" y="15239"/>
                </a:moveTo>
                <a:lnTo>
                  <a:pt x="174557" y="15239"/>
                </a:lnTo>
                <a:lnTo>
                  <a:pt x="156959" y="17779"/>
                </a:lnTo>
                <a:lnTo>
                  <a:pt x="108188" y="35559"/>
                </a:lnTo>
                <a:lnTo>
                  <a:pt x="67307" y="66039"/>
                </a:lnTo>
                <a:lnTo>
                  <a:pt x="36734" y="106679"/>
                </a:lnTo>
                <a:lnTo>
                  <a:pt x="18878" y="156209"/>
                </a:lnTo>
                <a:lnTo>
                  <a:pt x="15220" y="191769"/>
                </a:lnTo>
                <a:lnTo>
                  <a:pt x="16107" y="209550"/>
                </a:lnTo>
                <a:lnTo>
                  <a:pt x="29033" y="260350"/>
                </a:lnTo>
                <a:lnTo>
                  <a:pt x="55504" y="304800"/>
                </a:lnTo>
                <a:lnTo>
                  <a:pt x="93110" y="339089"/>
                </a:lnTo>
                <a:lnTo>
                  <a:pt x="139433" y="360679"/>
                </a:lnTo>
                <a:lnTo>
                  <a:pt x="192105" y="369569"/>
                </a:lnTo>
                <a:lnTo>
                  <a:pt x="210229" y="368300"/>
                </a:lnTo>
                <a:lnTo>
                  <a:pt x="227826" y="365759"/>
                </a:lnTo>
                <a:lnTo>
                  <a:pt x="191913" y="365759"/>
                </a:lnTo>
                <a:lnTo>
                  <a:pt x="174175" y="364489"/>
                </a:lnTo>
                <a:lnTo>
                  <a:pt x="124481" y="351789"/>
                </a:lnTo>
                <a:lnTo>
                  <a:pt x="81768" y="325119"/>
                </a:lnTo>
                <a:lnTo>
                  <a:pt x="48374" y="288289"/>
                </a:lnTo>
                <a:lnTo>
                  <a:pt x="26680" y="242569"/>
                </a:lnTo>
                <a:lnTo>
                  <a:pt x="19025" y="191769"/>
                </a:lnTo>
                <a:lnTo>
                  <a:pt x="19970" y="173989"/>
                </a:lnTo>
                <a:lnTo>
                  <a:pt x="32829" y="124459"/>
                </a:lnTo>
                <a:lnTo>
                  <a:pt x="58902" y="81279"/>
                </a:lnTo>
                <a:lnTo>
                  <a:pt x="95848" y="48259"/>
                </a:lnTo>
                <a:lnTo>
                  <a:pt x="141283" y="26669"/>
                </a:lnTo>
                <a:lnTo>
                  <a:pt x="175131" y="19050"/>
                </a:lnTo>
                <a:lnTo>
                  <a:pt x="232629" y="19050"/>
                </a:lnTo>
                <a:lnTo>
                  <a:pt x="228387" y="17779"/>
                </a:lnTo>
                <a:lnTo>
                  <a:pt x="210803" y="15239"/>
                </a:lnTo>
                <a:close/>
              </a:path>
              <a:path w="384810" h="383539">
                <a:moveTo>
                  <a:pt x="232629" y="19050"/>
                </a:moveTo>
                <a:lnTo>
                  <a:pt x="210611" y="19050"/>
                </a:lnTo>
                <a:lnTo>
                  <a:pt x="227812" y="21589"/>
                </a:lnTo>
                <a:lnTo>
                  <a:pt x="244403" y="26669"/>
                </a:lnTo>
                <a:lnTo>
                  <a:pt x="289697" y="48259"/>
                </a:lnTo>
                <a:lnTo>
                  <a:pt x="326463" y="81279"/>
                </a:lnTo>
                <a:lnTo>
                  <a:pt x="352320" y="124459"/>
                </a:lnTo>
                <a:lnTo>
                  <a:pt x="364912" y="173989"/>
                </a:lnTo>
                <a:lnTo>
                  <a:pt x="365759" y="191769"/>
                </a:lnTo>
                <a:lnTo>
                  <a:pt x="364816" y="209550"/>
                </a:lnTo>
                <a:lnTo>
                  <a:pt x="351956" y="259079"/>
                </a:lnTo>
                <a:lnTo>
                  <a:pt x="325884" y="302259"/>
                </a:lnTo>
                <a:lnTo>
                  <a:pt x="288938" y="335279"/>
                </a:lnTo>
                <a:lnTo>
                  <a:pt x="243502" y="356869"/>
                </a:lnTo>
                <a:lnTo>
                  <a:pt x="191913" y="365759"/>
                </a:lnTo>
                <a:lnTo>
                  <a:pt x="227826" y="365759"/>
                </a:lnTo>
                <a:lnTo>
                  <a:pt x="276597" y="347979"/>
                </a:lnTo>
                <a:lnTo>
                  <a:pt x="317479" y="317500"/>
                </a:lnTo>
                <a:lnTo>
                  <a:pt x="348052" y="276859"/>
                </a:lnTo>
                <a:lnTo>
                  <a:pt x="365908" y="227329"/>
                </a:lnTo>
                <a:lnTo>
                  <a:pt x="369566" y="191769"/>
                </a:lnTo>
                <a:lnTo>
                  <a:pt x="368679" y="173989"/>
                </a:lnTo>
                <a:lnTo>
                  <a:pt x="355752" y="123189"/>
                </a:lnTo>
                <a:lnTo>
                  <a:pt x="329283" y="78739"/>
                </a:lnTo>
                <a:lnTo>
                  <a:pt x="291675" y="44450"/>
                </a:lnTo>
                <a:lnTo>
                  <a:pt x="245352" y="22859"/>
                </a:lnTo>
                <a:lnTo>
                  <a:pt x="232629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884768" y="4214876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486907" y="4683968"/>
            <a:ext cx="384810" cy="383540"/>
          </a:xfrm>
          <a:custGeom>
            <a:avLst/>
            <a:gdLst/>
            <a:ahLst/>
            <a:cxnLst/>
            <a:rect l="l" t="t" r="r" b="b"/>
            <a:pathLst>
              <a:path w="384810" h="383539">
                <a:moveTo>
                  <a:pt x="211571" y="0"/>
                </a:moveTo>
                <a:lnTo>
                  <a:pt x="172257" y="0"/>
                </a:lnTo>
                <a:lnTo>
                  <a:pt x="134736" y="7619"/>
                </a:lnTo>
                <a:lnTo>
                  <a:pt x="84439" y="33019"/>
                </a:lnTo>
                <a:lnTo>
                  <a:pt x="43646" y="69849"/>
                </a:lnTo>
                <a:lnTo>
                  <a:pt x="14940" y="116839"/>
                </a:lnTo>
                <a:lnTo>
                  <a:pt x="3812" y="153669"/>
                </a:lnTo>
                <a:lnTo>
                  <a:pt x="0" y="191769"/>
                </a:lnTo>
                <a:lnTo>
                  <a:pt x="1041" y="212089"/>
                </a:lnTo>
                <a:lnTo>
                  <a:pt x="15303" y="266699"/>
                </a:lnTo>
                <a:lnTo>
                  <a:pt x="44225" y="314959"/>
                </a:lnTo>
                <a:lnTo>
                  <a:pt x="85197" y="351789"/>
                </a:lnTo>
                <a:lnTo>
                  <a:pt x="135638" y="375919"/>
                </a:lnTo>
                <a:lnTo>
                  <a:pt x="173214" y="383539"/>
                </a:lnTo>
                <a:lnTo>
                  <a:pt x="212528" y="383539"/>
                </a:lnTo>
                <a:lnTo>
                  <a:pt x="250050" y="375919"/>
                </a:lnTo>
                <a:lnTo>
                  <a:pt x="255937" y="373379"/>
                </a:lnTo>
                <a:lnTo>
                  <a:pt x="192297" y="373379"/>
                </a:lnTo>
                <a:lnTo>
                  <a:pt x="173790" y="372109"/>
                </a:lnTo>
                <a:lnTo>
                  <a:pt x="121862" y="358139"/>
                </a:lnTo>
                <a:lnTo>
                  <a:pt x="77205" y="331469"/>
                </a:lnTo>
                <a:lnTo>
                  <a:pt x="42271" y="293369"/>
                </a:lnTo>
                <a:lnTo>
                  <a:pt x="19523" y="245109"/>
                </a:lnTo>
                <a:lnTo>
                  <a:pt x="11416" y="191769"/>
                </a:lnTo>
                <a:lnTo>
                  <a:pt x="12359" y="172719"/>
                </a:lnTo>
                <a:lnTo>
                  <a:pt x="25674" y="120649"/>
                </a:lnTo>
                <a:lnTo>
                  <a:pt x="52800" y="76199"/>
                </a:lnTo>
                <a:lnTo>
                  <a:pt x="91283" y="41909"/>
                </a:lnTo>
                <a:lnTo>
                  <a:pt x="138664" y="19049"/>
                </a:lnTo>
                <a:lnTo>
                  <a:pt x="173982" y="11429"/>
                </a:lnTo>
                <a:lnTo>
                  <a:pt x="259770" y="11429"/>
                </a:lnTo>
                <a:lnTo>
                  <a:pt x="249148" y="7619"/>
                </a:lnTo>
                <a:lnTo>
                  <a:pt x="211571" y="0"/>
                </a:lnTo>
                <a:close/>
              </a:path>
              <a:path w="384810" h="383539">
                <a:moveTo>
                  <a:pt x="259770" y="11429"/>
                </a:moveTo>
                <a:lnTo>
                  <a:pt x="210995" y="11429"/>
                </a:lnTo>
                <a:lnTo>
                  <a:pt x="228963" y="13969"/>
                </a:lnTo>
                <a:lnTo>
                  <a:pt x="246301" y="19049"/>
                </a:lnTo>
                <a:lnTo>
                  <a:pt x="293654" y="41909"/>
                </a:lnTo>
                <a:lnTo>
                  <a:pt x="332102" y="76199"/>
                </a:lnTo>
                <a:lnTo>
                  <a:pt x="359185" y="121919"/>
                </a:lnTo>
                <a:lnTo>
                  <a:pt x="372446" y="173989"/>
                </a:lnTo>
                <a:lnTo>
                  <a:pt x="373371" y="191769"/>
                </a:lnTo>
                <a:lnTo>
                  <a:pt x="372426" y="210819"/>
                </a:lnTo>
                <a:lnTo>
                  <a:pt x="359112" y="262889"/>
                </a:lnTo>
                <a:lnTo>
                  <a:pt x="331986" y="307339"/>
                </a:lnTo>
                <a:lnTo>
                  <a:pt x="293502" y="341629"/>
                </a:lnTo>
                <a:lnTo>
                  <a:pt x="246120" y="364489"/>
                </a:lnTo>
                <a:lnTo>
                  <a:pt x="192297" y="373379"/>
                </a:lnTo>
                <a:lnTo>
                  <a:pt x="255937" y="373379"/>
                </a:lnTo>
                <a:lnTo>
                  <a:pt x="300347" y="350519"/>
                </a:lnTo>
                <a:lnTo>
                  <a:pt x="341141" y="313689"/>
                </a:lnTo>
                <a:lnTo>
                  <a:pt x="369846" y="266699"/>
                </a:lnTo>
                <a:lnTo>
                  <a:pt x="380973" y="229869"/>
                </a:lnTo>
                <a:lnTo>
                  <a:pt x="384785" y="191769"/>
                </a:lnTo>
                <a:lnTo>
                  <a:pt x="383744" y="171449"/>
                </a:lnTo>
                <a:lnTo>
                  <a:pt x="369482" y="116839"/>
                </a:lnTo>
                <a:lnTo>
                  <a:pt x="340560" y="68579"/>
                </a:lnTo>
                <a:lnTo>
                  <a:pt x="299589" y="31749"/>
                </a:lnTo>
                <a:lnTo>
                  <a:pt x="266852" y="13969"/>
                </a:lnTo>
                <a:lnTo>
                  <a:pt x="259770" y="11429"/>
                </a:lnTo>
                <a:close/>
              </a:path>
              <a:path w="384810" h="383539">
                <a:moveTo>
                  <a:pt x="210803" y="15239"/>
                </a:moveTo>
                <a:lnTo>
                  <a:pt x="174557" y="15239"/>
                </a:lnTo>
                <a:lnTo>
                  <a:pt x="156959" y="17779"/>
                </a:lnTo>
                <a:lnTo>
                  <a:pt x="108188" y="35559"/>
                </a:lnTo>
                <a:lnTo>
                  <a:pt x="67307" y="66039"/>
                </a:lnTo>
                <a:lnTo>
                  <a:pt x="36734" y="106679"/>
                </a:lnTo>
                <a:lnTo>
                  <a:pt x="18878" y="156209"/>
                </a:lnTo>
                <a:lnTo>
                  <a:pt x="15220" y="191769"/>
                </a:lnTo>
                <a:lnTo>
                  <a:pt x="16107" y="209549"/>
                </a:lnTo>
                <a:lnTo>
                  <a:pt x="29033" y="260349"/>
                </a:lnTo>
                <a:lnTo>
                  <a:pt x="55504" y="304799"/>
                </a:lnTo>
                <a:lnTo>
                  <a:pt x="93110" y="339089"/>
                </a:lnTo>
                <a:lnTo>
                  <a:pt x="139433" y="360679"/>
                </a:lnTo>
                <a:lnTo>
                  <a:pt x="192105" y="369569"/>
                </a:lnTo>
                <a:lnTo>
                  <a:pt x="210229" y="368299"/>
                </a:lnTo>
                <a:lnTo>
                  <a:pt x="227826" y="365759"/>
                </a:lnTo>
                <a:lnTo>
                  <a:pt x="191913" y="365759"/>
                </a:lnTo>
                <a:lnTo>
                  <a:pt x="174175" y="364489"/>
                </a:lnTo>
                <a:lnTo>
                  <a:pt x="124481" y="351789"/>
                </a:lnTo>
                <a:lnTo>
                  <a:pt x="81768" y="325119"/>
                </a:lnTo>
                <a:lnTo>
                  <a:pt x="48374" y="288289"/>
                </a:lnTo>
                <a:lnTo>
                  <a:pt x="26680" y="242569"/>
                </a:lnTo>
                <a:lnTo>
                  <a:pt x="19025" y="191769"/>
                </a:lnTo>
                <a:lnTo>
                  <a:pt x="19970" y="173989"/>
                </a:lnTo>
                <a:lnTo>
                  <a:pt x="32829" y="124459"/>
                </a:lnTo>
                <a:lnTo>
                  <a:pt x="58902" y="81279"/>
                </a:lnTo>
                <a:lnTo>
                  <a:pt x="95848" y="48259"/>
                </a:lnTo>
                <a:lnTo>
                  <a:pt x="141283" y="26669"/>
                </a:lnTo>
                <a:lnTo>
                  <a:pt x="192873" y="17779"/>
                </a:lnTo>
                <a:lnTo>
                  <a:pt x="228387" y="17779"/>
                </a:lnTo>
                <a:lnTo>
                  <a:pt x="210803" y="15239"/>
                </a:lnTo>
                <a:close/>
              </a:path>
              <a:path w="384810" h="383539">
                <a:moveTo>
                  <a:pt x="228387" y="17779"/>
                </a:moveTo>
                <a:lnTo>
                  <a:pt x="192873" y="17779"/>
                </a:lnTo>
                <a:lnTo>
                  <a:pt x="210611" y="19049"/>
                </a:lnTo>
                <a:lnTo>
                  <a:pt x="227812" y="21589"/>
                </a:lnTo>
                <a:lnTo>
                  <a:pt x="275431" y="39369"/>
                </a:lnTo>
                <a:lnTo>
                  <a:pt x="315302" y="69849"/>
                </a:lnTo>
                <a:lnTo>
                  <a:pt x="345060" y="109219"/>
                </a:lnTo>
                <a:lnTo>
                  <a:pt x="362332" y="157479"/>
                </a:lnTo>
                <a:lnTo>
                  <a:pt x="365759" y="191769"/>
                </a:lnTo>
                <a:lnTo>
                  <a:pt x="364816" y="209549"/>
                </a:lnTo>
                <a:lnTo>
                  <a:pt x="351956" y="259079"/>
                </a:lnTo>
                <a:lnTo>
                  <a:pt x="325884" y="302259"/>
                </a:lnTo>
                <a:lnTo>
                  <a:pt x="288938" y="335279"/>
                </a:lnTo>
                <a:lnTo>
                  <a:pt x="243502" y="356869"/>
                </a:lnTo>
                <a:lnTo>
                  <a:pt x="191913" y="365759"/>
                </a:lnTo>
                <a:lnTo>
                  <a:pt x="227826" y="365759"/>
                </a:lnTo>
                <a:lnTo>
                  <a:pt x="276597" y="347979"/>
                </a:lnTo>
                <a:lnTo>
                  <a:pt x="317479" y="317499"/>
                </a:lnTo>
                <a:lnTo>
                  <a:pt x="348052" y="276859"/>
                </a:lnTo>
                <a:lnTo>
                  <a:pt x="365908" y="227329"/>
                </a:lnTo>
                <a:lnTo>
                  <a:pt x="369566" y="191769"/>
                </a:lnTo>
                <a:lnTo>
                  <a:pt x="368679" y="173989"/>
                </a:lnTo>
                <a:lnTo>
                  <a:pt x="355752" y="123189"/>
                </a:lnTo>
                <a:lnTo>
                  <a:pt x="329283" y="78739"/>
                </a:lnTo>
                <a:lnTo>
                  <a:pt x="291675" y="44449"/>
                </a:lnTo>
                <a:lnTo>
                  <a:pt x="245352" y="22859"/>
                </a:lnTo>
                <a:lnTo>
                  <a:pt x="228387" y="177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581669" y="4678171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5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89731" y="4594778"/>
            <a:ext cx="0" cy="467359"/>
          </a:xfrm>
          <a:custGeom>
            <a:avLst/>
            <a:gdLst/>
            <a:ahLst/>
            <a:cxnLst/>
            <a:rect l="l" t="t" r="r" b="b"/>
            <a:pathLst>
              <a:path w="0" h="467360">
                <a:moveTo>
                  <a:pt x="0" y="0"/>
                </a:moveTo>
                <a:lnTo>
                  <a:pt x="1" y="467017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172611" y="4411897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6909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982400" y="4594778"/>
            <a:ext cx="0" cy="467359"/>
          </a:xfrm>
          <a:custGeom>
            <a:avLst/>
            <a:gdLst/>
            <a:ahLst/>
            <a:cxnLst/>
            <a:rect l="l" t="t" r="r" b="b"/>
            <a:pathLst>
              <a:path w="0" h="467360">
                <a:moveTo>
                  <a:pt x="0" y="0"/>
                </a:moveTo>
                <a:lnTo>
                  <a:pt x="1" y="467017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165281" y="4411898"/>
            <a:ext cx="384810" cy="334010"/>
          </a:xfrm>
          <a:custGeom>
            <a:avLst/>
            <a:gdLst/>
            <a:ahLst/>
            <a:cxnLst/>
            <a:rect l="l" t="t" r="r" b="b"/>
            <a:pathLst>
              <a:path w="384810" h="334010">
                <a:moveTo>
                  <a:pt x="0" y="0"/>
                </a:moveTo>
                <a:lnTo>
                  <a:pt x="384705" y="33390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165281" y="5004431"/>
            <a:ext cx="384810" cy="240665"/>
          </a:xfrm>
          <a:custGeom>
            <a:avLst/>
            <a:gdLst/>
            <a:ahLst/>
            <a:cxnLst/>
            <a:rect l="l" t="t" r="r" b="b"/>
            <a:pathLst>
              <a:path w="384810" h="240664">
                <a:moveTo>
                  <a:pt x="0" y="240244"/>
                </a:moveTo>
                <a:lnTo>
                  <a:pt x="384705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065062" y="5647435"/>
            <a:ext cx="11493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Graph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Cambria Math"/>
                <a:cs typeface="Cambria Math"/>
              </a:rPr>
              <a:t>𝐺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18108" y="2327148"/>
            <a:ext cx="7582534" cy="133096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Node </a:t>
            </a:r>
            <a:r>
              <a:rPr dirty="0" sz="3200" spc="-10">
                <a:latin typeface="Calibri"/>
                <a:cs typeface="Calibri"/>
              </a:rPr>
              <a:t>ordering </a:t>
            </a:r>
            <a:r>
              <a:rPr dirty="0" sz="3200">
                <a:latin typeface="Calibri"/>
                <a:cs typeface="Calibri"/>
              </a:rPr>
              <a:t>is </a:t>
            </a:r>
            <a:r>
              <a:rPr dirty="0" sz="3200" spc="-10">
                <a:latin typeface="Calibri"/>
                <a:cs typeface="Calibri"/>
              </a:rPr>
              <a:t>randomly selected </a:t>
            </a:r>
            <a:r>
              <a:rPr dirty="0" sz="3200" spc="-15">
                <a:solidFill>
                  <a:srgbClr val="7F7F7F"/>
                </a:solidFill>
                <a:latin typeface="Calibri"/>
                <a:cs typeface="Calibri"/>
              </a:rPr>
              <a:t>(we </a:t>
            </a:r>
            <a:r>
              <a:rPr dirty="0" sz="3200" spc="-5">
                <a:solidFill>
                  <a:srgbClr val="7F7F7F"/>
                </a:solidFill>
                <a:latin typeface="Calibri"/>
                <a:cs typeface="Calibri"/>
              </a:rPr>
              <a:t>will  </a:t>
            </a:r>
            <a:r>
              <a:rPr dirty="0" sz="3200" spc="-10">
                <a:solidFill>
                  <a:srgbClr val="7F7F7F"/>
                </a:solidFill>
                <a:latin typeface="Calibri"/>
                <a:cs typeface="Calibri"/>
              </a:rPr>
              <a:t>come </a:t>
            </a:r>
            <a:r>
              <a:rPr dirty="0" sz="3200" spc="-5">
                <a:solidFill>
                  <a:srgbClr val="7F7F7F"/>
                </a:solidFill>
                <a:latin typeface="Calibri"/>
                <a:cs typeface="Calibri"/>
              </a:rPr>
              <a:t>back </a:t>
            </a:r>
            <a:r>
              <a:rPr dirty="0" sz="3200" spc="-15">
                <a:solidFill>
                  <a:srgbClr val="7F7F7F"/>
                </a:solidFill>
                <a:latin typeface="Calibri"/>
                <a:cs typeface="Calibri"/>
              </a:rPr>
              <a:t>to</a:t>
            </a:r>
            <a:r>
              <a:rPr dirty="0" sz="3200" spc="-3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dirty="0" sz="3200" spc="-5">
                <a:solidFill>
                  <a:srgbClr val="7F7F7F"/>
                </a:solidFill>
                <a:latin typeface="Calibri"/>
                <a:cs typeface="Calibri"/>
              </a:rPr>
              <a:t>this)</a:t>
            </a:r>
            <a:endParaRPr sz="3200">
              <a:latin typeface="Calibri"/>
              <a:cs typeface="Calibri"/>
            </a:endParaRPr>
          </a:p>
          <a:p>
            <a:pPr marL="3663950">
              <a:lnSpc>
                <a:spcPts val="2530"/>
              </a:lnSpc>
            </a:pPr>
            <a:r>
              <a:rPr dirty="0" sz="2400" spc="-5" b="1">
                <a:solidFill>
                  <a:srgbClr val="008000"/>
                </a:solidFill>
                <a:latin typeface="Arial"/>
                <a:cs typeface="Arial"/>
              </a:rPr>
              <a:t>Node-level</a:t>
            </a:r>
            <a:r>
              <a:rPr dirty="0" sz="2400" spc="-50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008000"/>
                </a:solidFill>
                <a:latin typeface="Arial"/>
                <a:cs typeface="Arial"/>
              </a:rPr>
              <a:t>sequence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854576" y="3720012"/>
            <a:ext cx="1016000" cy="304800"/>
          </a:xfrm>
          <a:custGeom>
            <a:avLst/>
            <a:gdLst/>
            <a:ahLst/>
            <a:cxnLst/>
            <a:rect l="l" t="t" r="r" b="b"/>
            <a:pathLst>
              <a:path w="1016000" h="304800">
                <a:moveTo>
                  <a:pt x="863600" y="0"/>
                </a:moveTo>
                <a:lnTo>
                  <a:pt x="863600" y="76200"/>
                </a:lnTo>
                <a:lnTo>
                  <a:pt x="0" y="76200"/>
                </a:lnTo>
                <a:lnTo>
                  <a:pt x="0" y="228600"/>
                </a:lnTo>
                <a:lnTo>
                  <a:pt x="863600" y="228600"/>
                </a:lnTo>
                <a:lnTo>
                  <a:pt x="863600" y="304800"/>
                </a:lnTo>
                <a:lnTo>
                  <a:pt x="1016000" y="152400"/>
                </a:lnTo>
                <a:lnTo>
                  <a:pt x="863600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830575" y="3662071"/>
            <a:ext cx="1074420" cy="421005"/>
          </a:xfrm>
          <a:custGeom>
            <a:avLst/>
            <a:gdLst/>
            <a:ahLst/>
            <a:cxnLst/>
            <a:rect l="l" t="t" r="r" b="b"/>
            <a:pathLst>
              <a:path w="1074420" h="421004">
                <a:moveTo>
                  <a:pt x="863600" y="0"/>
                </a:moveTo>
                <a:lnTo>
                  <a:pt x="863600" y="110140"/>
                </a:lnTo>
                <a:lnTo>
                  <a:pt x="0" y="110140"/>
                </a:lnTo>
                <a:lnTo>
                  <a:pt x="0" y="310541"/>
                </a:lnTo>
                <a:lnTo>
                  <a:pt x="863600" y="310541"/>
                </a:lnTo>
                <a:lnTo>
                  <a:pt x="863600" y="420682"/>
                </a:lnTo>
                <a:lnTo>
                  <a:pt x="933129" y="351152"/>
                </a:lnTo>
                <a:lnTo>
                  <a:pt x="892399" y="351152"/>
                </a:lnTo>
                <a:lnTo>
                  <a:pt x="892399" y="281740"/>
                </a:lnTo>
                <a:lnTo>
                  <a:pt x="28799" y="281740"/>
                </a:lnTo>
                <a:lnTo>
                  <a:pt x="28799" y="138941"/>
                </a:lnTo>
                <a:lnTo>
                  <a:pt x="892399" y="138941"/>
                </a:lnTo>
                <a:lnTo>
                  <a:pt x="892399" y="69529"/>
                </a:lnTo>
                <a:lnTo>
                  <a:pt x="933129" y="69529"/>
                </a:lnTo>
                <a:lnTo>
                  <a:pt x="863600" y="0"/>
                </a:lnTo>
                <a:close/>
              </a:path>
              <a:path w="1074420" h="421004">
                <a:moveTo>
                  <a:pt x="933129" y="69529"/>
                </a:moveTo>
                <a:lnTo>
                  <a:pt x="892399" y="69529"/>
                </a:lnTo>
                <a:lnTo>
                  <a:pt x="1033211" y="210341"/>
                </a:lnTo>
                <a:lnTo>
                  <a:pt x="892399" y="351152"/>
                </a:lnTo>
                <a:lnTo>
                  <a:pt x="933129" y="351152"/>
                </a:lnTo>
                <a:lnTo>
                  <a:pt x="1073941" y="210341"/>
                </a:lnTo>
                <a:lnTo>
                  <a:pt x="933129" y="69529"/>
                </a:lnTo>
                <a:close/>
              </a:path>
              <a:path w="1074420" h="421004">
                <a:moveTo>
                  <a:pt x="901999" y="92706"/>
                </a:moveTo>
                <a:lnTo>
                  <a:pt x="901999" y="148541"/>
                </a:lnTo>
                <a:lnTo>
                  <a:pt x="38399" y="148541"/>
                </a:lnTo>
                <a:lnTo>
                  <a:pt x="38399" y="272140"/>
                </a:lnTo>
                <a:lnTo>
                  <a:pt x="901999" y="272140"/>
                </a:lnTo>
                <a:lnTo>
                  <a:pt x="901999" y="327976"/>
                </a:lnTo>
                <a:lnTo>
                  <a:pt x="925175" y="304800"/>
                </a:lnTo>
                <a:lnTo>
                  <a:pt x="911599" y="304800"/>
                </a:lnTo>
                <a:lnTo>
                  <a:pt x="911599" y="262540"/>
                </a:lnTo>
                <a:lnTo>
                  <a:pt x="47999" y="262540"/>
                </a:lnTo>
                <a:lnTo>
                  <a:pt x="47999" y="158141"/>
                </a:lnTo>
                <a:lnTo>
                  <a:pt x="911599" y="158141"/>
                </a:lnTo>
                <a:lnTo>
                  <a:pt x="911599" y="115882"/>
                </a:lnTo>
                <a:lnTo>
                  <a:pt x="925175" y="115882"/>
                </a:lnTo>
                <a:lnTo>
                  <a:pt x="901999" y="92706"/>
                </a:lnTo>
                <a:close/>
              </a:path>
              <a:path w="1074420" h="421004">
                <a:moveTo>
                  <a:pt x="925175" y="115882"/>
                </a:moveTo>
                <a:lnTo>
                  <a:pt x="911599" y="115882"/>
                </a:lnTo>
                <a:lnTo>
                  <a:pt x="1006058" y="210341"/>
                </a:lnTo>
                <a:lnTo>
                  <a:pt x="911599" y="304800"/>
                </a:lnTo>
                <a:lnTo>
                  <a:pt x="925175" y="304800"/>
                </a:lnTo>
                <a:lnTo>
                  <a:pt x="1019634" y="210341"/>
                </a:lnTo>
                <a:lnTo>
                  <a:pt x="925175" y="115882"/>
                </a:lnTo>
                <a:close/>
              </a:path>
            </a:pathLst>
          </a:custGeom>
          <a:solidFill>
            <a:srgbClr val="2F62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7001140" y="4589779"/>
            <a:ext cx="1550035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5" b="1">
                <a:solidFill>
                  <a:srgbClr val="0000FF"/>
                </a:solidFill>
                <a:latin typeface="Arial"/>
                <a:cs typeface="Arial"/>
              </a:rPr>
              <a:t>Edg</a:t>
            </a:r>
            <a:r>
              <a:rPr dirty="0" sz="2400" b="1">
                <a:solidFill>
                  <a:srgbClr val="0000FF"/>
                </a:solidFill>
                <a:latin typeface="Arial"/>
                <a:cs typeface="Arial"/>
              </a:rPr>
              <a:t>e-</a:t>
            </a:r>
            <a:r>
              <a:rPr dirty="0" sz="2400" spc="-5" b="1">
                <a:solidFill>
                  <a:srgbClr val="0000FF"/>
                </a:solidFill>
                <a:latin typeface="Arial"/>
                <a:cs typeface="Arial"/>
              </a:rPr>
              <a:t>l</a:t>
            </a:r>
            <a:r>
              <a:rPr dirty="0" sz="2400" b="1">
                <a:solidFill>
                  <a:srgbClr val="0000FF"/>
                </a:solidFill>
                <a:latin typeface="Arial"/>
                <a:cs typeface="Arial"/>
              </a:rPr>
              <a:t>evel  </a:t>
            </a:r>
            <a:r>
              <a:rPr dirty="0" sz="2400" spc="-5" b="1">
                <a:solidFill>
                  <a:srgbClr val="0000FF"/>
                </a:solidFill>
                <a:latin typeface="Arial"/>
                <a:cs typeface="Arial"/>
              </a:rPr>
              <a:t>sequence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290241" y="6186932"/>
            <a:ext cx="23482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Adjacency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matrix</a:t>
            </a:r>
            <a:endParaRPr sz="2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356194" y="4556252"/>
            <a:ext cx="499109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Cambria Math"/>
                <a:cs typeface="Cambria Math"/>
              </a:rPr>
              <a:t>⇔</a:t>
            </a:r>
            <a:endParaRPr sz="36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575297" y="4506753"/>
            <a:ext cx="304800" cy="1016000"/>
          </a:xfrm>
          <a:custGeom>
            <a:avLst/>
            <a:gdLst/>
            <a:ahLst/>
            <a:cxnLst/>
            <a:rect l="l" t="t" r="r" b="b"/>
            <a:pathLst>
              <a:path w="304800" h="1016000">
                <a:moveTo>
                  <a:pt x="304800" y="863599"/>
                </a:moveTo>
                <a:lnTo>
                  <a:pt x="0" y="863599"/>
                </a:lnTo>
                <a:lnTo>
                  <a:pt x="152400" y="1015999"/>
                </a:lnTo>
                <a:lnTo>
                  <a:pt x="304800" y="863599"/>
                </a:lnTo>
                <a:close/>
              </a:path>
              <a:path w="304800" h="1016000">
                <a:moveTo>
                  <a:pt x="228600" y="0"/>
                </a:moveTo>
                <a:lnTo>
                  <a:pt x="76200" y="0"/>
                </a:lnTo>
                <a:lnTo>
                  <a:pt x="76200" y="863599"/>
                </a:lnTo>
                <a:lnTo>
                  <a:pt x="228600" y="863599"/>
                </a:lnTo>
                <a:lnTo>
                  <a:pt x="228600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517355" y="4482754"/>
            <a:ext cx="421005" cy="1074420"/>
          </a:xfrm>
          <a:custGeom>
            <a:avLst/>
            <a:gdLst/>
            <a:ahLst/>
            <a:cxnLst/>
            <a:rect l="l" t="t" r="r" b="b"/>
            <a:pathLst>
              <a:path w="421004" h="1074420">
                <a:moveTo>
                  <a:pt x="310541" y="0"/>
                </a:moveTo>
                <a:lnTo>
                  <a:pt x="110142" y="0"/>
                </a:lnTo>
                <a:lnTo>
                  <a:pt x="110142" y="863600"/>
                </a:lnTo>
                <a:lnTo>
                  <a:pt x="0" y="863600"/>
                </a:lnTo>
                <a:lnTo>
                  <a:pt x="210341" y="1073939"/>
                </a:lnTo>
                <a:lnTo>
                  <a:pt x="251070" y="1033211"/>
                </a:lnTo>
                <a:lnTo>
                  <a:pt x="210341" y="1033211"/>
                </a:lnTo>
                <a:lnTo>
                  <a:pt x="69529" y="892399"/>
                </a:lnTo>
                <a:lnTo>
                  <a:pt x="138941" y="892399"/>
                </a:lnTo>
                <a:lnTo>
                  <a:pt x="138941" y="28799"/>
                </a:lnTo>
                <a:lnTo>
                  <a:pt x="310541" y="28799"/>
                </a:lnTo>
                <a:lnTo>
                  <a:pt x="310541" y="0"/>
                </a:lnTo>
                <a:close/>
              </a:path>
              <a:path w="421004" h="1074420">
                <a:moveTo>
                  <a:pt x="310541" y="28799"/>
                </a:moveTo>
                <a:lnTo>
                  <a:pt x="281741" y="28799"/>
                </a:lnTo>
                <a:lnTo>
                  <a:pt x="281741" y="892399"/>
                </a:lnTo>
                <a:lnTo>
                  <a:pt x="351153" y="892399"/>
                </a:lnTo>
                <a:lnTo>
                  <a:pt x="210341" y="1033211"/>
                </a:lnTo>
                <a:lnTo>
                  <a:pt x="251070" y="1033211"/>
                </a:lnTo>
                <a:lnTo>
                  <a:pt x="420682" y="863600"/>
                </a:lnTo>
                <a:lnTo>
                  <a:pt x="310541" y="863600"/>
                </a:lnTo>
                <a:lnTo>
                  <a:pt x="310541" y="28799"/>
                </a:lnTo>
                <a:close/>
              </a:path>
              <a:path w="421004" h="1074420">
                <a:moveTo>
                  <a:pt x="272141" y="38399"/>
                </a:moveTo>
                <a:lnTo>
                  <a:pt x="148541" y="38399"/>
                </a:lnTo>
                <a:lnTo>
                  <a:pt x="148541" y="901999"/>
                </a:lnTo>
                <a:lnTo>
                  <a:pt x="92706" y="901999"/>
                </a:lnTo>
                <a:lnTo>
                  <a:pt x="210341" y="1019634"/>
                </a:lnTo>
                <a:lnTo>
                  <a:pt x="223917" y="1006058"/>
                </a:lnTo>
                <a:lnTo>
                  <a:pt x="210341" y="1006058"/>
                </a:lnTo>
                <a:lnTo>
                  <a:pt x="115882" y="911599"/>
                </a:lnTo>
                <a:lnTo>
                  <a:pt x="158141" y="911599"/>
                </a:lnTo>
                <a:lnTo>
                  <a:pt x="158141" y="47999"/>
                </a:lnTo>
                <a:lnTo>
                  <a:pt x="272141" y="47999"/>
                </a:lnTo>
                <a:lnTo>
                  <a:pt x="272141" y="38399"/>
                </a:lnTo>
                <a:close/>
              </a:path>
              <a:path w="421004" h="1074420">
                <a:moveTo>
                  <a:pt x="272141" y="47999"/>
                </a:moveTo>
                <a:lnTo>
                  <a:pt x="262542" y="47999"/>
                </a:lnTo>
                <a:lnTo>
                  <a:pt x="262542" y="911599"/>
                </a:lnTo>
                <a:lnTo>
                  <a:pt x="304800" y="911599"/>
                </a:lnTo>
                <a:lnTo>
                  <a:pt x="210341" y="1006058"/>
                </a:lnTo>
                <a:lnTo>
                  <a:pt x="223917" y="1006058"/>
                </a:lnTo>
                <a:lnTo>
                  <a:pt x="327977" y="901999"/>
                </a:lnTo>
                <a:lnTo>
                  <a:pt x="272141" y="901999"/>
                </a:lnTo>
                <a:lnTo>
                  <a:pt x="272141" y="47999"/>
                </a:lnTo>
                <a:close/>
              </a:path>
            </a:pathLst>
          </a:custGeom>
          <a:solidFill>
            <a:srgbClr val="2461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14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751320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957184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0"/>
              <a:t>We </a:t>
            </a:r>
            <a:r>
              <a:rPr dirty="0" sz="3200" spc="-25"/>
              <a:t>have </a:t>
            </a:r>
            <a:r>
              <a:rPr dirty="0" sz="3200" spc="-20">
                <a:solidFill>
                  <a:srgbClr val="C00000"/>
                </a:solidFill>
              </a:rPr>
              <a:t>transformed graph generation  </a:t>
            </a:r>
            <a:r>
              <a:rPr dirty="0" sz="3200" spc="-10">
                <a:solidFill>
                  <a:srgbClr val="C00000"/>
                </a:solidFill>
              </a:rPr>
              <a:t>problem </a:t>
            </a:r>
            <a:r>
              <a:rPr dirty="0" sz="3200" spc="-20">
                <a:solidFill>
                  <a:srgbClr val="C00000"/>
                </a:solidFill>
              </a:rPr>
              <a:t>into </a:t>
            </a:r>
            <a:r>
              <a:rPr dirty="0" sz="3200">
                <a:solidFill>
                  <a:srgbClr val="C00000"/>
                </a:solidFill>
              </a:rPr>
              <a:t>a </a:t>
            </a:r>
            <a:r>
              <a:rPr dirty="0" sz="3200" spc="-5">
                <a:solidFill>
                  <a:srgbClr val="C00000"/>
                </a:solidFill>
              </a:rPr>
              <a:t>sequence </a:t>
            </a:r>
            <a:r>
              <a:rPr dirty="0" sz="3200" spc="-20">
                <a:solidFill>
                  <a:srgbClr val="C00000"/>
                </a:solidFill>
              </a:rPr>
              <a:t>generation</a:t>
            </a:r>
            <a:r>
              <a:rPr dirty="0" sz="3200" spc="40">
                <a:solidFill>
                  <a:srgbClr val="C00000"/>
                </a:solidFill>
              </a:rPr>
              <a:t> </a:t>
            </a:r>
            <a:r>
              <a:rPr dirty="0" sz="3200" spc="-10">
                <a:solidFill>
                  <a:srgbClr val="C00000"/>
                </a:solidFill>
              </a:rPr>
              <a:t>problem</a:t>
            </a:r>
            <a:endParaRPr sz="3200"/>
          </a:p>
        </p:txBody>
      </p:sp>
      <p:sp>
        <p:nvSpPr>
          <p:cNvPr id="5" name="object 5"/>
          <p:cNvSpPr txBox="1"/>
          <p:nvPr/>
        </p:nvSpPr>
        <p:spPr>
          <a:xfrm>
            <a:off x="938149" y="6193170"/>
            <a:ext cx="6078855" cy="6718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785"/>
              </a:lnSpc>
            </a:pP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(RNNs)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 spc="-5">
                <a:latin typeface="Calibri"/>
                <a:cs typeface="Calibri"/>
              </a:rPr>
              <a:t>model these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processes!</a:t>
            </a:r>
            <a:endParaRPr sz="3200">
              <a:latin typeface="Calibri"/>
              <a:cs typeface="Calibri"/>
            </a:endParaRPr>
          </a:p>
          <a:p>
            <a:pPr marL="1748155">
              <a:lnSpc>
                <a:spcPct val="100000"/>
              </a:lnSpc>
              <a:spcBef>
                <a:spcPts val="259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6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3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19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2698423"/>
            <a:ext cx="7660640" cy="3507104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9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Need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model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two</a:t>
            </a:r>
            <a:r>
              <a:rPr dirty="0" sz="3200" spc="-2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processes:</a:t>
            </a:r>
            <a:endParaRPr sz="3200">
              <a:latin typeface="Calibri"/>
              <a:cs typeface="Calibri"/>
            </a:endParaRPr>
          </a:p>
          <a:p>
            <a:pPr lvl="1" marL="625475" marR="2016125" indent="-274320">
              <a:lnSpc>
                <a:spcPts val="3310"/>
              </a:lnSpc>
              <a:spcBef>
                <a:spcPts val="90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b="1">
                <a:solidFill>
                  <a:srgbClr val="008000"/>
                </a:solidFill>
                <a:latin typeface="Calibri"/>
                <a:cs typeface="Calibri"/>
              </a:rPr>
              <a:t>1) </a:t>
            </a:r>
            <a:r>
              <a:rPr dirty="0" sz="2800" spc="-20">
                <a:solidFill>
                  <a:srgbClr val="008000"/>
                </a:solidFill>
                <a:latin typeface="Calibri"/>
                <a:cs typeface="Calibri"/>
              </a:rPr>
              <a:t>Generate </a:t>
            </a:r>
            <a:r>
              <a:rPr dirty="0" sz="2800">
                <a:solidFill>
                  <a:srgbClr val="008000"/>
                </a:solidFill>
                <a:latin typeface="Calibri"/>
                <a:cs typeface="Calibri"/>
              </a:rPr>
              <a:t>a </a:t>
            </a:r>
            <a:r>
              <a:rPr dirty="0" sz="2800" spc="-25">
                <a:solidFill>
                  <a:srgbClr val="008000"/>
                </a:solidFill>
                <a:latin typeface="Calibri"/>
                <a:cs typeface="Calibri"/>
              </a:rPr>
              <a:t>state for </a:t>
            </a:r>
            <a:r>
              <a:rPr dirty="0" sz="2800">
                <a:solidFill>
                  <a:srgbClr val="008000"/>
                </a:solidFill>
                <a:latin typeface="Calibri"/>
                <a:cs typeface="Calibri"/>
              </a:rPr>
              <a:t>a </a:t>
            </a:r>
            <a:r>
              <a:rPr dirty="0" sz="2800" spc="-10">
                <a:solidFill>
                  <a:srgbClr val="008000"/>
                </a:solidFill>
                <a:latin typeface="Calibri"/>
                <a:cs typeface="Calibri"/>
              </a:rPr>
              <a:t>new  </a:t>
            </a:r>
            <a:r>
              <a:rPr dirty="0" sz="2800" spc="-125">
                <a:solidFill>
                  <a:srgbClr val="008000"/>
                </a:solidFill>
                <a:latin typeface="Calibri"/>
                <a:cs typeface="Calibri"/>
              </a:rPr>
              <a:t>node </a:t>
            </a:r>
            <a:r>
              <a:rPr dirty="0" sz="2800" spc="-10">
                <a:solidFill>
                  <a:srgbClr val="008000"/>
                </a:solidFill>
                <a:latin typeface="Calibri"/>
                <a:cs typeface="Calibri"/>
              </a:rPr>
              <a:t>(Node-level</a:t>
            </a:r>
            <a:r>
              <a:rPr dirty="0" sz="2800" spc="8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008000"/>
                </a:solidFill>
                <a:latin typeface="Calibri"/>
                <a:cs typeface="Calibri"/>
              </a:rPr>
              <a:t>sequence)</a:t>
            </a:r>
            <a:endParaRPr sz="2800">
              <a:latin typeface="Calibri"/>
              <a:cs typeface="Calibri"/>
            </a:endParaRPr>
          </a:p>
          <a:p>
            <a:pPr lvl="1" marL="625475" marR="5080" indent="-274320">
              <a:lnSpc>
                <a:spcPct val="101400"/>
              </a:lnSpc>
              <a:spcBef>
                <a:spcPts val="47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b="1">
                <a:solidFill>
                  <a:srgbClr val="0000FF"/>
                </a:solidFill>
                <a:latin typeface="Calibri"/>
                <a:cs typeface="Calibri"/>
              </a:rPr>
              <a:t>2) </a:t>
            </a:r>
            <a:r>
              <a:rPr dirty="0" sz="2800" spc="-20">
                <a:solidFill>
                  <a:srgbClr val="0000FF"/>
                </a:solidFill>
                <a:latin typeface="Calibri"/>
                <a:cs typeface="Calibri"/>
              </a:rPr>
              <a:t>Generate </a:t>
            </a:r>
            <a:r>
              <a:rPr dirty="0" sz="2800" spc="-10">
                <a:solidFill>
                  <a:srgbClr val="0000FF"/>
                </a:solidFill>
                <a:latin typeface="Calibri"/>
                <a:cs typeface="Calibri"/>
              </a:rPr>
              <a:t>edges </a:t>
            </a:r>
            <a:r>
              <a:rPr dirty="0" sz="2800" spc="-25">
                <a:solidFill>
                  <a:srgbClr val="0000FF"/>
                </a:solidFill>
                <a:latin typeface="Calibri"/>
                <a:cs typeface="Calibri"/>
              </a:rPr>
              <a:t>for </a:t>
            </a:r>
            <a:r>
              <a:rPr dirty="0" sz="2800" spc="-5">
                <a:solidFill>
                  <a:srgbClr val="0000FF"/>
                </a:solidFill>
                <a:latin typeface="Calibri"/>
                <a:cs typeface="Calibri"/>
              </a:rPr>
              <a:t>the </a:t>
            </a:r>
            <a:r>
              <a:rPr dirty="0" sz="2800" spc="-10">
                <a:solidFill>
                  <a:srgbClr val="0000FF"/>
                </a:solidFill>
                <a:latin typeface="Calibri"/>
                <a:cs typeface="Calibri"/>
              </a:rPr>
              <a:t>new </a:t>
            </a:r>
            <a:r>
              <a:rPr dirty="0" sz="2800" spc="-5">
                <a:solidFill>
                  <a:srgbClr val="0000FF"/>
                </a:solidFill>
                <a:latin typeface="Calibri"/>
                <a:cs typeface="Calibri"/>
              </a:rPr>
              <a:t>node based on </a:t>
            </a:r>
            <a:r>
              <a:rPr dirty="0" sz="2800" spc="-204">
                <a:solidFill>
                  <a:srgbClr val="0000FF"/>
                </a:solidFill>
                <a:latin typeface="Calibri"/>
                <a:cs typeface="Calibri"/>
              </a:rPr>
              <a:t>its  </a:t>
            </a:r>
            <a:r>
              <a:rPr dirty="0" sz="2800" spc="-30">
                <a:solidFill>
                  <a:srgbClr val="0000FF"/>
                </a:solidFill>
                <a:latin typeface="Calibri"/>
                <a:cs typeface="Calibri"/>
              </a:rPr>
              <a:t>state </a:t>
            </a:r>
            <a:r>
              <a:rPr dirty="0" sz="2800" spc="-15">
                <a:solidFill>
                  <a:srgbClr val="0000FF"/>
                </a:solidFill>
                <a:latin typeface="Calibri"/>
                <a:cs typeface="Calibri"/>
              </a:rPr>
              <a:t>(Edge-level</a:t>
            </a:r>
            <a:r>
              <a:rPr dirty="0" sz="2800" spc="-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0000FF"/>
                </a:solidFill>
                <a:latin typeface="Calibri"/>
                <a:cs typeface="Calibri"/>
              </a:rPr>
              <a:t>sequence)</a:t>
            </a:r>
            <a:endParaRPr sz="2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Clr>
                <a:srgbClr val="60B5CC"/>
              </a:buClr>
              <a:buFont typeface="Malgun Gothic"/>
              <a:buChar char="▪"/>
            </a:pPr>
            <a:endParaRPr sz="35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latin typeface="Calibri"/>
                <a:cs typeface="Calibri"/>
              </a:rPr>
              <a:t>Approach</a:t>
            </a:r>
            <a:r>
              <a:rPr dirty="0" sz="3200" spc="-10">
                <a:latin typeface="Calibri"/>
                <a:cs typeface="Calibri"/>
              </a:rPr>
              <a:t>: </a:t>
            </a:r>
            <a:r>
              <a:rPr dirty="0" sz="3200" spc="-5">
                <a:latin typeface="Calibri"/>
                <a:cs typeface="Calibri"/>
              </a:rPr>
              <a:t>Use </a:t>
            </a:r>
            <a:r>
              <a:rPr dirty="0" sz="3200" spc="-20" b="1">
                <a:solidFill>
                  <a:srgbClr val="C00000"/>
                </a:solidFill>
                <a:latin typeface="Calibri"/>
                <a:cs typeface="Calibri"/>
              </a:rPr>
              <a:t>Recurrent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Neural</a:t>
            </a:r>
            <a:r>
              <a:rPr dirty="0" sz="3200" spc="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Networks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82447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71766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Malgun Gothic"/>
              <a:buChar char="▪"/>
              <a:tabLst>
                <a:tab pos="332740" algn="l"/>
              </a:tabLst>
            </a:pPr>
            <a:r>
              <a:rPr dirty="0" sz="3200" spc="-5" b="0">
                <a:latin typeface="Calibri"/>
                <a:cs typeface="Calibri"/>
              </a:rPr>
              <a:t>RNNs </a:t>
            </a:r>
            <a:r>
              <a:rPr dirty="0" sz="3200" spc="-20" b="0">
                <a:latin typeface="Calibri"/>
                <a:cs typeface="Calibri"/>
              </a:rPr>
              <a:t>are </a:t>
            </a:r>
            <a:r>
              <a:rPr dirty="0" sz="3200" spc="-5" b="0">
                <a:latin typeface="Calibri"/>
                <a:cs typeface="Calibri"/>
              </a:rPr>
              <a:t>designed </a:t>
            </a:r>
            <a:r>
              <a:rPr dirty="0" sz="3200" spc="-25" b="0">
                <a:latin typeface="Calibri"/>
                <a:cs typeface="Calibri"/>
              </a:rPr>
              <a:t>for </a:t>
            </a:r>
            <a:r>
              <a:rPr dirty="0" sz="3200" spc="-10">
                <a:solidFill>
                  <a:srgbClr val="C00000"/>
                </a:solidFill>
              </a:rPr>
              <a:t>sequential</a:t>
            </a:r>
            <a:r>
              <a:rPr dirty="0" sz="3200" spc="60">
                <a:solidFill>
                  <a:srgbClr val="C00000"/>
                </a:solidFill>
              </a:rPr>
              <a:t> </a:t>
            </a:r>
            <a:r>
              <a:rPr dirty="0" sz="3200" spc="-80">
                <a:solidFill>
                  <a:srgbClr val="C00000"/>
                </a:solidFill>
              </a:rPr>
              <a:t>data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1920747"/>
            <a:ext cx="7462520" cy="232981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87020" marR="5080" indent="-274320">
              <a:lnSpc>
                <a:spcPct val="100699"/>
              </a:lnSpc>
              <a:spcBef>
                <a:spcPts val="7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>
                <a:latin typeface="Calibri"/>
                <a:cs typeface="Calibri"/>
              </a:rPr>
              <a:t>RNN </a:t>
            </a:r>
            <a:r>
              <a:rPr dirty="0" sz="2800" spc="-10">
                <a:latin typeface="Calibri"/>
                <a:cs typeface="Calibri"/>
              </a:rPr>
              <a:t>sequentially </a:t>
            </a:r>
            <a:r>
              <a:rPr dirty="0" sz="2800" spc="-30">
                <a:latin typeface="Calibri"/>
                <a:cs typeface="Calibri"/>
              </a:rPr>
              <a:t>takes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input sequence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114" b="1">
                <a:latin typeface="Calibri"/>
                <a:cs typeface="Calibri"/>
              </a:rPr>
              <a:t>update  </a:t>
            </a:r>
            <a:r>
              <a:rPr dirty="0" sz="2800" spc="-5" b="1">
                <a:latin typeface="Calibri"/>
                <a:cs typeface="Calibri"/>
              </a:rPr>
              <a:t>its </a:t>
            </a:r>
            <a:r>
              <a:rPr dirty="0" sz="2800" spc="-5" b="1">
                <a:solidFill>
                  <a:srgbClr val="479249"/>
                </a:solidFill>
                <a:latin typeface="Calibri"/>
                <a:cs typeface="Calibri"/>
              </a:rPr>
              <a:t>hidden</a:t>
            </a:r>
            <a:r>
              <a:rPr dirty="0" sz="2800" spc="-40" b="1">
                <a:solidFill>
                  <a:srgbClr val="479249"/>
                </a:solidFill>
                <a:latin typeface="Calibri"/>
                <a:cs typeface="Calibri"/>
              </a:rPr>
              <a:t> </a:t>
            </a:r>
            <a:r>
              <a:rPr dirty="0" sz="2800" spc="-25" b="1">
                <a:solidFill>
                  <a:srgbClr val="479249"/>
                </a:solidFill>
                <a:latin typeface="Calibri"/>
                <a:cs typeface="Calibri"/>
              </a:rPr>
              <a:t>states</a:t>
            </a:r>
            <a:endParaRPr sz="2800">
              <a:latin typeface="Calibri"/>
              <a:cs typeface="Calibri"/>
            </a:endParaRPr>
          </a:p>
          <a:p>
            <a:pPr marL="287020" marR="149860" indent="-274320">
              <a:lnSpc>
                <a:spcPct val="101400"/>
              </a:lnSpc>
              <a:spcBef>
                <a:spcPts val="6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5" b="1">
                <a:solidFill>
                  <a:srgbClr val="479249"/>
                </a:solidFill>
                <a:latin typeface="Calibri"/>
                <a:cs typeface="Calibri"/>
              </a:rPr>
              <a:t>hidden </a:t>
            </a:r>
            <a:r>
              <a:rPr dirty="0" sz="2800" spc="-25" b="1">
                <a:solidFill>
                  <a:srgbClr val="479249"/>
                </a:solidFill>
                <a:latin typeface="Calibri"/>
                <a:cs typeface="Calibri"/>
              </a:rPr>
              <a:t>states </a:t>
            </a:r>
            <a:r>
              <a:rPr dirty="0" sz="2800" spc="-15">
                <a:latin typeface="Calibri"/>
                <a:cs typeface="Calibri"/>
              </a:rPr>
              <a:t>summarize </a:t>
            </a:r>
            <a:r>
              <a:rPr dirty="0" sz="2800" spc="-5">
                <a:latin typeface="Calibri"/>
                <a:cs typeface="Calibri"/>
              </a:rPr>
              <a:t>all the </a:t>
            </a:r>
            <a:r>
              <a:rPr dirty="0" sz="2800" spc="-70">
                <a:latin typeface="Calibri"/>
                <a:cs typeface="Calibri"/>
              </a:rPr>
              <a:t>information  </a:t>
            </a:r>
            <a:r>
              <a:rPr dirty="0" sz="2800" spc="-5">
                <a:latin typeface="Calibri"/>
                <a:cs typeface="Calibri"/>
              </a:rPr>
              <a:t>input </a:t>
            </a:r>
            <a:r>
              <a:rPr dirty="0" sz="2800" spc="-15">
                <a:latin typeface="Calibri"/>
                <a:cs typeface="Calibri"/>
              </a:rPr>
              <a:t>to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RNN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2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5">
                <a:latin typeface="Calibri"/>
                <a:cs typeface="Calibri"/>
              </a:rPr>
              <a:t>update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 spc="-10">
                <a:latin typeface="Calibri"/>
                <a:cs typeface="Calibri"/>
              </a:rPr>
              <a:t>conducted </a:t>
            </a:r>
            <a:r>
              <a:rPr dirty="0" sz="2800" spc="-5">
                <a:latin typeface="Calibri"/>
                <a:cs typeface="Calibri"/>
              </a:rPr>
              <a:t>via </a:t>
            </a:r>
            <a:r>
              <a:rPr dirty="0" sz="2800" spc="-5" b="1">
                <a:solidFill>
                  <a:srgbClr val="F0AD00"/>
                </a:solidFill>
                <a:latin typeface="Calibri"/>
                <a:cs typeface="Calibri"/>
              </a:rPr>
              <a:t>RNN</a:t>
            </a:r>
            <a:r>
              <a:rPr dirty="0" sz="2800" spc="15" b="1">
                <a:solidFill>
                  <a:srgbClr val="F0AD0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F0AD00"/>
                </a:solidFill>
                <a:latin typeface="Calibri"/>
                <a:cs typeface="Calibri"/>
              </a:rPr>
              <a:t>cells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4227" y="6694423"/>
            <a:ext cx="3435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3/2/21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73615" y="6694423"/>
            <a:ext cx="402780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5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19697" y="6694423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22415" y="5078506"/>
            <a:ext cx="1059180" cy="762000"/>
          </a:xfrm>
          <a:prstGeom prst="rect">
            <a:avLst/>
          </a:prstGeom>
          <a:solidFill>
            <a:srgbClr val="F0AD00"/>
          </a:solidFill>
          <a:ln w="48000">
            <a:solidFill>
              <a:srgbClr val="B07E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2615"/>
              </a:lnSpc>
            </a:pP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400">
              <a:latin typeface="Corbel"/>
              <a:cs typeface="Corbel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cell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48574" y="5944530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154974" y="103316"/>
                </a:moveTo>
                <a:lnTo>
                  <a:pt x="51658" y="103316"/>
                </a:lnTo>
                <a:lnTo>
                  <a:pt x="51658" y="322301"/>
                </a:lnTo>
                <a:lnTo>
                  <a:pt x="154974" y="322301"/>
                </a:lnTo>
                <a:lnTo>
                  <a:pt x="154974" y="103316"/>
                </a:lnTo>
                <a:close/>
              </a:path>
              <a:path w="207010" h="322579">
                <a:moveTo>
                  <a:pt x="103317" y="0"/>
                </a:moveTo>
                <a:lnTo>
                  <a:pt x="0" y="103316"/>
                </a:lnTo>
                <a:lnTo>
                  <a:pt x="206632" y="103316"/>
                </a:lnTo>
                <a:lnTo>
                  <a:pt x="103317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548574" y="5944530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51658" y="322302"/>
                </a:moveTo>
                <a:lnTo>
                  <a:pt x="51658" y="103316"/>
                </a:lnTo>
                <a:lnTo>
                  <a:pt x="0" y="103316"/>
                </a:lnTo>
                <a:lnTo>
                  <a:pt x="103316" y="0"/>
                </a:lnTo>
                <a:lnTo>
                  <a:pt x="206633" y="103316"/>
                </a:lnTo>
                <a:lnTo>
                  <a:pt x="154974" y="103316"/>
                </a:lnTo>
                <a:lnTo>
                  <a:pt x="154974" y="322302"/>
                </a:lnTo>
                <a:lnTo>
                  <a:pt x="51658" y="322302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714205" y="5402355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80" h="207010">
                <a:moveTo>
                  <a:pt x="218986" y="0"/>
                </a:moveTo>
                <a:lnTo>
                  <a:pt x="218986" y="51657"/>
                </a:lnTo>
                <a:lnTo>
                  <a:pt x="0" y="51657"/>
                </a:lnTo>
                <a:lnTo>
                  <a:pt x="0" y="154974"/>
                </a:lnTo>
                <a:lnTo>
                  <a:pt x="218986" y="154974"/>
                </a:lnTo>
                <a:lnTo>
                  <a:pt x="218986" y="206632"/>
                </a:lnTo>
                <a:lnTo>
                  <a:pt x="322301" y="103315"/>
                </a:lnTo>
                <a:lnTo>
                  <a:pt x="218986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714205" y="5402355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80" h="207010">
                <a:moveTo>
                  <a:pt x="0" y="51658"/>
                </a:moveTo>
                <a:lnTo>
                  <a:pt x="218985" y="51658"/>
                </a:lnTo>
                <a:lnTo>
                  <a:pt x="218985" y="0"/>
                </a:lnTo>
                <a:lnTo>
                  <a:pt x="322302" y="103316"/>
                </a:lnTo>
                <a:lnTo>
                  <a:pt x="218985" y="206633"/>
                </a:lnTo>
                <a:lnTo>
                  <a:pt x="218985" y="154974"/>
                </a:lnTo>
                <a:lnTo>
                  <a:pt x="0" y="154974"/>
                </a:lnTo>
                <a:lnTo>
                  <a:pt x="0" y="51658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267276" y="5402353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79" h="207010">
                <a:moveTo>
                  <a:pt x="218984" y="0"/>
                </a:moveTo>
                <a:lnTo>
                  <a:pt x="218984" y="51658"/>
                </a:lnTo>
                <a:lnTo>
                  <a:pt x="0" y="51658"/>
                </a:lnTo>
                <a:lnTo>
                  <a:pt x="0" y="154974"/>
                </a:lnTo>
                <a:lnTo>
                  <a:pt x="218984" y="154974"/>
                </a:lnTo>
                <a:lnTo>
                  <a:pt x="218984" y="206633"/>
                </a:lnTo>
                <a:lnTo>
                  <a:pt x="322301" y="103317"/>
                </a:lnTo>
                <a:lnTo>
                  <a:pt x="218984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267276" y="5402353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79" h="207010">
                <a:moveTo>
                  <a:pt x="0" y="51658"/>
                </a:moveTo>
                <a:lnTo>
                  <a:pt x="218985" y="51658"/>
                </a:lnTo>
                <a:lnTo>
                  <a:pt x="218985" y="0"/>
                </a:lnTo>
                <a:lnTo>
                  <a:pt x="322302" y="103316"/>
                </a:lnTo>
                <a:lnTo>
                  <a:pt x="218985" y="206633"/>
                </a:lnTo>
                <a:lnTo>
                  <a:pt x="218985" y="154974"/>
                </a:lnTo>
                <a:lnTo>
                  <a:pt x="0" y="154974"/>
                </a:lnTo>
                <a:lnTo>
                  <a:pt x="0" y="51658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548574" y="4669370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154974" y="103317"/>
                </a:moveTo>
                <a:lnTo>
                  <a:pt x="51658" y="103317"/>
                </a:lnTo>
                <a:lnTo>
                  <a:pt x="51658" y="322301"/>
                </a:lnTo>
                <a:lnTo>
                  <a:pt x="154974" y="322301"/>
                </a:lnTo>
                <a:lnTo>
                  <a:pt x="154974" y="103317"/>
                </a:lnTo>
                <a:close/>
              </a:path>
              <a:path w="207010" h="322579">
                <a:moveTo>
                  <a:pt x="103317" y="0"/>
                </a:moveTo>
                <a:lnTo>
                  <a:pt x="0" y="103317"/>
                </a:lnTo>
                <a:lnTo>
                  <a:pt x="206632" y="103317"/>
                </a:lnTo>
                <a:lnTo>
                  <a:pt x="103317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548574" y="4669370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51658" y="322302"/>
                </a:moveTo>
                <a:lnTo>
                  <a:pt x="51658" y="103316"/>
                </a:lnTo>
                <a:lnTo>
                  <a:pt x="0" y="103316"/>
                </a:lnTo>
                <a:lnTo>
                  <a:pt x="103316" y="0"/>
                </a:lnTo>
                <a:lnTo>
                  <a:pt x="206633" y="103316"/>
                </a:lnTo>
                <a:lnTo>
                  <a:pt x="154974" y="103316"/>
                </a:lnTo>
                <a:lnTo>
                  <a:pt x="154974" y="322302"/>
                </a:lnTo>
                <a:lnTo>
                  <a:pt x="51658" y="322302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718616" y="5248147"/>
            <a:ext cx="2844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14">
                <a:solidFill>
                  <a:srgbClr val="008000"/>
                </a:solidFill>
                <a:latin typeface="Cambria Math"/>
                <a:cs typeface="Cambria Math"/>
              </a:rPr>
              <a:t>𝑠</a:t>
            </a:r>
            <a:r>
              <a:rPr dirty="0" baseline="-15432" sz="2700" spc="427">
                <a:solidFill>
                  <a:srgbClr val="008000"/>
                </a:solidFill>
                <a:latin typeface="Cambria Math"/>
                <a:cs typeface="Cambria Math"/>
              </a:rPr>
              <a:t>(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32447" y="5078506"/>
            <a:ext cx="1059180" cy="762000"/>
          </a:xfrm>
          <a:prstGeom prst="rect">
            <a:avLst/>
          </a:prstGeom>
          <a:solidFill>
            <a:srgbClr val="F0AD00"/>
          </a:solidFill>
          <a:ln w="48000">
            <a:solidFill>
              <a:srgbClr val="B07E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2615"/>
              </a:lnSpc>
            </a:pP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400">
              <a:latin typeface="Corbel"/>
              <a:cs typeface="Corbel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cell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20795" y="6302755"/>
            <a:ext cx="27158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11095" algn="l"/>
              </a:tabLst>
            </a:pPr>
            <a:r>
              <a:rPr dirty="0" sz="2400" spc="-85">
                <a:solidFill>
                  <a:srgbClr val="0070C0"/>
                </a:solidFill>
                <a:latin typeface="Cambria Math"/>
                <a:cs typeface="Cambria Math"/>
              </a:rPr>
              <a:t>𝑥</a:t>
            </a:r>
            <a:r>
              <a:rPr dirty="0" baseline="-13888" sz="2700" spc="427">
                <a:solidFill>
                  <a:srgbClr val="0070C0"/>
                </a:solidFill>
                <a:latin typeface="Cambria Math"/>
                <a:cs typeface="Cambria Math"/>
              </a:rPr>
              <a:t>(</a:t>
            </a:r>
            <a:r>
              <a:rPr dirty="0" baseline="-13888" sz="2700">
                <a:solidFill>
                  <a:srgbClr val="0070C0"/>
                </a:solidFill>
                <a:latin typeface="Cambria Math"/>
                <a:cs typeface="Cambria Math"/>
              </a:rPr>
              <a:t>	</a:t>
            </a:r>
            <a:r>
              <a:rPr dirty="0" sz="2400" spc="-30">
                <a:solidFill>
                  <a:srgbClr val="0070C0"/>
                </a:solidFill>
                <a:latin typeface="Cambria Math"/>
                <a:cs typeface="Cambria Math"/>
              </a:rPr>
              <a:t>𝑥</a:t>
            </a:r>
            <a:r>
              <a:rPr dirty="0" baseline="-15432" sz="2700" spc="997">
                <a:solidFill>
                  <a:srgbClr val="0070C0"/>
                </a:solidFill>
                <a:latin typeface="Cambria Math"/>
                <a:cs typeface="Cambria Math"/>
              </a:rPr>
              <a:t>,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958607" y="5944530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154974" y="103316"/>
                </a:moveTo>
                <a:lnTo>
                  <a:pt x="51658" y="103316"/>
                </a:lnTo>
                <a:lnTo>
                  <a:pt x="51658" y="322301"/>
                </a:lnTo>
                <a:lnTo>
                  <a:pt x="154974" y="322301"/>
                </a:lnTo>
                <a:lnTo>
                  <a:pt x="154974" y="103316"/>
                </a:lnTo>
                <a:close/>
              </a:path>
              <a:path w="207010" h="322579">
                <a:moveTo>
                  <a:pt x="103315" y="0"/>
                </a:moveTo>
                <a:lnTo>
                  <a:pt x="0" y="103316"/>
                </a:lnTo>
                <a:lnTo>
                  <a:pt x="206632" y="103316"/>
                </a:lnTo>
                <a:lnTo>
                  <a:pt x="10331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958607" y="5944530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51658" y="322302"/>
                </a:moveTo>
                <a:lnTo>
                  <a:pt x="51658" y="103316"/>
                </a:lnTo>
                <a:lnTo>
                  <a:pt x="0" y="103316"/>
                </a:lnTo>
                <a:lnTo>
                  <a:pt x="103316" y="0"/>
                </a:lnTo>
                <a:lnTo>
                  <a:pt x="206633" y="103316"/>
                </a:lnTo>
                <a:lnTo>
                  <a:pt x="154974" y="103316"/>
                </a:lnTo>
                <a:lnTo>
                  <a:pt x="154974" y="322302"/>
                </a:lnTo>
                <a:lnTo>
                  <a:pt x="51658" y="322302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124239" y="5402355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79" h="207010">
                <a:moveTo>
                  <a:pt x="218984" y="0"/>
                </a:moveTo>
                <a:lnTo>
                  <a:pt x="218984" y="51657"/>
                </a:lnTo>
                <a:lnTo>
                  <a:pt x="0" y="51657"/>
                </a:lnTo>
                <a:lnTo>
                  <a:pt x="0" y="154974"/>
                </a:lnTo>
                <a:lnTo>
                  <a:pt x="218984" y="154974"/>
                </a:lnTo>
                <a:lnTo>
                  <a:pt x="218984" y="206632"/>
                </a:lnTo>
                <a:lnTo>
                  <a:pt x="322301" y="103315"/>
                </a:lnTo>
                <a:lnTo>
                  <a:pt x="218984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124239" y="5402355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79" h="207010">
                <a:moveTo>
                  <a:pt x="0" y="51658"/>
                </a:moveTo>
                <a:lnTo>
                  <a:pt x="218985" y="51658"/>
                </a:lnTo>
                <a:lnTo>
                  <a:pt x="218985" y="0"/>
                </a:lnTo>
                <a:lnTo>
                  <a:pt x="322302" y="103316"/>
                </a:lnTo>
                <a:lnTo>
                  <a:pt x="218985" y="206633"/>
                </a:lnTo>
                <a:lnTo>
                  <a:pt x="218985" y="154974"/>
                </a:lnTo>
                <a:lnTo>
                  <a:pt x="0" y="154974"/>
                </a:lnTo>
                <a:lnTo>
                  <a:pt x="0" y="51658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677309" y="5402353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79" h="207010">
                <a:moveTo>
                  <a:pt x="218984" y="0"/>
                </a:moveTo>
                <a:lnTo>
                  <a:pt x="218984" y="51658"/>
                </a:lnTo>
                <a:lnTo>
                  <a:pt x="0" y="51658"/>
                </a:lnTo>
                <a:lnTo>
                  <a:pt x="0" y="154974"/>
                </a:lnTo>
                <a:lnTo>
                  <a:pt x="218984" y="154974"/>
                </a:lnTo>
                <a:lnTo>
                  <a:pt x="218984" y="206633"/>
                </a:lnTo>
                <a:lnTo>
                  <a:pt x="322301" y="103317"/>
                </a:lnTo>
                <a:lnTo>
                  <a:pt x="218984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677309" y="5402353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79" h="207010">
                <a:moveTo>
                  <a:pt x="0" y="51658"/>
                </a:moveTo>
                <a:lnTo>
                  <a:pt x="218985" y="51658"/>
                </a:lnTo>
                <a:lnTo>
                  <a:pt x="218985" y="0"/>
                </a:lnTo>
                <a:lnTo>
                  <a:pt x="322302" y="103316"/>
                </a:lnTo>
                <a:lnTo>
                  <a:pt x="218985" y="206633"/>
                </a:lnTo>
                <a:lnTo>
                  <a:pt x="218985" y="154974"/>
                </a:lnTo>
                <a:lnTo>
                  <a:pt x="0" y="154974"/>
                </a:lnTo>
                <a:lnTo>
                  <a:pt x="0" y="51658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958607" y="4669370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154974" y="103317"/>
                </a:moveTo>
                <a:lnTo>
                  <a:pt x="51658" y="103317"/>
                </a:lnTo>
                <a:lnTo>
                  <a:pt x="51658" y="322301"/>
                </a:lnTo>
                <a:lnTo>
                  <a:pt x="154974" y="322301"/>
                </a:lnTo>
                <a:lnTo>
                  <a:pt x="154974" y="103317"/>
                </a:lnTo>
                <a:close/>
              </a:path>
              <a:path w="207010" h="322579">
                <a:moveTo>
                  <a:pt x="103315" y="0"/>
                </a:moveTo>
                <a:lnTo>
                  <a:pt x="0" y="103317"/>
                </a:lnTo>
                <a:lnTo>
                  <a:pt x="206632" y="103317"/>
                </a:lnTo>
                <a:lnTo>
                  <a:pt x="10331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958607" y="4669370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51658" y="322302"/>
                </a:moveTo>
                <a:lnTo>
                  <a:pt x="51658" y="103316"/>
                </a:lnTo>
                <a:lnTo>
                  <a:pt x="0" y="103316"/>
                </a:lnTo>
                <a:lnTo>
                  <a:pt x="103316" y="0"/>
                </a:lnTo>
                <a:lnTo>
                  <a:pt x="206633" y="103316"/>
                </a:lnTo>
                <a:lnTo>
                  <a:pt x="154974" y="103316"/>
                </a:lnTo>
                <a:lnTo>
                  <a:pt x="154974" y="322302"/>
                </a:lnTo>
                <a:lnTo>
                  <a:pt x="51658" y="322302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3492553" y="4245355"/>
            <a:ext cx="27285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21890" algn="l"/>
              </a:tabLst>
            </a:pPr>
            <a:r>
              <a:rPr dirty="0" sz="2400" spc="-135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baseline="-15432" sz="2700" spc="427">
                <a:solidFill>
                  <a:srgbClr val="C00000"/>
                </a:solidFill>
                <a:latin typeface="Cambria Math"/>
                <a:cs typeface="Cambria Math"/>
              </a:rPr>
              <a:t>(</a:t>
            </a:r>
            <a:r>
              <a:rPr dirty="0" baseline="-15432" sz="270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dirty="0" sz="2400" spc="-8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baseline="-15432" sz="2700" spc="997">
                <a:solidFill>
                  <a:srgbClr val="C00000"/>
                </a:solidFill>
                <a:latin typeface="Cambria Math"/>
                <a:cs typeface="Cambria Math"/>
              </a:rPr>
              <a:t>,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119970" y="5248147"/>
            <a:ext cx="7594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dirty="0" sz="2400" spc="-55">
                <a:solidFill>
                  <a:srgbClr val="008000"/>
                </a:solidFill>
                <a:latin typeface="Cambria Math"/>
                <a:cs typeface="Cambria Math"/>
              </a:rPr>
              <a:t>𝑠</a:t>
            </a:r>
            <a:r>
              <a:rPr dirty="0" baseline="-15432" sz="2700" spc="997">
                <a:solidFill>
                  <a:srgbClr val="008000"/>
                </a:solidFill>
                <a:latin typeface="Cambria Math"/>
                <a:cs typeface="Cambria Math"/>
              </a:rPr>
              <a:t>,</a:t>
            </a:r>
            <a:r>
              <a:rPr dirty="0" baseline="-15432" sz="2700">
                <a:solidFill>
                  <a:srgbClr val="008000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…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34214" y="6341364"/>
            <a:ext cx="172148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0070C0"/>
                </a:solidFill>
                <a:latin typeface="Calibri"/>
                <a:cs typeface="Calibri"/>
              </a:rPr>
              <a:t>Input</a:t>
            </a:r>
            <a:r>
              <a:rPr dirty="0" sz="2000" spc="-11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70C0"/>
                </a:solidFill>
                <a:latin typeface="Calibri"/>
                <a:cs typeface="Calibri"/>
              </a:rPr>
              <a:t>sequence: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56388" y="4290059"/>
            <a:ext cx="191262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Output</a:t>
            </a:r>
            <a:r>
              <a:rPr dirty="0" sz="2000" spc="-8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sequence: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02895" y="5257291"/>
            <a:ext cx="2006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27200" algn="l"/>
              </a:tabLst>
            </a:pPr>
            <a:r>
              <a:rPr dirty="0" sz="2000" b="1">
                <a:solidFill>
                  <a:srgbClr val="008000"/>
                </a:solidFill>
                <a:latin typeface="Calibri"/>
                <a:cs typeface="Calibri"/>
              </a:rPr>
              <a:t>H</a:t>
            </a:r>
            <a:r>
              <a:rPr dirty="0" sz="2000" spc="-10" b="1">
                <a:solidFill>
                  <a:srgbClr val="008000"/>
                </a:solidFill>
                <a:latin typeface="Calibri"/>
                <a:cs typeface="Calibri"/>
              </a:rPr>
              <a:t>i</a:t>
            </a:r>
            <a:r>
              <a:rPr dirty="0" sz="2000" b="1">
                <a:solidFill>
                  <a:srgbClr val="008000"/>
                </a:solidFill>
                <a:latin typeface="Calibri"/>
                <a:cs typeface="Calibri"/>
              </a:rPr>
              <a:t>dd</a:t>
            </a:r>
            <a:r>
              <a:rPr dirty="0" sz="2000" spc="0" b="1">
                <a:solidFill>
                  <a:srgbClr val="008000"/>
                </a:solidFill>
                <a:latin typeface="Calibri"/>
                <a:cs typeface="Calibri"/>
              </a:rPr>
              <a:t>e</a:t>
            </a:r>
            <a:r>
              <a:rPr dirty="0" sz="2000" b="1">
                <a:solidFill>
                  <a:srgbClr val="008000"/>
                </a:solidFill>
                <a:latin typeface="Calibri"/>
                <a:cs typeface="Calibri"/>
              </a:rPr>
              <a:t>n </a:t>
            </a:r>
            <a:r>
              <a:rPr dirty="0" sz="2000" spc="-25" b="1">
                <a:solidFill>
                  <a:srgbClr val="008000"/>
                </a:solidFill>
                <a:latin typeface="Calibri"/>
                <a:cs typeface="Calibri"/>
              </a:rPr>
              <a:t>st</a:t>
            </a:r>
            <a:r>
              <a:rPr dirty="0" sz="2000" spc="-20" b="1">
                <a:solidFill>
                  <a:srgbClr val="008000"/>
                </a:solidFill>
                <a:latin typeface="Calibri"/>
                <a:cs typeface="Calibri"/>
              </a:rPr>
              <a:t>a</a:t>
            </a:r>
            <a:r>
              <a:rPr dirty="0" sz="2000" spc="-35" b="1">
                <a:solidFill>
                  <a:srgbClr val="008000"/>
                </a:solidFill>
                <a:latin typeface="Calibri"/>
                <a:cs typeface="Calibri"/>
              </a:rPr>
              <a:t>t</a:t>
            </a:r>
            <a:r>
              <a:rPr dirty="0" sz="2000" spc="0" b="1">
                <a:solidFill>
                  <a:srgbClr val="008000"/>
                </a:solidFill>
                <a:latin typeface="Calibri"/>
                <a:cs typeface="Calibri"/>
              </a:rPr>
              <a:t>e</a:t>
            </a:r>
            <a:r>
              <a:rPr dirty="0" sz="2000" b="1">
                <a:solidFill>
                  <a:srgbClr val="008000"/>
                </a:solidFill>
                <a:latin typeface="Calibri"/>
                <a:cs typeface="Calibri"/>
              </a:rPr>
              <a:t>s:	</a:t>
            </a:r>
            <a:r>
              <a:rPr dirty="0" baseline="1157" sz="3600" spc="-82">
                <a:solidFill>
                  <a:srgbClr val="008000"/>
                </a:solidFill>
                <a:latin typeface="Cambria Math"/>
                <a:cs typeface="Cambria Math"/>
              </a:rPr>
              <a:t>𝑠</a:t>
            </a:r>
            <a:r>
              <a:rPr dirty="0" baseline="-12345" sz="2700" spc="52">
                <a:solidFill>
                  <a:srgbClr val="008000"/>
                </a:solidFill>
                <a:latin typeface="Cambria Math"/>
                <a:cs typeface="Cambria Math"/>
              </a:rPr>
              <a:t>1</a:t>
            </a:r>
            <a:endParaRPr baseline="-12345" sz="27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82447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75588"/>
            <a:ext cx="4944110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30" b="0">
                <a:solidFill>
                  <a:srgbClr val="008000"/>
                </a:solidFill>
                <a:latin typeface="Cambria Math"/>
                <a:cs typeface="Cambria Math"/>
              </a:rPr>
              <a:t>𝑠</a:t>
            </a:r>
            <a:r>
              <a:rPr dirty="0" baseline="-15700" sz="3450" spc="44" b="0">
                <a:solidFill>
                  <a:srgbClr val="008000"/>
                </a:solidFill>
                <a:latin typeface="Cambria Math"/>
                <a:cs typeface="Cambria Math"/>
              </a:rPr>
              <a:t>)</a:t>
            </a:r>
            <a:r>
              <a:rPr dirty="0" sz="3200" spc="30" b="0">
                <a:latin typeface="Calibri"/>
                <a:cs typeface="Calibri"/>
              </a:rPr>
              <a:t>: </a:t>
            </a:r>
            <a:r>
              <a:rPr dirty="0" sz="3200" spc="-25"/>
              <a:t>State </a:t>
            </a:r>
            <a:r>
              <a:rPr dirty="0" sz="3200" spc="-5" b="0">
                <a:latin typeface="Calibri"/>
                <a:cs typeface="Calibri"/>
              </a:rPr>
              <a:t>of RNN </a:t>
            </a:r>
            <a:r>
              <a:rPr dirty="0" sz="3200" spc="-15" b="0">
                <a:latin typeface="Calibri"/>
                <a:cs typeface="Calibri"/>
              </a:rPr>
              <a:t>after </a:t>
            </a:r>
            <a:r>
              <a:rPr dirty="0" sz="3200" spc="-20" b="0">
                <a:latin typeface="Calibri"/>
                <a:cs typeface="Calibri"/>
              </a:rPr>
              <a:t>step</a:t>
            </a:r>
            <a:r>
              <a:rPr dirty="0" sz="3200" spc="-30" b="0">
                <a:latin typeface="Calibri"/>
                <a:cs typeface="Calibri"/>
              </a:rPr>
              <a:t> </a:t>
            </a:r>
            <a:r>
              <a:rPr dirty="0" sz="3200" b="0">
                <a:latin typeface="Cambria Math"/>
                <a:cs typeface="Cambria Math"/>
              </a:rPr>
              <a:t>𝑡</a:t>
            </a:r>
            <a:endParaRPr sz="3200">
              <a:latin typeface="Cambria Math"/>
              <a:cs typeface="Cambria Math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50" b="0">
                <a:solidFill>
                  <a:srgbClr val="0000FF"/>
                </a:solidFill>
                <a:latin typeface="Cambria Math"/>
                <a:cs typeface="Cambria Math"/>
              </a:rPr>
              <a:t>𝑥</a:t>
            </a:r>
            <a:r>
              <a:rPr dirty="0" baseline="-15700" sz="3450" spc="75" b="0">
                <a:solidFill>
                  <a:srgbClr val="0000FF"/>
                </a:solidFill>
                <a:latin typeface="Cambria Math"/>
                <a:cs typeface="Cambria Math"/>
              </a:rPr>
              <a:t>)</a:t>
            </a:r>
            <a:r>
              <a:rPr dirty="0" sz="3200" spc="50" b="0">
                <a:latin typeface="Calibri"/>
                <a:cs typeface="Calibri"/>
              </a:rPr>
              <a:t>: </a:t>
            </a:r>
            <a:r>
              <a:rPr dirty="0" sz="3200" spc="-5"/>
              <a:t>Input </a:t>
            </a:r>
            <a:r>
              <a:rPr dirty="0" sz="3200" spc="-15" b="0">
                <a:latin typeface="Calibri"/>
                <a:cs typeface="Calibri"/>
              </a:rPr>
              <a:t>to </a:t>
            </a:r>
            <a:r>
              <a:rPr dirty="0" sz="3200" spc="-5" b="0">
                <a:latin typeface="Calibri"/>
                <a:cs typeface="Calibri"/>
              </a:rPr>
              <a:t>RNN </a:t>
            </a:r>
            <a:r>
              <a:rPr dirty="0" sz="3200" spc="-15" b="0">
                <a:latin typeface="Calibri"/>
                <a:cs typeface="Calibri"/>
              </a:rPr>
              <a:t>at </a:t>
            </a:r>
            <a:r>
              <a:rPr dirty="0" sz="3200" spc="-20" b="0">
                <a:latin typeface="Calibri"/>
                <a:cs typeface="Calibri"/>
              </a:rPr>
              <a:t>step</a:t>
            </a:r>
            <a:r>
              <a:rPr dirty="0" sz="3200" spc="-70" b="0">
                <a:latin typeface="Calibri"/>
                <a:cs typeface="Calibri"/>
              </a:rPr>
              <a:t> </a:t>
            </a:r>
            <a:r>
              <a:rPr dirty="0" sz="3200" b="0">
                <a:latin typeface="Cambria Math"/>
                <a:cs typeface="Cambria Math"/>
              </a:rPr>
              <a:t>𝑡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250948"/>
            <a:ext cx="6940550" cy="9982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29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25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baseline="-15700" sz="3450" spc="37">
                <a:solidFill>
                  <a:srgbClr val="C00000"/>
                </a:solidFill>
                <a:latin typeface="Cambria Math"/>
                <a:cs typeface="Cambria Math"/>
              </a:rPr>
              <a:t>)</a:t>
            </a:r>
            <a:r>
              <a:rPr dirty="0" sz="3200" spc="25">
                <a:latin typeface="Calibri"/>
                <a:cs typeface="Calibri"/>
              </a:rPr>
              <a:t>: </a:t>
            </a:r>
            <a:r>
              <a:rPr dirty="0" sz="3200" spc="-10" b="1">
                <a:latin typeface="Calibri"/>
                <a:cs typeface="Calibri"/>
              </a:rPr>
              <a:t>Output </a:t>
            </a:r>
            <a:r>
              <a:rPr dirty="0" sz="3200" spc="-5">
                <a:latin typeface="Calibri"/>
                <a:cs typeface="Calibri"/>
              </a:rPr>
              <a:t>of RNN </a:t>
            </a:r>
            <a:r>
              <a:rPr dirty="0" sz="3200" spc="-15">
                <a:latin typeface="Calibri"/>
                <a:cs typeface="Calibri"/>
              </a:rPr>
              <a:t>at </a:t>
            </a:r>
            <a:r>
              <a:rPr dirty="0" sz="3200" spc="-20">
                <a:latin typeface="Calibri"/>
                <a:cs typeface="Calibri"/>
              </a:rPr>
              <a:t>step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>
                <a:latin typeface="Cambria Math"/>
                <a:cs typeface="Cambria Math"/>
              </a:rPr>
              <a:t>𝑡</a:t>
            </a:r>
            <a:endParaRPr sz="3200">
              <a:latin typeface="Cambria Math"/>
              <a:cs typeface="Cambria Math"/>
            </a:endParaRPr>
          </a:p>
          <a:p>
            <a:pPr marL="332740" indent="-320040">
              <a:lnSpc>
                <a:spcPts val="3829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RNN cell: </a:t>
            </a:r>
            <a:r>
              <a:rPr dirty="0" sz="3200" spc="50">
                <a:latin typeface="Cambria Math"/>
                <a:cs typeface="Cambria Math"/>
              </a:rPr>
              <a:t>𝑊, </a:t>
            </a:r>
            <a:r>
              <a:rPr dirty="0" sz="3200" spc="25">
                <a:latin typeface="Cambria Math"/>
                <a:cs typeface="Cambria Math"/>
              </a:rPr>
              <a:t>𝑈, </a:t>
            </a:r>
            <a:r>
              <a:rPr dirty="0" sz="3200" spc="40">
                <a:latin typeface="Cambria Math"/>
                <a:cs typeface="Cambria Math"/>
              </a:rPr>
              <a:t>𝑉</a:t>
            </a:r>
            <a:r>
              <a:rPr dirty="0" sz="3200" spc="40">
                <a:latin typeface="Calibri"/>
                <a:cs typeface="Calibri"/>
              </a:rPr>
              <a:t>: </a:t>
            </a:r>
            <a:r>
              <a:rPr dirty="0" sz="3200" spc="-30">
                <a:latin typeface="Calibri"/>
                <a:cs typeface="Calibri"/>
              </a:rPr>
              <a:t>Trainable</a:t>
            </a:r>
            <a:r>
              <a:rPr dirty="0" sz="3200" spc="-46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parameters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108" y="6152388"/>
            <a:ext cx="678307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latin typeface="Calibri"/>
                <a:cs typeface="Calibri"/>
              </a:rPr>
              <a:t>More </a:t>
            </a:r>
            <a:r>
              <a:rPr dirty="0" sz="3200" spc="-15" b="1">
                <a:latin typeface="Calibri"/>
                <a:cs typeface="Calibri"/>
              </a:rPr>
              <a:t>expressive </a:t>
            </a:r>
            <a:r>
              <a:rPr dirty="0" sz="3200" spc="-5" b="1">
                <a:latin typeface="Calibri"/>
                <a:cs typeface="Calibri"/>
              </a:rPr>
              <a:t>cells: </a:t>
            </a:r>
            <a:r>
              <a:rPr dirty="0" sz="3200" spc="-15">
                <a:latin typeface="Calibri"/>
                <a:cs typeface="Calibri"/>
              </a:rPr>
              <a:t>GRU, </a:t>
            </a:r>
            <a:r>
              <a:rPr dirty="0" sz="3200" spc="-5">
                <a:latin typeface="Calibri"/>
                <a:cs typeface="Calibri"/>
              </a:rPr>
              <a:t>LSTM,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etc.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05000" y="4374272"/>
            <a:ext cx="1059180" cy="762000"/>
          </a:xfrm>
          <a:prstGeom prst="rect">
            <a:avLst/>
          </a:prstGeom>
          <a:solidFill>
            <a:srgbClr val="F0AD00"/>
          </a:solidFill>
          <a:ln w="48000">
            <a:solidFill>
              <a:srgbClr val="B07E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2615"/>
              </a:lnSpc>
            </a:pP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400">
              <a:latin typeface="Corbel"/>
              <a:cs typeface="Corbel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cell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83773" y="5577332"/>
            <a:ext cx="2851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0">
                <a:solidFill>
                  <a:srgbClr val="0000FF"/>
                </a:solidFill>
                <a:latin typeface="Cambria Math"/>
                <a:cs typeface="Cambria Math"/>
              </a:rPr>
              <a:t>𝑥</a:t>
            </a:r>
            <a:r>
              <a:rPr dirty="0" baseline="-15432" sz="2700" spc="-667">
                <a:solidFill>
                  <a:srgbClr val="0000FF"/>
                </a:solidFill>
                <a:latin typeface="Cambria Math"/>
                <a:cs typeface="Cambria Math"/>
              </a:rPr>
              <a:t>&amp;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7338" y="4589779"/>
            <a:ext cx="1663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8000"/>
                </a:solidFill>
                <a:latin typeface="Cambria Math"/>
                <a:cs typeface="Cambria Math"/>
              </a:rPr>
              <a:t>𝑠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1197" y="4729988"/>
            <a:ext cx="4241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20">
                <a:solidFill>
                  <a:srgbClr val="008000"/>
                </a:solidFill>
                <a:latin typeface="Cambria Math"/>
                <a:cs typeface="Cambria Math"/>
              </a:rPr>
              <a:t>&amp;</a:t>
            </a:r>
            <a:r>
              <a:rPr dirty="0" sz="1800" spc="500">
                <a:solidFill>
                  <a:srgbClr val="008000"/>
                </a:solidFill>
                <a:latin typeface="Cambria Math"/>
                <a:cs typeface="Cambria Math"/>
              </a:rPr>
              <a:t>*</a:t>
            </a:r>
            <a:r>
              <a:rPr dirty="0" sz="1800" spc="285">
                <a:solidFill>
                  <a:srgbClr val="008000"/>
                </a:solidFill>
                <a:latin typeface="Cambria Math"/>
                <a:cs typeface="Cambria Math"/>
              </a:rPr>
              <a:t>(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31159" y="5240297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154974" y="103315"/>
                </a:moveTo>
                <a:lnTo>
                  <a:pt x="51657" y="103315"/>
                </a:lnTo>
                <a:lnTo>
                  <a:pt x="51657" y="322301"/>
                </a:lnTo>
                <a:lnTo>
                  <a:pt x="154974" y="322301"/>
                </a:lnTo>
                <a:lnTo>
                  <a:pt x="154974" y="103315"/>
                </a:lnTo>
                <a:close/>
              </a:path>
              <a:path w="207010" h="322579">
                <a:moveTo>
                  <a:pt x="103315" y="0"/>
                </a:moveTo>
                <a:lnTo>
                  <a:pt x="0" y="103315"/>
                </a:lnTo>
                <a:lnTo>
                  <a:pt x="206632" y="103315"/>
                </a:lnTo>
                <a:lnTo>
                  <a:pt x="10331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331159" y="5240297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51658" y="322302"/>
                </a:moveTo>
                <a:lnTo>
                  <a:pt x="51658" y="103316"/>
                </a:lnTo>
                <a:lnTo>
                  <a:pt x="0" y="103316"/>
                </a:lnTo>
                <a:lnTo>
                  <a:pt x="103316" y="0"/>
                </a:lnTo>
                <a:lnTo>
                  <a:pt x="206633" y="103316"/>
                </a:lnTo>
                <a:lnTo>
                  <a:pt x="154974" y="103316"/>
                </a:lnTo>
                <a:lnTo>
                  <a:pt x="154974" y="322302"/>
                </a:lnTo>
                <a:lnTo>
                  <a:pt x="51658" y="322302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496791" y="4698122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80" h="207010">
                <a:moveTo>
                  <a:pt x="218984" y="0"/>
                </a:moveTo>
                <a:lnTo>
                  <a:pt x="218984" y="51657"/>
                </a:lnTo>
                <a:lnTo>
                  <a:pt x="0" y="51657"/>
                </a:lnTo>
                <a:lnTo>
                  <a:pt x="0" y="154974"/>
                </a:lnTo>
                <a:lnTo>
                  <a:pt x="218984" y="154974"/>
                </a:lnTo>
                <a:lnTo>
                  <a:pt x="218984" y="206632"/>
                </a:lnTo>
                <a:lnTo>
                  <a:pt x="322301" y="103315"/>
                </a:lnTo>
                <a:lnTo>
                  <a:pt x="218984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496791" y="4698122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80" h="207010">
                <a:moveTo>
                  <a:pt x="0" y="51658"/>
                </a:moveTo>
                <a:lnTo>
                  <a:pt x="218985" y="51658"/>
                </a:lnTo>
                <a:lnTo>
                  <a:pt x="218985" y="0"/>
                </a:lnTo>
                <a:lnTo>
                  <a:pt x="322302" y="103316"/>
                </a:lnTo>
                <a:lnTo>
                  <a:pt x="218985" y="206633"/>
                </a:lnTo>
                <a:lnTo>
                  <a:pt x="218985" y="154974"/>
                </a:lnTo>
                <a:lnTo>
                  <a:pt x="0" y="154974"/>
                </a:lnTo>
                <a:lnTo>
                  <a:pt x="0" y="51658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49860" y="4698120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79" h="207010">
                <a:moveTo>
                  <a:pt x="218986" y="0"/>
                </a:moveTo>
                <a:lnTo>
                  <a:pt x="218986" y="51658"/>
                </a:lnTo>
                <a:lnTo>
                  <a:pt x="0" y="51658"/>
                </a:lnTo>
                <a:lnTo>
                  <a:pt x="0" y="154974"/>
                </a:lnTo>
                <a:lnTo>
                  <a:pt x="218986" y="154974"/>
                </a:lnTo>
                <a:lnTo>
                  <a:pt x="218986" y="206632"/>
                </a:lnTo>
                <a:lnTo>
                  <a:pt x="322301" y="103315"/>
                </a:lnTo>
                <a:lnTo>
                  <a:pt x="218986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49860" y="4698120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79" h="207010">
                <a:moveTo>
                  <a:pt x="0" y="51658"/>
                </a:moveTo>
                <a:lnTo>
                  <a:pt x="218985" y="51658"/>
                </a:lnTo>
                <a:lnTo>
                  <a:pt x="218985" y="0"/>
                </a:lnTo>
                <a:lnTo>
                  <a:pt x="322302" y="103316"/>
                </a:lnTo>
                <a:lnTo>
                  <a:pt x="218985" y="206633"/>
                </a:lnTo>
                <a:lnTo>
                  <a:pt x="218985" y="154974"/>
                </a:lnTo>
                <a:lnTo>
                  <a:pt x="0" y="154974"/>
                </a:lnTo>
                <a:lnTo>
                  <a:pt x="0" y="51658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331159" y="3965138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154974" y="103317"/>
                </a:moveTo>
                <a:lnTo>
                  <a:pt x="51657" y="103317"/>
                </a:lnTo>
                <a:lnTo>
                  <a:pt x="51657" y="322301"/>
                </a:lnTo>
                <a:lnTo>
                  <a:pt x="154974" y="322301"/>
                </a:lnTo>
                <a:lnTo>
                  <a:pt x="154974" y="103317"/>
                </a:lnTo>
                <a:close/>
              </a:path>
              <a:path w="207010" h="322579">
                <a:moveTo>
                  <a:pt x="103315" y="0"/>
                </a:moveTo>
                <a:lnTo>
                  <a:pt x="0" y="103317"/>
                </a:lnTo>
                <a:lnTo>
                  <a:pt x="206632" y="103317"/>
                </a:lnTo>
                <a:lnTo>
                  <a:pt x="10331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331159" y="3965137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51658" y="322302"/>
                </a:moveTo>
                <a:lnTo>
                  <a:pt x="51658" y="103316"/>
                </a:lnTo>
                <a:lnTo>
                  <a:pt x="0" y="103316"/>
                </a:lnTo>
                <a:lnTo>
                  <a:pt x="103316" y="0"/>
                </a:lnTo>
                <a:lnTo>
                  <a:pt x="206633" y="103316"/>
                </a:lnTo>
                <a:lnTo>
                  <a:pt x="154974" y="103316"/>
                </a:lnTo>
                <a:lnTo>
                  <a:pt x="154974" y="322302"/>
                </a:lnTo>
                <a:lnTo>
                  <a:pt x="51658" y="322302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274947" y="3541267"/>
            <a:ext cx="2870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8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baseline="-15432" sz="2700" spc="-667">
                <a:solidFill>
                  <a:srgbClr val="C00000"/>
                </a:solidFill>
                <a:latin typeface="Cambria Math"/>
                <a:cs typeface="Cambria Math"/>
              </a:rPr>
              <a:t>&amp;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7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27</a:t>
            </a:fld>
          </a:p>
        </p:txBody>
      </p:sp>
      <p:sp>
        <p:nvSpPr>
          <p:cNvPr id="19" name="object 19"/>
          <p:cNvSpPr txBox="1"/>
          <p:nvPr/>
        </p:nvSpPr>
        <p:spPr>
          <a:xfrm>
            <a:off x="3463068" y="4589779"/>
            <a:ext cx="1663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8000"/>
                </a:solidFill>
                <a:latin typeface="Cambria Math"/>
                <a:cs typeface="Cambria Math"/>
              </a:rPr>
              <a:t>𝑠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96926" y="4729988"/>
            <a:ext cx="12636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45">
                <a:solidFill>
                  <a:srgbClr val="008000"/>
                </a:solidFill>
                <a:latin typeface="Cambria Math"/>
                <a:cs typeface="Cambria Math"/>
              </a:rPr>
              <a:t>&amp;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71130" y="3505707"/>
            <a:ext cx="3956685" cy="2165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The RNN</a:t>
            </a:r>
            <a:r>
              <a:rPr dirty="0" sz="28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cell:</a:t>
            </a:r>
            <a:endParaRPr sz="2800">
              <a:latin typeface="Calibri"/>
              <a:cs typeface="Calibri"/>
            </a:endParaRPr>
          </a:p>
          <a:p>
            <a:pPr marL="496570" indent="-483870">
              <a:lnSpc>
                <a:spcPts val="3335"/>
              </a:lnSpc>
              <a:spcBef>
                <a:spcPts val="25"/>
              </a:spcBef>
              <a:buAutoNum type="arabicParenBoth"/>
              <a:tabLst>
                <a:tab pos="497205" algn="l"/>
              </a:tabLst>
            </a:pPr>
            <a:r>
              <a:rPr dirty="0" sz="2800" spc="-15" b="1">
                <a:latin typeface="Calibri"/>
                <a:cs typeface="Calibri"/>
              </a:rPr>
              <a:t>Update </a:t>
            </a:r>
            <a:r>
              <a:rPr dirty="0" sz="2800" spc="-5" b="1">
                <a:latin typeface="Calibri"/>
                <a:cs typeface="Calibri"/>
              </a:rPr>
              <a:t>hidden</a:t>
            </a:r>
            <a:r>
              <a:rPr dirty="0" sz="2800" spc="-45" b="1">
                <a:latin typeface="Calibri"/>
                <a:cs typeface="Calibri"/>
              </a:rPr>
              <a:t> </a:t>
            </a:r>
            <a:r>
              <a:rPr dirty="0" sz="2800" spc="-20" b="1">
                <a:latin typeface="Calibri"/>
                <a:cs typeface="Calibri"/>
              </a:rPr>
              <a:t>state:</a:t>
            </a:r>
            <a:endParaRPr sz="2800">
              <a:latin typeface="Calibri"/>
              <a:cs typeface="Calibri"/>
            </a:endParaRPr>
          </a:p>
          <a:p>
            <a:pPr algn="ctr" marL="170815">
              <a:lnSpc>
                <a:spcPts val="3335"/>
              </a:lnSpc>
            </a:pPr>
            <a:r>
              <a:rPr dirty="0" sz="2800" spc="-220">
                <a:solidFill>
                  <a:srgbClr val="008000"/>
                </a:solidFill>
                <a:latin typeface="Cambria Math"/>
                <a:cs typeface="Cambria Math"/>
              </a:rPr>
              <a:t>𝑠</a:t>
            </a:r>
            <a:r>
              <a:rPr dirty="0" baseline="-16666" sz="3000" spc="-330">
                <a:solidFill>
                  <a:srgbClr val="008000"/>
                </a:solidFill>
                <a:latin typeface="Cambria Math"/>
                <a:cs typeface="Cambria Math"/>
              </a:rPr>
              <a:t>#   </a:t>
            </a:r>
            <a:r>
              <a:rPr dirty="0" sz="2800">
                <a:latin typeface="Cambria Math"/>
                <a:cs typeface="Cambria Math"/>
              </a:rPr>
              <a:t>= </a:t>
            </a:r>
            <a:r>
              <a:rPr dirty="0" sz="2800" spc="15">
                <a:latin typeface="Cambria Math"/>
                <a:cs typeface="Cambria Math"/>
              </a:rPr>
              <a:t>𝜎(𝑊 </a:t>
            </a:r>
            <a:r>
              <a:rPr dirty="0" sz="2800">
                <a:latin typeface="Cambria Math"/>
                <a:cs typeface="Cambria Math"/>
              </a:rPr>
              <a:t>⋅ </a:t>
            </a:r>
            <a:r>
              <a:rPr dirty="0" sz="2800" spc="-200">
                <a:solidFill>
                  <a:srgbClr val="0000FF"/>
                </a:solidFill>
                <a:latin typeface="Cambria Math"/>
                <a:cs typeface="Cambria Math"/>
              </a:rPr>
              <a:t>𝑥</a:t>
            </a:r>
            <a:r>
              <a:rPr dirty="0" baseline="-16666" sz="3000" spc="-300">
                <a:solidFill>
                  <a:srgbClr val="0000FF"/>
                </a:solidFill>
                <a:latin typeface="Cambria Math"/>
                <a:cs typeface="Cambria Math"/>
              </a:rPr>
              <a:t>#   </a:t>
            </a:r>
            <a:r>
              <a:rPr dirty="0" sz="2800">
                <a:latin typeface="Cambria Math"/>
                <a:cs typeface="Cambria Math"/>
              </a:rPr>
              <a:t>+ 𝑈 ⋅</a:t>
            </a:r>
            <a:r>
              <a:rPr dirty="0" sz="2800" spc="125">
                <a:latin typeface="Cambria Math"/>
                <a:cs typeface="Cambria Math"/>
              </a:rPr>
              <a:t> </a:t>
            </a:r>
            <a:r>
              <a:rPr dirty="0" sz="2800" spc="85">
                <a:solidFill>
                  <a:srgbClr val="008000"/>
                </a:solidFill>
                <a:latin typeface="Cambria Math"/>
                <a:cs typeface="Cambria Math"/>
              </a:rPr>
              <a:t>𝑠</a:t>
            </a:r>
            <a:r>
              <a:rPr dirty="0" baseline="-16666" sz="3000" spc="127">
                <a:solidFill>
                  <a:srgbClr val="008000"/>
                </a:solidFill>
                <a:latin typeface="Cambria Math"/>
                <a:cs typeface="Cambria Math"/>
              </a:rPr>
              <a:t>#+,</a:t>
            </a:r>
            <a:r>
              <a:rPr dirty="0" sz="2800" spc="85">
                <a:latin typeface="Cambria Math"/>
                <a:cs typeface="Cambria Math"/>
              </a:rPr>
              <a:t>)</a:t>
            </a:r>
            <a:endParaRPr sz="2800">
              <a:latin typeface="Cambria Math"/>
              <a:cs typeface="Cambria Math"/>
            </a:endParaRPr>
          </a:p>
          <a:p>
            <a:pPr marL="496570" indent="-483870">
              <a:lnSpc>
                <a:spcPct val="100000"/>
              </a:lnSpc>
              <a:spcBef>
                <a:spcPts val="45"/>
              </a:spcBef>
              <a:buAutoNum type="arabicParenBoth" startAt="2"/>
              <a:tabLst>
                <a:tab pos="497205" algn="l"/>
              </a:tabLst>
            </a:pPr>
            <a:r>
              <a:rPr dirty="0" sz="2800" spc="-5" b="1">
                <a:latin typeface="Calibri"/>
                <a:cs typeface="Calibri"/>
              </a:rPr>
              <a:t>Output</a:t>
            </a:r>
            <a:r>
              <a:rPr dirty="0" sz="2800" spc="-3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prediction:</a:t>
            </a:r>
            <a:endParaRPr sz="2800">
              <a:latin typeface="Calibri"/>
              <a:cs typeface="Calibri"/>
            </a:endParaRPr>
          </a:p>
          <a:p>
            <a:pPr algn="ctr" marL="146685">
              <a:lnSpc>
                <a:spcPct val="100000"/>
              </a:lnSpc>
              <a:spcBef>
                <a:spcPts val="20"/>
              </a:spcBef>
            </a:pPr>
            <a:r>
              <a:rPr dirty="0" sz="2800" spc="-225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baseline="-16666" sz="3000" spc="-337">
                <a:solidFill>
                  <a:srgbClr val="C00000"/>
                </a:solidFill>
                <a:latin typeface="Cambria Math"/>
                <a:cs typeface="Cambria Math"/>
              </a:rPr>
              <a:t>#   </a:t>
            </a:r>
            <a:r>
              <a:rPr dirty="0" sz="2800">
                <a:latin typeface="Cambria Math"/>
                <a:cs typeface="Cambria Math"/>
              </a:rPr>
              <a:t>= 𝑉 ⋅</a:t>
            </a:r>
            <a:r>
              <a:rPr dirty="0" sz="2800" spc="190">
                <a:latin typeface="Cambria Math"/>
                <a:cs typeface="Cambria Math"/>
              </a:rPr>
              <a:t> </a:t>
            </a:r>
            <a:r>
              <a:rPr dirty="0" sz="2800" spc="-220">
                <a:solidFill>
                  <a:srgbClr val="008000"/>
                </a:solidFill>
                <a:latin typeface="Cambria Math"/>
                <a:cs typeface="Cambria Math"/>
              </a:rPr>
              <a:t>𝑠</a:t>
            </a:r>
            <a:r>
              <a:rPr dirty="0" baseline="-16666" sz="3000" spc="-330">
                <a:solidFill>
                  <a:srgbClr val="008000"/>
                </a:solidFill>
                <a:latin typeface="Cambria Math"/>
                <a:cs typeface="Cambria Math"/>
              </a:rPr>
              <a:t>#</a:t>
            </a:r>
            <a:endParaRPr baseline="-16666" sz="30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012177" y="4220971"/>
            <a:ext cx="3702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Calibri"/>
                <a:cs typeface="Calibri"/>
              </a:rPr>
              <a:t>(</a:t>
            </a:r>
            <a:r>
              <a:rPr dirty="0" sz="2400" spc="-5" b="1">
                <a:latin typeface="Calibri"/>
                <a:cs typeface="Calibri"/>
              </a:rPr>
              <a:t>1</a:t>
            </a:r>
            <a:r>
              <a:rPr dirty="0" sz="2400" b="1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80764" y="3910076"/>
            <a:ext cx="3702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Calibri"/>
                <a:cs typeface="Calibri"/>
              </a:rPr>
              <a:t>(</a:t>
            </a:r>
            <a:r>
              <a:rPr dirty="0" sz="2400" spc="-5" b="1">
                <a:latin typeface="Calibri"/>
                <a:cs typeface="Calibri"/>
              </a:rPr>
              <a:t>2</a:t>
            </a:r>
            <a:r>
              <a:rPr dirty="0" sz="2400" b="1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75682" y="1616963"/>
            <a:ext cx="130556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solidFill>
                  <a:srgbClr val="0000FF"/>
                </a:solidFill>
                <a:latin typeface="Calibri"/>
                <a:cs typeface="Calibri"/>
              </a:rPr>
              <a:t>In our</a:t>
            </a:r>
            <a:r>
              <a:rPr dirty="0" sz="2000" spc="-8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000" spc="-5">
                <a:solidFill>
                  <a:srgbClr val="0000FF"/>
                </a:solidFill>
                <a:latin typeface="Calibri"/>
                <a:cs typeface="Calibri"/>
              </a:rPr>
              <a:t>case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000" spc="75">
                <a:solidFill>
                  <a:srgbClr val="0000FF"/>
                </a:solidFill>
                <a:latin typeface="Cambria Math"/>
                <a:cs typeface="Cambria Math"/>
              </a:rPr>
              <a:t>𝑠</a:t>
            </a:r>
            <a:r>
              <a:rPr dirty="0" baseline="-14814" sz="2250" spc="112">
                <a:solidFill>
                  <a:srgbClr val="0000FF"/>
                </a:solidFill>
                <a:latin typeface="Cambria Math"/>
                <a:cs typeface="Cambria Math"/>
              </a:rPr>
              <a:t>!</a:t>
            </a:r>
            <a:r>
              <a:rPr dirty="0" sz="2000" spc="75">
                <a:solidFill>
                  <a:srgbClr val="0000FF"/>
                </a:solidFill>
                <a:latin typeface="Calibri"/>
                <a:cs typeface="Calibri"/>
              </a:rPr>
              <a:t>, </a:t>
            </a:r>
            <a:r>
              <a:rPr dirty="0" sz="2000" spc="100">
                <a:solidFill>
                  <a:srgbClr val="0000FF"/>
                </a:solidFill>
                <a:latin typeface="Cambria Math"/>
                <a:cs typeface="Cambria Math"/>
              </a:rPr>
              <a:t>𝑥</a:t>
            </a:r>
            <a:r>
              <a:rPr dirty="0" baseline="-14814" sz="2250" spc="150">
                <a:solidFill>
                  <a:srgbClr val="0000FF"/>
                </a:solidFill>
                <a:latin typeface="Cambria Math"/>
                <a:cs typeface="Cambria Math"/>
              </a:rPr>
              <a:t>! </a:t>
            </a:r>
            <a:r>
              <a:rPr dirty="0" sz="2000" spc="-5">
                <a:solidFill>
                  <a:srgbClr val="0000FF"/>
                </a:solidFill>
                <a:latin typeface="Calibri"/>
                <a:cs typeface="Calibri"/>
              </a:rPr>
              <a:t>and</a:t>
            </a:r>
            <a:r>
              <a:rPr dirty="0" sz="2000" spc="-17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000" spc="80">
                <a:solidFill>
                  <a:srgbClr val="0000FF"/>
                </a:solidFill>
                <a:latin typeface="Cambria Math"/>
                <a:cs typeface="Cambria Math"/>
              </a:rPr>
              <a:t>𝑦</a:t>
            </a:r>
            <a:r>
              <a:rPr dirty="0" baseline="-14814" sz="2250" spc="120">
                <a:solidFill>
                  <a:srgbClr val="0000FF"/>
                </a:solidFill>
                <a:latin typeface="Cambria Math"/>
                <a:cs typeface="Cambria Math"/>
              </a:rPr>
              <a:t>!</a:t>
            </a:r>
            <a:endParaRPr baseline="-14814" sz="22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dirty="0" sz="2000" spc="-10">
                <a:solidFill>
                  <a:srgbClr val="0000FF"/>
                </a:solidFill>
                <a:latin typeface="Calibri"/>
                <a:cs typeface="Calibri"/>
              </a:rPr>
              <a:t>are</a:t>
            </a:r>
            <a:r>
              <a:rPr dirty="0" sz="2000" spc="-7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C00000"/>
                </a:solidFill>
                <a:latin typeface="Calibri"/>
                <a:cs typeface="Calibri"/>
              </a:rPr>
              <a:t>scalars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1375"/>
            <a:ext cx="7367016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348740"/>
            <a:ext cx="7536180" cy="461581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32740" marR="471805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latin typeface="Calibri"/>
                <a:cs typeface="Calibri"/>
              </a:rPr>
              <a:t>GraphRNN </a:t>
            </a:r>
            <a:r>
              <a:rPr dirty="0" sz="3200" spc="-5" b="1">
                <a:latin typeface="Calibri"/>
                <a:cs typeface="Calibri"/>
              </a:rPr>
              <a:t>has </a:t>
            </a:r>
            <a:r>
              <a:rPr dirty="0" sz="3200" b="1">
                <a:latin typeface="Calibri"/>
                <a:cs typeface="Calibri"/>
              </a:rPr>
              <a:t>a </a:t>
            </a: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node-level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RNN </a:t>
            </a:r>
            <a:r>
              <a:rPr dirty="0" sz="3200" spc="-5" b="1">
                <a:latin typeface="Calibri"/>
                <a:cs typeface="Calibri"/>
              </a:rPr>
              <a:t>and an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edge-level</a:t>
            </a:r>
            <a:r>
              <a:rPr dirty="0" sz="3200" spc="-4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RNN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F0AD00"/>
              </a:buClr>
              <a:buFont typeface="Arial"/>
              <a:buChar char="▪"/>
            </a:pPr>
            <a:endParaRPr sz="325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latin typeface="Calibri"/>
                <a:cs typeface="Calibri"/>
              </a:rPr>
              <a:t>Relationship between </a:t>
            </a:r>
            <a:r>
              <a:rPr dirty="0" sz="3200" spc="-5" b="1">
                <a:latin typeface="Calibri"/>
                <a:cs typeface="Calibri"/>
              </a:rPr>
              <a:t>the </a:t>
            </a:r>
            <a:r>
              <a:rPr dirty="0" sz="3200" spc="-10" b="1">
                <a:latin typeface="Calibri"/>
                <a:cs typeface="Calibri"/>
              </a:rPr>
              <a:t>two</a:t>
            </a:r>
            <a:r>
              <a:rPr dirty="0" sz="3200" spc="-35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RNNs:</a:t>
            </a:r>
            <a:endParaRPr sz="3200">
              <a:latin typeface="Calibri"/>
              <a:cs typeface="Calibri"/>
            </a:endParaRPr>
          </a:p>
          <a:p>
            <a:pPr lvl="1" marL="625475" marR="5080" indent="-274320">
              <a:lnSpc>
                <a:spcPct val="101200"/>
              </a:lnSpc>
              <a:spcBef>
                <a:spcPts val="72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3200" spc="-10">
                <a:solidFill>
                  <a:srgbClr val="008000"/>
                </a:solidFill>
                <a:latin typeface="Calibri"/>
                <a:cs typeface="Calibri"/>
              </a:rPr>
              <a:t>Node-level </a:t>
            </a:r>
            <a:r>
              <a:rPr dirty="0" sz="3200" spc="-5">
                <a:solidFill>
                  <a:srgbClr val="008000"/>
                </a:solidFill>
                <a:latin typeface="Calibri"/>
                <a:cs typeface="Calibri"/>
              </a:rPr>
              <a:t>RNN </a:t>
            </a:r>
            <a:r>
              <a:rPr dirty="0" sz="3200" spc="-20">
                <a:solidFill>
                  <a:srgbClr val="008000"/>
                </a:solidFill>
                <a:latin typeface="Calibri"/>
                <a:cs typeface="Calibri"/>
              </a:rPr>
              <a:t>generates </a:t>
            </a:r>
            <a:r>
              <a:rPr dirty="0" sz="3200">
                <a:solidFill>
                  <a:srgbClr val="008000"/>
                </a:solidFill>
                <a:latin typeface="Calibri"/>
                <a:cs typeface="Calibri"/>
              </a:rPr>
              <a:t>the initial </a:t>
            </a:r>
            <a:r>
              <a:rPr dirty="0" sz="3200" spc="-175">
                <a:solidFill>
                  <a:srgbClr val="008000"/>
                </a:solidFill>
                <a:latin typeface="Calibri"/>
                <a:cs typeface="Calibri"/>
              </a:rPr>
              <a:t>state  </a:t>
            </a:r>
            <a:r>
              <a:rPr dirty="0" sz="3200" spc="-25">
                <a:solidFill>
                  <a:srgbClr val="008000"/>
                </a:solidFill>
                <a:latin typeface="Calibri"/>
                <a:cs typeface="Calibri"/>
              </a:rPr>
              <a:t>for </a:t>
            </a:r>
            <a:r>
              <a:rPr dirty="0" sz="3200" spc="-15">
                <a:solidFill>
                  <a:srgbClr val="0000FF"/>
                </a:solidFill>
                <a:latin typeface="Calibri"/>
                <a:cs typeface="Calibri"/>
              </a:rPr>
              <a:t>edge-level </a:t>
            </a:r>
            <a:r>
              <a:rPr dirty="0" sz="3200" spc="-5">
                <a:solidFill>
                  <a:srgbClr val="0000FF"/>
                </a:solidFill>
                <a:latin typeface="Calibri"/>
                <a:cs typeface="Calibri"/>
              </a:rPr>
              <a:t>RNN</a:t>
            </a:r>
            <a:endParaRPr sz="3200">
              <a:latin typeface="Calibri"/>
              <a:cs typeface="Calibri"/>
            </a:endParaRPr>
          </a:p>
          <a:p>
            <a:pPr lvl="1" marL="625475" marR="71755" indent="-274320">
              <a:lnSpc>
                <a:spcPct val="100299"/>
              </a:lnSpc>
              <a:spcBef>
                <a:spcPts val="75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3200" spc="-15">
                <a:solidFill>
                  <a:srgbClr val="0000FF"/>
                </a:solidFill>
                <a:latin typeface="Calibri"/>
                <a:cs typeface="Calibri"/>
              </a:rPr>
              <a:t>Edge-level </a:t>
            </a:r>
            <a:r>
              <a:rPr dirty="0" sz="3200" spc="-5">
                <a:solidFill>
                  <a:srgbClr val="0000FF"/>
                </a:solidFill>
                <a:latin typeface="Calibri"/>
                <a:cs typeface="Calibri"/>
              </a:rPr>
              <a:t>RNN sequentially </a:t>
            </a:r>
            <a:r>
              <a:rPr dirty="0" sz="3200" spc="-10">
                <a:solidFill>
                  <a:srgbClr val="0000FF"/>
                </a:solidFill>
                <a:latin typeface="Calibri"/>
                <a:cs typeface="Calibri"/>
              </a:rPr>
              <a:t>predict </a:t>
            </a:r>
            <a:r>
              <a:rPr dirty="0" sz="3200">
                <a:solidFill>
                  <a:srgbClr val="0000FF"/>
                </a:solidFill>
                <a:latin typeface="Calibri"/>
                <a:cs typeface="Calibri"/>
              </a:rPr>
              <a:t>if </a:t>
            </a:r>
            <a:r>
              <a:rPr dirty="0" sz="3200" spc="-235">
                <a:solidFill>
                  <a:srgbClr val="0000FF"/>
                </a:solidFill>
                <a:latin typeface="Calibri"/>
                <a:cs typeface="Calibri"/>
              </a:rPr>
              <a:t>the  </a:t>
            </a:r>
            <a:r>
              <a:rPr dirty="0" sz="3200" spc="-10">
                <a:solidFill>
                  <a:srgbClr val="0000FF"/>
                </a:solidFill>
                <a:latin typeface="Calibri"/>
                <a:cs typeface="Calibri"/>
              </a:rPr>
              <a:t>new </a:t>
            </a:r>
            <a:r>
              <a:rPr dirty="0" sz="3200" spc="-5">
                <a:solidFill>
                  <a:srgbClr val="0000FF"/>
                </a:solidFill>
                <a:latin typeface="Calibri"/>
                <a:cs typeface="Calibri"/>
              </a:rPr>
              <a:t>node will </a:t>
            </a:r>
            <a:r>
              <a:rPr dirty="0" sz="3200" spc="-10">
                <a:solidFill>
                  <a:srgbClr val="0000FF"/>
                </a:solidFill>
                <a:latin typeface="Calibri"/>
                <a:cs typeface="Calibri"/>
              </a:rPr>
              <a:t>connect </a:t>
            </a:r>
            <a:r>
              <a:rPr dirty="0" sz="3200" spc="-15">
                <a:solidFill>
                  <a:srgbClr val="0000FF"/>
                </a:solidFill>
                <a:latin typeface="Calibri"/>
                <a:cs typeface="Calibri"/>
              </a:rPr>
              <a:t>to </a:t>
            </a:r>
            <a:r>
              <a:rPr dirty="0" sz="3200" spc="-5">
                <a:solidFill>
                  <a:srgbClr val="0000FF"/>
                </a:solidFill>
                <a:latin typeface="Calibri"/>
                <a:cs typeface="Calibri"/>
              </a:rPr>
              <a:t>each of </a:t>
            </a:r>
            <a:r>
              <a:rPr dirty="0" sz="3200">
                <a:solidFill>
                  <a:srgbClr val="0000FF"/>
                </a:solidFill>
                <a:latin typeface="Calibri"/>
                <a:cs typeface="Calibri"/>
              </a:rPr>
              <a:t>the  </a:t>
            </a:r>
            <a:r>
              <a:rPr dirty="0" sz="3200" spc="-10">
                <a:solidFill>
                  <a:srgbClr val="0000FF"/>
                </a:solidFill>
                <a:latin typeface="Calibri"/>
                <a:cs typeface="Calibri"/>
              </a:rPr>
              <a:t>previous</a:t>
            </a:r>
            <a:r>
              <a:rPr dirty="0" sz="3200" spc="-6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5">
                <a:solidFill>
                  <a:srgbClr val="0000FF"/>
                </a:solidFill>
                <a:latin typeface="Calibri"/>
                <a:cs typeface="Calibri"/>
              </a:rPr>
              <a:t>node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7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27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1375"/>
            <a:ext cx="7367016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55600" y="2098521"/>
            <a:ext cx="8778240" cy="35519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59468" y="1197355"/>
            <a:ext cx="462597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008000"/>
                </a:solidFill>
              </a:rPr>
              <a:t>Node-level </a:t>
            </a:r>
            <a:r>
              <a:rPr dirty="0" sz="2400" spc="-5">
                <a:solidFill>
                  <a:srgbClr val="008000"/>
                </a:solidFill>
              </a:rPr>
              <a:t>RNN </a:t>
            </a:r>
            <a:r>
              <a:rPr dirty="0" sz="2400" spc="-15">
                <a:solidFill>
                  <a:srgbClr val="008000"/>
                </a:solidFill>
              </a:rPr>
              <a:t>generates </a:t>
            </a:r>
            <a:r>
              <a:rPr dirty="0" sz="2400">
                <a:solidFill>
                  <a:srgbClr val="008000"/>
                </a:solidFill>
              </a:rPr>
              <a:t>the </a:t>
            </a:r>
            <a:r>
              <a:rPr dirty="0" sz="2400" spc="-5">
                <a:solidFill>
                  <a:srgbClr val="008000"/>
                </a:solidFill>
              </a:rPr>
              <a:t>initial  </a:t>
            </a:r>
            <a:r>
              <a:rPr dirty="0" sz="2400" spc="-20">
                <a:solidFill>
                  <a:srgbClr val="008000"/>
                </a:solidFill>
              </a:rPr>
              <a:t>state </a:t>
            </a:r>
            <a:r>
              <a:rPr dirty="0" sz="2400" spc="-15">
                <a:solidFill>
                  <a:srgbClr val="008000"/>
                </a:solidFill>
              </a:rPr>
              <a:t>for </a:t>
            </a:r>
            <a:r>
              <a:rPr dirty="0" sz="2400" spc="-10">
                <a:solidFill>
                  <a:srgbClr val="0000FF"/>
                </a:solidFill>
              </a:rPr>
              <a:t>edge-level</a:t>
            </a:r>
            <a:r>
              <a:rPr dirty="0" sz="2400" spc="-40">
                <a:solidFill>
                  <a:srgbClr val="0000FF"/>
                </a:solidFill>
              </a:rPr>
              <a:t> </a:t>
            </a:r>
            <a:r>
              <a:rPr dirty="0" sz="2400" spc="-5">
                <a:solidFill>
                  <a:srgbClr val="0000FF"/>
                </a:solidFill>
              </a:rPr>
              <a:t>RNN</a:t>
            </a:r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6756400" y="1315074"/>
            <a:ext cx="1016000" cy="304800"/>
          </a:xfrm>
          <a:custGeom>
            <a:avLst/>
            <a:gdLst/>
            <a:ahLst/>
            <a:cxnLst/>
            <a:rect l="l" t="t" r="r" b="b"/>
            <a:pathLst>
              <a:path w="1016000" h="304800">
                <a:moveTo>
                  <a:pt x="863600" y="0"/>
                </a:moveTo>
                <a:lnTo>
                  <a:pt x="863600" y="76200"/>
                </a:lnTo>
                <a:lnTo>
                  <a:pt x="0" y="76200"/>
                </a:lnTo>
                <a:lnTo>
                  <a:pt x="0" y="228600"/>
                </a:lnTo>
                <a:lnTo>
                  <a:pt x="863600" y="228600"/>
                </a:lnTo>
                <a:lnTo>
                  <a:pt x="863600" y="304800"/>
                </a:lnTo>
                <a:lnTo>
                  <a:pt x="1016000" y="152400"/>
                </a:lnTo>
                <a:lnTo>
                  <a:pt x="863600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732399" y="1257133"/>
            <a:ext cx="1074420" cy="421005"/>
          </a:xfrm>
          <a:custGeom>
            <a:avLst/>
            <a:gdLst/>
            <a:ahLst/>
            <a:cxnLst/>
            <a:rect l="l" t="t" r="r" b="b"/>
            <a:pathLst>
              <a:path w="1074420" h="421005">
                <a:moveTo>
                  <a:pt x="863600" y="0"/>
                </a:moveTo>
                <a:lnTo>
                  <a:pt x="863600" y="110140"/>
                </a:lnTo>
                <a:lnTo>
                  <a:pt x="0" y="110140"/>
                </a:lnTo>
                <a:lnTo>
                  <a:pt x="0" y="310541"/>
                </a:lnTo>
                <a:lnTo>
                  <a:pt x="863600" y="310541"/>
                </a:lnTo>
                <a:lnTo>
                  <a:pt x="863600" y="420682"/>
                </a:lnTo>
                <a:lnTo>
                  <a:pt x="933128" y="351153"/>
                </a:lnTo>
                <a:lnTo>
                  <a:pt x="892401" y="351153"/>
                </a:lnTo>
                <a:lnTo>
                  <a:pt x="892401" y="281741"/>
                </a:lnTo>
                <a:lnTo>
                  <a:pt x="28801" y="281741"/>
                </a:lnTo>
                <a:lnTo>
                  <a:pt x="28801" y="138941"/>
                </a:lnTo>
                <a:lnTo>
                  <a:pt x="892401" y="138941"/>
                </a:lnTo>
                <a:lnTo>
                  <a:pt x="892401" y="69529"/>
                </a:lnTo>
                <a:lnTo>
                  <a:pt x="933129" y="69529"/>
                </a:lnTo>
                <a:lnTo>
                  <a:pt x="863600" y="0"/>
                </a:lnTo>
                <a:close/>
              </a:path>
              <a:path w="1074420" h="421005">
                <a:moveTo>
                  <a:pt x="933129" y="69529"/>
                </a:moveTo>
                <a:lnTo>
                  <a:pt x="892401" y="69529"/>
                </a:lnTo>
                <a:lnTo>
                  <a:pt x="1033212" y="210341"/>
                </a:lnTo>
                <a:lnTo>
                  <a:pt x="892401" y="351153"/>
                </a:lnTo>
                <a:lnTo>
                  <a:pt x="933128" y="351153"/>
                </a:lnTo>
                <a:lnTo>
                  <a:pt x="1073941" y="210341"/>
                </a:lnTo>
                <a:lnTo>
                  <a:pt x="933129" y="69529"/>
                </a:lnTo>
                <a:close/>
              </a:path>
              <a:path w="1074420" h="421005">
                <a:moveTo>
                  <a:pt x="902000" y="92706"/>
                </a:moveTo>
                <a:lnTo>
                  <a:pt x="902000" y="148541"/>
                </a:lnTo>
                <a:lnTo>
                  <a:pt x="38400" y="148541"/>
                </a:lnTo>
                <a:lnTo>
                  <a:pt x="38400" y="272141"/>
                </a:lnTo>
                <a:lnTo>
                  <a:pt x="902000" y="272141"/>
                </a:lnTo>
                <a:lnTo>
                  <a:pt x="902000" y="327976"/>
                </a:lnTo>
                <a:lnTo>
                  <a:pt x="925177" y="304800"/>
                </a:lnTo>
                <a:lnTo>
                  <a:pt x="911600" y="304800"/>
                </a:lnTo>
                <a:lnTo>
                  <a:pt x="911600" y="262540"/>
                </a:lnTo>
                <a:lnTo>
                  <a:pt x="48000" y="262540"/>
                </a:lnTo>
                <a:lnTo>
                  <a:pt x="48000" y="158141"/>
                </a:lnTo>
                <a:lnTo>
                  <a:pt x="911600" y="158141"/>
                </a:lnTo>
                <a:lnTo>
                  <a:pt x="911600" y="115882"/>
                </a:lnTo>
                <a:lnTo>
                  <a:pt x="925177" y="115882"/>
                </a:lnTo>
                <a:lnTo>
                  <a:pt x="902000" y="92706"/>
                </a:lnTo>
                <a:close/>
              </a:path>
              <a:path w="1074420" h="421005">
                <a:moveTo>
                  <a:pt x="925177" y="115882"/>
                </a:moveTo>
                <a:lnTo>
                  <a:pt x="911600" y="115882"/>
                </a:lnTo>
                <a:lnTo>
                  <a:pt x="1006059" y="210341"/>
                </a:lnTo>
                <a:lnTo>
                  <a:pt x="911600" y="304800"/>
                </a:lnTo>
                <a:lnTo>
                  <a:pt x="925177" y="304800"/>
                </a:lnTo>
                <a:lnTo>
                  <a:pt x="1019636" y="210341"/>
                </a:lnTo>
                <a:lnTo>
                  <a:pt x="925177" y="115882"/>
                </a:lnTo>
                <a:close/>
              </a:path>
            </a:pathLst>
          </a:custGeom>
          <a:solidFill>
            <a:srgbClr val="2F62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7200" y="5142457"/>
            <a:ext cx="304800" cy="1016000"/>
          </a:xfrm>
          <a:custGeom>
            <a:avLst/>
            <a:gdLst/>
            <a:ahLst/>
            <a:cxnLst/>
            <a:rect l="l" t="t" r="r" b="b"/>
            <a:pathLst>
              <a:path w="304800" h="1016000">
                <a:moveTo>
                  <a:pt x="304800" y="863600"/>
                </a:moveTo>
                <a:lnTo>
                  <a:pt x="0" y="863600"/>
                </a:lnTo>
                <a:lnTo>
                  <a:pt x="152400" y="1016000"/>
                </a:lnTo>
                <a:lnTo>
                  <a:pt x="304800" y="863600"/>
                </a:lnTo>
                <a:close/>
              </a:path>
              <a:path w="304800" h="1016000">
                <a:moveTo>
                  <a:pt x="228600" y="0"/>
                </a:moveTo>
                <a:lnTo>
                  <a:pt x="76200" y="0"/>
                </a:lnTo>
                <a:lnTo>
                  <a:pt x="76200" y="863600"/>
                </a:lnTo>
                <a:lnTo>
                  <a:pt x="228600" y="863600"/>
                </a:lnTo>
                <a:lnTo>
                  <a:pt x="228600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99258" y="5118458"/>
            <a:ext cx="421005" cy="1074420"/>
          </a:xfrm>
          <a:custGeom>
            <a:avLst/>
            <a:gdLst/>
            <a:ahLst/>
            <a:cxnLst/>
            <a:rect l="l" t="t" r="r" b="b"/>
            <a:pathLst>
              <a:path w="421005" h="1074420">
                <a:moveTo>
                  <a:pt x="310541" y="0"/>
                </a:moveTo>
                <a:lnTo>
                  <a:pt x="110141" y="0"/>
                </a:lnTo>
                <a:lnTo>
                  <a:pt x="110141" y="863599"/>
                </a:lnTo>
                <a:lnTo>
                  <a:pt x="0" y="863599"/>
                </a:lnTo>
                <a:lnTo>
                  <a:pt x="210341" y="1073940"/>
                </a:lnTo>
                <a:lnTo>
                  <a:pt x="251070" y="1033211"/>
                </a:lnTo>
                <a:lnTo>
                  <a:pt x="210341" y="1033211"/>
                </a:lnTo>
                <a:lnTo>
                  <a:pt x="69529" y="892399"/>
                </a:lnTo>
                <a:lnTo>
                  <a:pt x="138941" y="892399"/>
                </a:lnTo>
                <a:lnTo>
                  <a:pt x="138941" y="28799"/>
                </a:lnTo>
                <a:lnTo>
                  <a:pt x="310541" y="28799"/>
                </a:lnTo>
                <a:lnTo>
                  <a:pt x="310541" y="0"/>
                </a:lnTo>
                <a:close/>
              </a:path>
              <a:path w="421005" h="1074420">
                <a:moveTo>
                  <a:pt x="310541" y="28799"/>
                </a:moveTo>
                <a:lnTo>
                  <a:pt x="281741" y="28799"/>
                </a:lnTo>
                <a:lnTo>
                  <a:pt x="281741" y="892399"/>
                </a:lnTo>
                <a:lnTo>
                  <a:pt x="351152" y="892399"/>
                </a:lnTo>
                <a:lnTo>
                  <a:pt x="210341" y="1033211"/>
                </a:lnTo>
                <a:lnTo>
                  <a:pt x="251070" y="1033211"/>
                </a:lnTo>
                <a:lnTo>
                  <a:pt x="420682" y="863599"/>
                </a:lnTo>
                <a:lnTo>
                  <a:pt x="310541" y="863599"/>
                </a:lnTo>
                <a:lnTo>
                  <a:pt x="310541" y="28799"/>
                </a:lnTo>
                <a:close/>
              </a:path>
              <a:path w="421005" h="1074420">
                <a:moveTo>
                  <a:pt x="272141" y="38399"/>
                </a:moveTo>
                <a:lnTo>
                  <a:pt x="148541" y="38399"/>
                </a:lnTo>
                <a:lnTo>
                  <a:pt x="148541" y="901999"/>
                </a:lnTo>
                <a:lnTo>
                  <a:pt x="92705" y="901999"/>
                </a:lnTo>
                <a:lnTo>
                  <a:pt x="210341" y="1019634"/>
                </a:lnTo>
                <a:lnTo>
                  <a:pt x="223917" y="1006058"/>
                </a:lnTo>
                <a:lnTo>
                  <a:pt x="210341" y="1006058"/>
                </a:lnTo>
                <a:lnTo>
                  <a:pt x="115882" y="911599"/>
                </a:lnTo>
                <a:lnTo>
                  <a:pt x="158141" y="911599"/>
                </a:lnTo>
                <a:lnTo>
                  <a:pt x="158141" y="47999"/>
                </a:lnTo>
                <a:lnTo>
                  <a:pt x="272141" y="47999"/>
                </a:lnTo>
                <a:lnTo>
                  <a:pt x="272141" y="38399"/>
                </a:lnTo>
                <a:close/>
              </a:path>
              <a:path w="421005" h="1074420">
                <a:moveTo>
                  <a:pt x="272141" y="47999"/>
                </a:moveTo>
                <a:lnTo>
                  <a:pt x="262541" y="47999"/>
                </a:lnTo>
                <a:lnTo>
                  <a:pt x="262541" y="911599"/>
                </a:lnTo>
                <a:lnTo>
                  <a:pt x="304800" y="911599"/>
                </a:lnTo>
                <a:lnTo>
                  <a:pt x="210341" y="1006058"/>
                </a:lnTo>
                <a:lnTo>
                  <a:pt x="223917" y="1006058"/>
                </a:lnTo>
                <a:lnTo>
                  <a:pt x="327976" y="901999"/>
                </a:lnTo>
                <a:lnTo>
                  <a:pt x="272141" y="901999"/>
                </a:lnTo>
                <a:lnTo>
                  <a:pt x="272141" y="47999"/>
                </a:lnTo>
                <a:close/>
              </a:path>
            </a:pathLst>
          </a:custGeom>
          <a:solidFill>
            <a:srgbClr val="2461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231960" y="5586476"/>
            <a:ext cx="7108825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15" b="1">
                <a:solidFill>
                  <a:srgbClr val="0000FF"/>
                </a:solidFill>
                <a:latin typeface="Calibri"/>
                <a:cs typeface="Calibri"/>
              </a:rPr>
              <a:t>Edge-level </a:t>
            </a:r>
            <a:r>
              <a:rPr dirty="0" sz="2400" spc="-5" b="1">
                <a:solidFill>
                  <a:srgbClr val="0000FF"/>
                </a:solidFill>
                <a:latin typeface="Calibri"/>
                <a:cs typeface="Calibri"/>
              </a:rPr>
              <a:t>RNN sequentially </a:t>
            </a:r>
            <a:r>
              <a:rPr dirty="0" sz="2400" spc="-10" b="1">
                <a:solidFill>
                  <a:srgbClr val="0000FF"/>
                </a:solidFill>
                <a:latin typeface="Calibri"/>
                <a:cs typeface="Calibri"/>
              </a:rPr>
              <a:t>predict </a:t>
            </a:r>
            <a:r>
              <a:rPr dirty="0" sz="2400" spc="-5" b="1">
                <a:solidFill>
                  <a:srgbClr val="0000FF"/>
                </a:solidFill>
                <a:latin typeface="Calibri"/>
                <a:cs typeface="Calibri"/>
              </a:rPr>
              <a:t>if the new node will  connect </a:t>
            </a:r>
            <a:r>
              <a:rPr dirty="0" sz="2400" spc="-10" b="1">
                <a:solidFill>
                  <a:srgbClr val="0000FF"/>
                </a:solidFill>
                <a:latin typeface="Calibri"/>
                <a:cs typeface="Calibri"/>
              </a:rPr>
              <a:t>to </a:t>
            </a:r>
            <a:r>
              <a:rPr dirty="0" sz="2400" spc="-5" b="1">
                <a:solidFill>
                  <a:srgbClr val="0000FF"/>
                </a:solidFill>
                <a:latin typeface="Calibri"/>
                <a:cs typeface="Calibri"/>
              </a:rPr>
              <a:t>each of </a:t>
            </a:r>
            <a:r>
              <a:rPr dirty="0" sz="2400" b="1">
                <a:solidFill>
                  <a:srgbClr val="0000FF"/>
                </a:solidFill>
                <a:latin typeface="Calibri"/>
                <a:cs typeface="Calibri"/>
              </a:rPr>
              <a:t>the </a:t>
            </a:r>
            <a:r>
              <a:rPr dirty="0" sz="2400" spc="-10" b="1">
                <a:solidFill>
                  <a:srgbClr val="0000FF"/>
                </a:solidFill>
                <a:latin typeface="Calibri"/>
                <a:cs typeface="Calibri"/>
              </a:rPr>
              <a:t>previous</a:t>
            </a:r>
            <a:r>
              <a:rPr dirty="0" sz="2400" spc="-3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400" spc="-5" b="1">
                <a:solidFill>
                  <a:srgbClr val="0000FF"/>
                </a:solidFill>
                <a:latin typeface="Calibri"/>
                <a:cs typeface="Calibri"/>
              </a:rPr>
              <a:t>node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7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4"/>
              </a:rPr>
              <a:t>http://cs224w.stanford.edu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27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1375"/>
            <a:ext cx="7367016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55600" y="2098521"/>
            <a:ext cx="8778240" cy="35519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59468" y="1207516"/>
            <a:ext cx="4831715" cy="705485"/>
          </a:xfrm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25"/>
              </a:spcBef>
            </a:pPr>
            <a:r>
              <a:rPr dirty="0" sz="2200" spc="-5">
                <a:solidFill>
                  <a:srgbClr val="008000"/>
                </a:solidFill>
                <a:latin typeface="Arial"/>
                <a:cs typeface="Arial"/>
              </a:rPr>
              <a:t>Node-level RNN generates </a:t>
            </a:r>
            <a:r>
              <a:rPr dirty="0" sz="2200">
                <a:solidFill>
                  <a:srgbClr val="008000"/>
                </a:solidFill>
                <a:latin typeface="Arial"/>
                <a:cs typeface="Arial"/>
              </a:rPr>
              <a:t>the initial  state for </a:t>
            </a:r>
            <a:r>
              <a:rPr dirty="0" sz="2200">
                <a:solidFill>
                  <a:srgbClr val="0000FF"/>
                </a:solidFill>
                <a:latin typeface="Arial"/>
                <a:cs typeface="Arial"/>
              </a:rPr>
              <a:t>edge-level</a:t>
            </a:r>
            <a:r>
              <a:rPr dirty="0" sz="2200" spc="-8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200" spc="-5">
                <a:solidFill>
                  <a:srgbClr val="0000FF"/>
                </a:solidFill>
                <a:latin typeface="Arial"/>
                <a:cs typeface="Arial"/>
              </a:rPr>
              <a:t>RNN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756400" y="1315074"/>
            <a:ext cx="1016000" cy="304800"/>
          </a:xfrm>
          <a:custGeom>
            <a:avLst/>
            <a:gdLst/>
            <a:ahLst/>
            <a:cxnLst/>
            <a:rect l="l" t="t" r="r" b="b"/>
            <a:pathLst>
              <a:path w="1016000" h="304800">
                <a:moveTo>
                  <a:pt x="863600" y="0"/>
                </a:moveTo>
                <a:lnTo>
                  <a:pt x="863600" y="76200"/>
                </a:lnTo>
                <a:lnTo>
                  <a:pt x="0" y="76200"/>
                </a:lnTo>
                <a:lnTo>
                  <a:pt x="0" y="228600"/>
                </a:lnTo>
                <a:lnTo>
                  <a:pt x="863600" y="228600"/>
                </a:lnTo>
                <a:lnTo>
                  <a:pt x="863600" y="304800"/>
                </a:lnTo>
                <a:lnTo>
                  <a:pt x="1016000" y="152400"/>
                </a:lnTo>
                <a:lnTo>
                  <a:pt x="863600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732399" y="1257133"/>
            <a:ext cx="1074420" cy="421005"/>
          </a:xfrm>
          <a:custGeom>
            <a:avLst/>
            <a:gdLst/>
            <a:ahLst/>
            <a:cxnLst/>
            <a:rect l="l" t="t" r="r" b="b"/>
            <a:pathLst>
              <a:path w="1074420" h="421005">
                <a:moveTo>
                  <a:pt x="863600" y="0"/>
                </a:moveTo>
                <a:lnTo>
                  <a:pt x="863600" y="110140"/>
                </a:lnTo>
                <a:lnTo>
                  <a:pt x="0" y="110140"/>
                </a:lnTo>
                <a:lnTo>
                  <a:pt x="0" y="310541"/>
                </a:lnTo>
                <a:lnTo>
                  <a:pt x="863600" y="310541"/>
                </a:lnTo>
                <a:lnTo>
                  <a:pt x="863600" y="420682"/>
                </a:lnTo>
                <a:lnTo>
                  <a:pt x="933128" y="351153"/>
                </a:lnTo>
                <a:lnTo>
                  <a:pt x="892401" y="351153"/>
                </a:lnTo>
                <a:lnTo>
                  <a:pt x="892401" y="281741"/>
                </a:lnTo>
                <a:lnTo>
                  <a:pt x="28801" y="281741"/>
                </a:lnTo>
                <a:lnTo>
                  <a:pt x="28801" y="138941"/>
                </a:lnTo>
                <a:lnTo>
                  <a:pt x="892401" y="138941"/>
                </a:lnTo>
                <a:lnTo>
                  <a:pt x="892401" y="69529"/>
                </a:lnTo>
                <a:lnTo>
                  <a:pt x="933129" y="69529"/>
                </a:lnTo>
                <a:lnTo>
                  <a:pt x="863600" y="0"/>
                </a:lnTo>
                <a:close/>
              </a:path>
              <a:path w="1074420" h="421005">
                <a:moveTo>
                  <a:pt x="933129" y="69529"/>
                </a:moveTo>
                <a:lnTo>
                  <a:pt x="892401" y="69529"/>
                </a:lnTo>
                <a:lnTo>
                  <a:pt x="1033212" y="210341"/>
                </a:lnTo>
                <a:lnTo>
                  <a:pt x="892401" y="351153"/>
                </a:lnTo>
                <a:lnTo>
                  <a:pt x="933128" y="351153"/>
                </a:lnTo>
                <a:lnTo>
                  <a:pt x="1073941" y="210341"/>
                </a:lnTo>
                <a:lnTo>
                  <a:pt x="933129" y="69529"/>
                </a:lnTo>
                <a:close/>
              </a:path>
              <a:path w="1074420" h="421005">
                <a:moveTo>
                  <a:pt x="902000" y="92706"/>
                </a:moveTo>
                <a:lnTo>
                  <a:pt x="902000" y="148541"/>
                </a:lnTo>
                <a:lnTo>
                  <a:pt x="38400" y="148541"/>
                </a:lnTo>
                <a:lnTo>
                  <a:pt x="38400" y="272141"/>
                </a:lnTo>
                <a:lnTo>
                  <a:pt x="902000" y="272141"/>
                </a:lnTo>
                <a:lnTo>
                  <a:pt x="902000" y="327976"/>
                </a:lnTo>
                <a:lnTo>
                  <a:pt x="925177" y="304800"/>
                </a:lnTo>
                <a:lnTo>
                  <a:pt x="911600" y="304800"/>
                </a:lnTo>
                <a:lnTo>
                  <a:pt x="911600" y="262540"/>
                </a:lnTo>
                <a:lnTo>
                  <a:pt x="48000" y="262540"/>
                </a:lnTo>
                <a:lnTo>
                  <a:pt x="48000" y="158141"/>
                </a:lnTo>
                <a:lnTo>
                  <a:pt x="911600" y="158141"/>
                </a:lnTo>
                <a:lnTo>
                  <a:pt x="911600" y="115882"/>
                </a:lnTo>
                <a:lnTo>
                  <a:pt x="925177" y="115882"/>
                </a:lnTo>
                <a:lnTo>
                  <a:pt x="902000" y="92706"/>
                </a:lnTo>
                <a:close/>
              </a:path>
              <a:path w="1074420" h="421005">
                <a:moveTo>
                  <a:pt x="925177" y="115882"/>
                </a:moveTo>
                <a:lnTo>
                  <a:pt x="911600" y="115882"/>
                </a:lnTo>
                <a:lnTo>
                  <a:pt x="1006059" y="210341"/>
                </a:lnTo>
                <a:lnTo>
                  <a:pt x="911600" y="304800"/>
                </a:lnTo>
                <a:lnTo>
                  <a:pt x="925177" y="304800"/>
                </a:lnTo>
                <a:lnTo>
                  <a:pt x="1019636" y="210341"/>
                </a:lnTo>
                <a:lnTo>
                  <a:pt x="925177" y="115882"/>
                </a:lnTo>
                <a:close/>
              </a:path>
            </a:pathLst>
          </a:custGeom>
          <a:solidFill>
            <a:srgbClr val="2F62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7200" y="5142457"/>
            <a:ext cx="304800" cy="1016000"/>
          </a:xfrm>
          <a:custGeom>
            <a:avLst/>
            <a:gdLst/>
            <a:ahLst/>
            <a:cxnLst/>
            <a:rect l="l" t="t" r="r" b="b"/>
            <a:pathLst>
              <a:path w="304800" h="1016000">
                <a:moveTo>
                  <a:pt x="304800" y="863600"/>
                </a:moveTo>
                <a:lnTo>
                  <a:pt x="0" y="863600"/>
                </a:lnTo>
                <a:lnTo>
                  <a:pt x="152400" y="1016000"/>
                </a:lnTo>
                <a:lnTo>
                  <a:pt x="304800" y="863600"/>
                </a:lnTo>
                <a:close/>
              </a:path>
              <a:path w="304800" h="1016000">
                <a:moveTo>
                  <a:pt x="228600" y="0"/>
                </a:moveTo>
                <a:lnTo>
                  <a:pt x="76200" y="0"/>
                </a:lnTo>
                <a:lnTo>
                  <a:pt x="76200" y="863600"/>
                </a:lnTo>
                <a:lnTo>
                  <a:pt x="228600" y="863600"/>
                </a:lnTo>
                <a:lnTo>
                  <a:pt x="228600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99258" y="5118458"/>
            <a:ext cx="421005" cy="1074420"/>
          </a:xfrm>
          <a:custGeom>
            <a:avLst/>
            <a:gdLst/>
            <a:ahLst/>
            <a:cxnLst/>
            <a:rect l="l" t="t" r="r" b="b"/>
            <a:pathLst>
              <a:path w="421005" h="1074420">
                <a:moveTo>
                  <a:pt x="310541" y="0"/>
                </a:moveTo>
                <a:lnTo>
                  <a:pt x="110141" y="0"/>
                </a:lnTo>
                <a:lnTo>
                  <a:pt x="110141" y="863599"/>
                </a:lnTo>
                <a:lnTo>
                  <a:pt x="0" y="863599"/>
                </a:lnTo>
                <a:lnTo>
                  <a:pt x="210341" y="1073940"/>
                </a:lnTo>
                <a:lnTo>
                  <a:pt x="251070" y="1033211"/>
                </a:lnTo>
                <a:lnTo>
                  <a:pt x="210341" y="1033211"/>
                </a:lnTo>
                <a:lnTo>
                  <a:pt x="69529" y="892399"/>
                </a:lnTo>
                <a:lnTo>
                  <a:pt x="138941" y="892399"/>
                </a:lnTo>
                <a:lnTo>
                  <a:pt x="138941" y="28799"/>
                </a:lnTo>
                <a:lnTo>
                  <a:pt x="310541" y="28799"/>
                </a:lnTo>
                <a:lnTo>
                  <a:pt x="310541" y="0"/>
                </a:lnTo>
                <a:close/>
              </a:path>
              <a:path w="421005" h="1074420">
                <a:moveTo>
                  <a:pt x="310541" y="28799"/>
                </a:moveTo>
                <a:lnTo>
                  <a:pt x="281741" y="28799"/>
                </a:lnTo>
                <a:lnTo>
                  <a:pt x="281741" y="892399"/>
                </a:lnTo>
                <a:lnTo>
                  <a:pt x="351152" y="892399"/>
                </a:lnTo>
                <a:lnTo>
                  <a:pt x="210341" y="1033211"/>
                </a:lnTo>
                <a:lnTo>
                  <a:pt x="251070" y="1033211"/>
                </a:lnTo>
                <a:lnTo>
                  <a:pt x="420682" y="863599"/>
                </a:lnTo>
                <a:lnTo>
                  <a:pt x="310541" y="863599"/>
                </a:lnTo>
                <a:lnTo>
                  <a:pt x="310541" y="28799"/>
                </a:lnTo>
                <a:close/>
              </a:path>
              <a:path w="421005" h="1074420">
                <a:moveTo>
                  <a:pt x="272141" y="38399"/>
                </a:moveTo>
                <a:lnTo>
                  <a:pt x="148541" y="38399"/>
                </a:lnTo>
                <a:lnTo>
                  <a:pt x="148541" y="901999"/>
                </a:lnTo>
                <a:lnTo>
                  <a:pt x="92705" y="901999"/>
                </a:lnTo>
                <a:lnTo>
                  <a:pt x="210341" y="1019634"/>
                </a:lnTo>
                <a:lnTo>
                  <a:pt x="223917" y="1006058"/>
                </a:lnTo>
                <a:lnTo>
                  <a:pt x="210341" y="1006058"/>
                </a:lnTo>
                <a:lnTo>
                  <a:pt x="115882" y="911599"/>
                </a:lnTo>
                <a:lnTo>
                  <a:pt x="158141" y="911599"/>
                </a:lnTo>
                <a:lnTo>
                  <a:pt x="158141" y="47999"/>
                </a:lnTo>
                <a:lnTo>
                  <a:pt x="272141" y="47999"/>
                </a:lnTo>
                <a:lnTo>
                  <a:pt x="272141" y="38399"/>
                </a:lnTo>
                <a:close/>
              </a:path>
              <a:path w="421005" h="1074420">
                <a:moveTo>
                  <a:pt x="272141" y="47999"/>
                </a:moveTo>
                <a:lnTo>
                  <a:pt x="262541" y="47999"/>
                </a:lnTo>
                <a:lnTo>
                  <a:pt x="262541" y="911599"/>
                </a:lnTo>
                <a:lnTo>
                  <a:pt x="304800" y="911599"/>
                </a:lnTo>
                <a:lnTo>
                  <a:pt x="210341" y="1006058"/>
                </a:lnTo>
                <a:lnTo>
                  <a:pt x="223917" y="1006058"/>
                </a:lnTo>
                <a:lnTo>
                  <a:pt x="327976" y="901999"/>
                </a:lnTo>
                <a:lnTo>
                  <a:pt x="272141" y="901999"/>
                </a:lnTo>
                <a:lnTo>
                  <a:pt x="272141" y="47999"/>
                </a:lnTo>
                <a:close/>
              </a:path>
            </a:pathLst>
          </a:custGeom>
          <a:solidFill>
            <a:srgbClr val="2461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244660" y="5638712"/>
            <a:ext cx="7665084" cy="7067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725"/>
              </a:lnSpc>
            </a:pPr>
            <a:r>
              <a:rPr dirty="0" sz="2350" spc="-40">
                <a:solidFill>
                  <a:srgbClr val="0070C0"/>
                </a:solidFill>
                <a:latin typeface="Arial"/>
                <a:cs typeface="Arial"/>
              </a:rPr>
              <a:t>Edge-level </a:t>
            </a:r>
            <a:r>
              <a:rPr dirty="0" sz="2350" spc="-45">
                <a:solidFill>
                  <a:srgbClr val="0070C0"/>
                </a:solidFill>
                <a:latin typeface="Arial"/>
                <a:cs typeface="Arial"/>
              </a:rPr>
              <a:t>RNN </a:t>
            </a:r>
            <a:r>
              <a:rPr dirty="0" sz="2350" spc="-30">
                <a:solidFill>
                  <a:srgbClr val="0070C0"/>
                </a:solidFill>
                <a:latin typeface="Arial"/>
                <a:cs typeface="Arial"/>
              </a:rPr>
              <a:t>generates </a:t>
            </a:r>
            <a:r>
              <a:rPr dirty="0" sz="2350" spc="-15">
                <a:solidFill>
                  <a:srgbClr val="0070C0"/>
                </a:solidFill>
                <a:latin typeface="Arial"/>
                <a:cs typeface="Arial"/>
              </a:rPr>
              <a:t>edges for </a:t>
            </a:r>
            <a:r>
              <a:rPr dirty="0" sz="2350" spc="-10">
                <a:solidFill>
                  <a:srgbClr val="0070C0"/>
                </a:solidFill>
                <a:latin typeface="Arial"/>
                <a:cs typeface="Arial"/>
              </a:rPr>
              <a:t>the </a:t>
            </a:r>
            <a:r>
              <a:rPr dirty="0" sz="2350" spc="-5">
                <a:solidFill>
                  <a:srgbClr val="0070C0"/>
                </a:solidFill>
                <a:latin typeface="Arial"/>
                <a:cs typeface="Arial"/>
              </a:rPr>
              <a:t>new</a:t>
            </a:r>
            <a:r>
              <a:rPr dirty="0" sz="2350" spc="40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0070C0"/>
                </a:solidFill>
                <a:latin typeface="Arial"/>
                <a:cs typeface="Arial"/>
              </a:rPr>
              <a:t>node,</a:t>
            </a:r>
            <a:endParaRPr sz="2350">
              <a:latin typeface="Arial"/>
              <a:cs typeface="Arial"/>
            </a:endParaRPr>
          </a:p>
          <a:p>
            <a:pPr>
              <a:lnSpc>
                <a:spcPts val="2800"/>
              </a:lnSpc>
            </a:pPr>
            <a:r>
              <a:rPr dirty="0" sz="2350" spc="-15">
                <a:solidFill>
                  <a:srgbClr val="0070C0"/>
                </a:solidFill>
                <a:latin typeface="Arial"/>
                <a:cs typeface="Arial"/>
              </a:rPr>
              <a:t>then </a:t>
            </a:r>
            <a:r>
              <a:rPr dirty="0" sz="2350" spc="0">
                <a:solidFill>
                  <a:srgbClr val="0070C0"/>
                </a:solidFill>
                <a:latin typeface="Arial"/>
                <a:cs typeface="Arial"/>
              </a:rPr>
              <a:t>update </a:t>
            </a:r>
            <a:r>
              <a:rPr dirty="0" sz="2350" spc="-25">
                <a:solidFill>
                  <a:srgbClr val="0070C0"/>
                </a:solidFill>
                <a:latin typeface="Arial"/>
                <a:cs typeface="Arial"/>
              </a:rPr>
              <a:t>Node-level </a:t>
            </a:r>
            <a:r>
              <a:rPr dirty="0" sz="2350" spc="-45">
                <a:solidFill>
                  <a:srgbClr val="0070C0"/>
                </a:solidFill>
                <a:latin typeface="Arial"/>
                <a:cs typeface="Arial"/>
              </a:rPr>
              <a:t>RNN </a:t>
            </a:r>
            <a:r>
              <a:rPr dirty="0" sz="2350" spc="-10">
                <a:solidFill>
                  <a:srgbClr val="0070C0"/>
                </a:solidFill>
                <a:latin typeface="Arial"/>
                <a:cs typeface="Arial"/>
              </a:rPr>
              <a:t>state </a:t>
            </a:r>
            <a:r>
              <a:rPr dirty="0" sz="2350" spc="-25">
                <a:solidFill>
                  <a:srgbClr val="0070C0"/>
                </a:solidFill>
                <a:latin typeface="Arial"/>
                <a:cs typeface="Arial"/>
              </a:rPr>
              <a:t>using </a:t>
            </a:r>
            <a:r>
              <a:rPr dirty="0" sz="2350" spc="-20">
                <a:solidFill>
                  <a:srgbClr val="0070C0"/>
                </a:solidFill>
                <a:latin typeface="Arial"/>
                <a:cs typeface="Arial"/>
              </a:rPr>
              <a:t>generated</a:t>
            </a:r>
            <a:r>
              <a:rPr dirty="0" sz="2350" spc="365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350" spc="-35">
                <a:solidFill>
                  <a:srgbClr val="0070C0"/>
                </a:solidFill>
                <a:latin typeface="Arial"/>
                <a:cs typeface="Arial"/>
              </a:rPr>
              <a:t>results</a:t>
            </a:r>
            <a:endParaRPr sz="235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7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4"/>
              </a:rPr>
              <a:t>http://cs224w.stanford.edu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27</a:t>
            </a:fld>
          </a:p>
        </p:txBody>
      </p:sp>
      <p:sp>
        <p:nvSpPr>
          <p:cNvPr id="10" name="object 10"/>
          <p:cNvSpPr txBox="1"/>
          <p:nvPr/>
        </p:nvSpPr>
        <p:spPr>
          <a:xfrm>
            <a:off x="335275" y="5371055"/>
            <a:ext cx="8608695" cy="1040765"/>
          </a:xfrm>
          <a:prstGeom prst="rect">
            <a:avLst/>
          </a:prstGeom>
          <a:solidFill>
            <a:srgbClr val="92D050"/>
          </a:solidFill>
        </p:spPr>
        <p:txBody>
          <a:bodyPr wrap="square" lIns="0" tIns="234950" rIns="0" bIns="0" rtlCol="0" vert="horz">
            <a:spAutoFit/>
          </a:bodyPr>
          <a:lstStyle/>
          <a:p>
            <a:pPr marL="296545">
              <a:lnSpc>
                <a:spcPct val="100000"/>
              </a:lnSpc>
              <a:spcBef>
                <a:spcPts val="1850"/>
              </a:spcBef>
            </a:pPr>
            <a:r>
              <a:rPr dirty="0" sz="3400" spc="-15" b="1">
                <a:solidFill>
                  <a:srgbClr val="FFFFFF"/>
                </a:solidFill>
                <a:latin typeface="Calibri"/>
                <a:cs typeface="Calibri"/>
              </a:rPr>
              <a:t>Next: </a:t>
            </a:r>
            <a:r>
              <a:rPr dirty="0" sz="3400" spc="-10">
                <a:solidFill>
                  <a:srgbClr val="FFFFFF"/>
                </a:solidFill>
                <a:latin typeface="Calibri"/>
                <a:cs typeface="Calibri"/>
              </a:rPr>
              <a:t>How </a:t>
            </a:r>
            <a:r>
              <a:rPr dirty="0" sz="3400" spc="-2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dirty="0" sz="3400" spc="-25">
                <a:solidFill>
                  <a:srgbClr val="FFFFFF"/>
                </a:solidFill>
                <a:latin typeface="Calibri"/>
                <a:cs typeface="Calibri"/>
              </a:rPr>
              <a:t>generate </a:t>
            </a:r>
            <a:r>
              <a:rPr dirty="0" sz="340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dirty="0" sz="3400" spc="-5">
                <a:solidFill>
                  <a:srgbClr val="FFFFFF"/>
                </a:solidFill>
                <a:latin typeface="Calibri"/>
                <a:cs typeface="Calibri"/>
              </a:rPr>
              <a:t>sequence with</a:t>
            </a:r>
            <a:r>
              <a:rPr dirty="0" sz="3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400">
                <a:solidFill>
                  <a:srgbClr val="FFFFFF"/>
                </a:solidFill>
                <a:latin typeface="Calibri"/>
                <a:cs typeface="Calibri"/>
              </a:rPr>
              <a:t>RNN?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7324344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7854315" cy="88519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>
                <a:solidFill>
                  <a:srgbClr val="C00000"/>
                </a:solidFill>
              </a:rPr>
              <a:t>Q: </a:t>
            </a:r>
            <a:r>
              <a:rPr dirty="0" sz="2800" spc="-5" b="0">
                <a:solidFill>
                  <a:srgbClr val="C00000"/>
                </a:solidFill>
                <a:latin typeface="Calibri"/>
                <a:cs typeface="Calibri"/>
              </a:rPr>
              <a:t>How </a:t>
            </a:r>
            <a:r>
              <a:rPr dirty="0" sz="2800" spc="-15" b="0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dirty="0" sz="2800" b="0">
                <a:solidFill>
                  <a:srgbClr val="C00000"/>
                </a:solidFill>
                <a:latin typeface="Calibri"/>
                <a:cs typeface="Calibri"/>
              </a:rPr>
              <a:t>use RNN </a:t>
            </a:r>
            <a:r>
              <a:rPr dirty="0" sz="2800" spc="-15" b="0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dirty="0" sz="2800" spc="-25" b="0">
                <a:solidFill>
                  <a:srgbClr val="C00000"/>
                </a:solidFill>
                <a:latin typeface="Calibri"/>
                <a:cs typeface="Calibri"/>
              </a:rPr>
              <a:t>generate</a:t>
            </a:r>
            <a:r>
              <a:rPr dirty="0" sz="2800" b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 b="0">
                <a:solidFill>
                  <a:srgbClr val="C00000"/>
                </a:solidFill>
                <a:latin typeface="Calibri"/>
                <a:cs typeface="Calibri"/>
              </a:rPr>
              <a:t>sequences?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45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/>
              <a:t>A: </a:t>
            </a:r>
            <a:r>
              <a:rPr dirty="0" sz="2800" spc="-10" b="0">
                <a:latin typeface="Calibri"/>
                <a:cs typeface="Calibri"/>
              </a:rPr>
              <a:t>Let </a:t>
            </a:r>
            <a:r>
              <a:rPr dirty="0" sz="2800" spc="190" b="0">
                <a:latin typeface="Cambria Math"/>
                <a:cs typeface="Cambria Math"/>
              </a:rPr>
              <a:t>𝑥</a:t>
            </a:r>
            <a:r>
              <a:rPr dirty="0" baseline="-16666" sz="3000" spc="284" b="0">
                <a:latin typeface="Cambria Math"/>
                <a:cs typeface="Cambria Math"/>
              </a:rPr>
              <a:t>#0, </a:t>
            </a:r>
            <a:r>
              <a:rPr dirty="0" sz="2800" b="0">
                <a:latin typeface="Cambria Math"/>
                <a:cs typeface="Cambria Math"/>
              </a:rPr>
              <a:t>= </a:t>
            </a:r>
            <a:r>
              <a:rPr dirty="0" sz="2800" spc="-110" b="0">
                <a:latin typeface="Cambria Math"/>
                <a:cs typeface="Cambria Math"/>
              </a:rPr>
              <a:t>𝑦</a:t>
            </a:r>
            <a:r>
              <a:rPr dirty="0" baseline="-16666" sz="3000" spc="-165" b="0">
                <a:latin typeface="Cambria Math"/>
                <a:cs typeface="Cambria Math"/>
              </a:rPr>
              <a:t>#</a:t>
            </a:r>
            <a:r>
              <a:rPr dirty="0" sz="2800" spc="-110" b="0">
                <a:latin typeface="Calibri"/>
                <a:cs typeface="Calibri"/>
              </a:rPr>
              <a:t>! </a:t>
            </a:r>
            <a:r>
              <a:rPr dirty="0" sz="2800" b="0">
                <a:latin typeface="Calibri"/>
                <a:cs typeface="Calibri"/>
              </a:rPr>
              <a:t>(Use </a:t>
            </a:r>
            <a:r>
              <a:rPr dirty="0" sz="2800" spc="-5" b="0">
                <a:latin typeface="Calibri"/>
                <a:cs typeface="Calibri"/>
              </a:rPr>
              <a:t>the </a:t>
            </a:r>
            <a:r>
              <a:rPr dirty="0" sz="2800" spc="-10" b="0">
                <a:latin typeface="Calibri"/>
                <a:cs typeface="Calibri"/>
              </a:rPr>
              <a:t>previous </a:t>
            </a:r>
            <a:r>
              <a:rPr dirty="0" sz="2800" spc="-5" b="0">
                <a:latin typeface="Calibri"/>
                <a:cs typeface="Calibri"/>
              </a:rPr>
              <a:t>output as</a:t>
            </a:r>
            <a:r>
              <a:rPr dirty="0" sz="2800" spc="355" b="0">
                <a:latin typeface="Calibri"/>
                <a:cs typeface="Calibri"/>
              </a:rPr>
              <a:t> </a:t>
            </a:r>
            <a:r>
              <a:rPr dirty="0" sz="2800" spc="-5" b="0">
                <a:latin typeface="Calibri"/>
                <a:cs typeface="Calibri"/>
              </a:rPr>
              <a:t>input)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7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27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2466339"/>
            <a:ext cx="8396605" cy="3731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325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Q: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How </a:t>
            </a: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to initialize </a:t>
            </a:r>
            <a:r>
              <a:rPr dirty="0" sz="2800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input</a:t>
            </a:r>
            <a:r>
              <a:rPr dirty="0" sz="2800" spc="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sequence?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325"/>
              </a:lnSpc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b="1">
                <a:latin typeface="Calibri"/>
                <a:cs typeface="Calibri"/>
              </a:rPr>
              <a:t>A: </a:t>
            </a:r>
            <a:r>
              <a:rPr dirty="0" sz="2800">
                <a:latin typeface="Calibri"/>
                <a:cs typeface="Calibri"/>
              </a:rPr>
              <a:t>Use </a:t>
            </a:r>
            <a:r>
              <a:rPr dirty="0" sz="2800" spc="-15" b="1">
                <a:latin typeface="Calibri"/>
                <a:cs typeface="Calibri"/>
              </a:rPr>
              <a:t>start </a:t>
            </a:r>
            <a:r>
              <a:rPr dirty="0" sz="2800" spc="-5" b="1">
                <a:latin typeface="Calibri"/>
                <a:cs typeface="Calibri"/>
              </a:rPr>
              <a:t>of sequence </a:t>
            </a:r>
            <a:r>
              <a:rPr dirty="0" sz="2800" spc="-20" b="1">
                <a:latin typeface="Calibri"/>
                <a:cs typeface="Calibri"/>
              </a:rPr>
              <a:t>token </a:t>
            </a:r>
            <a:r>
              <a:rPr dirty="0" sz="2800" spc="-5" b="1">
                <a:latin typeface="Calibri"/>
                <a:cs typeface="Calibri"/>
              </a:rPr>
              <a:t>(SOS) </a:t>
            </a:r>
            <a:r>
              <a:rPr dirty="0" sz="2800" spc="-5">
                <a:latin typeface="Calibri"/>
                <a:cs typeface="Calibri"/>
              </a:rPr>
              <a:t>as the </a:t>
            </a:r>
            <a:r>
              <a:rPr dirty="0" sz="2800" spc="-10">
                <a:latin typeface="Calibri"/>
                <a:cs typeface="Calibri"/>
              </a:rPr>
              <a:t>initial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input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5">
                <a:latin typeface="Calibri"/>
                <a:cs typeface="Calibri"/>
              </a:rPr>
              <a:t>SOS is usually </a:t>
            </a:r>
            <a:r>
              <a:rPr dirty="0" sz="2400">
                <a:latin typeface="Calibri"/>
                <a:cs typeface="Calibri"/>
              </a:rPr>
              <a:t>a </a:t>
            </a:r>
            <a:r>
              <a:rPr dirty="0" sz="2400" spc="-15">
                <a:latin typeface="Calibri"/>
                <a:cs typeface="Calibri"/>
              </a:rPr>
              <a:t>vector </a:t>
            </a:r>
            <a:r>
              <a:rPr dirty="0" sz="2400" spc="-5">
                <a:latin typeface="Calibri"/>
                <a:cs typeface="Calibri"/>
              </a:rPr>
              <a:t>with all</a:t>
            </a:r>
            <a:r>
              <a:rPr dirty="0" sz="240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zero/ones</a:t>
            </a:r>
            <a:endParaRPr sz="24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1925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Q: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When </a:t>
            </a: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dirty="0" sz="2800" spc="-20">
                <a:solidFill>
                  <a:srgbClr val="C00000"/>
                </a:solidFill>
                <a:latin typeface="Calibri"/>
                <a:cs typeface="Calibri"/>
              </a:rPr>
              <a:t>stop</a:t>
            </a:r>
            <a:r>
              <a:rPr dirty="0" sz="280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generation?</a:t>
            </a:r>
            <a:endParaRPr sz="2800">
              <a:latin typeface="Calibri"/>
              <a:cs typeface="Calibri"/>
            </a:endParaRPr>
          </a:p>
          <a:p>
            <a:pPr marL="332740" marR="406400" indent="-320040">
              <a:lnSpc>
                <a:spcPct val="100699"/>
              </a:lnSpc>
              <a:spcBef>
                <a:spcPts val="2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b="1">
                <a:latin typeface="Calibri"/>
                <a:cs typeface="Calibri"/>
              </a:rPr>
              <a:t>A: </a:t>
            </a:r>
            <a:r>
              <a:rPr dirty="0" sz="2800">
                <a:latin typeface="Calibri"/>
                <a:cs typeface="Calibri"/>
              </a:rPr>
              <a:t>Use </a:t>
            </a:r>
            <a:r>
              <a:rPr dirty="0" sz="2800" spc="-5" b="1">
                <a:latin typeface="Calibri"/>
                <a:cs typeface="Calibri"/>
              </a:rPr>
              <a:t>end of sequence </a:t>
            </a:r>
            <a:r>
              <a:rPr dirty="0" sz="2800" spc="-25" b="1">
                <a:latin typeface="Calibri"/>
                <a:cs typeface="Calibri"/>
              </a:rPr>
              <a:t>token </a:t>
            </a:r>
            <a:r>
              <a:rPr dirty="0" sz="2800" spc="-15" b="1">
                <a:latin typeface="Calibri"/>
                <a:cs typeface="Calibri"/>
              </a:rPr>
              <a:t>(EOS) </a:t>
            </a:r>
            <a:r>
              <a:rPr dirty="0" sz="2800" spc="-5">
                <a:latin typeface="Calibri"/>
                <a:cs typeface="Calibri"/>
              </a:rPr>
              <a:t>as an </a:t>
            </a:r>
            <a:r>
              <a:rPr dirty="0" sz="2800" spc="-25" b="1">
                <a:latin typeface="Calibri"/>
                <a:cs typeface="Calibri"/>
              </a:rPr>
              <a:t>extra </a:t>
            </a:r>
            <a:r>
              <a:rPr dirty="0" sz="2800">
                <a:latin typeface="Calibri"/>
                <a:cs typeface="Calibri"/>
              </a:rPr>
              <a:t>RNN  </a:t>
            </a:r>
            <a:r>
              <a:rPr dirty="0" sz="2800" spc="-5">
                <a:latin typeface="Calibri"/>
                <a:cs typeface="Calibri"/>
              </a:rPr>
              <a:t>output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5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5">
                <a:latin typeface="Calibri"/>
                <a:cs typeface="Calibri"/>
              </a:rPr>
              <a:t>If output </a:t>
            </a:r>
            <a:r>
              <a:rPr dirty="0" sz="2400" spc="-10">
                <a:latin typeface="Calibri"/>
                <a:cs typeface="Calibri"/>
              </a:rPr>
              <a:t>EOS=0, </a:t>
            </a:r>
            <a:r>
              <a:rPr dirty="0" sz="2400" spc="-5">
                <a:latin typeface="Calibri"/>
                <a:cs typeface="Calibri"/>
              </a:rPr>
              <a:t>RNN will </a:t>
            </a:r>
            <a:r>
              <a:rPr dirty="0" sz="2400" spc="-10">
                <a:latin typeface="Calibri"/>
                <a:cs typeface="Calibri"/>
              </a:rPr>
              <a:t>continue</a:t>
            </a:r>
            <a:r>
              <a:rPr dirty="0" sz="2400" spc="5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generation</a:t>
            </a:r>
            <a:endParaRPr sz="24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5">
                <a:latin typeface="Calibri"/>
                <a:cs typeface="Calibri"/>
              </a:rPr>
              <a:t>If output </a:t>
            </a:r>
            <a:r>
              <a:rPr dirty="0" sz="2400" spc="-10">
                <a:latin typeface="Calibri"/>
                <a:cs typeface="Calibri"/>
              </a:rPr>
              <a:t>EOS=1, </a:t>
            </a:r>
            <a:r>
              <a:rPr dirty="0" sz="2400" spc="-5">
                <a:latin typeface="Calibri"/>
                <a:cs typeface="Calibri"/>
              </a:rPr>
              <a:t>RNN will </a:t>
            </a:r>
            <a:r>
              <a:rPr dirty="0" sz="2400" spc="-20">
                <a:latin typeface="Calibri"/>
                <a:cs typeface="Calibri"/>
              </a:rPr>
              <a:t>stop</a:t>
            </a:r>
            <a:r>
              <a:rPr dirty="0" sz="2400" spc="0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generation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7324344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79011" y="5889244"/>
            <a:ext cx="66319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>
                <a:latin typeface="Calibri"/>
                <a:cs typeface="Calibri"/>
              </a:rPr>
              <a:t>This is </a:t>
            </a:r>
            <a:r>
              <a:rPr dirty="0" sz="2800" spc="-10">
                <a:latin typeface="Calibri"/>
                <a:cs typeface="Calibri"/>
              </a:rPr>
              <a:t>good, </a:t>
            </a:r>
            <a:r>
              <a:rPr dirty="0" sz="2800">
                <a:latin typeface="Calibri"/>
                <a:cs typeface="Calibri"/>
              </a:rPr>
              <a:t>but </a:t>
            </a:r>
            <a:r>
              <a:rPr dirty="0" sz="2800" spc="-5">
                <a:latin typeface="Calibri"/>
                <a:cs typeface="Calibri"/>
              </a:rPr>
              <a:t>this model is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deterministic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03613" y="3065852"/>
            <a:ext cx="1059180" cy="762000"/>
          </a:xfrm>
          <a:custGeom>
            <a:avLst/>
            <a:gdLst/>
            <a:ahLst/>
            <a:cxnLst/>
            <a:rect l="l" t="t" r="r" b="b"/>
            <a:pathLst>
              <a:path w="1059180" h="762000">
                <a:moveTo>
                  <a:pt x="0" y="0"/>
                </a:moveTo>
                <a:lnTo>
                  <a:pt x="1058953" y="0"/>
                </a:lnTo>
                <a:lnTo>
                  <a:pt x="1058953" y="761999"/>
                </a:lnTo>
                <a:lnTo>
                  <a:pt x="0" y="761999"/>
                </a:lnTo>
                <a:lnTo>
                  <a:pt x="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03613" y="3065852"/>
            <a:ext cx="1059180" cy="762000"/>
          </a:xfrm>
          <a:custGeom>
            <a:avLst/>
            <a:gdLst/>
            <a:ahLst/>
            <a:cxnLst/>
            <a:rect l="l" t="t" r="r" b="b"/>
            <a:pathLst>
              <a:path w="1059180" h="762000">
                <a:moveTo>
                  <a:pt x="0" y="0"/>
                </a:moveTo>
                <a:lnTo>
                  <a:pt x="1058954" y="0"/>
                </a:lnTo>
                <a:lnTo>
                  <a:pt x="1058954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27613" y="3044444"/>
            <a:ext cx="103505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587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400">
              <a:latin typeface="Corbel"/>
              <a:cs typeface="Corbel"/>
            </a:endParaRPr>
          </a:p>
          <a:p>
            <a:pPr algn="ctr" marR="17145">
              <a:lnSpc>
                <a:spcPct val="100000"/>
              </a:lnSpc>
            </a:pP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cell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9741" y="3282188"/>
            <a:ext cx="1663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𝑠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3599" y="3422396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35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429773" y="3931876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154974" y="103317"/>
                </a:moveTo>
                <a:lnTo>
                  <a:pt x="51658" y="103317"/>
                </a:lnTo>
                <a:lnTo>
                  <a:pt x="51658" y="322301"/>
                </a:lnTo>
                <a:lnTo>
                  <a:pt x="154974" y="322301"/>
                </a:lnTo>
                <a:lnTo>
                  <a:pt x="154974" y="103317"/>
                </a:lnTo>
                <a:close/>
              </a:path>
              <a:path w="207010" h="322579">
                <a:moveTo>
                  <a:pt x="103315" y="0"/>
                </a:moveTo>
                <a:lnTo>
                  <a:pt x="0" y="103317"/>
                </a:lnTo>
                <a:lnTo>
                  <a:pt x="206632" y="103317"/>
                </a:lnTo>
                <a:lnTo>
                  <a:pt x="10331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429773" y="3931876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51658" y="322302"/>
                </a:moveTo>
                <a:lnTo>
                  <a:pt x="51658" y="103316"/>
                </a:lnTo>
                <a:lnTo>
                  <a:pt x="0" y="103316"/>
                </a:lnTo>
                <a:lnTo>
                  <a:pt x="103316" y="0"/>
                </a:lnTo>
                <a:lnTo>
                  <a:pt x="206633" y="103316"/>
                </a:lnTo>
                <a:lnTo>
                  <a:pt x="154974" y="103316"/>
                </a:lnTo>
                <a:lnTo>
                  <a:pt x="154974" y="322302"/>
                </a:lnTo>
                <a:lnTo>
                  <a:pt x="51658" y="322302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95404" y="3389702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80" h="207010">
                <a:moveTo>
                  <a:pt x="218985" y="0"/>
                </a:moveTo>
                <a:lnTo>
                  <a:pt x="218985" y="51657"/>
                </a:lnTo>
                <a:lnTo>
                  <a:pt x="0" y="51657"/>
                </a:lnTo>
                <a:lnTo>
                  <a:pt x="0" y="154974"/>
                </a:lnTo>
                <a:lnTo>
                  <a:pt x="218985" y="154974"/>
                </a:lnTo>
                <a:lnTo>
                  <a:pt x="218985" y="206632"/>
                </a:lnTo>
                <a:lnTo>
                  <a:pt x="322301" y="103315"/>
                </a:lnTo>
                <a:lnTo>
                  <a:pt x="21898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95404" y="3389702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80" h="207010">
                <a:moveTo>
                  <a:pt x="0" y="51658"/>
                </a:moveTo>
                <a:lnTo>
                  <a:pt x="218985" y="51658"/>
                </a:lnTo>
                <a:lnTo>
                  <a:pt x="218985" y="0"/>
                </a:lnTo>
                <a:lnTo>
                  <a:pt x="322302" y="103316"/>
                </a:lnTo>
                <a:lnTo>
                  <a:pt x="218985" y="206633"/>
                </a:lnTo>
                <a:lnTo>
                  <a:pt x="218985" y="154974"/>
                </a:lnTo>
                <a:lnTo>
                  <a:pt x="0" y="154974"/>
                </a:lnTo>
                <a:lnTo>
                  <a:pt x="0" y="51658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148475" y="3389701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80" h="207010">
                <a:moveTo>
                  <a:pt x="218984" y="0"/>
                </a:moveTo>
                <a:lnTo>
                  <a:pt x="218984" y="51657"/>
                </a:lnTo>
                <a:lnTo>
                  <a:pt x="0" y="51657"/>
                </a:lnTo>
                <a:lnTo>
                  <a:pt x="0" y="154974"/>
                </a:lnTo>
                <a:lnTo>
                  <a:pt x="218984" y="154974"/>
                </a:lnTo>
                <a:lnTo>
                  <a:pt x="218984" y="206632"/>
                </a:lnTo>
                <a:lnTo>
                  <a:pt x="322301" y="103315"/>
                </a:lnTo>
                <a:lnTo>
                  <a:pt x="218984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148475" y="3389701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80" h="207010">
                <a:moveTo>
                  <a:pt x="0" y="51658"/>
                </a:moveTo>
                <a:lnTo>
                  <a:pt x="218985" y="51658"/>
                </a:lnTo>
                <a:lnTo>
                  <a:pt x="218985" y="0"/>
                </a:lnTo>
                <a:lnTo>
                  <a:pt x="322302" y="103316"/>
                </a:lnTo>
                <a:lnTo>
                  <a:pt x="218985" y="206633"/>
                </a:lnTo>
                <a:lnTo>
                  <a:pt x="218985" y="154974"/>
                </a:lnTo>
                <a:lnTo>
                  <a:pt x="0" y="154974"/>
                </a:lnTo>
                <a:lnTo>
                  <a:pt x="0" y="51658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429773" y="2656718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80">
                <a:moveTo>
                  <a:pt x="154974" y="103317"/>
                </a:moveTo>
                <a:lnTo>
                  <a:pt x="51658" y="103317"/>
                </a:lnTo>
                <a:lnTo>
                  <a:pt x="51658" y="322301"/>
                </a:lnTo>
                <a:lnTo>
                  <a:pt x="154974" y="322301"/>
                </a:lnTo>
                <a:lnTo>
                  <a:pt x="154974" y="103317"/>
                </a:lnTo>
                <a:close/>
              </a:path>
              <a:path w="207010" h="322580">
                <a:moveTo>
                  <a:pt x="103315" y="0"/>
                </a:moveTo>
                <a:lnTo>
                  <a:pt x="0" y="103317"/>
                </a:lnTo>
                <a:lnTo>
                  <a:pt x="206632" y="103317"/>
                </a:lnTo>
                <a:lnTo>
                  <a:pt x="10331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429773" y="2656717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80">
                <a:moveTo>
                  <a:pt x="51658" y="322302"/>
                </a:moveTo>
                <a:lnTo>
                  <a:pt x="51658" y="103316"/>
                </a:lnTo>
                <a:lnTo>
                  <a:pt x="0" y="103316"/>
                </a:lnTo>
                <a:lnTo>
                  <a:pt x="103316" y="0"/>
                </a:lnTo>
                <a:lnTo>
                  <a:pt x="206633" y="103316"/>
                </a:lnTo>
                <a:lnTo>
                  <a:pt x="154974" y="103316"/>
                </a:lnTo>
                <a:lnTo>
                  <a:pt x="154974" y="322302"/>
                </a:lnTo>
                <a:lnTo>
                  <a:pt x="51658" y="322302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599815" y="3236467"/>
            <a:ext cx="2844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14">
                <a:latin typeface="Cambria Math"/>
                <a:cs typeface="Cambria Math"/>
              </a:rPr>
              <a:t>𝑠</a:t>
            </a:r>
            <a:r>
              <a:rPr dirty="0" baseline="-15432" sz="2700" spc="427">
                <a:latin typeface="Cambria Math"/>
                <a:cs typeface="Cambria Math"/>
              </a:rPr>
              <a:t>(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413647" y="3065852"/>
            <a:ext cx="1059180" cy="762000"/>
          </a:xfrm>
          <a:custGeom>
            <a:avLst/>
            <a:gdLst/>
            <a:ahLst/>
            <a:cxnLst/>
            <a:rect l="l" t="t" r="r" b="b"/>
            <a:pathLst>
              <a:path w="1059179" h="762000">
                <a:moveTo>
                  <a:pt x="0" y="0"/>
                </a:moveTo>
                <a:lnTo>
                  <a:pt x="1058954" y="0"/>
                </a:lnTo>
                <a:lnTo>
                  <a:pt x="1058954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3413647" y="3089852"/>
            <a:ext cx="1035050" cy="714375"/>
          </a:xfrm>
          <a:prstGeom prst="rect">
            <a:avLst/>
          </a:prstGeom>
          <a:solidFill>
            <a:srgbClr val="F0AD00"/>
          </a:solidFill>
        </p:spPr>
        <p:txBody>
          <a:bodyPr wrap="square" lIns="0" tIns="0" rIns="0" bIns="0" rtlCol="0" vert="horz">
            <a:spAutoFit/>
          </a:bodyPr>
          <a:lstStyle/>
          <a:p>
            <a:pPr algn="ctr" marL="24130">
              <a:lnSpc>
                <a:spcPts val="2620"/>
              </a:lnSpc>
            </a:pP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400">
              <a:latin typeface="Corbel"/>
              <a:cs typeface="Corbel"/>
            </a:endParaRPr>
          </a:p>
          <a:p>
            <a:pPr algn="ctr" marL="22860">
              <a:lnSpc>
                <a:spcPct val="100000"/>
              </a:lnSpc>
            </a:pP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cell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20122" y="4272788"/>
            <a:ext cx="8274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225">
                <a:latin typeface="Cambria Math"/>
                <a:cs typeface="Cambria Math"/>
              </a:rPr>
              <a:t>𝑥</a:t>
            </a:r>
            <a:r>
              <a:rPr dirty="0" baseline="-15432" sz="2700" spc="337">
                <a:latin typeface="Cambria Math"/>
                <a:cs typeface="Cambria Math"/>
              </a:rPr>
              <a:t>,</a:t>
            </a:r>
            <a:r>
              <a:rPr dirty="0" sz="2400" spc="225">
                <a:latin typeface="Corbel"/>
                <a:cs typeface="Corbel"/>
              </a:rPr>
              <a:t>=</a:t>
            </a:r>
            <a:r>
              <a:rPr dirty="0" sz="2400" spc="-105">
                <a:latin typeface="Corbel"/>
                <a:cs typeface="Corbel"/>
              </a:rPr>
              <a:t> </a:t>
            </a:r>
            <a:r>
              <a:rPr dirty="0" sz="2400" spc="75">
                <a:latin typeface="Cambria Math"/>
                <a:cs typeface="Cambria Math"/>
              </a:rPr>
              <a:t>𝑦</a:t>
            </a:r>
            <a:r>
              <a:rPr dirty="0" baseline="-15432" sz="2700" spc="112">
                <a:latin typeface="Cambria Math"/>
                <a:cs typeface="Cambria Math"/>
              </a:rPr>
              <a:t>(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839806" y="3931876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154974" y="103317"/>
                </a:moveTo>
                <a:lnTo>
                  <a:pt x="51657" y="103317"/>
                </a:lnTo>
                <a:lnTo>
                  <a:pt x="51657" y="322301"/>
                </a:lnTo>
                <a:lnTo>
                  <a:pt x="154974" y="322301"/>
                </a:lnTo>
                <a:lnTo>
                  <a:pt x="154974" y="103317"/>
                </a:lnTo>
                <a:close/>
              </a:path>
              <a:path w="207010" h="322579">
                <a:moveTo>
                  <a:pt x="103315" y="0"/>
                </a:moveTo>
                <a:lnTo>
                  <a:pt x="0" y="103317"/>
                </a:lnTo>
                <a:lnTo>
                  <a:pt x="206632" y="103317"/>
                </a:lnTo>
                <a:lnTo>
                  <a:pt x="10331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839806" y="3931876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51658" y="322302"/>
                </a:moveTo>
                <a:lnTo>
                  <a:pt x="51658" y="103316"/>
                </a:lnTo>
                <a:lnTo>
                  <a:pt x="0" y="103316"/>
                </a:lnTo>
                <a:lnTo>
                  <a:pt x="103316" y="0"/>
                </a:lnTo>
                <a:lnTo>
                  <a:pt x="206633" y="103316"/>
                </a:lnTo>
                <a:lnTo>
                  <a:pt x="154974" y="103316"/>
                </a:lnTo>
                <a:lnTo>
                  <a:pt x="154974" y="322302"/>
                </a:lnTo>
                <a:lnTo>
                  <a:pt x="51658" y="322302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005438" y="3389702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79" h="207010">
                <a:moveTo>
                  <a:pt x="218984" y="0"/>
                </a:moveTo>
                <a:lnTo>
                  <a:pt x="218984" y="51657"/>
                </a:lnTo>
                <a:lnTo>
                  <a:pt x="0" y="51657"/>
                </a:lnTo>
                <a:lnTo>
                  <a:pt x="0" y="154974"/>
                </a:lnTo>
                <a:lnTo>
                  <a:pt x="218984" y="154974"/>
                </a:lnTo>
                <a:lnTo>
                  <a:pt x="218984" y="206632"/>
                </a:lnTo>
                <a:lnTo>
                  <a:pt x="322301" y="103315"/>
                </a:lnTo>
                <a:lnTo>
                  <a:pt x="218984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005438" y="3389702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79" h="207010">
                <a:moveTo>
                  <a:pt x="0" y="51658"/>
                </a:moveTo>
                <a:lnTo>
                  <a:pt x="218985" y="51658"/>
                </a:lnTo>
                <a:lnTo>
                  <a:pt x="218985" y="0"/>
                </a:lnTo>
                <a:lnTo>
                  <a:pt x="322302" y="103316"/>
                </a:lnTo>
                <a:lnTo>
                  <a:pt x="218985" y="206633"/>
                </a:lnTo>
                <a:lnTo>
                  <a:pt x="218985" y="154974"/>
                </a:lnTo>
                <a:lnTo>
                  <a:pt x="0" y="154974"/>
                </a:lnTo>
                <a:lnTo>
                  <a:pt x="0" y="51658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558507" y="3389701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79" h="207010">
                <a:moveTo>
                  <a:pt x="218986" y="0"/>
                </a:moveTo>
                <a:lnTo>
                  <a:pt x="218986" y="51657"/>
                </a:lnTo>
                <a:lnTo>
                  <a:pt x="0" y="51657"/>
                </a:lnTo>
                <a:lnTo>
                  <a:pt x="0" y="154974"/>
                </a:lnTo>
                <a:lnTo>
                  <a:pt x="218986" y="154974"/>
                </a:lnTo>
                <a:lnTo>
                  <a:pt x="218986" y="206632"/>
                </a:lnTo>
                <a:lnTo>
                  <a:pt x="322301" y="103315"/>
                </a:lnTo>
                <a:lnTo>
                  <a:pt x="218986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558507" y="3389701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79" h="207010">
                <a:moveTo>
                  <a:pt x="0" y="51658"/>
                </a:moveTo>
                <a:lnTo>
                  <a:pt x="218985" y="51658"/>
                </a:lnTo>
                <a:lnTo>
                  <a:pt x="218985" y="0"/>
                </a:lnTo>
                <a:lnTo>
                  <a:pt x="322302" y="103316"/>
                </a:lnTo>
                <a:lnTo>
                  <a:pt x="218985" y="206633"/>
                </a:lnTo>
                <a:lnTo>
                  <a:pt x="218985" y="154974"/>
                </a:lnTo>
                <a:lnTo>
                  <a:pt x="0" y="154974"/>
                </a:lnTo>
                <a:lnTo>
                  <a:pt x="0" y="51658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839806" y="2656718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80">
                <a:moveTo>
                  <a:pt x="154974" y="103317"/>
                </a:moveTo>
                <a:lnTo>
                  <a:pt x="51657" y="103317"/>
                </a:lnTo>
                <a:lnTo>
                  <a:pt x="51657" y="322301"/>
                </a:lnTo>
                <a:lnTo>
                  <a:pt x="154974" y="322301"/>
                </a:lnTo>
                <a:lnTo>
                  <a:pt x="154974" y="103317"/>
                </a:lnTo>
                <a:close/>
              </a:path>
              <a:path w="207010" h="322580">
                <a:moveTo>
                  <a:pt x="103315" y="0"/>
                </a:moveTo>
                <a:lnTo>
                  <a:pt x="0" y="103317"/>
                </a:lnTo>
                <a:lnTo>
                  <a:pt x="206632" y="103317"/>
                </a:lnTo>
                <a:lnTo>
                  <a:pt x="10331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839806" y="2656717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80">
                <a:moveTo>
                  <a:pt x="51658" y="322302"/>
                </a:moveTo>
                <a:lnTo>
                  <a:pt x="51658" y="103316"/>
                </a:lnTo>
                <a:lnTo>
                  <a:pt x="0" y="103316"/>
                </a:lnTo>
                <a:lnTo>
                  <a:pt x="103316" y="0"/>
                </a:lnTo>
                <a:lnTo>
                  <a:pt x="206633" y="103316"/>
                </a:lnTo>
                <a:lnTo>
                  <a:pt x="154974" y="103316"/>
                </a:lnTo>
                <a:lnTo>
                  <a:pt x="154974" y="322302"/>
                </a:lnTo>
                <a:lnTo>
                  <a:pt x="51658" y="322302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5983994" y="3297428"/>
            <a:ext cx="6076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1574" sz="3600" spc="37">
                <a:latin typeface="Cambria Math"/>
                <a:cs typeface="Cambria Math"/>
              </a:rPr>
              <a:t>𝑠</a:t>
            </a:r>
            <a:r>
              <a:rPr dirty="0" sz="1800" spc="120">
                <a:latin typeface="Cambria Math"/>
                <a:cs typeface="Cambria Math"/>
              </a:rPr>
              <a:t>2</a:t>
            </a:r>
            <a:r>
              <a:rPr dirty="0" sz="1800" spc="500">
                <a:latin typeface="Cambria Math"/>
                <a:cs typeface="Cambria Math"/>
              </a:rPr>
              <a:t>*</a:t>
            </a:r>
            <a:r>
              <a:rPr dirty="0" sz="1800" spc="285">
                <a:latin typeface="Cambria Math"/>
                <a:cs typeface="Cambria Math"/>
              </a:rPr>
              <a:t>(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066640" y="3065852"/>
            <a:ext cx="1059180" cy="762000"/>
          </a:xfrm>
          <a:prstGeom prst="rect">
            <a:avLst/>
          </a:prstGeom>
          <a:solidFill>
            <a:srgbClr val="F0AD00"/>
          </a:solidFill>
          <a:ln w="48000">
            <a:solidFill>
              <a:srgbClr val="B07E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2620"/>
              </a:lnSpc>
            </a:pP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400">
              <a:latin typeface="Corbel"/>
              <a:cs typeface="Corbel"/>
            </a:endParaRPr>
          </a:p>
          <a:p>
            <a:pPr algn="ctr">
              <a:lnSpc>
                <a:spcPct val="100000"/>
              </a:lnSpc>
            </a:pP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cell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185643" y="4236211"/>
            <a:ext cx="10153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200">
                <a:latin typeface="Cambria Math"/>
                <a:cs typeface="Cambria Math"/>
              </a:rPr>
              <a:t>𝑥</a:t>
            </a:r>
            <a:r>
              <a:rPr dirty="0" baseline="-15432" sz="2700" spc="300">
                <a:latin typeface="Cambria Math"/>
                <a:cs typeface="Cambria Math"/>
              </a:rPr>
              <a:t>-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-15">
                <a:latin typeface="Cambria Math"/>
                <a:cs typeface="Cambria Math"/>
              </a:rPr>
              <a:t> </a:t>
            </a:r>
            <a:r>
              <a:rPr dirty="0" sz="2400" spc="290">
                <a:latin typeface="Cambria Math"/>
                <a:cs typeface="Cambria Math"/>
              </a:rPr>
              <a:t>𝑦</a:t>
            </a:r>
            <a:r>
              <a:rPr dirty="0" baseline="-15432" sz="2700" spc="434">
                <a:latin typeface="Cambria Math"/>
                <a:cs typeface="Cambria Math"/>
              </a:rPr>
              <a:t>,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492800" y="3931876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09" h="322579">
                <a:moveTo>
                  <a:pt x="154974" y="103317"/>
                </a:moveTo>
                <a:lnTo>
                  <a:pt x="51657" y="103317"/>
                </a:lnTo>
                <a:lnTo>
                  <a:pt x="51657" y="322301"/>
                </a:lnTo>
                <a:lnTo>
                  <a:pt x="154974" y="322301"/>
                </a:lnTo>
                <a:lnTo>
                  <a:pt x="154974" y="103317"/>
                </a:lnTo>
                <a:close/>
              </a:path>
              <a:path w="207009" h="322579">
                <a:moveTo>
                  <a:pt x="103315" y="0"/>
                </a:moveTo>
                <a:lnTo>
                  <a:pt x="0" y="103317"/>
                </a:lnTo>
                <a:lnTo>
                  <a:pt x="206632" y="103317"/>
                </a:lnTo>
                <a:lnTo>
                  <a:pt x="10331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492800" y="3931876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09" h="322579">
                <a:moveTo>
                  <a:pt x="51658" y="322302"/>
                </a:moveTo>
                <a:lnTo>
                  <a:pt x="51658" y="103316"/>
                </a:lnTo>
                <a:lnTo>
                  <a:pt x="0" y="103316"/>
                </a:lnTo>
                <a:lnTo>
                  <a:pt x="103316" y="0"/>
                </a:lnTo>
                <a:lnTo>
                  <a:pt x="206633" y="103316"/>
                </a:lnTo>
                <a:lnTo>
                  <a:pt x="154974" y="103316"/>
                </a:lnTo>
                <a:lnTo>
                  <a:pt x="154974" y="322302"/>
                </a:lnTo>
                <a:lnTo>
                  <a:pt x="51658" y="322302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658432" y="3389702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79" h="207010">
                <a:moveTo>
                  <a:pt x="218984" y="0"/>
                </a:moveTo>
                <a:lnTo>
                  <a:pt x="218984" y="51657"/>
                </a:lnTo>
                <a:lnTo>
                  <a:pt x="0" y="51657"/>
                </a:lnTo>
                <a:lnTo>
                  <a:pt x="0" y="154974"/>
                </a:lnTo>
                <a:lnTo>
                  <a:pt x="218984" y="154974"/>
                </a:lnTo>
                <a:lnTo>
                  <a:pt x="218984" y="206632"/>
                </a:lnTo>
                <a:lnTo>
                  <a:pt x="322301" y="103315"/>
                </a:lnTo>
                <a:lnTo>
                  <a:pt x="218984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658432" y="3389702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79" h="207010">
                <a:moveTo>
                  <a:pt x="0" y="51658"/>
                </a:moveTo>
                <a:lnTo>
                  <a:pt x="218985" y="51658"/>
                </a:lnTo>
                <a:lnTo>
                  <a:pt x="218985" y="0"/>
                </a:lnTo>
                <a:lnTo>
                  <a:pt x="322302" y="103316"/>
                </a:lnTo>
                <a:lnTo>
                  <a:pt x="218985" y="206633"/>
                </a:lnTo>
                <a:lnTo>
                  <a:pt x="218985" y="154974"/>
                </a:lnTo>
                <a:lnTo>
                  <a:pt x="0" y="154974"/>
                </a:lnTo>
                <a:lnTo>
                  <a:pt x="0" y="51658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492800" y="2656718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09" h="322580">
                <a:moveTo>
                  <a:pt x="154974" y="103317"/>
                </a:moveTo>
                <a:lnTo>
                  <a:pt x="51657" y="103317"/>
                </a:lnTo>
                <a:lnTo>
                  <a:pt x="51657" y="322301"/>
                </a:lnTo>
                <a:lnTo>
                  <a:pt x="154974" y="322301"/>
                </a:lnTo>
                <a:lnTo>
                  <a:pt x="154974" y="103317"/>
                </a:lnTo>
                <a:close/>
              </a:path>
              <a:path w="207009" h="322580">
                <a:moveTo>
                  <a:pt x="103315" y="0"/>
                </a:moveTo>
                <a:lnTo>
                  <a:pt x="0" y="103317"/>
                </a:lnTo>
                <a:lnTo>
                  <a:pt x="206632" y="103317"/>
                </a:lnTo>
                <a:lnTo>
                  <a:pt x="10331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492800" y="2656717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09" h="322580">
                <a:moveTo>
                  <a:pt x="51658" y="322302"/>
                </a:moveTo>
                <a:lnTo>
                  <a:pt x="51658" y="103316"/>
                </a:lnTo>
                <a:lnTo>
                  <a:pt x="0" y="103316"/>
                </a:lnTo>
                <a:lnTo>
                  <a:pt x="103316" y="0"/>
                </a:lnTo>
                <a:lnTo>
                  <a:pt x="206633" y="103316"/>
                </a:lnTo>
                <a:lnTo>
                  <a:pt x="154974" y="103316"/>
                </a:lnTo>
                <a:lnTo>
                  <a:pt x="154974" y="322302"/>
                </a:lnTo>
                <a:lnTo>
                  <a:pt x="51658" y="322302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5001169" y="3236467"/>
            <a:ext cx="7594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dirty="0" sz="2400" spc="-55">
                <a:latin typeface="Cambria Math"/>
                <a:cs typeface="Cambria Math"/>
              </a:rPr>
              <a:t>𝑠</a:t>
            </a:r>
            <a:r>
              <a:rPr dirty="0" baseline="-15432" sz="2700" spc="997">
                <a:latin typeface="Cambria Math"/>
                <a:cs typeface="Cambria Math"/>
              </a:rPr>
              <a:t>,</a:t>
            </a:r>
            <a:r>
              <a:rPr dirty="0" baseline="-15432" sz="2700"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…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799184" y="2438293"/>
            <a:ext cx="1642745" cy="2082800"/>
          </a:xfrm>
          <a:custGeom>
            <a:avLst/>
            <a:gdLst/>
            <a:ahLst/>
            <a:cxnLst/>
            <a:rect l="l" t="t" r="r" b="b"/>
            <a:pathLst>
              <a:path w="1642745" h="2082800">
                <a:moveTo>
                  <a:pt x="47956" y="0"/>
                </a:moveTo>
                <a:lnTo>
                  <a:pt x="2843" y="0"/>
                </a:lnTo>
                <a:lnTo>
                  <a:pt x="0" y="2842"/>
                </a:lnTo>
                <a:lnTo>
                  <a:pt x="0" y="9856"/>
                </a:lnTo>
                <a:lnTo>
                  <a:pt x="2843" y="12700"/>
                </a:lnTo>
                <a:lnTo>
                  <a:pt x="47956" y="12700"/>
                </a:lnTo>
                <a:lnTo>
                  <a:pt x="50800" y="9856"/>
                </a:lnTo>
                <a:lnTo>
                  <a:pt x="50800" y="2842"/>
                </a:lnTo>
                <a:lnTo>
                  <a:pt x="47956" y="0"/>
                </a:lnTo>
                <a:close/>
              </a:path>
              <a:path w="1642745" h="2082800">
                <a:moveTo>
                  <a:pt x="136856" y="0"/>
                </a:moveTo>
                <a:lnTo>
                  <a:pt x="91743" y="0"/>
                </a:lnTo>
                <a:lnTo>
                  <a:pt x="88900" y="2842"/>
                </a:lnTo>
                <a:lnTo>
                  <a:pt x="88900" y="9856"/>
                </a:lnTo>
                <a:lnTo>
                  <a:pt x="91743" y="12700"/>
                </a:lnTo>
                <a:lnTo>
                  <a:pt x="136856" y="12700"/>
                </a:lnTo>
                <a:lnTo>
                  <a:pt x="139700" y="9856"/>
                </a:lnTo>
                <a:lnTo>
                  <a:pt x="139700" y="2842"/>
                </a:lnTo>
                <a:lnTo>
                  <a:pt x="136856" y="0"/>
                </a:lnTo>
                <a:close/>
              </a:path>
              <a:path w="1642745" h="2082800">
                <a:moveTo>
                  <a:pt x="225756" y="0"/>
                </a:moveTo>
                <a:lnTo>
                  <a:pt x="180643" y="0"/>
                </a:lnTo>
                <a:lnTo>
                  <a:pt x="177800" y="2842"/>
                </a:lnTo>
                <a:lnTo>
                  <a:pt x="177800" y="9856"/>
                </a:lnTo>
                <a:lnTo>
                  <a:pt x="180643" y="12700"/>
                </a:lnTo>
                <a:lnTo>
                  <a:pt x="225756" y="12700"/>
                </a:lnTo>
                <a:lnTo>
                  <a:pt x="228600" y="9856"/>
                </a:lnTo>
                <a:lnTo>
                  <a:pt x="228600" y="2842"/>
                </a:lnTo>
                <a:lnTo>
                  <a:pt x="225756" y="0"/>
                </a:lnTo>
                <a:close/>
              </a:path>
              <a:path w="1642745" h="2082800">
                <a:moveTo>
                  <a:pt x="314656" y="0"/>
                </a:moveTo>
                <a:lnTo>
                  <a:pt x="269543" y="0"/>
                </a:lnTo>
                <a:lnTo>
                  <a:pt x="266700" y="2842"/>
                </a:lnTo>
                <a:lnTo>
                  <a:pt x="266700" y="9856"/>
                </a:lnTo>
                <a:lnTo>
                  <a:pt x="269543" y="12700"/>
                </a:lnTo>
                <a:lnTo>
                  <a:pt x="314656" y="12700"/>
                </a:lnTo>
                <a:lnTo>
                  <a:pt x="317500" y="9856"/>
                </a:lnTo>
                <a:lnTo>
                  <a:pt x="317500" y="2842"/>
                </a:lnTo>
                <a:lnTo>
                  <a:pt x="314656" y="0"/>
                </a:lnTo>
                <a:close/>
              </a:path>
              <a:path w="1642745" h="2082800">
                <a:moveTo>
                  <a:pt x="403556" y="0"/>
                </a:moveTo>
                <a:lnTo>
                  <a:pt x="358443" y="0"/>
                </a:lnTo>
                <a:lnTo>
                  <a:pt x="355600" y="2842"/>
                </a:lnTo>
                <a:lnTo>
                  <a:pt x="355600" y="9856"/>
                </a:lnTo>
                <a:lnTo>
                  <a:pt x="358443" y="12700"/>
                </a:lnTo>
                <a:lnTo>
                  <a:pt x="403556" y="12700"/>
                </a:lnTo>
                <a:lnTo>
                  <a:pt x="406400" y="9856"/>
                </a:lnTo>
                <a:lnTo>
                  <a:pt x="406400" y="2842"/>
                </a:lnTo>
                <a:lnTo>
                  <a:pt x="403556" y="0"/>
                </a:lnTo>
                <a:close/>
              </a:path>
              <a:path w="1642745" h="2082800">
                <a:moveTo>
                  <a:pt x="492456" y="0"/>
                </a:moveTo>
                <a:lnTo>
                  <a:pt x="447343" y="0"/>
                </a:lnTo>
                <a:lnTo>
                  <a:pt x="444500" y="2842"/>
                </a:lnTo>
                <a:lnTo>
                  <a:pt x="444500" y="9856"/>
                </a:lnTo>
                <a:lnTo>
                  <a:pt x="447343" y="12700"/>
                </a:lnTo>
                <a:lnTo>
                  <a:pt x="492456" y="12700"/>
                </a:lnTo>
                <a:lnTo>
                  <a:pt x="495300" y="9856"/>
                </a:lnTo>
                <a:lnTo>
                  <a:pt x="495300" y="2842"/>
                </a:lnTo>
                <a:lnTo>
                  <a:pt x="492456" y="0"/>
                </a:lnTo>
                <a:close/>
              </a:path>
              <a:path w="1642745" h="2082800">
                <a:moveTo>
                  <a:pt x="581356" y="0"/>
                </a:moveTo>
                <a:lnTo>
                  <a:pt x="536243" y="0"/>
                </a:lnTo>
                <a:lnTo>
                  <a:pt x="533400" y="2842"/>
                </a:lnTo>
                <a:lnTo>
                  <a:pt x="533400" y="9856"/>
                </a:lnTo>
                <a:lnTo>
                  <a:pt x="536243" y="12700"/>
                </a:lnTo>
                <a:lnTo>
                  <a:pt x="581356" y="12700"/>
                </a:lnTo>
                <a:lnTo>
                  <a:pt x="584200" y="9856"/>
                </a:lnTo>
                <a:lnTo>
                  <a:pt x="584200" y="2842"/>
                </a:lnTo>
                <a:lnTo>
                  <a:pt x="581356" y="0"/>
                </a:lnTo>
                <a:close/>
              </a:path>
              <a:path w="1642745" h="2082800">
                <a:moveTo>
                  <a:pt x="670256" y="0"/>
                </a:moveTo>
                <a:lnTo>
                  <a:pt x="625143" y="0"/>
                </a:lnTo>
                <a:lnTo>
                  <a:pt x="622300" y="2842"/>
                </a:lnTo>
                <a:lnTo>
                  <a:pt x="622300" y="9856"/>
                </a:lnTo>
                <a:lnTo>
                  <a:pt x="625143" y="12700"/>
                </a:lnTo>
                <a:lnTo>
                  <a:pt x="670256" y="12700"/>
                </a:lnTo>
                <a:lnTo>
                  <a:pt x="673100" y="9856"/>
                </a:lnTo>
                <a:lnTo>
                  <a:pt x="673100" y="2842"/>
                </a:lnTo>
                <a:lnTo>
                  <a:pt x="670256" y="0"/>
                </a:lnTo>
                <a:close/>
              </a:path>
              <a:path w="1642745" h="2082800">
                <a:moveTo>
                  <a:pt x="759156" y="0"/>
                </a:moveTo>
                <a:lnTo>
                  <a:pt x="714043" y="0"/>
                </a:lnTo>
                <a:lnTo>
                  <a:pt x="711200" y="2842"/>
                </a:lnTo>
                <a:lnTo>
                  <a:pt x="711200" y="9856"/>
                </a:lnTo>
                <a:lnTo>
                  <a:pt x="714043" y="12700"/>
                </a:lnTo>
                <a:lnTo>
                  <a:pt x="759156" y="12700"/>
                </a:lnTo>
                <a:lnTo>
                  <a:pt x="762000" y="9856"/>
                </a:lnTo>
                <a:lnTo>
                  <a:pt x="762000" y="2842"/>
                </a:lnTo>
                <a:lnTo>
                  <a:pt x="759156" y="0"/>
                </a:lnTo>
                <a:close/>
              </a:path>
              <a:path w="1642745" h="2082800">
                <a:moveTo>
                  <a:pt x="817925" y="6350"/>
                </a:moveTo>
                <a:lnTo>
                  <a:pt x="817925" y="30132"/>
                </a:lnTo>
                <a:lnTo>
                  <a:pt x="820767" y="32974"/>
                </a:lnTo>
                <a:lnTo>
                  <a:pt x="827782" y="32974"/>
                </a:lnTo>
                <a:lnTo>
                  <a:pt x="830625" y="30132"/>
                </a:lnTo>
                <a:lnTo>
                  <a:pt x="830625" y="12700"/>
                </a:lnTo>
                <a:lnTo>
                  <a:pt x="824275" y="12700"/>
                </a:lnTo>
                <a:lnTo>
                  <a:pt x="817925" y="6350"/>
                </a:lnTo>
                <a:close/>
              </a:path>
              <a:path w="1642745" h="2082800">
                <a:moveTo>
                  <a:pt x="827782" y="0"/>
                </a:moveTo>
                <a:lnTo>
                  <a:pt x="802943" y="0"/>
                </a:lnTo>
                <a:lnTo>
                  <a:pt x="800100" y="2842"/>
                </a:lnTo>
                <a:lnTo>
                  <a:pt x="800100" y="9856"/>
                </a:lnTo>
                <a:lnTo>
                  <a:pt x="802943" y="12700"/>
                </a:lnTo>
                <a:lnTo>
                  <a:pt x="817925" y="12700"/>
                </a:lnTo>
                <a:lnTo>
                  <a:pt x="817925" y="6350"/>
                </a:lnTo>
                <a:lnTo>
                  <a:pt x="830625" y="6350"/>
                </a:lnTo>
                <a:lnTo>
                  <a:pt x="830625" y="2842"/>
                </a:lnTo>
                <a:lnTo>
                  <a:pt x="827782" y="0"/>
                </a:lnTo>
                <a:close/>
              </a:path>
              <a:path w="1642745" h="2082800">
                <a:moveTo>
                  <a:pt x="830625" y="6350"/>
                </a:moveTo>
                <a:lnTo>
                  <a:pt x="817925" y="6350"/>
                </a:lnTo>
                <a:lnTo>
                  <a:pt x="824275" y="12700"/>
                </a:lnTo>
                <a:lnTo>
                  <a:pt x="830625" y="12700"/>
                </a:lnTo>
                <a:lnTo>
                  <a:pt x="830625" y="6350"/>
                </a:lnTo>
                <a:close/>
              </a:path>
              <a:path w="1642745" h="2082800">
                <a:moveTo>
                  <a:pt x="827782" y="71074"/>
                </a:moveTo>
                <a:lnTo>
                  <a:pt x="820767" y="71074"/>
                </a:lnTo>
                <a:lnTo>
                  <a:pt x="817925" y="73917"/>
                </a:lnTo>
                <a:lnTo>
                  <a:pt x="817925" y="119032"/>
                </a:lnTo>
                <a:lnTo>
                  <a:pt x="820767" y="121874"/>
                </a:lnTo>
                <a:lnTo>
                  <a:pt x="827782" y="121874"/>
                </a:lnTo>
                <a:lnTo>
                  <a:pt x="830625" y="119032"/>
                </a:lnTo>
                <a:lnTo>
                  <a:pt x="830625" y="73917"/>
                </a:lnTo>
                <a:lnTo>
                  <a:pt x="827782" y="71074"/>
                </a:lnTo>
                <a:close/>
              </a:path>
              <a:path w="1642745" h="2082800">
                <a:moveTo>
                  <a:pt x="827782" y="159974"/>
                </a:moveTo>
                <a:lnTo>
                  <a:pt x="820767" y="159974"/>
                </a:lnTo>
                <a:lnTo>
                  <a:pt x="817925" y="162817"/>
                </a:lnTo>
                <a:lnTo>
                  <a:pt x="817925" y="207932"/>
                </a:lnTo>
                <a:lnTo>
                  <a:pt x="820767" y="210774"/>
                </a:lnTo>
                <a:lnTo>
                  <a:pt x="827782" y="210774"/>
                </a:lnTo>
                <a:lnTo>
                  <a:pt x="830625" y="207932"/>
                </a:lnTo>
                <a:lnTo>
                  <a:pt x="830625" y="162817"/>
                </a:lnTo>
                <a:lnTo>
                  <a:pt x="827782" y="159974"/>
                </a:lnTo>
                <a:close/>
              </a:path>
              <a:path w="1642745" h="2082800">
                <a:moveTo>
                  <a:pt x="827782" y="248874"/>
                </a:moveTo>
                <a:lnTo>
                  <a:pt x="820767" y="248874"/>
                </a:lnTo>
                <a:lnTo>
                  <a:pt x="817925" y="251717"/>
                </a:lnTo>
                <a:lnTo>
                  <a:pt x="817925" y="296832"/>
                </a:lnTo>
                <a:lnTo>
                  <a:pt x="820767" y="299674"/>
                </a:lnTo>
                <a:lnTo>
                  <a:pt x="827782" y="299674"/>
                </a:lnTo>
                <a:lnTo>
                  <a:pt x="830625" y="296832"/>
                </a:lnTo>
                <a:lnTo>
                  <a:pt x="830625" y="251717"/>
                </a:lnTo>
                <a:lnTo>
                  <a:pt x="827782" y="248874"/>
                </a:lnTo>
                <a:close/>
              </a:path>
              <a:path w="1642745" h="2082800">
                <a:moveTo>
                  <a:pt x="827782" y="337774"/>
                </a:moveTo>
                <a:lnTo>
                  <a:pt x="820767" y="337774"/>
                </a:lnTo>
                <a:lnTo>
                  <a:pt x="817925" y="340617"/>
                </a:lnTo>
                <a:lnTo>
                  <a:pt x="817925" y="385732"/>
                </a:lnTo>
                <a:lnTo>
                  <a:pt x="820767" y="388574"/>
                </a:lnTo>
                <a:lnTo>
                  <a:pt x="827782" y="388574"/>
                </a:lnTo>
                <a:lnTo>
                  <a:pt x="830625" y="385732"/>
                </a:lnTo>
                <a:lnTo>
                  <a:pt x="830625" y="340617"/>
                </a:lnTo>
                <a:lnTo>
                  <a:pt x="827782" y="337774"/>
                </a:lnTo>
                <a:close/>
              </a:path>
              <a:path w="1642745" h="2082800">
                <a:moveTo>
                  <a:pt x="827782" y="426674"/>
                </a:moveTo>
                <a:lnTo>
                  <a:pt x="820767" y="426674"/>
                </a:lnTo>
                <a:lnTo>
                  <a:pt x="817925" y="429517"/>
                </a:lnTo>
                <a:lnTo>
                  <a:pt x="817925" y="474632"/>
                </a:lnTo>
                <a:lnTo>
                  <a:pt x="820767" y="477474"/>
                </a:lnTo>
                <a:lnTo>
                  <a:pt x="827782" y="477474"/>
                </a:lnTo>
                <a:lnTo>
                  <a:pt x="830625" y="474632"/>
                </a:lnTo>
                <a:lnTo>
                  <a:pt x="830625" y="429517"/>
                </a:lnTo>
                <a:lnTo>
                  <a:pt x="827782" y="426674"/>
                </a:lnTo>
                <a:close/>
              </a:path>
              <a:path w="1642745" h="2082800">
                <a:moveTo>
                  <a:pt x="827782" y="515574"/>
                </a:moveTo>
                <a:lnTo>
                  <a:pt x="820767" y="515574"/>
                </a:lnTo>
                <a:lnTo>
                  <a:pt x="817925" y="518417"/>
                </a:lnTo>
                <a:lnTo>
                  <a:pt x="817925" y="563532"/>
                </a:lnTo>
                <a:lnTo>
                  <a:pt x="820767" y="566374"/>
                </a:lnTo>
                <a:lnTo>
                  <a:pt x="827782" y="566374"/>
                </a:lnTo>
                <a:lnTo>
                  <a:pt x="830625" y="563532"/>
                </a:lnTo>
                <a:lnTo>
                  <a:pt x="830625" y="518417"/>
                </a:lnTo>
                <a:lnTo>
                  <a:pt x="827782" y="515574"/>
                </a:lnTo>
                <a:close/>
              </a:path>
              <a:path w="1642745" h="2082800">
                <a:moveTo>
                  <a:pt x="827782" y="604474"/>
                </a:moveTo>
                <a:lnTo>
                  <a:pt x="820767" y="604474"/>
                </a:lnTo>
                <a:lnTo>
                  <a:pt x="817925" y="607317"/>
                </a:lnTo>
                <a:lnTo>
                  <a:pt x="817925" y="652432"/>
                </a:lnTo>
                <a:lnTo>
                  <a:pt x="820767" y="655274"/>
                </a:lnTo>
                <a:lnTo>
                  <a:pt x="827782" y="655274"/>
                </a:lnTo>
                <a:lnTo>
                  <a:pt x="830625" y="652432"/>
                </a:lnTo>
                <a:lnTo>
                  <a:pt x="830625" y="607317"/>
                </a:lnTo>
                <a:lnTo>
                  <a:pt x="827782" y="604474"/>
                </a:lnTo>
                <a:close/>
              </a:path>
              <a:path w="1642745" h="2082800">
                <a:moveTo>
                  <a:pt x="827782" y="693374"/>
                </a:moveTo>
                <a:lnTo>
                  <a:pt x="820767" y="693374"/>
                </a:lnTo>
                <a:lnTo>
                  <a:pt x="817925" y="696217"/>
                </a:lnTo>
                <a:lnTo>
                  <a:pt x="817925" y="741332"/>
                </a:lnTo>
                <a:lnTo>
                  <a:pt x="820767" y="744174"/>
                </a:lnTo>
                <a:lnTo>
                  <a:pt x="827782" y="744174"/>
                </a:lnTo>
                <a:lnTo>
                  <a:pt x="830625" y="741332"/>
                </a:lnTo>
                <a:lnTo>
                  <a:pt x="830625" y="696217"/>
                </a:lnTo>
                <a:lnTo>
                  <a:pt x="827782" y="693374"/>
                </a:lnTo>
                <a:close/>
              </a:path>
              <a:path w="1642745" h="2082800">
                <a:moveTo>
                  <a:pt x="827782" y="782274"/>
                </a:moveTo>
                <a:lnTo>
                  <a:pt x="820767" y="782274"/>
                </a:lnTo>
                <a:lnTo>
                  <a:pt x="817925" y="785117"/>
                </a:lnTo>
                <a:lnTo>
                  <a:pt x="817925" y="830232"/>
                </a:lnTo>
                <a:lnTo>
                  <a:pt x="820767" y="833074"/>
                </a:lnTo>
                <a:lnTo>
                  <a:pt x="827782" y="833074"/>
                </a:lnTo>
                <a:lnTo>
                  <a:pt x="830625" y="830232"/>
                </a:lnTo>
                <a:lnTo>
                  <a:pt x="830625" y="785117"/>
                </a:lnTo>
                <a:lnTo>
                  <a:pt x="827782" y="782274"/>
                </a:lnTo>
                <a:close/>
              </a:path>
              <a:path w="1642745" h="2082800">
                <a:moveTo>
                  <a:pt x="827782" y="871174"/>
                </a:moveTo>
                <a:lnTo>
                  <a:pt x="820767" y="871174"/>
                </a:lnTo>
                <a:lnTo>
                  <a:pt x="817925" y="874017"/>
                </a:lnTo>
                <a:lnTo>
                  <a:pt x="817925" y="919132"/>
                </a:lnTo>
                <a:lnTo>
                  <a:pt x="820767" y="921974"/>
                </a:lnTo>
                <a:lnTo>
                  <a:pt x="827782" y="921974"/>
                </a:lnTo>
                <a:lnTo>
                  <a:pt x="830625" y="919132"/>
                </a:lnTo>
                <a:lnTo>
                  <a:pt x="830625" y="874017"/>
                </a:lnTo>
                <a:lnTo>
                  <a:pt x="827782" y="871174"/>
                </a:lnTo>
                <a:close/>
              </a:path>
              <a:path w="1642745" h="2082800">
                <a:moveTo>
                  <a:pt x="827782" y="960074"/>
                </a:moveTo>
                <a:lnTo>
                  <a:pt x="820767" y="960074"/>
                </a:lnTo>
                <a:lnTo>
                  <a:pt x="817925" y="962917"/>
                </a:lnTo>
                <a:lnTo>
                  <a:pt x="817925" y="1008032"/>
                </a:lnTo>
                <a:lnTo>
                  <a:pt x="820767" y="1010874"/>
                </a:lnTo>
                <a:lnTo>
                  <a:pt x="827782" y="1010874"/>
                </a:lnTo>
                <a:lnTo>
                  <a:pt x="830625" y="1008032"/>
                </a:lnTo>
                <a:lnTo>
                  <a:pt x="830625" y="962917"/>
                </a:lnTo>
                <a:lnTo>
                  <a:pt x="827782" y="960074"/>
                </a:lnTo>
                <a:close/>
              </a:path>
              <a:path w="1642745" h="2082800">
                <a:moveTo>
                  <a:pt x="827782" y="1048974"/>
                </a:moveTo>
                <a:lnTo>
                  <a:pt x="820767" y="1048974"/>
                </a:lnTo>
                <a:lnTo>
                  <a:pt x="817925" y="1051817"/>
                </a:lnTo>
                <a:lnTo>
                  <a:pt x="817925" y="1096932"/>
                </a:lnTo>
                <a:lnTo>
                  <a:pt x="820767" y="1099774"/>
                </a:lnTo>
                <a:lnTo>
                  <a:pt x="827782" y="1099774"/>
                </a:lnTo>
                <a:lnTo>
                  <a:pt x="830625" y="1096932"/>
                </a:lnTo>
                <a:lnTo>
                  <a:pt x="830625" y="1051817"/>
                </a:lnTo>
                <a:lnTo>
                  <a:pt x="827782" y="1048974"/>
                </a:lnTo>
                <a:close/>
              </a:path>
              <a:path w="1642745" h="2082800">
                <a:moveTo>
                  <a:pt x="827782" y="1137874"/>
                </a:moveTo>
                <a:lnTo>
                  <a:pt x="820767" y="1137874"/>
                </a:lnTo>
                <a:lnTo>
                  <a:pt x="817925" y="1140717"/>
                </a:lnTo>
                <a:lnTo>
                  <a:pt x="817925" y="1185832"/>
                </a:lnTo>
                <a:lnTo>
                  <a:pt x="820767" y="1188674"/>
                </a:lnTo>
                <a:lnTo>
                  <a:pt x="827782" y="1188674"/>
                </a:lnTo>
                <a:lnTo>
                  <a:pt x="830625" y="1185832"/>
                </a:lnTo>
                <a:lnTo>
                  <a:pt x="830625" y="1140717"/>
                </a:lnTo>
                <a:lnTo>
                  <a:pt x="827782" y="1137874"/>
                </a:lnTo>
                <a:close/>
              </a:path>
              <a:path w="1642745" h="2082800">
                <a:moveTo>
                  <a:pt x="827782" y="1226774"/>
                </a:moveTo>
                <a:lnTo>
                  <a:pt x="820767" y="1226774"/>
                </a:lnTo>
                <a:lnTo>
                  <a:pt x="817925" y="1229617"/>
                </a:lnTo>
                <a:lnTo>
                  <a:pt x="817925" y="1274732"/>
                </a:lnTo>
                <a:lnTo>
                  <a:pt x="820767" y="1277574"/>
                </a:lnTo>
                <a:lnTo>
                  <a:pt x="827782" y="1277574"/>
                </a:lnTo>
                <a:lnTo>
                  <a:pt x="830625" y="1274732"/>
                </a:lnTo>
                <a:lnTo>
                  <a:pt x="830625" y="1229617"/>
                </a:lnTo>
                <a:lnTo>
                  <a:pt x="827782" y="1226774"/>
                </a:lnTo>
                <a:close/>
              </a:path>
              <a:path w="1642745" h="2082800">
                <a:moveTo>
                  <a:pt x="827782" y="1315674"/>
                </a:moveTo>
                <a:lnTo>
                  <a:pt x="820767" y="1315674"/>
                </a:lnTo>
                <a:lnTo>
                  <a:pt x="817925" y="1318517"/>
                </a:lnTo>
                <a:lnTo>
                  <a:pt x="817925" y="1363632"/>
                </a:lnTo>
                <a:lnTo>
                  <a:pt x="820767" y="1366474"/>
                </a:lnTo>
                <a:lnTo>
                  <a:pt x="827782" y="1366474"/>
                </a:lnTo>
                <a:lnTo>
                  <a:pt x="830625" y="1363632"/>
                </a:lnTo>
                <a:lnTo>
                  <a:pt x="830625" y="1318517"/>
                </a:lnTo>
                <a:lnTo>
                  <a:pt x="827782" y="1315674"/>
                </a:lnTo>
                <a:close/>
              </a:path>
              <a:path w="1642745" h="2082800">
                <a:moveTo>
                  <a:pt x="827782" y="1404574"/>
                </a:moveTo>
                <a:lnTo>
                  <a:pt x="820767" y="1404574"/>
                </a:lnTo>
                <a:lnTo>
                  <a:pt x="817925" y="1407417"/>
                </a:lnTo>
                <a:lnTo>
                  <a:pt x="817925" y="1452532"/>
                </a:lnTo>
                <a:lnTo>
                  <a:pt x="820767" y="1455374"/>
                </a:lnTo>
                <a:lnTo>
                  <a:pt x="827782" y="1455374"/>
                </a:lnTo>
                <a:lnTo>
                  <a:pt x="830625" y="1452532"/>
                </a:lnTo>
                <a:lnTo>
                  <a:pt x="830625" y="1407417"/>
                </a:lnTo>
                <a:lnTo>
                  <a:pt x="827782" y="1404574"/>
                </a:lnTo>
                <a:close/>
              </a:path>
              <a:path w="1642745" h="2082800">
                <a:moveTo>
                  <a:pt x="827782" y="1493474"/>
                </a:moveTo>
                <a:lnTo>
                  <a:pt x="820767" y="1493474"/>
                </a:lnTo>
                <a:lnTo>
                  <a:pt x="817925" y="1496317"/>
                </a:lnTo>
                <a:lnTo>
                  <a:pt x="817925" y="1541432"/>
                </a:lnTo>
                <a:lnTo>
                  <a:pt x="820767" y="1544274"/>
                </a:lnTo>
                <a:lnTo>
                  <a:pt x="827782" y="1544274"/>
                </a:lnTo>
                <a:lnTo>
                  <a:pt x="830625" y="1541432"/>
                </a:lnTo>
                <a:lnTo>
                  <a:pt x="830625" y="1496317"/>
                </a:lnTo>
                <a:lnTo>
                  <a:pt x="827782" y="1493474"/>
                </a:lnTo>
                <a:close/>
              </a:path>
              <a:path w="1642745" h="2082800">
                <a:moveTo>
                  <a:pt x="827782" y="1582374"/>
                </a:moveTo>
                <a:lnTo>
                  <a:pt x="820767" y="1582374"/>
                </a:lnTo>
                <a:lnTo>
                  <a:pt x="817925" y="1585217"/>
                </a:lnTo>
                <a:lnTo>
                  <a:pt x="817925" y="1630332"/>
                </a:lnTo>
                <a:lnTo>
                  <a:pt x="820767" y="1633174"/>
                </a:lnTo>
                <a:lnTo>
                  <a:pt x="827782" y="1633174"/>
                </a:lnTo>
                <a:lnTo>
                  <a:pt x="830625" y="1630332"/>
                </a:lnTo>
                <a:lnTo>
                  <a:pt x="830625" y="1585217"/>
                </a:lnTo>
                <a:lnTo>
                  <a:pt x="827782" y="1582374"/>
                </a:lnTo>
                <a:close/>
              </a:path>
              <a:path w="1642745" h="2082800">
                <a:moveTo>
                  <a:pt x="827782" y="1671274"/>
                </a:moveTo>
                <a:lnTo>
                  <a:pt x="820767" y="1671274"/>
                </a:lnTo>
                <a:lnTo>
                  <a:pt x="817925" y="1674117"/>
                </a:lnTo>
                <a:lnTo>
                  <a:pt x="817925" y="1719232"/>
                </a:lnTo>
                <a:lnTo>
                  <a:pt x="820767" y="1722074"/>
                </a:lnTo>
                <a:lnTo>
                  <a:pt x="827782" y="1722074"/>
                </a:lnTo>
                <a:lnTo>
                  <a:pt x="830625" y="1719232"/>
                </a:lnTo>
                <a:lnTo>
                  <a:pt x="830625" y="1674117"/>
                </a:lnTo>
                <a:lnTo>
                  <a:pt x="827782" y="1671274"/>
                </a:lnTo>
                <a:close/>
              </a:path>
              <a:path w="1642745" h="2082800">
                <a:moveTo>
                  <a:pt x="827782" y="1760174"/>
                </a:moveTo>
                <a:lnTo>
                  <a:pt x="820767" y="1760174"/>
                </a:lnTo>
                <a:lnTo>
                  <a:pt x="817925" y="1763017"/>
                </a:lnTo>
                <a:lnTo>
                  <a:pt x="817925" y="1808132"/>
                </a:lnTo>
                <a:lnTo>
                  <a:pt x="820767" y="1810974"/>
                </a:lnTo>
                <a:lnTo>
                  <a:pt x="827782" y="1810974"/>
                </a:lnTo>
                <a:lnTo>
                  <a:pt x="830625" y="1808132"/>
                </a:lnTo>
                <a:lnTo>
                  <a:pt x="830625" y="1763017"/>
                </a:lnTo>
                <a:lnTo>
                  <a:pt x="827782" y="1760174"/>
                </a:lnTo>
                <a:close/>
              </a:path>
              <a:path w="1642745" h="2082800">
                <a:moveTo>
                  <a:pt x="827782" y="1849074"/>
                </a:moveTo>
                <a:lnTo>
                  <a:pt x="820767" y="1849074"/>
                </a:lnTo>
                <a:lnTo>
                  <a:pt x="817925" y="1851917"/>
                </a:lnTo>
                <a:lnTo>
                  <a:pt x="817925" y="1897032"/>
                </a:lnTo>
                <a:lnTo>
                  <a:pt x="820767" y="1899874"/>
                </a:lnTo>
                <a:lnTo>
                  <a:pt x="827782" y="1899874"/>
                </a:lnTo>
                <a:lnTo>
                  <a:pt x="830625" y="1897032"/>
                </a:lnTo>
                <a:lnTo>
                  <a:pt x="830625" y="1851917"/>
                </a:lnTo>
                <a:lnTo>
                  <a:pt x="827782" y="1849074"/>
                </a:lnTo>
                <a:close/>
              </a:path>
              <a:path w="1642745" h="2082800">
                <a:moveTo>
                  <a:pt x="827782" y="1937974"/>
                </a:moveTo>
                <a:lnTo>
                  <a:pt x="820767" y="1937974"/>
                </a:lnTo>
                <a:lnTo>
                  <a:pt x="817925" y="1940817"/>
                </a:lnTo>
                <a:lnTo>
                  <a:pt x="817925" y="1985932"/>
                </a:lnTo>
                <a:lnTo>
                  <a:pt x="820767" y="1988774"/>
                </a:lnTo>
                <a:lnTo>
                  <a:pt x="827782" y="1988774"/>
                </a:lnTo>
                <a:lnTo>
                  <a:pt x="830625" y="1985932"/>
                </a:lnTo>
                <a:lnTo>
                  <a:pt x="830625" y="1940817"/>
                </a:lnTo>
                <a:lnTo>
                  <a:pt x="827782" y="1937974"/>
                </a:lnTo>
                <a:close/>
              </a:path>
              <a:path w="1642745" h="2082800">
                <a:moveTo>
                  <a:pt x="827782" y="2026874"/>
                </a:moveTo>
                <a:lnTo>
                  <a:pt x="820767" y="2026874"/>
                </a:lnTo>
                <a:lnTo>
                  <a:pt x="817925" y="2029717"/>
                </a:lnTo>
                <a:lnTo>
                  <a:pt x="817925" y="2047626"/>
                </a:lnTo>
                <a:lnTo>
                  <a:pt x="820767" y="2050469"/>
                </a:lnTo>
                <a:lnTo>
                  <a:pt x="854986" y="2050469"/>
                </a:lnTo>
                <a:lnTo>
                  <a:pt x="857830" y="2047626"/>
                </a:lnTo>
                <a:lnTo>
                  <a:pt x="857830" y="2044119"/>
                </a:lnTo>
                <a:lnTo>
                  <a:pt x="830625" y="2044119"/>
                </a:lnTo>
                <a:lnTo>
                  <a:pt x="824275" y="2037769"/>
                </a:lnTo>
                <a:lnTo>
                  <a:pt x="830625" y="2037769"/>
                </a:lnTo>
                <a:lnTo>
                  <a:pt x="830625" y="2029717"/>
                </a:lnTo>
                <a:lnTo>
                  <a:pt x="827782" y="2026874"/>
                </a:lnTo>
                <a:close/>
              </a:path>
              <a:path w="1642745" h="2082800">
                <a:moveTo>
                  <a:pt x="830625" y="2037769"/>
                </a:moveTo>
                <a:lnTo>
                  <a:pt x="824275" y="2037769"/>
                </a:lnTo>
                <a:lnTo>
                  <a:pt x="830625" y="2044119"/>
                </a:lnTo>
                <a:lnTo>
                  <a:pt x="830625" y="2037769"/>
                </a:lnTo>
                <a:close/>
              </a:path>
              <a:path w="1642745" h="2082800">
                <a:moveTo>
                  <a:pt x="854986" y="2037769"/>
                </a:moveTo>
                <a:lnTo>
                  <a:pt x="830625" y="2037769"/>
                </a:lnTo>
                <a:lnTo>
                  <a:pt x="830625" y="2044119"/>
                </a:lnTo>
                <a:lnTo>
                  <a:pt x="857830" y="2044119"/>
                </a:lnTo>
                <a:lnTo>
                  <a:pt x="857830" y="2040613"/>
                </a:lnTo>
                <a:lnTo>
                  <a:pt x="854986" y="2037769"/>
                </a:lnTo>
                <a:close/>
              </a:path>
              <a:path w="1642745" h="2082800">
                <a:moveTo>
                  <a:pt x="943886" y="2037769"/>
                </a:moveTo>
                <a:lnTo>
                  <a:pt x="898772" y="2037769"/>
                </a:lnTo>
                <a:lnTo>
                  <a:pt x="895930" y="2040613"/>
                </a:lnTo>
                <a:lnTo>
                  <a:pt x="895930" y="2047626"/>
                </a:lnTo>
                <a:lnTo>
                  <a:pt x="898772" y="2050469"/>
                </a:lnTo>
                <a:lnTo>
                  <a:pt x="943886" y="2050469"/>
                </a:lnTo>
                <a:lnTo>
                  <a:pt x="946730" y="2047626"/>
                </a:lnTo>
                <a:lnTo>
                  <a:pt x="946730" y="2040613"/>
                </a:lnTo>
                <a:lnTo>
                  <a:pt x="943886" y="2037769"/>
                </a:lnTo>
                <a:close/>
              </a:path>
              <a:path w="1642745" h="2082800">
                <a:moveTo>
                  <a:pt x="1032786" y="2037769"/>
                </a:moveTo>
                <a:lnTo>
                  <a:pt x="987672" y="2037769"/>
                </a:lnTo>
                <a:lnTo>
                  <a:pt x="984830" y="2040613"/>
                </a:lnTo>
                <a:lnTo>
                  <a:pt x="984830" y="2047626"/>
                </a:lnTo>
                <a:lnTo>
                  <a:pt x="987672" y="2050469"/>
                </a:lnTo>
                <a:lnTo>
                  <a:pt x="1032786" y="2050469"/>
                </a:lnTo>
                <a:lnTo>
                  <a:pt x="1035630" y="2047626"/>
                </a:lnTo>
                <a:lnTo>
                  <a:pt x="1035630" y="2040613"/>
                </a:lnTo>
                <a:lnTo>
                  <a:pt x="1032786" y="2037769"/>
                </a:lnTo>
                <a:close/>
              </a:path>
              <a:path w="1642745" h="2082800">
                <a:moveTo>
                  <a:pt x="1121686" y="2037769"/>
                </a:moveTo>
                <a:lnTo>
                  <a:pt x="1076572" y="2037769"/>
                </a:lnTo>
                <a:lnTo>
                  <a:pt x="1073730" y="2040613"/>
                </a:lnTo>
                <a:lnTo>
                  <a:pt x="1073730" y="2047626"/>
                </a:lnTo>
                <a:lnTo>
                  <a:pt x="1076572" y="2050469"/>
                </a:lnTo>
                <a:lnTo>
                  <a:pt x="1121686" y="2050469"/>
                </a:lnTo>
                <a:lnTo>
                  <a:pt x="1124530" y="2047626"/>
                </a:lnTo>
                <a:lnTo>
                  <a:pt x="1124530" y="2040613"/>
                </a:lnTo>
                <a:lnTo>
                  <a:pt x="1121686" y="2037769"/>
                </a:lnTo>
                <a:close/>
              </a:path>
              <a:path w="1642745" h="2082800">
                <a:moveTo>
                  <a:pt x="1210586" y="2037769"/>
                </a:moveTo>
                <a:lnTo>
                  <a:pt x="1165472" y="2037769"/>
                </a:lnTo>
                <a:lnTo>
                  <a:pt x="1162630" y="2040613"/>
                </a:lnTo>
                <a:lnTo>
                  <a:pt x="1162630" y="2047626"/>
                </a:lnTo>
                <a:lnTo>
                  <a:pt x="1165472" y="2050469"/>
                </a:lnTo>
                <a:lnTo>
                  <a:pt x="1210586" y="2050469"/>
                </a:lnTo>
                <a:lnTo>
                  <a:pt x="1213430" y="2047626"/>
                </a:lnTo>
                <a:lnTo>
                  <a:pt x="1213430" y="2040613"/>
                </a:lnTo>
                <a:lnTo>
                  <a:pt x="1210586" y="2037769"/>
                </a:lnTo>
                <a:close/>
              </a:path>
              <a:path w="1642745" h="2082800">
                <a:moveTo>
                  <a:pt x="1299486" y="2037769"/>
                </a:moveTo>
                <a:lnTo>
                  <a:pt x="1254372" y="2037769"/>
                </a:lnTo>
                <a:lnTo>
                  <a:pt x="1251530" y="2040613"/>
                </a:lnTo>
                <a:lnTo>
                  <a:pt x="1251530" y="2047626"/>
                </a:lnTo>
                <a:lnTo>
                  <a:pt x="1254372" y="2050469"/>
                </a:lnTo>
                <a:lnTo>
                  <a:pt x="1299486" y="2050469"/>
                </a:lnTo>
                <a:lnTo>
                  <a:pt x="1302330" y="2047626"/>
                </a:lnTo>
                <a:lnTo>
                  <a:pt x="1302330" y="2040613"/>
                </a:lnTo>
                <a:lnTo>
                  <a:pt x="1299486" y="2037769"/>
                </a:lnTo>
                <a:close/>
              </a:path>
              <a:path w="1642745" h="2082800">
                <a:moveTo>
                  <a:pt x="1388386" y="2037769"/>
                </a:moveTo>
                <a:lnTo>
                  <a:pt x="1343272" y="2037769"/>
                </a:lnTo>
                <a:lnTo>
                  <a:pt x="1340430" y="2040613"/>
                </a:lnTo>
                <a:lnTo>
                  <a:pt x="1340430" y="2047626"/>
                </a:lnTo>
                <a:lnTo>
                  <a:pt x="1343272" y="2050469"/>
                </a:lnTo>
                <a:lnTo>
                  <a:pt x="1388386" y="2050469"/>
                </a:lnTo>
                <a:lnTo>
                  <a:pt x="1391230" y="2047626"/>
                </a:lnTo>
                <a:lnTo>
                  <a:pt x="1391230" y="2040613"/>
                </a:lnTo>
                <a:lnTo>
                  <a:pt x="1388386" y="2037769"/>
                </a:lnTo>
                <a:close/>
              </a:path>
              <a:path w="1642745" h="2082800">
                <a:moveTo>
                  <a:pt x="1477286" y="2037769"/>
                </a:moveTo>
                <a:lnTo>
                  <a:pt x="1432172" y="2037769"/>
                </a:lnTo>
                <a:lnTo>
                  <a:pt x="1429330" y="2040613"/>
                </a:lnTo>
                <a:lnTo>
                  <a:pt x="1429330" y="2047626"/>
                </a:lnTo>
                <a:lnTo>
                  <a:pt x="1432172" y="2050469"/>
                </a:lnTo>
                <a:lnTo>
                  <a:pt x="1477286" y="2050469"/>
                </a:lnTo>
                <a:lnTo>
                  <a:pt x="1480130" y="2047626"/>
                </a:lnTo>
                <a:lnTo>
                  <a:pt x="1480130" y="2040613"/>
                </a:lnTo>
                <a:lnTo>
                  <a:pt x="1477286" y="2037769"/>
                </a:lnTo>
                <a:close/>
              </a:path>
              <a:path w="1642745" h="2082800">
                <a:moveTo>
                  <a:pt x="1565997" y="2006019"/>
                </a:moveTo>
                <a:lnTo>
                  <a:pt x="1565997" y="2082219"/>
                </a:lnTo>
                <a:lnTo>
                  <a:pt x="1629497" y="2050469"/>
                </a:lnTo>
                <a:lnTo>
                  <a:pt x="1566186" y="2050469"/>
                </a:lnTo>
                <a:lnTo>
                  <a:pt x="1569030" y="2047626"/>
                </a:lnTo>
                <a:lnTo>
                  <a:pt x="1569030" y="2040613"/>
                </a:lnTo>
                <a:lnTo>
                  <a:pt x="1566186" y="2037769"/>
                </a:lnTo>
                <a:lnTo>
                  <a:pt x="1629497" y="2037769"/>
                </a:lnTo>
                <a:lnTo>
                  <a:pt x="1565997" y="2006019"/>
                </a:lnTo>
                <a:close/>
              </a:path>
              <a:path w="1642745" h="2082800">
                <a:moveTo>
                  <a:pt x="1565997" y="2037769"/>
                </a:moveTo>
                <a:lnTo>
                  <a:pt x="1521072" y="2037769"/>
                </a:lnTo>
                <a:lnTo>
                  <a:pt x="1518230" y="2040613"/>
                </a:lnTo>
                <a:lnTo>
                  <a:pt x="1518230" y="2047626"/>
                </a:lnTo>
                <a:lnTo>
                  <a:pt x="1521072" y="2050469"/>
                </a:lnTo>
                <a:lnTo>
                  <a:pt x="1565997" y="2050469"/>
                </a:lnTo>
                <a:lnTo>
                  <a:pt x="1565997" y="2037769"/>
                </a:lnTo>
                <a:close/>
              </a:path>
              <a:path w="1642745" h="2082800">
                <a:moveTo>
                  <a:pt x="1629497" y="2037769"/>
                </a:moveTo>
                <a:lnTo>
                  <a:pt x="1566186" y="2037769"/>
                </a:lnTo>
                <a:lnTo>
                  <a:pt x="1569030" y="2040613"/>
                </a:lnTo>
                <a:lnTo>
                  <a:pt x="1569030" y="2047626"/>
                </a:lnTo>
                <a:lnTo>
                  <a:pt x="1566186" y="2050469"/>
                </a:lnTo>
                <a:lnTo>
                  <a:pt x="1629497" y="2050469"/>
                </a:lnTo>
                <a:lnTo>
                  <a:pt x="1642197" y="2044119"/>
                </a:lnTo>
                <a:lnTo>
                  <a:pt x="1629497" y="2037769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835295" y="4155135"/>
            <a:ext cx="1598295" cy="929005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marL="296545">
              <a:lnSpc>
                <a:spcPct val="100000"/>
              </a:lnSpc>
              <a:spcBef>
                <a:spcPts val="1095"/>
              </a:spcBef>
            </a:pPr>
            <a:r>
              <a:rPr dirty="0" sz="2400" spc="100">
                <a:latin typeface="Cambria Math"/>
                <a:cs typeface="Cambria Math"/>
              </a:rPr>
              <a:t>𝑥</a:t>
            </a:r>
            <a:r>
              <a:rPr dirty="0" baseline="-15432" sz="2700" spc="150">
                <a:latin typeface="Cambria Math"/>
                <a:cs typeface="Cambria Math"/>
              </a:rPr>
              <a:t>(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8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𝑆𝑂𝑆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dirty="0" sz="2000" spc="-5" b="1">
                <a:solidFill>
                  <a:srgbClr val="0070C0"/>
                </a:solidFill>
                <a:latin typeface="Corbel"/>
                <a:cs typeface="Corbel"/>
              </a:rPr>
              <a:t>Initialize</a:t>
            </a:r>
            <a:r>
              <a:rPr dirty="0" sz="2000" spc="-45" b="1">
                <a:solidFill>
                  <a:srgbClr val="0070C0"/>
                </a:solidFill>
                <a:latin typeface="Corbel"/>
                <a:cs typeface="Corbel"/>
              </a:rPr>
              <a:t> </a:t>
            </a:r>
            <a:r>
              <a:rPr dirty="0" sz="2000" spc="-5" b="1">
                <a:solidFill>
                  <a:srgbClr val="0070C0"/>
                </a:solidFill>
                <a:latin typeface="Corbel"/>
                <a:cs typeface="Corbel"/>
              </a:rPr>
              <a:t>input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7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27</a:t>
            </a:fld>
          </a:p>
        </p:txBody>
      </p:sp>
      <p:sp>
        <p:nvSpPr>
          <p:cNvPr id="41" name="object 41"/>
          <p:cNvSpPr txBox="1"/>
          <p:nvPr/>
        </p:nvSpPr>
        <p:spPr>
          <a:xfrm>
            <a:off x="6737172" y="1715177"/>
            <a:ext cx="1804670" cy="916305"/>
          </a:xfrm>
          <a:prstGeom prst="rect">
            <a:avLst/>
          </a:prstGeom>
        </p:spPr>
        <p:txBody>
          <a:bodyPr wrap="square" lIns="0" tIns="1123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85"/>
              </a:spcBef>
            </a:pPr>
            <a:r>
              <a:rPr dirty="0" sz="2000" spc="-5" b="1">
                <a:solidFill>
                  <a:srgbClr val="0070C0"/>
                </a:solidFill>
                <a:latin typeface="Corbel"/>
                <a:cs typeface="Corbel"/>
              </a:rPr>
              <a:t>Stop</a:t>
            </a:r>
            <a:r>
              <a:rPr dirty="0" sz="2000" spc="-45" b="1">
                <a:solidFill>
                  <a:srgbClr val="0070C0"/>
                </a:solidFill>
                <a:latin typeface="Corbel"/>
                <a:cs typeface="Corbel"/>
              </a:rPr>
              <a:t> </a:t>
            </a:r>
            <a:r>
              <a:rPr dirty="0" sz="2000" spc="-5" b="1">
                <a:solidFill>
                  <a:srgbClr val="0070C0"/>
                </a:solidFill>
                <a:latin typeface="Corbel"/>
                <a:cs typeface="Corbel"/>
              </a:rPr>
              <a:t>generation</a:t>
            </a:r>
            <a:endParaRPr sz="2000">
              <a:latin typeface="Corbel"/>
              <a:cs typeface="Corbel"/>
            </a:endParaRPr>
          </a:p>
          <a:p>
            <a:pPr algn="ctr" marL="27940">
              <a:lnSpc>
                <a:spcPct val="100000"/>
              </a:lnSpc>
              <a:spcBef>
                <a:spcPts val="940"/>
              </a:spcBef>
            </a:pPr>
            <a:r>
              <a:rPr dirty="0" sz="2400">
                <a:latin typeface="Cambria Math"/>
                <a:cs typeface="Cambria Math"/>
              </a:rPr>
              <a:t>𝐸𝑂𝑆 =</a:t>
            </a:r>
            <a:r>
              <a:rPr dirty="0" sz="2400" spc="204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82353" y="1731433"/>
            <a:ext cx="3575050" cy="893444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2000" spc="-5" b="1">
                <a:solidFill>
                  <a:srgbClr val="0070C0"/>
                </a:solidFill>
                <a:latin typeface="Corbel"/>
                <a:cs typeface="Corbel"/>
              </a:rPr>
              <a:t>Use </a:t>
            </a:r>
            <a:r>
              <a:rPr dirty="0" sz="2000" b="1">
                <a:solidFill>
                  <a:srgbClr val="0070C0"/>
                </a:solidFill>
                <a:latin typeface="Corbel"/>
                <a:cs typeface="Corbel"/>
              </a:rPr>
              <a:t>the </a:t>
            </a:r>
            <a:r>
              <a:rPr dirty="0" sz="2000" spc="-5" b="1">
                <a:solidFill>
                  <a:srgbClr val="0070C0"/>
                </a:solidFill>
                <a:latin typeface="Corbel"/>
                <a:cs typeface="Corbel"/>
              </a:rPr>
              <a:t>previous output as</a:t>
            </a:r>
            <a:r>
              <a:rPr dirty="0" sz="2000" spc="0" b="1">
                <a:solidFill>
                  <a:srgbClr val="0070C0"/>
                </a:solidFill>
                <a:latin typeface="Corbel"/>
                <a:cs typeface="Corbel"/>
              </a:rPr>
              <a:t> </a:t>
            </a:r>
            <a:r>
              <a:rPr dirty="0" sz="2000" spc="-5" b="1">
                <a:solidFill>
                  <a:srgbClr val="0070C0"/>
                </a:solidFill>
                <a:latin typeface="Corbel"/>
                <a:cs typeface="Corbel"/>
              </a:rPr>
              <a:t>input</a:t>
            </a:r>
            <a:endParaRPr sz="2000">
              <a:latin typeface="Corbel"/>
              <a:cs typeface="Corbel"/>
            </a:endParaRPr>
          </a:p>
          <a:p>
            <a:pPr marL="303530">
              <a:lnSpc>
                <a:spcPct val="100000"/>
              </a:lnSpc>
              <a:spcBef>
                <a:spcPts val="844"/>
              </a:spcBef>
              <a:tabLst>
                <a:tab pos="2713355" algn="l"/>
              </a:tabLst>
            </a:pPr>
            <a:r>
              <a:rPr dirty="0" sz="2400" spc="75">
                <a:latin typeface="Cambria Math"/>
                <a:cs typeface="Cambria Math"/>
              </a:rPr>
              <a:t>𝑦</a:t>
            </a:r>
            <a:r>
              <a:rPr dirty="0" baseline="-15432" sz="2700" spc="112">
                <a:latin typeface="Cambria Math"/>
                <a:cs typeface="Cambria Math"/>
              </a:rPr>
              <a:t>(	</a:t>
            </a:r>
            <a:r>
              <a:rPr dirty="0" sz="2400" spc="290">
                <a:latin typeface="Cambria Math"/>
                <a:cs typeface="Cambria Math"/>
              </a:rPr>
              <a:t>𝑦</a:t>
            </a:r>
            <a:r>
              <a:rPr dirty="0" baseline="-15432" sz="2700" spc="434">
                <a:latin typeface="Cambria Math"/>
                <a:cs typeface="Cambria Math"/>
              </a:rPr>
              <a:t>,</a:t>
            </a:r>
            <a:endParaRPr baseline="-15432" sz="27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7324344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5708" y="1271523"/>
            <a:ext cx="610108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>
                <a:solidFill>
                  <a:srgbClr val="C00000"/>
                </a:solidFill>
              </a:rPr>
              <a:t>Remember </a:t>
            </a:r>
            <a:r>
              <a:rPr dirty="0" sz="2800" spc="-5">
                <a:solidFill>
                  <a:srgbClr val="C00000"/>
                </a:solidFill>
              </a:rPr>
              <a:t>our </a:t>
            </a:r>
            <a:r>
              <a:rPr dirty="0" sz="2800" spc="-10">
                <a:solidFill>
                  <a:srgbClr val="C00000"/>
                </a:solidFill>
              </a:rPr>
              <a:t>goal</a:t>
            </a:r>
            <a:r>
              <a:rPr dirty="0" sz="2800" spc="-10" b="0">
                <a:solidFill>
                  <a:srgbClr val="C00000"/>
                </a:solidFill>
                <a:latin typeface="Calibri"/>
                <a:cs typeface="Calibri"/>
              </a:rPr>
              <a:t>: </a:t>
            </a:r>
            <a:r>
              <a:rPr dirty="0" sz="2800" b="0">
                <a:solidFill>
                  <a:srgbClr val="C00000"/>
                </a:solidFill>
                <a:latin typeface="Calibri"/>
                <a:cs typeface="Calibri"/>
              </a:rPr>
              <a:t>Use RNN </a:t>
            </a:r>
            <a:r>
              <a:rPr dirty="0" sz="2800" spc="-15" b="0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dirty="0" sz="2800" spc="10" b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 b="0">
                <a:solidFill>
                  <a:srgbClr val="C00000"/>
                </a:solidFill>
                <a:latin typeface="Calibri"/>
                <a:cs typeface="Calibri"/>
              </a:rPr>
              <a:t>model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4483" y="1888235"/>
            <a:ext cx="37528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8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r>
              <a:rPr dirty="0" sz="2000" spc="340">
                <a:solidFill>
                  <a:srgbClr val="C00000"/>
                </a:solidFill>
                <a:latin typeface="Cambria Math"/>
                <a:cs typeface="Cambria Math"/>
              </a:rPr>
              <a:t>2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5748" y="1561084"/>
            <a:ext cx="47942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19841" sz="4200" spc="-7">
                <a:solidFill>
                  <a:srgbClr val="C00000"/>
                </a:solidFill>
                <a:latin typeface="Cambria Math"/>
                <a:cs typeface="Cambria Math"/>
              </a:rPr>
              <a:t>∏</a:t>
            </a:r>
            <a:r>
              <a:rPr dirty="0" sz="2000" spc="185">
                <a:solidFill>
                  <a:srgbClr val="C00000"/>
                </a:solidFill>
                <a:latin typeface="Cambria Math"/>
                <a:cs typeface="Cambria Math"/>
              </a:rPr>
              <a:t>3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28178" y="1701291"/>
            <a:ext cx="392874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18055" sz="3000" spc="1110">
                <a:solidFill>
                  <a:srgbClr val="C00000"/>
                </a:solidFill>
                <a:latin typeface="Cambria Math"/>
                <a:cs typeface="Cambria Math"/>
              </a:rPr>
              <a:t>,</a:t>
            </a:r>
            <a:r>
              <a:rPr dirty="0" baseline="-18055" sz="3000" spc="-13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800" spc="110">
                <a:solidFill>
                  <a:srgbClr val="C00000"/>
                </a:solidFill>
                <a:latin typeface="Cambria Math"/>
                <a:cs typeface="Cambria Math"/>
              </a:rPr>
              <a:t>𝑝</a:t>
            </a:r>
            <a:r>
              <a:rPr dirty="0" baseline="-16666" sz="3000" spc="165">
                <a:solidFill>
                  <a:srgbClr val="C00000"/>
                </a:solidFill>
                <a:latin typeface="Cambria Math"/>
                <a:cs typeface="Cambria Math"/>
              </a:rPr>
              <a:t>$%!&amp;'</a:t>
            </a:r>
            <a:r>
              <a:rPr dirty="0" sz="2800" spc="110">
                <a:solidFill>
                  <a:srgbClr val="C00000"/>
                </a:solidFill>
                <a:latin typeface="Cambria Math"/>
                <a:cs typeface="Cambria Math"/>
              </a:rPr>
              <a:t>(𝑥</a:t>
            </a:r>
            <a:r>
              <a:rPr dirty="0" baseline="-16666" sz="3000" spc="165">
                <a:solidFill>
                  <a:srgbClr val="C00000"/>
                </a:solidFill>
                <a:latin typeface="Cambria Math"/>
                <a:cs typeface="Cambria Math"/>
              </a:rPr>
              <a:t>#</a:t>
            </a:r>
            <a:r>
              <a:rPr dirty="0" sz="2800" spc="110">
                <a:solidFill>
                  <a:srgbClr val="C00000"/>
                </a:solidFill>
                <a:latin typeface="Cambria Math"/>
                <a:cs typeface="Cambria Math"/>
              </a:rPr>
              <a:t>|𝑥</a:t>
            </a:r>
            <a:r>
              <a:rPr dirty="0" baseline="-16666" sz="3000" spc="165">
                <a:solidFill>
                  <a:srgbClr val="C00000"/>
                </a:solidFill>
                <a:latin typeface="Cambria Math"/>
                <a:cs typeface="Cambria Math"/>
              </a:rPr>
              <a:t>,</a:t>
            </a:r>
            <a:r>
              <a:rPr dirty="0" sz="2800" spc="110">
                <a:solidFill>
                  <a:srgbClr val="C00000"/>
                </a:solidFill>
                <a:latin typeface="Cambria Math"/>
                <a:cs typeface="Cambria Math"/>
              </a:rPr>
              <a:t>,</a:t>
            </a:r>
            <a:r>
              <a:rPr dirty="0" sz="2800" spc="-15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…</a:t>
            </a:r>
            <a:r>
              <a:rPr dirty="0" sz="2800" spc="-16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,</a:t>
            </a:r>
            <a:r>
              <a:rPr dirty="0" sz="2800" spc="-15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800" spc="100">
                <a:solidFill>
                  <a:srgbClr val="C00000"/>
                </a:solidFill>
                <a:latin typeface="Cambria Math"/>
                <a:cs typeface="Cambria Math"/>
              </a:rPr>
              <a:t>𝑥</a:t>
            </a:r>
            <a:r>
              <a:rPr dirty="0" baseline="-16666" sz="3000" spc="150">
                <a:solidFill>
                  <a:srgbClr val="C00000"/>
                </a:solidFill>
                <a:latin typeface="Cambria Math"/>
                <a:cs typeface="Cambria Math"/>
              </a:rPr>
              <a:t>#+,</a:t>
            </a:r>
            <a:r>
              <a:rPr dirty="0" sz="2800" spc="100">
                <a:solidFill>
                  <a:srgbClr val="C00000"/>
                </a:solidFill>
                <a:latin typeface="Cambria Math"/>
                <a:cs typeface="Cambria Math"/>
              </a:rPr>
              <a:t>;</a:t>
            </a:r>
            <a:r>
              <a:rPr dirty="0" sz="2800" spc="-15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800" spc="30">
                <a:solidFill>
                  <a:srgbClr val="C00000"/>
                </a:solidFill>
                <a:latin typeface="Cambria Math"/>
                <a:cs typeface="Cambria Math"/>
              </a:rPr>
              <a:t>𝜃)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28862" y="5115235"/>
            <a:ext cx="1059180" cy="762000"/>
          </a:xfrm>
          <a:custGeom>
            <a:avLst/>
            <a:gdLst/>
            <a:ahLst/>
            <a:cxnLst/>
            <a:rect l="l" t="t" r="r" b="b"/>
            <a:pathLst>
              <a:path w="1059180" h="762000">
                <a:moveTo>
                  <a:pt x="0" y="0"/>
                </a:moveTo>
                <a:lnTo>
                  <a:pt x="1058953" y="0"/>
                </a:lnTo>
                <a:lnTo>
                  <a:pt x="1058953" y="761999"/>
                </a:lnTo>
                <a:lnTo>
                  <a:pt x="0" y="761999"/>
                </a:lnTo>
                <a:lnTo>
                  <a:pt x="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28862" y="5115235"/>
            <a:ext cx="1059180" cy="762000"/>
          </a:xfrm>
          <a:custGeom>
            <a:avLst/>
            <a:gdLst/>
            <a:ahLst/>
            <a:cxnLst/>
            <a:rect l="l" t="t" r="r" b="b"/>
            <a:pathLst>
              <a:path w="1059180" h="762000">
                <a:moveTo>
                  <a:pt x="0" y="0"/>
                </a:moveTo>
                <a:lnTo>
                  <a:pt x="1058954" y="0"/>
                </a:lnTo>
                <a:lnTo>
                  <a:pt x="1058954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552862" y="5092700"/>
            <a:ext cx="1035050" cy="760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587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400">
              <a:latin typeface="Corbel"/>
              <a:cs typeface="Corbel"/>
            </a:endParaRPr>
          </a:p>
          <a:p>
            <a:pPr algn="ctr" marR="17145">
              <a:lnSpc>
                <a:spcPct val="100000"/>
              </a:lnSpc>
              <a:spcBef>
                <a:spcPts val="25"/>
              </a:spcBef>
            </a:pP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cell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44877" y="6330188"/>
            <a:ext cx="1244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100">
                <a:latin typeface="Cambria Math"/>
                <a:cs typeface="Cambria Math"/>
              </a:rPr>
              <a:t>𝑥</a:t>
            </a:r>
            <a:r>
              <a:rPr dirty="0" baseline="-15432" sz="2700" spc="150">
                <a:latin typeface="Cambria Math"/>
                <a:cs typeface="Cambria Math"/>
              </a:rPr>
              <a:t>(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8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𝑆𝑂𝑆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955022" y="5981259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154974" y="103316"/>
                </a:moveTo>
                <a:lnTo>
                  <a:pt x="51657" y="103316"/>
                </a:lnTo>
                <a:lnTo>
                  <a:pt x="51657" y="322301"/>
                </a:lnTo>
                <a:lnTo>
                  <a:pt x="154974" y="322301"/>
                </a:lnTo>
                <a:lnTo>
                  <a:pt x="154974" y="103316"/>
                </a:lnTo>
                <a:close/>
              </a:path>
              <a:path w="207010" h="322579">
                <a:moveTo>
                  <a:pt x="103315" y="0"/>
                </a:moveTo>
                <a:lnTo>
                  <a:pt x="0" y="103316"/>
                </a:lnTo>
                <a:lnTo>
                  <a:pt x="206632" y="103316"/>
                </a:lnTo>
                <a:lnTo>
                  <a:pt x="10331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955022" y="5981259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51658" y="322302"/>
                </a:moveTo>
                <a:lnTo>
                  <a:pt x="51658" y="103316"/>
                </a:lnTo>
                <a:lnTo>
                  <a:pt x="0" y="103316"/>
                </a:lnTo>
                <a:lnTo>
                  <a:pt x="103316" y="0"/>
                </a:lnTo>
                <a:lnTo>
                  <a:pt x="206633" y="103316"/>
                </a:lnTo>
                <a:lnTo>
                  <a:pt x="154974" y="103316"/>
                </a:lnTo>
                <a:lnTo>
                  <a:pt x="154974" y="322302"/>
                </a:lnTo>
                <a:lnTo>
                  <a:pt x="51658" y="322302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120653" y="5439083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80" h="207010">
                <a:moveTo>
                  <a:pt x="218985" y="0"/>
                </a:moveTo>
                <a:lnTo>
                  <a:pt x="218985" y="51658"/>
                </a:lnTo>
                <a:lnTo>
                  <a:pt x="0" y="51658"/>
                </a:lnTo>
                <a:lnTo>
                  <a:pt x="0" y="154974"/>
                </a:lnTo>
                <a:lnTo>
                  <a:pt x="218985" y="154974"/>
                </a:lnTo>
                <a:lnTo>
                  <a:pt x="218985" y="206633"/>
                </a:lnTo>
                <a:lnTo>
                  <a:pt x="322302" y="103317"/>
                </a:lnTo>
                <a:lnTo>
                  <a:pt x="21898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120653" y="5439083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80" h="207010">
                <a:moveTo>
                  <a:pt x="0" y="51658"/>
                </a:moveTo>
                <a:lnTo>
                  <a:pt x="218985" y="51658"/>
                </a:lnTo>
                <a:lnTo>
                  <a:pt x="218985" y="0"/>
                </a:lnTo>
                <a:lnTo>
                  <a:pt x="322302" y="103316"/>
                </a:lnTo>
                <a:lnTo>
                  <a:pt x="218985" y="206633"/>
                </a:lnTo>
                <a:lnTo>
                  <a:pt x="218985" y="154974"/>
                </a:lnTo>
                <a:lnTo>
                  <a:pt x="0" y="154974"/>
                </a:lnTo>
                <a:lnTo>
                  <a:pt x="0" y="51658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673723" y="5439082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80" h="207010">
                <a:moveTo>
                  <a:pt x="218986" y="0"/>
                </a:moveTo>
                <a:lnTo>
                  <a:pt x="218986" y="51658"/>
                </a:lnTo>
                <a:lnTo>
                  <a:pt x="0" y="51658"/>
                </a:lnTo>
                <a:lnTo>
                  <a:pt x="0" y="154975"/>
                </a:lnTo>
                <a:lnTo>
                  <a:pt x="218986" y="154975"/>
                </a:lnTo>
                <a:lnTo>
                  <a:pt x="218986" y="206633"/>
                </a:lnTo>
                <a:lnTo>
                  <a:pt x="322303" y="103317"/>
                </a:lnTo>
                <a:lnTo>
                  <a:pt x="218986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673723" y="5439082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80" h="207010">
                <a:moveTo>
                  <a:pt x="0" y="51658"/>
                </a:moveTo>
                <a:lnTo>
                  <a:pt x="218985" y="51658"/>
                </a:lnTo>
                <a:lnTo>
                  <a:pt x="218985" y="0"/>
                </a:lnTo>
                <a:lnTo>
                  <a:pt x="322302" y="103316"/>
                </a:lnTo>
                <a:lnTo>
                  <a:pt x="218985" y="206633"/>
                </a:lnTo>
                <a:lnTo>
                  <a:pt x="218985" y="154974"/>
                </a:lnTo>
                <a:lnTo>
                  <a:pt x="0" y="154974"/>
                </a:lnTo>
                <a:lnTo>
                  <a:pt x="0" y="51658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955022" y="4706100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154974" y="103315"/>
                </a:moveTo>
                <a:lnTo>
                  <a:pt x="51657" y="103315"/>
                </a:lnTo>
                <a:lnTo>
                  <a:pt x="51657" y="322301"/>
                </a:lnTo>
                <a:lnTo>
                  <a:pt x="154974" y="322301"/>
                </a:lnTo>
                <a:lnTo>
                  <a:pt x="154974" y="103315"/>
                </a:lnTo>
                <a:close/>
              </a:path>
              <a:path w="207010" h="322579">
                <a:moveTo>
                  <a:pt x="103315" y="0"/>
                </a:moveTo>
                <a:lnTo>
                  <a:pt x="0" y="103315"/>
                </a:lnTo>
                <a:lnTo>
                  <a:pt x="206632" y="103315"/>
                </a:lnTo>
                <a:lnTo>
                  <a:pt x="10331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955022" y="4706100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51658" y="322302"/>
                </a:moveTo>
                <a:lnTo>
                  <a:pt x="51658" y="103316"/>
                </a:lnTo>
                <a:lnTo>
                  <a:pt x="0" y="103316"/>
                </a:lnTo>
                <a:lnTo>
                  <a:pt x="103316" y="0"/>
                </a:lnTo>
                <a:lnTo>
                  <a:pt x="206633" y="103316"/>
                </a:lnTo>
                <a:lnTo>
                  <a:pt x="154974" y="103316"/>
                </a:lnTo>
                <a:lnTo>
                  <a:pt x="154974" y="322302"/>
                </a:lnTo>
                <a:lnTo>
                  <a:pt x="51658" y="322302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3125064" y="5284723"/>
            <a:ext cx="2844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14">
                <a:latin typeface="Cambria Math"/>
                <a:cs typeface="Cambria Math"/>
              </a:rPr>
              <a:t>𝑠</a:t>
            </a:r>
            <a:r>
              <a:rPr dirty="0" baseline="-15432" sz="2700" spc="427">
                <a:latin typeface="Cambria Math"/>
                <a:cs typeface="Cambria Math"/>
              </a:rPr>
              <a:t>(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938896" y="5115235"/>
            <a:ext cx="1059180" cy="762000"/>
          </a:xfrm>
          <a:custGeom>
            <a:avLst/>
            <a:gdLst/>
            <a:ahLst/>
            <a:cxnLst/>
            <a:rect l="l" t="t" r="r" b="b"/>
            <a:pathLst>
              <a:path w="1059179" h="762000">
                <a:moveTo>
                  <a:pt x="0" y="0"/>
                </a:moveTo>
                <a:lnTo>
                  <a:pt x="1058953" y="0"/>
                </a:lnTo>
                <a:lnTo>
                  <a:pt x="1058953" y="761999"/>
                </a:lnTo>
                <a:lnTo>
                  <a:pt x="0" y="761999"/>
                </a:lnTo>
                <a:lnTo>
                  <a:pt x="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938896" y="5115235"/>
            <a:ext cx="1059180" cy="762000"/>
          </a:xfrm>
          <a:custGeom>
            <a:avLst/>
            <a:gdLst/>
            <a:ahLst/>
            <a:cxnLst/>
            <a:rect l="l" t="t" r="r" b="b"/>
            <a:pathLst>
              <a:path w="1059179" h="762000">
                <a:moveTo>
                  <a:pt x="0" y="0"/>
                </a:moveTo>
                <a:lnTo>
                  <a:pt x="1058954" y="0"/>
                </a:lnTo>
                <a:lnTo>
                  <a:pt x="1058954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938896" y="5092700"/>
            <a:ext cx="1035050" cy="760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413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400">
              <a:latin typeface="Corbel"/>
              <a:cs typeface="Corbel"/>
            </a:endParaRPr>
          </a:p>
          <a:p>
            <a:pPr algn="ctr" marL="22860">
              <a:lnSpc>
                <a:spcPct val="100000"/>
              </a:lnSpc>
              <a:spcBef>
                <a:spcPts val="25"/>
              </a:spcBef>
            </a:pP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cell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365056" y="5981259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154974" y="103316"/>
                </a:moveTo>
                <a:lnTo>
                  <a:pt x="51657" y="103316"/>
                </a:lnTo>
                <a:lnTo>
                  <a:pt x="51657" y="322301"/>
                </a:lnTo>
                <a:lnTo>
                  <a:pt x="154974" y="322301"/>
                </a:lnTo>
                <a:lnTo>
                  <a:pt x="154974" y="103316"/>
                </a:lnTo>
                <a:close/>
              </a:path>
              <a:path w="207010" h="322579">
                <a:moveTo>
                  <a:pt x="103315" y="0"/>
                </a:moveTo>
                <a:lnTo>
                  <a:pt x="0" y="103316"/>
                </a:lnTo>
                <a:lnTo>
                  <a:pt x="206632" y="103316"/>
                </a:lnTo>
                <a:lnTo>
                  <a:pt x="10331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365056" y="5981259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51658" y="322302"/>
                </a:moveTo>
                <a:lnTo>
                  <a:pt x="51658" y="103316"/>
                </a:lnTo>
                <a:lnTo>
                  <a:pt x="0" y="103316"/>
                </a:lnTo>
                <a:lnTo>
                  <a:pt x="103316" y="0"/>
                </a:lnTo>
                <a:lnTo>
                  <a:pt x="206633" y="103316"/>
                </a:lnTo>
                <a:lnTo>
                  <a:pt x="154974" y="103316"/>
                </a:lnTo>
                <a:lnTo>
                  <a:pt x="154974" y="322302"/>
                </a:lnTo>
                <a:lnTo>
                  <a:pt x="51658" y="322302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530686" y="5439083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79" h="207010">
                <a:moveTo>
                  <a:pt x="218986" y="0"/>
                </a:moveTo>
                <a:lnTo>
                  <a:pt x="218986" y="51658"/>
                </a:lnTo>
                <a:lnTo>
                  <a:pt x="0" y="51658"/>
                </a:lnTo>
                <a:lnTo>
                  <a:pt x="0" y="154974"/>
                </a:lnTo>
                <a:lnTo>
                  <a:pt x="218986" y="154974"/>
                </a:lnTo>
                <a:lnTo>
                  <a:pt x="218986" y="206633"/>
                </a:lnTo>
                <a:lnTo>
                  <a:pt x="322301" y="103317"/>
                </a:lnTo>
                <a:lnTo>
                  <a:pt x="218986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530686" y="5439083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79" h="207010">
                <a:moveTo>
                  <a:pt x="0" y="51658"/>
                </a:moveTo>
                <a:lnTo>
                  <a:pt x="218985" y="51658"/>
                </a:lnTo>
                <a:lnTo>
                  <a:pt x="218985" y="0"/>
                </a:lnTo>
                <a:lnTo>
                  <a:pt x="322302" y="103316"/>
                </a:lnTo>
                <a:lnTo>
                  <a:pt x="218985" y="206633"/>
                </a:lnTo>
                <a:lnTo>
                  <a:pt x="218985" y="154974"/>
                </a:lnTo>
                <a:lnTo>
                  <a:pt x="0" y="154974"/>
                </a:lnTo>
                <a:lnTo>
                  <a:pt x="0" y="51658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083756" y="5439082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79" h="207010">
                <a:moveTo>
                  <a:pt x="218986" y="0"/>
                </a:moveTo>
                <a:lnTo>
                  <a:pt x="218986" y="51658"/>
                </a:lnTo>
                <a:lnTo>
                  <a:pt x="0" y="51658"/>
                </a:lnTo>
                <a:lnTo>
                  <a:pt x="0" y="154975"/>
                </a:lnTo>
                <a:lnTo>
                  <a:pt x="218986" y="154975"/>
                </a:lnTo>
                <a:lnTo>
                  <a:pt x="218986" y="206633"/>
                </a:lnTo>
                <a:lnTo>
                  <a:pt x="322301" y="103317"/>
                </a:lnTo>
                <a:lnTo>
                  <a:pt x="218986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083756" y="5439082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79" h="207010">
                <a:moveTo>
                  <a:pt x="0" y="51658"/>
                </a:moveTo>
                <a:lnTo>
                  <a:pt x="218985" y="51658"/>
                </a:lnTo>
                <a:lnTo>
                  <a:pt x="218985" y="0"/>
                </a:lnTo>
                <a:lnTo>
                  <a:pt x="322302" y="103316"/>
                </a:lnTo>
                <a:lnTo>
                  <a:pt x="218985" y="206633"/>
                </a:lnTo>
                <a:lnTo>
                  <a:pt x="218985" y="154974"/>
                </a:lnTo>
                <a:lnTo>
                  <a:pt x="0" y="154974"/>
                </a:lnTo>
                <a:lnTo>
                  <a:pt x="0" y="51658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365056" y="4706100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154974" y="103315"/>
                </a:moveTo>
                <a:lnTo>
                  <a:pt x="51657" y="103315"/>
                </a:lnTo>
                <a:lnTo>
                  <a:pt x="51657" y="322301"/>
                </a:lnTo>
                <a:lnTo>
                  <a:pt x="154974" y="322301"/>
                </a:lnTo>
                <a:lnTo>
                  <a:pt x="154974" y="103315"/>
                </a:lnTo>
                <a:close/>
              </a:path>
              <a:path w="207010" h="322579">
                <a:moveTo>
                  <a:pt x="103315" y="0"/>
                </a:moveTo>
                <a:lnTo>
                  <a:pt x="0" y="103315"/>
                </a:lnTo>
                <a:lnTo>
                  <a:pt x="206632" y="103315"/>
                </a:lnTo>
                <a:lnTo>
                  <a:pt x="10331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365056" y="4706100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51658" y="322302"/>
                </a:moveTo>
                <a:lnTo>
                  <a:pt x="51658" y="103316"/>
                </a:lnTo>
                <a:lnTo>
                  <a:pt x="0" y="103316"/>
                </a:lnTo>
                <a:lnTo>
                  <a:pt x="103316" y="0"/>
                </a:lnTo>
                <a:lnTo>
                  <a:pt x="206633" y="103316"/>
                </a:lnTo>
                <a:lnTo>
                  <a:pt x="154974" y="103316"/>
                </a:lnTo>
                <a:lnTo>
                  <a:pt x="154974" y="322302"/>
                </a:lnTo>
                <a:lnTo>
                  <a:pt x="51658" y="322302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5545067" y="5284723"/>
            <a:ext cx="2921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5">
                <a:latin typeface="Cambria Math"/>
                <a:cs typeface="Cambria Math"/>
              </a:rPr>
              <a:t>𝑠</a:t>
            </a:r>
            <a:r>
              <a:rPr dirty="0" baseline="-15432" sz="2700" spc="997">
                <a:latin typeface="Cambria Math"/>
                <a:cs typeface="Cambria Math"/>
              </a:rPr>
              <a:t>,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354343" y="5115235"/>
            <a:ext cx="1059180" cy="762000"/>
          </a:xfrm>
          <a:prstGeom prst="rect">
            <a:avLst/>
          </a:prstGeom>
          <a:solidFill>
            <a:srgbClr val="F0AD00"/>
          </a:solidFill>
          <a:ln w="48000">
            <a:solidFill>
              <a:srgbClr val="B07E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2615"/>
              </a:lnSpc>
            </a:pP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400">
              <a:latin typeface="Corbel"/>
              <a:cs typeface="Corbel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cell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450041" y="6287515"/>
            <a:ext cx="83629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0">
                <a:latin typeface="Cambria Math"/>
                <a:cs typeface="Cambria Math"/>
              </a:rPr>
              <a:t>𝑥</a:t>
            </a:r>
            <a:r>
              <a:rPr dirty="0" baseline="-15432" sz="2700" spc="727">
                <a:latin typeface="Cambria Math"/>
                <a:cs typeface="Cambria Math"/>
              </a:rPr>
              <a:t>-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~</a:t>
            </a:r>
            <a:r>
              <a:rPr dirty="0" sz="2400" spc="-80">
                <a:latin typeface="Cambria Math"/>
                <a:cs typeface="Cambria Math"/>
              </a:rPr>
              <a:t>𝑦</a:t>
            </a:r>
            <a:r>
              <a:rPr dirty="0" baseline="-15432" sz="2700" spc="997">
                <a:latin typeface="Cambria Math"/>
                <a:cs typeface="Cambria Math"/>
              </a:rPr>
              <a:t>,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780503" y="5981259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09" h="322579">
                <a:moveTo>
                  <a:pt x="154975" y="103316"/>
                </a:moveTo>
                <a:lnTo>
                  <a:pt x="51658" y="103316"/>
                </a:lnTo>
                <a:lnTo>
                  <a:pt x="51658" y="322301"/>
                </a:lnTo>
                <a:lnTo>
                  <a:pt x="154975" y="322301"/>
                </a:lnTo>
                <a:lnTo>
                  <a:pt x="154975" y="103316"/>
                </a:lnTo>
                <a:close/>
              </a:path>
              <a:path w="207009" h="322579">
                <a:moveTo>
                  <a:pt x="103317" y="0"/>
                </a:moveTo>
                <a:lnTo>
                  <a:pt x="0" y="103316"/>
                </a:lnTo>
                <a:lnTo>
                  <a:pt x="206632" y="103316"/>
                </a:lnTo>
                <a:lnTo>
                  <a:pt x="103317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780503" y="5981259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09" h="322579">
                <a:moveTo>
                  <a:pt x="51658" y="322302"/>
                </a:moveTo>
                <a:lnTo>
                  <a:pt x="51658" y="103316"/>
                </a:lnTo>
                <a:lnTo>
                  <a:pt x="0" y="103316"/>
                </a:lnTo>
                <a:lnTo>
                  <a:pt x="103316" y="0"/>
                </a:lnTo>
                <a:lnTo>
                  <a:pt x="206633" y="103316"/>
                </a:lnTo>
                <a:lnTo>
                  <a:pt x="154974" y="103316"/>
                </a:lnTo>
                <a:lnTo>
                  <a:pt x="154974" y="322302"/>
                </a:lnTo>
                <a:lnTo>
                  <a:pt x="51658" y="322302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946134" y="5439083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79" h="207010">
                <a:moveTo>
                  <a:pt x="218984" y="0"/>
                </a:moveTo>
                <a:lnTo>
                  <a:pt x="218984" y="51658"/>
                </a:lnTo>
                <a:lnTo>
                  <a:pt x="0" y="51658"/>
                </a:lnTo>
                <a:lnTo>
                  <a:pt x="0" y="154974"/>
                </a:lnTo>
                <a:lnTo>
                  <a:pt x="218984" y="154974"/>
                </a:lnTo>
                <a:lnTo>
                  <a:pt x="218984" y="206633"/>
                </a:lnTo>
                <a:lnTo>
                  <a:pt x="322301" y="103317"/>
                </a:lnTo>
                <a:lnTo>
                  <a:pt x="218984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946134" y="5439083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79" h="207010">
                <a:moveTo>
                  <a:pt x="0" y="51658"/>
                </a:moveTo>
                <a:lnTo>
                  <a:pt x="218985" y="51658"/>
                </a:lnTo>
                <a:lnTo>
                  <a:pt x="218985" y="0"/>
                </a:lnTo>
                <a:lnTo>
                  <a:pt x="322302" y="103316"/>
                </a:lnTo>
                <a:lnTo>
                  <a:pt x="218985" y="206633"/>
                </a:lnTo>
                <a:lnTo>
                  <a:pt x="218985" y="154974"/>
                </a:lnTo>
                <a:lnTo>
                  <a:pt x="0" y="154974"/>
                </a:lnTo>
                <a:lnTo>
                  <a:pt x="0" y="51658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499205" y="5439082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79" h="207010">
                <a:moveTo>
                  <a:pt x="218984" y="0"/>
                </a:moveTo>
                <a:lnTo>
                  <a:pt x="218984" y="51658"/>
                </a:lnTo>
                <a:lnTo>
                  <a:pt x="0" y="51658"/>
                </a:lnTo>
                <a:lnTo>
                  <a:pt x="0" y="154975"/>
                </a:lnTo>
                <a:lnTo>
                  <a:pt x="218984" y="154975"/>
                </a:lnTo>
                <a:lnTo>
                  <a:pt x="218984" y="206633"/>
                </a:lnTo>
                <a:lnTo>
                  <a:pt x="322301" y="103317"/>
                </a:lnTo>
                <a:lnTo>
                  <a:pt x="218984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499205" y="5439082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79" h="207010">
                <a:moveTo>
                  <a:pt x="0" y="51658"/>
                </a:moveTo>
                <a:lnTo>
                  <a:pt x="218985" y="51658"/>
                </a:lnTo>
                <a:lnTo>
                  <a:pt x="218985" y="0"/>
                </a:lnTo>
                <a:lnTo>
                  <a:pt x="322302" y="103316"/>
                </a:lnTo>
                <a:lnTo>
                  <a:pt x="218985" y="206633"/>
                </a:lnTo>
                <a:lnTo>
                  <a:pt x="218985" y="154974"/>
                </a:lnTo>
                <a:lnTo>
                  <a:pt x="0" y="154974"/>
                </a:lnTo>
                <a:lnTo>
                  <a:pt x="0" y="51658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780503" y="4706100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09" h="322579">
                <a:moveTo>
                  <a:pt x="154975" y="103315"/>
                </a:moveTo>
                <a:lnTo>
                  <a:pt x="51658" y="103315"/>
                </a:lnTo>
                <a:lnTo>
                  <a:pt x="51658" y="322301"/>
                </a:lnTo>
                <a:lnTo>
                  <a:pt x="154975" y="322301"/>
                </a:lnTo>
                <a:lnTo>
                  <a:pt x="154975" y="103315"/>
                </a:lnTo>
                <a:close/>
              </a:path>
              <a:path w="207009" h="322579">
                <a:moveTo>
                  <a:pt x="103317" y="0"/>
                </a:moveTo>
                <a:lnTo>
                  <a:pt x="0" y="103315"/>
                </a:lnTo>
                <a:lnTo>
                  <a:pt x="206632" y="103315"/>
                </a:lnTo>
                <a:lnTo>
                  <a:pt x="103317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780503" y="4706100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09" h="322579">
                <a:moveTo>
                  <a:pt x="51658" y="322302"/>
                </a:moveTo>
                <a:lnTo>
                  <a:pt x="51658" y="103316"/>
                </a:lnTo>
                <a:lnTo>
                  <a:pt x="0" y="103316"/>
                </a:lnTo>
                <a:lnTo>
                  <a:pt x="103316" y="0"/>
                </a:lnTo>
                <a:lnTo>
                  <a:pt x="206633" y="103316"/>
                </a:lnTo>
                <a:lnTo>
                  <a:pt x="154974" y="103316"/>
                </a:lnTo>
                <a:lnTo>
                  <a:pt x="154974" y="322302"/>
                </a:lnTo>
                <a:lnTo>
                  <a:pt x="51658" y="322302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465708" y="2121915"/>
            <a:ext cx="8435340" cy="2554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>
                <a:latin typeface="Calibri"/>
                <a:cs typeface="Calibri"/>
              </a:rPr>
              <a:t>Let</a:t>
            </a:r>
            <a:r>
              <a:rPr dirty="0" sz="2800" spc="0">
                <a:latin typeface="Calibri"/>
                <a:cs typeface="Calibri"/>
              </a:rPr>
              <a:t> </a:t>
            </a:r>
            <a:r>
              <a:rPr dirty="0" sz="2800" spc="-225">
                <a:latin typeface="Cambria Math"/>
                <a:cs typeface="Cambria Math"/>
              </a:rPr>
              <a:t>𝑦</a:t>
            </a:r>
            <a:r>
              <a:rPr dirty="0" baseline="-16666" sz="3000" spc="-337">
                <a:latin typeface="Cambria Math"/>
                <a:cs typeface="Cambria Math"/>
              </a:rPr>
              <a:t>#  </a:t>
            </a:r>
            <a:r>
              <a:rPr dirty="0" baseline="-16666" sz="3000" spc="-27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150">
                <a:latin typeface="Cambria Math"/>
                <a:cs typeface="Cambria Math"/>
              </a:rPr>
              <a:t> </a:t>
            </a:r>
            <a:r>
              <a:rPr dirty="0" sz="2800" spc="110">
                <a:latin typeface="Cambria Math"/>
                <a:cs typeface="Cambria Math"/>
              </a:rPr>
              <a:t>𝑝</a:t>
            </a:r>
            <a:r>
              <a:rPr dirty="0" baseline="-16666" sz="3000" spc="165">
                <a:latin typeface="Cambria Math"/>
                <a:cs typeface="Cambria Math"/>
              </a:rPr>
              <a:t>$%!&amp;'</a:t>
            </a:r>
            <a:r>
              <a:rPr dirty="0" sz="2800" spc="110">
                <a:latin typeface="Cambria Math"/>
                <a:cs typeface="Cambria Math"/>
              </a:rPr>
              <a:t>(𝑥</a:t>
            </a:r>
            <a:r>
              <a:rPr dirty="0" baseline="-16666" sz="3000" spc="165">
                <a:latin typeface="Cambria Math"/>
                <a:cs typeface="Cambria Math"/>
              </a:rPr>
              <a:t>#</a:t>
            </a:r>
            <a:r>
              <a:rPr dirty="0" sz="2800" spc="110">
                <a:latin typeface="Cambria Math"/>
                <a:cs typeface="Cambria Math"/>
              </a:rPr>
              <a:t>|𝑥</a:t>
            </a:r>
            <a:r>
              <a:rPr dirty="0" baseline="-16666" sz="3000" spc="165">
                <a:latin typeface="Cambria Math"/>
                <a:cs typeface="Cambria Math"/>
              </a:rPr>
              <a:t>,</a:t>
            </a:r>
            <a:r>
              <a:rPr dirty="0" sz="2800" spc="110">
                <a:latin typeface="Cambria Math"/>
                <a:cs typeface="Cambria Math"/>
              </a:rPr>
              <a:t>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…</a:t>
            </a:r>
            <a:r>
              <a:rPr dirty="0" sz="2800" spc="-16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 spc="100">
                <a:latin typeface="Cambria Math"/>
                <a:cs typeface="Cambria Math"/>
              </a:rPr>
              <a:t>𝑥</a:t>
            </a:r>
            <a:r>
              <a:rPr dirty="0" baseline="-16666" sz="3000" spc="150">
                <a:latin typeface="Cambria Math"/>
                <a:cs typeface="Cambria Math"/>
              </a:rPr>
              <a:t>#+,</a:t>
            </a:r>
            <a:r>
              <a:rPr dirty="0" sz="2800" spc="100">
                <a:latin typeface="Cambria Math"/>
                <a:cs typeface="Cambria Math"/>
              </a:rPr>
              <a:t>;</a:t>
            </a:r>
            <a:r>
              <a:rPr dirty="0" sz="2800" spc="-155">
                <a:latin typeface="Cambria Math"/>
                <a:cs typeface="Cambria Math"/>
              </a:rPr>
              <a:t> </a:t>
            </a:r>
            <a:r>
              <a:rPr dirty="0" sz="2800" spc="30">
                <a:latin typeface="Cambria Math"/>
                <a:cs typeface="Cambria Math"/>
              </a:rPr>
              <a:t>𝜃)</a:t>
            </a:r>
            <a:endParaRPr sz="2800">
              <a:latin typeface="Cambria Math"/>
              <a:cs typeface="Cambria Math"/>
            </a:endParaRPr>
          </a:p>
          <a:p>
            <a:pPr marL="332740" indent="-320040">
              <a:lnSpc>
                <a:spcPct val="100000"/>
              </a:lnSpc>
              <a:spcBef>
                <a:spcPts val="45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>
                <a:solidFill>
                  <a:srgbClr val="0000FF"/>
                </a:solidFill>
                <a:latin typeface="Calibri"/>
                <a:cs typeface="Calibri"/>
              </a:rPr>
              <a:t>Then </a:t>
            </a:r>
            <a:r>
              <a:rPr dirty="0" sz="2800" spc="-15">
                <a:solidFill>
                  <a:srgbClr val="0000FF"/>
                </a:solidFill>
                <a:latin typeface="Calibri"/>
                <a:cs typeface="Calibri"/>
              </a:rPr>
              <a:t>we </a:t>
            </a:r>
            <a:r>
              <a:rPr dirty="0" sz="2800" spc="-5">
                <a:solidFill>
                  <a:srgbClr val="0000FF"/>
                </a:solidFill>
                <a:latin typeface="Calibri"/>
                <a:cs typeface="Calibri"/>
              </a:rPr>
              <a:t>need </a:t>
            </a:r>
            <a:r>
              <a:rPr dirty="0" sz="2800" spc="-15">
                <a:solidFill>
                  <a:srgbClr val="0000FF"/>
                </a:solidFill>
                <a:latin typeface="Calibri"/>
                <a:cs typeface="Calibri"/>
              </a:rPr>
              <a:t>to </a:t>
            </a:r>
            <a:r>
              <a:rPr dirty="0" sz="2800" spc="-5">
                <a:solidFill>
                  <a:srgbClr val="0000FF"/>
                </a:solidFill>
                <a:latin typeface="Calibri"/>
                <a:cs typeface="Calibri"/>
              </a:rPr>
              <a:t>sample </a:t>
            </a:r>
            <a:r>
              <a:rPr dirty="0" sz="2800" spc="190">
                <a:latin typeface="Cambria Math"/>
                <a:cs typeface="Cambria Math"/>
              </a:rPr>
              <a:t>𝑥</a:t>
            </a:r>
            <a:r>
              <a:rPr dirty="0" baseline="-15277" sz="3000" spc="284">
                <a:latin typeface="Cambria Math"/>
                <a:cs typeface="Cambria Math"/>
              </a:rPr>
              <a:t>#0, </a:t>
            </a:r>
            <a:r>
              <a:rPr dirty="0" sz="2800" spc="-15">
                <a:solidFill>
                  <a:srgbClr val="0000FF"/>
                </a:solidFill>
                <a:latin typeface="Calibri"/>
                <a:cs typeface="Calibri"/>
              </a:rPr>
              <a:t>from </a:t>
            </a:r>
            <a:r>
              <a:rPr dirty="0" sz="2800" spc="-110">
                <a:latin typeface="Cambria Math"/>
                <a:cs typeface="Cambria Math"/>
              </a:rPr>
              <a:t>𝑦</a:t>
            </a:r>
            <a:r>
              <a:rPr dirty="0" baseline="-15277" sz="3000" spc="-165">
                <a:latin typeface="Cambria Math"/>
                <a:cs typeface="Cambria Math"/>
              </a:rPr>
              <a:t>#</a:t>
            </a:r>
            <a:r>
              <a:rPr dirty="0" sz="2800" spc="-110">
                <a:solidFill>
                  <a:srgbClr val="0000FF"/>
                </a:solidFill>
                <a:latin typeface="Calibri"/>
                <a:cs typeface="Calibri"/>
              </a:rPr>
              <a:t>:</a:t>
            </a:r>
            <a:r>
              <a:rPr dirty="0" sz="2800" spc="-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800" spc="55">
                <a:latin typeface="Cambria Math"/>
                <a:cs typeface="Cambria Math"/>
              </a:rPr>
              <a:t>𝑥</a:t>
            </a:r>
            <a:r>
              <a:rPr dirty="0" baseline="-15277" sz="3000" spc="82">
                <a:latin typeface="Cambria Math"/>
                <a:cs typeface="Cambria Math"/>
              </a:rPr>
              <a:t>#0,</a:t>
            </a:r>
            <a:r>
              <a:rPr dirty="0" sz="2800" spc="55">
                <a:latin typeface="Cambria Math"/>
                <a:cs typeface="Cambria Math"/>
              </a:rPr>
              <a:t>~𝑦</a:t>
            </a:r>
            <a:r>
              <a:rPr dirty="0" baseline="-15277" sz="3000" spc="82">
                <a:latin typeface="Cambria Math"/>
                <a:cs typeface="Cambria Math"/>
              </a:rPr>
              <a:t>#</a:t>
            </a:r>
            <a:endParaRPr baseline="-15277" sz="3000">
              <a:latin typeface="Cambria Math"/>
              <a:cs typeface="Cambria Math"/>
            </a:endParaRPr>
          </a:p>
          <a:p>
            <a:pPr lvl="1" marL="625475" indent="-274320">
              <a:lnSpc>
                <a:spcPct val="100000"/>
              </a:lnSpc>
              <a:spcBef>
                <a:spcPts val="63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15">
                <a:latin typeface="Calibri"/>
                <a:cs typeface="Calibri"/>
              </a:rPr>
              <a:t>Each step </a:t>
            </a:r>
            <a:r>
              <a:rPr dirty="0" sz="2400" spc="-5">
                <a:latin typeface="Calibri"/>
                <a:cs typeface="Calibri"/>
              </a:rPr>
              <a:t>of RNN outputs </a:t>
            </a:r>
            <a:r>
              <a:rPr dirty="0" sz="2400">
                <a:latin typeface="Calibri"/>
                <a:cs typeface="Calibri"/>
              </a:rPr>
              <a:t>a </a:t>
            </a:r>
            <a:r>
              <a:rPr dirty="0" sz="2400" spc="-10" b="1">
                <a:latin typeface="Calibri"/>
                <a:cs typeface="Calibri"/>
              </a:rPr>
              <a:t>probability </a:t>
            </a:r>
            <a:r>
              <a:rPr dirty="0" sz="2400" spc="-5" b="1">
                <a:latin typeface="Calibri"/>
                <a:cs typeface="Calibri"/>
              </a:rPr>
              <a:t>of </a:t>
            </a:r>
            <a:r>
              <a:rPr dirty="0" sz="2400" b="1">
                <a:latin typeface="Calibri"/>
                <a:cs typeface="Calibri"/>
              </a:rPr>
              <a:t>a </a:t>
            </a:r>
            <a:r>
              <a:rPr dirty="0" sz="2400" spc="-5" b="1">
                <a:latin typeface="Calibri"/>
                <a:cs typeface="Calibri"/>
              </a:rPr>
              <a:t>single</a:t>
            </a:r>
            <a:r>
              <a:rPr dirty="0" sz="2400" spc="1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edge</a:t>
            </a:r>
            <a:endParaRPr sz="2400">
              <a:latin typeface="Calibri"/>
              <a:cs typeface="Calibri"/>
            </a:endParaRPr>
          </a:p>
          <a:p>
            <a:pPr lvl="1" marL="625475" marR="5080" indent="-274320">
              <a:lnSpc>
                <a:spcPct val="100800"/>
              </a:lnSpc>
              <a:spcBef>
                <a:spcPts val="47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45">
                <a:latin typeface="Calibri"/>
                <a:cs typeface="Calibri"/>
              </a:rPr>
              <a:t>We </a:t>
            </a:r>
            <a:r>
              <a:rPr dirty="0" sz="2400" spc="-5">
                <a:latin typeface="Calibri"/>
                <a:cs typeface="Calibri"/>
              </a:rPr>
              <a:t>then sample </a:t>
            </a:r>
            <a:r>
              <a:rPr dirty="0" sz="2400" spc="-15">
                <a:latin typeface="Calibri"/>
                <a:cs typeface="Calibri"/>
              </a:rPr>
              <a:t>from </a:t>
            </a:r>
            <a:r>
              <a:rPr dirty="0" sz="2400" spc="-5">
                <a:latin typeface="Calibri"/>
                <a:cs typeface="Calibri"/>
              </a:rPr>
              <a:t>the distribution, </a:t>
            </a:r>
            <a:r>
              <a:rPr dirty="0" sz="2400">
                <a:latin typeface="Calibri"/>
                <a:cs typeface="Calibri"/>
              </a:rPr>
              <a:t>and </a:t>
            </a:r>
            <a:r>
              <a:rPr dirty="0" sz="2400" spc="-15">
                <a:latin typeface="Calibri"/>
                <a:cs typeface="Calibri"/>
              </a:rPr>
              <a:t>feed </a:t>
            </a:r>
            <a:r>
              <a:rPr dirty="0" sz="2400" spc="-5">
                <a:latin typeface="Calibri"/>
                <a:cs typeface="Calibri"/>
              </a:rPr>
              <a:t>sample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 spc="-140">
                <a:latin typeface="Calibri"/>
                <a:cs typeface="Calibri"/>
              </a:rPr>
              <a:t>next  </a:t>
            </a:r>
            <a:r>
              <a:rPr dirty="0" sz="2400" spc="-15">
                <a:latin typeface="Calibri"/>
                <a:cs typeface="Calibri"/>
              </a:rPr>
              <a:t>step:</a:t>
            </a:r>
            <a:endParaRPr sz="2400">
              <a:latin typeface="Calibri"/>
              <a:cs typeface="Calibri"/>
            </a:endParaRPr>
          </a:p>
          <a:p>
            <a:pPr marL="1445895">
              <a:lnSpc>
                <a:spcPct val="100000"/>
              </a:lnSpc>
              <a:spcBef>
                <a:spcPts val="450"/>
              </a:spcBef>
              <a:tabLst>
                <a:tab pos="3855085" algn="l"/>
                <a:tab pos="6270625" algn="l"/>
              </a:tabLst>
            </a:pPr>
            <a:r>
              <a:rPr dirty="0" sz="2400" spc="75">
                <a:latin typeface="Cambria Math"/>
                <a:cs typeface="Cambria Math"/>
              </a:rPr>
              <a:t>𝑦</a:t>
            </a:r>
            <a:r>
              <a:rPr dirty="0" baseline="-15432" sz="2700" spc="112">
                <a:latin typeface="Cambria Math"/>
                <a:cs typeface="Cambria Math"/>
              </a:rPr>
              <a:t>(	</a:t>
            </a:r>
            <a:r>
              <a:rPr dirty="0" sz="2400" spc="290">
                <a:latin typeface="Cambria Math"/>
                <a:cs typeface="Cambria Math"/>
              </a:rPr>
              <a:t>𝑦</a:t>
            </a:r>
            <a:r>
              <a:rPr dirty="0" baseline="-15432" sz="2700" spc="434">
                <a:latin typeface="Cambria Math"/>
                <a:cs typeface="Cambria Math"/>
              </a:rPr>
              <a:t>,	</a:t>
            </a:r>
            <a:r>
              <a:rPr dirty="0" sz="2400" spc="175">
                <a:latin typeface="Cambria Math"/>
                <a:cs typeface="Cambria Math"/>
              </a:rPr>
              <a:t>𝑦</a:t>
            </a:r>
            <a:r>
              <a:rPr dirty="0" baseline="-15432" sz="2700" spc="262">
                <a:latin typeface="Cambria Math"/>
                <a:cs typeface="Cambria Math"/>
              </a:rPr>
              <a:t>-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960514" y="5229859"/>
            <a:ext cx="6153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10416" sz="3600" spc="277">
                <a:latin typeface="Cambria Math"/>
                <a:cs typeface="Cambria Math"/>
              </a:rPr>
              <a:t>𝑠</a:t>
            </a:r>
            <a:r>
              <a:rPr dirty="0" baseline="-29320" sz="2700" spc="277">
                <a:latin typeface="Cambria Math"/>
                <a:cs typeface="Cambria Math"/>
              </a:rPr>
              <a:t>-</a:t>
            </a:r>
            <a:r>
              <a:rPr dirty="0" baseline="-29320" sz="2700" spc="89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…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57483" y="5345684"/>
            <a:ext cx="1663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𝑠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91340" y="5482844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35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131551" y="6324091"/>
            <a:ext cx="8293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0">
                <a:latin typeface="Cambria Math"/>
                <a:cs typeface="Cambria Math"/>
              </a:rPr>
              <a:t>𝑥</a:t>
            </a:r>
            <a:r>
              <a:rPr dirty="0" baseline="-15432" sz="2700" spc="1072">
                <a:latin typeface="Cambria Math"/>
                <a:cs typeface="Cambria Math"/>
              </a:rPr>
              <a:t>,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~</a:t>
            </a:r>
            <a:r>
              <a:rPr dirty="0" sz="2400" spc="-135">
                <a:latin typeface="Cambria Math"/>
                <a:cs typeface="Cambria Math"/>
              </a:rPr>
              <a:t>𝑦</a:t>
            </a:r>
            <a:r>
              <a:rPr dirty="0" baseline="-15432" sz="2700" spc="427">
                <a:latin typeface="Cambria Math"/>
                <a:cs typeface="Cambria Math"/>
              </a:rPr>
              <a:t>(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2170992" y="4604265"/>
            <a:ext cx="1952625" cy="1974850"/>
          </a:xfrm>
          <a:custGeom>
            <a:avLst/>
            <a:gdLst/>
            <a:ahLst/>
            <a:cxnLst/>
            <a:rect l="l" t="t" r="r" b="b"/>
            <a:pathLst>
              <a:path w="1952625" h="1974850">
                <a:moveTo>
                  <a:pt x="47956" y="0"/>
                </a:moveTo>
                <a:lnTo>
                  <a:pt x="2842" y="0"/>
                </a:lnTo>
                <a:lnTo>
                  <a:pt x="0" y="2843"/>
                </a:lnTo>
                <a:lnTo>
                  <a:pt x="0" y="9857"/>
                </a:lnTo>
                <a:lnTo>
                  <a:pt x="2842" y="12699"/>
                </a:lnTo>
                <a:lnTo>
                  <a:pt x="47956" y="12699"/>
                </a:lnTo>
                <a:lnTo>
                  <a:pt x="50800" y="9857"/>
                </a:lnTo>
                <a:lnTo>
                  <a:pt x="50800" y="2843"/>
                </a:lnTo>
                <a:lnTo>
                  <a:pt x="47956" y="0"/>
                </a:lnTo>
                <a:close/>
              </a:path>
              <a:path w="1952625" h="1974850">
                <a:moveTo>
                  <a:pt x="136856" y="0"/>
                </a:moveTo>
                <a:lnTo>
                  <a:pt x="91742" y="0"/>
                </a:lnTo>
                <a:lnTo>
                  <a:pt x="88900" y="2843"/>
                </a:lnTo>
                <a:lnTo>
                  <a:pt x="88900" y="9857"/>
                </a:lnTo>
                <a:lnTo>
                  <a:pt x="91742" y="12699"/>
                </a:lnTo>
                <a:lnTo>
                  <a:pt x="136856" y="12699"/>
                </a:lnTo>
                <a:lnTo>
                  <a:pt x="139700" y="9857"/>
                </a:lnTo>
                <a:lnTo>
                  <a:pt x="139700" y="2843"/>
                </a:lnTo>
                <a:lnTo>
                  <a:pt x="136856" y="0"/>
                </a:lnTo>
                <a:close/>
              </a:path>
              <a:path w="1952625" h="1974850">
                <a:moveTo>
                  <a:pt x="225756" y="0"/>
                </a:moveTo>
                <a:lnTo>
                  <a:pt x="180642" y="0"/>
                </a:lnTo>
                <a:lnTo>
                  <a:pt x="177800" y="2843"/>
                </a:lnTo>
                <a:lnTo>
                  <a:pt x="177800" y="9857"/>
                </a:lnTo>
                <a:lnTo>
                  <a:pt x="180642" y="12699"/>
                </a:lnTo>
                <a:lnTo>
                  <a:pt x="225756" y="12699"/>
                </a:lnTo>
                <a:lnTo>
                  <a:pt x="228600" y="9857"/>
                </a:lnTo>
                <a:lnTo>
                  <a:pt x="228600" y="2843"/>
                </a:lnTo>
                <a:lnTo>
                  <a:pt x="225756" y="0"/>
                </a:lnTo>
                <a:close/>
              </a:path>
              <a:path w="1952625" h="1974850">
                <a:moveTo>
                  <a:pt x="314656" y="0"/>
                </a:moveTo>
                <a:lnTo>
                  <a:pt x="269542" y="0"/>
                </a:lnTo>
                <a:lnTo>
                  <a:pt x="266700" y="2843"/>
                </a:lnTo>
                <a:lnTo>
                  <a:pt x="266700" y="9857"/>
                </a:lnTo>
                <a:lnTo>
                  <a:pt x="269542" y="12699"/>
                </a:lnTo>
                <a:lnTo>
                  <a:pt x="314656" y="12699"/>
                </a:lnTo>
                <a:lnTo>
                  <a:pt x="317500" y="9857"/>
                </a:lnTo>
                <a:lnTo>
                  <a:pt x="317500" y="2843"/>
                </a:lnTo>
                <a:lnTo>
                  <a:pt x="314656" y="0"/>
                </a:lnTo>
                <a:close/>
              </a:path>
              <a:path w="1952625" h="1974850">
                <a:moveTo>
                  <a:pt x="403556" y="0"/>
                </a:moveTo>
                <a:lnTo>
                  <a:pt x="358442" y="0"/>
                </a:lnTo>
                <a:lnTo>
                  <a:pt x="355600" y="2843"/>
                </a:lnTo>
                <a:lnTo>
                  <a:pt x="355600" y="9857"/>
                </a:lnTo>
                <a:lnTo>
                  <a:pt x="358442" y="12699"/>
                </a:lnTo>
                <a:lnTo>
                  <a:pt x="403556" y="12699"/>
                </a:lnTo>
                <a:lnTo>
                  <a:pt x="406400" y="9857"/>
                </a:lnTo>
                <a:lnTo>
                  <a:pt x="406400" y="2843"/>
                </a:lnTo>
                <a:lnTo>
                  <a:pt x="403556" y="0"/>
                </a:lnTo>
                <a:close/>
              </a:path>
              <a:path w="1952625" h="1974850">
                <a:moveTo>
                  <a:pt x="492456" y="0"/>
                </a:moveTo>
                <a:lnTo>
                  <a:pt x="447342" y="0"/>
                </a:lnTo>
                <a:lnTo>
                  <a:pt x="444500" y="2843"/>
                </a:lnTo>
                <a:lnTo>
                  <a:pt x="444500" y="9857"/>
                </a:lnTo>
                <a:lnTo>
                  <a:pt x="447342" y="12699"/>
                </a:lnTo>
                <a:lnTo>
                  <a:pt x="492456" y="12699"/>
                </a:lnTo>
                <a:lnTo>
                  <a:pt x="495300" y="9857"/>
                </a:lnTo>
                <a:lnTo>
                  <a:pt x="495300" y="2843"/>
                </a:lnTo>
                <a:lnTo>
                  <a:pt x="492456" y="0"/>
                </a:lnTo>
                <a:close/>
              </a:path>
              <a:path w="1952625" h="1974850">
                <a:moveTo>
                  <a:pt x="581356" y="0"/>
                </a:moveTo>
                <a:lnTo>
                  <a:pt x="536242" y="0"/>
                </a:lnTo>
                <a:lnTo>
                  <a:pt x="533400" y="2843"/>
                </a:lnTo>
                <a:lnTo>
                  <a:pt x="533400" y="9857"/>
                </a:lnTo>
                <a:lnTo>
                  <a:pt x="536242" y="12699"/>
                </a:lnTo>
                <a:lnTo>
                  <a:pt x="581356" y="12699"/>
                </a:lnTo>
                <a:lnTo>
                  <a:pt x="584200" y="9857"/>
                </a:lnTo>
                <a:lnTo>
                  <a:pt x="584200" y="2843"/>
                </a:lnTo>
                <a:lnTo>
                  <a:pt x="581356" y="0"/>
                </a:lnTo>
                <a:close/>
              </a:path>
              <a:path w="1952625" h="1974850">
                <a:moveTo>
                  <a:pt x="670256" y="0"/>
                </a:moveTo>
                <a:lnTo>
                  <a:pt x="625142" y="0"/>
                </a:lnTo>
                <a:lnTo>
                  <a:pt x="622300" y="2843"/>
                </a:lnTo>
                <a:lnTo>
                  <a:pt x="622300" y="9857"/>
                </a:lnTo>
                <a:lnTo>
                  <a:pt x="625142" y="12699"/>
                </a:lnTo>
                <a:lnTo>
                  <a:pt x="670256" y="12699"/>
                </a:lnTo>
                <a:lnTo>
                  <a:pt x="673100" y="9857"/>
                </a:lnTo>
                <a:lnTo>
                  <a:pt x="673100" y="2843"/>
                </a:lnTo>
                <a:lnTo>
                  <a:pt x="670256" y="0"/>
                </a:lnTo>
                <a:close/>
              </a:path>
              <a:path w="1952625" h="1974850">
                <a:moveTo>
                  <a:pt x="759156" y="0"/>
                </a:moveTo>
                <a:lnTo>
                  <a:pt x="714042" y="0"/>
                </a:lnTo>
                <a:lnTo>
                  <a:pt x="711200" y="2843"/>
                </a:lnTo>
                <a:lnTo>
                  <a:pt x="711200" y="9857"/>
                </a:lnTo>
                <a:lnTo>
                  <a:pt x="714042" y="12699"/>
                </a:lnTo>
                <a:lnTo>
                  <a:pt x="759156" y="12699"/>
                </a:lnTo>
                <a:lnTo>
                  <a:pt x="762000" y="9857"/>
                </a:lnTo>
                <a:lnTo>
                  <a:pt x="762000" y="2843"/>
                </a:lnTo>
                <a:lnTo>
                  <a:pt x="759156" y="0"/>
                </a:lnTo>
                <a:close/>
              </a:path>
              <a:path w="1952625" h="1974850">
                <a:moveTo>
                  <a:pt x="848056" y="0"/>
                </a:moveTo>
                <a:lnTo>
                  <a:pt x="802942" y="0"/>
                </a:lnTo>
                <a:lnTo>
                  <a:pt x="800100" y="2843"/>
                </a:lnTo>
                <a:lnTo>
                  <a:pt x="800100" y="9857"/>
                </a:lnTo>
                <a:lnTo>
                  <a:pt x="802942" y="12699"/>
                </a:lnTo>
                <a:lnTo>
                  <a:pt x="848056" y="12699"/>
                </a:lnTo>
                <a:lnTo>
                  <a:pt x="850900" y="9857"/>
                </a:lnTo>
                <a:lnTo>
                  <a:pt x="850900" y="2843"/>
                </a:lnTo>
                <a:lnTo>
                  <a:pt x="848056" y="0"/>
                </a:lnTo>
                <a:close/>
              </a:path>
              <a:path w="1952625" h="1974850">
                <a:moveTo>
                  <a:pt x="936956" y="0"/>
                </a:moveTo>
                <a:lnTo>
                  <a:pt x="891842" y="0"/>
                </a:lnTo>
                <a:lnTo>
                  <a:pt x="889000" y="2843"/>
                </a:lnTo>
                <a:lnTo>
                  <a:pt x="889000" y="9857"/>
                </a:lnTo>
                <a:lnTo>
                  <a:pt x="891842" y="12699"/>
                </a:lnTo>
                <a:lnTo>
                  <a:pt x="936956" y="12699"/>
                </a:lnTo>
                <a:lnTo>
                  <a:pt x="939800" y="9857"/>
                </a:lnTo>
                <a:lnTo>
                  <a:pt x="939800" y="2843"/>
                </a:lnTo>
                <a:lnTo>
                  <a:pt x="936956" y="0"/>
                </a:lnTo>
                <a:close/>
              </a:path>
              <a:path w="1952625" h="1974850">
                <a:moveTo>
                  <a:pt x="982898" y="4857"/>
                </a:moveTo>
                <a:lnTo>
                  <a:pt x="975884" y="4857"/>
                </a:lnTo>
                <a:lnTo>
                  <a:pt x="973042" y="7701"/>
                </a:lnTo>
                <a:lnTo>
                  <a:pt x="973042" y="52814"/>
                </a:lnTo>
                <a:lnTo>
                  <a:pt x="975884" y="55657"/>
                </a:lnTo>
                <a:lnTo>
                  <a:pt x="982898" y="55657"/>
                </a:lnTo>
                <a:lnTo>
                  <a:pt x="985742" y="52814"/>
                </a:lnTo>
                <a:lnTo>
                  <a:pt x="985742" y="7701"/>
                </a:lnTo>
                <a:lnTo>
                  <a:pt x="982898" y="4857"/>
                </a:lnTo>
                <a:close/>
              </a:path>
              <a:path w="1952625" h="1974850">
                <a:moveTo>
                  <a:pt x="982898" y="93757"/>
                </a:moveTo>
                <a:lnTo>
                  <a:pt x="975884" y="93757"/>
                </a:lnTo>
                <a:lnTo>
                  <a:pt x="973042" y="96601"/>
                </a:lnTo>
                <a:lnTo>
                  <a:pt x="973042" y="141714"/>
                </a:lnTo>
                <a:lnTo>
                  <a:pt x="975884" y="144557"/>
                </a:lnTo>
                <a:lnTo>
                  <a:pt x="982898" y="144557"/>
                </a:lnTo>
                <a:lnTo>
                  <a:pt x="985742" y="141714"/>
                </a:lnTo>
                <a:lnTo>
                  <a:pt x="985742" y="96601"/>
                </a:lnTo>
                <a:lnTo>
                  <a:pt x="982898" y="93757"/>
                </a:lnTo>
                <a:close/>
              </a:path>
              <a:path w="1952625" h="1974850">
                <a:moveTo>
                  <a:pt x="982898" y="182657"/>
                </a:moveTo>
                <a:lnTo>
                  <a:pt x="975884" y="182657"/>
                </a:lnTo>
                <a:lnTo>
                  <a:pt x="973042" y="185501"/>
                </a:lnTo>
                <a:lnTo>
                  <a:pt x="973042" y="230614"/>
                </a:lnTo>
                <a:lnTo>
                  <a:pt x="975884" y="233457"/>
                </a:lnTo>
                <a:lnTo>
                  <a:pt x="982898" y="233457"/>
                </a:lnTo>
                <a:lnTo>
                  <a:pt x="985742" y="230614"/>
                </a:lnTo>
                <a:lnTo>
                  <a:pt x="985742" y="185501"/>
                </a:lnTo>
                <a:lnTo>
                  <a:pt x="982898" y="182657"/>
                </a:lnTo>
                <a:close/>
              </a:path>
              <a:path w="1952625" h="1974850">
                <a:moveTo>
                  <a:pt x="982898" y="271557"/>
                </a:moveTo>
                <a:lnTo>
                  <a:pt x="975884" y="271557"/>
                </a:lnTo>
                <a:lnTo>
                  <a:pt x="973042" y="274401"/>
                </a:lnTo>
                <a:lnTo>
                  <a:pt x="973042" y="319514"/>
                </a:lnTo>
                <a:lnTo>
                  <a:pt x="975884" y="322357"/>
                </a:lnTo>
                <a:lnTo>
                  <a:pt x="982898" y="322357"/>
                </a:lnTo>
                <a:lnTo>
                  <a:pt x="985742" y="319514"/>
                </a:lnTo>
                <a:lnTo>
                  <a:pt x="985742" y="274401"/>
                </a:lnTo>
                <a:lnTo>
                  <a:pt x="982898" y="271557"/>
                </a:lnTo>
                <a:close/>
              </a:path>
              <a:path w="1952625" h="1974850">
                <a:moveTo>
                  <a:pt x="982898" y="360457"/>
                </a:moveTo>
                <a:lnTo>
                  <a:pt x="975884" y="360457"/>
                </a:lnTo>
                <a:lnTo>
                  <a:pt x="973042" y="363301"/>
                </a:lnTo>
                <a:lnTo>
                  <a:pt x="973042" y="408414"/>
                </a:lnTo>
                <a:lnTo>
                  <a:pt x="975884" y="411257"/>
                </a:lnTo>
                <a:lnTo>
                  <a:pt x="982898" y="411257"/>
                </a:lnTo>
                <a:lnTo>
                  <a:pt x="985742" y="408414"/>
                </a:lnTo>
                <a:lnTo>
                  <a:pt x="985742" y="363301"/>
                </a:lnTo>
                <a:lnTo>
                  <a:pt x="982898" y="360457"/>
                </a:lnTo>
                <a:close/>
              </a:path>
              <a:path w="1952625" h="1974850">
                <a:moveTo>
                  <a:pt x="982898" y="449357"/>
                </a:moveTo>
                <a:lnTo>
                  <a:pt x="975884" y="449357"/>
                </a:lnTo>
                <a:lnTo>
                  <a:pt x="973042" y="452201"/>
                </a:lnTo>
                <a:lnTo>
                  <a:pt x="973042" y="497314"/>
                </a:lnTo>
                <a:lnTo>
                  <a:pt x="975884" y="500157"/>
                </a:lnTo>
                <a:lnTo>
                  <a:pt x="982898" y="500157"/>
                </a:lnTo>
                <a:lnTo>
                  <a:pt x="985742" y="497314"/>
                </a:lnTo>
                <a:lnTo>
                  <a:pt x="985742" y="452201"/>
                </a:lnTo>
                <a:lnTo>
                  <a:pt x="982898" y="449357"/>
                </a:lnTo>
                <a:close/>
              </a:path>
              <a:path w="1952625" h="1974850">
                <a:moveTo>
                  <a:pt x="982898" y="538257"/>
                </a:moveTo>
                <a:lnTo>
                  <a:pt x="975884" y="538257"/>
                </a:lnTo>
                <a:lnTo>
                  <a:pt x="973042" y="541101"/>
                </a:lnTo>
                <a:lnTo>
                  <a:pt x="973042" y="586214"/>
                </a:lnTo>
                <a:lnTo>
                  <a:pt x="975884" y="589057"/>
                </a:lnTo>
                <a:lnTo>
                  <a:pt x="982898" y="589057"/>
                </a:lnTo>
                <a:lnTo>
                  <a:pt x="985742" y="586214"/>
                </a:lnTo>
                <a:lnTo>
                  <a:pt x="985742" y="541101"/>
                </a:lnTo>
                <a:lnTo>
                  <a:pt x="982898" y="538257"/>
                </a:lnTo>
                <a:close/>
              </a:path>
              <a:path w="1952625" h="1974850">
                <a:moveTo>
                  <a:pt x="982898" y="627157"/>
                </a:moveTo>
                <a:lnTo>
                  <a:pt x="975884" y="627157"/>
                </a:lnTo>
                <a:lnTo>
                  <a:pt x="973042" y="630001"/>
                </a:lnTo>
                <a:lnTo>
                  <a:pt x="973042" y="675114"/>
                </a:lnTo>
                <a:lnTo>
                  <a:pt x="975884" y="677957"/>
                </a:lnTo>
                <a:lnTo>
                  <a:pt x="982898" y="677957"/>
                </a:lnTo>
                <a:lnTo>
                  <a:pt x="985742" y="675114"/>
                </a:lnTo>
                <a:lnTo>
                  <a:pt x="985742" y="630001"/>
                </a:lnTo>
                <a:lnTo>
                  <a:pt x="982898" y="627157"/>
                </a:lnTo>
                <a:close/>
              </a:path>
              <a:path w="1952625" h="1974850">
                <a:moveTo>
                  <a:pt x="982898" y="716057"/>
                </a:moveTo>
                <a:lnTo>
                  <a:pt x="975884" y="716057"/>
                </a:lnTo>
                <a:lnTo>
                  <a:pt x="973042" y="718901"/>
                </a:lnTo>
                <a:lnTo>
                  <a:pt x="973042" y="764014"/>
                </a:lnTo>
                <a:lnTo>
                  <a:pt x="975884" y="766857"/>
                </a:lnTo>
                <a:lnTo>
                  <a:pt x="982898" y="766857"/>
                </a:lnTo>
                <a:lnTo>
                  <a:pt x="985742" y="764014"/>
                </a:lnTo>
                <a:lnTo>
                  <a:pt x="985742" y="718901"/>
                </a:lnTo>
                <a:lnTo>
                  <a:pt x="982898" y="716057"/>
                </a:lnTo>
                <a:close/>
              </a:path>
              <a:path w="1952625" h="1974850">
                <a:moveTo>
                  <a:pt x="982898" y="804957"/>
                </a:moveTo>
                <a:lnTo>
                  <a:pt x="975884" y="804957"/>
                </a:lnTo>
                <a:lnTo>
                  <a:pt x="973042" y="807801"/>
                </a:lnTo>
                <a:lnTo>
                  <a:pt x="973042" y="852914"/>
                </a:lnTo>
                <a:lnTo>
                  <a:pt x="975884" y="855757"/>
                </a:lnTo>
                <a:lnTo>
                  <a:pt x="982898" y="855757"/>
                </a:lnTo>
                <a:lnTo>
                  <a:pt x="985742" y="852914"/>
                </a:lnTo>
                <a:lnTo>
                  <a:pt x="985742" y="807801"/>
                </a:lnTo>
                <a:lnTo>
                  <a:pt x="982898" y="804957"/>
                </a:lnTo>
                <a:close/>
              </a:path>
              <a:path w="1952625" h="1974850">
                <a:moveTo>
                  <a:pt x="982898" y="893857"/>
                </a:moveTo>
                <a:lnTo>
                  <a:pt x="975884" y="893857"/>
                </a:lnTo>
                <a:lnTo>
                  <a:pt x="973042" y="896701"/>
                </a:lnTo>
                <a:lnTo>
                  <a:pt x="973042" y="941814"/>
                </a:lnTo>
                <a:lnTo>
                  <a:pt x="975884" y="944657"/>
                </a:lnTo>
                <a:lnTo>
                  <a:pt x="982898" y="944657"/>
                </a:lnTo>
                <a:lnTo>
                  <a:pt x="985742" y="941814"/>
                </a:lnTo>
                <a:lnTo>
                  <a:pt x="985742" y="896701"/>
                </a:lnTo>
                <a:lnTo>
                  <a:pt x="982898" y="893857"/>
                </a:lnTo>
                <a:close/>
              </a:path>
              <a:path w="1952625" h="1974850">
                <a:moveTo>
                  <a:pt x="982898" y="982757"/>
                </a:moveTo>
                <a:lnTo>
                  <a:pt x="975884" y="982757"/>
                </a:lnTo>
                <a:lnTo>
                  <a:pt x="973042" y="985600"/>
                </a:lnTo>
                <a:lnTo>
                  <a:pt x="973042" y="1030714"/>
                </a:lnTo>
                <a:lnTo>
                  <a:pt x="975884" y="1033557"/>
                </a:lnTo>
                <a:lnTo>
                  <a:pt x="982898" y="1033557"/>
                </a:lnTo>
                <a:lnTo>
                  <a:pt x="985742" y="1030714"/>
                </a:lnTo>
                <a:lnTo>
                  <a:pt x="985742" y="985600"/>
                </a:lnTo>
                <a:lnTo>
                  <a:pt x="982898" y="982757"/>
                </a:lnTo>
                <a:close/>
              </a:path>
              <a:path w="1952625" h="1974850">
                <a:moveTo>
                  <a:pt x="982898" y="1071657"/>
                </a:moveTo>
                <a:lnTo>
                  <a:pt x="975884" y="1071657"/>
                </a:lnTo>
                <a:lnTo>
                  <a:pt x="973042" y="1074500"/>
                </a:lnTo>
                <a:lnTo>
                  <a:pt x="973042" y="1119614"/>
                </a:lnTo>
                <a:lnTo>
                  <a:pt x="975884" y="1122457"/>
                </a:lnTo>
                <a:lnTo>
                  <a:pt x="982898" y="1122457"/>
                </a:lnTo>
                <a:lnTo>
                  <a:pt x="985742" y="1119614"/>
                </a:lnTo>
                <a:lnTo>
                  <a:pt x="985742" y="1074500"/>
                </a:lnTo>
                <a:lnTo>
                  <a:pt x="982898" y="1071657"/>
                </a:lnTo>
                <a:close/>
              </a:path>
              <a:path w="1952625" h="1974850">
                <a:moveTo>
                  <a:pt x="982898" y="1160557"/>
                </a:moveTo>
                <a:lnTo>
                  <a:pt x="975884" y="1160557"/>
                </a:lnTo>
                <a:lnTo>
                  <a:pt x="973042" y="1163400"/>
                </a:lnTo>
                <a:lnTo>
                  <a:pt x="973042" y="1208514"/>
                </a:lnTo>
                <a:lnTo>
                  <a:pt x="975884" y="1211357"/>
                </a:lnTo>
                <a:lnTo>
                  <a:pt x="982898" y="1211357"/>
                </a:lnTo>
                <a:lnTo>
                  <a:pt x="985742" y="1208514"/>
                </a:lnTo>
                <a:lnTo>
                  <a:pt x="985742" y="1163400"/>
                </a:lnTo>
                <a:lnTo>
                  <a:pt x="982898" y="1160557"/>
                </a:lnTo>
                <a:close/>
              </a:path>
              <a:path w="1952625" h="1974850">
                <a:moveTo>
                  <a:pt x="982898" y="1249457"/>
                </a:moveTo>
                <a:lnTo>
                  <a:pt x="975884" y="1249457"/>
                </a:lnTo>
                <a:lnTo>
                  <a:pt x="973042" y="1252300"/>
                </a:lnTo>
                <a:lnTo>
                  <a:pt x="973042" y="1297414"/>
                </a:lnTo>
                <a:lnTo>
                  <a:pt x="975884" y="1300257"/>
                </a:lnTo>
                <a:lnTo>
                  <a:pt x="982898" y="1300257"/>
                </a:lnTo>
                <a:lnTo>
                  <a:pt x="985742" y="1297414"/>
                </a:lnTo>
                <a:lnTo>
                  <a:pt x="985742" y="1252300"/>
                </a:lnTo>
                <a:lnTo>
                  <a:pt x="982898" y="1249457"/>
                </a:lnTo>
                <a:close/>
              </a:path>
              <a:path w="1952625" h="1974850">
                <a:moveTo>
                  <a:pt x="982898" y="1338357"/>
                </a:moveTo>
                <a:lnTo>
                  <a:pt x="975884" y="1338357"/>
                </a:lnTo>
                <a:lnTo>
                  <a:pt x="973042" y="1341200"/>
                </a:lnTo>
                <a:lnTo>
                  <a:pt x="973042" y="1386314"/>
                </a:lnTo>
                <a:lnTo>
                  <a:pt x="975884" y="1389157"/>
                </a:lnTo>
                <a:lnTo>
                  <a:pt x="982898" y="1389157"/>
                </a:lnTo>
                <a:lnTo>
                  <a:pt x="985742" y="1386314"/>
                </a:lnTo>
                <a:lnTo>
                  <a:pt x="985742" y="1341200"/>
                </a:lnTo>
                <a:lnTo>
                  <a:pt x="982898" y="1338357"/>
                </a:lnTo>
                <a:close/>
              </a:path>
              <a:path w="1952625" h="1974850">
                <a:moveTo>
                  <a:pt x="982898" y="1427257"/>
                </a:moveTo>
                <a:lnTo>
                  <a:pt x="975884" y="1427257"/>
                </a:lnTo>
                <a:lnTo>
                  <a:pt x="973042" y="1430100"/>
                </a:lnTo>
                <a:lnTo>
                  <a:pt x="973042" y="1475214"/>
                </a:lnTo>
                <a:lnTo>
                  <a:pt x="975884" y="1478057"/>
                </a:lnTo>
                <a:lnTo>
                  <a:pt x="982898" y="1478057"/>
                </a:lnTo>
                <a:lnTo>
                  <a:pt x="985742" y="1475214"/>
                </a:lnTo>
                <a:lnTo>
                  <a:pt x="985742" y="1430100"/>
                </a:lnTo>
                <a:lnTo>
                  <a:pt x="982898" y="1427257"/>
                </a:lnTo>
                <a:close/>
              </a:path>
              <a:path w="1952625" h="1974850">
                <a:moveTo>
                  <a:pt x="982898" y="1516157"/>
                </a:moveTo>
                <a:lnTo>
                  <a:pt x="975884" y="1516157"/>
                </a:lnTo>
                <a:lnTo>
                  <a:pt x="973042" y="1519000"/>
                </a:lnTo>
                <a:lnTo>
                  <a:pt x="973042" y="1564114"/>
                </a:lnTo>
                <a:lnTo>
                  <a:pt x="975884" y="1566957"/>
                </a:lnTo>
                <a:lnTo>
                  <a:pt x="982898" y="1566957"/>
                </a:lnTo>
                <a:lnTo>
                  <a:pt x="985742" y="1564114"/>
                </a:lnTo>
                <a:lnTo>
                  <a:pt x="985742" y="1519000"/>
                </a:lnTo>
                <a:lnTo>
                  <a:pt x="982898" y="1516157"/>
                </a:lnTo>
                <a:close/>
              </a:path>
              <a:path w="1952625" h="1974850">
                <a:moveTo>
                  <a:pt x="982898" y="1605057"/>
                </a:moveTo>
                <a:lnTo>
                  <a:pt x="975884" y="1605057"/>
                </a:lnTo>
                <a:lnTo>
                  <a:pt x="973042" y="1607900"/>
                </a:lnTo>
                <a:lnTo>
                  <a:pt x="973042" y="1653014"/>
                </a:lnTo>
                <a:lnTo>
                  <a:pt x="975884" y="1655857"/>
                </a:lnTo>
                <a:lnTo>
                  <a:pt x="982898" y="1655857"/>
                </a:lnTo>
                <a:lnTo>
                  <a:pt x="985742" y="1653014"/>
                </a:lnTo>
                <a:lnTo>
                  <a:pt x="985742" y="1607900"/>
                </a:lnTo>
                <a:lnTo>
                  <a:pt x="982898" y="1605057"/>
                </a:lnTo>
                <a:close/>
              </a:path>
              <a:path w="1952625" h="1974850">
                <a:moveTo>
                  <a:pt x="982898" y="1693957"/>
                </a:moveTo>
                <a:lnTo>
                  <a:pt x="975884" y="1693957"/>
                </a:lnTo>
                <a:lnTo>
                  <a:pt x="973042" y="1696800"/>
                </a:lnTo>
                <a:lnTo>
                  <a:pt x="973042" y="1741914"/>
                </a:lnTo>
                <a:lnTo>
                  <a:pt x="975884" y="1744757"/>
                </a:lnTo>
                <a:lnTo>
                  <a:pt x="982898" y="1744757"/>
                </a:lnTo>
                <a:lnTo>
                  <a:pt x="985742" y="1741914"/>
                </a:lnTo>
                <a:lnTo>
                  <a:pt x="985742" y="1696800"/>
                </a:lnTo>
                <a:lnTo>
                  <a:pt x="982898" y="1693957"/>
                </a:lnTo>
                <a:close/>
              </a:path>
              <a:path w="1952625" h="1974850">
                <a:moveTo>
                  <a:pt x="982898" y="1782857"/>
                </a:moveTo>
                <a:lnTo>
                  <a:pt x="975884" y="1782857"/>
                </a:lnTo>
                <a:lnTo>
                  <a:pt x="973042" y="1785700"/>
                </a:lnTo>
                <a:lnTo>
                  <a:pt x="973042" y="1830814"/>
                </a:lnTo>
                <a:lnTo>
                  <a:pt x="975884" y="1833657"/>
                </a:lnTo>
                <a:lnTo>
                  <a:pt x="982898" y="1833657"/>
                </a:lnTo>
                <a:lnTo>
                  <a:pt x="985742" y="1830814"/>
                </a:lnTo>
                <a:lnTo>
                  <a:pt x="985742" y="1785700"/>
                </a:lnTo>
                <a:lnTo>
                  <a:pt x="982898" y="1782857"/>
                </a:lnTo>
                <a:close/>
              </a:path>
              <a:path w="1952625" h="1974850">
                <a:moveTo>
                  <a:pt x="982898" y="1871757"/>
                </a:moveTo>
                <a:lnTo>
                  <a:pt x="975884" y="1871757"/>
                </a:lnTo>
                <a:lnTo>
                  <a:pt x="973042" y="1874600"/>
                </a:lnTo>
                <a:lnTo>
                  <a:pt x="973042" y="1919714"/>
                </a:lnTo>
                <a:lnTo>
                  <a:pt x="975884" y="1922557"/>
                </a:lnTo>
                <a:lnTo>
                  <a:pt x="982898" y="1922557"/>
                </a:lnTo>
                <a:lnTo>
                  <a:pt x="985742" y="1919714"/>
                </a:lnTo>
                <a:lnTo>
                  <a:pt x="985742" y="1874600"/>
                </a:lnTo>
                <a:lnTo>
                  <a:pt x="982898" y="1871757"/>
                </a:lnTo>
                <a:close/>
              </a:path>
              <a:path w="1952625" h="1974850">
                <a:moveTo>
                  <a:pt x="1051457" y="1930199"/>
                </a:moveTo>
                <a:lnTo>
                  <a:pt x="1006342" y="1930199"/>
                </a:lnTo>
                <a:lnTo>
                  <a:pt x="1003500" y="1933042"/>
                </a:lnTo>
                <a:lnTo>
                  <a:pt x="1003500" y="1940056"/>
                </a:lnTo>
                <a:lnTo>
                  <a:pt x="1006342" y="1942899"/>
                </a:lnTo>
                <a:lnTo>
                  <a:pt x="1051457" y="1942899"/>
                </a:lnTo>
                <a:lnTo>
                  <a:pt x="1054300" y="1940056"/>
                </a:lnTo>
                <a:lnTo>
                  <a:pt x="1054300" y="1933042"/>
                </a:lnTo>
                <a:lnTo>
                  <a:pt x="1051457" y="1930199"/>
                </a:lnTo>
                <a:close/>
              </a:path>
              <a:path w="1952625" h="1974850">
                <a:moveTo>
                  <a:pt x="1140357" y="1930199"/>
                </a:moveTo>
                <a:lnTo>
                  <a:pt x="1095242" y="1930199"/>
                </a:lnTo>
                <a:lnTo>
                  <a:pt x="1092400" y="1933042"/>
                </a:lnTo>
                <a:lnTo>
                  <a:pt x="1092400" y="1940056"/>
                </a:lnTo>
                <a:lnTo>
                  <a:pt x="1095242" y="1942899"/>
                </a:lnTo>
                <a:lnTo>
                  <a:pt x="1140357" y="1942899"/>
                </a:lnTo>
                <a:lnTo>
                  <a:pt x="1143200" y="1940056"/>
                </a:lnTo>
                <a:lnTo>
                  <a:pt x="1143200" y="1933042"/>
                </a:lnTo>
                <a:lnTo>
                  <a:pt x="1140357" y="1930199"/>
                </a:lnTo>
                <a:close/>
              </a:path>
              <a:path w="1952625" h="1974850">
                <a:moveTo>
                  <a:pt x="1229257" y="1930199"/>
                </a:moveTo>
                <a:lnTo>
                  <a:pt x="1184142" y="1930199"/>
                </a:lnTo>
                <a:lnTo>
                  <a:pt x="1181300" y="1933042"/>
                </a:lnTo>
                <a:lnTo>
                  <a:pt x="1181300" y="1940056"/>
                </a:lnTo>
                <a:lnTo>
                  <a:pt x="1184142" y="1942899"/>
                </a:lnTo>
                <a:lnTo>
                  <a:pt x="1229257" y="1942899"/>
                </a:lnTo>
                <a:lnTo>
                  <a:pt x="1232100" y="1940056"/>
                </a:lnTo>
                <a:lnTo>
                  <a:pt x="1232100" y="1933042"/>
                </a:lnTo>
                <a:lnTo>
                  <a:pt x="1229257" y="1930199"/>
                </a:lnTo>
                <a:close/>
              </a:path>
              <a:path w="1952625" h="1974850">
                <a:moveTo>
                  <a:pt x="1318157" y="1930199"/>
                </a:moveTo>
                <a:lnTo>
                  <a:pt x="1273042" y="1930199"/>
                </a:lnTo>
                <a:lnTo>
                  <a:pt x="1270200" y="1933042"/>
                </a:lnTo>
                <a:lnTo>
                  <a:pt x="1270200" y="1940056"/>
                </a:lnTo>
                <a:lnTo>
                  <a:pt x="1273042" y="1942899"/>
                </a:lnTo>
                <a:lnTo>
                  <a:pt x="1318157" y="1942899"/>
                </a:lnTo>
                <a:lnTo>
                  <a:pt x="1321000" y="1940056"/>
                </a:lnTo>
                <a:lnTo>
                  <a:pt x="1321000" y="1933042"/>
                </a:lnTo>
                <a:lnTo>
                  <a:pt x="1318157" y="1930199"/>
                </a:lnTo>
                <a:close/>
              </a:path>
              <a:path w="1952625" h="1974850">
                <a:moveTo>
                  <a:pt x="1407057" y="1930199"/>
                </a:moveTo>
                <a:lnTo>
                  <a:pt x="1361942" y="1930199"/>
                </a:lnTo>
                <a:lnTo>
                  <a:pt x="1359100" y="1933042"/>
                </a:lnTo>
                <a:lnTo>
                  <a:pt x="1359100" y="1940056"/>
                </a:lnTo>
                <a:lnTo>
                  <a:pt x="1361942" y="1942899"/>
                </a:lnTo>
                <a:lnTo>
                  <a:pt x="1407057" y="1942899"/>
                </a:lnTo>
                <a:lnTo>
                  <a:pt x="1409900" y="1940056"/>
                </a:lnTo>
                <a:lnTo>
                  <a:pt x="1409900" y="1933042"/>
                </a:lnTo>
                <a:lnTo>
                  <a:pt x="1407057" y="1930199"/>
                </a:lnTo>
                <a:close/>
              </a:path>
              <a:path w="1952625" h="1974850">
                <a:moveTo>
                  <a:pt x="1495957" y="1930199"/>
                </a:moveTo>
                <a:lnTo>
                  <a:pt x="1450842" y="1930199"/>
                </a:lnTo>
                <a:lnTo>
                  <a:pt x="1448000" y="1933042"/>
                </a:lnTo>
                <a:lnTo>
                  <a:pt x="1448000" y="1940056"/>
                </a:lnTo>
                <a:lnTo>
                  <a:pt x="1450842" y="1942899"/>
                </a:lnTo>
                <a:lnTo>
                  <a:pt x="1495957" y="1942899"/>
                </a:lnTo>
                <a:lnTo>
                  <a:pt x="1498800" y="1940056"/>
                </a:lnTo>
                <a:lnTo>
                  <a:pt x="1498800" y="1933042"/>
                </a:lnTo>
                <a:lnTo>
                  <a:pt x="1495957" y="1930199"/>
                </a:lnTo>
                <a:close/>
              </a:path>
              <a:path w="1952625" h="1974850">
                <a:moveTo>
                  <a:pt x="1584857" y="1930199"/>
                </a:moveTo>
                <a:lnTo>
                  <a:pt x="1539742" y="1930199"/>
                </a:lnTo>
                <a:lnTo>
                  <a:pt x="1536900" y="1933042"/>
                </a:lnTo>
                <a:lnTo>
                  <a:pt x="1536900" y="1940056"/>
                </a:lnTo>
                <a:lnTo>
                  <a:pt x="1539742" y="1942899"/>
                </a:lnTo>
                <a:lnTo>
                  <a:pt x="1584857" y="1942899"/>
                </a:lnTo>
                <a:lnTo>
                  <a:pt x="1587700" y="1940056"/>
                </a:lnTo>
                <a:lnTo>
                  <a:pt x="1587700" y="1933042"/>
                </a:lnTo>
                <a:lnTo>
                  <a:pt x="1584857" y="1930199"/>
                </a:lnTo>
                <a:close/>
              </a:path>
              <a:path w="1952625" h="1974850">
                <a:moveTo>
                  <a:pt x="1673757" y="1930199"/>
                </a:moveTo>
                <a:lnTo>
                  <a:pt x="1628642" y="1930199"/>
                </a:lnTo>
                <a:lnTo>
                  <a:pt x="1625800" y="1933042"/>
                </a:lnTo>
                <a:lnTo>
                  <a:pt x="1625800" y="1940056"/>
                </a:lnTo>
                <a:lnTo>
                  <a:pt x="1628642" y="1942899"/>
                </a:lnTo>
                <a:lnTo>
                  <a:pt x="1673757" y="1942899"/>
                </a:lnTo>
                <a:lnTo>
                  <a:pt x="1676600" y="1940056"/>
                </a:lnTo>
                <a:lnTo>
                  <a:pt x="1676600" y="1933042"/>
                </a:lnTo>
                <a:lnTo>
                  <a:pt x="1673757" y="1930199"/>
                </a:lnTo>
                <a:close/>
              </a:path>
              <a:path w="1952625" h="1974850">
                <a:moveTo>
                  <a:pt x="1762657" y="1930199"/>
                </a:moveTo>
                <a:lnTo>
                  <a:pt x="1717542" y="1930199"/>
                </a:lnTo>
                <a:lnTo>
                  <a:pt x="1714700" y="1933042"/>
                </a:lnTo>
                <a:lnTo>
                  <a:pt x="1714700" y="1940056"/>
                </a:lnTo>
                <a:lnTo>
                  <a:pt x="1717542" y="1942899"/>
                </a:lnTo>
                <a:lnTo>
                  <a:pt x="1762657" y="1942899"/>
                </a:lnTo>
                <a:lnTo>
                  <a:pt x="1765500" y="1940056"/>
                </a:lnTo>
                <a:lnTo>
                  <a:pt x="1765500" y="1933042"/>
                </a:lnTo>
                <a:lnTo>
                  <a:pt x="1762657" y="1930199"/>
                </a:lnTo>
                <a:close/>
              </a:path>
              <a:path w="1952625" h="1974850">
                <a:moveTo>
                  <a:pt x="1851557" y="1930199"/>
                </a:moveTo>
                <a:lnTo>
                  <a:pt x="1806442" y="1930199"/>
                </a:lnTo>
                <a:lnTo>
                  <a:pt x="1803600" y="1933042"/>
                </a:lnTo>
                <a:lnTo>
                  <a:pt x="1803600" y="1940056"/>
                </a:lnTo>
                <a:lnTo>
                  <a:pt x="1806442" y="1942899"/>
                </a:lnTo>
                <a:lnTo>
                  <a:pt x="1851557" y="1942899"/>
                </a:lnTo>
                <a:lnTo>
                  <a:pt x="1854400" y="1940056"/>
                </a:lnTo>
                <a:lnTo>
                  <a:pt x="1854400" y="1933042"/>
                </a:lnTo>
                <a:lnTo>
                  <a:pt x="1851557" y="1930199"/>
                </a:lnTo>
                <a:close/>
              </a:path>
              <a:path w="1952625" h="1974850">
                <a:moveTo>
                  <a:pt x="1876234" y="1898449"/>
                </a:moveTo>
                <a:lnTo>
                  <a:pt x="1876234" y="1974649"/>
                </a:lnTo>
                <a:lnTo>
                  <a:pt x="1952434" y="1936549"/>
                </a:lnTo>
                <a:lnTo>
                  <a:pt x="1876234" y="1898449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49" name="object 4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7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50" name="object 5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27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212336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066291"/>
            <a:ext cx="696595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"/>
              <a:t>Suppose </a:t>
            </a:r>
            <a:r>
              <a:rPr dirty="0" sz="3000" spc="-15">
                <a:solidFill>
                  <a:srgbClr val="C00000"/>
                </a:solidFill>
              </a:rPr>
              <a:t>we </a:t>
            </a:r>
            <a:r>
              <a:rPr dirty="0" sz="3000" spc="-10">
                <a:solidFill>
                  <a:srgbClr val="C00000"/>
                </a:solidFill>
              </a:rPr>
              <a:t>already </a:t>
            </a:r>
            <a:r>
              <a:rPr dirty="0" sz="3000" spc="-20">
                <a:solidFill>
                  <a:srgbClr val="C00000"/>
                </a:solidFill>
              </a:rPr>
              <a:t>have </a:t>
            </a:r>
            <a:r>
              <a:rPr dirty="0" sz="3000" spc="-15">
                <a:solidFill>
                  <a:srgbClr val="C00000"/>
                </a:solidFill>
              </a:rPr>
              <a:t>trained </a:t>
            </a:r>
            <a:r>
              <a:rPr dirty="0" sz="3000" spc="-5">
                <a:solidFill>
                  <a:srgbClr val="C00000"/>
                </a:solidFill>
              </a:rPr>
              <a:t>the</a:t>
            </a:r>
            <a:r>
              <a:rPr dirty="0" sz="3000" spc="50">
                <a:solidFill>
                  <a:srgbClr val="C00000"/>
                </a:solidFill>
              </a:rPr>
              <a:t> </a:t>
            </a:r>
            <a:r>
              <a:rPr dirty="0" sz="3000" spc="-5">
                <a:solidFill>
                  <a:srgbClr val="C00000"/>
                </a:solidFill>
              </a:rPr>
              <a:t>model</a:t>
            </a:r>
            <a:endParaRPr sz="3000"/>
          </a:p>
        </p:txBody>
      </p:sp>
      <p:sp>
        <p:nvSpPr>
          <p:cNvPr id="4" name="object 4"/>
          <p:cNvSpPr txBox="1"/>
          <p:nvPr/>
        </p:nvSpPr>
        <p:spPr>
          <a:xfrm>
            <a:off x="956563" y="1574292"/>
            <a:ext cx="6607809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215">
                <a:latin typeface="Cambria Math"/>
                <a:cs typeface="Cambria Math"/>
              </a:rPr>
              <a:t>𝑦</a:t>
            </a:r>
            <a:r>
              <a:rPr dirty="0" baseline="-16081" sz="2850" spc="-322">
                <a:latin typeface="Cambria Math"/>
                <a:cs typeface="Cambria Math"/>
              </a:rPr>
              <a:t>#   </a:t>
            </a:r>
            <a:r>
              <a:rPr dirty="0" sz="2600">
                <a:latin typeface="Calibri"/>
                <a:cs typeface="Calibri"/>
              </a:rPr>
              <a:t>is a </a:t>
            </a:r>
            <a:r>
              <a:rPr dirty="0" sz="2600" spc="-5" b="1">
                <a:latin typeface="Calibri"/>
                <a:cs typeface="Calibri"/>
              </a:rPr>
              <a:t>scalar</a:t>
            </a:r>
            <a:r>
              <a:rPr dirty="0" sz="2600" spc="-5">
                <a:latin typeface="Calibri"/>
                <a:cs typeface="Calibri"/>
              </a:rPr>
              <a:t>, </a:t>
            </a:r>
            <a:r>
              <a:rPr dirty="0" sz="2600" spc="-10">
                <a:latin typeface="Calibri"/>
                <a:cs typeface="Calibri"/>
              </a:rPr>
              <a:t>following </a:t>
            </a:r>
            <a:r>
              <a:rPr dirty="0" sz="2600">
                <a:latin typeface="Calibri"/>
                <a:cs typeface="Calibri"/>
              </a:rPr>
              <a:t>a </a:t>
            </a:r>
            <a:r>
              <a:rPr dirty="0" sz="2600" spc="-5" b="1">
                <a:latin typeface="Calibri"/>
                <a:cs typeface="Calibri"/>
              </a:rPr>
              <a:t>Bernoulli</a:t>
            </a:r>
            <a:r>
              <a:rPr dirty="0" sz="2600" spc="-60" b="1">
                <a:latin typeface="Calibri"/>
                <a:cs typeface="Calibri"/>
              </a:rPr>
              <a:t> </a:t>
            </a:r>
            <a:r>
              <a:rPr dirty="0" sz="2600" spc="-25" b="1">
                <a:latin typeface="Calibri"/>
                <a:cs typeface="Calibri"/>
              </a:rPr>
              <a:t>distribution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6563" y="2007108"/>
            <a:ext cx="760285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08990" indent="-79629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808990" algn="l"/>
                <a:tab pos="809625" algn="l"/>
              </a:tabLst>
            </a:pPr>
            <a:r>
              <a:rPr dirty="0" sz="2600" spc="-5">
                <a:latin typeface="Calibri"/>
                <a:cs typeface="Calibri"/>
              </a:rPr>
              <a:t>means </a:t>
            </a:r>
            <a:r>
              <a:rPr dirty="0" sz="2600" spc="-10">
                <a:solidFill>
                  <a:srgbClr val="0070C0"/>
                </a:solidFill>
                <a:latin typeface="Calibri"/>
                <a:cs typeface="Calibri"/>
              </a:rPr>
              <a:t>value </a:t>
            </a:r>
            <a:r>
              <a:rPr dirty="0" sz="2600">
                <a:solidFill>
                  <a:srgbClr val="0070C0"/>
                </a:solidFill>
                <a:latin typeface="Calibri"/>
                <a:cs typeface="Calibri"/>
              </a:rPr>
              <a:t>1 </a:t>
            </a:r>
            <a:r>
              <a:rPr dirty="0" sz="2600" spc="-5">
                <a:solidFill>
                  <a:srgbClr val="0070C0"/>
                </a:solidFill>
                <a:latin typeface="Calibri"/>
                <a:cs typeface="Calibri"/>
              </a:rPr>
              <a:t>has </a:t>
            </a:r>
            <a:r>
              <a:rPr dirty="0" sz="2600" spc="-10">
                <a:solidFill>
                  <a:srgbClr val="0070C0"/>
                </a:solidFill>
                <a:latin typeface="Calibri"/>
                <a:cs typeface="Calibri"/>
              </a:rPr>
              <a:t>prob. </a:t>
            </a:r>
            <a:r>
              <a:rPr dirty="0" sz="2600" spc="5">
                <a:solidFill>
                  <a:srgbClr val="0070C0"/>
                </a:solidFill>
                <a:latin typeface="Cambria Math"/>
                <a:cs typeface="Cambria Math"/>
              </a:rPr>
              <a:t>𝑝</a:t>
            </a:r>
            <a:r>
              <a:rPr dirty="0" sz="2600" spc="5">
                <a:latin typeface="Calibri"/>
                <a:cs typeface="Calibri"/>
              </a:rPr>
              <a:t>, </a:t>
            </a:r>
            <a:r>
              <a:rPr dirty="0" sz="2600" spc="-10">
                <a:solidFill>
                  <a:srgbClr val="0070C0"/>
                </a:solidFill>
                <a:latin typeface="Calibri"/>
                <a:cs typeface="Calibri"/>
              </a:rPr>
              <a:t>value </a:t>
            </a:r>
            <a:r>
              <a:rPr dirty="0" sz="2600">
                <a:solidFill>
                  <a:srgbClr val="0070C0"/>
                </a:solidFill>
                <a:latin typeface="Calibri"/>
                <a:cs typeface="Calibri"/>
              </a:rPr>
              <a:t>0 </a:t>
            </a:r>
            <a:r>
              <a:rPr dirty="0" sz="2600" spc="-5">
                <a:solidFill>
                  <a:srgbClr val="0070C0"/>
                </a:solidFill>
                <a:latin typeface="Calibri"/>
                <a:cs typeface="Calibri"/>
              </a:rPr>
              <a:t>has </a:t>
            </a:r>
            <a:r>
              <a:rPr dirty="0" sz="2600" spc="-10">
                <a:solidFill>
                  <a:srgbClr val="0070C0"/>
                </a:solidFill>
                <a:latin typeface="Calibri"/>
                <a:cs typeface="Calibri"/>
              </a:rPr>
              <a:t>prob. </a:t>
            </a:r>
            <a:r>
              <a:rPr dirty="0" sz="2600">
                <a:solidFill>
                  <a:srgbClr val="0070C0"/>
                </a:solidFill>
                <a:latin typeface="Cambria Math"/>
                <a:cs typeface="Cambria Math"/>
              </a:rPr>
              <a:t>1 −</a:t>
            </a:r>
            <a:r>
              <a:rPr dirty="0" sz="2600" spc="-50">
                <a:solidFill>
                  <a:srgbClr val="0070C0"/>
                </a:solidFill>
                <a:latin typeface="Cambria Math"/>
                <a:cs typeface="Cambria Math"/>
              </a:rPr>
              <a:t> </a:t>
            </a:r>
            <a:r>
              <a:rPr dirty="0" sz="2600">
                <a:solidFill>
                  <a:srgbClr val="0070C0"/>
                </a:solidFill>
                <a:latin typeface="Cambria Math"/>
                <a:cs typeface="Cambria Math"/>
              </a:rPr>
              <a:t>𝑝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108" y="6055867"/>
            <a:ext cx="711454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1">
                <a:solidFill>
                  <a:srgbClr val="0000FF"/>
                </a:solidFill>
                <a:latin typeface="Calibri"/>
                <a:cs typeface="Calibri"/>
              </a:rPr>
              <a:t>How</a:t>
            </a:r>
            <a:r>
              <a:rPr dirty="0" sz="3000" spc="-1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000" b="1">
                <a:solidFill>
                  <a:srgbClr val="0000FF"/>
                </a:solidFill>
                <a:latin typeface="Calibri"/>
                <a:cs typeface="Calibri"/>
              </a:rPr>
              <a:t>do</a:t>
            </a:r>
            <a:r>
              <a:rPr dirty="0" sz="3000" spc="-15" b="1">
                <a:solidFill>
                  <a:srgbClr val="0000FF"/>
                </a:solidFill>
                <a:latin typeface="Calibri"/>
                <a:cs typeface="Calibri"/>
              </a:rPr>
              <a:t> we </a:t>
            </a:r>
            <a:r>
              <a:rPr dirty="0" sz="3000" b="1">
                <a:solidFill>
                  <a:srgbClr val="0000FF"/>
                </a:solidFill>
                <a:latin typeface="Calibri"/>
                <a:cs typeface="Calibri"/>
              </a:rPr>
              <a:t>use</a:t>
            </a:r>
            <a:r>
              <a:rPr dirty="0" sz="3000" spc="-1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000" spc="-10" b="1">
                <a:solidFill>
                  <a:srgbClr val="0000FF"/>
                </a:solidFill>
                <a:latin typeface="Calibri"/>
                <a:cs typeface="Calibri"/>
              </a:rPr>
              <a:t>training </a:t>
            </a:r>
            <a:r>
              <a:rPr dirty="0" sz="3000" spc="-20" b="1">
                <a:solidFill>
                  <a:srgbClr val="0000FF"/>
                </a:solidFill>
                <a:latin typeface="Calibri"/>
                <a:cs typeface="Calibri"/>
              </a:rPr>
              <a:t>data</a:t>
            </a:r>
            <a:r>
              <a:rPr dirty="0" sz="3000" spc="-2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000" spc="25">
                <a:solidFill>
                  <a:srgbClr val="0000FF"/>
                </a:solidFill>
                <a:latin typeface="Cambria Math"/>
                <a:cs typeface="Cambria Math"/>
              </a:rPr>
              <a:t>𝒙</a:t>
            </a:r>
            <a:r>
              <a:rPr dirty="0" baseline="-15151" sz="3300" spc="37">
                <a:solidFill>
                  <a:srgbClr val="0000FF"/>
                </a:solidFill>
                <a:latin typeface="Cambria Math"/>
                <a:cs typeface="Cambria Math"/>
              </a:rPr>
              <a:t>𝟏</a:t>
            </a:r>
            <a:r>
              <a:rPr dirty="0" sz="3000" spc="25">
                <a:solidFill>
                  <a:srgbClr val="0000FF"/>
                </a:solidFill>
                <a:latin typeface="Cambria Math"/>
                <a:cs typeface="Cambria Math"/>
              </a:rPr>
              <a:t>,</a:t>
            </a:r>
            <a:r>
              <a:rPr dirty="0" sz="3000" spc="-17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3000" spc="25">
                <a:solidFill>
                  <a:srgbClr val="0000FF"/>
                </a:solidFill>
                <a:latin typeface="Cambria Math"/>
                <a:cs typeface="Cambria Math"/>
              </a:rPr>
              <a:t>𝒙</a:t>
            </a:r>
            <a:r>
              <a:rPr dirty="0" baseline="-15151" sz="3300" spc="37">
                <a:solidFill>
                  <a:srgbClr val="0000FF"/>
                </a:solidFill>
                <a:latin typeface="Cambria Math"/>
                <a:cs typeface="Cambria Math"/>
              </a:rPr>
              <a:t>𝟐</a:t>
            </a:r>
            <a:r>
              <a:rPr dirty="0" sz="3000" spc="25">
                <a:solidFill>
                  <a:srgbClr val="0000FF"/>
                </a:solidFill>
                <a:latin typeface="Cambria Math"/>
                <a:cs typeface="Cambria Math"/>
              </a:rPr>
              <a:t>,</a:t>
            </a:r>
            <a:r>
              <a:rPr dirty="0" sz="3000" spc="-17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3000">
                <a:solidFill>
                  <a:srgbClr val="0000FF"/>
                </a:solidFill>
                <a:latin typeface="Cambria Math"/>
                <a:cs typeface="Cambria Math"/>
              </a:rPr>
              <a:t>…</a:t>
            </a:r>
            <a:r>
              <a:rPr dirty="0" sz="3000" spc="-175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3000">
                <a:solidFill>
                  <a:srgbClr val="0000FF"/>
                </a:solidFill>
                <a:latin typeface="Cambria Math"/>
                <a:cs typeface="Cambria Math"/>
              </a:rPr>
              <a:t>,</a:t>
            </a:r>
            <a:r>
              <a:rPr dirty="0" sz="3000" spc="-17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3000" spc="15">
                <a:solidFill>
                  <a:srgbClr val="0000FF"/>
                </a:solidFill>
                <a:latin typeface="Cambria Math"/>
                <a:cs typeface="Cambria Math"/>
              </a:rPr>
              <a:t>𝒙</a:t>
            </a:r>
            <a:r>
              <a:rPr dirty="0" baseline="-15151" sz="3300" spc="22">
                <a:solidFill>
                  <a:srgbClr val="0000FF"/>
                </a:solidFill>
                <a:latin typeface="Cambria Math"/>
                <a:cs typeface="Cambria Math"/>
              </a:rPr>
              <a:t>𝒏</a:t>
            </a:r>
            <a:r>
              <a:rPr dirty="0" sz="3000" spc="15" b="1">
                <a:solidFill>
                  <a:srgbClr val="0000FF"/>
                </a:solidFill>
                <a:latin typeface="Calibri"/>
                <a:cs typeface="Calibri"/>
              </a:rPr>
              <a:t>?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26111" y="2989559"/>
            <a:ext cx="1803400" cy="2050414"/>
          </a:xfrm>
          <a:custGeom>
            <a:avLst/>
            <a:gdLst/>
            <a:ahLst/>
            <a:cxnLst/>
            <a:rect l="l" t="t" r="r" b="b"/>
            <a:pathLst>
              <a:path w="1803400" h="2050414">
                <a:moveTo>
                  <a:pt x="47956" y="0"/>
                </a:moveTo>
                <a:lnTo>
                  <a:pt x="2842" y="0"/>
                </a:lnTo>
                <a:lnTo>
                  <a:pt x="0" y="2843"/>
                </a:lnTo>
                <a:lnTo>
                  <a:pt x="0" y="9857"/>
                </a:lnTo>
                <a:lnTo>
                  <a:pt x="2842" y="12700"/>
                </a:lnTo>
                <a:lnTo>
                  <a:pt x="47956" y="12700"/>
                </a:lnTo>
                <a:lnTo>
                  <a:pt x="50800" y="9857"/>
                </a:lnTo>
                <a:lnTo>
                  <a:pt x="50800" y="2843"/>
                </a:lnTo>
                <a:lnTo>
                  <a:pt x="47956" y="0"/>
                </a:lnTo>
                <a:close/>
              </a:path>
              <a:path w="1803400" h="2050414">
                <a:moveTo>
                  <a:pt x="136856" y="0"/>
                </a:moveTo>
                <a:lnTo>
                  <a:pt x="91742" y="0"/>
                </a:lnTo>
                <a:lnTo>
                  <a:pt x="88900" y="2843"/>
                </a:lnTo>
                <a:lnTo>
                  <a:pt x="88900" y="9857"/>
                </a:lnTo>
                <a:lnTo>
                  <a:pt x="91742" y="12700"/>
                </a:lnTo>
                <a:lnTo>
                  <a:pt x="136856" y="12700"/>
                </a:lnTo>
                <a:lnTo>
                  <a:pt x="139700" y="9857"/>
                </a:lnTo>
                <a:lnTo>
                  <a:pt x="139700" y="2843"/>
                </a:lnTo>
                <a:lnTo>
                  <a:pt x="136856" y="0"/>
                </a:lnTo>
                <a:close/>
              </a:path>
              <a:path w="1803400" h="2050414">
                <a:moveTo>
                  <a:pt x="225756" y="0"/>
                </a:moveTo>
                <a:lnTo>
                  <a:pt x="180642" y="0"/>
                </a:lnTo>
                <a:lnTo>
                  <a:pt x="177800" y="2843"/>
                </a:lnTo>
                <a:lnTo>
                  <a:pt x="177800" y="9857"/>
                </a:lnTo>
                <a:lnTo>
                  <a:pt x="180642" y="12700"/>
                </a:lnTo>
                <a:lnTo>
                  <a:pt x="225756" y="12700"/>
                </a:lnTo>
                <a:lnTo>
                  <a:pt x="228600" y="9857"/>
                </a:lnTo>
                <a:lnTo>
                  <a:pt x="228600" y="2843"/>
                </a:lnTo>
                <a:lnTo>
                  <a:pt x="225756" y="0"/>
                </a:lnTo>
                <a:close/>
              </a:path>
              <a:path w="1803400" h="2050414">
                <a:moveTo>
                  <a:pt x="314656" y="0"/>
                </a:moveTo>
                <a:lnTo>
                  <a:pt x="269542" y="0"/>
                </a:lnTo>
                <a:lnTo>
                  <a:pt x="266700" y="2843"/>
                </a:lnTo>
                <a:lnTo>
                  <a:pt x="266700" y="9857"/>
                </a:lnTo>
                <a:lnTo>
                  <a:pt x="269542" y="12700"/>
                </a:lnTo>
                <a:lnTo>
                  <a:pt x="314656" y="12700"/>
                </a:lnTo>
                <a:lnTo>
                  <a:pt x="317500" y="9857"/>
                </a:lnTo>
                <a:lnTo>
                  <a:pt x="317500" y="2843"/>
                </a:lnTo>
                <a:lnTo>
                  <a:pt x="314656" y="0"/>
                </a:lnTo>
                <a:close/>
              </a:path>
              <a:path w="1803400" h="2050414">
                <a:moveTo>
                  <a:pt x="403556" y="0"/>
                </a:moveTo>
                <a:lnTo>
                  <a:pt x="358442" y="0"/>
                </a:lnTo>
                <a:lnTo>
                  <a:pt x="355600" y="2843"/>
                </a:lnTo>
                <a:lnTo>
                  <a:pt x="355600" y="9857"/>
                </a:lnTo>
                <a:lnTo>
                  <a:pt x="358442" y="12700"/>
                </a:lnTo>
                <a:lnTo>
                  <a:pt x="403556" y="12700"/>
                </a:lnTo>
                <a:lnTo>
                  <a:pt x="406400" y="9857"/>
                </a:lnTo>
                <a:lnTo>
                  <a:pt x="406400" y="2843"/>
                </a:lnTo>
                <a:lnTo>
                  <a:pt x="403556" y="0"/>
                </a:lnTo>
                <a:close/>
              </a:path>
              <a:path w="1803400" h="2050414">
                <a:moveTo>
                  <a:pt x="492456" y="0"/>
                </a:moveTo>
                <a:lnTo>
                  <a:pt x="447342" y="0"/>
                </a:lnTo>
                <a:lnTo>
                  <a:pt x="444500" y="2843"/>
                </a:lnTo>
                <a:lnTo>
                  <a:pt x="444500" y="9857"/>
                </a:lnTo>
                <a:lnTo>
                  <a:pt x="447342" y="12700"/>
                </a:lnTo>
                <a:lnTo>
                  <a:pt x="492456" y="12700"/>
                </a:lnTo>
                <a:lnTo>
                  <a:pt x="495300" y="9857"/>
                </a:lnTo>
                <a:lnTo>
                  <a:pt x="495300" y="2843"/>
                </a:lnTo>
                <a:lnTo>
                  <a:pt x="492456" y="0"/>
                </a:lnTo>
                <a:close/>
              </a:path>
              <a:path w="1803400" h="2050414">
                <a:moveTo>
                  <a:pt x="581356" y="0"/>
                </a:moveTo>
                <a:lnTo>
                  <a:pt x="536242" y="0"/>
                </a:lnTo>
                <a:lnTo>
                  <a:pt x="533400" y="2843"/>
                </a:lnTo>
                <a:lnTo>
                  <a:pt x="533400" y="9857"/>
                </a:lnTo>
                <a:lnTo>
                  <a:pt x="536242" y="12700"/>
                </a:lnTo>
                <a:lnTo>
                  <a:pt x="581356" y="12700"/>
                </a:lnTo>
                <a:lnTo>
                  <a:pt x="584200" y="9857"/>
                </a:lnTo>
                <a:lnTo>
                  <a:pt x="584200" y="2843"/>
                </a:lnTo>
                <a:lnTo>
                  <a:pt x="581356" y="0"/>
                </a:lnTo>
                <a:close/>
              </a:path>
              <a:path w="1803400" h="2050414">
                <a:moveTo>
                  <a:pt x="670256" y="0"/>
                </a:moveTo>
                <a:lnTo>
                  <a:pt x="625142" y="0"/>
                </a:lnTo>
                <a:lnTo>
                  <a:pt x="622300" y="2843"/>
                </a:lnTo>
                <a:lnTo>
                  <a:pt x="622300" y="9857"/>
                </a:lnTo>
                <a:lnTo>
                  <a:pt x="625142" y="12700"/>
                </a:lnTo>
                <a:lnTo>
                  <a:pt x="670256" y="12700"/>
                </a:lnTo>
                <a:lnTo>
                  <a:pt x="673100" y="9857"/>
                </a:lnTo>
                <a:lnTo>
                  <a:pt x="673100" y="2843"/>
                </a:lnTo>
                <a:lnTo>
                  <a:pt x="670256" y="0"/>
                </a:lnTo>
                <a:close/>
              </a:path>
              <a:path w="1803400" h="2050414">
                <a:moveTo>
                  <a:pt x="759156" y="0"/>
                </a:moveTo>
                <a:lnTo>
                  <a:pt x="714042" y="0"/>
                </a:lnTo>
                <a:lnTo>
                  <a:pt x="711200" y="2843"/>
                </a:lnTo>
                <a:lnTo>
                  <a:pt x="711200" y="9857"/>
                </a:lnTo>
                <a:lnTo>
                  <a:pt x="714042" y="12700"/>
                </a:lnTo>
                <a:lnTo>
                  <a:pt x="759156" y="12700"/>
                </a:lnTo>
                <a:lnTo>
                  <a:pt x="762000" y="9857"/>
                </a:lnTo>
                <a:lnTo>
                  <a:pt x="762000" y="2843"/>
                </a:lnTo>
                <a:lnTo>
                  <a:pt x="759156" y="0"/>
                </a:lnTo>
                <a:close/>
              </a:path>
              <a:path w="1803400" h="2050414">
                <a:moveTo>
                  <a:pt x="848056" y="0"/>
                </a:moveTo>
                <a:lnTo>
                  <a:pt x="802942" y="0"/>
                </a:lnTo>
                <a:lnTo>
                  <a:pt x="800100" y="2843"/>
                </a:lnTo>
                <a:lnTo>
                  <a:pt x="800100" y="9857"/>
                </a:lnTo>
                <a:lnTo>
                  <a:pt x="802942" y="12700"/>
                </a:lnTo>
                <a:lnTo>
                  <a:pt x="848056" y="12700"/>
                </a:lnTo>
                <a:lnTo>
                  <a:pt x="850900" y="9857"/>
                </a:lnTo>
                <a:lnTo>
                  <a:pt x="850900" y="2843"/>
                </a:lnTo>
                <a:lnTo>
                  <a:pt x="848056" y="0"/>
                </a:lnTo>
                <a:close/>
              </a:path>
              <a:path w="1803400" h="2050414">
                <a:moveTo>
                  <a:pt x="898368" y="6350"/>
                </a:moveTo>
                <a:lnTo>
                  <a:pt x="898368" y="38587"/>
                </a:lnTo>
                <a:lnTo>
                  <a:pt x="901212" y="41431"/>
                </a:lnTo>
                <a:lnTo>
                  <a:pt x="908226" y="41431"/>
                </a:lnTo>
                <a:lnTo>
                  <a:pt x="911068" y="38587"/>
                </a:lnTo>
                <a:lnTo>
                  <a:pt x="911068" y="12700"/>
                </a:lnTo>
                <a:lnTo>
                  <a:pt x="904718" y="12700"/>
                </a:lnTo>
                <a:lnTo>
                  <a:pt x="898368" y="6350"/>
                </a:lnTo>
                <a:close/>
              </a:path>
              <a:path w="1803400" h="2050414">
                <a:moveTo>
                  <a:pt x="908226" y="0"/>
                </a:moveTo>
                <a:lnTo>
                  <a:pt x="891842" y="0"/>
                </a:lnTo>
                <a:lnTo>
                  <a:pt x="889000" y="2843"/>
                </a:lnTo>
                <a:lnTo>
                  <a:pt x="889000" y="9857"/>
                </a:lnTo>
                <a:lnTo>
                  <a:pt x="891842" y="12700"/>
                </a:lnTo>
                <a:lnTo>
                  <a:pt x="898368" y="12700"/>
                </a:lnTo>
                <a:lnTo>
                  <a:pt x="898368" y="6350"/>
                </a:lnTo>
                <a:lnTo>
                  <a:pt x="911068" y="6350"/>
                </a:lnTo>
                <a:lnTo>
                  <a:pt x="911068" y="2843"/>
                </a:lnTo>
                <a:lnTo>
                  <a:pt x="908226" y="0"/>
                </a:lnTo>
                <a:close/>
              </a:path>
              <a:path w="1803400" h="2050414">
                <a:moveTo>
                  <a:pt x="911068" y="6350"/>
                </a:moveTo>
                <a:lnTo>
                  <a:pt x="898368" y="6350"/>
                </a:lnTo>
                <a:lnTo>
                  <a:pt x="904718" y="12700"/>
                </a:lnTo>
                <a:lnTo>
                  <a:pt x="911068" y="12700"/>
                </a:lnTo>
                <a:lnTo>
                  <a:pt x="911068" y="6350"/>
                </a:lnTo>
                <a:close/>
              </a:path>
              <a:path w="1803400" h="2050414">
                <a:moveTo>
                  <a:pt x="908226" y="79531"/>
                </a:moveTo>
                <a:lnTo>
                  <a:pt x="901212" y="79531"/>
                </a:lnTo>
                <a:lnTo>
                  <a:pt x="898368" y="82373"/>
                </a:lnTo>
                <a:lnTo>
                  <a:pt x="898368" y="127487"/>
                </a:lnTo>
                <a:lnTo>
                  <a:pt x="901212" y="130331"/>
                </a:lnTo>
                <a:lnTo>
                  <a:pt x="908226" y="130331"/>
                </a:lnTo>
                <a:lnTo>
                  <a:pt x="911068" y="127487"/>
                </a:lnTo>
                <a:lnTo>
                  <a:pt x="911068" y="82373"/>
                </a:lnTo>
                <a:lnTo>
                  <a:pt x="908226" y="79531"/>
                </a:lnTo>
                <a:close/>
              </a:path>
              <a:path w="1803400" h="2050414">
                <a:moveTo>
                  <a:pt x="908226" y="168431"/>
                </a:moveTo>
                <a:lnTo>
                  <a:pt x="901212" y="168431"/>
                </a:lnTo>
                <a:lnTo>
                  <a:pt x="898368" y="171273"/>
                </a:lnTo>
                <a:lnTo>
                  <a:pt x="898368" y="216387"/>
                </a:lnTo>
                <a:lnTo>
                  <a:pt x="901212" y="219231"/>
                </a:lnTo>
                <a:lnTo>
                  <a:pt x="908226" y="219231"/>
                </a:lnTo>
                <a:lnTo>
                  <a:pt x="911068" y="216387"/>
                </a:lnTo>
                <a:lnTo>
                  <a:pt x="911068" y="171273"/>
                </a:lnTo>
                <a:lnTo>
                  <a:pt x="908226" y="168431"/>
                </a:lnTo>
                <a:close/>
              </a:path>
              <a:path w="1803400" h="2050414">
                <a:moveTo>
                  <a:pt x="908226" y="257331"/>
                </a:moveTo>
                <a:lnTo>
                  <a:pt x="901212" y="257331"/>
                </a:lnTo>
                <a:lnTo>
                  <a:pt x="898368" y="260173"/>
                </a:lnTo>
                <a:lnTo>
                  <a:pt x="898368" y="305287"/>
                </a:lnTo>
                <a:lnTo>
                  <a:pt x="901212" y="308131"/>
                </a:lnTo>
                <a:lnTo>
                  <a:pt x="908226" y="308131"/>
                </a:lnTo>
                <a:lnTo>
                  <a:pt x="911068" y="305287"/>
                </a:lnTo>
                <a:lnTo>
                  <a:pt x="911068" y="260173"/>
                </a:lnTo>
                <a:lnTo>
                  <a:pt x="908226" y="257331"/>
                </a:lnTo>
                <a:close/>
              </a:path>
              <a:path w="1803400" h="2050414">
                <a:moveTo>
                  <a:pt x="908226" y="346231"/>
                </a:moveTo>
                <a:lnTo>
                  <a:pt x="901212" y="346231"/>
                </a:lnTo>
                <a:lnTo>
                  <a:pt x="898368" y="349073"/>
                </a:lnTo>
                <a:lnTo>
                  <a:pt x="898368" y="394187"/>
                </a:lnTo>
                <a:lnTo>
                  <a:pt x="901212" y="397031"/>
                </a:lnTo>
                <a:lnTo>
                  <a:pt x="908226" y="397031"/>
                </a:lnTo>
                <a:lnTo>
                  <a:pt x="911068" y="394187"/>
                </a:lnTo>
                <a:lnTo>
                  <a:pt x="911068" y="349073"/>
                </a:lnTo>
                <a:lnTo>
                  <a:pt x="908226" y="346231"/>
                </a:lnTo>
                <a:close/>
              </a:path>
              <a:path w="1803400" h="2050414">
                <a:moveTo>
                  <a:pt x="908226" y="435131"/>
                </a:moveTo>
                <a:lnTo>
                  <a:pt x="901212" y="435131"/>
                </a:lnTo>
                <a:lnTo>
                  <a:pt x="898368" y="437973"/>
                </a:lnTo>
                <a:lnTo>
                  <a:pt x="898368" y="483087"/>
                </a:lnTo>
                <a:lnTo>
                  <a:pt x="901212" y="485931"/>
                </a:lnTo>
                <a:lnTo>
                  <a:pt x="908226" y="485931"/>
                </a:lnTo>
                <a:lnTo>
                  <a:pt x="911068" y="483087"/>
                </a:lnTo>
                <a:lnTo>
                  <a:pt x="911068" y="437973"/>
                </a:lnTo>
                <a:lnTo>
                  <a:pt x="908226" y="435131"/>
                </a:lnTo>
                <a:close/>
              </a:path>
              <a:path w="1803400" h="2050414">
                <a:moveTo>
                  <a:pt x="908226" y="524031"/>
                </a:moveTo>
                <a:lnTo>
                  <a:pt x="901212" y="524031"/>
                </a:lnTo>
                <a:lnTo>
                  <a:pt x="898368" y="526873"/>
                </a:lnTo>
                <a:lnTo>
                  <a:pt x="898368" y="571987"/>
                </a:lnTo>
                <a:lnTo>
                  <a:pt x="901212" y="574831"/>
                </a:lnTo>
                <a:lnTo>
                  <a:pt x="908226" y="574831"/>
                </a:lnTo>
                <a:lnTo>
                  <a:pt x="911068" y="571987"/>
                </a:lnTo>
                <a:lnTo>
                  <a:pt x="911068" y="526873"/>
                </a:lnTo>
                <a:lnTo>
                  <a:pt x="908226" y="524031"/>
                </a:lnTo>
                <a:close/>
              </a:path>
              <a:path w="1803400" h="2050414">
                <a:moveTo>
                  <a:pt x="908226" y="612931"/>
                </a:moveTo>
                <a:lnTo>
                  <a:pt x="901212" y="612931"/>
                </a:lnTo>
                <a:lnTo>
                  <a:pt x="898368" y="615773"/>
                </a:lnTo>
                <a:lnTo>
                  <a:pt x="898368" y="660887"/>
                </a:lnTo>
                <a:lnTo>
                  <a:pt x="901212" y="663731"/>
                </a:lnTo>
                <a:lnTo>
                  <a:pt x="908226" y="663731"/>
                </a:lnTo>
                <a:lnTo>
                  <a:pt x="911068" y="660887"/>
                </a:lnTo>
                <a:lnTo>
                  <a:pt x="911068" y="615773"/>
                </a:lnTo>
                <a:lnTo>
                  <a:pt x="908226" y="612931"/>
                </a:lnTo>
                <a:close/>
              </a:path>
              <a:path w="1803400" h="2050414">
                <a:moveTo>
                  <a:pt x="908226" y="701831"/>
                </a:moveTo>
                <a:lnTo>
                  <a:pt x="901212" y="701831"/>
                </a:lnTo>
                <a:lnTo>
                  <a:pt x="898368" y="704673"/>
                </a:lnTo>
                <a:lnTo>
                  <a:pt x="898368" y="749787"/>
                </a:lnTo>
                <a:lnTo>
                  <a:pt x="901212" y="752631"/>
                </a:lnTo>
                <a:lnTo>
                  <a:pt x="908226" y="752631"/>
                </a:lnTo>
                <a:lnTo>
                  <a:pt x="911068" y="749787"/>
                </a:lnTo>
                <a:lnTo>
                  <a:pt x="911068" y="704673"/>
                </a:lnTo>
                <a:lnTo>
                  <a:pt x="908226" y="701831"/>
                </a:lnTo>
                <a:close/>
              </a:path>
              <a:path w="1803400" h="2050414">
                <a:moveTo>
                  <a:pt x="908226" y="790731"/>
                </a:moveTo>
                <a:lnTo>
                  <a:pt x="901212" y="790731"/>
                </a:lnTo>
                <a:lnTo>
                  <a:pt x="898368" y="793573"/>
                </a:lnTo>
                <a:lnTo>
                  <a:pt x="898368" y="838687"/>
                </a:lnTo>
                <a:lnTo>
                  <a:pt x="901212" y="841531"/>
                </a:lnTo>
                <a:lnTo>
                  <a:pt x="908226" y="841531"/>
                </a:lnTo>
                <a:lnTo>
                  <a:pt x="911068" y="838687"/>
                </a:lnTo>
                <a:lnTo>
                  <a:pt x="911068" y="793573"/>
                </a:lnTo>
                <a:lnTo>
                  <a:pt x="908226" y="790731"/>
                </a:lnTo>
                <a:close/>
              </a:path>
              <a:path w="1803400" h="2050414">
                <a:moveTo>
                  <a:pt x="908226" y="879631"/>
                </a:moveTo>
                <a:lnTo>
                  <a:pt x="901212" y="879631"/>
                </a:lnTo>
                <a:lnTo>
                  <a:pt x="898368" y="882473"/>
                </a:lnTo>
                <a:lnTo>
                  <a:pt x="898368" y="927587"/>
                </a:lnTo>
                <a:lnTo>
                  <a:pt x="901212" y="930431"/>
                </a:lnTo>
                <a:lnTo>
                  <a:pt x="908226" y="930431"/>
                </a:lnTo>
                <a:lnTo>
                  <a:pt x="911068" y="927587"/>
                </a:lnTo>
                <a:lnTo>
                  <a:pt x="911068" y="882473"/>
                </a:lnTo>
                <a:lnTo>
                  <a:pt x="908226" y="879631"/>
                </a:lnTo>
                <a:close/>
              </a:path>
              <a:path w="1803400" h="2050414">
                <a:moveTo>
                  <a:pt x="908226" y="968531"/>
                </a:moveTo>
                <a:lnTo>
                  <a:pt x="901212" y="968531"/>
                </a:lnTo>
                <a:lnTo>
                  <a:pt x="898368" y="971373"/>
                </a:lnTo>
                <a:lnTo>
                  <a:pt x="898368" y="1016487"/>
                </a:lnTo>
                <a:lnTo>
                  <a:pt x="901212" y="1019331"/>
                </a:lnTo>
                <a:lnTo>
                  <a:pt x="908226" y="1019331"/>
                </a:lnTo>
                <a:lnTo>
                  <a:pt x="911068" y="1016487"/>
                </a:lnTo>
                <a:lnTo>
                  <a:pt x="911068" y="971373"/>
                </a:lnTo>
                <a:lnTo>
                  <a:pt x="908226" y="968531"/>
                </a:lnTo>
                <a:close/>
              </a:path>
              <a:path w="1803400" h="2050414">
                <a:moveTo>
                  <a:pt x="908226" y="1057431"/>
                </a:moveTo>
                <a:lnTo>
                  <a:pt x="901212" y="1057431"/>
                </a:lnTo>
                <a:lnTo>
                  <a:pt x="898368" y="1060273"/>
                </a:lnTo>
                <a:lnTo>
                  <a:pt x="898368" y="1105387"/>
                </a:lnTo>
                <a:lnTo>
                  <a:pt x="901212" y="1108231"/>
                </a:lnTo>
                <a:lnTo>
                  <a:pt x="908226" y="1108231"/>
                </a:lnTo>
                <a:lnTo>
                  <a:pt x="911068" y="1105387"/>
                </a:lnTo>
                <a:lnTo>
                  <a:pt x="911068" y="1060273"/>
                </a:lnTo>
                <a:lnTo>
                  <a:pt x="908226" y="1057431"/>
                </a:lnTo>
                <a:close/>
              </a:path>
              <a:path w="1803400" h="2050414">
                <a:moveTo>
                  <a:pt x="908226" y="1146331"/>
                </a:moveTo>
                <a:lnTo>
                  <a:pt x="901212" y="1146331"/>
                </a:lnTo>
                <a:lnTo>
                  <a:pt x="898368" y="1149173"/>
                </a:lnTo>
                <a:lnTo>
                  <a:pt x="898368" y="1194287"/>
                </a:lnTo>
                <a:lnTo>
                  <a:pt x="901212" y="1197131"/>
                </a:lnTo>
                <a:lnTo>
                  <a:pt x="908226" y="1197131"/>
                </a:lnTo>
                <a:lnTo>
                  <a:pt x="911068" y="1194287"/>
                </a:lnTo>
                <a:lnTo>
                  <a:pt x="911068" y="1149173"/>
                </a:lnTo>
                <a:lnTo>
                  <a:pt x="908226" y="1146331"/>
                </a:lnTo>
                <a:close/>
              </a:path>
              <a:path w="1803400" h="2050414">
                <a:moveTo>
                  <a:pt x="908226" y="1235231"/>
                </a:moveTo>
                <a:lnTo>
                  <a:pt x="901212" y="1235231"/>
                </a:lnTo>
                <a:lnTo>
                  <a:pt x="898368" y="1238073"/>
                </a:lnTo>
                <a:lnTo>
                  <a:pt x="898368" y="1283187"/>
                </a:lnTo>
                <a:lnTo>
                  <a:pt x="901212" y="1286031"/>
                </a:lnTo>
                <a:lnTo>
                  <a:pt x="908226" y="1286031"/>
                </a:lnTo>
                <a:lnTo>
                  <a:pt x="911068" y="1283187"/>
                </a:lnTo>
                <a:lnTo>
                  <a:pt x="911068" y="1238073"/>
                </a:lnTo>
                <a:lnTo>
                  <a:pt x="908226" y="1235231"/>
                </a:lnTo>
                <a:close/>
              </a:path>
              <a:path w="1803400" h="2050414">
                <a:moveTo>
                  <a:pt x="908226" y="1324131"/>
                </a:moveTo>
                <a:lnTo>
                  <a:pt x="901212" y="1324131"/>
                </a:lnTo>
                <a:lnTo>
                  <a:pt x="898368" y="1326973"/>
                </a:lnTo>
                <a:lnTo>
                  <a:pt x="898368" y="1372087"/>
                </a:lnTo>
                <a:lnTo>
                  <a:pt x="901212" y="1374931"/>
                </a:lnTo>
                <a:lnTo>
                  <a:pt x="908226" y="1374931"/>
                </a:lnTo>
                <a:lnTo>
                  <a:pt x="911068" y="1372087"/>
                </a:lnTo>
                <a:lnTo>
                  <a:pt x="911068" y="1326973"/>
                </a:lnTo>
                <a:lnTo>
                  <a:pt x="908226" y="1324131"/>
                </a:lnTo>
                <a:close/>
              </a:path>
              <a:path w="1803400" h="2050414">
                <a:moveTo>
                  <a:pt x="908226" y="1413031"/>
                </a:moveTo>
                <a:lnTo>
                  <a:pt x="901212" y="1413031"/>
                </a:lnTo>
                <a:lnTo>
                  <a:pt x="898368" y="1415873"/>
                </a:lnTo>
                <a:lnTo>
                  <a:pt x="898368" y="1460987"/>
                </a:lnTo>
                <a:lnTo>
                  <a:pt x="901212" y="1463831"/>
                </a:lnTo>
                <a:lnTo>
                  <a:pt x="908226" y="1463831"/>
                </a:lnTo>
                <a:lnTo>
                  <a:pt x="911068" y="1460987"/>
                </a:lnTo>
                <a:lnTo>
                  <a:pt x="911068" y="1415873"/>
                </a:lnTo>
                <a:lnTo>
                  <a:pt x="908226" y="1413031"/>
                </a:lnTo>
                <a:close/>
              </a:path>
              <a:path w="1803400" h="2050414">
                <a:moveTo>
                  <a:pt x="908226" y="1501931"/>
                </a:moveTo>
                <a:lnTo>
                  <a:pt x="901212" y="1501931"/>
                </a:lnTo>
                <a:lnTo>
                  <a:pt x="898368" y="1504773"/>
                </a:lnTo>
                <a:lnTo>
                  <a:pt x="898368" y="1549887"/>
                </a:lnTo>
                <a:lnTo>
                  <a:pt x="901212" y="1552731"/>
                </a:lnTo>
                <a:lnTo>
                  <a:pt x="908226" y="1552731"/>
                </a:lnTo>
                <a:lnTo>
                  <a:pt x="911068" y="1549887"/>
                </a:lnTo>
                <a:lnTo>
                  <a:pt x="911068" y="1504773"/>
                </a:lnTo>
                <a:lnTo>
                  <a:pt x="908226" y="1501931"/>
                </a:lnTo>
                <a:close/>
              </a:path>
              <a:path w="1803400" h="2050414">
                <a:moveTo>
                  <a:pt x="908226" y="1590831"/>
                </a:moveTo>
                <a:lnTo>
                  <a:pt x="901212" y="1590831"/>
                </a:lnTo>
                <a:lnTo>
                  <a:pt x="898368" y="1593673"/>
                </a:lnTo>
                <a:lnTo>
                  <a:pt x="898368" y="1638787"/>
                </a:lnTo>
                <a:lnTo>
                  <a:pt x="901212" y="1641631"/>
                </a:lnTo>
                <a:lnTo>
                  <a:pt x="908226" y="1641631"/>
                </a:lnTo>
                <a:lnTo>
                  <a:pt x="911068" y="1638787"/>
                </a:lnTo>
                <a:lnTo>
                  <a:pt x="911068" y="1593673"/>
                </a:lnTo>
                <a:lnTo>
                  <a:pt x="908226" y="1590831"/>
                </a:lnTo>
                <a:close/>
              </a:path>
              <a:path w="1803400" h="2050414">
                <a:moveTo>
                  <a:pt x="908226" y="1679731"/>
                </a:moveTo>
                <a:lnTo>
                  <a:pt x="901212" y="1679731"/>
                </a:lnTo>
                <a:lnTo>
                  <a:pt x="898368" y="1682573"/>
                </a:lnTo>
                <a:lnTo>
                  <a:pt x="898368" y="1727687"/>
                </a:lnTo>
                <a:lnTo>
                  <a:pt x="901212" y="1730531"/>
                </a:lnTo>
                <a:lnTo>
                  <a:pt x="908226" y="1730531"/>
                </a:lnTo>
                <a:lnTo>
                  <a:pt x="911068" y="1727687"/>
                </a:lnTo>
                <a:lnTo>
                  <a:pt x="911068" y="1682573"/>
                </a:lnTo>
                <a:lnTo>
                  <a:pt x="908226" y="1679731"/>
                </a:lnTo>
                <a:close/>
              </a:path>
              <a:path w="1803400" h="2050414">
                <a:moveTo>
                  <a:pt x="908226" y="1768631"/>
                </a:moveTo>
                <a:lnTo>
                  <a:pt x="901212" y="1768631"/>
                </a:lnTo>
                <a:lnTo>
                  <a:pt x="898368" y="1771473"/>
                </a:lnTo>
                <a:lnTo>
                  <a:pt x="898368" y="1816587"/>
                </a:lnTo>
                <a:lnTo>
                  <a:pt x="901212" y="1819431"/>
                </a:lnTo>
                <a:lnTo>
                  <a:pt x="908226" y="1819431"/>
                </a:lnTo>
                <a:lnTo>
                  <a:pt x="911068" y="1816587"/>
                </a:lnTo>
                <a:lnTo>
                  <a:pt x="911068" y="1771473"/>
                </a:lnTo>
                <a:lnTo>
                  <a:pt x="908226" y="1768631"/>
                </a:lnTo>
                <a:close/>
              </a:path>
              <a:path w="1803400" h="2050414">
                <a:moveTo>
                  <a:pt x="908226" y="1857531"/>
                </a:moveTo>
                <a:lnTo>
                  <a:pt x="901212" y="1857531"/>
                </a:lnTo>
                <a:lnTo>
                  <a:pt x="898368" y="1860373"/>
                </a:lnTo>
                <a:lnTo>
                  <a:pt x="898368" y="1905487"/>
                </a:lnTo>
                <a:lnTo>
                  <a:pt x="901212" y="1908331"/>
                </a:lnTo>
                <a:lnTo>
                  <a:pt x="908226" y="1908331"/>
                </a:lnTo>
                <a:lnTo>
                  <a:pt x="911068" y="1905487"/>
                </a:lnTo>
                <a:lnTo>
                  <a:pt x="911068" y="1860373"/>
                </a:lnTo>
                <a:lnTo>
                  <a:pt x="908226" y="1857531"/>
                </a:lnTo>
                <a:close/>
              </a:path>
              <a:path w="1803400" h="2050414">
                <a:moveTo>
                  <a:pt x="908226" y="1946431"/>
                </a:moveTo>
                <a:lnTo>
                  <a:pt x="901212" y="1946431"/>
                </a:lnTo>
                <a:lnTo>
                  <a:pt x="898368" y="1949273"/>
                </a:lnTo>
                <a:lnTo>
                  <a:pt x="898368" y="1994387"/>
                </a:lnTo>
                <a:lnTo>
                  <a:pt x="901212" y="1997231"/>
                </a:lnTo>
                <a:lnTo>
                  <a:pt x="908226" y="1997231"/>
                </a:lnTo>
                <a:lnTo>
                  <a:pt x="911068" y="1994387"/>
                </a:lnTo>
                <a:lnTo>
                  <a:pt x="911068" y="1949273"/>
                </a:lnTo>
                <a:lnTo>
                  <a:pt x="908226" y="1946431"/>
                </a:lnTo>
                <a:close/>
              </a:path>
              <a:path w="1803400" h="2050414">
                <a:moveTo>
                  <a:pt x="976128" y="2005528"/>
                </a:moveTo>
                <a:lnTo>
                  <a:pt x="931014" y="2005528"/>
                </a:lnTo>
                <a:lnTo>
                  <a:pt x="928171" y="2008371"/>
                </a:lnTo>
                <a:lnTo>
                  <a:pt x="928171" y="2015384"/>
                </a:lnTo>
                <a:lnTo>
                  <a:pt x="931014" y="2018228"/>
                </a:lnTo>
                <a:lnTo>
                  <a:pt x="976128" y="2018228"/>
                </a:lnTo>
                <a:lnTo>
                  <a:pt x="978971" y="2015384"/>
                </a:lnTo>
                <a:lnTo>
                  <a:pt x="978971" y="2008371"/>
                </a:lnTo>
                <a:lnTo>
                  <a:pt x="976128" y="2005528"/>
                </a:lnTo>
                <a:close/>
              </a:path>
              <a:path w="1803400" h="2050414">
                <a:moveTo>
                  <a:pt x="1065028" y="2005528"/>
                </a:moveTo>
                <a:lnTo>
                  <a:pt x="1019914" y="2005528"/>
                </a:lnTo>
                <a:lnTo>
                  <a:pt x="1017071" y="2008371"/>
                </a:lnTo>
                <a:lnTo>
                  <a:pt x="1017071" y="2015384"/>
                </a:lnTo>
                <a:lnTo>
                  <a:pt x="1019914" y="2018228"/>
                </a:lnTo>
                <a:lnTo>
                  <a:pt x="1065028" y="2018228"/>
                </a:lnTo>
                <a:lnTo>
                  <a:pt x="1067871" y="2015384"/>
                </a:lnTo>
                <a:lnTo>
                  <a:pt x="1067871" y="2008371"/>
                </a:lnTo>
                <a:lnTo>
                  <a:pt x="1065028" y="2005528"/>
                </a:lnTo>
                <a:close/>
              </a:path>
              <a:path w="1803400" h="2050414">
                <a:moveTo>
                  <a:pt x="1153928" y="2005528"/>
                </a:moveTo>
                <a:lnTo>
                  <a:pt x="1108814" y="2005528"/>
                </a:lnTo>
                <a:lnTo>
                  <a:pt x="1105971" y="2008371"/>
                </a:lnTo>
                <a:lnTo>
                  <a:pt x="1105971" y="2015384"/>
                </a:lnTo>
                <a:lnTo>
                  <a:pt x="1108814" y="2018228"/>
                </a:lnTo>
                <a:lnTo>
                  <a:pt x="1153928" y="2018228"/>
                </a:lnTo>
                <a:lnTo>
                  <a:pt x="1156771" y="2015384"/>
                </a:lnTo>
                <a:lnTo>
                  <a:pt x="1156771" y="2008371"/>
                </a:lnTo>
                <a:lnTo>
                  <a:pt x="1153928" y="2005528"/>
                </a:lnTo>
                <a:close/>
              </a:path>
              <a:path w="1803400" h="2050414">
                <a:moveTo>
                  <a:pt x="1242828" y="2005528"/>
                </a:moveTo>
                <a:lnTo>
                  <a:pt x="1197714" y="2005528"/>
                </a:lnTo>
                <a:lnTo>
                  <a:pt x="1194871" y="2008371"/>
                </a:lnTo>
                <a:lnTo>
                  <a:pt x="1194871" y="2015384"/>
                </a:lnTo>
                <a:lnTo>
                  <a:pt x="1197714" y="2018228"/>
                </a:lnTo>
                <a:lnTo>
                  <a:pt x="1242828" y="2018228"/>
                </a:lnTo>
                <a:lnTo>
                  <a:pt x="1245671" y="2015384"/>
                </a:lnTo>
                <a:lnTo>
                  <a:pt x="1245671" y="2008371"/>
                </a:lnTo>
                <a:lnTo>
                  <a:pt x="1242828" y="2005528"/>
                </a:lnTo>
                <a:close/>
              </a:path>
              <a:path w="1803400" h="2050414">
                <a:moveTo>
                  <a:pt x="1331728" y="2005528"/>
                </a:moveTo>
                <a:lnTo>
                  <a:pt x="1286614" y="2005528"/>
                </a:lnTo>
                <a:lnTo>
                  <a:pt x="1283771" y="2008371"/>
                </a:lnTo>
                <a:lnTo>
                  <a:pt x="1283771" y="2015384"/>
                </a:lnTo>
                <a:lnTo>
                  <a:pt x="1286614" y="2018228"/>
                </a:lnTo>
                <a:lnTo>
                  <a:pt x="1331728" y="2018228"/>
                </a:lnTo>
                <a:lnTo>
                  <a:pt x="1334571" y="2015384"/>
                </a:lnTo>
                <a:lnTo>
                  <a:pt x="1334571" y="2008371"/>
                </a:lnTo>
                <a:lnTo>
                  <a:pt x="1331728" y="2005528"/>
                </a:lnTo>
                <a:close/>
              </a:path>
              <a:path w="1803400" h="2050414">
                <a:moveTo>
                  <a:pt x="1420628" y="2005528"/>
                </a:moveTo>
                <a:lnTo>
                  <a:pt x="1375514" y="2005528"/>
                </a:lnTo>
                <a:lnTo>
                  <a:pt x="1372671" y="2008371"/>
                </a:lnTo>
                <a:lnTo>
                  <a:pt x="1372671" y="2015384"/>
                </a:lnTo>
                <a:lnTo>
                  <a:pt x="1375514" y="2018228"/>
                </a:lnTo>
                <a:lnTo>
                  <a:pt x="1420628" y="2018228"/>
                </a:lnTo>
                <a:lnTo>
                  <a:pt x="1423471" y="2015384"/>
                </a:lnTo>
                <a:lnTo>
                  <a:pt x="1423471" y="2008371"/>
                </a:lnTo>
                <a:lnTo>
                  <a:pt x="1420628" y="2005528"/>
                </a:lnTo>
                <a:close/>
              </a:path>
              <a:path w="1803400" h="2050414">
                <a:moveTo>
                  <a:pt x="1509528" y="2005528"/>
                </a:moveTo>
                <a:lnTo>
                  <a:pt x="1464414" y="2005528"/>
                </a:lnTo>
                <a:lnTo>
                  <a:pt x="1461571" y="2008371"/>
                </a:lnTo>
                <a:lnTo>
                  <a:pt x="1461571" y="2015384"/>
                </a:lnTo>
                <a:lnTo>
                  <a:pt x="1464414" y="2018228"/>
                </a:lnTo>
                <a:lnTo>
                  <a:pt x="1509528" y="2018228"/>
                </a:lnTo>
                <a:lnTo>
                  <a:pt x="1512371" y="2015384"/>
                </a:lnTo>
                <a:lnTo>
                  <a:pt x="1512371" y="2008371"/>
                </a:lnTo>
                <a:lnTo>
                  <a:pt x="1509528" y="2005528"/>
                </a:lnTo>
                <a:close/>
              </a:path>
              <a:path w="1803400" h="2050414">
                <a:moveTo>
                  <a:pt x="1598428" y="2005528"/>
                </a:moveTo>
                <a:lnTo>
                  <a:pt x="1553314" y="2005528"/>
                </a:lnTo>
                <a:lnTo>
                  <a:pt x="1550471" y="2008371"/>
                </a:lnTo>
                <a:lnTo>
                  <a:pt x="1550471" y="2015384"/>
                </a:lnTo>
                <a:lnTo>
                  <a:pt x="1553314" y="2018228"/>
                </a:lnTo>
                <a:lnTo>
                  <a:pt x="1598428" y="2018228"/>
                </a:lnTo>
                <a:lnTo>
                  <a:pt x="1601271" y="2015384"/>
                </a:lnTo>
                <a:lnTo>
                  <a:pt x="1601271" y="2008371"/>
                </a:lnTo>
                <a:lnTo>
                  <a:pt x="1598428" y="2005528"/>
                </a:lnTo>
                <a:close/>
              </a:path>
              <a:path w="1803400" h="2050414">
                <a:moveTo>
                  <a:pt x="1687328" y="2005528"/>
                </a:moveTo>
                <a:lnTo>
                  <a:pt x="1642214" y="2005528"/>
                </a:lnTo>
                <a:lnTo>
                  <a:pt x="1639371" y="2008371"/>
                </a:lnTo>
                <a:lnTo>
                  <a:pt x="1639371" y="2015384"/>
                </a:lnTo>
                <a:lnTo>
                  <a:pt x="1642214" y="2018228"/>
                </a:lnTo>
                <a:lnTo>
                  <a:pt x="1687328" y="2018228"/>
                </a:lnTo>
                <a:lnTo>
                  <a:pt x="1690171" y="2015384"/>
                </a:lnTo>
                <a:lnTo>
                  <a:pt x="1690171" y="2008371"/>
                </a:lnTo>
                <a:lnTo>
                  <a:pt x="1687328" y="2005528"/>
                </a:lnTo>
                <a:close/>
              </a:path>
              <a:path w="1803400" h="2050414">
                <a:moveTo>
                  <a:pt x="1726888" y="1973778"/>
                </a:moveTo>
                <a:lnTo>
                  <a:pt x="1726888" y="2049978"/>
                </a:lnTo>
                <a:lnTo>
                  <a:pt x="1790388" y="2018228"/>
                </a:lnTo>
                <a:lnTo>
                  <a:pt x="1731114" y="2018228"/>
                </a:lnTo>
                <a:lnTo>
                  <a:pt x="1728271" y="2015384"/>
                </a:lnTo>
                <a:lnTo>
                  <a:pt x="1728271" y="2008371"/>
                </a:lnTo>
                <a:lnTo>
                  <a:pt x="1731114" y="2005528"/>
                </a:lnTo>
                <a:lnTo>
                  <a:pt x="1790388" y="2005528"/>
                </a:lnTo>
                <a:lnTo>
                  <a:pt x="1726888" y="1973778"/>
                </a:lnTo>
                <a:close/>
              </a:path>
              <a:path w="1803400" h="2050414">
                <a:moveTo>
                  <a:pt x="1743095" y="2005528"/>
                </a:moveTo>
                <a:lnTo>
                  <a:pt x="1731114" y="2005528"/>
                </a:lnTo>
                <a:lnTo>
                  <a:pt x="1728271" y="2008371"/>
                </a:lnTo>
                <a:lnTo>
                  <a:pt x="1728271" y="2015384"/>
                </a:lnTo>
                <a:lnTo>
                  <a:pt x="1731114" y="2018228"/>
                </a:lnTo>
                <a:lnTo>
                  <a:pt x="1743095" y="2018228"/>
                </a:lnTo>
                <a:lnTo>
                  <a:pt x="1745938" y="2015384"/>
                </a:lnTo>
                <a:lnTo>
                  <a:pt x="1745938" y="2008371"/>
                </a:lnTo>
                <a:lnTo>
                  <a:pt x="1743095" y="2005528"/>
                </a:lnTo>
                <a:close/>
              </a:path>
              <a:path w="1803400" h="2050414">
                <a:moveTo>
                  <a:pt x="1790388" y="2005528"/>
                </a:moveTo>
                <a:lnTo>
                  <a:pt x="1743095" y="2005528"/>
                </a:lnTo>
                <a:lnTo>
                  <a:pt x="1745938" y="2008371"/>
                </a:lnTo>
                <a:lnTo>
                  <a:pt x="1745938" y="2015384"/>
                </a:lnTo>
                <a:lnTo>
                  <a:pt x="1743095" y="2018228"/>
                </a:lnTo>
                <a:lnTo>
                  <a:pt x="1790388" y="2018228"/>
                </a:lnTo>
                <a:lnTo>
                  <a:pt x="1803088" y="2011878"/>
                </a:lnTo>
                <a:lnTo>
                  <a:pt x="1790388" y="2005528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934666" y="3590465"/>
            <a:ext cx="1059180" cy="762000"/>
          </a:xfrm>
          <a:prstGeom prst="rect">
            <a:avLst/>
          </a:prstGeom>
          <a:solidFill>
            <a:srgbClr val="F0AD00"/>
          </a:solidFill>
          <a:ln w="48000">
            <a:solidFill>
              <a:srgbClr val="B07E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2620"/>
              </a:lnSpc>
            </a:pP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400">
              <a:latin typeface="Corbel"/>
              <a:cs typeface="Corbel"/>
            </a:endParaRPr>
          </a:p>
          <a:p>
            <a:pPr algn="ctr">
              <a:lnSpc>
                <a:spcPct val="100000"/>
              </a:lnSpc>
            </a:pP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cell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50680" y="4763515"/>
            <a:ext cx="1244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100">
                <a:latin typeface="Cambria Math"/>
                <a:cs typeface="Cambria Math"/>
              </a:rPr>
              <a:t>𝑥</a:t>
            </a:r>
            <a:r>
              <a:rPr dirty="0" baseline="-15432" sz="2700" spc="150">
                <a:latin typeface="Cambria Math"/>
                <a:cs typeface="Cambria Math"/>
              </a:rPr>
              <a:t>(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8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𝑆𝑂𝑆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60825" y="4456489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154974" y="103315"/>
                </a:moveTo>
                <a:lnTo>
                  <a:pt x="51658" y="103315"/>
                </a:lnTo>
                <a:lnTo>
                  <a:pt x="51658" y="322301"/>
                </a:lnTo>
                <a:lnTo>
                  <a:pt x="154974" y="322301"/>
                </a:lnTo>
                <a:lnTo>
                  <a:pt x="154974" y="103315"/>
                </a:lnTo>
                <a:close/>
              </a:path>
              <a:path w="207010" h="322579">
                <a:moveTo>
                  <a:pt x="103315" y="0"/>
                </a:moveTo>
                <a:lnTo>
                  <a:pt x="0" y="103315"/>
                </a:lnTo>
                <a:lnTo>
                  <a:pt x="206632" y="103315"/>
                </a:lnTo>
                <a:lnTo>
                  <a:pt x="10331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360825" y="4456489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51658" y="322302"/>
                </a:moveTo>
                <a:lnTo>
                  <a:pt x="51658" y="103316"/>
                </a:lnTo>
                <a:lnTo>
                  <a:pt x="0" y="103316"/>
                </a:lnTo>
                <a:lnTo>
                  <a:pt x="103316" y="0"/>
                </a:lnTo>
                <a:lnTo>
                  <a:pt x="206633" y="103316"/>
                </a:lnTo>
                <a:lnTo>
                  <a:pt x="154974" y="103316"/>
                </a:lnTo>
                <a:lnTo>
                  <a:pt x="154974" y="322302"/>
                </a:lnTo>
                <a:lnTo>
                  <a:pt x="51658" y="322302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26457" y="3914314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80" h="207010">
                <a:moveTo>
                  <a:pt x="218984" y="0"/>
                </a:moveTo>
                <a:lnTo>
                  <a:pt x="218984" y="51658"/>
                </a:lnTo>
                <a:lnTo>
                  <a:pt x="0" y="51658"/>
                </a:lnTo>
                <a:lnTo>
                  <a:pt x="0" y="154974"/>
                </a:lnTo>
                <a:lnTo>
                  <a:pt x="218984" y="154974"/>
                </a:lnTo>
                <a:lnTo>
                  <a:pt x="218984" y="206632"/>
                </a:lnTo>
                <a:lnTo>
                  <a:pt x="322301" y="103317"/>
                </a:lnTo>
                <a:lnTo>
                  <a:pt x="218984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526457" y="3914314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80" h="207010">
                <a:moveTo>
                  <a:pt x="0" y="51658"/>
                </a:moveTo>
                <a:lnTo>
                  <a:pt x="218985" y="51658"/>
                </a:lnTo>
                <a:lnTo>
                  <a:pt x="218985" y="0"/>
                </a:lnTo>
                <a:lnTo>
                  <a:pt x="322302" y="103316"/>
                </a:lnTo>
                <a:lnTo>
                  <a:pt x="218985" y="206633"/>
                </a:lnTo>
                <a:lnTo>
                  <a:pt x="218985" y="154974"/>
                </a:lnTo>
                <a:lnTo>
                  <a:pt x="0" y="154974"/>
                </a:lnTo>
                <a:lnTo>
                  <a:pt x="0" y="51658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79526" y="3914312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79" h="207010">
                <a:moveTo>
                  <a:pt x="218986" y="0"/>
                </a:moveTo>
                <a:lnTo>
                  <a:pt x="218986" y="51658"/>
                </a:lnTo>
                <a:lnTo>
                  <a:pt x="0" y="51658"/>
                </a:lnTo>
                <a:lnTo>
                  <a:pt x="0" y="154974"/>
                </a:lnTo>
                <a:lnTo>
                  <a:pt x="218986" y="154974"/>
                </a:lnTo>
                <a:lnTo>
                  <a:pt x="218986" y="206632"/>
                </a:lnTo>
                <a:lnTo>
                  <a:pt x="322301" y="103317"/>
                </a:lnTo>
                <a:lnTo>
                  <a:pt x="218986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9526" y="3914312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79" h="207010">
                <a:moveTo>
                  <a:pt x="0" y="51658"/>
                </a:moveTo>
                <a:lnTo>
                  <a:pt x="218985" y="51658"/>
                </a:lnTo>
                <a:lnTo>
                  <a:pt x="218985" y="0"/>
                </a:lnTo>
                <a:lnTo>
                  <a:pt x="322302" y="103316"/>
                </a:lnTo>
                <a:lnTo>
                  <a:pt x="218985" y="206633"/>
                </a:lnTo>
                <a:lnTo>
                  <a:pt x="218985" y="154974"/>
                </a:lnTo>
                <a:lnTo>
                  <a:pt x="0" y="154974"/>
                </a:lnTo>
                <a:lnTo>
                  <a:pt x="0" y="51658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360825" y="3181331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154974" y="103315"/>
                </a:moveTo>
                <a:lnTo>
                  <a:pt x="51658" y="103315"/>
                </a:lnTo>
                <a:lnTo>
                  <a:pt x="51658" y="322301"/>
                </a:lnTo>
                <a:lnTo>
                  <a:pt x="154974" y="322301"/>
                </a:lnTo>
                <a:lnTo>
                  <a:pt x="154974" y="103315"/>
                </a:lnTo>
                <a:close/>
              </a:path>
              <a:path w="207010" h="322579">
                <a:moveTo>
                  <a:pt x="103315" y="0"/>
                </a:moveTo>
                <a:lnTo>
                  <a:pt x="0" y="103315"/>
                </a:lnTo>
                <a:lnTo>
                  <a:pt x="206632" y="103315"/>
                </a:lnTo>
                <a:lnTo>
                  <a:pt x="10331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360825" y="3181330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51658" y="322302"/>
                </a:moveTo>
                <a:lnTo>
                  <a:pt x="51658" y="103316"/>
                </a:lnTo>
                <a:lnTo>
                  <a:pt x="0" y="103316"/>
                </a:lnTo>
                <a:lnTo>
                  <a:pt x="103316" y="0"/>
                </a:lnTo>
                <a:lnTo>
                  <a:pt x="206633" y="103316"/>
                </a:lnTo>
                <a:lnTo>
                  <a:pt x="154974" y="103316"/>
                </a:lnTo>
                <a:lnTo>
                  <a:pt x="154974" y="322302"/>
                </a:lnTo>
                <a:lnTo>
                  <a:pt x="51658" y="322302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530867" y="3760723"/>
            <a:ext cx="2844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14">
                <a:latin typeface="Cambria Math"/>
                <a:cs typeface="Cambria Math"/>
              </a:rPr>
              <a:t>𝑠</a:t>
            </a:r>
            <a:r>
              <a:rPr dirty="0" baseline="-15432" sz="2700" spc="427">
                <a:latin typeface="Cambria Math"/>
                <a:cs typeface="Cambria Math"/>
              </a:rPr>
              <a:t>(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44699" y="3590465"/>
            <a:ext cx="1059180" cy="762000"/>
          </a:xfrm>
          <a:prstGeom prst="rect">
            <a:avLst/>
          </a:prstGeom>
          <a:solidFill>
            <a:srgbClr val="F0AD00"/>
          </a:solidFill>
          <a:ln w="48000">
            <a:solidFill>
              <a:srgbClr val="B07E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2620"/>
              </a:lnSpc>
            </a:pP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400">
              <a:latin typeface="Corbel"/>
              <a:cs typeface="Corbel"/>
            </a:endParaRPr>
          </a:p>
          <a:p>
            <a:pPr algn="ctr">
              <a:lnSpc>
                <a:spcPct val="100000"/>
              </a:lnSpc>
            </a:pP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cell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770858" y="4456489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154975" y="103315"/>
                </a:moveTo>
                <a:lnTo>
                  <a:pt x="51658" y="103315"/>
                </a:lnTo>
                <a:lnTo>
                  <a:pt x="51658" y="322301"/>
                </a:lnTo>
                <a:lnTo>
                  <a:pt x="154975" y="322301"/>
                </a:lnTo>
                <a:lnTo>
                  <a:pt x="154975" y="103315"/>
                </a:lnTo>
                <a:close/>
              </a:path>
              <a:path w="207010" h="322579">
                <a:moveTo>
                  <a:pt x="103317" y="0"/>
                </a:moveTo>
                <a:lnTo>
                  <a:pt x="0" y="103315"/>
                </a:lnTo>
                <a:lnTo>
                  <a:pt x="206634" y="103315"/>
                </a:lnTo>
                <a:lnTo>
                  <a:pt x="103317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770858" y="4456489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51658" y="322302"/>
                </a:moveTo>
                <a:lnTo>
                  <a:pt x="51658" y="103316"/>
                </a:lnTo>
                <a:lnTo>
                  <a:pt x="0" y="103316"/>
                </a:lnTo>
                <a:lnTo>
                  <a:pt x="103316" y="0"/>
                </a:lnTo>
                <a:lnTo>
                  <a:pt x="206633" y="103316"/>
                </a:lnTo>
                <a:lnTo>
                  <a:pt x="154974" y="103316"/>
                </a:lnTo>
                <a:lnTo>
                  <a:pt x="154974" y="322302"/>
                </a:lnTo>
                <a:lnTo>
                  <a:pt x="51658" y="322302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936489" y="3914314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79" h="207010">
                <a:moveTo>
                  <a:pt x="218986" y="0"/>
                </a:moveTo>
                <a:lnTo>
                  <a:pt x="218986" y="51658"/>
                </a:lnTo>
                <a:lnTo>
                  <a:pt x="0" y="51658"/>
                </a:lnTo>
                <a:lnTo>
                  <a:pt x="0" y="154974"/>
                </a:lnTo>
                <a:lnTo>
                  <a:pt x="218986" y="154974"/>
                </a:lnTo>
                <a:lnTo>
                  <a:pt x="218986" y="206632"/>
                </a:lnTo>
                <a:lnTo>
                  <a:pt x="322303" y="103317"/>
                </a:lnTo>
                <a:lnTo>
                  <a:pt x="218986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936489" y="3914314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79" h="207010">
                <a:moveTo>
                  <a:pt x="0" y="51658"/>
                </a:moveTo>
                <a:lnTo>
                  <a:pt x="218985" y="51658"/>
                </a:lnTo>
                <a:lnTo>
                  <a:pt x="218985" y="0"/>
                </a:lnTo>
                <a:lnTo>
                  <a:pt x="322302" y="103316"/>
                </a:lnTo>
                <a:lnTo>
                  <a:pt x="218985" y="206633"/>
                </a:lnTo>
                <a:lnTo>
                  <a:pt x="218985" y="154974"/>
                </a:lnTo>
                <a:lnTo>
                  <a:pt x="0" y="154974"/>
                </a:lnTo>
                <a:lnTo>
                  <a:pt x="0" y="51658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489559" y="3914312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79" h="207010">
                <a:moveTo>
                  <a:pt x="218986" y="0"/>
                </a:moveTo>
                <a:lnTo>
                  <a:pt x="218986" y="51658"/>
                </a:lnTo>
                <a:lnTo>
                  <a:pt x="0" y="51658"/>
                </a:lnTo>
                <a:lnTo>
                  <a:pt x="0" y="154974"/>
                </a:lnTo>
                <a:lnTo>
                  <a:pt x="218986" y="154974"/>
                </a:lnTo>
                <a:lnTo>
                  <a:pt x="218986" y="206632"/>
                </a:lnTo>
                <a:lnTo>
                  <a:pt x="322301" y="103317"/>
                </a:lnTo>
                <a:lnTo>
                  <a:pt x="218986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489559" y="3914312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79" h="207010">
                <a:moveTo>
                  <a:pt x="0" y="51658"/>
                </a:moveTo>
                <a:lnTo>
                  <a:pt x="218985" y="51658"/>
                </a:lnTo>
                <a:lnTo>
                  <a:pt x="218985" y="0"/>
                </a:lnTo>
                <a:lnTo>
                  <a:pt x="322302" y="103316"/>
                </a:lnTo>
                <a:lnTo>
                  <a:pt x="218985" y="206633"/>
                </a:lnTo>
                <a:lnTo>
                  <a:pt x="218985" y="154974"/>
                </a:lnTo>
                <a:lnTo>
                  <a:pt x="0" y="154974"/>
                </a:lnTo>
                <a:lnTo>
                  <a:pt x="0" y="51658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770858" y="3181331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154975" y="103315"/>
                </a:moveTo>
                <a:lnTo>
                  <a:pt x="51658" y="103315"/>
                </a:lnTo>
                <a:lnTo>
                  <a:pt x="51658" y="322301"/>
                </a:lnTo>
                <a:lnTo>
                  <a:pt x="154975" y="322301"/>
                </a:lnTo>
                <a:lnTo>
                  <a:pt x="154975" y="103315"/>
                </a:lnTo>
                <a:close/>
              </a:path>
              <a:path w="207010" h="322579">
                <a:moveTo>
                  <a:pt x="103317" y="0"/>
                </a:moveTo>
                <a:lnTo>
                  <a:pt x="0" y="103315"/>
                </a:lnTo>
                <a:lnTo>
                  <a:pt x="206634" y="103315"/>
                </a:lnTo>
                <a:lnTo>
                  <a:pt x="103317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770858" y="3181330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51658" y="322302"/>
                </a:moveTo>
                <a:lnTo>
                  <a:pt x="51658" y="103316"/>
                </a:lnTo>
                <a:lnTo>
                  <a:pt x="0" y="103316"/>
                </a:lnTo>
                <a:lnTo>
                  <a:pt x="103316" y="0"/>
                </a:lnTo>
                <a:lnTo>
                  <a:pt x="206633" y="103316"/>
                </a:lnTo>
                <a:lnTo>
                  <a:pt x="154974" y="103316"/>
                </a:lnTo>
                <a:lnTo>
                  <a:pt x="154974" y="322302"/>
                </a:lnTo>
                <a:lnTo>
                  <a:pt x="51658" y="322302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5950870" y="3760723"/>
            <a:ext cx="2921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5">
                <a:latin typeface="Cambria Math"/>
                <a:cs typeface="Cambria Math"/>
              </a:rPr>
              <a:t>𝑠</a:t>
            </a:r>
            <a:r>
              <a:rPr dirty="0" baseline="-15432" sz="2700" spc="997">
                <a:latin typeface="Cambria Math"/>
                <a:cs typeface="Cambria Math"/>
              </a:rPr>
              <a:t>,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760146" y="3590465"/>
            <a:ext cx="1059180" cy="762000"/>
          </a:xfrm>
          <a:prstGeom prst="rect">
            <a:avLst/>
          </a:prstGeom>
          <a:solidFill>
            <a:srgbClr val="F0AD00"/>
          </a:solidFill>
          <a:ln w="48000">
            <a:solidFill>
              <a:srgbClr val="B07E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2620"/>
              </a:lnSpc>
            </a:pP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400">
              <a:latin typeface="Corbel"/>
              <a:cs typeface="Corbel"/>
            </a:endParaRPr>
          </a:p>
          <a:p>
            <a:pPr algn="ctr">
              <a:lnSpc>
                <a:spcPct val="100000"/>
              </a:lnSpc>
            </a:pP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cell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186306" y="4456489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09" h="322579">
                <a:moveTo>
                  <a:pt x="154974" y="103315"/>
                </a:moveTo>
                <a:lnTo>
                  <a:pt x="51658" y="103315"/>
                </a:lnTo>
                <a:lnTo>
                  <a:pt x="51658" y="322301"/>
                </a:lnTo>
                <a:lnTo>
                  <a:pt x="154974" y="322301"/>
                </a:lnTo>
                <a:lnTo>
                  <a:pt x="154974" y="103315"/>
                </a:lnTo>
                <a:close/>
              </a:path>
              <a:path w="207009" h="322579">
                <a:moveTo>
                  <a:pt x="103317" y="0"/>
                </a:moveTo>
                <a:lnTo>
                  <a:pt x="0" y="103315"/>
                </a:lnTo>
                <a:lnTo>
                  <a:pt x="206632" y="103315"/>
                </a:lnTo>
                <a:lnTo>
                  <a:pt x="103317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186306" y="4456489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09" h="322579">
                <a:moveTo>
                  <a:pt x="51658" y="322302"/>
                </a:moveTo>
                <a:lnTo>
                  <a:pt x="51658" y="103316"/>
                </a:lnTo>
                <a:lnTo>
                  <a:pt x="0" y="103316"/>
                </a:lnTo>
                <a:lnTo>
                  <a:pt x="103316" y="0"/>
                </a:lnTo>
                <a:lnTo>
                  <a:pt x="206633" y="103316"/>
                </a:lnTo>
                <a:lnTo>
                  <a:pt x="154974" y="103316"/>
                </a:lnTo>
                <a:lnTo>
                  <a:pt x="154974" y="322302"/>
                </a:lnTo>
                <a:lnTo>
                  <a:pt x="51658" y="322302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351937" y="3914314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79" h="207010">
                <a:moveTo>
                  <a:pt x="218986" y="0"/>
                </a:moveTo>
                <a:lnTo>
                  <a:pt x="218986" y="51658"/>
                </a:lnTo>
                <a:lnTo>
                  <a:pt x="0" y="51658"/>
                </a:lnTo>
                <a:lnTo>
                  <a:pt x="0" y="154974"/>
                </a:lnTo>
                <a:lnTo>
                  <a:pt x="218986" y="154974"/>
                </a:lnTo>
                <a:lnTo>
                  <a:pt x="218986" y="206632"/>
                </a:lnTo>
                <a:lnTo>
                  <a:pt x="322301" y="103317"/>
                </a:lnTo>
                <a:lnTo>
                  <a:pt x="218986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351937" y="3914314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79" h="207010">
                <a:moveTo>
                  <a:pt x="0" y="51658"/>
                </a:moveTo>
                <a:lnTo>
                  <a:pt x="218985" y="51658"/>
                </a:lnTo>
                <a:lnTo>
                  <a:pt x="218985" y="0"/>
                </a:lnTo>
                <a:lnTo>
                  <a:pt x="322302" y="103316"/>
                </a:lnTo>
                <a:lnTo>
                  <a:pt x="218985" y="206633"/>
                </a:lnTo>
                <a:lnTo>
                  <a:pt x="218985" y="154974"/>
                </a:lnTo>
                <a:lnTo>
                  <a:pt x="0" y="154974"/>
                </a:lnTo>
                <a:lnTo>
                  <a:pt x="0" y="51658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905008" y="3914312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79" h="207010">
                <a:moveTo>
                  <a:pt x="218984" y="0"/>
                </a:moveTo>
                <a:lnTo>
                  <a:pt x="218984" y="51658"/>
                </a:lnTo>
                <a:lnTo>
                  <a:pt x="0" y="51658"/>
                </a:lnTo>
                <a:lnTo>
                  <a:pt x="0" y="154974"/>
                </a:lnTo>
                <a:lnTo>
                  <a:pt x="218984" y="154974"/>
                </a:lnTo>
                <a:lnTo>
                  <a:pt x="218984" y="206632"/>
                </a:lnTo>
                <a:lnTo>
                  <a:pt x="322301" y="103317"/>
                </a:lnTo>
                <a:lnTo>
                  <a:pt x="218984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905008" y="3914312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79" h="207010">
                <a:moveTo>
                  <a:pt x="0" y="51658"/>
                </a:moveTo>
                <a:lnTo>
                  <a:pt x="218985" y="51658"/>
                </a:lnTo>
                <a:lnTo>
                  <a:pt x="218985" y="0"/>
                </a:lnTo>
                <a:lnTo>
                  <a:pt x="322302" y="103316"/>
                </a:lnTo>
                <a:lnTo>
                  <a:pt x="218985" y="206633"/>
                </a:lnTo>
                <a:lnTo>
                  <a:pt x="218985" y="154974"/>
                </a:lnTo>
                <a:lnTo>
                  <a:pt x="0" y="154974"/>
                </a:lnTo>
                <a:lnTo>
                  <a:pt x="0" y="51658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186306" y="3181331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09" h="322579">
                <a:moveTo>
                  <a:pt x="154974" y="103315"/>
                </a:moveTo>
                <a:lnTo>
                  <a:pt x="51658" y="103315"/>
                </a:lnTo>
                <a:lnTo>
                  <a:pt x="51658" y="322301"/>
                </a:lnTo>
                <a:lnTo>
                  <a:pt x="154974" y="322301"/>
                </a:lnTo>
                <a:lnTo>
                  <a:pt x="154974" y="103315"/>
                </a:lnTo>
                <a:close/>
              </a:path>
              <a:path w="207009" h="322579">
                <a:moveTo>
                  <a:pt x="103317" y="0"/>
                </a:moveTo>
                <a:lnTo>
                  <a:pt x="0" y="103315"/>
                </a:lnTo>
                <a:lnTo>
                  <a:pt x="206632" y="103315"/>
                </a:lnTo>
                <a:lnTo>
                  <a:pt x="103317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186306" y="3181330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09" h="322579">
                <a:moveTo>
                  <a:pt x="51658" y="322302"/>
                </a:moveTo>
                <a:lnTo>
                  <a:pt x="51658" y="103316"/>
                </a:lnTo>
                <a:lnTo>
                  <a:pt x="0" y="103316"/>
                </a:lnTo>
                <a:lnTo>
                  <a:pt x="103316" y="0"/>
                </a:lnTo>
                <a:lnTo>
                  <a:pt x="206633" y="103316"/>
                </a:lnTo>
                <a:lnTo>
                  <a:pt x="154974" y="103316"/>
                </a:lnTo>
                <a:lnTo>
                  <a:pt x="154974" y="322302"/>
                </a:lnTo>
                <a:lnTo>
                  <a:pt x="51658" y="322302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8366318" y="3702811"/>
            <a:ext cx="6642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10416" sz="3600" spc="277">
                <a:latin typeface="Cambria Math"/>
                <a:cs typeface="Cambria Math"/>
              </a:rPr>
              <a:t>𝑠</a:t>
            </a:r>
            <a:r>
              <a:rPr dirty="0" baseline="-29320" sz="2700" spc="277">
                <a:latin typeface="Cambria Math"/>
                <a:cs typeface="Cambria Math"/>
              </a:rPr>
              <a:t>-</a:t>
            </a:r>
            <a:r>
              <a:rPr dirty="0" baseline="-29320" sz="2700" spc="52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…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754778" y="2810489"/>
            <a:ext cx="478155" cy="3708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6670" rIns="0" bIns="0" rtlCol="0" vert="horz">
            <a:spAutoFit/>
          </a:bodyPr>
          <a:lstStyle/>
          <a:p>
            <a:pPr marL="84455">
              <a:lnSpc>
                <a:spcPct val="100000"/>
              </a:lnSpc>
              <a:spcBef>
                <a:spcPts val="210"/>
              </a:spcBef>
            </a:pPr>
            <a:r>
              <a:rPr dirty="0" sz="1800" spc="-5">
                <a:latin typeface="Calibri"/>
                <a:cs typeface="Calibri"/>
              </a:rPr>
              <a:t>0.9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4043" y="3760723"/>
            <a:ext cx="12268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Cambria Math"/>
                <a:cs typeface="Cambria Math"/>
              </a:rPr>
              <a:t>𝑠</a:t>
            </a:r>
            <a:r>
              <a:rPr dirty="0" baseline="-15432" sz="2700" spc="-15">
                <a:latin typeface="Cambria Math"/>
                <a:cs typeface="Cambria Math"/>
              </a:rPr>
              <a:t>1 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-18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𝑆𝑂𝑆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757983" y="5123366"/>
            <a:ext cx="85725" cy="243204"/>
          </a:xfrm>
          <a:custGeom>
            <a:avLst/>
            <a:gdLst/>
            <a:ahLst/>
            <a:cxnLst/>
            <a:rect l="l" t="t" r="r" b="b"/>
            <a:pathLst>
              <a:path w="85725" h="243204">
                <a:moveTo>
                  <a:pt x="28575" y="157162"/>
                </a:moveTo>
                <a:lnTo>
                  <a:pt x="0" y="157162"/>
                </a:lnTo>
                <a:lnTo>
                  <a:pt x="42862" y="242887"/>
                </a:lnTo>
                <a:lnTo>
                  <a:pt x="71437" y="185737"/>
                </a:lnTo>
                <a:lnTo>
                  <a:pt x="34971" y="185737"/>
                </a:lnTo>
                <a:lnTo>
                  <a:pt x="28575" y="179340"/>
                </a:lnTo>
                <a:lnTo>
                  <a:pt x="28575" y="157162"/>
                </a:lnTo>
                <a:close/>
              </a:path>
              <a:path w="85725" h="243204">
                <a:moveTo>
                  <a:pt x="50753" y="0"/>
                </a:moveTo>
                <a:lnTo>
                  <a:pt x="34970" y="0"/>
                </a:lnTo>
                <a:lnTo>
                  <a:pt x="28575" y="6396"/>
                </a:lnTo>
                <a:lnTo>
                  <a:pt x="28575" y="179340"/>
                </a:lnTo>
                <a:lnTo>
                  <a:pt x="34971" y="185737"/>
                </a:lnTo>
                <a:lnTo>
                  <a:pt x="50753" y="185737"/>
                </a:lnTo>
                <a:lnTo>
                  <a:pt x="57150" y="179340"/>
                </a:lnTo>
                <a:lnTo>
                  <a:pt x="57150" y="6396"/>
                </a:lnTo>
                <a:lnTo>
                  <a:pt x="50753" y="0"/>
                </a:lnTo>
                <a:close/>
              </a:path>
              <a:path w="85725" h="243204">
                <a:moveTo>
                  <a:pt x="85725" y="157162"/>
                </a:moveTo>
                <a:lnTo>
                  <a:pt x="57150" y="157162"/>
                </a:lnTo>
                <a:lnTo>
                  <a:pt x="57150" y="179340"/>
                </a:lnTo>
                <a:lnTo>
                  <a:pt x="50753" y="185737"/>
                </a:lnTo>
                <a:lnTo>
                  <a:pt x="71437" y="185737"/>
                </a:lnTo>
                <a:lnTo>
                  <a:pt x="85725" y="157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5029200" y="4816017"/>
            <a:ext cx="478155" cy="3708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6670" rIns="0" bIns="0" rtlCol="0" vert="horz">
            <a:spAutoFit/>
          </a:bodyPr>
          <a:lstStyle/>
          <a:p>
            <a:pPr marL="84455">
              <a:lnSpc>
                <a:spcPct val="100000"/>
              </a:lnSpc>
              <a:spcBef>
                <a:spcPts val="210"/>
              </a:spcBef>
            </a:pPr>
            <a:r>
              <a:rPr dirty="0" sz="1800" spc="-5">
                <a:latin typeface="Calibri"/>
                <a:cs typeface="Calibri"/>
              </a:rPr>
              <a:t>0.9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029200" y="2805907"/>
            <a:ext cx="478155" cy="3708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5400" rIns="0" bIns="0" rtlCol="0" vert="horz">
            <a:spAutoFit/>
          </a:bodyPr>
          <a:lstStyle/>
          <a:p>
            <a:pPr marL="84455">
              <a:lnSpc>
                <a:spcPct val="100000"/>
              </a:lnSpc>
              <a:spcBef>
                <a:spcPts val="200"/>
              </a:spcBef>
            </a:pPr>
            <a:r>
              <a:rPr dirty="0" sz="1800" spc="-5">
                <a:latin typeface="Calibri"/>
                <a:cs typeface="Calibri"/>
              </a:rPr>
              <a:t>0.4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444149" y="2814003"/>
            <a:ext cx="478155" cy="3708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6034" rIns="0" bIns="0" rtlCol="0" vert="horz">
            <a:spAutoFit/>
          </a:bodyPr>
          <a:lstStyle/>
          <a:p>
            <a:pPr marL="84455">
              <a:lnSpc>
                <a:spcPct val="100000"/>
              </a:lnSpc>
              <a:spcBef>
                <a:spcPts val="204"/>
              </a:spcBef>
            </a:pPr>
            <a:r>
              <a:rPr dirty="0" sz="1800" spc="-5">
                <a:latin typeface="Calibri"/>
                <a:cs typeface="Calibri"/>
              </a:rPr>
              <a:t>0.7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984383" y="2776220"/>
            <a:ext cx="53289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86635" algn="l"/>
                <a:tab pos="4701540" algn="l"/>
              </a:tabLst>
            </a:pPr>
            <a:r>
              <a:rPr dirty="0" sz="2400" spc="75">
                <a:latin typeface="Cambria Math"/>
                <a:cs typeface="Cambria Math"/>
              </a:rPr>
              <a:t>𝑦</a:t>
            </a:r>
            <a:r>
              <a:rPr dirty="0" baseline="-15432" sz="2700" spc="112">
                <a:latin typeface="Cambria Math"/>
                <a:cs typeface="Cambria Math"/>
              </a:rPr>
              <a:t>(</a:t>
            </a:r>
            <a:r>
              <a:rPr dirty="0" baseline="-15432" sz="2700" spc="22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	</a:t>
            </a:r>
            <a:r>
              <a:rPr dirty="0" baseline="1157" sz="3600" spc="434">
                <a:latin typeface="Cambria Math"/>
                <a:cs typeface="Cambria Math"/>
              </a:rPr>
              <a:t>𝑦</a:t>
            </a:r>
            <a:r>
              <a:rPr dirty="0" baseline="-13888" sz="2700" spc="434">
                <a:latin typeface="Cambria Math"/>
                <a:cs typeface="Cambria Math"/>
              </a:rPr>
              <a:t>,</a:t>
            </a:r>
            <a:r>
              <a:rPr dirty="0" baseline="-13888" sz="2700" spc="225">
                <a:latin typeface="Cambria Math"/>
                <a:cs typeface="Cambria Math"/>
              </a:rPr>
              <a:t> </a:t>
            </a:r>
            <a:r>
              <a:rPr dirty="0" baseline="1157" sz="3600">
                <a:latin typeface="Cambria Math"/>
                <a:cs typeface="Cambria Math"/>
              </a:rPr>
              <a:t>=	</a:t>
            </a:r>
            <a:r>
              <a:rPr dirty="0" sz="2400" spc="175">
                <a:latin typeface="Cambria Math"/>
                <a:cs typeface="Cambria Math"/>
              </a:rPr>
              <a:t>𝑦</a:t>
            </a:r>
            <a:r>
              <a:rPr dirty="0" baseline="-15432" sz="2700" spc="262">
                <a:latin typeface="Cambria Math"/>
                <a:cs typeface="Cambria Math"/>
              </a:rPr>
              <a:t>-</a:t>
            </a:r>
            <a:r>
              <a:rPr dirty="0" baseline="-15432" sz="2700" spc="7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319303" y="4632452"/>
            <a:ext cx="638175" cy="1019175"/>
          </a:xfrm>
          <a:prstGeom prst="rect">
            <a:avLst/>
          </a:prstGeom>
        </p:spPr>
        <p:txBody>
          <a:bodyPr wrap="square" lIns="0" tIns="143510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1130"/>
              </a:spcBef>
            </a:pPr>
            <a:r>
              <a:rPr dirty="0" sz="2400" spc="315">
                <a:latin typeface="Cambria Math"/>
                <a:cs typeface="Cambria Math"/>
              </a:rPr>
              <a:t>𝑥</a:t>
            </a:r>
            <a:r>
              <a:rPr dirty="0" baseline="-15432" sz="2700" spc="472">
                <a:latin typeface="Cambria Math"/>
                <a:cs typeface="Cambria Math"/>
              </a:rPr>
              <a:t>,</a:t>
            </a:r>
            <a:r>
              <a:rPr dirty="0" baseline="-15432" sz="2700" spc="-7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~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dirty="0" sz="2400" spc="315">
                <a:latin typeface="Cambria Math"/>
                <a:cs typeface="Cambria Math"/>
              </a:rPr>
              <a:t>𝑥</a:t>
            </a:r>
            <a:r>
              <a:rPr dirty="0" baseline="-15432" sz="2700" spc="472">
                <a:latin typeface="Cambria Math"/>
                <a:cs typeface="Cambria Math"/>
              </a:rPr>
              <a:t>,</a:t>
            </a:r>
            <a:r>
              <a:rPr dirty="0" baseline="-15432" sz="2700" spc="7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7187782" y="5132566"/>
            <a:ext cx="85725" cy="243204"/>
          </a:xfrm>
          <a:custGeom>
            <a:avLst/>
            <a:gdLst/>
            <a:ahLst/>
            <a:cxnLst/>
            <a:rect l="l" t="t" r="r" b="b"/>
            <a:pathLst>
              <a:path w="85725" h="243204">
                <a:moveTo>
                  <a:pt x="28574" y="157162"/>
                </a:moveTo>
                <a:lnTo>
                  <a:pt x="0" y="157162"/>
                </a:lnTo>
                <a:lnTo>
                  <a:pt x="42862" y="242887"/>
                </a:lnTo>
                <a:lnTo>
                  <a:pt x="71437" y="185737"/>
                </a:lnTo>
                <a:lnTo>
                  <a:pt x="34971" y="185737"/>
                </a:lnTo>
                <a:lnTo>
                  <a:pt x="28575" y="179340"/>
                </a:lnTo>
                <a:lnTo>
                  <a:pt x="28574" y="157162"/>
                </a:lnTo>
                <a:close/>
              </a:path>
              <a:path w="85725" h="243204">
                <a:moveTo>
                  <a:pt x="50753" y="0"/>
                </a:moveTo>
                <a:lnTo>
                  <a:pt x="34970" y="0"/>
                </a:lnTo>
                <a:lnTo>
                  <a:pt x="28575" y="6395"/>
                </a:lnTo>
                <a:lnTo>
                  <a:pt x="28575" y="179340"/>
                </a:lnTo>
                <a:lnTo>
                  <a:pt x="34971" y="185737"/>
                </a:lnTo>
                <a:lnTo>
                  <a:pt x="50753" y="185737"/>
                </a:lnTo>
                <a:lnTo>
                  <a:pt x="57150" y="179340"/>
                </a:lnTo>
                <a:lnTo>
                  <a:pt x="57148" y="6395"/>
                </a:lnTo>
                <a:lnTo>
                  <a:pt x="50753" y="0"/>
                </a:lnTo>
                <a:close/>
              </a:path>
              <a:path w="85725" h="243204">
                <a:moveTo>
                  <a:pt x="85725" y="157162"/>
                </a:moveTo>
                <a:lnTo>
                  <a:pt x="57149" y="157162"/>
                </a:lnTo>
                <a:lnTo>
                  <a:pt x="57150" y="179340"/>
                </a:lnTo>
                <a:lnTo>
                  <a:pt x="50753" y="185737"/>
                </a:lnTo>
                <a:lnTo>
                  <a:pt x="71437" y="185737"/>
                </a:lnTo>
                <a:lnTo>
                  <a:pt x="85725" y="157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7458996" y="4825217"/>
            <a:ext cx="478155" cy="3708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6670" rIns="0" bIns="0" rtlCol="0" vert="horz">
            <a:spAutoFit/>
          </a:bodyPr>
          <a:lstStyle/>
          <a:p>
            <a:pPr marL="84455">
              <a:lnSpc>
                <a:spcPct val="100000"/>
              </a:lnSpc>
              <a:spcBef>
                <a:spcPts val="210"/>
              </a:spcBef>
            </a:pPr>
            <a:r>
              <a:rPr dirty="0" sz="1800" spc="-5">
                <a:latin typeface="Calibri"/>
                <a:cs typeface="Calibri"/>
              </a:rPr>
              <a:t>0.4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54" name="object 5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7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55" name="object 5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27</a:t>
            </a:fld>
          </a:p>
        </p:txBody>
      </p:sp>
      <p:sp>
        <p:nvSpPr>
          <p:cNvPr id="49" name="object 49"/>
          <p:cNvSpPr txBox="1"/>
          <p:nvPr/>
        </p:nvSpPr>
        <p:spPr>
          <a:xfrm>
            <a:off x="6749101" y="4638547"/>
            <a:ext cx="638175" cy="1025525"/>
          </a:xfrm>
          <a:prstGeom prst="rect">
            <a:avLst/>
          </a:prstGeom>
        </p:spPr>
        <p:txBody>
          <a:bodyPr wrap="square" lIns="0" tIns="146685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1155"/>
              </a:spcBef>
            </a:pPr>
            <a:r>
              <a:rPr dirty="0" sz="2400" spc="200">
                <a:latin typeface="Cambria Math"/>
                <a:cs typeface="Cambria Math"/>
              </a:rPr>
              <a:t>𝑥</a:t>
            </a:r>
            <a:r>
              <a:rPr dirty="0" baseline="-15432" sz="2700" spc="300">
                <a:latin typeface="Cambria Math"/>
                <a:cs typeface="Cambria Math"/>
              </a:rPr>
              <a:t>-</a:t>
            </a:r>
            <a:r>
              <a:rPr dirty="0" baseline="-15432" sz="2700" spc="-7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~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2400" spc="200">
                <a:latin typeface="Cambria Math"/>
                <a:cs typeface="Cambria Math"/>
              </a:rPr>
              <a:t>𝑥</a:t>
            </a:r>
            <a:r>
              <a:rPr dirty="0" baseline="-15432" sz="2700" spc="300">
                <a:latin typeface="Cambria Math"/>
                <a:cs typeface="Cambria Math"/>
              </a:rPr>
              <a:t>-</a:t>
            </a:r>
            <a:r>
              <a:rPr dirty="0" baseline="-15432" sz="2700" spc="7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209925" y="2088587"/>
            <a:ext cx="478155" cy="3962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54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dirty="0" sz="2000">
                <a:latin typeface="Cambria Math"/>
                <a:cs typeface="Cambria Math"/>
              </a:rPr>
              <a:t>𝑝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026264" y="5298566"/>
            <a:ext cx="478155" cy="3708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603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dirty="0" sz="180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458996" y="5298889"/>
            <a:ext cx="478155" cy="3708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54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dirty="0" sz="180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18464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48347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815"/>
              </a:lnSpc>
              <a:spcBef>
                <a:spcPts val="100"/>
              </a:spcBef>
            </a:pPr>
            <a:r>
              <a:rPr dirty="0" sz="3200" spc="-35">
                <a:solidFill>
                  <a:srgbClr val="C00000"/>
                </a:solidFill>
              </a:rPr>
              <a:t>Training </a:t>
            </a:r>
            <a:r>
              <a:rPr dirty="0" sz="3200" spc="-5">
                <a:solidFill>
                  <a:srgbClr val="C00000"/>
                </a:solidFill>
              </a:rPr>
              <a:t>the</a:t>
            </a:r>
            <a:r>
              <a:rPr dirty="0" sz="3200" spc="-35">
                <a:solidFill>
                  <a:srgbClr val="C00000"/>
                </a:solidFill>
              </a:rPr>
              <a:t> </a:t>
            </a:r>
            <a:r>
              <a:rPr dirty="0" sz="3200" spc="-5">
                <a:solidFill>
                  <a:srgbClr val="C00000"/>
                </a:solidFill>
              </a:rPr>
              <a:t>model:</a:t>
            </a:r>
            <a:endParaRPr sz="3200"/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0" b="0">
                <a:latin typeface="Calibri"/>
                <a:cs typeface="Calibri"/>
              </a:rPr>
              <a:t>We </a:t>
            </a:r>
            <a:r>
              <a:rPr dirty="0" sz="3200" spc="-5" b="0">
                <a:latin typeface="Calibri"/>
                <a:cs typeface="Calibri"/>
              </a:rPr>
              <a:t>observe </a:t>
            </a:r>
            <a:r>
              <a:rPr dirty="0" sz="3200" b="0">
                <a:latin typeface="Calibri"/>
                <a:cs typeface="Calibri"/>
              </a:rPr>
              <a:t>a </a:t>
            </a:r>
            <a:r>
              <a:rPr dirty="0" sz="3200" spc="-5" b="0">
                <a:latin typeface="Calibri"/>
                <a:cs typeface="Calibri"/>
              </a:rPr>
              <a:t>sequence </a:t>
            </a:r>
            <a:r>
              <a:rPr dirty="0" sz="3200" spc="75" b="0">
                <a:solidFill>
                  <a:srgbClr val="0000FF"/>
                </a:solidFill>
                <a:latin typeface="Cambria Math"/>
                <a:cs typeface="Cambria Math"/>
              </a:rPr>
              <a:t>𝑦</a:t>
            </a:r>
            <a:r>
              <a:rPr dirty="0" baseline="28985" sz="3450" spc="112" b="0">
                <a:solidFill>
                  <a:srgbClr val="0000FF"/>
                </a:solidFill>
                <a:latin typeface="Cambria Math"/>
                <a:cs typeface="Cambria Math"/>
              </a:rPr>
              <a:t>∗ </a:t>
            </a:r>
            <a:r>
              <a:rPr dirty="0" sz="3200" spc="-5" b="0">
                <a:latin typeface="Calibri"/>
                <a:cs typeface="Calibri"/>
              </a:rPr>
              <a:t>of </a:t>
            </a:r>
            <a:r>
              <a:rPr dirty="0" sz="3200" spc="-10" b="0">
                <a:latin typeface="Calibri"/>
                <a:cs typeface="Calibri"/>
              </a:rPr>
              <a:t>edges</a:t>
            </a:r>
            <a:r>
              <a:rPr dirty="0" sz="3200" spc="75" b="0">
                <a:latin typeface="Calibri"/>
                <a:cs typeface="Calibri"/>
              </a:rPr>
              <a:t> </a:t>
            </a:r>
            <a:r>
              <a:rPr dirty="0" sz="3200" b="0">
                <a:latin typeface="Calibri"/>
                <a:cs typeface="Calibri"/>
              </a:rPr>
              <a:t>[1,0,…]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327148"/>
            <a:ext cx="7324725" cy="995044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Principle</a:t>
            </a:r>
            <a:r>
              <a:rPr dirty="0" sz="3200" spc="-5">
                <a:latin typeface="Calibri"/>
                <a:cs typeface="Calibri"/>
              </a:rPr>
              <a:t>: </a:t>
            </a:r>
            <a:r>
              <a:rPr dirty="0" sz="3200" spc="-45" b="1">
                <a:solidFill>
                  <a:srgbClr val="0000FF"/>
                </a:solidFill>
                <a:latin typeface="Calibri"/>
                <a:cs typeface="Calibri"/>
              </a:rPr>
              <a:t>Teacher 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Forcing </a:t>
            </a:r>
            <a:r>
              <a:rPr dirty="0" sz="3200" spc="-5">
                <a:solidFill>
                  <a:srgbClr val="0000FF"/>
                </a:solidFill>
                <a:latin typeface="Calibri"/>
                <a:cs typeface="Calibri"/>
              </a:rPr>
              <a:t>-- </a:t>
            </a:r>
            <a:r>
              <a:rPr dirty="0" sz="3200" spc="-15">
                <a:latin typeface="Calibri"/>
                <a:cs typeface="Calibri"/>
              </a:rPr>
              <a:t>Replace </a:t>
            </a:r>
            <a:r>
              <a:rPr dirty="0" sz="3200">
                <a:latin typeface="Calibri"/>
                <a:cs typeface="Calibri"/>
              </a:rPr>
              <a:t>input  and output </a:t>
            </a:r>
            <a:r>
              <a:rPr dirty="0" sz="3200" spc="-5">
                <a:latin typeface="Calibri"/>
                <a:cs typeface="Calibri"/>
              </a:rPr>
              <a:t>by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5">
                <a:latin typeface="Calibri"/>
                <a:cs typeface="Calibri"/>
              </a:rPr>
              <a:t>real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sequence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34666" y="4972987"/>
            <a:ext cx="1059180" cy="762000"/>
          </a:xfrm>
          <a:prstGeom prst="rect">
            <a:avLst/>
          </a:prstGeom>
          <a:solidFill>
            <a:srgbClr val="F0AD00"/>
          </a:solidFill>
          <a:ln w="48000">
            <a:solidFill>
              <a:srgbClr val="B07E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2605"/>
              </a:lnSpc>
            </a:pP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400">
              <a:latin typeface="Corbel"/>
              <a:cs typeface="Corbel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cell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50680" y="6186932"/>
            <a:ext cx="1244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100">
                <a:latin typeface="Cambria Math"/>
                <a:cs typeface="Cambria Math"/>
              </a:rPr>
              <a:t>𝑥</a:t>
            </a:r>
            <a:r>
              <a:rPr dirty="0" baseline="-15432" sz="2700" spc="150">
                <a:latin typeface="Cambria Math"/>
                <a:cs typeface="Cambria Math"/>
              </a:rPr>
              <a:t>(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8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𝑆𝑂𝑆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60825" y="5839011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154974" y="103316"/>
                </a:moveTo>
                <a:lnTo>
                  <a:pt x="51658" y="103316"/>
                </a:lnTo>
                <a:lnTo>
                  <a:pt x="51658" y="322301"/>
                </a:lnTo>
                <a:lnTo>
                  <a:pt x="154974" y="322301"/>
                </a:lnTo>
                <a:lnTo>
                  <a:pt x="154974" y="103316"/>
                </a:lnTo>
                <a:close/>
              </a:path>
              <a:path w="207010" h="322579">
                <a:moveTo>
                  <a:pt x="103315" y="0"/>
                </a:moveTo>
                <a:lnTo>
                  <a:pt x="0" y="103316"/>
                </a:lnTo>
                <a:lnTo>
                  <a:pt x="206632" y="103316"/>
                </a:lnTo>
                <a:lnTo>
                  <a:pt x="10331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360825" y="5839011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51658" y="322302"/>
                </a:moveTo>
                <a:lnTo>
                  <a:pt x="51658" y="103316"/>
                </a:lnTo>
                <a:lnTo>
                  <a:pt x="0" y="103316"/>
                </a:lnTo>
                <a:lnTo>
                  <a:pt x="103316" y="0"/>
                </a:lnTo>
                <a:lnTo>
                  <a:pt x="206633" y="103316"/>
                </a:lnTo>
                <a:lnTo>
                  <a:pt x="154974" y="103316"/>
                </a:lnTo>
                <a:lnTo>
                  <a:pt x="154974" y="322302"/>
                </a:lnTo>
                <a:lnTo>
                  <a:pt x="51658" y="322302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26457" y="5296835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80" h="207010">
                <a:moveTo>
                  <a:pt x="218984" y="0"/>
                </a:moveTo>
                <a:lnTo>
                  <a:pt x="218984" y="51658"/>
                </a:lnTo>
                <a:lnTo>
                  <a:pt x="0" y="51658"/>
                </a:lnTo>
                <a:lnTo>
                  <a:pt x="0" y="154974"/>
                </a:lnTo>
                <a:lnTo>
                  <a:pt x="218984" y="154974"/>
                </a:lnTo>
                <a:lnTo>
                  <a:pt x="218984" y="206632"/>
                </a:lnTo>
                <a:lnTo>
                  <a:pt x="322301" y="103317"/>
                </a:lnTo>
                <a:lnTo>
                  <a:pt x="218984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26457" y="5296835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80" h="207010">
                <a:moveTo>
                  <a:pt x="0" y="51658"/>
                </a:moveTo>
                <a:lnTo>
                  <a:pt x="218985" y="51658"/>
                </a:lnTo>
                <a:lnTo>
                  <a:pt x="218985" y="0"/>
                </a:lnTo>
                <a:lnTo>
                  <a:pt x="322302" y="103316"/>
                </a:lnTo>
                <a:lnTo>
                  <a:pt x="218985" y="206633"/>
                </a:lnTo>
                <a:lnTo>
                  <a:pt x="218985" y="154974"/>
                </a:lnTo>
                <a:lnTo>
                  <a:pt x="0" y="154974"/>
                </a:lnTo>
                <a:lnTo>
                  <a:pt x="0" y="51658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79526" y="5296834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79" h="207010">
                <a:moveTo>
                  <a:pt x="218986" y="0"/>
                </a:moveTo>
                <a:lnTo>
                  <a:pt x="218986" y="51658"/>
                </a:lnTo>
                <a:lnTo>
                  <a:pt x="0" y="51658"/>
                </a:lnTo>
                <a:lnTo>
                  <a:pt x="0" y="154974"/>
                </a:lnTo>
                <a:lnTo>
                  <a:pt x="218986" y="154974"/>
                </a:lnTo>
                <a:lnTo>
                  <a:pt x="218986" y="206632"/>
                </a:lnTo>
                <a:lnTo>
                  <a:pt x="322301" y="103317"/>
                </a:lnTo>
                <a:lnTo>
                  <a:pt x="218986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079526" y="5296834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79" h="207010">
                <a:moveTo>
                  <a:pt x="0" y="51658"/>
                </a:moveTo>
                <a:lnTo>
                  <a:pt x="218985" y="51658"/>
                </a:lnTo>
                <a:lnTo>
                  <a:pt x="218985" y="0"/>
                </a:lnTo>
                <a:lnTo>
                  <a:pt x="322302" y="103316"/>
                </a:lnTo>
                <a:lnTo>
                  <a:pt x="218985" y="206633"/>
                </a:lnTo>
                <a:lnTo>
                  <a:pt x="218985" y="154974"/>
                </a:lnTo>
                <a:lnTo>
                  <a:pt x="0" y="154974"/>
                </a:lnTo>
                <a:lnTo>
                  <a:pt x="0" y="51658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360825" y="4563852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154974" y="103315"/>
                </a:moveTo>
                <a:lnTo>
                  <a:pt x="51658" y="103315"/>
                </a:lnTo>
                <a:lnTo>
                  <a:pt x="51658" y="322301"/>
                </a:lnTo>
                <a:lnTo>
                  <a:pt x="154974" y="322301"/>
                </a:lnTo>
                <a:lnTo>
                  <a:pt x="154974" y="103315"/>
                </a:lnTo>
                <a:close/>
              </a:path>
              <a:path w="207010" h="322579">
                <a:moveTo>
                  <a:pt x="103315" y="0"/>
                </a:moveTo>
                <a:lnTo>
                  <a:pt x="0" y="103315"/>
                </a:lnTo>
                <a:lnTo>
                  <a:pt x="206632" y="103315"/>
                </a:lnTo>
                <a:lnTo>
                  <a:pt x="10331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360825" y="4563852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51658" y="322302"/>
                </a:moveTo>
                <a:lnTo>
                  <a:pt x="51658" y="103316"/>
                </a:lnTo>
                <a:lnTo>
                  <a:pt x="0" y="103316"/>
                </a:lnTo>
                <a:lnTo>
                  <a:pt x="103316" y="0"/>
                </a:lnTo>
                <a:lnTo>
                  <a:pt x="206633" y="103316"/>
                </a:lnTo>
                <a:lnTo>
                  <a:pt x="154974" y="103316"/>
                </a:lnTo>
                <a:lnTo>
                  <a:pt x="154974" y="322302"/>
                </a:lnTo>
                <a:lnTo>
                  <a:pt x="51658" y="322302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537472" y="5144515"/>
            <a:ext cx="3035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65">
                <a:latin typeface="Cambria Math"/>
                <a:cs typeface="Cambria Math"/>
              </a:rPr>
              <a:t>𝒔</a:t>
            </a:r>
            <a:r>
              <a:rPr dirty="0" baseline="-15432" sz="2700" spc="427">
                <a:latin typeface="Cambria Math"/>
                <a:cs typeface="Cambria Math"/>
              </a:rPr>
              <a:t>(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344699" y="4972987"/>
            <a:ext cx="1059180" cy="762000"/>
          </a:xfrm>
          <a:custGeom>
            <a:avLst/>
            <a:gdLst/>
            <a:ahLst/>
            <a:cxnLst/>
            <a:rect l="l" t="t" r="r" b="b"/>
            <a:pathLst>
              <a:path w="1059179" h="762000">
                <a:moveTo>
                  <a:pt x="0" y="0"/>
                </a:moveTo>
                <a:lnTo>
                  <a:pt x="1058953" y="0"/>
                </a:lnTo>
                <a:lnTo>
                  <a:pt x="1058953" y="761999"/>
                </a:lnTo>
                <a:lnTo>
                  <a:pt x="0" y="761999"/>
                </a:lnTo>
                <a:lnTo>
                  <a:pt x="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344699" y="4972987"/>
            <a:ext cx="1059180" cy="762000"/>
          </a:xfrm>
          <a:custGeom>
            <a:avLst/>
            <a:gdLst/>
            <a:ahLst/>
            <a:cxnLst/>
            <a:rect l="l" t="t" r="r" b="b"/>
            <a:pathLst>
              <a:path w="1059179" h="762000">
                <a:moveTo>
                  <a:pt x="0" y="0"/>
                </a:moveTo>
                <a:lnTo>
                  <a:pt x="1058954" y="0"/>
                </a:lnTo>
                <a:lnTo>
                  <a:pt x="1058954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344699" y="4949444"/>
            <a:ext cx="1035050" cy="760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413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400">
              <a:latin typeface="Corbel"/>
              <a:cs typeface="Corbel"/>
            </a:endParaRPr>
          </a:p>
          <a:p>
            <a:pPr algn="ctr" marL="22860">
              <a:lnSpc>
                <a:spcPct val="100000"/>
              </a:lnSpc>
              <a:spcBef>
                <a:spcPts val="20"/>
              </a:spcBef>
            </a:pP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cell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770858" y="5839011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154975" y="103316"/>
                </a:moveTo>
                <a:lnTo>
                  <a:pt x="51658" y="103316"/>
                </a:lnTo>
                <a:lnTo>
                  <a:pt x="51658" y="322301"/>
                </a:lnTo>
                <a:lnTo>
                  <a:pt x="154975" y="322301"/>
                </a:lnTo>
                <a:lnTo>
                  <a:pt x="154975" y="103316"/>
                </a:lnTo>
                <a:close/>
              </a:path>
              <a:path w="207010" h="322579">
                <a:moveTo>
                  <a:pt x="103317" y="0"/>
                </a:moveTo>
                <a:lnTo>
                  <a:pt x="0" y="103316"/>
                </a:lnTo>
                <a:lnTo>
                  <a:pt x="206634" y="103316"/>
                </a:lnTo>
                <a:lnTo>
                  <a:pt x="103317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770858" y="5839011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51658" y="322302"/>
                </a:moveTo>
                <a:lnTo>
                  <a:pt x="51658" y="103316"/>
                </a:lnTo>
                <a:lnTo>
                  <a:pt x="0" y="103316"/>
                </a:lnTo>
                <a:lnTo>
                  <a:pt x="103316" y="0"/>
                </a:lnTo>
                <a:lnTo>
                  <a:pt x="206633" y="103316"/>
                </a:lnTo>
                <a:lnTo>
                  <a:pt x="154974" y="103316"/>
                </a:lnTo>
                <a:lnTo>
                  <a:pt x="154974" y="322302"/>
                </a:lnTo>
                <a:lnTo>
                  <a:pt x="51658" y="322302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936489" y="5296835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79" h="207010">
                <a:moveTo>
                  <a:pt x="218986" y="0"/>
                </a:moveTo>
                <a:lnTo>
                  <a:pt x="218986" y="51658"/>
                </a:lnTo>
                <a:lnTo>
                  <a:pt x="0" y="51658"/>
                </a:lnTo>
                <a:lnTo>
                  <a:pt x="0" y="154974"/>
                </a:lnTo>
                <a:lnTo>
                  <a:pt x="218986" y="154974"/>
                </a:lnTo>
                <a:lnTo>
                  <a:pt x="218986" y="206632"/>
                </a:lnTo>
                <a:lnTo>
                  <a:pt x="322303" y="103317"/>
                </a:lnTo>
                <a:lnTo>
                  <a:pt x="218986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936489" y="5296835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79" h="207010">
                <a:moveTo>
                  <a:pt x="0" y="51658"/>
                </a:moveTo>
                <a:lnTo>
                  <a:pt x="218985" y="51658"/>
                </a:lnTo>
                <a:lnTo>
                  <a:pt x="218985" y="0"/>
                </a:lnTo>
                <a:lnTo>
                  <a:pt x="322302" y="103316"/>
                </a:lnTo>
                <a:lnTo>
                  <a:pt x="218985" y="206633"/>
                </a:lnTo>
                <a:lnTo>
                  <a:pt x="218985" y="154974"/>
                </a:lnTo>
                <a:lnTo>
                  <a:pt x="0" y="154974"/>
                </a:lnTo>
                <a:lnTo>
                  <a:pt x="0" y="51658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489559" y="5296834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79" h="207010">
                <a:moveTo>
                  <a:pt x="218986" y="0"/>
                </a:moveTo>
                <a:lnTo>
                  <a:pt x="218986" y="51658"/>
                </a:lnTo>
                <a:lnTo>
                  <a:pt x="0" y="51658"/>
                </a:lnTo>
                <a:lnTo>
                  <a:pt x="0" y="154974"/>
                </a:lnTo>
                <a:lnTo>
                  <a:pt x="218986" y="154974"/>
                </a:lnTo>
                <a:lnTo>
                  <a:pt x="218986" y="206632"/>
                </a:lnTo>
                <a:lnTo>
                  <a:pt x="322301" y="103317"/>
                </a:lnTo>
                <a:lnTo>
                  <a:pt x="218986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489559" y="5296834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79" h="207010">
                <a:moveTo>
                  <a:pt x="0" y="51658"/>
                </a:moveTo>
                <a:lnTo>
                  <a:pt x="218985" y="51658"/>
                </a:lnTo>
                <a:lnTo>
                  <a:pt x="218985" y="0"/>
                </a:lnTo>
                <a:lnTo>
                  <a:pt x="322302" y="103316"/>
                </a:lnTo>
                <a:lnTo>
                  <a:pt x="218985" y="206633"/>
                </a:lnTo>
                <a:lnTo>
                  <a:pt x="218985" y="154974"/>
                </a:lnTo>
                <a:lnTo>
                  <a:pt x="0" y="154974"/>
                </a:lnTo>
                <a:lnTo>
                  <a:pt x="0" y="51658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770858" y="4563852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154975" y="103315"/>
                </a:moveTo>
                <a:lnTo>
                  <a:pt x="51658" y="103315"/>
                </a:lnTo>
                <a:lnTo>
                  <a:pt x="51658" y="322301"/>
                </a:lnTo>
                <a:lnTo>
                  <a:pt x="154975" y="322301"/>
                </a:lnTo>
                <a:lnTo>
                  <a:pt x="154975" y="103315"/>
                </a:lnTo>
                <a:close/>
              </a:path>
              <a:path w="207010" h="322579">
                <a:moveTo>
                  <a:pt x="103317" y="0"/>
                </a:moveTo>
                <a:lnTo>
                  <a:pt x="0" y="103315"/>
                </a:lnTo>
                <a:lnTo>
                  <a:pt x="206634" y="103315"/>
                </a:lnTo>
                <a:lnTo>
                  <a:pt x="103317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770858" y="4563852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51658" y="322302"/>
                </a:moveTo>
                <a:lnTo>
                  <a:pt x="51658" y="103316"/>
                </a:lnTo>
                <a:lnTo>
                  <a:pt x="0" y="103316"/>
                </a:lnTo>
                <a:lnTo>
                  <a:pt x="103316" y="0"/>
                </a:lnTo>
                <a:lnTo>
                  <a:pt x="206633" y="103316"/>
                </a:lnTo>
                <a:lnTo>
                  <a:pt x="154974" y="103316"/>
                </a:lnTo>
                <a:lnTo>
                  <a:pt x="154974" y="322302"/>
                </a:lnTo>
                <a:lnTo>
                  <a:pt x="51658" y="322302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950870" y="5144515"/>
            <a:ext cx="2921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5">
                <a:latin typeface="Cambria Math"/>
                <a:cs typeface="Cambria Math"/>
              </a:rPr>
              <a:t>𝑠</a:t>
            </a:r>
            <a:r>
              <a:rPr dirty="0" baseline="-15432" sz="2700" spc="997">
                <a:latin typeface="Cambria Math"/>
                <a:cs typeface="Cambria Math"/>
              </a:rPr>
              <a:t>,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760146" y="4972987"/>
            <a:ext cx="1059180" cy="762000"/>
          </a:xfrm>
          <a:prstGeom prst="rect">
            <a:avLst/>
          </a:prstGeom>
          <a:solidFill>
            <a:srgbClr val="F0AD00"/>
          </a:solidFill>
          <a:ln w="48000">
            <a:solidFill>
              <a:srgbClr val="B07E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2605"/>
              </a:lnSpc>
            </a:pP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400">
              <a:latin typeface="Corbel"/>
              <a:cs typeface="Corbel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cell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186306" y="5839011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09" h="322579">
                <a:moveTo>
                  <a:pt x="154974" y="103316"/>
                </a:moveTo>
                <a:lnTo>
                  <a:pt x="51658" y="103316"/>
                </a:lnTo>
                <a:lnTo>
                  <a:pt x="51658" y="322301"/>
                </a:lnTo>
                <a:lnTo>
                  <a:pt x="154974" y="322301"/>
                </a:lnTo>
                <a:lnTo>
                  <a:pt x="154974" y="103316"/>
                </a:lnTo>
                <a:close/>
              </a:path>
              <a:path w="207009" h="322579">
                <a:moveTo>
                  <a:pt x="103317" y="0"/>
                </a:moveTo>
                <a:lnTo>
                  <a:pt x="0" y="103316"/>
                </a:lnTo>
                <a:lnTo>
                  <a:pt x="206632" y="103316"/>
                </a:lnTo>
                <a:lnTo>
                  <a:pt x="103317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186306" y="5839011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09" h="322579">
                <a:moveTo>
                  <a:pt x="51658" y="322302"/>
                </a:moveTo>
                <a:lnTo>
                  <a:pt x="51658" y="103316"/>
                </a:lnTo>
                <a:lnTo>
                  <a:pt x="0" y="103316"/>
                </a:lnTo>
                <a:lnTo>
                  <a:pt x="103316" y="0"/>
                </a:lnTo>
                <a:lnTo>
                  <a:pt x="206633" y="103316"/>
                </a:lnTo>
                <a:lnTo>
                  <a:pt x="154974" y="103316"/>
                </a:lnTo>
                <a:lnTo>
                  <a:pt x="154974" y="322302"/>
                </a:lnTo>
                <a:lnTo>
                  <a:pt x="51658" y="322302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351937" y="5296835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79" h="207010">
                <a:moveTo>
                  <a:pt x="218986" y="0"/>
                </a:moveTo>
                <a:lnTo>
                  <a:pt x="218986" y="51658"/>
                </a:lnTo>
                <a:lnTo>
                  <a:pt x="0" y="51658"/>
                </a:lnTo>
                <a:lnTo>
                  <a:pt x="0" y="154974"/>
                </a:lnTo>
                <a:lnTo>
                  <a:pt x="218986" y="154974"/>
                </a:lnTo>
                <a:lnTo>
                  <a:pt x="218986" y="206632"/>
                </a:lnTo>
                <a:lnTo>
                  <a:pt x="322301" y="103317"/>
                </a:lnTo>
                <a:lnTo>
                  <a:pt x="218986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351937" y="5296835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79" h="207010">
                <a:moveTo>
                  <a:pt x="0" y="51658"/>
                </a:moveTo>
                <a:lnTo>
                  <a:pt x="218985" y="51658"/>
                </a:lnTo>
                <a:lnTo>
                  <a:pt x="218985" y="0"/>
                </a:lnTo>
                <a:lnTo>
                  <a:pt x="322302" y="103316"/>
                </a:lnTo>
                <a:lnTo>
                  <a:pt x="218985" y="206633"/>
                </a:lnTo>
                <a:lnTo>
                  <a:pt x="218985" y="154974"/>
                </a:lnTo>
                <a:lnTo>
                  <a:pt x="0" y="154974"/>
                </a:lnTo>
                <a:lnTo>
                  <a:pt x="0" y="51658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905008" y="5296834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79" h="207010">
                <a:moveTo>
                  <a:pt x="218984" y="0"/>
                </a:moveTo>
                <a:lnTo>
                  <a:pt x="218984" y="51658"/>
                </a:lnTo>
                <a:lnTo>
                  <a:pt x="0" y="51658"/>
                </a:lnTo>
                <a:lnTo>
                  <a:pt x="0" y="154974"/>
                </a:lnTo>
                <a:lnTo>
                  <a:pt x="218984" y="154974"/>
                </a:lnTo>
                <a:lnTo>
                  <a:pt x="218984" y="206632"/>
                </a:lnTo>
                <a:lnTo>
                  <a:pt x="322301" y="103317"/>
                </a:lnTo>
                <a:lnTo>
                  <a:pt x="218984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905008" y="5296834"/>
            <a:ext cx="322580" cy="207010"/>
          </a:xfrm>
          <a:custGeom>
            <a:avLst/>
            <a:gdLst/>
            <a:ahLst/>
            <a:cxnLst/>
            <a:rect l="l" t="t" r="r" b="b"/>
            <a:pathLst>
              <a:path w="322579" h="207010">
                <a:moveTo>
                  <a:pt x="0" y="51658"/>
                </a:moveTo>
                <a:lnTo>
                  <a:pt x="218985" y="51658"/>
                </a:lnTo>
                <a:lnTo>
                  <a:pt x="218985" y="0"/>
                </a:lnTo>
                <a:lnTo>
                  <a:pt x="322302" y="103316"/>
                </a:lnTo>
                <a:lnTo>
                  <a:pt x="218985" y="206633"/>
                </a:lnTo>
                <a:lnTo>
                  <a:pt x="218985" y="154974"/>
                </a:lnTo>
                <a:lnTo>
                  <a:pt x="0" y="154974"/>
                </a:lnTo>
                <a:lnTo>
                  <a:pt x="0" y="51658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186306" y="4563852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09" h="322579">
                <a:moveTo>
                  <a:pt x="154974" y="103315"/>
                </a:moveTo>
                <a:lnTo>
                  <a:pt x="51658" y="103315"/>
                </a:lnTo>
                <a:lnTo>
                  <a:pt x="51658" y="322301"/>
                </a:lnTo>
                <a:lnTo>
                  <a:pt x="154974" y="322301"/>
                </a:lnTo>
                <a:lnTo>
                  <a:pt x="154974" y="103315"/>
                </a:lnTo>
                <a:close/>
              </a:path>
              <a:path w="207009" h="322579">
                <a:moveTo>
                  <a:pt x="103317" y="0"/>
                </a:moveTo>
                <a:lnTo>
                  <a:pt x="0" y="103315"/>
                </a:lnTo>
                <a:lnTo>
                  <a:pt x="206632" y="103315"/>
                </a:lnTo>
                <a:lnTo>
                  <a:pt x="103317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186306" y="4563852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09" h="322579">
                <a:moveTo>
                  <a:pt x="51658" y="322302"/>
                </a:moveTo>
                <a:lnTo>
                  <a:pt x="51658" y="103316"/>
                </a:lnTo>
                <a:lnTo>
                  <a:pt x="0" y="103316"/>
                </a:lnTo>
                <a:lnTo>
                  <a:pt x="103316" y="0"/>
                </a:lnTo>
                <a:lnTo>
                  <a:pt x="206633" y="103316"/>
                </a:lnTo>
                <a:lnTo>
                  <a:pt x="154974" y="103316"/>
                </a:lnTo>
                <a:lnTo>
                  <a:pt x="154974" y="322302"/>
                </a:lnTo>
                <a:lnTo>
                  <a:pt x="51658" y="322302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8366318" y="5144515"/>
            <a:ext cx="2921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5">
                <a:latin typeface="Cambria Math"/>
                <a:cs typeface="Cambria Math"/>
              </a:rPr>
              <a:t>𝑠</a:t>
            </a:r>
            <a:r>
              <a:rPr dirty="0" baseline="-15432" sz="2700" spc="652">
                <a:latin typeface="Cambria Math"/>
                <a:cs typeface="Cambria Math"/>
              </a:rPr>
              <a:t>-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414937" y="6180835"/>
            <a:ext cx="6381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315">
                <a:solidFill>
                  <a:srgbClr val="0000FF"/>
                </a:solidFill>
                <a:latin typeface="Cambria Math"/>
                <a:cs typeface="Cambria Math"/>
              </a:rPr>
              <a:t>𝑥</a:t>
            </a:r>
            <a:r>
              <a:rPr dirty="0" baseline="-15432" sz="2700" spc="472">
                <a:solidFill>
                  <a:srgbClr val="0000FF"/>
                </a:solidFill>
                <a:latin typeface="Cambria Math"/>
                <a:cs typeface="Cambria Math"/>
              </a:rPr>
              <a:t>,</a:t>
            </a:r>
            <a:r>
              <a:rPr dirty="0" baseline="-15432" sz="2700" spc="75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0000FF"/>
                </a:solidFill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872668" y="6180835"/>
            <a:ext cx="6381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200">
                <a:solidFill>
                  <a:srgbClr val="0000FF"/>
                </a:solidFill>
                <a:latin typeface="Cambria Math"/>
                <a:cs typeface="Cambria Math"/>
              </a:rPr>
              <a:t>𝑥</a:t>
            </a:r>
            <a:r>
              <a:rPr dirty="0" baseline="-15432" sz="2700" spc="300">
                <a:solidFill>
                  <a:srgbClr val="0000FF"/>
                </a:solidFill>
                <a:latin typeface="Cambria Math"/>
                <a:cs typeface="Cambria Math"/>
              </a:rPr>
              <a:t>-</a:t>
            </a:r>
            <a:r>
              <a:rPr dirty="0" baseline="-15432" sz="2700" spc="75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0000FF"/>
                </a:solidFill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613870" y="4045260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206632" y="218986"/>
                </a:moveTo>
                <a:lnTo>
                  <a:pt x="0" y="218986"/>
                </a:lnTo>
                <a:lnTo>
                  <a:pt x="103317" y="322301"/>
                </a:lnTo>
                <a:lnTo>
                  <a:pt x="206632" y="218986"/>
                </a:lnTo>
                <a:close/>
              </a:path>
              <a:path w="207010" h="322579">
                <a:moveTo>
                  <a:pt x="154975" y="0"/>
                </a:moveTo>
                <a:lnTo>
                  <a:pt x="51658" y="0"/>
                </a:lnTo>
                <a:lnTo>
                  <a:pt x="51658" y="218986"/>
                </a:lnTo>
                <a:lnTo>
                  <a:pt x="154975" y="218986"/>
                </a:lnTo>
                <a:lnTo>
                  <a:pt x="154975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613870" y="4045260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154974" y="0"/>
                </a:moveTo>
                <a:lnTo>
                  <a:pt x="154974" y="218985"/>
                </a:lnTo>
                <a:lnTo>
                  <a:pt x="206633" y="218985"/>
                </a:lnTo>
                <a:lnTo>
                  <a:pt x="103316" y="322302"/>
                </a:lnTo>
                <a:lnTo>
                  <a:pt x="0" y="218985"/>
                </a:lnTo>
                <a:lnTo>
                  <a:pt x="51658" y="218985"/>
                </a:lnTo>
                <a:lnTo>
                  <a:pt x="51658" y="0"/>
                </a:lnTo>
                <a:lnTo>
                  <a:pt x="154974" y="0"/>
                </a:lnTo>
                <a:close/>
              </a:path>
            </a:pathLst>
          </a:custGeom>
          <a:ln w="480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701190" y="3698747"/>
            <a:ext cx="103695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0" b="1">
                <a:solidFill>
                  <a:srgbClr val="0000FF"/>
                </a:solidFill>
                <a:latin typeface="Corbel"/>
                <a:cs typeface="Corbel"/>
              </a:rPr>
              <a:t>Co</a:t>
            </a:r>
            <a:r>
              <a:rPr dirty="0" sz="2000" spc="-5" b="1">
                <a:solidFill>
                  <a:srgbClr val="0000FF"/>
                </a:solidFill>
                <a:latin typeface="Corbel"/>
                <a:cs typeface="Corbel"/>
              </a:rPr>
              <a:t>m</a:t>
            </a:r>
            <a:r>
              <a:rPr dirty="0" sz="2000" b="1">
                <a:solidFill>
                  <a:srgbClr val="0000FF"/>
                </a:solidFill>
                <a:latin typeface="Corbel"/>
                <a:cs typeface="Corbel"/>
              </a:rPr>
              <a:t>p</a:t>
            </a:r>
            <a:r>
              <a:rPr dirty="0" sz="2000" spc="-5" b="1">
                <a:solidFill>
                  <a:srgbClr val="0000FF"/>
                </a:solidFill>
                <a:latin typeface="Corbel"/>
                <a:cs typeface="Corbel"/>
              </a:rPr>
              <a:t>u</a:t>
            </a:r>
            <a:r>
              <a:rPr dirty="0" sz="2000" b="1">
                <a:solidFill>
                  <a:srgbClr val="0000FF"/>
                </a:solidFill>
                <a:latin typeface="Corbel"/>
                <a:cs typeface="Corbel"/>
              </a:rPr>
              <a:t>te  </a:t>
            </a:r>
            <a:r>
              <a:rPr dirty="0" sz="2000" spc="-5" b="1">
                <a:solidFill>
                  <a:srgbClr val="0000FF"/>
                </a:solidFill>
                <a:latin typeface="Corbel"/>
                <a:cs typeface="Corbel"/>
              </a:rPr>
              <a:t>loss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916865" y="3675379"/>
            <a:ext cx="55391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78075" algn="l"/>
                <a:tab pos="4908550" algn="l"/>
              </a:tabLst>
            </a:pPr>
            <a:r>
              <a:rPr dirty="0" sz="2400" spc="50">
                <a:solidFill>
                  <a:srgbClr val="0000FF"/>
                </a:solidFill>
                <a:latin typeface="Cambria Math"/>
                <a:cs typeface="Cambria Math"/>
              </a:rPr>
              <a:t>𝑦</a:t>
            </a:r>
            <a:r>
              <a:rPr dirty="0" baseline="27777" sz="2700" spc="75">
                <a:solidFill>
                  <a:srgbClr val="0000FF"/>
                </a:solidFill>
                <a:latin typeface="Cambria Math"/>
                <a:cs typeface="Cambria Math"/>
              </a:rPr>
              <a:t>∗</a:t>
            </a:r>
            <a:r>
              <a:rPr dirty="0" baseline="27777" sz="2700" spc="232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0000FF"/>
                </a:solidFill>
                <a:latin typeface="Cambria Math"/>
                <a:cs typeface="Cambria Math"/>
              </a:rPr>
              <a:t>=	</a:t>
            </a:r>
            <a:r>
              <a:rPr dirty="0" sz="2400" spc="50">
                <a:solidFill>
                  <a:srgbClr val="0000FF"/>
                </a:solidFill>
                <a:latin typeface="Cambria Math"/>
                <a:cs typeface="Cambria Math"/>
              </a:rPr>
              <a:t>𝑦</a:t>
            </a:r>
            <a:r>
              <a:rPr dirty="0" baseline="27777" sz="2700" spc="75">
                <a:solidFill>
                  <a:srgbClr val="0000FF"/>
                </a:solidFill>
                <a:latin typeface="Cambria Math"/>
                <a:cs typeface="Cambria Math"/>
              </a:rPr>
              <a:t>∗</a:t>
            </a:r>
            <a:r>
              <a:rPr dirty="0" baseline="27777" sz="2700" spc="232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0000FF"/>
                </a:solidFill>
                <a:latin typeface="Cambria Math"/>
                <a:cs typeface="Cambria Math"/>
              </a:rPr>
              <a:t>=	</a:t>
            </a:r>
            <a:r>
              <a:rPr dirty="0" sz="2400" spc="50">
                <a:solidFill>
                  <a:srgbClr val="0000FF"/>
                </a:solidFill>
                <a:latin typeface="Cambria Math"/>
                <a:cs typeface="Cambria Math"/>
              </a:rPr>
              <a:t>𝑦</a:t>
            </a:r>
            <a:r>
              <a:rPr dirty="0" baseline="27777" sz="2700" spc="75">
                <a:solidFill>
                  <a:srgbClr val="0000FF"/>
                </a:solidFill>
                <a:latin typeface="Cambria Math"/>
                <a:cs typeface="Cambria Math"/>
              </a:rPr>
              <a:t>∗</a:t>
            </a:r>
            <a:r>
              <a:rPr dirty="0" baseline="27777" sz="2700" spc="89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0000FF"/>
                </a:solidFill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932728" y="4029216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206634" y="218984"/>
                </a:moveTo>
                <a:lnTo>
                  <a:pt x="0" y="218984"/>
                </a:lnTo>
                <a:lnTo>
                  <a:pt x="103317" y="322301"/>
                </a:lnTo>
                <a:lnTo>
                  <a:pt x="206634" y="218984"/>
                </a:lnTo>
                <a:close/>
              </a:path>
              <a:path w="207010" h="322579">
                <a:moveTo>
                  <a:pt x="154975" y="0"/>
                </a:moveTo>
                <a:lnTo>
                  <a:pt x="51658" y="0"/>
                </a:lnTo>
                <a:lnTo>
                  <a:pt x="51658" y="218984"/>
                </a:lnTo>
                <a:lnTo>
                  <a:pt x="154975" y="218984"/>
                </a:lnTo>
                <a:lnTo>
                  <a:pt x="154975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932730" y="4029216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154974" y="0"/>
                </a:moveTo>
                <a:lnTo>
                  <a:pt x="154974" y="218985"/>
                </a:lnTo>
                <a:lnTo>
                  <a:pt x="206633" y="218985"/>
                </a:lnTo>
                <a:lnTo>
                  <a:pt x="103316" y="322302"/>
                </a:lnTo>
                <a:lnTo>
                  <a:pt x="0" y="218985"/>
                </a:lnTo>
                <a:lnTo>
                  <a:pt x="51658" y="218985"/>
                </a:lnTo>
                <a:lnTo>
                  <a:pt x="51658" y="0"/>
                </a:lnTo>
                <a:lnTo>
                  <a:pt x="154974" y="0"/>
                </a:lnTo>
                <a:close/>
              </a:path>
            </a:pathLst>
          </a:custGeom>
          <a:ln w="480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400800" y="4063458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09" h="322579">
                <a:moveTo>
                  <a:pt x="206634" y="218986"/>
                </a:moveTo>
                <a:lnTo>
                  <a:pt x="0" y="218986"/>
                </a:lnTo>
                <a:lnTo>
                  <a:pt x="103317" y="322301"/>
                </a:lnTo>
                <a:lnTo>
                  <a:pt x="206634" y="218986"/>
                </a:lnTo>
                <a:close/>
              </a:path>
              <a:path w="207009" h="322579">
                <a:moveTo>
                  <a:pt x="154975" y="0"/>
                </a:moveTo>
                <a:lnTo>
                  <a:pt x="51658" y="0"/>
                </a:lnTo>
                <a:lnTo>
                  <a:pt x="51658" y="218986"/>
                </a:lnTo>
                <a:lnTo>
                  <a:pt x="154975" y="218986"/>
                </a:lnTo>
                <a:lnTo>
                  <a:pt x="154975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400801" y="4063458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09" h="322579">
                <a:moveTo>
                  <a:pt x="154974" y="0"/>
                </a:moveTo>
                <a:lnTo>
                  <a:pt x="154974" y="218985"/>
                </a:lnTo>
                <a:lnTo>
                  <a:pt x="206633" y="218985"/>
                </a:lnTo>
                <a:lnTo>
                  <a:pt x="103316" y="322302"/>
                </a:lnTo>
                <a:lnTo>
                  <a:pt x="0" y="218985"/>
                </a:lnTo>
                <a:lnTo>
                  <a:pt x="51658" y="218985"/>
                </a:lnTo>
                <a:lnTo>
                  <a:pt x="51658" y="0"/>
                </a:lnTo>
                <a:lnTo>
                  <a:pt x="154974" y="0"/>
                </a:lnTo>
                <a:close/>
              </a:path>
            </a:pathLst>
          </a:custGeom>
          <a:ln w="480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112558" y="5150611"/>
            <a:ext cx="12268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Cambria Math"/>
                <a:cs typeface="Cambria Math"/>
              </a:rPr>
              <a:t>𝑠</a:t>
            </a:r>
            <a:r>
              <a:rPr dirty="0" baseline="-15432" sz="2700" spc="-15">
                <a:latin typeface="Cambria Math"/>
                <a:cs typeface="Cambria Math"/>
              </a:rPr>
              <a:t>1 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-18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𝑆𝑂𝑆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687768" y="4166096"/>
            <a:ext cx="478155" cy="3708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7305" rIns="0" bIns="0" rtlCol="0" vert="horz">
            <a:spAutoFit/>
          </a:bodyPr>
          <a:lstStyle/>
          <a:p>
            <a:pPr marL="84455">
              <a:lnSpc>
                <a:spcPct val="100000"/>
              </a:lnSpc>
              <a:spcBef>
                <a:spcPts val="215"/>
              </a:spcBef>
            </a:pPr>
            <a:r>
              <a:rPr dirty="0" sz="1800" spc="-5">
                <a:latin typeface="Calibri"/>
                <a:cs typeface="Calibri"/>
              </a:rPr>
              <a:t>0.9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917373" y="3791203"/>
            <a:ext cx="633095" cy="72961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65735">
              <a:lnSpc>
                <a:spcPct val="100000"/>
              </a:lnSpc>
              <a:spcBef>
                <a:spcPts val="315"/>
              </a:spcBef>
            </a:pPr>
            <a:r>
              <a:rPr dirty="0" sz="1800" spc="285">
                <a:solidFill>
                  <a:srgbClr val="0000FF"/>
                </a:solidFill>
                <a:latin typeface="Cambria Math"/>
                <a:cs typeface="Cambria Math"/>
              </a:rPr>
              <a:t>(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2400" spc="75">
                <a:latin typeface="Cambria Math"/>
                <a:cs typeface="Cambria Math"/>
              </a:rPr>
              <a:t>𝑦</a:t>
            </a:r>
            <a:r>
              <a:rPr dirty="0" baseline="-15432" sz="2700" spc="112">
                <a:latin typeface="Cambria Math"/>
                <a:cs typeface="Cambria Math"/>
              </a:rPr>
              <a:t>(</a:t>
            </a:r>
            <a:r>
              <a:rPr dirty="0" baseline="-15432" sz="2700" spc="82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084917" y="4161514"/>
            <a:ext cx="478155" cy="3708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6034" rIns="0" bIns="0" rtlCol="0" vert="horz">
            <a:spAutoFit/>
          </a:bodyPr>
          <a:lstStyle/>
          <a:p>
            <a:pPr marL="84455">
              <a:lnSpc>
                <a:spcPct val="100000"/>
              </a:lnSpc>
              <a:spcBef>
                <a:spcPts val="204"/>
              </a:spcBef>
            </a:pPr>
            <a:r>
              <a:rPr dirty="0" sz="1800" spc="-5">
                <a:latin typeface="Calibri"/>
                <a:cs typeface="Calibri"/>
              </a:rPr>
              <a:t>0.4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314142" y="3801109"/>
            <a:ext cx="640080" cy="713740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41605">
              <a:lnSpc>
                <a:spcPct val="100000"/>
              </a:lnSpc>
              <a:spcBef>
                <a:spcPts val="260"/>
              </a:spcBef>
            </a:pPr>
            <a:r>
              <a:rPr dirty="0" sz="1800" spc="665">
                <a:solidFill>
                  <a:srgbClr val="0000FF"/>
                </a:solidFill>
                <a:latin typeface="Cambria Math"/>
                <a:cs typeface="Cambria Math"/>
              </a:rPr>
              <a:t>,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dirty="0" sz="2400" spc="290">
                <a:latin typeface="Cambria Math"/>
                <a:cs typeface="Cambria Math"/>
              </a:rPr>
              <a:t>𝑦</a:t>
            </a:r>
            <a:r>
              <a:rPr dirty="0" baseline="-15432" sz="2700" spc="434">
                <a:latin typeface="Cambria Math"/>
                <a:cs typeface="Cambria Math"/>
              </a:rPr>
              <a:t>,</a:t>
            </a:r>
            <a:r>
              <a:rPr dirty="0" baseline="-15432" sz="2700" spc="7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583771" y="4169610"/>
            <a:ext cx="478155" cy="3708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7305" rIns="0" bIns="0" rtlCol="0" vert="horz">
            <a:spAutoFit/>
          </a:bodyPr>
          <a:lstStyle/>
          <a:p>
            <a:pPr marL="84455">
              <a:lnSpc>
                <a:spcPct val="100000"/>
              </a:lnSpc>
              <a:spcBef>
                <a:spcPts val="215"/>
              </a:spcBef>
            </a:pPr>
            <a:r>
              <a:rPr dirty="0" sz="1800" spc="-5">
                <a:latin typeface="Calibri"/>
                <a:cs typeface="Calibri"/>
              </a:rPr>
              <a:t>0.7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812996" y="3794252"/>
            <a:ext cx="640080" cy="72961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72720">
              <a:lnSpc>
                <a:spcPct val="100000"/>
              </a:lnSpc>
              <a:spcBef>
                <a:spcPts val="315"/>
              </a:spcBef>
            </a:pPr>
            <a:r>
              <a:rPr dirty="0" sz="1800" spc="434">
                <a:solidFill>
                  <a:srgbClr val="0000FF"/>
                </a:solidFill>
                <a:latin typeface="Cambria Math"/>
                <a:cs typeface="Cambria Math"/>
              </a:rPr>
              <a:t>-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2400" spc="175">
                <a:latin typeface="Cambria Math"/>
                <a:cs typeface="Cambria Math"/>
              </a:rPr>
              <a:t>𝑦</a:t>
            </a:r>
            <a:r>
              <a:rPr dirty="0" baseline="-15432" sz="2700" spc="262">
                <a:latin typeface="Cambria Math"/>
                <a:cs typeface="Cambria Math"/>
              </a:rPr>
              <a:t>-</a:t>
            </a:r>
            <a:r>
              <a:rPr dirty="0" baseline="-15432" sz="2700" spc="7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084917" y="6234372"/>
            <a:ext cx="478155" cy="3708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603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dirty="0" sz="1800">
                <a:solidFill>
                  <a:srgbClr val="0000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584761" y="6239516"/>
            <a:ext cx="478155" cy="3708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66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10"/>
              </a:spcBef>
            </a:pPr>
            <a:r>
              <a:rPr dirty="0" sz="1800">
                <a:solidFill>
                  <a:srgbClr val="0000FF"/>
                </a:solidFill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688014" y="3730047"/>
            <a:ext cx="478155" cy="3708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793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19"/>
              </a:spcBef>
            </a:pPr>
            <a:r>
              <a:rPr dirty="0" sz="1800">
                <a:solidFill>
                  <a:srgbClr val="0000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073241" y="3730047"/>
            <a:ext cx="478155" cy="3708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793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19"/>
              </a:spcBef>
            </a:pPr>
            <a:r>
              <a:rPr dirty="0" sz="1800">
                <a:solidFill>
                  <a:srgbClr val="0000FF"/>
                </a:solidFill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583771" y="3737075"/>
            <a:ext cx="478155" cy="3708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66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10"/>
              </a:spcBef>
            </a:pPr>
            <a:r>
              <a:rPr dirty="0" sz="1800">
                <a:solidFill>
                  <a:srgbClr val="0000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3159347" y="3909117"/>
            <a:ext cx="1925955" cy="2548890"/>
          </a:xfrm>
          <a:custGeom>
            <a:avLst/>
            <a:gdLst/>
            <a:ahLst/>
            <a:cxnLst/>
            <a:rect l="l" t="t" r="r" b="b"/>
            <a:pathLst>
              <a:path w="1925954" h="2548890">
                <a:moveTo>
                  <a:pt x="47956" y="0"/>
                </a:moveTo>
                <a:lnTo>
                  <a:pt x="2842" y="0"/>
                </a:lnTo>
                <a:lnTo>
                  <a:pt x="0" y="2842"/>
                </a:lnTo>
                <a:lnTo>
                  <a:pt x="0" y="9856"/>
                </a:lnTo>
                <a:lnTo>
                  <a:pt x="2842" y="12700"/>
                </a:lnTo>
                <a:lnTo>
                  <a:pt x="47956" y="12700"/>
                </a:lnTo>
                <a:lnTo>
                  <a:pt x="50800" y="9856"/>
                </a:lnTo>
                <a:lnTo>
                  <a:pt x="50800" y="2842"/>
                </a:lnTo>
                <a:lnTo>
                  <a:pt x="47956" y="0"/>
                </a:lnTo>
                <a:close/>
              </a:path>
              <a:path w="1925954" h="2548890">
                <a:moveTo>
                  <a:pt x="136856" y="0"/>
                </a:moveTo>
                <a:lnTo>
                  <a:pt x="91742" y="0"/>
                </a:lnTo>
                <a:lnTo>
                  <a:pt x="88900" y="2842"/>
                </a:lnTo>
                <a:lnTo>
                  <a:pt x="88900" y="9856"/>
                </a:lnTo>
                <a:lnTo>
                  <a:pt x="91742" y="12700"/>
                </a:lnTo>
                <a:lnTo>
                  <a:pt x="136856" y="12700"/>
                </a:lnTo>
                <a:lnTo>
                  <a:pt x="139699" y="9856"/>
                </a:lnTo>
                <a:lnTo>
                  <a:pt x="139699" y="2842"/>
                </a:lnTo>
                <a:lnTo>
                  <a:pt x="136856" y="0"/>
                </a:lnTo>
                <a:close/>
              </a:path>
              <a:path w="1925954" h="2548890">
                <a:moveTo>
                  <a:pt x="225756" y="0"/>
                </a:moveTo>
                <a:lnTo>
                  <a:pt x="180642" y="0"/>
                </a:lnTo>
                <a:lnTo>
                  <a:pt x="177799" y="2842"/>
                </a:lnTo>
                <a:lnTo>
                  <a:pt x="177799" y="9856"/>
                </a:lnTo>
                <a:lnTo>
                  <a:pt x="180642" y="12700"/>
                </a:lnTo>
                <a:lnTo>
                  <a:pt x="225756" y="12700"/>
                </a:lnTo>
                <a:lnTo>
                  <a:pt x="228599" y="9856"/>
                </a:lnTo>
                <a:lnTo>
                  <a:pt x="228599" y="2842"/>
                </a:lnTo>
                <a:lnTo>
                  <a:pt x="225756" y="0"/>
                </a:lnTo>
                <a:close/>
              </a:path>
              <a:path w="1925954" h="2548890">
                <a:moveTo>
                  <a:pt x="314656" y="0"/>
                </a:moveTo>
                <a:lnTo>
                  <a:pt x="269542" y="0"/>
                </a:lnTo>
                <a:lnTo>
                  <a:pt x="266699" y="2842"/>
                </a:lnTo>
                <a:lnTo>
                  <a:pt x="266699" y="9856"/>
                </a:lnTo>
                <a:lnTo>
                  <a:pt x="269542" y="12700"/>
                </a:lnTo>
                <a:lnTo>
                  <a:pt x="314656" y="12700"/>
                </a:lnTo>
                <a:lnTo>
                  <a:pt x="317499" y="9856"/>
                </a:lnTo>
                <a:lnTo>
                  <a:pt x="317499" y="2842"/>
                </a:lnTo>
                <a:lnTo>
                  <a:pt x="314656" y="0"/>
                </a:lnTo>
                <a:close/>
              </a:path>
              <a:path w="1925954" h="2548890">
                <a:moveTo>
                  <a:pt x="403556" y="0"/>
                </a:moveTo>
                <a:lnTo>
                  <a:pt x="358442" y="0"/>
                </a:lnTo>
                <a:lnTo>
                  <a:pt x="355599" y="2842"/>
                </a:lnTo>
                <a:lnTo>
                  <a:pt x="355599" y="9856"/>
                </a:lnTo>
                <a:lnTo>
                  <a:pt x="358442" y="12700"/>
                </a:lnTo>
                <a:lnTo>
                  <a:pt x="403556" y="12700"/>
                </a:lnTo>
                <a:lnTo>
                  <a:pt x="406399" y="9856"/>
                </a:lnTo>
                <a:lnTo>
                  <a:pt x="406399" y="2842"/>
                </a:lnTo>
                <a:lnTo>
                  <a:pt x="403556" y="0"/>
                </a:lnTo>
                <a:close/>
              </a:path>
              <a:path w="1925954" h="2548890">
                <a:moveTo>
                  <a:pt x="492456" y="0"/>
                </a:moveTo>
                <a:lnTo>
                  <a:pt x="447342" y="0"/>
                </a:lnTo>
                <a:lnTo>
                  <a:pt x="444499" y="2842"/>
                </a:lnTo>
                <a:lnTo>
                  <a:pt x="444499" y="9856"/>
                </a:lnTo>
                <a:lnTo>
                  <a:pt x="447342" y="12700"/>
                </a:lnTo>
                <a:lnTo>
                  <a:pt x="492456" y="12700"/>
                </a:lnTo>
                <a:lnTo>
                  <a:pt x="495299" y="9856"/>
                </a:lnTo>
                <a:lnTo>
                  <a:pt x="495299" y="2842"/>
                </a:lnTo>
                <a:lnTo>
                  <a:pt x="492456" y="0"/>
                </a:lnTo>
                <a:close/>
              </a:path>
              <a:path w="1925954" h="2548890">
                <a:moveTo>
                  <a:pt x="581356" y="0"/>
                </a:moveTo>
                <a:lnTo>
                  <a:pt x="536242" y="0"/>
                </a:lnTo>
                <a:lnTo>
                  <a:pt x="533399" y="2842"/>
                </a:lnTo>
                <a:lnTo>
                  <a:pt x="533399" y="9856"/>
                </a:lnTo>
                <a:lnTo>
                  <a:pt x="536242" y="12700"/>
                </a:lnTo>
                <a:lnTo>
                  <a:pt x="581356" y="12700"/>
                </a:lnTo>
                <a:lnTo>
                  <a:pt x="584199" y="9856"/>
                </a:lnTo>
                <a:lnTo>
                  <a:pt x="584199" y="2842"/>
                </a:lnTo>
                <a:lnTo>
                  <a:pt x="581356" y="0"/>
                </a:lnTo>
                <a:close/>
              </a:path>
              <a:path w="1925954" h="2548890">
                <a:moveTo>
                  <a:pt x="670256" y="0"/>
                </a:moveTo>
                <a:lnTo>
                  <a:pt x="625142" y="0"/>
                </a:lnTo>
                <a:lnTo>
                  <a:pt x="622299" y="2842"/>
                </a:lnTo>
                <a:lnTo>
                  <a:pt x="622299" y="9856"/>
                </a:lnTo>
                <a:lnTo>
                  <a:pt x="625142" y="12700"/>
                </a:lnTo>
                <a:lnTo>
                  <a:pt x="670256" y="12700"/>
                </a:lnTo>
                <a:lnTo>
                  <a:pt x="673099" y="9856"/>
                </a:lnTo>
                <a:lnTo>
                  <a:pt x="673099" y="2842"/>
                </a:lnTo>
                <a:lnTo>
                  <a:pt x="670256" y="0"/>
                </a:lnTo>
                <a:close/>
              </a:path>
              <a:path w="1925954" h="2548890">
                <a:moveTo>
                  <a:pt x="759156" y="0"/>
                </a:moveTo>
                <a:lnTo>
                  <a:pt x="714042" y="0"/>
                </a:lnTo>
                <a:lnTo>
                  <a:pt x="711199" y="2842"/>
                </a:lnTo>
                <a:lnTo>
                  <a:pt x="711199" y="9856"/>
                </a:lnTo>
                <a:lnTo>
                  <a:pt x="714042" y="12700"/>
                </a:lnTo>
                <a:lnTo>
                  <a:pt x="759156" y="12700"/>
                </a:lnTo>
                <a:lnTo>
                  <a:pt x="761999" y="9856"/>
                </a:lnTo>
                <a:lnTo>
                  <a:pt x="761999" y="2842"/>
                </a:lnTo>
                <a:lnTo>
                  <a:pt x="759156" y="0"/>
                </a:lnTo>
                <a:close/>
              </a:path>
              <a:path w="1925954" h="2548890">
                <a:moveTo>
                  <a:pt x="848056" y="0"/>
                </a:moveTo>
                <a:lnTo>
                  <a:pt x="802942" y="0"/>
                </a:lnTo>
                <a:lnTo>
                  <a:pt x="800099" y="2842"/>
                </a:lnTo>
                <a:lnTo>
                  <a:pt x="800099" y="9856"/>
                </a:lnTo>
                <a:lnTo>
                  <a:pt x="802942" y="12700"/>
                </a:lnTo>
                <a:lnTo>
                  <a:pt x="848056" y="12700"/>
                </a:lnTo>
                <a:lnTo>
                  <a:pt x="850899" y="9856"/>
                </a:lnTo>
                <a:lnTo>
                  <a:pt x="850899" y="2842"/>
                </a:lnTo>
                <a:lnTo>
                  <a:pt x="848056" y="0"/>
                </a:lnTo>
                <a:close/>
              </a:path>
              <a:path w="1925954" h="2548890">
                <a:moveTo>
                  <a:pt x="936956" y="0"/>
                </a:moveTo>
                <a:lnTo>
                  <a:pt x="891842" y="0"/>
                </a:lnTo>
                <a:lnTo>
                  <a:pt x="888999" y="2842"/>
                </a:lnTo>
                <a:lnTo>
                  <a:pt x="888999" y="9856"/>
                </a:lnTo>
                <a:lnTo>
                  <a:pt x="891842" y="12700"/>
                </a:lnTo>
                <a:lnTo>
                  <a:pt x="936956" y="12700"/>
                </a:lnTo>
                <a:lnTo>
                  <a:pt x="939799" y="9856"/>
                </a:lnTo>
                <a:lnTo>
                  <a:pt x="939799" y="2842"/>
                </a:lnTo>
                <a:lnTo>
                  <a:pt x="936956" y="0"/>
                </a:lnTo>
                <a:close/>
              </a:path>
              <a:path w="1925954" h="2548890">
                <a:moveTo>
                  <a:pt x="969468" y="18288"/>
                </a:moveTo>
                <a:lnTo>
                  <a:pt x="962454" y="18288"/>
                </a:lnTo>
                <a:lnTo>
                  <a:pt x="959611" y="21131"/>
                </a:lnTo>
                <a:lnTo>
                  <a:pt x="959611" y="66244"/>
                </a:lnTo>
                <a:lnTo>
                  <a:pt x="962454" y="69088"/>
                </a:lnTo>
                <a:lnTo>
                  <a:pt x="969468" y="69088"/>
                </a:lnTo>
                <a:lnTo>
                  <a:pt x="972311" y="66244"/>
                </a:lnTo>
                <a:lnTo>
                  <a:pt x="972311" y="21131"/>
                </a:lnTo>
                <a:lnTo>
                  <a:pt x="969468" y="18288"/>
                </a:lnTo>
                <a:close/>
              </a:path>
              <a:path w="1925954" h="2548890">
                <a:moveTo>
                  <a:pt x="969468" y="107188"/>
                </a:moveTo>
                <a:lnTo>
                  <a:pt x="962454" y="107188"/>
                </a:lnTo>
                <a:lnTo>
                  <a:pt x="959611" y="110031"/>
                </a:lnTo>
                <a:lnTo>
                  <a:pt x="959611" y="155144"/>
                </a:lnTo>
                <a:lnTo>
                  <a:pt x="962454" y="157988"/>
                </a:lnTo>
                <a:lnTo>
                  <a:pt x="969468" y="157988"/>
                </a:lnTo>
                <a:lnTo>
                  <a:pt x="972311" y="155144"/>
                </a:lnTo>
                <a:lnTo>
                  <a:pt x="972311" y="110031"/>
                </a:lnTo>
                <a:lnTo>
                  <a:pt x="969468" y="107188"/>
                </a:lnTo>
                <a:close/>
              </a:path>
              <a:path w="1925954" h="2548890">
                <a:moveTo>
                  <a:pt x="969468" y="196088"/>
                </a:moveTo>
                <a:lnTo>
                  <a:pt x="962454" y="196088"/>
                </a:lnTo>
                <a:lnTo>
                  <a:pt x="959611" y="198931"/>
                </a:lnTo>
                <a:lnTo>
                  <a:pt x="959611" y="244044"/>
                </a:lnTo>
                <a:lnTo>
                  <a:pt x="962454" y="246888"/>
                </a:lnTo>
                <a:lnTo>
                  <a:pt x="969468" y="246888"/>
                </a:lnTo>
                <a:lnTo>
                  <a:pt x="972311" y="244044"/>
                </a:lnTo>
                <a:lnTo>
                  <a:pt x="972311" y="198931"/>
                </a:lnTo>
                <a:lnTo>
                  <a:pt x="969468" y="196088"/>
                </a:lnTo>
                <a:close/>
              </a:path>
              <a:path w="1925954" h="2548890">
                <a:moveTo>
                  <a:pt x="969468" y="284988"/>
                </a:moveTo>
                <a:lnTo>
                  <a:pt x="962454" y="284988"/>
                </a:lnTo>
                <a:lnTo>
                  <a:pt x="959611" y="287831"/>
                </a:lnTo>
                <a:lnTo>
                  <a:pt x="959611" y="332944"/>
                </a:lnTo>
                <a:lnTo>
                  <a:pt x="962454" y="335788"/>
                </a:lnTo>
                <a:lnTo>
                  <a:pt x="969468" y="335788"/>
                </a:lnTo>
                <a:lnTo>
                  <a:pt x="972311" y="332944"/>
                </a:lnTo>
                <a:lnTo>
                  <a:pt x="972311" y="287831"/>
                </a:lnTo>
                <a:lnTo>
                  <a:pt x="969468" y="284988"/>
                </a:lnTo>
                <a:close/>
              </a:path>
              <a:path w="1925954" h="2548890">
                <a:moveTo>
                  <a:pt x="969468" y="373888"/>
                </a:moveTo>
                <a:lnTo>
                  <a:pt x="962454" y="373888"/>
                </a:lnTo>
                <a:lnTo>
                  <a:pt x="959611" y="376731"/>
                </a:lnTo>
                <a:lnTo>
                  <a:pt x="959611" y="421844"/>
                </a:lnTo>
                <a:lnTo>
                  <a:pt x="962454" y="424688"/>
                </a:lnTo>
                <a:lnTo>
                  <a:pt x="969468" y="424688"/>
                </a:lnTo>
                <a:lnTo>
                  <a:pt x="972311" y="421844"/>
                </a:lnTo>
                <a:lnTo>
                  <a:pt x="972311" y="376731"/>
                </a:lnTo>
                <a:lnTo>
                  <a:pt x="969468" y="373888"/>
                </a:lnTo>
                <a:close/>
              </a:path>
              <a:path w="1925954" h="2548890">
                <a:moveTo>
                  <a:pt x="969468" y="462788"/>
                </a:moveTo>
                <a:lnTo>
                  <a:pt x="962454" y="462788"/>
                </a:lnTo>
                <a:lnTo>
                  <a:pt x="959611" y="465631"/>
                </a:lnTo>
                <a:lnTo>
                  <a:pt x="959611" y="510744"/>
                </a:lnTo>
                <a:lnTo>
                  <a:pt x="962454" y="513588"/>
                </a:lnTo>
                <a:lnTo>
                  <a:pt x="969468" y="513588"/>
                </a:lnTo>
                <a:lnTo>
                  <a:pt x="972311" y="510744"/>
                </a:lnTo>
                <a:lnTo>
                  <a:pt x="972311" y="465631"/>
                </a:lnTo>
                <a:lnTo>
                  <a:pt x="969468" y="462788"/>
                </a:lnTo>
                <a:close/>
              </a:path>
              <a:path w="1925954" h="2548890">
                <a:moveTo>
                  <a:pt x="969468" y="551688"/>
                </a:moveTo>
                <a:lnTo>
                  <a:pt x="962454" y="551688"/>
                </a:lnTo>
                <a:lnTo>
                  <a:pt x="959611" y="554531"/>
                </a:lnTo>
                <a:lnTo>
                  <a:pt x="959611" y="599644"/>
                </a:lnTo>
                <a:lnTo>
                  <a:pt x="962454" y="602488"/>
                </a:lnTo>
                <a:lnTo>
                  <a:pt x="969468" y="602488"/>
                </a:lnTo>
                <a:lnTo>
                  <a:pt x="972311" y="599644"/>
                </a:lnTo>
                <a:lnTo>
                  <a:pt x="972311" y="554531"/>
                </a:lnTo>
                <a:lnTo>
                  <a:pt x="969468" y="551688"/>
                </a:lnTo>
                <a:close/>
              </a:path>
              <a:path w="1925954" h="2548890">
                <a:moveTo>
                  <a:pt x="969468" y="640588"/>
                </a:moveTo>
                <a:lnTo>
                  <a:pt x="962454" y="640588"/>
                </a:lnTo>
                <a:lnTo>
                  <a:pt x="959611" y="643431"/>
                </a:lnTo>
                <a:lnTo>
                  <a:pt x="959611" y="688544"/>
                </a:lnTo>
                <a:lnTo>
                  <a:pt x="962454" y="691388"/>
                </a:lnTo>
                <a:lnTo>
                  <a:pt x="969468" y="691388"/>
                </a:lnTo>
                <a:lnTo>
                  <a:pt x="972311" y="688544"/>
                </a:lnTo>
                <a:lnTo>
                  <a:pt x="972311" y="643431"/>
                </a:lnTo>
                <a:lnTo>
                  <a:pt x="969468" y="640588"/>
                </a:lnTo>
                <a:close/>
              </a:path>
              <a:path w="1925954" h="2548890">
                <a:moveTo>
                  <a:pt x="969468" y="729488"/>
                </a:moveTo>
                <a:lnTo>
                  <a:pt x="962454" y="729488"/>
                </a:lnTo>
                <a:lnTo>
                  <a:pt x="959611" y="732331"/>
                </a:lnTo>
                <a:lnTo>
                  <a:pt x="959611" y="777444"/>
                </a:lnTo>
                <a:lnTo>
                  <a:pt x="962454" y="780288"/>
                </a:lnTo>
                <a:lnTo>
                  <a:pt x="969468" y="780288"/>
                </a:lnTo>
                <a:lnTo>
                  <a:pt x="972311" y="777444"/>
                </a:lnTo>
                <a:lnTo>
                  <a:pt x="972311" y="732331"/>
                </a:lnTo>
                <a:lnTo>
                  <a:pt x="969468" y="729488"/>
                </a:lnTo>
                <a:close/>
              </a:path>
              <a:path w="1925954" h="2548890">
                <a:moveTo>
                  <a:pt x="969468" y="818388"/>
                </a:moveTo>
                <a:lnTo>
                  <a:pt x="962454" y="818388"/>
                </a:lnTo>
                <a:lnTo>
                  <a:pt x="959611" y="821231"/>
                </a:lnTo>
                <a:lnTo>
                  <a:pt x="959611" y="866344"/>
                </a:lnTo>
                <a:lnTo>
                  <a:pt x="962454" y="869188"/>
                </a:lnTo>
                <a:lnTo>
                  <a:pt x="969468" y="869188"/>
                </a:lnTo>
                <a:lnTo>
                  <a:pt x="972311" y="866344"/>
                </a:lnTo>
                <a:lnTo>
                  <a:pt x="972311" y="821231"/>
                </a:lnTo>
                <a:lnTo>
                  <a:pt x="969468" y="818388"/>
                </a:lnTo>
                <a:close/>
              </a:path>
              <a:path w="1925954" h="2548890">
                <a:moveTo>
                  <a:pt x="969468" y="907288"/>
                </a:moveTo>
                <a:lnTo>
                  <a:pt x="962454" y="907288"/>
                </a:lnTo>
                <a:lnTo>
                  <a:pt x="959611" y="910131"/>
                </a:lnTo>
                <a:lnTo>
                  <a:pt x="959611" y="955244"/>
                </a:lnTo>
                <a:lnTo>
                  <a:pt x="962454" y="958088"/>
                </a:lnTo>
                <a:lnTo>
                  <a:pt x="969468" y="958088"/>
                </a:lnTo>
                <a:lnTo>
                  <a:pt x="972311" y="955244"/>
                </a:lnTo>
                <a:lnTo>
                  <a:pt x="972311" y="910131"/>
                </a:lnTo>
                <a:lnTo>
                  <a:pt x="969468" y="907288"/>
                </a:lnTo>
                <a:close/>
              </a:path>
              <a:path w="1925954" h="2548890">
                <a:moveTo>
                  <a:pt x="969468" y="996188"/>
                </a:moveTo>
                <a:lnTo>
                  <a:pt x="962454" y="996188"/>
                </a:lnTo>
                <a:lnTo>
                  <a:pt x="959611" y="999031"/>
                </a:lnTo>
                <a:lnTo>
                  <a:pt x="959611" y="1044144"/>
                </a:lnTo>
                <a:lnTo>
                  <a:pt x="962454" y="1046988"/>
                </a:lnTo>
                <a:lnTo>
                  <a:pt x="969468" y="1046988"/>
                </a:lnTo>
                <a:lnTo>
                  <a:pt x="972311" y="1044144"/>
                </a:lnTo>
                <a:lnTo>
                  <a:pt x="972311" y="999031"/>
                </a:lnTo>
                <a:lnTo>
                  <a:pt x="969468" y="996188"/>
                </a:lnTo>
                <a:close/>
              </a:path>
              <a:path w="1925954" h="2548890">
                <a:moveTo>
                  <a:pt x="969468" y="1085088"/>
                </a:moveTo>
                <a:lnTo>
                  <a:pt x="962454" y="1085088"/>
                </a:lnTo>
                <a:lnTo>
                  <a:pt x="959611" y="1087931"/>
                </a:lnTo>
                <a:lnTo>
                  <a:pt x="959611" y="1133044"/>
                </a:lnTo>
                <a:lnTo>
                  <a:pt x="962454" y="1135888"/>
                </a:lnTo>
                <a:lnTo>
                  <a:pt x="969468" y="1135888"/>
                </a:lnTo>
                <a:lnTo>
                  <a:pt x="972311" y="1133044"/>
                </a:lnTo>
                <a:lnTo>
                  <a:pt x="972311" y="1087931"/>
                </a:lnTo>
                <a:lnTo>
                  <a:pt x="969468" y="1085088"/>
                </a:lnTo>
                <a:close/>
              </a:path>
              <a:path w="1925954" h="2548890">
                <a:moveTo>
                  <a:pt x="969468" y="1173988"/>
                </a:moveTo>
                <a:lnTo>
                  <a:pt x="962454" y="1173988"/>
                </a:lnTo>
                <a:lnTo>
                  <a:pt x="959611" y="1176831"/>
                </a:lnTo>
                <a:lnTo>
                  <a:pt x="959611" y="1221944"/>
                </a:lnTo>
                <a:lnTo>
                  <a:pt x="962454" y="1224788"/>
                </a:lnTo>
                <a:lnTo>
                  <a:pt x="969468" y="1224788"/>
                </a:lnTo>
                <a:lnTo>
                  <a:pt x="972311" y="1221944"/>
                </a:lnTo>
                <a:lnTo>
                  <a:pt x="972311" y="1176831"/>
                </a:lnTo>
                <a:lnTo>
                  <a:pt x="969468" y="1173988"/>
                </a:lnTo>
                <a:close/>
              </a:path>
              <a:path w="1925954" h="2548890">
                <a:moveTo>
                  <a:pt x="969468" y="1262888"/>
                </a:moveTo>
                <a:lnTo>
                  <a:pt x="962454" y="1262888"/>
                </a:lnTo>
                <a:lnTo>
                  <a:pt x="959611" y="1265731"/>
                </a:lnTo>
                <a:lnTo>
                  <a:pt x="959611" y="1310844"/>
                </a:lnTo>
                <a:lnTo>
                  <a:pt x="962454" y="1313688"/>
                </a:lnTo>
                <a:lnTo>
                  <a:pt x="969468" y="1313688"/>
                </a:lnTo>
                <a:lnTo>
                  <a:pt x="972311" y="1310844"/>
                </a:lnTo>
                <a:lnTo>
                  <a:pt x="972311" y="1265731"/>
                </a:lnTo>
                <a:lnTo>
                  <a:pt x="969468" y="1262888"/>
                </a:lnTo>
                <a:close/>
              </a:path>
              <a:path w="1925954" h="2548890">
                <a:moveTo>
                  <a:pt x="969468" y="1351788"/>
                </a:moveTo>
                <a:lnTo>
                  <a:pt x="962454" y="1351788"/>
                </a:lnTo>
                <a:lnTo>
                  <a:pt x="959611" y="1354631"/>
                </a:lnTo>
                <a:lnTo>
                  <a:pt x="959611" y="1399744"/>
                </a:lnTo>
                <a:lnTo>
                  <a:pt x="962454" y="1402588"/>
                </a:lnTo>
                <a:lnTo>
                  <a:pt x="969468" y="1402588"/>
                </a:lnTo>
                <a:lnTo>
                  <a:pt x="972311" y="1399744"/>
                </a:lnTo>
                <a:lnTo>
                  <a:pt x="972311" y="1354631"/>
                </a:lnTo>
                <a:lnTo>
                  <a:pt x="969468" y="1351788"/>
                </a:lnTo>
                <a:close/>
              </a:path>
              <a:path w="1925954" h="2548890">
                <a:moveTo>
                  <a:pt x="969468" y="1440688"/>
                </a:moveTo>
                <a:lnTo>
                  <a:pt x="962454" y="1440688"/>
                </a:lnTo>
                <a:lnTo>
                  <a:pt x="959611" y="1443531"/>
                </a:lnTo>
                <a:lnTo>
                  <a:pt x="959611" y="1488644"/>
                </a:lnTo>
                <a:lnTo>
                  <a:pt x="962454" y="1491488"/>
                </a:lnTo>
                <a:lnTo>
                  <a:pt x="969468" y="1491488"/>
                </a:lnTo>
                <a:lnTo>
                  <a:pt x="972311" y="1488644"/>
                </a:lnTo>
                <a:lnTo>
                  <a:pt x="972311" y="1443531"/>
                </a:lnTo>
                <a:lnTo>
                  <a:pt x="969468" y="1440688"/>
                </a:lnTo>
                <a:close/>
              </a:path>
              <a:path w="1925954" h="2548890">
                <a:moveTo>
                  <a:pt x="969468" y="1529588"/>
                </a:moveTo>
                <a:lnTo>
                  <a:pt x="962454" y="1529588"/>
                </a:lnTo>
                <a:lnTo>
                  <a:pt x="959611" y="1532431"/>
                </a:lnTo>
                <a:lnTo>
                  <a:pt x="959611" y="1577544"/>
                </a:lnTo>
                <a:lnTo>
                  <a:pt x="962454" y="1580388"/>
                </a:lnTo>
                <a:lnTo>
                  <a:pt x="969468" y="1580388"/>
                </a:lnTo>
                <a:lnTo>
                  <a:pt x="972311" y="1577544"/>
                </a:lnTo>
                <a:lnTo>
                  <a:pt x="972311" y="1532431"/>
                </a:lnTo>
                <a:lnTo>
                  <a:pt x="969468" y="1529588"/>
                </a:lnTo>
                <a:close/>
              </a:path>
              <a:path w="1925954" h="2548890">
                <a:moveTo>
                  <a:pt x="969468" y="1618488"/>
                </a:moveTo>
                <a:lnTo>
                  <a:pt x="962454" y="1618488"/>
                </a:lnTo>
                <a:lnTo>
                  <a:pt x="959611" y="1621331"/>
                </a:lnTo>
                <a:lnTo>
                  <a:pt x="959611" y="1666444"/>
                </a:lnTo>
                <a:lnTo>
                  <a:pt x="962454" y="1669288"/>
                </a:lnTo>
                <a:lnTo>
                  <a:pt x="969468" y="1669288"/>
                </a:lnTo>
                <a:lnTo>
                  <a:pt x="972311" y="1666444"/>
                </a:lnTo>
                <a:lnTo>
                  <a:pt x="972311" y="1621331"/>
                </a:lnTo>
                <a:lnTo>
                  <a:pt x="969468" y="1618488"/>
                </a:lnTo>
                <a:close/>
              </a:path>
              <a:path w="1925954" h="2548890">
                <a:moveTo>
                  <a:pt x="969468" y="1707387"/>
                </a:moveTo>
                <a:lnTo>
                  <a:pt x="962454" y="1707387"/>
                </a:lnTo>
                <a:lnTo>
                  <a:pt x="959611" y="1710230"/>
                </a:lnTo>
                <a:lnTo>
                  <a:pt x="959611" y="1755344"/>
                </a:lnTo>
                <a:lnTo>
                  <a:pt x="962454" y="1758187"/>
                </a:lnTo>
                <a:lnTo>
                  <a:pt x="969468" y="1758187"/>
                </a:lnTo>
                <a:lnTo>
                  <a:pt x="972311" y="1755344"/>
                </a:lnTo>
                <a:lnTo>
                  <a:pt x="972311" y="1710230"/>
                </a:lnTo>
                <a:lnTo>
                  <a:pt x="969468" y="1707387"/>
                </a:lnTo>
                <a:close/>
              </a:path>
              <a:path w="1925954" h="2548890">
                <a:moveTo>
                  <a:pt x="969468" y="1796287"/>
                </a:moveTo>
                <a:lnTo>
                  <a:pt x="962454" y="1796287"/>
                </a:lnTo>
                <a:lnTo>
                  <a:pt x="959611" y="1799130"/>
                </a:lnTo>
                <a:lnTo>
                  <a:pt x="959611" y="1844244"/>
                </a:lnTo>
                <a:lnTo>
                  <a:pt x="962454" y="1847087"/>
                </a:lnTo>
                <a:lnTo>
                  <a:pt x="969468" y="1847087"/>
                </a:lnTo>
                <a:lnTo>
                  <a:pt x="972311" y="1844244"/>
                </a:lnTo>
                <a:lnTo>
                  <a:pt x="972311" y="1799130"/>
                </a:lnTo>
                <a:lnTo>
                  <a:pt x="969468" y="1796287"/>
                </a:lnTo>
                <a:close/>
              </a:path>
              <a:path w="1925954" h="2548890">
                <a:moveTo>
                  <a:pt x="969468" y="1885187"/>
                </a:moveTo>
                <a:lnTo>
                  <a:pt x="962454" y="1885187"/>
                </a:lnTo>
                <a:lnTo>
                  <a:pt x="959611" y="1888030"/>
                </a:lnTo>
                <a:lnTo>
                  <a:pt x="959611" y="1933144"/>
                </a:lnTo>
                <a:lnTo>
                  <a:pt x="962454" y="1935987"/>
                </a:lnTo>
                <a:lnTo>
                  <a:pt x="969468" y="1935987"/>
                </a:lnTo>
                <a:lnTo>
                  <a:pt x="972311" y="1933144"/>
                </a:lnTo>
                <a:lnTo>
                  <a:pt x="972311" y="1888030"/>
                </a:lnTo>
                <a:lnTo>
                  <a:pt x="969468" y="1885187"/>
                </a:lnTo>
                <a:close/>
              </a:path>
              <a:path w="1925954" h="2548890">
                <a:moveTo>
                  <a:pt x="969468" y="1974087"/>
                </a:moveTo>
                <a:lnTo>
                  <a:pt x="962454" y="1974087"/>
                </a:lnTo>
                <a:lnTo>
                  <a:pt x="959611" y="1976930"/>
                </a:lnTo>
                <a:lnTo>
                  <a:pt x="959611" y="2022044"/>
                </a:lnTo>
                <a:lnTo>
                  <a:pt x="962454" y="2024887"/>
                </a:lnTo>
                <a:lnTo>
                  <a:pt x="969468" y="2024887"/>
                </a:lnTo>
                <a:lnTo>
                  <a:pt x="972311" y="2022044"/>
                </a:lnTo>
                <a:lnTo>
                  <a:pt x="972311" y="1976930"/>
                </a:lnTo>
                <a:lnTo>
                  <a:pt x="969468" y="1974087"/>
                </a:lnTo>
                <a:close/>
              </a:path>
              <a:path w="1925954" h="2548890">
                <a:moveTo>
                  <a:pt x="969468" y="2062987"/>
                </a:moveTo>
                <a:lnTo>
                  <a:pt x="962454" y="2062987"/>
                </a:lnTo>
                <a:lnTo>
                  <a:pt x="959611" y="2065830"/>
                </a:lnTo>
                <a:lnTo>
                  <a:pt x="959611" y="2110944"/>
                </a:lnTo>
                <a:lnTo>
                  <a:pt x="962454" y="2113787"/>
                </a:lnTo>
                <a:lnTo>
                  <a:pt x="969468" y="2113787"/>
                </a:lnTo>
                <a:lnTo>
                  <a:pt x="972311" y="2110944"/>
                </a:lnTo>
                <a:lnTo>
                  <a:pt x="972311" y="2065830"/>
                </a:lnTo>
                <a:lnTo>
                  <a:pt x="969468" y="2062987"/>
                </a:lnTo>
                <a:close/>
              </a:path>
              <a:path w="1925954" h="2548890">
                <a:moveTo>
                  <a:pt x="969468" y="2151887"/>
                </a:moveTo>
                <a:lnTo>
                  <a:pt x="962454" y="2151887"/>
                </a:lnTo>
                <a:lnTo>
                  <a:pt x="959611" y="2154730"/>
                </a:lnTo>
                <a:lnTo>
                  <a:pt x="959611" y="2199844"/>
                </a:lnTo>
                <a:lnTo>
                  <a:pt x="962454" y="2202687"/>
                </a:lnTo>
                <a:lnTo>
                  <a:pt x="969468" y="2202687"/>
                </a:lnTo>
                <a:lnTo>
                  <a:pt x="972311" y="2199844"/>
                </a:lnTo>
                <a:lnTo>
                  <a:pt x="972311" y="2154730"/>
                </a:lnTo>
                <a:lnTo>
                  <a:pt x="969468" y="2151887"/>
                </a:lnTo>
                <a:close/>
              </a:path>
              <a:path w="1925954" h="2548890">
                <a:moveTo>
                  <a:pt x="969468" y="2240787"/>
                </a:moveTo>
                <a:lnTo>
                  <a:pt x="962454" y="2240787"/>
                </a:lnTo>
                <a:lnTo>
                  <a:pt x="959611" y="2243630"/>
                </a:lnTo>
                <a:lnTo>
                  <a:pt x="959611" y="2288744"/>
                </a:lnTo>
                <a:lnTo>
                  <a:pt x="962454" y="2291587"/>
                </a:lnTo>
                <a:lnTo>
                  <a:pt x="969468" y="2291587"/>
                </a:lnTo>
                <a:lnTo>
                  <a:pt x="972311" y="2288744"/>
                </a:lnTo>
                <a:lnTo>
                  <a:pt x="972311" y="2243630"/>
                </a:lnTo>
                <a:lnTo>
                  <a:pt x="969468" y="2240787"/>
                </a:lnTo>
                <a:close/>
              </a:path>
              <a:path w="1925954" h="2548890">
                <a:moveTo>
                  <a:pt x="969468" y="2329687"/>
                </a:moveTo>
                <a:lnTo>
                  <a:pt x="962454" y="2329687"/>
                </a:lnTo>
                <a:lnTo>
                  <a:pt x="959611" y="2332530"/>
                </a:lnTo>
                <a:lnTo>
                  <a:pt x="959611" y="2377644"/>
                </a:lnTo>
                <a:lnTo>
                  <a:pt x="962454" y="2380487"/>
                </a:lnTo>
                <a:lnTo>
                  <a:pt x="969468" y="2380487"/>
                </a:lnTo>
                <a:lnTo>
                  <a:pt x="972311" y="2377644"/>
                </a:lnTo>
                <a:lnTo>
                  <a:pt x="972311" y="2332530"/>
                </a:lnTo>
                <a:lnTo>
                  <a:pt x="969468" y="2329687"/>
                </a:lnTo>
                <a:close/>
              </a:path>
              <a:path w="1925954" h="2548890">
                <a:moveTo>
                  <a:pt x="969468" y="2418587"/>
                </a:moveTo>
                <a:lnTo>
                  <a:pt x="962454" y="2418587"/>
                </a:lnTo>
                <a:lnTo>
                  <a:pt x="959611" y="2421430"/>
                </a:lnTo>
                <a:lnTo>
                  <a:pt x="959611" y="2466544"/>
                </a:lnTo>
                <a:lnTo>
                  <a:pt x="962454" y="2469387"/>
                </a:lnTo>
                <a:lnTo>
                  <a:pt x="969468" y="2469387"/>
                </a:lnTo>
                <a:lnTo>
                  <a:pt x="972311" y="2466544"/>
                </a:lnTo>
                <a:lnTo>
                  <a:pt x="972311" y="2421430"/>
                </a:lnTo>
                <a:lnTo>
                  <a:pt x="969468" y="2418587"/>
                </a:lnTo>
                <a:close/>
              </a:path>
              <a:path w="1925954" h="2548890">
                <a:moveTo>
                  <a:pt x="1010730" y="2504325"/>
                </a:moveTo>
                <a:lnTo>
                  <a:pt x="965616" y="2504325"/>
                </a:lnTo>
                <a:lnTo>
                  <a:pt x="962773" y="2507168"/>
                </a:lnTo>
                <a:lnTo>
                  <a:pt x="962773" y="2514182"/>
                </a:lnTo>
                <a:lnTo>
                  <a:pt x="965616" y="2517025"/>
                </a:lnTo>
                <a:lnTo>
                  <a:pt x="1010730" y="2517025"/>
                </a:lnTo>
                <a:lnTo>
                  <a:pt x="1013573" y="2514182"/>
                </a:lnTo>
                <a:lnTo>
                  <a:pt x="1013573" y="2507168"/>
                </a:lnTo>
                <a:lnTo>
                  <a:pt x="1010730" y="2504325"/>
                </a:lnTo>
                <a:close/>
              </a:path>
              <a:path w="1925954" h="2548890">
                <a:moveTo>
                  <a:pt x="1099630" y="2504325"/>
                </a:moveTo>
                <a:lnTo>
                  <a:pt x="1054516" y="2504325"/>
                </a:lnTo>
                <a:lnTo>
                  <a:pt x="1051673" y="2507168"/>
                </a:lnTo>
                <a:lnTo>
                  <a:pt x="1051673" y="2514182"/>
                </a:lnTo>
                <a:lnTo>
                  <a:pt x="1054516" y="2517025"/>
                </a:lnTo>
                <a:lnTo>
                  <a:pt x="1099630" y="2517025"/>
                </a:lnTo>
                <a:lnTo>
                  <a:pt x="1102473" y="2514182"/>
                </a:lnTo>
                <a:lnTo>
                  <a:pt x="1102473" y="2507168"/>
                </a:lnTo>
                <a:lnTo>
                  <a:pt x="1099630" y="2504325"/>
                </a:lnTo>
                <a:close/>
              </a:path>
              <a:path w="1925954" h="2548890">
                <a:moveTo>
                  <a:pt x="1188530" y="2504325"/>
                </a:moveTo>
                <a:lnTo>
                  <a:pt x="1143416" y="2504325"/>
                </a:lnTo>
                <a:lnTo>
                  <a:pt x="1140573" y="2507168"/>
                </a:lnTo>
                <a:lnTo>
                  <a:pt x="1140573" y="2514182"/>
                </a:lnTo>
                <a:lnTo>
                  <a:pt x="1143416" y="2517025"/>
                </a:lnTo>
                <a:lnTo>
                  <a:pt x="1188530" y="2517025"/>
                </a:lnTo>
                <a:lnTo>
                  <a:pt x="1191373" y="2514182"/>
                </a:lnTo>
                <a:lnTo>
                  <a:pt x="1191373" y="2507168"/>
                </a:lnTo>
                <a:lnTo>
                  <a:pt x="1188530" y="2504325"/>
                </a:lnTo>
                <a:close/>
              </a:path>
              <a:path w="1925954" h="2548890">
                <a:moveTo>
                  <a:pt x="1277430" y="2504325"/>
                </a:moveTo>
                <a:lnTo>
                  <a:pt x="1232316" y="2504325"/>
                </a:lnTo>
                <a:lnTo>
                  <a:pt x="1229473" y="2507168"/>
                </a:lnTo>
                <a:lnTo>
                  <a:pt x="1229473" y="2514182"/>
                </a:lnTo>
                <a:lnTo>
                  <a:pt x="1232316" y="2517025"/>
                </a:lnTo>
                <a:lnTo>
                  <a:pt x="1277430" y="2517025"/>
                </a:lnTo>
                <a:lnTo>
                  <a:pt x="1280273" y="2514182"/>
                </a:lnTo>
                <a:lnTo>
                  <a:pt x="1280273" y="2507168"/>
                </a:lnTo>
                <a:lnTo>
                  <a:pt x="1277430" y="2504325"/>
                </a:lnTo>
                <a:close/>
              </a:path>
              <a:path w="1925954" h="2548890">
                <a:moveTo>
                  <a:pt x="1366330" y="2504325"/>
                </a:moveTo>
                <a:lnTo>
                  <a:pt x="1321216" y="2504325"/>
                </a:lnTo>
                <a:lnTo>
                  <a:pt x="1318373" y="2507168"/>
                </a:lnTo>
                <a:lnTo>
                  <a:pt x="1318373" y="2514182"/>
                </a:lnTo>
                <a:lnTo>
                  <a:pt x="1321216" y="2517025"/>
                </a:lnTo>
                <a:lnTo>
                  <a:pt x="1366330" y="2517025"/>
                </a:lnTo>
                <a:lnTo>
                  <a:pt x="1369173" y="2514182"/>
                </a:lnTo>
                <a:lnTo>
                  <a:pt x="1369173" y="2507168"/>
                </a:lnTo>
                <a:lnTo>
                  <a:pt x="1366330" y="2504325"/>
                </a:lnTo>
                <a:close/>
              </a:path>
              <a:path w="1925954" h="2548890">
                <a:moveTo>
                  <a:pt x="1455230" y="2504325"/>
                </a:moveTo>
                <a:lnTo>
                  <a:pt x="1410116" y="2504325"/>
                </a:lnTo>
                <a:lnTo>
                  <a:pt x="1407273" y="2507168"/>
                </a:lnTo>
                <a:lnTo>
                  <a:pt x="1407273" y="2514182"/>
                </a:lnTo>
                <a:lnTo>
                  <a:pt x="1410116" y="2517025"/>
                </a:lnTo>
                <a:lnTo>
                  <a:pt x="1455230" y="2517025"/>
                </a:lnTo>
                <a:lnTo>
                  <a:pt x="1458073" y="2514182"/>
                </a:lnTo>
                <a:lnTo>
                  <a:pt x="1458073" y="2507168"/>
                </a:lnTo>
                <a:lnTo>
                  <a:pt x="1455230" y="2504325"/>
                </a:lnTo>
                <a:close/>
              </a:path>
              <a:path w="1925954" h="2548890">
                <a:moveTo>
                  <a:pt x="1544130" y="2504325"/>
                </a:moveTo>
                <a:lnTo>
                  <a:pt x="1499016" y="2504325"/>
                </a:lnTo>
                <a:lnTo>
                  <a:pt x="1496173" y="2507168"/>
                </a:lnTo>
                <a:lnTo>
                  <a:pt x="1496173" y="2514182"/>
                </a:lnTo>
                <a:lnTo>
                  <a:pt x="1499016" y="2517025"/>
                </a:lnTo>
                <a:lnTo>
                  <a:pt x="1544130" y="2517025"/>
                </a:lnTo>
                <a:lnTo>
                  <a:pt x="1546973" y="2514182"/>
                </a:lnTo>
                <a:lnTo>
                  <a:pt x="1546973" y="2507168"/>
                </a:lnTo>
                <a:lnTo>
                  <a:pt x="1544130" y="2504325"/>
                </a:lnTo>
                <a:close/>
              </a:path>
              <a:path w="1925954" h="2548890">
                <a:moveTo>
                  <a:pt x="1633030" y="2504325"/>
                </a:moveTo>
                <a:lnTo>
                  <a:pt x="1587916" y="2504325"/>
                </a:lnTo>
                <a:lnTo>
                  <a:pt x="1585073" y="2507168"/>
                </a:lnTo>
                <a:lnTo>
                  <a:pt x="1585073" y="2514182"/>
                </a:lnTo>
                <a:lnTo>
                  <a:pt x="1587916" y="2517025"/>
                </a:lnTo>
                <a:lnTo>
                  <a:pt x="1633030" y="2517025"/>
                </a:lnTo>
                <a:lnTo>
                  <a:pt x="1635873" y="2514182"/>
                </a:lnTo>
                <a:lnTo>
                  <a:pt x="1635873" y="2507168"/>
                </a:lnTo>
                <a:lnTo>
                  <a:pt x="1633030" y="2504325"/>
                </a:lnTo>
                <a:close/>
              </a:path>
              <a:path w="1925954" h="2548890">
                <a:moveTo>
                  <a:pt x="1721930" y="2504325"/>
                </a:moveTo>
                <a:lnTo>
                  <a:pt x="1676816" y="2504325"/>
                </a:lnTo>
                <a:lnTo>
                  <a:pt x="1673973" y="2507168"/>
                </a:lnTo>
                <a:lnTo>
                  <a:pt x="1673973" y="2514182"/>
                </a:lnTo>
                <a:lnTo>
                  <a:pt x="1676816" y="2517025"/>
                </a:lnTo>
                <a:lnTo>
                  <a:pt x="1721930" y="2517025"/>
                </a:lnTo>
                <a:lnTo>
                  <a:pt x="1724773" y="2514182"/>
                </a:lnTo>
                <a:lnTo>
                  <a:pt x="1724773" y="2507168"/>
                </a:lnTo>
                <a:lnTo>
                  <a:pt x="1721930" y="2504325"/>
                </a:lnTo>
                <a:close/>
              </a:path>
              <a:path w="1925954" h="2548890">
                <a:moveTo>
                  <a:pt x="1810830" y="2504325"/>
                </a:moveTo>
                <a:lnTo>
                  <a:pt x="1765716" y="2504325"/>
                </a:lnTo>
                <a:lnTo>
                  <a:pt x="1762873" y="2507168"/>
                </a:lnTo>
                <a:lnTo>
                  <a:pt x="1762873" y="2514182"/>
                </a:lnTo>
                <a:lnTo>
                  <a:pt x="1765716" y="2517025"/>
                </a:lnTo>
                <a:lnTo>
                  <a:pt x="1810830" y="2517025"/>
                </a:lnTo>
                <a:lnTo>
                  <a:pt x="1813673" y="2514182"/>
                </a:lnTo>
                <a:lnTo>
                  <a:pt x="1813673" y="2507168"/>
                </a:lnTo>
                <a:lnTo>
                  <a:pt x="1810830" y="2504325"/>
                </a:lnTo>
                <a:close/>
              </a:path>
              <a:path w="1925954" h="2548890">
                <a:moveTo>
                  <a:pt x="1849370" y="2472575"/>
                </a:moveTo>
                <a:lnTo>
                  <a:pt x="1849370" y="2548775"/>
                </a:lnTo>
                <a:lnTo>
                  <a:pt x="1912870" y="2517025"/>
                </a:lnTo>
                <a:lnTo>
                  <a:pt x="1854616" y="2517025"/>
                </a:lnTo>
                <a:lnTo>
                  <a:pt x="1851773" y="2514182"/>
                </a:lnTo>
                <a:lnTo>
                  <a:pt x="1851773" y="2507168"/>
                </a:lnTo>
                <a:lnTo>
                  <a:pt x="1854616" y="2504325"/>
                </a:lnTo>
                <a:lnTo>
                  <a:pt x="1912870" y="2504325"/>
                </a:lnTo>
                <a:lnTo>
                  <a:pt x="1849370" y="2472575"/>
                </a:lnTo>
                <a:close/>
              </a:path>
              <a:path w="1925954" h="2548890">
                <a:moveTo>
                  <a:pt x="1865577" y="2504325"/>
                </a:moveTo>
                <a:lnTo>
                  <a:pt x="1854616" y="2504325"/>
                </a:lnTo>
                <a:lnTo>
                  <a:pt x="1851773" y="2507168"/>
                </a:lnTo>
                <a:lnTo>
                  <a:pt x="1851773" y="2514182"/>
                </a:lnTo>
                <a:lnTo>
                  <a:pt x="1854616" y="2517025"/>
                </a:lnTo>
                <a:lnTo>
                  <a:pt x="1865577" y="2517025"/>
                </a:lnTo>
                <a:lnTo>
                  <a:pt x="1868420" y="2514182"/>
                </a:lnTo>
                <a:lnTo>
                  <a:pt x="1868420" y="2507168"/>
                </a:lnTo>
                <a:lnTo>
                  <a:pt x="1865577" y="2504325"/>
                </a:lnTo>
                <a:close/>
              </a:path>
              <a:path w="1925954" h="2548890">
                <a:moveTo>
                  <a:pt x="1912870" y="2504325"/>
                </a:moveTo>
                <a:lnTo>
                  <a:pt x="1865577" y="2504325"/>
                </a:lnTo>
                <a:lnTo>
                  <a:pt x="1868420" y="2507168"/>
                </a:lnTo>
                <a:lnTo>
                  <a:pt x="1868420" y="2514182"/>
                </a:lnTo>
                <a:lnTo>
                  <a:pt x="1865577" y="2517025"/>
                </a:lnTo>
                <a:lnTo>
                  <a:pt x="1912870" y="2517025"/>
                </a:lnTo>
                <a:lnTo>
                  <a:pt x="1925570" y="2510675"/>
                </a:lnTo>
                <a:lnTo>
                  <a:pt x="1912870" y="2504325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62" name="object 6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7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63" name="object 63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29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18464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1908" y="1120140"/>
            <a:ext cx="5114290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/>
              <a:t>Loss </a:t>
            </a:r>
            <a:r>
              <a:rPr dirty="0" sz="3200" b="0">
                <a:latin typeface="Cambria Math"/>
                <a:cs typeface="Cambria Math"/>
              </a:rPr>
              <a:t>𝐿 </a:t>
            </a:r>
            <a:r>
              <a:rPr dirty="0" sz="3200" b="0">
                <a:latin typeface="Calibri"/>
                <a:cs typeface="Calibri"/>
              </a:rPr>
              <a:t>: </a:t>
            </a:r>
            <a:r>
              <a:rPr dirty="0" sz="3200" spc="-5">
                <a:solidFill>
                  <a:srgbClr val="0000FF"/>
                </a:solidFill>
              </a:rPr>
              <a:t>Binary </a:t>
            </a:r>
            <a:r>
              <a:rPr dirty="0" sz="3200" spc="-10">
                <a:solidFill>
                  <a:srgbClr val="0000FF"/>
                </a:solidFill>
              </a:rPr>
              <a:t>cross</a:t>
            </a:r>
            <a:r>
              <a:rPr dirty="0" sz="3200" spc="5">
                <a:solidFill>
                  <a:srgbClr val="0000FF"/>
                </a:solidFill>
              </a:rPr>
              <a:t> </a:t>
            </a:r>
            <a:r>
              <a:rPr dirty="0" sz="3200" spc="-15">
                <a:solidFill>
                  <a:srgbClr val="0000FF"/>
                </a:solidFill>
              </a:rPr>
              <a:t>entropy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/>
              <a:t>Minimize</a:t>
            </a:r>
            <a:r>
              <a:rPr dirty="0" sz="3200" spc="-10" b="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3616" y="2098548"/>
            <a:ext cx="6936740" cy="579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720"/>
              </a:lnSpc>
              <a:spcBef>
                <a:spcPts val="100"/>
              </a:spcBef>
            </a:pPr>
            <a:r>
              <a:rPr dirty="0" sz="3200">
                <a:latin typeface="Cambria Math"/>
                <a:cs typeface="Cambria Math"/>
              </a:rPr>
              <a:t>𝐿  = </a:t>
            </a:r>
            <a:r>
              <a:rPr dirty="0" sz="3200" spc="-25">
                <a:latin typeface="Cambria Math"/>
                <a:cs typeface="Cambria Math"/>
              </a:rPr>
              <a:t>−[𝑦</a:t>
            </a:r>
            <a:r>
              <a:rPr dirty="0" baseline="28985" sz="3450" spc="-37">
                <a:latin typeface="Cambria Math"/>
                <a:cs typeface="Cambria Math"/>
              </a:rPr>
              <a:t>∗</a:t>
            </a:r>
            <a:r>
              <a:rPr dirty="0" sz="3200" spc="-25">
                <a:latin typeface="Cambria Math"/>
                <a:cs typeface="Cambria Math"/>
              </a:rPr>
              <a:t>log(𝑦</a:t>
            </a:r>
            <a:r>
              <a:rPr dirty="0" baseline="-15700" sz="3450" spc="-37">
                <a:latin typeface="Cambria Math"/>
                <a:cs typeface="Cambria Math"/>
              </a:rPr>
              <a:t>+</a:t>
            </a:r>
            <a:r>
              <a:rPr dirty="0" sz="3200" spc="-25">
                <a:latin typeface="Cambria Math"/>
                <a:cs typeface="Cambria Math"/>
              </a:rPr>
              <a:t>) </a:t>
            </a:r>
            <a:r>
              <a:rPr dirty="0" sz="3200">
                <a:latin typeface="Cambria Math"/>
                <a:cs typeface="Cambria Math"/>
              </a:rPr>
              <a:t>+ </a:t>
            </a:r>
            <a:r>
              <a:rPr dirty="0" sz="3200" spc="-5">
                <a:latin typeface="Cambria Math"/>
                <a:cs typeface="Cambria Math"/>
              </a:rPr>
              <a:t>(1 </a:t>
            </a:r>
            <a:r>
              <a:rPr dirty="0" sz="3200">
                <a:latin typeface="Cambria Math"/>
                <a:cs typeface="Cambria Math"/>
              </a:rPr>
              <a:t>− </a:t>
            </a:r>
            <a:r>
              <a:rPr dirty="0" sz="3200" spc="25">
                <a:latin typeface="Cambria Math"/>
                <a:cs typeface="Cambria Math"/>
              </a:rPr>
              <a:t>𝑦</a:t>
            </a:r>
            <a:r>
              <a:rPr dirty="0" baseline="28985" sz="3450" spc="37">
                <a:latin typeface="Cambria Math"/>
                <a:cs typeface="Cambria Math"/>
              </a:rPr>
              <a:t>∗</a:t>
            </a:r>
            <a:r>
              <a:rPr dirty="0" sz="3200" spc="25">
                <a:latin typeface="Cambria Math"/>
                <a:cs typeface="Cambria Math"/>
              </a:rPr>
              <a:t>)log(1 </a:t>
            </a:r>
            <a:r>
              <a:rPr dirty="0" sz="3200">
                <a:latin typeface="Cambria Math"/>
                <a:cs typeface="Cambria Math"/>
              </a:rPr>
              <a:t>−</a:t>
            </a:r>
            <a:r>
              <a:rPr dirty="0" sz="3200" spc="-225">
                <a:latin typeface="Cambria Math"/>
                <a:cs typeface="Cambria Math"/>
              </a:rPr>
              <a:t> </a:t>
            </a:r>
            <a:r>
              <a:rPr dirty="0" sz="3200" spc="-120">
                <a:latin typeface="Cambria Math"/>
                <a:cs typeface="Cambria Math"/>
              </a:rPr>
              <a:t>𝑦</a:t>
            </a:r>
            <a:r>
              <a:rPr dirty="0" baseline="-15700" sz="3450" spc="-179">
                <a:latin typeface="Cambria Math"/>
                <a:cs typeface="Cambria Math"/>
              </a:rPr>
              <a:t>+</a:t>
            </a:r>
            <a:r>
              <a:rPr dirty="0" sz="3200" spc="-120">
                <a:latin typeface="Cambria Math"/>
                <a:cs typeface="Cambria Math"/>
              </a:rPr>
              <a:t>)]</a:t>
            </a:r>
            <a:endParaRPr sz="3200">
              <a:latin typeface="Cambria Math"/>
              <a:cs typeface="Cambria Math"/>
            </a:endParaRPr>
          </a:p>
          <a:p>
            <a:pPr marL="1417320">
              <a:lnSpc>
                <a:spcPts val="1639"/>
              </a:lnSpc>
              <a:tabLst>
                <a:tab pos="4443730" algn="l"/>
              </a:tabLst>
            </a:pPr>
            <a:r>
              <a:rPr dirty="0" sz="2300" spc="-390">
                <a:latin typeface="Cambria Math"/>
                <a:cs typeface="Cambria Math"/>
              </a:rPr>
              <a:t>+	+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19212" y="4652771"/>
            <a:ext cx="17272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740">
                <a:latin typeface="Cambria Math"/>
                <a:cs typeface="Cambria Math"/>
              </a:rPr>
              <a:t>,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1908" y="4471923"/>
            <a:ext cx="768223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>
                <a:latin typeface="Calibri"/>
                <a:cs typeface="Calibri"/>
              </a:rPr>
              <a:t>If </a:t>
            </a:r>
            <a:r>
              <a:rPr dirty="0" sz="2800" spc="55">
                <a:latin typeface="Cambria Math"/>
                <a:cs typeface="Cambria Math"/>
              </a:rPr>
              <a:t>𝑦</a:t>
            </a:r>
            <a:r>
              <a:rPr dirty="0" baseline="29166" sz="3000" spc="82">
                <a:latin typeface="Cambria Math"/>
                <a:cs typeface="Cambria Math"/>
              </a:rPr>
              <a:t>∗ </a:t>
            </a:r>
            <a:r>
              <a:rPr dirty="0" sz="2800">
                <a:latin typeface="Cambria Math"/>
                <a:cs typeface="Cambria Math"/>
              </a:rPr>
              <a:t>= </a:t>
            </a:r>
            <a:r>
              <a:rPr dirty="0" sz="2800" spc="-5">
                <a:latin typeface="Cambria Math"/>
                <a:cs typeface="Cambria Math"/>
              </a:rPr>
              <a:t>1</a:t>
            </a:r>
            <a:r>
              <a:rPr dirty="0" sz="2800" spc="-5">
                <a:latin typeface="Calibri"/>
                <a:cs typeface="Calibri"/>
              </a:rPr>
              <a:t>, </a:t>
            </a:r>
            <a:r>
              <a:rPr dirty="0" sz="2800" spc="-15">
                <a:latin typeface="Calibri"/>
                <a:cs typeface="Calibri"/>
              </a:rPr>
              <a:t>we minimize </a:t>
            </a:r>
            <a:r>
              <a:rPr dirty="0" sz="2800" spc="75">
                <a:latin typeface="Cambria Math"/>
                <a:cs typeface="Cambria Math"/>
              </a:rPr>
              <a:t>−log(𝑦</a:t>
            </a:r>
            <a:r>
              <a:rPr dirty="0" baseline="-16666" sz="3000" spc="112">
                <a:latin typeface="Cambria Math"/>
                <a:cs typeface="Cambria Math"/>
              </a:rPr>
              <a:t>,</a:t>
            </a:r>
            <a:r>
              <a:rPr dirty="0" sz="2800" spc="75">
                <a:latin typeface="Calibri"/>
                <a:cs typeface="Calibri"/>
              </a:rPr>
              <a:t>), </a:t>
            </a:r>
            <a:r>
              <a:rPr dirty="0" sz="2800" spc="-5">
                <a:latin typeface="Calibri"/>
                <a:cs typeface="Calibri"/>
              </a:rPr>
              <a:t>making </a:t>
            </a:r>
            <a:r>
              <a:rPr dirty="0" sz="2800" spc="290">
                <a:latin typeface="Cambria Math"/>
                <a:cs typeface="Cambria Math"/>
              </a:rPr>
              <a:t>𝑦</a:t>
            </a:r>
            <a:r>
              <a:rPr dirty="0" baseline="-16666" sz="3000" spc="434">
                <a:latin typeface="Cambria Math"/>
                <a:cs typeface="Cambria Math"/>
              </a:rPr>
              <a:t>,</a:t>
            </a:r>
            <a:r>
              <a:rPr dirty="0" baseline="-16666" sz="3000" spc="525">
                <a:latin typeface="Cambria Math"/>
                <a:cs typeface="Cambria Math"/>
              </a:rPr>
              <a:t> </a:t>
            </a:r>
            <a:r>
              <a:rPr dirty="0" sz="2800" spc="-5">
                <a:latin typeface="Calibri"/>
                <a:cs typeface="Calibri"/>
              </a:rPr>
              <a:t>higher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19212" y="5085588"/>
            <a:ext cx="17272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740">
                <a:latin typeface="Cambria Math"/>
                <a:cs typeface="Cambria Math"/>
              </a:rPr>
              <a:t>,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1908" y="4904739"/>
            <a:ext cx="823722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>
                <a:latin typeface="Calibri"/>
                <a:cs typeface="Calibri"/>
              </a:rPr>
              <a:t>If </a:t>
            </a:r>
            <a:r>
              <a:rPr dirty="0" sz="2800" spc="55">
                <a:latin typeface="Cambria Math"/>
                <a:cs typeface="Cambria Math"/>
              </a:rPr>
              <a:t>𝑦</a:t>
            </a:r>
            <a:r>
              <a:rPr dirty="0" baseline="30555" sz="3000" spc="82">
                <a:latin typeface="Cambria Math"/>
                <a:cs typeface="Cambria Math"/>
              </a:rPr>
              <a:t>∗ </a:t>
            </a:r>
            <a:r>
              <a:rPr dirty="0" sz="2800">
                <a:latin typeface="Cambria Math"/>
                <a:cs typeface="Cambria Math"/>
              </a:rPr>
              <a:t>= </a:t>
            </a:r>
            <a:r>
              <a:rPr dirty="0" sz="2800" spc="-5">
                <a:latin typeface="Cambria Math"/>
                <a:cs typeface="Cambria Math"/>
              </a:rPr>
              <a:t>0</a:t>
            </a:r>
            <a:r>
              <a:rPr dirty="0" sz="2800" spc="-5">
                <a:latin typeface="Calibri"/>
                <a:cs typeface="Calibri"/>
              </a:rPr>
              <a:t>, </a:t>
            </a:r>
            <a:r>
              <a:rPr dirty="0" sz="2800" spc="-15">
                <a:latin typeface="Calibri"/>
                <a:cs typeface="Calibri"/>
              </a:rPr>
              <a:t>we minimize </a:t>
            </a:r>
            <a:r>
              <a:rPr dirty="0" sz="2800" spc="-5">
                <a:latin typeface="Cambria Math"/>
                <a:cs typeface="Cambria Math"/>
              </a:rPr>
              <a:t>−log(1 </a:t>
            </a:r>
            <a:r>
              <a:rPr dirty="0" sz="2800">
                <a:latin typeface="Cambria Math"/>
                <a:cs typeface="Cambria Math"/>
              </a:rPr>
              <a:t>− </a:t>
            </a:r>
            <a:r>
              <a:rPr dirty="0" sz="2800" spc="165">
                <a:latin typeface="Cambria Math"/>
                <a:cs typeface="Cambria Math"/>
              </a:rPr>
              <a:t>𝑦</a:t>
            </a:r>
            <a:r>
              <a:rPr dirty="0" baseline="-16666" sz="3000" spc="247">
                <a:latin typeface="Cambria Math"/>
                <a:cs typeface="Cambria Math"/>
              </a:rPr>
              <a:t>,</a:t>
            </a:r>
            <a:r>
              <a:rPr dirty="0" sz="2800" spc="165">
                <a:latin typeface="Cambria Math"/>
                <a:cs typeface="Cambria Math"/>
              </a:rPr>
              <a:t>)</a:t>
            </a:r>
            <a:r>
              <a:rPr dirty="0" sz="2800" spc="165">
                <a:latin typeface="Calibri"/>
                <a:cs typeface="Calibri"/>
              </a:rPr>
              <a:t>, </a:t>
            </a:r>
            <a:r>
              <a:rPr dirty="0" sz="2800" spc="-5">
                <a:latin typeface="Calibri"/>
                <a:cs typeface="Calibri"/>
              </a:rPr>
              <a:t>making </a:t>
            </a:r>
            <a:r>
              <a:rPr dirty="0" sz="2800" spc="290">
                <a:latin typeface="Cambria Math"/>
                <a:cs typeface="Cambria Math"/>
              </a:rPr>
              <a:t>𝑦</a:t>
            </a:r>
            <a:r>
              <a:rPr dirty="0" baseline="-16666" sz="3000" spc="434">
                <a:latin typeface="Cambria Math"/>
                <a:cs typeface="Cambria Math"/>
              </a:rPr>
              <a:t>, </a:t>
            </a:r>
            <a:r>
              <a:rPr dirty="0" sz="2800" spc="-15">
                <a:latin typeface="Calibri"/>
                <a:cs typeface="Calibri"/>
              </a:rPr>
              <a:t>lower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61531" y="5503164"/>
            <a:ext cx="17272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740">
                <a:latin typeface="Cambria Math"/>
                <a:cs typeface="Cambria Math"/>
              </a:rPr>
              <a:t>,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1908" y="5322315"/>
            <a:ext cx="630428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>
                <a:latin typeface="Calibri"/>
                <a:cs typeface="Calibri"/>
              </a:rPr>
              <a:t>This </a:t>
            </a:r>
            <a:r>
              <a:rPr dirty="0" sz="2800" spc="-75">
                <a:latin typeface="Calibri"/>
                <a:cs typeface="Calibri"/>
              </a:rPr>
              <a:t>way, </a:t>
            </a:r>
            <a:r>
              <a:rPr dirty="0" sz="2800" spc="290">
                <a:latin typeface="Cambria Math"/>
                <a:cs typeface="Cambria Math"/>
              </a:rPr>
              <a:t>𝑦</a:t>
            </a:r>
            <a:r>
              <a:rPr dirty="0" baseline="-16666" sz="3000" spc="434">
                <a:latin typeface="Cambria Math"/>
                <a:cs typeface="Cambria Math"/>
              </a:rPr>
              <a:t>,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 spc="-10" b="1">
                <a:solidFill>
                  <a:srgbClr val="C64847"/>
                </a:solidFill>
                <a:latin typeface="Calibri"/>
                <a:cs typeface="Calibri"/>
              </a:rPr>
              <a:t>fitting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20">
                <a:latin typeface="Calibri"/>
                <a:cs typeface="Calibri"/>
              </a:rPr>
              <a:t>data </a:t>
            </a:r>
            <a:r>
              <a:rPr dirty="0" sz="2800" spc="-5">
                <a:latin typeface="Calibri"/>
                <a:cs typeface="Calibri"/>
              </a:rPr>
              <a:t>samples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55">
                <a:latin typeface="Cambria Math"/>
                <a:cs typeface="Cambria Math"/>
              </a:rPr>
              <a:t>𝑦</a:t>
            </a:r>
            <a:r>
              <a:rPr dirty="0" baseline="29166" sz="3000" spc="82">
                <a:latin typeface="Cambria Math"/>
                <a:cs typeface="Cambria Math"/>
              </a:rPr>
              <a:t>∗</a:t>
            </a:r>
            <a:endParaRPr baseline="29166" sz="30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1908" y="5755132"/>
            <a:ext cx="8214995" cy="88519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332740" marR="5080" indent="-320040">
              <a:lnSpc>
                <a:spcPct val="101400"/>
              </a:lnSpc>
              <a:spcBef>
                <a:spcPts val="5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 b="1">
                <a:latin typeface="Calibri"/>
                <a:cs typeface="Calibri"/>
              </a:rPr>
              <a:t>Reminder</a:t>
            </a:r>
            <a:r>
              <a:rPr dirty="0" sz="2800" spc="-10">
                <a:latin typeface="Calibri"/>
                <a:cs typeface="Calibri"/>
              </a:rPr>
              <a:t>: </a:t>
            </a:r>
            <a:r>
              <a:rPr dirty="0" sz="2800" spc="290">
                <a:latin typeface="Cambria Math"/>
                <a:cs typeface="Cambria Math"/>
              </a:rPr>
              <a:t>𝑦</a:t>
            </a:r>
            <a:r>
              <a:rPr dirty="0" baseline="-16666" sz="3000" spc="434">
                <a:latin typeface="Cambria Math"/>
                <a:cs typeface="Cambria Math"/>
              </a:rPr>
              <a:t>,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 spc="-10">
                <a:latin typeface="Calibri"/>
                <a:cs typeface="Calibri"/>
              </a:rPr>
              <a:t>computed </a:t>
            </a:r>
            <a:r>
              <a:rPr dirty="0" sz="2800" spc="-5">
                <a:latin typeface="Calibri"/>
                <a:cs typeface="Calibri"/>
              </a:rPr>
              <a:t>by </a:t>
            </a:r>
            <a:r>
              <a:rPr dirty="0" sz="2800">
                <a:latin typeface="Calibri"/>
                <a:cs typeface="Calibri"/>
              </a:rPr>
              <a:t>RNN, </a:t>
            </a:r>
            <a:r>
              <a:rPr dirty="0" sz="2800" spc="-5">
                <a:latin typeface="Calibri"/>
                <a:cs typeface="Calibri"/>
              </a:rPr>
              <a:t>this loss </a:t>
            </a:r>
            <a:r>
              <a:rPr dirty="0" sz="2800" spc="-10">
                <a:latin typeface="Calibri"/>
                <a:cs typeface="Calibri"/>
              </a:rPr>
              <a:t>will </a:t>
            </a:r>
            <a:r>
              <a:rPr dirty="0" sz="2800" spc="-10" b="1">
                <a:solidFill>
                  <a:srgbClr val="C64847"/>
                </a:solidFill>
                <a:latin typeface="Calibri"/>
                <a:cs typeface="Calibri"/>
              </a:rPr>
              <a:t>adjust  </a:t>
            </a:r>
            <a:r>
              <a:rPr dirty="0" sz="2800" spc="-5" b="1">
                <a:solidFill>
                  <a:srgbClr val="C64847"/>
                </a:solidFill>
                <a:latin typeface="Calibri"/>
                <a:cs typeface="Calibri"/>
              </a:rPr>
              <a:t>RNN </a:t>
            </a:r>
            <a:r>
              <a:rPr dirty="0" sz="2800" spc="-20" b="1">
                <a:solidFill>
                  <a:srgbClr val="C64847"/>
                </a:solidFill>
                <a:latin typeface="Calibri"/>
                <a:cs typeface="Calibri"/>
              </a:rPr>
              <a:t>parameters </a:t>
            </a:r>
            <a:r>
              <a:rPr dirty="0" sz="2800" spc="-10" b="1">
                <a:solidFill>
                  <a:srgbClr val="C64847"/>
                </a:solidFill>
                <a:latin typeface="Calibri"/>
                <a:cs typeface="Calibri"/>
              </a:rPr>
              <a:t>accordingly</a:t>
            </a:r>
            <a:r>
              <a:rPr dirty="0" sz="2800" spc="-10">
                <a:latin typeface="Calibri"/>
                <a:cs typeface="Calibri"/>
              </a:rPr>
              <a:t>, </a:t>
            </a:r>
            <a:r>
              <a:rPr dirty="0" sz="2800" spc="-5">
                <a:latin typeface="Calibri"/>
                <a:cs typeface="Calibri"/>
              </a:rPr>
              <a:t>using back</a:t>
            </a:r>
            <a:r>
              <a:rPr dirty="0" sz="2800" spc="10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propagation!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86008" y="3060699"/>
            <a:ext cx="74612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55">
                <a:solidFill>
                  <a:srgbClr val="0000FF"/>
                </a:solidFill>
                <a:latin typeface="Cambria Math"/>
                <a:cs typeface="Cambria Math"/>
              </a:rPr>
              <a:t>𝑦</a:t>
            </a:r>
            <a:r>
              <a:rPr dirty="0" baseline="30555" sz="3000" spc="82">
                <a:solidFill>
                  <a:srgbClr val="0000FF"/>
                </a:solidFill>
                <a:latin typeface="Cambria Math"/>
                <a:cs typeface="Cambria Math"/>
              </a:rPr>
              <a:t>∗</a:t>
            </a:r>
            <a:r>
              <a:rPr dirty="0" baseline="30555" sz="3000" spc="165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0000FF"/>
                </a:solidFill>
                <a:latin typeface="Cambria Math"/>
                <a:cs typeface="Cambria Math"/>
              </a:rPr>
              <a:t>=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874032" y="3525310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206632" y="218986"/>
                </a:moveTo>
                <a:lnTo>
                  <a:pt x="0" y="218986"/>
                </a:lnTo>
                <a:lnTo>
                  <a:pt x="103317" y="322301"/>
                </a:lnTo>
                <a:lnTo>
                  <a:pt x="206632" y="218986"/>
                </a:lnTo>
                <a:close/>
              </a:path>
              <a:path w="207010" h="322579">
                <a:moveTo>
                  <a:pt x="154975" y="0"/>
                </a:moveTo>
                <a:lnTo>
                  <a:pt x="51658" y="0"/>
                </a:lnTo>
                <a:lnTo>
                  <a:pt x="51658" y="218986"/>
                </a:lnTo>
                <a:lnTo>
                  <a:pt x="154975" y="218986"/>
                </a:lnTo>
                <a:lnTo>
                  <a:pt x="154975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874031" y="3525310"/>
            <a:ext cx="207010" cy="322580"/>
          </a:xfrm>
          <a:custGeom>
            <a:avLst/>
            <a:gdLst/>
            <a:ahLst/>
            <a:cxnLst/>
            <a:rect l="l" t="t" r="r" b="b"/>
            <a:pathLst>
              <a:path w="207010" h="322579">
                <a:moveTo>
                  <a:pt x="154974" y="0"/>
                </a:moveTo>
                <a:lnTo>
                  <a:pt x="154974" y="218985"/>
                </a:lnTo>
                <a:lnTo>
                  <a:pt x="206633" y="218985"/>
                </a:lnTo>
                <a:lnTo>
                  <a:pt x="103316" y="322302"/>
                </a:lnTo>
                <a:lnTo>
                  <a:pt x="0" y="218985"/>
                </a:lnTo>
                <a:lnTo>
                  <a:pt x="51658" y="218985"/>
                </a:lnTo>
                <a:lnTo>
                  <a:pt x="51658" y="0"/>
                </a:lnTo>
                <a:lnTo>
                  <a:pt x="154974" y="0"/>
                </a:lnTo>
                <a:close/>
              </a:path>
            </a:pathLst>
          </a:custGeom>
          <a:ln w="480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719335" y="3062732"/>
            <a:ext cx="1239520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5" b="1">
                <a:solidFill>
                  <a:srgbClr val="0000FF"/>
                </a:solidFill>
                <a:latin typeface="Corbel"/>
                <a:cs typeface="Corbel"/>
              </a:rPr>
              <a:t>C</a:t>
            </a:r>
            <a:r>
              <a:rPr dirty="0" sz="2400" spc="-10" b="1">
                <a:solidFill>
                  <a:srgbClr val="0000FF"/>
                </a:solidFill>
                <a:latin typeface="Corbel"/>
                <a:cs typeface="Corbel"/>
              </a:rPr>
              <a:t>o</a:t>
            </a:r>
            <a:r>
              <a:rPr dirty="0" sz="2400" spc="0" b="1">
                <a:solidFill>
                  <a:srgbClr val="0000FF"/>
                </a:solidFill>
                <a:latin typeface="Corbel"/>
                <a:cs typeface="Corbel"/>
              </a:rPr>
              <a:t>mpu</a:t>
            </a:r>
            <a:r>
              <a:rPr dirty="0" sz="2400" b="1">
                <a:solidFill>
                  <a:srgbClr val="0000FF"/>
                </a:solidFill>
                <a:latin typeface="Corbel"/>
                <a:cs typeface="Corbel"/>
              </a:rPr>
              <a:t>te  </a:t>
            </a:r>
            <a:r>
              <a:rPr dirty="0" sz="2400" spc="-10" b="1">
                <a:solidFill>
                  <a:srgbClr val="0000FF"/>
                </a:solidFill>
                <a:latin typeface="Corbel"/>
                <a:cs typeface="Corbel"/>
              </a:rPr>
              <a:t>loss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30</a:t>
            </a:fld>
          </a:p>
        </p:txBody>
      </p:sp>
      <p:sp>
        <p:nvSpPr>
          <p:cNvPr id="16" name="object 16"/>
          <p:cNvSpPr txBox="1"/>
          <p:nvPr/>
        </p:nvSpPr>
        <p:spPr>
          <a:xfrm>
            <a:off x="5181406" y="3787019"/>
            <a:ext cx="565150" cy="3962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7305" rIns="0" bIns="0" rtlCol="0" vert="horz">
            <a:spAutoFit/>
          </a:bodyPr>
          <a:lstStyle/>
          <a:p>
            <a:pPr marL="84455">
              <a:lnSpc>
                <a:spcPct val="100000"/>
              </a:lnSpc>
              <a:spcBef>
                <a:spcPts val="215"/>
              </a:spcBef>
            </a:pPr>
            <a:r>
              <a:rPr dirty="0" sz="2000" spc="-5">
                <a:latin typeface="Calibri"/>
                <a:cs typeface="Calibri"/>
              </a:rPr>
              <a:t>0.9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94925" y="3155188"/>
            <a:ext cx="735330" cy="964565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182880">
              <a:lnSpc>
                <a:spcPct val="100000"/>
              </a:lnSpc>
              <a:spcBef>
                <a:spcPts val="780"/>
              </a:spcBef>
            </a:pPr>
            <a:r>
              <a:rPr dirty="0" sz="2000" spc="740">
                <a:solidFill>
                  <a:srgbClr val="0000FF"/>
                </a:solidFill>
                <a:latin typeface="Cambria Math"/>
                <a:cs typeface="Cambria Math"/>
              </a:rPr>
              <a:t>,</a:t>
            </a:r>
            <a:endParaRPr sz="20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dirty="0" sz="2800" spc="290">
                <a:latin typeface="Cambria Math"/>
                <a:cs typeface="Cambria Math"/>
              </a:rPr>
              <a:t>𝑦</a:t>
            </a:r>
            <a:r>
              <a:rPr dirty="0" baseline="-16666" sz="3000" spc="434">
                <a:latin typeface="Cambria Math"/>
                <a:cs typeface="Cambria Math"/>
              </a:rPr>
              <a:t>,</a:t>
            </a:r>
            <a:r>
              <a:rPr dirty="0" baseline="-16666" sz="3000" spc="16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90736" y="3179352"/>
            <a:ext cx="555625" cy="3962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54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dirty="0" sz="2000">
                <a:solidFill>
                  <a:srgbClr val="0000FF"/>
                </a:solidFill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89178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9740" y="1455420"/>
            <a:ext cx="159893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5">
                <a:solidFill>
                  <a:srgbClr val="C00000"/>
                </a:solidFill>
              </a:rPr>
              <a:t>Our</a:t>
            </a:r>
            <a:r>
              <a:rPr dirty="0" sz="3200" spc="-100">
                <a:solidFill>
                  <a:srgbClr val="C00000"/>
                </a:solidFill>
              </a:rPr>
              <a:t> </a:t>
            </a:r>
            <a:r>
              <a:rPr dirty="0" sz="3200" spc="-5">
                <a:solidFill>
                  <a:srgbClr val="C00000"/>
                </a:solidFill>
              </a:rPr>
              <a:t>Plan:</a:t>
            </a:r>
            <a:endParaRPr sz="3200"/>
          </a:p>
        </p:txBody>
      </p:sp>
      <p:sp>
        <p:nvSpPr>
          <p:cNvPr id="5" name="object 5"/>
          <p:cNvSpPr txBox="1"/>
          <p:nvPr/>
        </p:nvSpPr>
        <p:spPr>
          <a:xfrm>
            <a:off x="554227" y="6699893"/>
            <a:ext cx="400685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12/6/18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31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459740" y="1951227"/>
            <a:ext cx="8561705" cy="428688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469900" marR="110489" indent="-457200">
              <a:lnSpc>
                <a:spcPts val="3290"/>
              </a:lnSpc>
              <a:spcBef>
                <a:spcPts val="265"/>
              </a:spcBef>
              <a:buAutoNum type="arabicParenBoth"/>
              <a:tabLst>
                <a:tab pos="469900" algn="l"/>
              </a:tabLst>
            </a:pPr>
            <a:r>
              <a:rPr dirty="0" sz="2800" spc="-5" b="1">
                <a:latin typeface="Calibri"/>
                <a:cs typeface="Calibri"/>
              </a:rPr>
              <a:t>Add </a:t>
            </a:r>
            <a:r>
              <a:rPr dirty="0" sz="2800" b="1">
                <a:latin typeface="Calibri"/>
                <a:cs typeface="Calibri"/>
              </a:rPr>
              <a:t>a </a:t>
            </a:r>
            <a:r>
              <a:rPr dirty="0" sz="2800" spc="-10" b="1">
                <a:latin typeface="Calibri"/>
                <a:cs typeface="Calibri"/>
              </a:rPr>
              <a:t>new </a:t>
            </a:r>
            <a:r>
              <a:rPr dirty="0" sz="2800" spc="-5" b="1">
                <a:latin typeface="Calibri"/>
                <a:cs typeface="Calibri"/>
              </a:rPr>
              <a:t>node: </a:t>
            </a:r>
            <a:r>
              <a:rPr dirty="0" sz="2800" spc="-55">
                <a:latin typeface="Calibri"/>
                <a:cs typeface="Calibri"/>
              </a:rPr>
              <a:t>We </a:t>
            </a:r>
            <a:r>
              <a:rPr dirty="0" sz="2800" spc="-5">
                <a:latin typeface="Calibri"/>
                <a:cs typeface="Calibri"/>
              </a:rPr>
              <a:t>run Node </a:t>
            </a:r>
            <a:r>
              <a:rPr dirty="0" sz="2800">
                <a:latin typeface="Calibri"/>
                <a:cs typeface="Calibri"/>
              </a:rPr>
              <a:t>RNN </a:t>
            </a:r>
            <a:r>
              <a:rPr dirty="0" sz="2800" spc="-25">
                <a:latin typeface="Calibri"/>
                <a:cs typeface="Calibri"/>
              </a:rPr>
              <a:t>for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5">
                <a:latin typeface="Calibri"/>
                <a:cs typeface="Calibri"/>
              </a:rPr>
              <a:t>step,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>
                <a:latin typeface="Calibri"/>
                <a:cs typeface="Calibri"/>
              </a:rPr>
              <a:t>use  </a:t>
            </a:r>
            <a:r>
              <a:rPr dirty="0" sz="2800" spc="-5">
                <a:latin typeface="Calibri"/>
                <a:cs typeface="Calibri"/>
              </a:rPr>
              <a:t>it output </a:t>
            </a:r>
            <a:r>
              <a:rPr dirty="0" sz="2800" spc="-15">
                <a:latin typeface="Calibri"/>
                <a:cs typeface="Calibri"/>
              </a:rPr>
              <a:t>to initialize </a:t>
            </a:r>
            <a:r>
              <a:rPr dirty="0" sz="2800" spc="-20">
                <a:latin typeface="Calibri"/>
                <a:cs typeface="Calibri"/>
              </a:rPr>
              <a:t>Edge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RNN</a:t>
            </a:r>
            <a:endParaRPr sz="2800">
              <a:latin typeface="Calibri"/>
              <a:cs typeface="Calibri"/>
            </a:endParaRPr>
          </a:p>
          <a:p>
            <a:pPr marL="469900" marR="76200" indent="-457200">
              <a:lnSpc>
                <a:spcPts val="3290"/>
              </a:lnSpc>
              <a:spcBef>
                <a:spcPts val="115"/>
              </a:spcBef>
              <a:buAutoNum type="arabicParenBoth"/>
              <a:tabLst>
                <a:tab pos="469900" algn="l"/>
              </a:tabLst>
            </a:pPr>
            <a:r>
              <a:rPr dirty="0" sz="2800" spc="-5" b="1">
                <a:latin typeface="Calibri"/>
                <a:cs typeface="Calibri"/>
              </a:rPr>
              <a:t>Add </a:t>
            </a:r>
            <a:r>
              <a:rPr dirty="0" sz="2800" spc="-10" b="1">
                <a:latin typeface="Calibri"/>
                <a:cs typeface="Calibri"/>
              </a:rPr>
              <a:t>new edges </a:t>
            </a:r>
            <a:r>
              <a:rPr dirty="0" sz="2800" spc="-20" b="1">
                <a:latin typeface="Calibri"/>
                <a:cs typeface="Calibri"/>
              </a:rPr>
              <a:t>for </a:t>
            </a:r>
            <a:r>
              <a:rPr dirty="0" sz="2800" spc="-5" b="1">
                <a:latin typeface="Calibri"/>
                <a:cs typeface="Calibri"/>
              </a:rPr>
              <a:t>the </a:t>
            </a:r>
            <a:r>
              <a:rPr dirty="0" sz="2800" spc="-10" b="1">
                <a:latin typeface="Calibri"/>
                <a:cs typeface="Calibri"/>
              </a:rPr>
              <a:t>new </a:t>
            </a:r>
            <a:r>
              <a:rPr dirty="0" sz="2800" spc="-5" b="1">
                <a:latin typeface="Calibri"/>
                <a:cs typeface="Calibri"/>
              </a:rPr>
              <a:t>node: </a:t>
            </a:r>
            <a:r>
              <a:rPr dirty="0" sz="2800" spc="-55">
                <a:latin typeface="Calibri"/>
                <a:cs typeface="Calibri"/>
              </a:rPr>
              <a:t>We </a:t>
            </a:r>
            <a:r>
              <a:rPr dirty="0" sz="2800" spc="-5">
                <a:latin typeface="Calibri"/>
                <a:cs typeface="Calibri"/>
              </a:rPr>
              <a:t>run </a:t>
            </a:r>
            <a:r>
              <a:rPr dirty="0" sz="2800" spc="-20">
                <a:latin typeface="Calibri"/>
                <a:cs typeface="Calibri"/>
              </a:rPr>
              <a:t>Edge </a:t>
            </a:r>
            <a:r>
              <a:rPr dirty="0" sz="2800">
                <a:latin typeface="Calibri"/>
                <a:cs typeface="Calibri"/>
              </a:rPr>
              <a:t>RNN </a:t>
            </a:r>
            <a:r>
              <a:rPr dirty="0" sz="2800" spc="-15">
                <a:latin typeface="Calibri"/>
                <a:cs typeface="Calibri"/>
              </a:rPr>
              <a:t>to  </a:t>
            </a:r>
            <a:r>
              <a:rPr dirty="0" sz="2800" spc="-10">
                <a:latin typeface="Calibri"/>
                <a:cs typeface="Calibri"/>
              </a:rPr>
              <a:t>predict </a:t>
            </a:r>
            <a:r>
              <a:rPr dirty="0" sz="2800" spc="-5">
                <a:latin typeface="Calibri"/>
                <a:cs typeface="Calibri"/>
              </a:rPr>
              <a:t>if the </a:t>
            </a:r>
            <a:r>
              <a:rPr dirty="0" sz="2800" spc="-10">
                <a:latin typeface="Calibri"/>
                <a:cs typeface="Calibri"/>
              </a:rPr>
              <a:t>new </a:t>
            </a:r>
            <a:r>
              <a:rPr dirty="0" sz="2800" spc="-5">
                <a:latin typeface="Calibri"/>
                <a:cs typeface="Calibri"/>
              </a:rPr>
              <a:t>node will connect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each of</a:t>
            </a:r>
            <a:r>
              <a:rPr dirty="0" sz="2800" spc="3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the</a:t>
            </a:r>
            <a:endParaRPr sz="2800">
              <a:latin typeface="Calibri"/>
              <a:cs typeface="Calibri"/>
            </a:endParaRPr>
          </a:p>
          <a:p>
            <a:pPr marL="469900">
              <a:lnSpc>
                <a:spcPts val="3310"/>
              </a:lnSpc>
            </a:pPr>
            <a:r>
              <a:rPr dirty="0" sz="2800" spc="-10">
                <a:latin typeface="Calibri"/>
                <a:cs typeface="Calibri"/>
              </a:rPr>
              <a:t>previous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node</a:t>
            </a:r>
            <a:endParaRPr sz="2800">
              <a:latin typeface="Calibri"/>
              <a:cs typeface="Calibri"/>
            </a:endParaRPr>
          </a:p>
          <a:p>
            <a:pPr marL="469900" marR="34290" indent="-457200">
              <a:lnSpc>
                <a:spcPts val="3290"/>
              </a:lnSpc>
              <a:spcBef>
                <a:spcPts val="215"/>
              </a:spcBef>
              <a:buAutoNum type="arabicParenBoth" startAt="3"/>
              <a:tabLst>
                <a:tab pos="469900" algn="l"/>
              </a:tabLst>
            </a:pPr>
            <a:r>
              <a:rPr dirty="0" sz="2800" spc="-5" b="1">
                <a:latin typeface="Calibri"/>
                <a:cs typeface="Calibri"/>
              </a:rPr>
              <a:t>Add another </a:t>
            </a:r>
            <a:r>
              <a:rPr dirty="0" sz="2800" spc="-10" b="1">
                <a:latin typeface="Calibri"/>
                <a:cs typeface="Calibri"/>
              </a:rPr>
              <a:t>new </a:t>
            </a:r>
            <a:r>
              <a:rPr dirty="0" sz="2800" spc="-5" b="1">
                <a:latin typeface="Calibri"/>
                <a:cs typeface="Calibri"/>
              </a:rPr>
              <a:t>node: </a:t>
            </a:r>
            <a:r>
              <a:rPr dirty="0" sz="2800" spc="-55">
                <a:latin typeface="Calibri"/>
                <a:cs typeface="Calibri"/>
              </a:rPr>
              <a:t>We </a:t>
            </a:r>
            <a:r>
              <a:rPr dirty="0" sz="2800">
                <a:latin typeface="Calibri"/>
                <a:cs typeface="Calibri"/>
              </a:rPr>
              <a:t>use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0">
                <a:latin typeface="Calibri"/>
                <a:cs typeface="Calibri"/>
              </a:rPr>
              <a:t>last </a:t>
            </a:r>
            <a:r>
              <a:rPr dirty="0" sz="2800" spc="-5">
                <a:latin typeface="Calibri"/>
                <a:cs typeface="Calibri"/>
              </a:rPr>
              <a:t>hidden </a:t>
            </a:r>
            <a:r>
              <a:rPr dirty="0" sz="2800" spc="-30">
                <a:latin typeface="Calibri"/>
                <a:cs typeface="Calibri"/>
              </a:rPr>
              <a:t>state </a:t>
            </a:r>
            <a:r>
              <a:rPr dirty="0" sz="2800" spc="-5">
                <a:latin typeface="Calibri"/>
                <a:cs typeface="Calibri"/>
              </a:rPr>
              <a:t>of  </a:t>
            </a:r>
            <a:r>
              <a:rPr dirty="0" sz="2800" spc="-20">
                <a:latin typeface="Calibri"/>
                <a:cs typeface="Calibri"/>
              </a:rPr>
              <a:t>Edge </a:t>
            </a:r>
            <a:r>
              <a:rPr dirty="0" sz="2800">
                <a:latin typeface="Calibri"/>
                <a:cs typeface="Calibri"/>
              </a:rPr>
              <a:t>RNN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run Node </a:t>
            </a:r>
            <a:r>
              <a:rPr dirty="0" sz="2800">
                <a:latin typeface="Calibri"/>
                <a:cs typeface="Calibri"/>
              </a:rPr>
              <a:t>RNN </a:t>
            </a:r>
            <a:r>
              <a:rPr dirty="0" sz="2800" spc="-25">
                <a:latin typeface="Calibri"/>
                <a:cs typeface="Calibri"/>
              </a:rPr>
              <a:t>for </a:t>
            </a:r>
            <a:r>
              <a:rPr dirty="0" sz="2800" spc="-5">
                <a:latin typeface="Calibri"/>
                <a:cs typeface="Calibri"/>
              </a:rPr>
              <a:t>another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step</a:t>
            </a:r>
            <a:endParaRPr sz="2800">
              <a:latin typeface="Calibri"/>
              <a:cs typeface="Calibri"/>
            </a:endParaRPr>
          </a:p>
          <a:p>
            <a:pPr marL="469900" marR="5080" indent="-457200">
              <a:lnSpc>
                <a:spcPts val="3290"/>
              </a:lnSpc>
              <a:spcBef>
                <a:spcPts val="114"/>
              </a:spcBef>
              <a:buAutoNum type="arabicParenBoth" startAt="3"/>
              <a:tabLst>
                <a:tab pos="469900" algn="l"/>
              </a:tabLst>
            </a:pPr>
            <a:r>
              <a:rPr dirty="0" sz="2800" spc="-10" b="1">
                <a:latin typeface="Calibri"/>
                <a:cs typeface="Calibri"/>
              </a:rPr>
              <a:t>Stop </a:t>
            </a:r>
            <a:r>
              <a:rPr dirty="0" sz="2800" spc="-15" b="1">
                <a:latin typeface="Calibri"/>
                <a:cs typeface="Calibri"/>
              </a:rPr>
              <a:t>graph generation: </a:t>
            </a:r>
            <a:r>
              <a:rPr dirty="0" sz="2800" spc="-5">
                <a:latin typeface="Calibri"/>
                <a:cs typeface="Calibri"/>
              </a:rPr>
              <a:t>If </a:t>
            </a:r>
            <a:r>
              <a:rPr dirty="0" sz="2800" spc="-20">
                <a:latin typeface="Calibri"/>
                <a:cs typeface="Calibri"/>
              </a:rPr>
              <a:t>Edge </a:t>
            </a:r>
            <a:r>
              <a:rPr dirty="0" sz="2800">
                <a:latin typeface="Calibri"/>
                <a:cs typeface="Calibri"/>
              </a:rPr>
              <a:t>RNN </a:t>
            </a:r>
            <a:r>
              <a:rPr dirty="0" sz="2800" spc="-5">
                <a:latin typeface="Calibri"/>
                <a:cs typeface="Calibri"/>
              </a:rPr>
              <a:t>outputs </a:t>
            </a:r>
            <a:r>
              <a:rPr dirty="0" sz="2800" spc="-20">
                <a:latin typeface="Calibri"/>
                <a:cs typeface="Calibri"/>
              </a:rPr>
              <a:t>EOS at step  </a:t>
            </a:r>
            <a:r>
              <a:rPr dirty="0" sz="2800">
                <a:latin typeface="Calibri"/>
                <a:cs typeface="Calibri"/>
              </a:rPr>
              <a:t>1,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5">
                <a:latin typeface="Calibri"/>
                <a:cs typeface="Calibri"/>
              </a:rPr>
              <a:t>know </a:t>
            </a:r>
            <a:r>
              <a:rPr dirty="0" sz="2800">
                <a:latin typeface="Calibri"/>
                <a:cs typeface="Calibri"/>
              </a:rPr>
              <a:t>no </a:t>
            </a:r>
            <a:r>
              <a:rPr dirty="0" sz="2800" spc="-10">
                <a:latin typeface="Calibri"/>
                <a:cs typeface="Calibri"/>
              </a:rPr>
              <a:t>edges </a:t>
            </a:r>
            <a:r>
              <a:rPr dirty="0" sz="2800" spc="-15">
                <a:latin typeface="Calibri"/>
                <a:cs typeface="Calibri"/>
              </a:rPr>
              <a:t>are </a:t>
            </a:r>
            <a:r>
              <a:rPr dirty="0" sz="2800" spc="-10">
                <a:latin typeface="Calibri"/>
                <a:cs typeface="Calibri"/>
              </a:rPr>
              <a:t>connected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0">
                <a:latin typeface="Calibri"/>
                <a:cs typeface="Calibri"/>
              </a:rPr>
              <a:t>new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node.</a:t>
            </a:r>
            <a:endParaRPr sz="2800">
              <a:latin typeface="Calibri"/>
              <a:cs typeface="Calibri"/>
            </a:endParaRPr>
          </a:p>
          <a:p>
            <a:pPr marL="469900">
              <a:lnSpc>
                <a:spcPts val="3310"/>
              </a:lnSpc>
            </a:pPr>
            <a:r>
              <a:rPr dirty="0" sz="2800" spc="-55">
                <a:latin typeface="Calibri"/>
                <a:cs typeface="Calibri"/>
              </a:rPr>
              <a:t>We </a:t>
            </a:r>
            <a:r>
              <a:rPr dirty="0" sz="2800" spc="-20">
                <a:latin typeface="Calibri"/>
                <a:cs typeface="Calibri"/>
              </a:rPr>
              <a:t>stop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5">
                <a:latin typeface="Calibri"/>
                <a:cs typeface="Calibri"/>
              </a:rPr>
              <a:t>graph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generation.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12622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86183" y="4744769"/>
            <a:ext cx="762000" cy="629920"/>
          </a:xfrm>
          <a:prstGeom prst="rect">
            <a:avLst/>
          </a:prstGeom>
          <a:solidFill>
            <a:srgbClr val="F0AD00"/>
          </a:solidFill>
          <a:ln w="48000">
            <a:solidFill>
              <a:srgbClr val="B07E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4775" indent="-36195">
              <a:lnSpc>
                <a:spcPts val="2185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Node</a:t>
            </a:r>
            <a:endParaRPr sz="2000">
              <a:latin typeface="Corbel"/>
              <a:cs typeface="Corbel"/>
            </a:endParaRPr>
          </a:p>
          <a:p>
            <a:pPr marL="104775">
              <a:lnSpc>
                <a:spcPts val="2395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98602" y="5470917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102868" y="68580"/>
                </a:moveTo>
                <a:lnTo>
                  <a:pt x="34289" y="68580"/>
                </a:lnTo>
                <a:lnTo>
                  <a:pt x="34289" y="182880"/>
                </a:lnTo>
                <a:lnTo>
                  <a:pt x="102868" y="182880"/>
                </a:lnTo>
                <a:lnTo>
                  <a:pt x="102868" y="68580"/>
                </a:lnTo>
                <a:close/>
              </a:path>
              <a:path w="137160" h="182879">
                <a:moveTo>
                  <a:pt x="68578" y="0"/>
                </a:moveTo>
                <a:lnTo>
                  <a:pt x="0" y="68580"/>
                </a:lnTo>
                <a:lnTo>
                  <a:pt x="137158" y="68580"/>
                </a:lnTo>
                <a:lnTo>
                  <a:pt x="6857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98602" y="5470917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34289" y="182880"/>
                </a:moveTo>
                <a:lnTo>
                  <a:pt x="34289" y="68579"/>
                </a:lnTo>
                <a:lnTo>
                  <a:pt x="0" y="68579"/>
                </a:lnTo>
                <a:lnTo>
                  <a:pt x="68579" y="0"/>
                </a:lnTo>
                <a:lnTo>
                  <a:pt x="137159" y="68579"/>
                </a:lnTo>
                <a:lnTo>
                  <a:pt x="102869" y="68579"/>
                </a:lnTo>
                <a:lnTo>
                  <a:pt x="102869" y="182880"/>
                </a:lnTo>
                <a:lnTo>
                  <a:pt x="34289" y="182880"/>
                </a:lnTo>
                <a:close/>
              </a:path>
            </a:pathLst>
          </a:custGeom>
          <a:ln w="381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764687" y="1414976"/>
          <a:ext cx="1289685" cy="1207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0210"/>
                <a:gridCol w="420210"/>
                <a:gridCol w="420210"/>
              </a:tblGrid>
              <a:tr h="355600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6216237" y="17480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301485" y="1739094"/>
            <a:ext cx="194945" cy="384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50" spc="25">
                <a:solidFill>
                  <a:srgbClr val="C00000"/>
                </a:solidFill>
                <a:latin typeface="Arial"/>
                <a:cs typeface="Arial"/>
              </a:rPr>
              <a:t>1</a:t>
            </a:r>
            <a:endParaRPr sz="23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907335" y="209080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897822" y="1488084"/>
            <a:ext cx="384810" cy="383540"/>
          </a:xfrm>
          <a:custGeom>
            <a:avLst/>
            <a:gdLst/>
            <a:ahLst/>
            <a:cxnLst/>
            <a:rect l="l" t="t" r="r" b="b"/>
            <a:pathLst>
              <a:path w="384809" h="383539">
                <a:moveTo>
                  <a:pt x="211571" y="0"/>
                </a:moveTo>
                <a:lnTo>
                  <a:pt x="172257" y="0"/>
                </a:lnTo>
                <a:lnTo>
                  <a:pt x="134736" y="7619"/>
                </a:lnTo>
                <a:lnTo>
                  <a:pt x="84439" y="33019"/>
                </a:lnTo>
                <a:lnTo>
                  <a:pt x="43646" y="69850"/>
                </a:lnTo>
                <a:lnTo>
                  <a:pt x="14940" y="116839"/>
                </a:lnTo>
                <a:lnTo>
                  <a:pt x="3812" y="153669"/>
                </a:lnTo>
                <a:lnTo>
                  <a:pt x="0" y="191769"/>
                </a:lnTo>
                <a:lnTo>
                  <a:pt x="1041" y="212089"/>
                </a:lnTo>
                <a:lnTo>
                  <a:pt x="15303" y="266700"/>
                </a:lnTo>
                <a:lnTo>
                  <a:pt x="44225" y="314960"/>
                </a:lnTo>
                <a:lnTo>
                  <a:pt x="85197" y="351789"/>
                </a:lnTo>
                <a:lnTo>
                  <a:pt x="135638" y="375919"/>
                </a:lnTo>
                <a:lnTo>
                  <a:pt x="173215" y="383539"/>
                </a:lnTo>
                <a:lnTo>
                  <a:pt x="212529" y="383539"/>
                </a:lnTo>
                <a:lnTo>
                  <a:pt x="250050" y="375919"/>
                </a:lnTo>
                <a:lnTo>
                  <a:pt x="255937" y="373379"/>
                </a:lnTo>
                <a:lnTo>
                  <a:pt x="192297" y="373379"/>
                </a:lnTo>
                <a:lnTo>
                  <a:pt x="173790" y="372110"/>
                </a:lnTo>
                <a:lnTo>
                  <a:pt x="121862" y="358139"/>
                </a:lnTo>
                <a:lnTo>
                  <a:pt x="77205" y="331469"/>
                </a:lnTo>
                <a:lnTo>
                  <a:pt x="42271" y="293369"/>
                </a:lnTo>
                <a:lnTo>
                  <a:pt x="19524" y="245110"/>
                </a:lnTo>
                <a:lnTo>
                  <a:pt x="11416" y="191769"/>
                </a:lnTo>
                <a:lnTo>
                  <a:pt x="12359" y="172719"/>
                </a:lnTo>
                <a:lnTo>
                  <a:pt x="25674" y="120650"/>
                </a:lnTo>
                <a:lnTo>
                  <a:pt x="52800" y="76200"/>
                </a:lnTo>
                <a:lnTo>
                  <a:pt x="91283" y="41910"/>
                </a:lnTo>
                <a:lnTo>
                  <a:pt x="138664" y="19050"/>
                </a:lnTo>
                <a:lnTo>
                  <a:pt x="173982" y="11429"/>
                </a:lnTo>
                <a:lnTo>
                  <a:pt x="259770" y="11429"/>
                </a:lnTo>
                <a:lnTo>
                  <a:pt x="249148" y="7619"/>
                </a:lnTo>
                <a:lnTo>
                  <a:pt x="211571" y="0"/>
                </a:lnTo>
                <a:close/>
              </a:path>
              <a:path w="384809" h="383539">
                <a:moveTo>
                  <a:pt x="259770" y="11429"/>
                </a:moveTo>
                <a:lnTo>
                  <a:pt x="210995" y="11429"/>
                </a:lnTo>
                <a:lnTo>
                  <a:pt x="228963" y="13969"/>
                </a:lnTo>
                <a:lnTo>
                  <a:pt x="246302" y="19050"/>
                </a:lnTo>
                <a:lnTo>
                  <a:pt x="293654" y="41910"/>
                </a:lnTo>
                <a:lnTo>
                  <a:pt x="332102" y="76200"/>
                </a:lnTo>
                <a:lnTo>
                  <a:pt x="359185" y="121919"/>
                </a:lnTo>
                <a:lnTo>
                  <a:pt x="372446" y="173989"/>
                </a:lnTo>
                <a:lnTo>
                  <a:pt x="373371" y="191769"/>
                </a:lnTo>
                <a:lnTo>
                  <a:pt x="372426" y="210819"/>
                </a:lnTo>
                <a:lnTo>
                  <a:pt x="359112" y="262889"/>
                </a:lnTo>
                <a:lnTo>
                  <a:pt x="331986" y="307339"/>
                </a:lnTo>
                <a:lnTo>
                  <a:pt x="293502" y="341629"/>
                </a:lnTo>
                <a:lnTo>
                  <a:pt x="246122" y="364489"/>
                </a:lnTo>
                <a:lnTo>
                  <a:pt x="192297" y="373379"/>
                </a:lnTo>
                <a:lnTo>
                  <a:pt x="255937" y="373379"/>
                </a:lnTo>
                <a:lnTo>
                  <a:pt x="300347" y="350519"/>
                </a:lnTo>
                <a:lnTo>
                  <a:pt x="341141" y="313689"/>
                </a:lnTo>
                <a:lnTo>
                  <a:pt x="369846" y="266700"/>
                </a:lnTo>
                <a:lnTo>
                  <a:pt x="380974" y="229869"/>
                </a:lnTo>
                <a:lnTo>
                  <a:pt x="384785" y="191769"/>
                </a:lnTo>
                <a:lnTo>
                  <a:pt x="383745" y="171450"/>
                </a:lnTo>
                <a:lnTo>
                  <a:pt x="369483" y="116839"/>
                </a:lnTo>
                <a:lnTo>
                  <a:pt x="340561" y="68579"/>
                </a:lnTo>
                <a:lnTo>
                  <a:pt x="299589" y="31750"/>
                </a:lnTo>
                <a:lnTo>
                  <a:pt x="266852" y="13969"/>
                </a:lnTo>
                <a:lnTo>
                  <a:pt x="259770" y="11429"/>
                </a:lnTo>
                <a:close/>
              </a:path>
              <a:path w="384809" h="383539">
                <a:moveTo>
                  <a:pt x="210803" y="15239"/>
                </a:moveTo>
                <a:lnTo>
                  <a:pt x="174557" y="15239"/>
                </a:lnTo>
                <a:lnTo>
                  <a:pt x="156960" y="17779"/>
                </a:lnTo>
                <a:lnTo>
                  <a:pt x="108188" y="35560"/>
                </a:lnTo>
                <a:lnTo>
                  <a:pt x="67307" y="66039"/>
                </a:lnTo>
                <a:lnTo>
                  <a:pt x="36734" y="106679"/>
                </a:lnTo>
                <a:lnTo>
                  <a:pt x="18878" y="156210"/>
                </a:lnTo>
                <a:lnTo>
                  <a:pt x="15220" y="191769"/>
                </a:lnTo>
                <a:lnTo>
                  <a:pt x="16107" y="209550"/>
                </a:lnTo>
                <a:lnTo>
                  <a:pt x="29033" y="260350"/>
                </a:lnTo>
                <a:lnTo>
                  <a:pt x="55504" y="304800"/>
                </a:lnTo>
                <a:lnTo>
                  <a:pt x="93111" y="339089"/>
                </a:lnTo>
                <a:lnTo>
                  <a:pt x="139433" y="360679"/>
                </a:lnTo>
                <a:lnTo>
                  <a:pt x="192105" y="369569"/>
                </a:lnTo>
                <a:lnTo>
                  <a:pt x="210229" y="368300"/>
                </a:lnTo>
                <a:lnTo>
                  <a:pt x="227826" y="365760"/>
                </a:lnTo>
                <a:lnTo>
                  <a:pt x="191913" y="365760"/>
                </a:lnTo>
                <a:lnTo>
                  <a:pt x="174175" y="364489"/>
                </a:lnTo>
                <a:lnTo>
                  <a:pt x="124481" y="351789"/>
                </a:lnTo>
                <a:lnTo>
                  <a:pt x="81768" y="325119"/>
                </a:lnTo>
                <a:lnTo>
                  <a:pt x="48374" y="288289"/>
                </a:lnTo>
                <a:lnTo>
                  <a:pt x="26680" y="242569"/>
                </a:lnTo>
                <a:lnTo>
                  <a:pt x="19025" y="191769"/>
                </a:lnTo>
                <a:lnTo>
                  <a:pt x="19970" y="173989"/>
                </a:lnTo>
                <a:lnTo>
                  <a:pt x="32829" y="124460"/>
                </a:lnTo>
                <a:lnTo>
                  <a:pt x="58902" y="81279"/>
                </a:lnTo>
                <a:lnTo>
                  <a:pt x="95848" y="48260"/>
                </a:lnTo>
                <a:lnTo>
                  <a:pt x="141284" y="26669"/>
                </a:lnTo>
                <a:lnTo>
                  <a:pt x="192873" y="17779"/>
                </a:lnTo>
                <a:lnTo>
                  <a:pt x="228387" y="17779"/>
                </a:lnTo>
                <a:lnTo>
                  <a:pt x="210803" y="15239"/>
                </a:lnTo>
                <a:close/>
              </a:path>
              <a:path w="384809" h="383539">
                <a:moveTo>
                  <a:pt x="228387" y="17779"/>
                </a:moveTo>
                <a:lnTo>
                  <a:pt x="192873" y="17779"/>
                </a:lnTo>
                <a:lnTo>
                  <a:pt x="210611" y="19050"/>
                </a:lnTo>
                <a:lnTo>
                  <a:pt x="227812" y="21589"/>
                </a:lnTo>
                <a:lnTo>
                  <a:pt x="275431" y="39369"/>
                </a:lnTo>
                <a:lnTo>
                  <a:pt x="315302" y="69850"/>
                </a:lnTo>
                <a:lnTo>
                  <a:pt x="345060" y="109219"/>
                </a:lnTo>
                <a:lnTo>
                  <a:pt x="362333" y="157479"/>
                </a:lnTo>
                <a:lnTo>
                  <a:pt x="365760" y="191769"/>
                </a:lnTo>
                <a:lnTo>
                  <a:pt x="364816" y="209550"/>
                </a:lnTo>
                <a:lnTo>
                  <a:pt x="351957" y="259079"/>
                </a:lnTo>
                <a:lnTo>
                  <a:pt x="325884" y="302260"/>
                </a:lnTo>
                <a:lnTo>
                  <a:pt x="288938" y="335279"/>
                </a:lnTo>
                <a:lnTo>
                  <a:pt x="243502" y="356869"/>
                </a:lnTo>
                <a:lnTo>
                  <a:pt x="191913" y="365760"/>
                </a:lnTo>
                <a:lnTo>
                  <a:pt x="227826" y="365760"/>
                </a:lnTo>
                <a:lnTo>
                  <a:pt x="276597" y="347979"/>
                </a:lnTo>
                <a:lnTo>
                  <a:pt x="317479" y="317500"/>
                </a:lnTo>
                <a:lnTo>
                  <a:pt x="348052" y="276860"/>
                </a:lnTo>
                <a:lnTo>
                  <a:pt x="365908" y="227329"/>
                </a:lnTo>
                <a:lnTo>
                  <a:pt x="369566" y="191769"/>
                </a:lnTo>
                <a:lnTo>
                  <a:pt x="368679" y="173989"/>
                </a:lnTo>
                <a:lnTo>
                  <a:pt x="355753" y="123189"/>
                </a:lnTo>
                <a:lnTo>
                  <a:pt x="329283" y="78739"/>
                </a:lnTo>
                <a:lnTo>
                  <a:pt x="291675" y="44450"/>
                </a:lnTo>
                <a:lnTo>
                  <a:pt x="245353" y="22860"/>
                </a:lnTo>
                <a:lnTo>
                  <a:pt x="228387" y="177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992584" y="1483867"/>
            <a:ext cx="194945" cy="981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20"/>
              </a:spcBef>
            </a:pPr>
            <a:r>
              <a:rPr dirty="0" sz="2350" spc="25">
                <a:solidFill>
                  <a:srgbClr val="C00000"/>
                </a:solidFill>
                <a:latin typeface="Arial"/>
                <a:cs typeface="Arial"/>
              </a:rPr>
              <a:t>2</a:t>
            </a:r>
            <a:endParaRPr sz="23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528434" y="2060261"/>
            <a:ext cx="379095" cy="213995"/>
          </a:xfrm>
          <a:custGeom>
            <a:avLst/>
            <a:gdLst/>
            <a:ahLst/>
            <a:cxnLst/>
            <a:rect l="l" t="t" r="r" b="b"/>
            <a:pathLst>
              <a:path w="379095" h="213994">
                <a:moveTo>
                  <a:pt x="0" y="0"/>
                </a:moveTo>
                <a:lnTo>
                  <a:pt x="378902" y="21342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528434" y="1679231"/>
            <a:ext cx="379095" cy="122555"/>
          </a:xfrm>
          <a:custGeom>
            <a:avLst/>
            <a:gdLst/>
            <a:ahLst/>
            <a:cxnLst/>
            <a:rect l="l" t="t" r="r" b="b"/>
            <a:pathLst>
              <a:path w="379095" h="122555">
                <a:moveTo>
                  <a:pt x="0" y="122398"/>
                </a:moveTo>
                <a:lnTo>
                  <a:pt x="378902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547472" y="2696972"/>
            <a:ext cx="21463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Arial"/>
                <a:cs typeface="Arial"/>
              </a:rPr>
              <a:t>Observed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35">
                <a:latin typeface="Arial"/>
                <a:cs typeface="Arial"/>
              </a:rPr>
              <a:t>graph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116383" y="1324100"/>
            <a:ext cx="3027680" cy="1800225"/>
          </a:xfrm>
          <a:custGeom>
            <a:avLst/>
            <a:gdLst/>
            <a:ahLst/>
            <a:cxnLst/>
            <a:rect l="l" t="t" r="r" b="b"/>
            <a:pathLst>
              <a:path w="3027679" h="1800225">
                <a:moveTo>
                  <a:pt x="0" y="0"/>
                </a:moveTo>
                <a:lnTo>
                  <a:pt x="3027616" y="0"/>
                </a:lnTo>
                <a:lnTo>
                  <a:pt x="3027616" y="1800099"/>
                </a:lnTo>
                <a:lnTo>
                  <a:pt x="0" y="1800099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29472" y="1154683"/>
            <a:ext cx="4003675" cy="760095"/>
          </a:xfrm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5" b="0">
                <a:latin typeface="Calibri"/>
                <a:cs typeface="Calibri"/>
              </a:rPr>
              <a:t>Assuming </a:t>
            </a:r>
            <a:r>
              <a:rPr dirty="0" sz="2400" spc="-5"/>
              <a:t>Node </a:t>
            </a:r>
            <a:r>
              <a:rPr dirty="0" sz="2400"/>
              <a:t>1 </a:t>
            </a:r>
            <a:r>
              <a:rPr dirty="0" sz="2400" spc="-5" b="0">
                <a:latin typeface="Calibri"/>
                <a:cs typeface="Calibri"/>
              </a:rPr>
              <a:t>is in the</a:t>
            </a:r>
            <a:r>
              <a:rPr dirty="0" sz="2400" spc="-70" b="0">
                <a:latin typeface="Calibri"/>
                <a:cs typeface="Calibri"/>
              </a:rPr>
              <a:t> </a:t>
            </a:r>
            <a:r>
              <a:rPr dirty="0" sz="2400" spc="-15" b="0">
                <a:latin typeface="Calibri"/>
                <a:cs typeface="Calibri"/>
              </a:rPr>
              <a:t>graph  </a:t>
            </a:r>
            <a:r>
              <a:rPr dirty="0" sz="2400" spc="-5" b="0">
                <a:latin typeface="Calibri"/>
                <a:cs typeface="Calibri"/>
              </a:rPr>
              <a:t>Now adding </a:t>
            </a:r>
            <a:r>
              <a:rPr dirty="0" sz="2400" spc="-5"/>
              <a:t>Node</a:t>
            </a:r>
            <a:r>
              <a:rPr dirty="0" sz="2400" spc="-95"/>
              <a:t> </a:t>
            </a:r>
            <a:r>
              <a:rPr dirty="0" sz="2400"/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4227" y="6699893"/>
            <a:ext cx="400685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12/6/18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31</a:t>
            </a:fld>
          </a:p>
        </p:txBody>
      </p:sp>
      <p:sp>
        <p:nvSpPr>
          <p:cNvPr id="17" name="object 17"/>
          <p:cNvSpPr txBox="1"/>
          <p:nvPr/>
        </p:nvSpPr>
        <p:spPr>
          <a:xfrm>
            <a:off x="830714" y="5662563"/>
            <a:ext cx="1833245" cy="68389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algn="ctr" marR="106045">
              <a:lnSpc>
                <a:spcPct val="100000"/>
              </a:lnSpc>
              <a:spcBef>
                <a:spcPts val="425"/>
              </a:spcBef>
            </a:pPr>
            <a:r>
              <a:rPr dirty="0" sz="2000" spc="-5">
                <a:latin typeface="Cambria Math"/>
                <a:cs typeface="Cambria Math"/>
              </a:rPr>
              <a:t>𝑆𝑂𝑆</a:t>
            </a:r>
            <a:endParaRPr sz="20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290"/>
              </a:spcBef>
            </a:pP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Start </a:t>
            </a: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node</a:t>
            </a:r>
            <a:r>
              <a:rPr dirty="0" sz="18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RNN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12622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86183" y="4744769"/>
            <a:ext cx="762000" cy="629920"/>
          </a:xfrm>
          <a:prstGeom prst="rect">
            <a:avLst/>
          </a:prstGeom>
          <a:solidFill>
            <a:srgbClr val="F0AD00"/>
          </a:solidFill>
          <a:ln w="48000">
            <a:solidFill>
              <a:srgbClr val="B07E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4775" indent="-36195">
              <a:lnSpc>
                <a:spcPts val="2185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Node</a:t>
            </a:r>
            <a:endParaRPr sz="2000">
              <a:latin typeface="Corbel"/>
              <a:cs typeface="Corbel"/>
            </a:endParaRPr>
          </a:p>
          <a:p>
            <a:pPr marL="104775">
              <a:lnSpc>
                <a:spcPts val="2395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6974" y="5704332"/>
            <a:ext cx="4667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𝑆</a:t>
            </a:r>
            <a:r>
              <a:rPr dirty="0" sz="2000" spc="-5">
                <a:latin typeface="Cambria Math"/>
                <a:cs typeface="Cambria Math"/>
              </a:rPr>
              <a:t>𝑂</a:t>
            </a:r>
            <a:r>
              <a:rPr dirty="0" sz="2000">
                <a:latin typeface="Cambria Math"/>
                <a:cs typeface="Cambria Math"/>
              </a:rPr>
              <a:t>𝑆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98602" y="5470917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102868" y="68580"/>
                </a:moveTo>
                <a:lnTo>
                  <a:pt x="34289" y="68580"/>
                </a:lnTo>
                <a:lnTo>
                  <a:pt x="34289" y="182880"/>
                </a:lnTo>
                <a:lnTo>
                  <a:pt x="102868" y="182880"/>
                </a:lnTo>
                <a:lnTo>
                  <a:pt x="102868" y="68580"/>
                </a:lnTo>
                <a:close/>
              </a:path>
              <a:path w="137160" h="182879">
                <a:moveTo>
                  <a:pt x="68578" y="0"/>
                </a:moveTo>
                <a:lnTo>
                  <a:pt x="0" y="68580"/>
                </a:lnTo>
                <a:lnTo>
                  <a:pt x="137158" y="68580"/>
                </a:lnTo>
                <a:lnTo>
                  <a:pt x="6857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98602" y="5470917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34289" y="182880"/>
                </a:moveTo>
                <a:lnTo>
                  <a:pt x="34289" y="68579"/>
                </a:lnTo>
                <a:lnTo>
                  <a:pt x="0" y="68579"/>
                </a:lnTo>
                <a:lnTo>
                  <a:pt x="68579" y="0"/>
                </a:lnTo>
                <a:lnTo>
                  <a:pt x="137159" y="68579"/>
                </a:lnTo>
                <a:lnTo>
                  <a:pt x="102869" y="68579"/>
                </a:lnTo>
                <a:lnTo>
                  <a:pt x="102869" y="182880"/>
                </a:lnTo>
                <a:lnTo>
                  <a:pt x="34289" y="182880"/>
                </a:lnTo>
                <a:close/>
              </a:path>
            </a:pathLst>
          </a:custGeom>
          <a:ln w="381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279039" y="3733800"/>
            <a:ext cx="762000" cy="629920"/>
          </a:xfrm>
          <a:prstGeom prst="rect">
            <a:avLst/>
          </a:prstGeom>
          <a:solidFill>
            <a:srgbClr val="60B5CC"/>
          </a:solidFill>
          <a:ln w="48000">
            <a:solidFill>
              <a:srgbClr val="24617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4775" indent="-17780">
              <a:lnSpc>
                <a:spcPts val="2180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Edge</a:t>
            </a:r>
            <a:endParaRPr sz="2000">
              <a:latin typeface="Corbel"/>
              <a:cs typeface="Corbel"/>
            </a:endParaRPr>
          </a:p>
          <a:p>
            <a:pPr marL="104775">
              <a:lnSpc>
                <a:spcPct val="100000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91459" y="4463044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102869" y="68580"/>
                </a:moveTo>
                <a:lnTo>
                  <a:pt x="34289" y="68580"/>
                </a:lnTo>
                <a:lnTo>
                  <a:pt x="34289" y="182880"/>
                </a:lnTo>
                <a:lnTo>
                  <a:pt x="102869" y="182880"/>
                </a:lnTo>
                <a:lnTo>
                  <a:pt x="102869" y="68580"/>
                </a:lnTo>
                <a:close/>
              </a:path>
              <a:path w="137160" h="182879">
                <a:moveTo>
                  <a:pt x="68580" y="0"/>
                </a:moveTo>
                <a:lnTo>
                  <a:pt x="0" y="68580"/>
                </a:lnTo>
                <a:lnTo>
                  <a:pt x="137159" y="68580"/>
                </a:lnTo>
                <a:lnTo>
                  <a:pt x="6858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91459" y="4463044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34289" y="182880"/>
                </a:moveTo>
                <a:lnTo>
                  <a:pt x="34289" y="68579"/>
                </a:lnTo>
                <a:lnTo>
                  <a:pt x="0" y="68579"/>
                </a:lnTo>
                <a:lnTo>
                  <a:pt x="68579" y="0"/>
                </a:lnTo>
                <a:lnTo>
                  <a:pt x="137159" y="68579"/>
                </a:lnTo>
                <a:lnTo>
                  <a:pt x="102869" y="68579"/>
                </a:lnTo>
                <a:lnTo>
                  <a:pt x="102869" y="182880"/>
                </a:lnTo>
                <a:lnTo>
                  <a:pt x="34289" y="182880"/>
                </a:lnTo>
                <a:close/>
              </a:path>
            </a:pathLst>
          </a:custGeom>
          <a:ln w="381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178522" y="3976155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80" h="137160">
                <a:moveTo>
                  <a:pt x="68578" y="0"/>
                </a:moveTo>
                <a:lnTo>
                  <a:pt x="0" y="68580"/>
                </a:lnTo>
                <a:lnTo>
                  <a:pt x="68578" y="137160"/>
                </a:lnTo>
                <a:lnTo>
                  <a:pt x="68578" y="102869"/>
                </a:lnTo>
                <a:lnTo>
                  <a:pt x="182879" y="102869"/>
                </a:lnTo>
                <a:lnTo>
                  <a:pt x="182879" y="34289"/>
                </a:lnTo>
                <a:lnTo>
                  <a:pt x="68578" y="34289"/>
                </a:lnTo>
                <a:lnTo>
                  <a:pt x="68578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178522" y="3976156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80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43642" y="3850534"/>
            <a:ext cx="513715" cy="3962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4765" rIns="0" bIns="0" rtlCol="0" vert="horz">
            <a:spAutoFit/>
          </a:bodyPr>
          <a:lstStyle/>
          <a:p>
            <a:pPr marL="89535">
              <a:lnSpc>
                <a:spcPct val="100000"/>
              </a:lnSpc>
              <a:spcBef>
                <a:spcPts val="195"/>
              </a:spcBef>
            </a:pPr>
            <a:r>
              <a:rPr dirty="0" sz="2000" spc="-5">
                <a:latin typeface="Calibri"/>
                <a:cs typeface="Calibri"/>
              </a:rPr>
              <a:t>0.5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72067" y="3977295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80" h="137160">
                <a:moveTo>
                  <a:pt x="68579" y="0"/>
                </a:moveTo>
                <a:lnTo>
                  <a:pt x="0" y="68579"/>
                </a:lnTo>
                <a:lnTo>
                  <a:pt x="68579" y="137158"/>
                </a:lnTo>
                <a:lnTo>
                  <a:pt x="68579" y="102869"/>
                </a:lnTo>
                <a:lnTo>
                  <a:pt x="182880" y="102869"/>
                </a:lnTo>
                <a:lnTo>
                  <a:pt x="182880" y="34289"/>
                </a:lnTo>
                <a:lnTo>
                  <a:pt x="68579" y="34289"/>
                </a:lnTo>
                <a:lnTo>
                  <a:pt x="6857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72067" y="3977295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80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29472" y="1154683"/>
            <a:ext cx="3404870" cy="7600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 b="0">
                <a:latin typeface="Calibri"/>
                <a:cs typeface="Calibri"/>
              </a:rPr>
              <a:t>Edge </a:t>
            </a:r>
            <a:r>
              <a:rPr dirty="0" sz="2400" spc="-5" b="0">
                <a:latin typeface="Calibri"/>
                <a:cs typeface="Calibri"/>
              </a:rPr>
              <a:t>RNN </a:t>
            </a:r>
            <a:r>
              <a:rPr dirty="0" sz="2400" spc="-10" b="0">
                <a:latin typeface="Calibri"/>
                <a:cs typeface="Calibri"/>
              </a:rPr>
              <a:t>predicts</a:t>
            </a:r>
            <a:r>
              <a:rPr dirty="0" sz="2400" spc="-30" b="0">
                <a:latin typeface="Calibri"/>
                <a:cs typeface="Calibri"/>
              </a:rPr>
              <a:t> </a:t>
            </a:r>
            <a:r>
              <a:rPr dirty="0" sz="2400" spc="-5" b="0">
                <a:latin typeface="Calibri"/>
                <a:cs typeface="Calibri"/>
              </a:rPr>
              <a:t>how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2400" spc="-5"/>
              <a:t>Node </a:t>
            </a:r>
            <a:r>
              <a:rPr dirty="0" sz="2400"/>
              <a:t>2 </a:t>
            </a:r>
            <a:r>
              <a:rPr dirty="0" sz="2400" spc="-5" b="0">
                <a:latin typeface="Calibri"/>
                <a:cs typeface="Calibri"/>
              </a:rPr>
              <a:t>connects </a:t>
            </a:r>
            <a:r>
              <a:rPr dirty="0" sz="2400" spc="-15" b="0">
                <a:latin typeface="Calibri"/>
                <a:cs typeface="Calibri"/>
              </a:rPr>
              <a:t>to </a:t>
            </a:r>
            <a:r>
              <a:rPr dirty="0" sz="2400" spc="-5"/>
              <a:t>Node</a:t>
            </a:r>
            <a:r>
              <a:rPr dirty="0" sz="2400" spc="-114"/>
              <a:t> </a:t>
            </a:r>
            <a:r>
              <a:rPr dirty="0" sz="2400"/>
              <a:t>1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7764687" y="1414976"/>
          <a:ext cx="1289685" cy="1207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0210"/>
                <a:gridCol w="420210"/>
                <a:gridCol w="420210"/>
              </a:tblGrid>
              <a:tr h="355600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7" name="object 17"/>
          <p:cNvSpPr/>
          <p:nvPr/>
        </p:nvSpPr>
        <p:spPr>
          <a:xfrm>
            <a:off x="6216237" y="17480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301485" y="1739094"/>
            <a:ext cx="194945" cy="384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50" spc="25">
                <a:solidFill>
                  <a:srgbClr val="C00000"/>
                </a:solidFill>
                <a:latin typeface="Arial"/>
                <a:cs typeface="Arial"/>
              </a:rPr>
              <a:t>1</a:t>
            </a:r>
            <a:endParaRPr sz="235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907335" y="209080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897822" y="1488084"/>
            <a:ext cx="384810" cy="383540"/>
          </a:xfrm>
          <a:custGeom>
            <a:avLst/>
            <a:gdLst/>
            <a:ahLst/>
            <a:cxnLst/>
            <a:rect l="l" t="t" r="r" b="b"/>
            <a:pathLst>
              <a:path w="384809" h="383539">
                <a:moveTo>
                  <a:pt x="211571" y="0"/>
                </a:moveTo>
                <a:lnTo>
                  <a:pt x="172257" y="0"/>
                </a:lnTo>
                <a:lnTo>
                  <a:pt x="134736" y="7619"/>
                </a:lnTo>
                <a:lnTo>
                  <a:pt x="84439" y="33019"/>
                </a:lnTo>
                <a:lnTo>
                  <a:pt x="43646" y="69850"/>
                </a:lnTo>
                <a:lnTo>
                  <a:pt x="14940" y="116839"/>
                </a:lnTo>
                <a:lnTo>
                  <a:pt x="3812" y="153669"/>
                </a:lnTo>
                <a:lnTo>
                  <a:pt x="0" y="191769"/>
                </a:lnTo>
                <a:lnTo>
                  <a:pt x="1041" y="212089"/>
                </a:lnTo>
                <a:lnTo>
                  <a:pt x="15303" y="266700"/>
                </a:lnTo>
                <a:lnTo>
                  <a:pt x="44225" y="314960"/>
                </a:lnTo>
                <a:lnTo>
                  <a:pt x="85197" y="351789"/>
                </a:lnTo>
                <a:lnTo>
                  <a:pt x="135638" y="375919"/>
                </a:lnTo>
                <a:lnTo>
                  <a:pt x="173215" y="383539"/>
                </a:lnTo>
                <a:lnTo>
                  <a:pt x="212529" y="383539"/>
                </a:lnTo>
                <a:lnTo>
                  <a:pt x="250050" y="375919"/>
                </a:lnTo>
                <a:lnTo>
                  <a:pt x="255937" y="373379"/>
                </a:lnTo>
                <a:lnTo>
                  <a:pt x="192297" y="373379"/>
                </a:lnTo>
                <a:lnTo>
                  <a:pt x="173790" y="372110"/>
                </a:lnTo>
                <a:lnTo>
                  <a:pt x="121862" y="358139"/>
                </a:lnTo>
                <a:lnTo>
                  <a:pt x="77205" y="331469"/>
                </a:lnTo>
                <a:lnTo>
                  <a:pt x="42271" y="293369"/>
                </a:lnTo>
                <a:lnTo>
                  <a:pt x="19524" y="245110"/>
                </a:lnTo>
                <a:lnTo>
                  <a:pt x="11416" y="191769"/>
                </a:lnTo>
                <a:lnTo>
                  <a:pt x="12359" y="172719"/>
                </a:lnTo>
                <a:lnTo>
                  <a:pt x="25674" y="120650"/>
                </a:lnTo>
                <a:lnTo>
                  <a:pt x="52800" y="76200"/>
                </a:lnTo>
                <a:lnTo>
                  <a:pt x="91283" y="41910"/>
                </a:lnTo>
                <a:lnTo>
                  <a:pt x="138664" y="19050"/>
                </a:lnTo>
                <a:lnTo>
                  <a:pt x="173982" y="11429"/>
                </a:lnTo>
                <a:lnTo>
                  <a:pt x="259770" y="11429"/>
                </a:lnTo>
                <a:lnTo>
                  <a:pt x="249148" y="7619"/>
                </a:lnTo>
                <a:lnTo>
                  <a:pt x="211571" y="0"/>
                </a:lnTo>
                <a:close/>
              </a:path>
              <a:path w="384809" h="383539">
                <a:moveTo>
                  <a:pt x="259770" y="11429"/>
                </a:moveTo>
                <a:lnTo>
                  <a:pt x="210995" y="11429"/>
                </a:lnTo>
                <a:lnTo>
                  <a:pt x="228963" y="13969"/>
                </a:lnTo>
                <a:lnTo>
                  <a:pt x="246302" y="19050"/>
                </a:lnTo>
                <a:lnTo>
                  <a:pt x="293654" y="41910"/>
                </a:lnTo>
                <a:lnTo>
                  <a:pt x="332102" y="76200"/>
                </a:lnTo>
                <a:lnTo>
                  <a:pt x="359185" y="121919"/>
                </a:lnTo>
                <a:lnTo>
                  <a:pt x="372446" y="173989"/>
                </a:lnTo>
                <a:lnTo>
                  <a:pt x="373371" y="191769"/>
                </a:lnTo>
                <a:lnTo>
                  <a:pt x="372426" y="210819"/>
                </a:lnTo>
                <a:lnTo>
                  <a:pt x="359112" y="262889"/>
                </a:lnTo>
                <a:lnTo>
                  <a:pt x="331986" y="307339"/>
                </a:lnTo>
                <a:lnTo>
                  <a:pt x="293502" y="341629"/>
                </a:lnTo>
                <a:lnTo>
                  <a:pt x="246122" y="364489"/>
                </a:lnTo>
                <a:lnTo>
                  <a:pt x="192297" y="373379"/>
                </a:lnTo>
                <a:lnTo>
                  <a:pt x="255937" y="373379"/>
                </a:lnTo>
                <a:lnTo>
                  <a:pt x="300347" y="350519"/>
                </a:lnTo>
                <a:lnTo>
                  <a:pt x="341141" y="313689"/>
                </a:lnTo>
                <a:lnTo>
                  <a:pt x="369846" y="266700"/>
                </a:lnTo>
                <a:lnTo>
                  <a:pt x="380974" y="229869"/>
                </a:lnTo>
                <a:lnTo>
                  <a:pt x="384785" y="191769"/>
                </a:lnTo>
                <a:lnTo>
                  <a:pt x="383745" y="171450"/>
                </a:lnTo>
                <a:lnTo>
                  <a:pt x="369483" y="116839"/>
                </a:lnTo>
                <a:lnTo>
                  <a:pt x="340561" y="68579"/>
                </a:lnTo>
                <a:lnTo>
                  <a:pt x="299589" y="31750"/>
                </a:lnTo>
                <a:lnTo>
                  <a:pt x="266852" y="13969"/>
                </a:lnTo>
                <a:lnTo>
                  <a:pt x="259770" y="11429"/>
                </a:lnTo>
                <a:close/>
              </a:path>
              <a:path w="384809" h="383539">
                <a:moveTo>
                  <a:pt x="210803" y="15239"/>
                </a:moveTo>
                <a:lnTo>
                  <a:pt x="174557" y="15239"/>
                </a:lnTo>
                <a:lnTo>
                  <a:pt x="156960" y="17779"/>
                </a:lnTo>
                <a:lnTo>
                  <a:pt x="108188" y="35560"/>
                </a:lnTo>
                <a:lnTo>
                  <a:pt x="67307" y="66039"/>
                </a:lnTo>
                <a:lnTo>
                  <a:pt x="36734" y="106679"/>
                </a:lnTo>
                <a:lnTo>
                  <a:pt x="18878" y="156210"/>
                </a:lnTo>
                <a:lnTo>
                  <a:pt x="15220" y="191769"/>
                </a:lnTo>
                <a:lnTo>
                  <a:pt x="16107" y="209550"/>
                </a:lnTo>
                <a:lnTo>
                  <a:pt x="29033" y="260350"/>
                </a:lnTo>
                <a:lnTo>
                  <a:pt x="55504" y="304800"/>
                </a:lnTo>
                <a:lnTo>
                  <a:pt x="93111" y="339089"/>
                </a:lnTo>
                <a:lnTo>
                  <a:pt x="139433" y="360679"/>
                </a:lnTo>
                <a:lnTo>
                  <a:pt x="192105" y="369569"/>
                </a:lnTo>
                <a:lnTo>
                  <a:pt x="210229" y="368300"/>
                </a:lnTo>
                <a:lnTo>
                  <a:pt x="227826" y="365760"/>
                </a:lnTo>
                <a:lnTo>
                  <a:pt x="191913" y="365760"/>
                </a:lnTo>
                <a:lnTo>
                  <a:pt x="174175" y="364489"/>
                </a:lnTo>
                <a:lnTo>
                  <a:pt x="124481" y="351789"/>
                </a:lnTo>
                <a:lnTo>
                  <a:pt x="81768" y="325119"/>
                </a:lnTo>
                <a:lnTo>
                  <a:pt x="48374" y="288289"/>
                </a:lnTo>
                <a:lnTo>
                  <a:pt x="26680" y="242569"/>
                </a:lnTo>
                <a:lnTo>
                  <a:pt x="19025" y="191769"/>
                </a:lnTo>
                <a:lnTo>
                  <a:pt x="19970" y="173989"/>
                </a:lnTo>
                <a:lnTo>
                  <a:pt x="32829" y="124460"/>
                </a:lnTo>
                <a:lnTo>
                  <a:pt x="58902" y="81279"/>
                </a:lnTo>
                <a:lnTo>
                  <a:pt x="95848" y="48260"/>
                </a:lnTo>
                <a:lnTo>
                  <a:pt x="141284" y="26669"/>
                </a:lnTo>
                <a:lnTo>
                  <a:pt x="192873" y="17779"/>
                </a:lnTo>
                <a:lnTo>
                  <a:pt x="228387" y="17779"/>
                </a:lnTo>
                <a:lnTo>
                  <a:pt x="210803" y="15239"/>
                </a:lnTo>
                <a:close/>
              </a:path>
              <a:path w="384809" h="383539">
                <a:moveTo>
                  <a:pt x="228387" y="17779"/>
                </a:moveTo>
                <a:lnTo>
                  <a:pt x="192873" y="17779"/>
                </a:lnTo>
                <a:lnTo>
                  <a:pt x="210611" y="19050"/>
                </a:lnTo>
                <a:lnTo>
                  <a:pt x="227812" y="21589"/>
                </a:lnTo>
                <a:lnTo>
                  <a:pt x="275431" y="39369"/>
                </a:lnTo>
                <a:lnTo>
                  <a:pt x="315302" y="69850"/>
                </a:lnTo>
                <a:lnTo>
                  <a:pt x="345060" y="109219"/>
                </a:lnTo>
                <a:lnTo>
                  <a:pt x="362333" y="157479"/>
                </a:lnTo>
                <a:lnTo>
                  <a:pt x="365760" y="191769"/>
                </a:lnTo>
                <a:lnTo>
                  <a:pt x="364816" y="209550"/>
                </a:lnTo>
                <a:lnTo>
                  <a:pt x="351957" y="259079"/>
                </a:lnTo>
                <a:lnTo>
                  <a:pt x="325884" y="302260"/>
                </a:lnTo>
                <a:lnTo>
                  <a:pt x="288938" y="335279"/>
                </a:lnTo>
                <a:lnTo>
                  <a:pt x="243502" y="356869"/>
                </a:lnTo>
                <a:lnTo>
                  <a:pt x="191913" y="365760"/>
                </a:lnTo>
                <a:lnTo>
                  <a:pt x="227826" y="365760"/>
                </a:lnTo>
                <a:lnTo>
                  <a:pt x="276597" y="347979"/>
                </a:lnTo>
                <a:lnTo>
                  <a:pt x="317479" y="317500"/>
                </a:lnTo>
                <a:lnTo>
                  <a:pt x="348052" y="276860"/>
                </a:lnTo>
                <a:lnTo>
                  <a:pt x="365908" y="227329"/>
                </a:lnTo>
                <a:lnTo>
                  <a:pt x="369566" y="191769"/>
                </a:lnTo>
                <a:lnTo>
                  <a:pt x="368679" y="173989"/>
                </a:lnTo>
                <a:lnTo>
                  <a:pt x="355753" y="123189"/>
                </a:lnTo>
                <a:lnTo>
                  <a:pt x="329283" y="78739"/>
                </a:lnTo>
                <a:lnTo>
                  <a:pt x="291675" y="44450"/>
                </a:lnTo>
                <a:lnTo>
                  <a:pt x="245353" y="22860"/>
                </a:lnTo>
                <a:lnTo>
                  <a:pt x="228387" y="177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6992584" y="1483867"/>
            <a:ext cx="194945" cy="981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20"/>
              </a:spcBef>
            </a:pPr>
            <a:r>
              <a:rPr dirty="0" sz="2350" spc="25">
                <a:solidFill>
                  <a:srgbClr val="C00000"/>
                </a:solidFill>
                <a:latin typeface="Arial"/>
                <a:cs typeface="Arial"/>
              </a:rPr>
              <a:t>2</a:t>
            </a:r>
            <a:endParaRPr sz="235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528434" y="2060261"/>
            <a:ext cx="379095" cy="213995"/>
          </a:xfrm>
          <a:custGeom>
            <a:avLst/>
            <a:gdLst/>
            <a:ahLst/>
            <a:cxnLst/>
            <a:rect l="l" t="t" r="r" b="b"/>
            <a:pathLst>
              <a:path w="379095" h="213994">
                <a:moveTo>
                  <a:pt x="0" y="0"/>
                </a:moveTo>
                <a:lnTo>
                  <a:pt x="378902" y="21342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528434" y="1679231"/>
            <a:ext cx="379095" cy="122555"/>
          </a:xfrm>
          <a:custGeom>
            <a:avLst/>
            <a:gdLst/>
            <a:ahLst/>
            <a:cxnLst/>
            <a:rect l="l" t="t" r="r" b="b"/>
            <a:pathLst>
              <a:path w="379095" h="122555">
                <a:moveTo>
                  <a:pt x="0" y="122398"/>
                </a:moveTo>
                <a:lnTo>
                  <a:pt x="378902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6547472" y="2696972"/>
            <a:ext cx="21463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Arial"/>
                <a:cs typeface="Arial"/>
              </a:rPr>
              <a:t>Observed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35">
                <a:latin typeface="Arial"/>
                <a:cs typeface="Arial"/>
              </a:rPr>
              <a:t>graph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116383" y="1324100"/>
            <a:ext cx="3027680" cy="1800225"/>
          </a:xfrm>
          <a:custGeom>
            <a:avLst/>
            <a:gdLst/>
            <a:ahLst/>
            <a:cxnLst/>
            <a:rect l="l" t="t" r="r" b="b"/>
            <a:pathLst>
              <a:path w="3027679" h="1800225">
                <a:moveTo>
                  <a:pt x="0" y="0"/>
                </a:moveTo>
                <a:lnTo>
                  <a:pt x="3027616" y="0"/>
                </a:lnTo>
                <a:lnTo>
                  <a:pt x="3027616" y="1800099"/>
                </a:lnTo>
                <a:lnTo>
                  <a:pt x="0" y="1800099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2348701" y="3800912"/>
            <a:ext cx="1811655" cy="728980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32080">
              <a:lnSpc>
                <a:spcPct val="100000"/>
              </a:lnSpc>
              <a:spcBef>
                <a:spcPts val="615"/>
              </a:spcBef>
            </a:pPr>
            <a:r>
              <a:rPr dirty="0" sz="2000" spc="-5">
                <a:latin typeface="Cambria Math"/>
                <a:cs typeface="Cambria Math"/>
              </a:rPr>
              <a:t>𝑆𝑂𝑆</a:t>
            </a:r>
            <a:endParaRPr sz="20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Start </a:t>
            </a: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the edge</a:t>
            </a:r>
            <a:r>
              <a:rPr dirty="0" sz="18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RNN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54227" y="6699893"/>
            <a:ext cx="400685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12/6/18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31</a:t>
            </a:fld>
          </a:p>
        </p:txBody>
      </p:sp>
      <p:sp>
        <p:nvSpPr>
          <p:cNvPr id="27" name="object 27"/>
          <p:cNvSpPr txBox="1"/>
          <p:nvPr/>
        </p:nvSpPr>
        <p:spPr>
          <a:xfrm>
            <a:off x="155534" y="4333747"/>
            <a:ext cx="1082675" cy="84581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12700" marR="5080">
              <a:lnSpc>
                <a:spcPct val="99400"/>
              </a:lnSpc>
              <a:spcBef>
                <a:spcPts val="110"/>
              </a:spcBef>
            </a:pP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Will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node</a:t>
            </a:r>
            <a:r>
              <a:rPr dirty="0" sz="1800" spc="-8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2  </a:t>
            </a: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connect </a:t>
            </a:r>
            <a:r>
              <a:rPr dirty="0" sz="1800" spc="-15">
                <a:solidFill>
                  <a:srgbClr val="C00000"/>
                </a:solidFill>
                <a:latin typeface="Calibri"/>
                <a:cs typeface="Calibri"/>
              </a:rPr>
              <a:t>to 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node</a:t>
            </a:r>
            <a:r>
              <a:rPr dirty="0" sz="1800" spc="-9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1?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12622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86183" y="4744769"/>
            <a:ext cx="762000" cy="629920"/>
          </a:xfrm>
          <a:custGeom>
            <a:avLst/>
            <a:gdLst/>
            <a:ahLst/>
            <a:cxnLst/>
            <a:rect l="l" t="t" r="r" b="b"/>
            <a:pathLst>
              <a:path w="762000" h="629920">
                <a:moveTo>
                  <a:pt x="0" y="0"/>
                </a:moveTo>
                <a:lnTo>
                  <a:pt x="762000" y="0"/>
                </a:lnTo>
                <a:lnTo>
                  <a:pt x="762000" y="629587"/>
                </a:lnTo>
                <a:lnTo>
                  <a:pt x="0" y="629587"/>
                </a:lnTo>
                <a:lnTo>
                  <a:pt x="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286183" y="4744769"/>
            <a:ext cx="762000" cy="629920"/>
          </a:xfrm>
          <a:custGeom>
            <a:avLst/>
            <a:gdLst/>
            <a:ahLst/>
            <a:cxnLst/>
            <a:rect l="l" t="t" r="r" b="b"/>
            <a:pathLst>
              <a:path w="762000" h="629920">
                <a:moveTo>
                  <a:pt x="0" y="0"/>
                </a:moveTo>
                <a:lnTo>
                  <a:pt x="762000" y="0"/>
                </a:lnTo>
                <a:lnTo>
                  <a:pt x="762000" y="629587"/>
                </a:lnTo>
                <a:lnTo>
                  <a:pt x="0" y="629587"/>
                </a:lnTo>
                <a:lnTo>
                  <a:pt x="0" y="0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310183" y="4728971"/>
            <a:ext cx="73850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4775" marR="86360" indent="-36195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o</a:t>
            </a:r>
            <a:r>
              <a:rPr dirty="0" sz="2000">
                <a:solidFill>
                  <a:srgbClr val="FFFFFF"/>
                </a:solidFill>
                <a:latin typeface="Corbel"/>
                <a:cs typeface="Corbel"/>
              </a:rPr>
              <a:t>de 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56974" y="5704332"/>
            <a:ext cx="4667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𝑆</a:t>
            </a:r>
            <a:r>
              <a:rPr dirty="0" sz="2000" spc="-5">
                <a:latin typeface="Cambria Math"/>
                <a:cs typeface="Cambria Math"/>
              </a:rPr>
              <a:t>𝑂</a:t>
            </a:r>
            <a:r>
              <a:rPr dirty="0" sz="2000">
                <a:latin typeface="Cambria Math"/>
                <a:cs typeface="Cambria Math"/>
              </a:rPr>
              <a:t>𝑆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98602" y="5470917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102868" y="68580"/>
                </a:moveTo>
                <a:lnTo>
                  <a:pt x="34289" y="68580"/>
                </a:lnTo>
                <a:lnTo>
                  <a:pt x="34289" y="182880"/>
                </a:lnTo>
                <a:lnTo>
                  <a:pt x="102868" y="182880"/>
                </a:lnTo>
                <a:lnTo>
                  <a:pt x="102868" y="68580"/>
                </a:lnTo>
                <a:close/>
              </a:path>
              <a:path w="137160" h="182879">
                <a:moveTo>
                  <a:pt x="68578" y="0"/>
                </a:moveTo>
                <a:lnTo>
                  <a:pt x="0" y="68580"/>
                </a:lnTo>
                <a:lnTo>
                  <a:pt x="137158" y="68580"/>
                </a:lnTo>
                <a:lnTo>
                  <a:pt x="6857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98602" y="5470917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34289" y="182880"/>
                </a:moveTo>
                <a:lnTo>
                  <a:pt x="34289" y="68579"/>
                </a:lnTo>
                <a:lnTo>
                  <a:pt x="0" y="68579"/>
                </a:lnTo>
                <a:lnTo>
                  <a:pt x="68579" y="0"/>
                </a:lnTo>
                <a:lnTo>
                  <a:pt x="137159" y="68579"/>
                </a:lnTo>
                <a:lnTo>
                  <a:pt x="102869" y="68579"/>
                </a:lnTo>
                <a:lnTo>
                  <a:pt x="102869" y="182880"/>
                </a:lnTo>
                <a:lnTo>
                  <a:pt x="34289" y="182880"/>
                </a:lnTo>
                <a:close/>
              </a:path>
            </a:pathLst>
          </a:custGeom>
          <a:ln w="381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79039" y="3733800"/>
            <a:ext cx="762000" cy="629920"/>
          </a:xfrm>
          <a:custGeom>
            <a:avLst/>
            <a:gdLst/>
            <a:ahLst/>
            <a:cxnLst/>
            <a:rect l="l" t="t" r="r" b="b"/>
            <a:pathLst>
              <a:path w="762000" h="629920">
                <a:moveTo>
                  <a:pt x="0" y="0"/>
                </a:moveTo>
                <a:lnTo>
                  <a:pt x="762000" y="0"/>
                </a:lnTo>
                <a:lnTo>
                  <a:pt x="762000" y="629587"/>
                </a:lnTo>
                <a:lnTo>
                  <a:pt x="0" y="629587"/>
                </a:lnTo>
                <a:lnTo>
                  <a:pt x="0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79039" y="3733800"/>
            <a:ext cx="762000" cy="629920"/>
          </a:xfrm>
          <a:custGeom>
            <a:avLst/>
            <a:gdLst/>
            <a:ahLst/>
            <a:cxnLst/>
            <a:rect l="l" t="t" r="r" b="b"/>
            <a:pathLst>
              <a:path w="762000" h="629920">
                <a:moveTo>
                  <a:pt x="0" y="0"/>
                </a:moveTo>
                <a:lnTo>
                  <a:pt x="762000" y="0"/>
                </a:lnTo>
                <a:lnTo>
                  <a:pt x="762000" y="629587"/>
                </a:lnTo>
                <a:lnTo>
                  <a:pt x="0" y="629587"/>
                </a:lnTo>
                <a:lnTo>
                  <a:pt x="0" y="0"/>
                </a:lnTo>
                <a:close/>
              </a:path>
            </a:pathLst>
          </a:custGeom>
          <a:ln w="480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303039" y="3717035"/>
            <a:ext cx="73850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4775" marR="104775" indent="-1778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E</a:t>
            </a:r>
            <a:r>
              <a:rPr dirty="0" sz="2000">
                <a:solidFill>
                  <a:srgbClr val="FFFFFF"/>
                </a:solidFill>
                <a:latin typeface="Corbel"/>
                <a:cs typeface="Corbel"/>
              </a:rPr>
              <a:t>dge 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591459" y="4463044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102869" y="68580"/>
                </a:moveTo>
                <a:lnTo>
                  <a:pt x="34289" y="68580"/>
                </a:lnTo>
                <a:lnTo>
                  <a:pt x="34289" y="182880"/>
                </a:lnTo>
                <a:lnTo>
                  <a:pt x="102869" y="182880"/>
                </a:lnTo>
                <a:lnTo>
                  <a:pt x="102869" y="68580"/>
                </a:lnTo>
                <a:close/>
              </a:path>
              <a:path w="137160" h="182879">
                <a:moveTo>
                  <a:pt x="68580" y="0"/>
                </a:moveTo>
                <a:lnTo>
                  <a:pt x="0" y="68580"/>
                </a:lnTo>
                <a:lnTo>
                  <a:pt x="137159" y="68580"/>
                </a:lnTo>
                <a:lnTo>
                  <a:pt x="6858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591459" y="4463044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34289" y="182880"/>
                </a:moveTo>
                <a:lnTo>
                  <a:pt x="34289" y="68579"/>
                </a:lnTo>
                <a:lnTo>
                  <a:pt x="0" y="68579"/>
                </a:lnTo>
                <a:lnTo>
                  <a:pt x="68579" y="0"/>
                </a:lnTo>
                <a:lnTo>
                  <a:pt x="137159" y="68579"/>
                </a:lnTo>
                <a:lnTo>
                  <a:pt x="102869" y="68579"/>
                </a:lnTo>
                <a:lnTo>
                  <a:pt x="102869" y="182880"/>
                </a:lnTo>
                <a:lnTo>
                  <a:pt x="34289" y="182880"/>
                </a:lnTo>
                <a:close/>
              </a:path>
            </a:pathLst>
          </a:custGeom>
          <a:ln w="381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178522" y="3976155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80" h="137160">
                <a:moveTo>
                  <a:pt x="68578" y="0"/>
                </a:moveTo>
                <a:lnTo>
                  <a:pt x="0" y="68580"/>
                </a:lnTo>
                <a:lnTo>
                  <a:pt x="68578" y="137160"/>
                </a:lnTo>
                <a:lnTo>
                  <a:pt x="68578" y="102869"/>
                </a:lnTo>
                <a:lnTo>
                  <a:pt x="182879" y="102869"/>
                </a:lnTo>
                <a:lnTo>
                  <a:pt x="182879" y="34289"/>
                </a:lnTo>
                <a:lnTo>
                  <a:pt x="68578" y="34289"/>
                </a:lnTo>
                <a:lnTo>
                  <a:pt x="68578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178522" y="3976156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80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468590" y="3866388"/>
            <a:ext cx="4667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𝑆</a:t>
            </a:r>
            <a:r>
              <a:rPr dirty="0" sz="2000" spc="-5">
                <a:latin typeface="Cambria Math"/>
                <a:cs typeface="Cambria Math"/>
              </a:rPr>
              <a:t>𝑂</a:t>
            </a:r>
            <a:r>
              <a:rPr dirty="0" sz="2000">
                <a:latin typeface="Cambria Math"/>
                <a:cs typeface="Cambria Math"/>
              </a:rPr>
              <a:t>𝑆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3642" y="3850534"/>
            <a:ext cx="513715" cy="3962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4765" rIns="0" bIns="0" rtlCol="0" vert="horz">
            <a:spAutoFit/>
          </a:bodyPr>
          <a:lstStyle/>
          <a:p>
            <a:pPr marL="89535">
              <a:lnSpc>
                <a:spcPct val="100000"/>
              </a:lnSpc>
              <a:spcBef>
                <a:spcPts val="195"/>
              </a:spcBef>
            </a:pPr>
            <a:r>
              <a:rPr dirty="0" sz="2000" spc="-5">
                <a:latin typeface="Calibri"/>
                <a:cs typeface="Calibri"/>
              </a:rPr>
              <a:t>0.5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588517" y="5021436"/>
            <a:ext cx="1031240" cy="137160"/>
          </a:xfrm>
          <a:custGeom>
            <a:avLst/>
            <a:gdLst/>
            <a:ahLst/>
            <a:cxnLst/>
            <a:rect l="l" t="t" r="r" b="b"/>
            <a:pathLst>
              <a:path w="1031239" h="137160">
                <a:moveTo>
                  <a:pt x="962345" y="0"/>
                </a:moveTo>
                <a:lnTo>
                  <a:pt x="962345" y="34290"/>
                </a:lnTo>
                <a:lnTo>
                  <a:pt x="0" y="34290"/>
                </a:lnTo>
                <a:lnTo>
                  <a:pt x="0" y="102870"/>
                </a:lnTo>
                <a:lnTo>
                  <a:pt x="962345" y="102870"/>
                </a:lnTo>
                <a:lnTo>
                  <a:pt x="962345" y="137160"/>
                </a:lnTo>
                <a:lnTo>
                  <a:pt x="1030923" y="68580"/>
                </a:lnTo>
                <a:lnTo>
                  <a:pt x="96234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588517" y="5021436"/>
            <a:ext cx="1031240" cy="137160"/>
          </a:xfrm>
          <a:custGeom>
            <a:avLst/>
            <a:gdLst/>
            <a:ahLst/>
            <a:cxnLst/>
            <a:rect l="l" t="t" r="r" b="b"/>
            <a:pathLst>
              <a:path w="1031239" h="137160">
                <a:moveTo>
                  <a:pt x="0" y="34290"/>
                </a:moveTo>
                <a:lnTo>
                  <a:pt x="962344" y="34290"/>
                </a:lnTo>
                <a:lnTo>
                  <a:pt x="962344" y="0"/>
                </a:lnTo>
                <a:lnTo>
                  <a:pt x="1030924" y="68580"/>
                </a:lnTo>
                <a:lnTo>
                  <a:pt x="962344" y="137160"/>
                </a:lnTo>
                <a:lnTo>
                  <a:pt x="962344" y="102870"/>
                </a:lnTo>
                <a:lnTo>
                  <a:pt x="0" y="102870"/>
                </a:lnTo>
                <a:lnTo>
                  <a:pt x="0" y="34290"/>
                </a:lnTo>
                <a:close/>
              </a:path>
            </a:pathLst>
          </a:custGeom>
          <a:ln w="381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268718" y="4744769"/>
            <a:ext cx="762000" cy="629920"/>
          </a:xfrm>
          <a:custGeom>
            <a:avLst/>
            <a:gdLst/>
            <a:ahLst/>
            <a:cxnLst/>
            <a:rect l="l" t="t" r="r" b="b"/>
            <a:pathLst>
              <a:path w="762000" h="629920">
                <a:moveTo>
                  <a:pt x="0" y="0"/>
                </a:moveTo>
                <a:lnTo>
                  <a:pt x="762000" y="0"/>
                </a:lnTo>
                <a:lnTo>
                  <a:pt x="762000" y="629587"/>
                </a:lnTo>
                <a:lnTo>
                  <a:pt x="0" y="629587"/>
                </a:lnTo>
                <a:lnTo>
                  <a:pt x="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268718" y="4744769"/>
            <a:ext cx="762000" cy="629920"/>
          </a:xfrm>
          <a:custGeom>
            <a:avLst/>
            <a:gdLst/>
            <a:ahLst/>
            <a:cxnLst/>
            <a:rect l="l" t="t" r="r" b="b"/>
            <a:pathLst>
              <a:path w="762000" h="629920">
                <a:moveTo>
                  <a:pt x="0" y="0"/>
                </a:moveTo>
                <a:lnTo>
                  <a:pt x="762000" y="0"/>
                </a:lnTo>
                <a:lnTo>
                  <a:pt x="762000" y="629587"/>
                </a:lnTo>
                <a:lnTo>
                  <a:pt x="0" y="629587"/>
                </a:lnTo>
                <a:lnTo>
                  <a:pt x="0" y="0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268718" y="4728971"/>
            <a:ext cx="73850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8905" marR="62230" indent="-36195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o</a:t>
            </a:r>
            <a:r>
              <a:rPr dirty="0" sz="2000">
                <a:solidFill>
                  <a:srgbClr val="FFFFFF"/>
                </a:solidFill>
                <a:latin typeface="Corbel"/>
                <a:cs typeface="Corbel"/>
              </a:rPr>
              <a:t>de 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72067" y="3977295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80" h="137160">
                <a:moveTo>
                  <a:pt x="68579" y="0"/>
                </a:moveTo>
                <a:lnTo>
                  <a:pt x="0" y="68579"/>
                </a:lnTo>
                <a:lnTo>
                  <a:pt x="68579" y="137158"/>
                </a:lnTo>
                <a:lnTo>
                  <a:pt x="68579" y="102869"/>
                </a:lnTo>
                <a:lnTo>
                  <a:pt x="182880" y="102869"/>
                </a:lnTo>
                <a:lnTo>
                  <a:pt x="182880" y="34289"/>
                </a:lnTo>
                <a:lnTo>
                  <a:pt x="68579" y="34289"/>
                </a:lnTo>
                <a:lnTo>
                  <a:pt x="6857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72067" y="3977295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80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329473" y="1154683"/>
            <a:ext cx="3099435" cy="7600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/>
              <a:t>Update </a:t>
            </a:r>
            <a:r>
              <a:rPr dirty="0" sz="2400" spc="-5"/>
              <a:t>Node RNN</a:t>
            </a:r>
            <a:r>
              <a:rPr dirty="0" sz="2400" spc="-80"/>
              <a:t> </a:t>
            </a:r>
            <a:r>
              <a:rPr dirty="0" sz="2400" spc="-5" b="0">
                <a:latin typeface="Calibri"/>
                <a:cs typeface="Calibri"/>
              </a:rPr>
              <a:t>using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2400" spc="-20"/>
              <a:t>Edge </a:t>
            </a:r>
            <a:r>
              <a:rPr dirty="0" sz="2400" spc="-30"/>
              <a:t>RNN’s </a:t>
            </a:r>
            <a:r>
              <a:rPr dirty="0" sz="2400" spc="-5"/>
              <a:t>hidden</a:t>
            </a:r>
            <a:r>
              <a:rPr dirty="0" sz="2400" spc="-15"/>
              <a:t> </a:t>
            </a:r>
            <a:r>
              <a:rPr dirty="0" sz="2400" spc="-20"/>
              <a:t>state</a:t>
            </a:r>
            <a:endParaRPr sz="2400"/>
          </a:p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7764687" y="1414976"/>
          <a:ext cx="1289685" cy="1207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0210"/>
                <a:gridCol w="420210"/>
                <a:gridCol w="420210"/>
              </a:tblGrid>
              <a:tr h="355600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7" name="object 27"/>
          <p:cNvSpPr/>
          <p:nvPr/>
        </p:nvSpPr>
        <p:spPr>
          <a:xfrm>
            <a:off x="6216237" y="17480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6301485" y="1739094"/>
            <a:ext cx="194945" cy="384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50" spc="25">
                <a:solidFill>
                  <a:srgbClr val="C00000"/>
                </a:solidFill>
                <a:latin typeface="Arial"/>
                <a:cs typeface="Arial"/>
              </a:rPr>
              <a:t>1</a:t>
            </a:r>
            <a:endParaRPr sz="235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907335" y="209080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897822" y="1488084"/>
            <a:ext cx="384810" cy="383540"/>
          </a:xfrm>
          <a:custGeom>
            <a:avLst/>
            <a:gdLst/>
            <a:ahLst/>
            <a:cxnLst/>
            <a:rect l="l" t="t" r="r" b="b"/>
            <a:pathLst>
              <a:path w="384809" h="383539">
                <a:moveTo>
                  <a:pt x="211571" y="0"/>
                </a:moveTo>
                <a:lnTo>
                  <a:pt x="172257" y="0"/>
                </a:lnTo>
                <a:lnTo>
                  <a:pt x="134736" y="7619"/>
                </a:lnTo>
                <a:lnTo>
                  <a:pt x="84439" y="33019"/>
                </a:lnTo>
                <a:lnTo>
                  <a:pt x="43646" y="69850"/>
                </a:lnTo>
                <a:lnTo>
                  <a:pt x="14940" y="116839"/>
                </a:lnTo>
                <a:lnTo>
                  <a:pt x="3812" y="153669"/>
                </a:lnTo>
                <a:lnTo>
                  <a:pt x="0" y="191769"/>
                </a:lnTo>
                <a:lnTo>
                  <a:pt x="1041" y="212089"/>
                </a:lnTo>
                <a:lnTo>
                  <a:pt x="15303" y="266700"/>
                </a:lnTo>
                <a:lnTo>
                  <a:pt x="44225" y="314960"/>
                </a:lnTo>
                <a:lnTo>
                  <a:pt x="85197" y="351789"/>
                </a:lnTo>
                <a:lnTo>
                  <a:pt x="135638" y="375919"/>
                </a:lnTo>
                <a:lnTo>
                  <a:pt x="173215" y="383539"/>
                </a:lnTo>
                <a:lnTo>
                  <a:pt x="212529" y="383539"/>
                </a:lnTo>
                <a:lnTo>
                  <a:pt x="250050" y="375919"/>
                </a:lnTo>
                <a:lnTo>
                  <a:pt x="255937" y="373379"/>
                </a:lnTo>
                <a:lnTo>
                  <a:pt x="192297" y="373379"/>
                </a:lnTo>
                <a:lnTo>
                  <a:pt x="173790" y="372110"/>
                </a:lnTo>
                <a:lnTo>
                  <a:pt x="121862" y="358139"/>
                </a:lnTo>
                <a:lnTo>
                  <a:pt x="77205" y="331469"/>
                </a:lnTo>
                <a:lnTo>
                  <a:pt x="42271" y="293369"/>
                </a:lnTo>
                <a:lnTo>
                  <a:pt x="19524" y="245110"/>
                </a:lnTo>
                <a:lnTo>
                  <a:pt x="11416" y="191769"/>
                </a:lnTo>
                <a:lnTo>
                  <a:pt x="12359" y="172719"/>
                </a:lnTo>
                <a:lnTo>
                  <a:pt x="25674" y="120650"/>
                </a:lnTo>
                <a:lnTo>
                  <a:pt x="52800" y="76200"/>
                </a:lnTo>
                <a:lnTo>
                  <a:pt x="91283" y="41910"/>
                </a:lnTo>
                <a:lnTo>
                  <a:pt x="138664" y="19050"/>
                </a:lnTo>
                <a:lnTo>
                  <a:pt x="173982" y="11429"/>
                </a:lnTo>
                <a:lnTo>
                  <a:pt x="259770" y="11429"/>
                </a:lnTo>
                <a:lnTo>
                  <a:pt x="249148" y="7619"/>
                </a:lnTo>
                <a:lnTo>
                  <a:pt x="211571" y="0"/>
                </a:lnTo>
                <a:close/>
              </a:path>
              <a:path w="384809" h="383539">
                <a:moveTo>
                  <a:pt x="259770" y="11429"/>
                </a:moveTo>
                <a:lnTo>
                  <a:pt x="210995" y="11429"/>
                </a:lnTo>
                <a:lnTo>
                  <a:pt x="228963" y="13969"/>
                </a:lnTo>
                <a:lnTo>
                  <a:pt x="246302" y="19050"/>
                </a:lnTo>
                <a:lnTo>
                  <a:pt x="293654" y="41910"/>
                </a:lnTo>
                <a:lnTo>
                  <a:pt x="332102" y="76200"/>
                </a:lnTo>
                <a:lnTo>
                  <a:pt x="359185" y="121919"/>
                </a:lnTo>
                <a:lnTo>
                  <a:pt x="372446" y="173989"/>
                </a:lnTo>
                <a:lnTo>
                  <a:pt x="373371" y="191769"/>
                </a:lnTo>
                <a:lnTo>
                  <a:pt x="372426" y="210819"/>
                </a:lnTo>
                <a:lnTo>
                  <a:pt x="359112" y="262889"/>
                </a:lnTo>
                <a:lnTo>
                  <a:pt x="331986" y="307339"/>
                </a:lnTo>
                <a:lnTo>
                  <a:pt x="293502" y="341629"/>
                </a:lnTo>
                <a:lnTo>
                  <a:pt x="246122" y="364489"/>
                </a:lnTo>
                <a:lnTo>
                  <a:pt x="192297" y="373379"/>
                </a:lnTo>
                <a:lnTo>
                  <a:pt x="255937" y="373379"/>
                </a:lnTo>
                <a:lnTo>
                  <a:pt x="300347" y="350519"/>
                </a:lnTo>
                <a:lnTo>
                  <a:pt x="341141" y="313689"/>
                </a:lnTo>
                <a:lnTo>
                  <a:pt x="369846" y="266700"/>
                </a:lnTo>
                <a:lnTo>
                  <a:pt x="380974" y="229869"/>
                </a:lnTo>
                <a:lnTo>
                  <a:pt x="384785" y="191769"/>
                </a:lnTo>
                <a:lnTo>
                  <a:pt x="383745" y="171450"/>
                </a:lnTo>
                <a:lnTo>
                  <a:pt x="369483" y="116839"/>
                </a:lnTo>
                <a:lnTo>
                  <a:pt x="340561" y="68579"/>
                </a:lnTo>
                <a:lnTo>
                  <a:pt x="299589" y="31750"/>
                </a:lnTo>
                <a:lnTo>
                  <a:pt x="266852" y="13969"/>
                </a:lnTo>
                <a:lnTo>
                  <a:pt x="259770" y="11429"/>
                </a:lnTo>
                <a:close/>
              </a:path>
              <a:path w="384809" h="383539">
                <a:moveTo>
                  <a:pt x="210803" y="15239"/>
                </a:moveTo>
                <a:lnTo>
                  <a:pt x="174557" y="15239"/>
                </a:lnTo>
                <a:lnTo>
                  <a:pt x="156960" y="17779"/>
                </a:lnTo>
                <a:lnTo>
                  <a:pt x="108188" y="35560"/>
                </a:lnTo>
                <a:lnTo>
                  <a:pt x="67307" y="66039"/>
                </a:lnTo>
                <a:lnTo>
                  <a:pt x="36734" y="106679"/>
                </a:lnTo>
                <a:lnTo>
                  <a:pt x="18878" y="156210"/>
                </a:lnTo>
                <a:lnTo>
                  <a:pt x="15220" y="191769"/>
                </a:lnTo>
                <a:lnTo>
                  <a:pt x="16107" y="209550"/>
                </a:lnTo>
                <a:lnTo>
                  <a:pt x="29033" y="260350"/>
                </a:lnTo>
                <a:lnTo>
                  <a:pt x="55504" y="304800"/>
                </a:lnTo>
                <a:lnTo>
                  <a:pt x="93111" y="339089"/>
                </a:lnTo>
                <a:lnTo>
                  <a:pt x="139433" y="360679"/>
                </a:lnTo>
                <a:lnTo>
                  <a:pt x="192105" y="369569"/>
                </a:lnTo>
                <a:lnTo>
                  <a:pt x="210229" y="368300"/>
                </a:lnTo>
                <a:lnTo>
                  <a:pt x="227826" y="365760"/>
                </a:lnTo>
                <a:lnTo>
                  <a:pt x="191913" y="365760"/>
                </a:lnTo>
                <a:lnTo>
                  <a:pt x="174175" y="364489"/>
                </a:lnTo>
                <a:lnTo>
                  <a:pt x="124481" y="351789"/>
                </a:lnTo>
                <a:lnTo>
                  <a:pt x="81768" y="325119"/>
                </a:lnTo>
                <a:lnTo>
                  <a:pt x="48374" y="288289"/>
                </a:lnTo>
                <a:lnTo>
                  <a:pt x="26680" y="242569"/>
                </a:lnTo>
                <a:lnTo>
                  <a:pt x="19025" y="191769"/>
                </a:lnTo>
                <a:lnTo>
                  <a:pt x="19970" y="173989"/>
                </a:lnTo>
                <a:lnTo>
                  <a:pt x="32829" y="124460"/>
                </a:lnTo>
                <a:lnTo>
                  <a:pt x="58902" y="81279"/>
                </a:lnTo>
                <a:lnTo>
                  <a:pt x="95848" y="48260"/>
                </a:lnTo>
                <a:lnTo>
                  <a:pt x="141284" y="26669"/>
                </a:lnTo>
                <a:lnTo>
                  <a:pt x="192873" y="17779"/>
                </a:lnTo>
                <a:lnTo>
                  <a:pt x="228387" y="17779"/>
                </a:lnTo>
                <a:lnTo>
                  <a:pt x="210803" y="15239"/>
                </a:lnTo>
                <a:close/>
              </a:path>
              <a:path w="384809" h="383539">
                <a:moveTo>
                  <a:pt x="228387" y="17779"/>
                </a:moveTo>
                <a:lnTo>
                  <a:pt x="192873" y="17779"/>
                </a:lnTo>
                <a:lnTo>
                  <a:pt x="210611" y="19050"/>
                </a:lnTo>
                <a:lnTo>
                  <a:pt x="227812" y="21589"/>
                </a:lnTo>
                <a:lnTo>
                  <a:pt x="275431" y="39369"/>
                </a:lnTo>
                <a:lnTo>
                  <a:pt x="315302" y="69850"/>
                </a:lnTo>
                <a:lnTo>
                  <a:pt x="345060" y="109219"/>
                </a:lnTo>
                <a:lnTo>
                  <a:pt x="362333" y="157479"/>
                </a:lnTo>
                <a:lnTo>
                  <a:pt x="365760" y="191769"/>
                </a:lnTo>
                <a:lnTo>
                  <a:pt x="364816" y="209550"/>
                </a:lnTo>
                <a:lnTo>
                  <a:pt x="351957" y="259079"/>
                </a:lnTo>
                <a:lnTo>
                  <a:pt x="325884" y="302260"/>
                </a:lnTo>
                <a:lnTo>
                  <a:pt x="288938" y="335279"/>
                </a:lnTo>
                <a:lnTo>
                  <a:pt x="243502" y="356869"/>
                </a:lnTo>
                <a:lnTo>
                  <a:pt x="191913" y="365760"/>
                </a:lnTo>
                <a:lnTo>
                  <a:pt x="227826" y="365760"/>
                </a:lnTo>
                <a:lnTo>
                  <a:pt x="276597" y="347979"/>
                </a:lnTo>
                <a:lnTo>
                  <a:pt x="317479" y="317500"/>
                </a:lnTo>
                <a:lnTo>
                  <a:pt x="348052" y="276860"/>
                </a:lnTo>
                <a:lnTo>
                  <a:pt x="365908" y="227329"/>
                </a:lnTo>
                <a:lnTo>
                  <a:pt x="369566" y="191769"/>
                </a:lnTo>
                <a:lnTo>
                  <a:pt x="368679" y="173989"/>
                </a:lnTo>
                <a:lnTo>
                  <a:pt x="355753" y="123189"/>
                </a:lnTo>
                <a:lnTo>
                  <a:pt x="329283" y="78739"/>
                </a:lnTo>
                <a:lnTo>
                  <a:pt x="291675" y="44450"/>
                </a:lnTo>
                <a:lnTo>
                  <a:pt x="245353" y="22860"/>
                </a:lnTo>
                <a:lnTo>
                  <a:pt x="228387" y="177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6992584" y="1483867"/>
            <a:ext cx="194945" cy="981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20"/>
              </a:spcBef>
            </a:pPr>
            <a:r>
              <a:rPr dirty="0" sz="2350" spc="25">
                <a:solidFill>
                  <a:srgbClr val="C00000"/>
                </a:solidFill>
                <a:latin typeface="Arial"/>
                <a:cs typeface="Arial"/>
              </a:rPr>
              <a:t>2</a:t>
            </a:r>
            <a:endParaRPr sz="235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528434" y="2060261"/>
            <a:ext cx="379095" cy="213995"/>
          </a:xfrm>
          <a:custGeom>
            <a:avLst/>
            <a:gdLst/>
            <a:ahLst/>
            <a:cxnLst/>
            <a:rect l="l" t="t" r="r" b="b"/>
            <a:pathLst>
              <a:path w="379095" h="213994">
                <a:moveTo>
                  <a:pt x="0" y="0"/>
                </a:moveTo>
                <a:lnTo>
                  <a:pt x="378902" y="21342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528434" y="1679231"/>
            <a:ext cx="379095" cy="122555"/>
          </a:xfrm>
          <a:custGeom>
            <a:avLst/>
            <a:gdLst/>
            <a:ahLst/>
            <a:cxnLst/>
            <a:rect l="l" t="t" r="r" b="b"/>
            <a:pathLst>
              <a:path w="379095" h="122555">
                <a:moveTo>
                  <a:pt x="0" y="122398"/>
                </a:moveTo>
                <a:lnTo>
                  <a:pt x="378902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6547472" y="2696972"/>
            <a:ext cx="21463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Arial"/>
                <a:cs typeface="Arial"/>
              </a:rPr>
              <a:t>Observed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35">
                <a:latin typeface="Arial"/>
                <a:cs typeface="Arial"/>
              </a:rPr>
              <a:t>graph</a:t>
            </a:r>
            <a:endParaRPr sz="24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116383" y="1324100"/>
            <a:ext cx="3027680" cy="1800225"/>
          </a:xfrm>
          <a:custGeom>
            <a:avLst/>
            <a:gdLst/>
            <a:ahLst/>
            <a:cxnLst/>
            <a:rect l="l" t="t" r="r" b="b"/>
            <a:pathLst>
              <a:path w="3027679" h="1800225">
                <a:moveTo>
                  <a:pt x="0" y="0"/>
                </a:moveTo>
                <a:lnTo>
                  <a:pt x="3027616" y="0"/>
                </a:lnTo>
                <a:lnTo>
                  <a:pt x="3027616" y="1800099"/>
                </a:lnTo>
                <a:lnTo>
                  <a:pt x="0" y="1800099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653688" y="3498856"/>
            <a:ext cx="3034665" cy="2110740"/>
          </a:xfrm>
          <a:custGeom>
            <a:avLst/>
            <a:gdLst/>
            <a:ahLst/>
            <a:cxnLst/>
            <a:rect l="l" t="t" r="r" b="b"/>
            <a:pathLst>
              <a:path w="3034665" h="2110740">
                <a:moveTo>
                  <a:pt x="9857" y="190493"/>
                </a:moveTo>
                <a:lnTo>
                  <a:pt x="2843" y="190493"/>
                </a:lnTo>
                <a:lnTo>
                  <a:pt x="0" y="193337"/>
                </a:lnTo>
                <a:lnTo>
                  <a:pt x="0" y="238450"/>
                </a:lnTo>
                <a:lnTo>
                  <a:pt x="2843" y="241293"/>
                </a:lnTo>
                <a:lnTo>
                  <a:pt x="9857" y="241293"/>
                </a:lnTo>
                <a:lnTo>
                  <a:pt x="12700" y="238450"/>
                </a:lnTo>
                <a:lnTo>
                  <a:pt x="12700" y="193337"/>
                </a:lnTo>
                <a:lnTo>
                  <a:pt x="9857" y="190493"/>
                </a:lnTo>
                <a:close/>
              </a:path>
              <a:path w="3034665" h="2110740">
                <a:moveTo>
                  <a:pt x="9857" y="101593"/>
                </a:moveTo>
                <a:lnTo>
                  <a:pt x="2843" y="101593"/>
                </a:lnTo>
                <a:lnTo>
                  <a:pt x="0" y="104437"/>
                </a:lnTo>
                <a:lnTo>
                  <a:pt x="0" y="149550"/>
                </a:lnTo>
                <a:lnTo>
                  <a:pt x="2843" y="152393"/>
                </a:lnTo>
                <a:lnTo>
                  <a:pt x="9857" y="152393"/>
                </a:lnTo>
                <a:lnTo>
                  <a:pt x="12700" y="149550"/>
                </a:lnTo>
                <a:lnTo>
                  <a:pt x="12700" y="104437"/>
                </a:lnTo>
                <a:lnTo>
                  <a:pt x="9857" y="101593"/>
                </a:lnTo>
                <a:close/>
              </a:path>
              <a:path w="3034665" h="2110740">
                <a:moveTo>
                  <a:pt x="9857" y="12693"/>
                </a:moveTo>
                <a:lnTo>
                  <a:pt x="2843" y="12693"/>
                </a:lnTo>
                <a:lnTo>
                  <a:pt x="0" y="15537"/>
                </a:lnTo>
                <a:lnTo>
                  <a:pt x="0" y="60650"/>
                </a:lnTo>
                <a:lnTo>
                  <a:pt x="2843" y="63493"/>
                </a:lnTo>
                <a:lnTo>
                  <a:pt x="9857" y="63493"/>
                </a:lnTo>
                <a:lnTo>
                  <a:pt x="12700" y="60650"/>
                </a:lnTo>
                <a:lnTo>
                  <a:pt x="12700" y="15537"/>
                </a:lnTo>
                <a:lnTo>
                  <a:pt x="9857" y="12693"/>
                </a:lnTo>
                <a:close/>
              </a:path>
              <a:path w="3034665" h="2110740">
                <a:moveTo>
                  <a:pt x="86062" y="0"/>
                </a:moveTo>
                <a:lnTo>
                  <a:pt x="40949" y="0"/>
                </a:lnTo>
                <a:lnTo>
                  <a:pt x="38106" y="2842"/>
                </a:lnTo>
                <a:lnTo>
                  <a:pt x="38106" y="9856"/>
                </a:lnTo>
                <a:lnTo>
                  <a:pt x="40949" y="12700"/>
                </a:lnTo>
                <a:lnTo>
                  <a:pt x="86062" y="12700"/>
                </a:lnTo>
                <a:lnTo>
                  <a:pt x="88906" y="9856"/>
                </a:lnTo>
                <a:lnTo>
                  <a:pt x="88906" y="2842"/>
                </a:lnTo>
                <a:lnTo>
                  <a:pt x="86062" y="0"/>
                </a:lnTo>
                <a:close/>
              </a:path>
              <a:path w="3034665" h="2110740">
                <a:moveTo>
                  <a:pt x="174962" y="0"/>
                </a:moveTo>
                <a:lnTo>
                  <a:pt x="129849" y="0"/>
                </a:lnTo>
                <a:lnTo>
                  <a:pt x="127006" y="2842"/>
                </a:lnTo>
                <a:lnTo>
                  <a:pt x="127006" y="9856"/>
                </a:lnTo>
                <a:lnTo>
                  <a:pt x="129849" y="12700"/>
                </a:lnTo>
                <a:lnTo>
                  <a:pt x="174962" y="12700"/>
                </a:lnTo>
                <a:lnTo>
                  <a:pt x="177806" y="9856"/>
                </a:lnTo>
                <a:lnTo>
                  <a:pt x="177806" y="2842"/>
                </a:lnTo>
                <a:lnTo>
                  <a:pt x="174962" y="0"/>
                </a:lnTo>
                <a:close/>
              </a:path>
              <a:path w="3034665" h="2110740">
                <a:moveTo>
                  <a:pt x="263862" y="0"/>
                </a:moveTo>
                <a:lnTo>
                  <a:pt x="218748" y="0"/>
                </a:lnTo>
                <a:lnTo>
                  <a:pt x="215906" y="2842"/>
                </a:lnTo>
                <a:lnTo>
                  <a:pt x="215906" y="9856"/>
                </a:lnTo>
                <a:lnTo>
                  <a:pt x="218748" y="12700"/>
                </a:lnTo>
                <a:lnTo>
                  <a:pt x="263862" y="12700"/>
                </a:lnTo>
                <a:lnTo>
                  <a:pt x="266706" y="9856"/>
                </a:lnTo>
                <a:lnTo>
                  <a:pt x="266706" y="2842"/>
                </a:lnTo>
                <a:lnTo>
                  <a:pt x="263862" y="0"/>
                </a:lnTo>
                <a:close/>
              </a:path>
              <a:path w="3034665" h="2110740">
                <a:moveTo>
                  <a:pt x="352762" y="0"/>
                </a:moveTo>
                <a:lnTo>
                  <a:pt x="307649" y="0"/>
                </a:lnTo>
                <a:lnTo>
                  <a:pt x="304806" y="2842"/>
                </a:lnTo>
                <a:lnTo>
                  <a:pt x="304806" y="9856"/>
                </a:lnTo>
                <a:lnTo>
                  <a:pt x="307649" y="12700"/>
                </a:lnTo>
                <a:lnTo>
                  <a:pt x="352762" y="12700"/>
                </a:lnTo>
                <a:lnTo>
                  <a:pt x="355606" y="9856"/>
                </a:lnTo>
                <a:lnTo>
                  <a:pt x="355606" y="2842"/>
                </a:lnTo>
                <a:lnTo>
                  <a:pt x="352762" y="0"/>
                </a:lnTo>
                <a:close/>
              </a:path>
              <a:path w="3034665" h="2110740">
                <a:moveTo>
                  <a:pt x="441662" y="0"/>
                </a:moveTo>
                <a:lnTo>
                  <a:pt x="396549" y="0"/>
                </a:lnTo>
                <a:lnTo>
                  <a:pt x="393706" y="2842"/>
                </a:lnTo>
                <a:lnTo>
                  <a:pt x="393706" y="9856"/>
                </a:lnTo>
                <a:lnTo>
                  <a:pt x="396549" y="12700"/>
                </a:lnTo>
                <a:lnTo>
                  <a:pt x="441662" y="12700"/>
                </a:lnTo>
                <a:lnTo>
                  <a:pt x="444506" y="9856"/>
                </a:lnTo>
                <a:lnTo>
                  <a:pt x="444506" y="2842"/>
                </a:lnTo>
                <a:lnTo>
                  <a:pt x="441662" y="0"/>
                </a:lnTo>
                <a:close/>
              </a:path>
              <a:path w="3034665" h="2110740">
                <a:moveTo>
                  <a:pt x="530562" y="0"/>
                </a:moveTo>
                <a:lnTo>
                  <a:pt x="485449" y="0"/>
                </a:lnTo>
                <a:lnTo>
                  <a:pt x="482606" y="2842"/>
                </a:lnTo>
                <a:lnTo>
                  <a:pt x="482606" y="9856"/>
                </a:lnTo>
                <a:lnTo>
                  <a:pt x="485449" y="12700"/>
                </a:lnTo>
                <a:lnTo>
                  <a:pt x="530562" y="12700"/>
                </a:lnTo>
                <a:lnTo>
                  <a:pt x="533406" y="9856"/>
                </a:lnTo>
                <a:lnTo>
                  <a:pt x="533406" y="2842"/>
                </a:lnTo>
                <a:lnTo>
                  <a:pt x="530562" y="0"/>
                </a:lnTo>
                <a:close/>
              </a:path>
              <a:path w="3034665" h="2110740">
                <a:moveTo>
                  <a:pt x="619462" y="0"/>
                </a:moveTo>
                <a:lnTo>
                  <a:pt x="574349" y="0"/>
                </a:lnTo>
                <a:lnTo>
                  <a:pt x="571506" y="2842"/>
                </a:lnTo>
                <a:lnTo>
                  <a:pt x="571506" y="9856"/>
                </a:lnTo>
                <a:lnTo>
                  <a:pt x="574349" y="12700"/>
                </a:lnTo>
                <a:lnTo>
                  <a:pt x="619462" y="12700"/>
                </a:lnTo>
                <a:lnTo>
                  <a:pt x="622306" y="9856"/>
                </a:lnTo>
                <a:lnTo>
                  <a:pt x="622306" y="2842"/>
                </a:lnTo>
                <a:lnTo>
                  <a:pt x="619462" y="0"/>
                </a:lnTo>
                <a:close/>
              </a:path>
              <a:path w="3034665" h="2110740">
                <a:moveTo>
                  <a:pt x="708362" y="0"/>
                </a:moveTo>
                <a:lnTo>
                  <a:pt x="663249" y="0"/>
                </a:lnTo>
                <a:lnTo>
                  <a:pt x="660406" y="2842"/>
                </a:lnTo>
                <a:lnTo>
                  <a:pt x="660406" y="9856"/>
                </a:lnTo>
                <a:lnTo>
                  <a:pt x="663249" y="12700"/>
                </a:lnTo>
                <a:lnTo>
                  <a:pt x="708362" y="12700"/>
                </a:lnTo>
                <a:lnTo>
                  <a:pt x="711206" y="9856"/>
                </a:lnTo>
                <a:lnTo>
                  <a:pt x="711206" y="2842"/>
                </a:lnTo>
                <a:lnTo>
                  <a:pt x="708362" y="0"/>
                </a:lnTo>
                <a:close/>
              </a:path>
              <a:path w="3034665" h="2110740">
                <a:moveTo>
                  <a:pt x="797262" y="0"/>
                </a:moveTo>
                <a:lnTo>
                  <a:pt x="752148" y="0"/>
                </a:lnTo>
                <a:lnTo>
                  <a:pt x="749306" y="2842"/>
                </a:lnTo>
                <a:lnTo>
                  <a:pt x="749306" y="9856"/>
                </a:lnTo>
                <a:lnTo>
                  <a:pt x="752148" y="12700"/>
                </a:lnTo>
                <a:lnTo>
                  <a:pt x="797262" y="12700"/>
                </a:lnTo>
                <a:lnTo>
                  <a:pt x="800106" y="9856"/>
                </a:lnTo>
                <a:lnTo>
                  <a:pt x="800106" y="2842"/>
                </a:lnTo>
                <a:lnTo>
                  <a:pt x="797262" y="0"/>
                </a:lnTo>
                <a:close/>
              </a:path>
              <a:path w="3034665" h="2110740">
                <a:moveTo>
                  <a:pt x="886162" y="0"/>
                </a:moveTo>
                <a:lnTo>
                  <a:pt x="841048" y="0"/>
                </a:lnTo>
                <a:lnTo>
                  <a:pt x="838206" y="2842"/>
                </a:lnTo>
                <a:lnTo>
                  <a:pt x="838206" y="9856"/>
                </a:lnTo>
                <a:lnTo>
                  <a:pt x="841048" y="12700"/>
                </a:lnTo>
                <a:lnTo>
                  <a:pt x="886162" y="12700"/>
                </a:lnTo>
                <a:lnTo>
                  <a:pt x="889006" y="9856"/>
                </a:lnTo>
                <a:lnTo>
                  <a:pt x="889006" y="2842"/>
                </a:lnTo>
                <a:lnTo>
                  <a:pt x="886162" y="0"/>
                </a:lnTo>
                <a:close/>
              </a:path>
              <a:path w="3034665" h="2110740">
                <a:moveTo>
                  <a:pt x="975062" y="0"/>
                </a:moveTo>
                <a:lnTo>
                  <a:pt x="929948" y="0"/>
                </a:lnTo>
                <a:lnTo>
                  <a:pt x="927106" y="2842"/>
                </a:lnTo>
                <a:lnTo>
                  <a:pt x="927106" y="9856"/>
                </a:lnTo>
                <a:lnTo>
                  <a:pt x="929948" y="12700"/>
                </a:lnTo>
                <a:lnTo>
                  <a:pt x="975062" y="12700"/>
                </a:lnTo>
                <a:lnTo>
                  <a:pt x="977906" y="9856"/>
                </a:lnTo>
                <a:lnTo>
                  <a:pt x="977906" y="2842"/>
                </a:lnTo>
                <a:lnTo>
                  <a:pt x="975062" y="0"/>
                </a:lnTo>
                <a:close/>
              </a:path>
              <a:path w="3034665" h="2110740">
                <a:moveTo>
                  <a:pt x="1063962" y="0"/>
                </a:moveTo>
                <a:lnTo>
                  <a:pt x="1018848" y="0"/>
                </a:lnTo>
                <a:lnTo>
                  <a:pt x="1016006" y="2842"/>
                </a:lnTo>
                <a:lnTo>
                  <a:pt x="1016006" y="9856"/>
                </a:lnTo>
                <a:lnTo>
                  <a:pt x="1018848" y="12700"/>
                </a:lnTo>
                <a:lnTo>
                  <a:pt x="1063962" y="12700"/>
                </a:lnTo>
                <a:lnTo>
                  <a:pt x="1066806" y="9856"/>
                </a:lnTo>
                <a:lnTo>
                  <a:pt x="1066806" y="2842"/>
                </a:lnTo>
                <a:lnTo>
                  <a:pt x="1063962" y="0"/>
                </a:lnTo>
                <a:close/>
              </a:path>
              <a:path w="3034665" h="2110740">
                <a:moveTo>
                  <a:pt x="1152862" y="0"/>
                </a:moveTo>
                <a:lnTo>
                  <a:pt x="1107749" y="0"/>
                </a:lnTo>
                <a:lnTo>
                  <a:pt x="1104906" y="2842"/>
                </a:lnTo>
                <a:lnTo>
                  <a:pt x="1104906" y="9856"/>
                </a:lnTo>
                <a:lnTo>
                  <a:pt x="1107749" y="12700"/>
                </a:lnTo>
                <a:lnTo>
                  <a:pt x="1152862" y="12700"/>
                </a:lnTo>
                <a:lnTo>
                  <a:pt x="1155706" y="9856"/>
                </a:lnTo>
                <a:lnTo>
                  <a:pt x="1155706" y="2842"/>
                </a:lnTo>
                <a:lnTo>
                  <a:pt x="1152862" y="0"/>
                </a:lnTo>
                <a:close/>
              </a:path>
              <a:path w="3034665" h="2110740">
                <a:moveTo>
                  <a:pt x="1241762" y="0"/>
                </a:moveTo>
                <a:lnTo>
                  <a:pt x="1196649" y="0"/>
                </a:lnTo>
                <a:lnTo>
                  <a:pt x="1193806" y="2842"/>
                </a:lnTo>
                <a:lnTo>
                  <a:pt x="1193806" y="9856"/>
                </a:lnTo>
                <a:lnTo>
                  <a:pt x="1196649" y="12700"/>
                </a:lnTo>
                <a:lnTo>
                  <a:pt x="1241762" y="12700"/>
                </a:lnTo>
                <a:lnTo>
                  <a:pt x="1244606" y="9856"/>
                </a:lnTo>
                <a:lnTo>
                  <a:pt x="1244606" y="2842"/>
                </a:lnTo>
                <a:lnTo>
                  <a:pt x="1241762" y="0"/>
                </a:lnTo>
                <a:close/>
              </a:path>
              <a:path w="3034665" h="2110740">
                <a:moveTo>
                  <a:pt x="1330662" y="0"/>
                </a:moveTo>
                <a:lnTo>
                  <a:pt x="1285549" y="0"/>
                </a:lnTo>
                <a:lnTo>
                  <a:pt x="1282706" y="2842"/>
                </a:lnTo>
                <a:lnTo>
                  <a:pt x="1282706" y="9856"/>
                </a:lnTo>
                <a:lnTo>
                  <a:pt x="1285549" y="12700"/>
                </a:lnTo>
                <a:lnTo>
                  <a:pt x="1330662" y="12700"/>
                </a:lnTo>
                <a:lnTo>
                  <a:pt x="1333506" y="9856"/>
                </a:lnTo>
                <a:lnTo>
                  <a:pt x="1333506" y="2842"/>
                </a:lnTo>
                <a:lnTo>
                  <a:pt x="1330662" y="0"/>
                </a:lnTo>
                <a:close/>
              </a:path>
              <a:path w="3034665" h="2110740">
                <a:moveTo>
                  <a:pt x="1419562" y="0"/>
                </a:moveTo>
                <a:lnTo>
                  <a:pt x="1374449" y="0"/>
                </a:lnTo>
                <a:lnTo>
                  <a:pt x="1371606" y="2842"/>
                </a:lnTo>
                <a:lnTo>
                  <a:pt x="1371606" y="9856"/>
                </a:lnTo>
                <a:lnTo>
                  <a:pt x="1374449" y="12700"/>
                </a:lnTo>
                <a:lnTo>
                  <a:pt x="1419562" y="12700"/>
                </a:lnTo>
                <a:lnTo>
                  <a:pt x="1422406" y="9856"/>
                </a:lnTo>
                <a:lnTo>
                  <a:pt x="1422406" y="2842"/>
                </a:lnTo>
                <a:lnTo>
                  <a:pt x="1419562" y="0"/>
                </a:lnTo>
                <a:close/>
              </a:path>
              <a:path w="3034665" h="2110740">
                <a:moveTo>
                  <a:pt x="1494839" y="6350"/>
                </a:moveTo>
                <a:lnTo>
                  <a:pt x="1494839" y="13623"/>
                </a:lnTo>
                <a:lnTo>
                  <a:pt x="1497683" y="16465"/>
                </a:lnTo>
                <a:lnTo>
                  <a:pt x="1504697" y="16465"/>
                </a:lnTo>
                <a:lnTo>
                  <a:pt x="1507539" y="13623"/>
                </a:lnTo>
                <a:lnTo>
                  <a:pt x="1507539" y="12700"/>
                </a:lnTo>
                <a:lnTo>
                  <a:pt x="1501189" y="12700"/>
                </a:lnTo>
                <a:lnTo>
                  <a:pt x="1494839" y="6350"/>
                </a:lnTo>
                <a:close/>
              </a:path>
              <a:path w="3034665" h="2110740">
                <a:moveTo>
                  <a:pt x="1504697" y="0"/>
                </a:moveTo>
                <a:lnTo>
                  <a:pt x="1463349" y="0"/>
                </a:lnTo>
                <a:lnTo>
                  <a:pt x="1460506" y="2842"/>
                </a:lnTo>
                <a:lnTo>
                  <a:pt x="1460506" y="9856"/>
                </a:lnTo>
                <a:lnTo>
                  <a:pt x="1463349" y="12700"/>
                </a:lnTo>
                <a:lnTo>
                  <a:pt x="1494839" y="12700"/>
                </a:lnTo>
                <a:lnTo>
                  <a:pt x="1494839" y="6350"/>
                </a:lnTo>
                <a:lnTo>
                  <a:pt x="1507539" y="6350"/>
                </a:lnTo>
                <a:lnTo>
                  <a:pt x="1507539" y="2842"/>
                </a:lnTo>
                <a:lnTo>
                  <a:pt x="1504697" y="0"/>
                </a:lnTo>
                <a:close/>
              </a:path>
              <a:path w="3034665" h="2110740">
                <a:moveTo>
                  <a:pt x="1507539" y="6350"/>
                </a:moveTo>
                <a:lnTo>
                  <a:pt x="1494839" y="6350"/>
                </a:lnTo>
                <a:lnTo>
                  <a:pt x="1501189" y="12700"/>
                </a:lnTo>
                <a:lnTo>
                  <a:pt x="1507539" y="12700"/>
                </a:lnTo>
                <a:lnTo>
                  <a:pt x="1507539" y="6350"/>
                </a:lnTo>
                <a:close/>
              </a:path>
              <a:path w="3034665" h="2110740">
                <a:moveTo>
                  <a:pt x="1504697" y="54565"/>
                </a:moveTo>
                <a:lnTo>
                  <a:pt x="1497683" y="54565"/>
                </a:lnTo>
                <a:lnTo>
                  <a:pt x="1494839" y="57409"/>
                </a:lnTo>
                <a:lnTo>
                  <a:pt x="1494839" y="102523"/>
                </a:lnTo>
                <a:lnTo>
                  <a:pt x="1497683" y="105365"/>
                </a:lnTo>
                <a:lnTo>
                  <a:pt x="1504697" y="105365"/>
                </a:lnTo>
                <a:lnTo>
                  <a:pt x="1507539" y="102523"/>
                </a:lnTo>
                <a:lnTo>
                  <a:pt x="1507539" y="57409"/>
                </a:lnTo>
                <a:lnTo>
                  <a:pt x="1504697" y="54565"/>
                </a:lnTo>
                <a:close/>
              </a:path>
              <a:path w="3034665" h="2110740">
                <a:moveTo>
                  <a:pt x="1504697" y="143465"/>
                </a:moveTo>
                <a:lnTo>
                  <a:pt x="1497683" y="143465"/>
                </a:lnTo>
                <a:lnTo>
                  <a:pt x="1494839" y="146309"/>
                </a:lnTo>
                <a:lnTo>
                  <a:pt x="1494839" y="191423"/>
                </a:lnTo>
                <a:lnTo>
                  <a:pt x="1497683" y="194265"/>
                </a:lnTo>
                <a:lnTo>
                  <a:pt x="1504697" y="194265"/>
                </a:lnTo>
                <a:lnTo>
                  <a:pt x="1507539" y="191423"/>
                </a:lnTo>
                <a:lnTo>
                  <a:pt x="1507539" y="146309"/>
                </a:lnTo>
                <a:lnTo>
                  <a:pt x="1504697" y="143465"/>
                </a:lnTo>
                <a:close/>
              </a:path>
              <a:path w="3034665" h="2110740">
                <a:moveTo>
                  <a:pt x="1504697" y="232365"/>
                </a:moveTo>
                <a:lnTo>
                  <a:pt x="1497683" y="232365"/>
                </a:lnTo>
                <a:lnTo>
                  <a:pt x="1494839" y="235209"/>
                </a:lnTo>
                <a:lnTo>
                  <a:pt x="1494839" y="280323"/>
                </a:lnTo>
                <a:lnTo>
                  <a:pt x="1497683" y="283165"/>
                </a:lnTo>
                <a:lnTo>
                  <a:pt x="1504697" y="283165"/>
                </a:lnTo>
                <a:lnTo>
                  <a:pt x="1507539" y="280323"/>
                </a:lnTo>
                <a:lnTo>
                  <a:pt x="1507539" y="235209"/>
                </a:lnTo>
                <a:lnTo>
                  <a:pt x="1504697" y="232365"/>
                </a:lnTo>
                <a:close/>
              </a:path>
              <a:path w="3034665" h="2110740">
                <a:moveTo>
                  <a:pt x="1504697" y="321265"/>
                </a:moveTo>
                <a:lnTo>
                  <a:pt x="1497683" y="321265"/>
                </a:lnTo>
                <a:lnTo>
                  <a:pt x="1494839" y="324109"/>
                </a:lnTo>
                <a:lnTo>
                  <a:pt x="1494839" y="369223"/>
                </a:lnTo>
                <a:lnTo>
                  <a:pt x="1497683" y="372065"/>
                </a:lnTo>
                <a:lnTo>
                  <a:pt x="1504697" y="372065"/>
                </a:lnTo>
                <a:lnTo>
                  <a:pt x="1507539" y="369223"/>
                </a:lnTo>
                <a:lnTo>
                  <a:pt x="1507539" y="324109"/>
                </a:lnTo>
                <a:lnTo>
                  <a:pt x="1504697" y="321265"/>
                </a:lnTo>
                <a:close/>
              </a:path>
              <a:path w="3034665" h="2110740">
                <a:moveTo>
                  <a:pt x="1504697" y="410165"/>
                </a:moveTo>
                <a:lnTo>
                  <a:pt x="1497683" y="410165"/>
                </a:lnTo>
                <a:lnTo>
                  <a:pt x="1494839" y="413009"/>
                </a:lnTo>
                <a:lnTo>
                  <a:pt x="1494839" y="458123"/>
                </a:lnTo>
                <a:lnTo>
                  <a:pt x="1497683" y="460965"/>
                </a:lnTo>
                <a:lnTo>
                  <a:pt x="1504697" y="460965"/>
                </a:lnTo>
                <a:lnTo>
                  <a:pt x="1507539" y="458123"/>
                </a:lnTo>
                <a:lnTo>
                  <a:pt x="1507539" y="413009"/>
                </a:lnTo>
                <a:lnTo>
                  <a:pt x="1504697" y="410165"/>
                </a:lnTo>
                <a:close/>
              </a:path>
              <a:path w="3034665" h="2110740">
                <a:moveTo>
                  <a:pt x="1504697" y="499065"/>
                </a:moveTo>
                <a:lnTo>
                  <a:pt x="1497683" y="499065"/>
                </a:lnTo>
                <a:lnTo>
                  <a:pt x="1494839" y="501909"/>
                </a:lnTo>
                <a:lnTo>
                  <a:pt x="1494839" y="547023"/>
                </a:lnTo>
                <a:lnTo>
                  <a:pt x="1497683" y="549865"/>
                </a:lnTo>
                <a:lnTo>
                  <a:pt x="1504697" y="549865"/>
                </a:lnTo>
                <a:lnTo>
                  <a:pt x="1507539" y="547023"/>
                </a:lnTo>
                <a:lnTo>
                  <a:pt x="1507539" y="501909"/>
                </a:lnTo>
                <a:lnTo>
                  <a:pt x="1504697" y="499065"/>
                </a:lnTo>
                <a:close/>
              </a:path>
              <a:path w="3034665" h="2110740">
                <a:moveTo>
                  <a:pt x="1504697" y="587965"/>
                </a:moveTo>
                <a:lnTo>
                  <a:pt x="1497683" y="587965"/>
                </a:lnTo>
                <a:lnTo>
                  <a:pt x="1494839" y="590809"/>
                </a:lnTo>
                <a:lnTo>
                  <a:pt x="1494839" y="635923"/>
                </a:lnTo>
                <a:lnTo>
                  <a:pt x="1497683" y="638765"/>
                </a:lnTo>
                <a:lnTo>
                  <a:pt x="1504697" y="638765"/>
                </a:lnTo>
                <a:lnTo>
                  <a:pt x="1507539" y="635923"/>
                </a:lnTo>
                <a:lnTo>
                  <a:pt x="1507539" y="590809"/>
                </a:lnTo>
                <a:lnTo>
                  <a:pt x="1504697" y="587965"/>
                </a:lnTo>
                <a:close/>
              </a:path>
              <a:path w="3034665" h="2110740">
                <a:moveTo>
                  <a:pt x="1504697" y="676865"/>
                </a:moveTo>
                <a:lnTo>
                  <a:pt x="1497683" y="676865"/>
                </a:lnTo>
                <a:lnTo>
                  <a:pt x="1494839" y="679709"/>
                </a:lnTo>
                <a:lnTo>
                  <a:pt x="1494839" y="724823"/>
                </a:lnTo>
                <a:lnTo>
                  <a:pt x="1497683" y="727665"/>
                </a:lnTo>
                <a:lnTo>
                  <a:pt x="1504697" y="727665"/>
                </a:lnTo>
                <a:lnTo>
                  <a:pt x="1507539" y="724823"/>
                </a:lnTo>
                <a:lnTo>
                  <a:pt x="1507539" y="679709"/>
                </a:lnTo>
                <a:lnTo>
                  <a:pt x="1504697" y="676865"/>
                </a:lnTo>
                <a:close/>
              </a:path>
              <a:path w="3034665" h="2110740">
                <a:moveTo>
                  <a:pt x="1504697" y="765765"/>
                </a:moveTo>
                <a:lnTo>
                  <a:pt x="1497683" y="765765"/>
                </a:lnTo>
                <a:lnTo>
                  <a:pt x="1494839" y="768609"/>
                </a:lnTo>
                <a:lnTo>
                  <a:pt x="1494839" y="813723"/>
                </a:lnTo>
                <a:lnTo>
                  <a:pt x="1497683" y="816565"/>
                </a:lnTo>
                <a:lnTo>
                  <a:pt x="1504697" y="816565"/>
                </a:lnTo>
                <a:lnTo>
                  <a:pt x="1507539" y="813723"/>
                </a:lnTo>
                <a:lnTo>
                  <a:pt x="1507539" y="768609"/>
                </a:lnTo>
                <a:lnTo>
                  <a:pt x="1504697" y="765765"/>
                </a:lnTo>
                <a:close/>
              </a:path>
              <a:path w="3034665" h="2110740">
                <a:moveTo>
                  <a:pt x="1504697" y="854665"/>
                </a:moveTo>
                <a:lnTo>
                  <a:pt x="1497683" y="854665"/>
                </a:lnTo>
                <a:lnTo>
                  <a:pt x="1494839" y="857509"/>
                </a:lnTo>
                <a:lnTo>
                  <a:pt x="1494839" y="902623"/>
                </a:lnTo>
                <a:lnTo>
                  <a:pt x="1497683" y="905465"/>
                </a:lnTo>
                <a:lnTo>
                  <a:pt x="1504697" y="905465"/>
                </a:lnTo>
                <a:lnTo>
                  <a:pt x="1507539" y="902623"/>
                </a:lnTo>
                <a:lnTo>
                  <a:pt x="1507539" y="857509"/>
                </a:lnTo>
                <a:lnTo>
                  <a:pt x="1504697" y="854665"/>
                </a:lnTo>
                <a:close/>
              </a:path>
              <a:path w="3034665" h="2110740">
                <a:moveTo>
                  <a:pt x="1504697" y="943565"/>
                </a:moveTo>
                <a:lnTo>
                  <a:pt x="1497683" y="943565"/>
                </a:lnTo>
                <a:lnTo>
                  <a:pt x="1494839" y="946409"/>
                </a:lnTo>
                <a:lnTo>
                  <a:pt x="1494839" y="991523"/>
                </a:lnTo>
                <a:lnTo>
                  <a:pt x="1497683" y="994365"/>
                </a:lnTo>
                <a:lnTo>
                  <a:pt x="1504697" y="994365"/>
                </a:lnTo>
                <a:lnTo>
                  <a:pt x="1507539" y="991523"/>
                </a:lnTo>
                <a:lnTo>
                  <a:pt x="1507539" y="946409"/>
                </a:lnTo>
                <a:lnTo>
                  <a:pt x="1504697" y="943565"/>
                </a:lnTo>
                <a:close/>
              </a:path>
              <a:path w="3034665" h="2110740">
                <a:moveTo>
                  <a:pt x="1504697" y="1032465"/>
                </a:moveTo>
                <a:lnTo>
                  <a:pt x="1497683" y="1032465"/>
                </a:lnTo>
                <a:lnTo>
                  <a:pt x="1494839" y="1035309"/>
                </a:lnTo>
                <a:lnTo>
                  <a:pt x="1494839" y="1080423"/>
                </a:lnTo>
                <a:lnTo>
                  <a:pt x="1497683" y="1083265"/>
                </a:lnTo>
                <a:lnTo>
                  <a:pt x="1504697" y="1083265"/>
                </a:lnTo>
                <a:lnTo>
                  <a:pt x="1507539" y="1080423"/>
                </a:lnTo>
                <a:lnTo>
                  <a:pt x="1507539" y="1035309"/>
                </a:lnTo>
                <a:lnTo>
                  <a:pt x="1504697" y="1032465"/>
                </a:lnTo>
                <a:close/>
              </a:path>
              <a:path w="3034665" h="2110740">
                <a:moveTo>
                  <a:pt x="1504697" y="1121365"/>
                </a:moveTo>
                <a:lnTo>
                  <a:pt x="1497683" y="1121365"/>
                </a:lnTo>
                <a:lnTo>
                  <a:pt x="1494839" y="1124209"/>
                </a:lnTo>
                <a:lnTo>
                  <a:pt x="1494839" y="1169323"/>
                </a:lnTo>
                <a:lnTo>
                  <a:pt x="1497683" y="1172165"/>
                </a:lnTo>
                <a:lnTo>
                  <a:pt x="1504697" y="1172165"/>
                </a:lnTo>
                <a:lnTo>
                  <a:pt x="1507539" y="1169323"/>
                </a:lnTo>
                <a:lnTo>
                  <a:pt x="1507539" y="1124209"/>
                </a:lnTo>
                <a:lnTo>
                  <a:pt x="1504697" y="1121365"/>
                </a:lnTo>
                <a:close/>
              </a:path>
              <a:path w="3034665" h="2110740">
                <a:moveTo>
                  <a:pt x="1504697" y="1210265"/>
                </a:moveTo>
                <a:lnTo>
                  <a:pt x="1497683" y="1210265"/>
                </a:lnTo>
                <a:lnTo>
                  <a:pt x="1494839" y="1213109"/>
                </a:lnTo>
                <a:lnTo>
                  <a:pt x="1494839" y="1258223"/>
                </a:lnTo>
                <a:lnTo>
                  <a:pt x="1497683" y="1261065"/>
                </a:lnTo>
                <a:lnTo>
                  <a:pt x="1504697" y="1261065"/>
                </a:lnTo>
                <a:lnTo>
                  <a:pt x="1507539" y="1258223"/>
                </a:lnTo>
                <a:lnTo>
                  <a:pt x="1507539" y="1213109"/>
                </a:lnTo>
                <a:lnTo>
                  <a:pt x="1504697" y="1210265"/>
                </a:lnTo>
                <a:close/>
              </a:path>
              <a:path w="3034665" h="2110740">
                <a:moveTo>
                  <a:pt x="1504697" y="1299165"/>
                </a:moveTo>
                <a:lnTo>
                  <a:pt x="1497683" y="1299165"/>
                </a:lnTo>
                <a:lnTo>
                  <a:pt x="1494839" y="1302009"/>
                </a:lnTo>
                <a:lnTo>
                  <a:pt x="1494839" y="1347123"/>
                </a:lnTo>
                <a:lnTo>
                  <a:pt x="1497683" y="1349965"/>
                </a:lnTo>
                <a:lnTo>
                  <a:pt x="1504697" y="1349965"/>
                </a:lnTo>
                <a:lnTo>
                  <a:pt x="1507539" y="1347123"/>
                </a:lnTo>
                <a:lnTo>
                  <a:pt x="1507539" y="1302009"/>
                </a:lnTo>
                <a:lnTo>
                  <a:pt x="1504697" y="1299165"/>
                </a:lnTo>
                <a:close/>
              </a:path>
              <a:path w="3034665" h="2110740">
                <a:moveTo>
                  <a:pt x="1504697" y="1388065"/>
                </a:moveTo>
                <a:lnTo>
                  <a:pt x="1497683" y="1388065"/>
                </a:lnTo>
                <a:lnTo>
                  <a:pt x="1494839" y="1390909"/>
                </a:lnTo>
                <a:lnTo>
                  <a:pt x="1494839" y="1436023"/>
                </a:lnTo>
                <a:lnTo>
                  <a:pt x="1497683" y="1438865"/>
                </a:lnTo>
                <a:lnTo>
                  <a:pt x="1504697" y="1438865"/>
                </a:lnTo>
                <a:lnTo>
                  <a:pt x="1507539" y="1436023"/>
                </a:lnTo>
                <a:lnTo>
                  <a:pt x="1507539" y="1390909"/>
                </a:lnTo>
                <a:lnTo>
                  <a:pt x="1504697" y="1388065"/>
                </a:lnTo>
                <a:close/>
              </a:path>
              <a:path w="3034665" h="2110740">
                <a:moveTo>
                  <a:pt x="1504697" y="1476965"/>
                </a:moveTo>
                <a:lnTo>
                  <a:pt x="1497683" y="1476965"/>
                </a:lnTo>
                <a:lnTo>
                  <a:pt x="1494839" y="1479809"/>
                </a:lnTo>
                <a:lnTo>
                  <a:pt x="1494839" y="1524923"/>
                </a:lnTo>
                <a:lnTo>
                  <a:pt x="1497683" y="1527765"/>
                </a:lnTo>
                <a:lnTo>
                  <a:pt x="1504697" y="1527765"/>
                </a:lnTo>
                <a:lnTo>
                  <a:pt x="1507539" y="1524923"/>
                </a:lnTo>
                <a:lnTo>
                  <a:pt x="1507539" y="1479809"/>
                </a:lnTo>
                <a:lnTo>
                  <a:pt x="1504697" y="1476965"/>
                </a:lnTo>
                <a:close/>
              </a:path>
              <a:path w="3034665" h="2110740">
                <a:moveTo>
                  <a:pt x="1504697" y="1565865"/>
                </a:moveTo>
                <a:lnTo>
                  <a:pt x="1497683" y="1565865"/>
                </a:lnTo>
                <a:lnTo>
                  <a:pt x="1494839" y="1568709"/>
                </a:lnTo>
                <a:lnTo>
                  <a:pt x="1494839" y="1613823"/>
                </a:lnTo>
                <a:lnTo>
                  <a:pt x="1497683" y="1616665"/>
                </a:lnTo>
                <a:lnTo>
                  <a:pt x="1504697" y="1616665"/>
                </a:lnTo>
                <a:lnTo>
                  <a:pt x="1507539" y="1613823"/>
                </a:lnTo>
                <a:lnTo>
                  <a:pt x="1507539" y="1568709"/>
                </a:lnTo>
                <a:lnTo>
                  <a:pt x="1504697" y="1565865"/>
                </a:lnTo>
                <a:close/>
              </a:path>
              <a:path w="3034665" h="2110740">
                <a:moveTo>
                  <a:pt x="1504697" y="1654765"/>
                </a:moveTo>
                <a:lnTo>
                  <a:pt x="1497683" y="1654765"/>
                </a:lnTo>
                <a:lnTo>
                  <a:pt x="1494839" y="1657609"/>
                </a:lnTo>
                <a:lnTo>
                  <a:pt x="1494839" y="1702723"/>
                </a:lnTo>
                <a:lnTo>
                  <a:pt x="1497683" y="1705565"/>
                </a:lnTo>
                <a:lnTo>
                  <a:pt x="1504697" y="1705565"/>
                </a:lnTo>
                <a:lnTo>
                  <a:pt x="1507539" y="1702723"/>
                </a:lnTo>
                <a:lnTo>
                  <a:pt x="1507539" y="1657609"/>
                </a:lnTo>
                <a:lnTo>
                  <a:pt x="1504697" y="1654765"/>
                </a:lnTo>
                <a:close/>
              </a:path>
              <a:path w="3034665" h="2110740">
                <a:moveTo>
                  <a:pt x="1504697" y="1743665"/>
                </a:moveTo>
                <a:lnTo>
                  <a:pt x="1497683" y="1743665"/>
                </a:lnTo>
                <a:lnTo>
                  <a:pt x="1494839" y="1746509"/>
                </a:lnTo>
                <a:lnTo>
                  <a:pt x="1494839" y="1791623"/>
                </a:lnTo>
                <a:lnTo>
                  <a:pt x="1497683" y="1794465"/>
                </a:lnTo>
                <a:lnTo>
                  <a:pt x="1504697" y="1794465"/>
                </a:lnTo>
                <a:lnTo>
                  <a:pt x="1507539" y="1791623"/>
                </a:lnTo>
                <a:lnTo>
                  <a:pt x="1507539" y="1746509"/>
                </a:lnTo>
                <a:lnTo>
                  <a:pt x="1504697" y="1743665"/>
                </a:lnTo>
                <a:close/>
              </a:path>
              <a:path w="3034665" h="2110740">
                <a:moveTo>
                  <a:pt x="1504697" y="1832565"/>
                </a:moveTo>
                <a:lnTo>
                  <a:pt x="1497683" y="1832565"/>
                </a:lnTo>
                <a:lnTo>
                  <a:pt x="1494839" y="1835409"/>
                </a:lnTo>
                <a:lnTo>
                  <a:pt x="1494839" y="1880523"/>
                </a:lnTo>
                <a:lnTo>
                  <a:pt x="1497683" y="1883365"/>
                </a:lnTo>
                <a:lnTo>
                  <a:pt x="1504697" y="1883365"/>
                </a:lnTo>
                <a:lnTo>
                  <a:pt x="1507539" y="1880523"/>
                </a:lnTo>
                <a:lnTo>
                  <a:pt x="1507539" y="1835409"/>
                </a:lnTo>
                <a:lnTo>
                  <a:pt x="1504697" y="1832565"/>
                </a:lnTo>
                <a:close/>
              </a:path>
              <a:path w="3034665" h="2110740">
                <a:moveTo>
                  <a:pt x="1504697" y="1921465"/>
                </a:moveTo>
                <a:lnTo>
                  <a:pt x="1497683" y="1921465"/>
                </a:lnTo>
                <a:lnTo>
                  <a:pt x="1494839" y="1924309"/>
                </a:lnTo>
                <a:lnTo>
                  <a:pt x="1494839" y="1969423"/>
                </a:lnTo>
                <a:lnTo>
                  <a:pt x="1497683" y="1972265"/>
                </a:lnTo>
                <a:lnTo>
                  <a:pt x="1504697" y="1972265"/>
                </a:lnTo>
                <a:lnTo>
                  <a:pt x="1507539" y="1969423"/>
                </a:lnTo>
                <a:lnTo>
                  <a:pt x="1507539" y="1924309"/>
                </a:lnTo>
                <a:lnTo>
                  <a:pt x="1504697" y="1921465"/>
                </a:lnTo>
                <a:close/>
              </a:path>
              <a:path w="3034665" h="2110740">
                <a:moveTo>
                  <a:pt x="1504697" y="2010365"/>
                </a:moveTo>
                <a:lnTo>
                  <a:pt x="1497683" y="2010365"/>
                </a:lnTo>
                <a:lnTo>
                  <a:pt x="1494839" y="2013209"/>
                </a:lnTo>
                <a:lnTo>
                  <a:pt x="1494839" y="2058323"/>
                </a:lnTo>
                <a:lnTo>
                  <a:pt x="1497683" y="2061165"/>
                </a:lnTo>
                <a:lnTo>
                  <a:pt x="1504697" y="2061165"/>
                </a:lnTo>
                <a:lnTo>
                  <a:pt x="1507539" y="2058323"/>
                </a:lnTo>
                <a:lnTo>
                  <a:pt x="1507539" y="2013209"/>
                </a:lnTo>
                <a:lnTo>
                  <a:pt x="1504697" y="2010365"/>
                </a:lnTo>
                <a:close/>
              </a:path>
              <a:path w="3034665" h="2110740">
                <a:moveTo>
                  <a:pt x="1544318" y="2097744"/>
                </a:moveTo>
                <a:lnTo>
                  <a:pt x="1499204" y="2097744"/>
                </a:lnTo>
                <a:lnTo>
                  <a:pt x="1496360" y="2100587"/>
                </a:lnTo>
                <a:lnTo>
                  <a:pt x="1496360" y="2107601"/>
                </a:lnTo>
                <a:lnTo>
                  <a:pt x="1499204" y="2110444"/>
                </a:lnTo>
                <a:lnTo>
                  <a:pt x="1544318" y="2110444"/>
                </a:lnTo>
                <a:lnTo>
                  <a:pt x="1547160" y="2107601"/>
                </a:lnTo>
                <a:lnTo>
                  <a:pt x="1547160" y="2100587"/>
                </a:lnTo>
                <a:lnTo>
                  <a:pt x="1544318" y="2097744"/>
                </a:lnTo>
                <a:close/>
              </a:path>
              <a:path w="3034665" h="2110740">
                <a:moveTo>
                  <a:pt x="1633218" y="2097744"/>
                </a:moveTo>
                <a:lnTo>
                  <a:pt x="1588104" y="2097744"/>
                </a:lnTo>
                <a:lnTo>
                  <a:pt x="1585260" y="2100587"/>
                </a:lnTo>
                <a:lnTo>
                  <a:pt x="1585260" y="2107601"/>
                </a:lnTo>
                <a:lnTo>
                  <a:pt x="1588104" y="2110444"/>
                </a:lnTo>
                <a:lnTo>
                  <a:pt x="1633218" y="2110444"/>
                </a:lnTo>
                <a:lnTo>
                  <a:pt x="1636060" y="2107601"/>
                </a:lnTo>
                <a:lnTo>
                  <a:pt x="1636060" y="2100587"/>
                </a:lnTo>
                <a:lnTo>
                  <a:pt x="1633218" y="2097744"/>
                </a:lnTo>
                <a:close/>
              </a:path>
              <a:path w="3034665" h="2110740">
                <a:moveTo>
                  <a:pt x="1722118" y="2097744"/>
                </a:moveTo>
                <a:lnTo>
                  <a:pt x="1677004" y="2097744"/>
                </a:lnTo>
                <a:lnTo>
                  <a:pt x="1674160" y="2100587"/>
                </a:lnTo>
                <a:lnTo>
                  <a:pt x="1674160" y="2107601"/>
                </a:lnTo>
                <a:lnTo>
                  <a:pt x="1677004" y="2110444"/>
                </a:lnTo>
                <a:lnTo>
                  <a:pt x="1722118" y="2110444"/>
                </a:lnTo>
                <a:lnTo>
                  <a:pt x="1724960" y="2107601"/>
                </a:lnTo>
                <a:lnTo>
                  <a:pt x="1724960" y="2100587"/>
                </a:lnTo>
                <a:lnTo>
                  <a:pt x="1722118" y="2097744"/>
                </a:lnTo>
                <a:close/>
              </a:path>
              <a:path w="3034665" h="2110740">
                <a:moveTo>
                  <a:pt x="1811018" y="2097744"/>
                </a:moveTo>
                <a:lnTo>
                  <a:pt x="1765904" y="2097744"/>
                </a:lnTo>
                <a:lnTo>
                  <a:pt x="1763060" y="2100587"/>
                </a:lnTo>
                <a:lnTo>
                  <a:pt x="1763060" y="2107601"/>
                </a:lnTo>
                <a:lnTo>
                  <a:pt x="1765904" y="2110444"/>
                </a:lnTo>
                <a:lnTo>
                  <a:pt x="1811018" y="2110444"/>
                </a:lnTo>
                <a:lnTo>
                  <a:pt x="1813860" y="2107601"/>
                </a:lnTo>
                <a:lnTo>
                  <a:pt x="1813860" y="2100587"/>
                </a:lnTo>
                <a:lnTo>
                  <a:pt x="1811018" y="2097744"/>
                </a:lnTo>
                <a:close/>
              </a:path>
              <a:path w="3034665" h="2110740">
                <a:moveTo>
                  <a:pt x="1899918" y="2097744"/>
                </a:moveTo>
                <a:lnTo>
                  <a:pt x="1854804" y="2097744"/>
                </a:lnTo>
                <a:lnTo>
                  <a:pt x="1851960" y="2100587"/>
                </a:lnTo>
                <a:lnTo>
                  <a:pt x="1851960" y="2107601"/>
                </a:lnTo>
                <a:lnTo>
                  <a:pt x="1854804" y="2110444"/>
                </a:lnTo>
                <a:lnTo>
                  <a:pt x="1899918" y="2110444"/>
                </a:lnTo>
                <a:lnTo>
                  <a:pt x="1902760" y="2107601"/>
                </a:lnTo>
                <a:lnTo>
                  <a:pt x="1902760" y="2100587"/>
                </a:lnTo>
                <a:lnTo>
                  <a:pt x="1899918" y="2097744"/>
                </a:lnTo>
                <a:close/>
              </a:path>
              <a:path w="3034665" h="2110740">
                <a:moveTo>
                  <a:pt x="1988818" y="2097744"/>
                </a:moveTo>
                <a:lnTo>
                  <a:pt x="1943704" y="2097744"/>
                </a:lnTo>
                <a:lnTo>
                  <a:pt x="1940860" y="2100587"/>
                </a:lnTo>
                <a:lnTo>
                  <a:pt x="1940860" y="2107601"/>
                </a:lnTo>
                <a:lnTo>
                  <a:pt x="1943704" y="2110444"/>
                </a:lnTo>
                <a:lnTo>
                  <a:pt x="1988818" y="2110444"/>
                </a:lnTo>
                <a:lnTo>
                  <a:pt x="1991660" y="2107601"/>
                </a:lnTo>
                <a:lnTo>
                  <a:pt x="1991660" y="2100587"/>
                </a:lnTo>
                <a:lnTo>
                  <a:pt x="1988818" y="2097744"/>
                </a:lnTo>
                <a:close/>
              </a:path>
              <a:path w="3034665" h="2110740">
                <a:moveTo>
                  <a:pt x="2077718" y="2097744"/>
                </a:moveTo>
                <a:lnTo>
                  <a:pt x="2032604" y="2097744"/>
                </a:lnTo>
                <a:lnTo>
                  <a:pt x="2029760" y="2100587"/>
                </a:lnTo>
                <a:lnTo>
                  <a:pt x="2029760" y="2107601"/>
                </a:lnTo>
                <a:lnTo>
                  <a:pt x="2032604" y="2110444"/>
                </a:lnTo>
                <a:lnTo>
                  <a:pt x="2077718" y="2110444"/>
                </a:lnTo>
                <a:lnTo>
                  <a:pt x="2080560" y="2107601"/>
                </a:lnTo>
                <a:lnTo>
                  <a:pt x="2080560" y="2100587"/>
                </a:lnTo>
                <a:lnTo>
                  <a:pt x="2077718" y="2097744"/>
                </a:lnTo>
                <a:close/>
              </a:path>
              <a:path w="3034665" h="2110740">
                <a:moveTo>
                  <a:pt x="2166618" y="2097744"/>
                </a:moveTo>
                <a:lnTo>
                  <a:pt x="2121504" y="2097744"/>
                </a:lnTo>
                <a:lnTo>
                  <a:pt x="2118660" y="2100587"/>
                </a:lnTo>
                <a:lnTo>
                  <a:pt x="2118660" y="2107601"/>
                </a:lnTo>
                <a:lnTo>
                  <a:pt x="2121504" y="2110444"/>
                </a:lnTo>
                <a:lnTo>
                  <a:pt x="2166618" y="2110444"/>
                </a:lnTo>
                <a:lnTo>
                  <a:pt x="2169460" y="2107601"/>
                </a:lnTo>
                <a:lnTo>
                  <a:pt x="2169460" y="2100587"/>
                </a:lnTo>
                <a:lnTo>
                  <a:pt x="2166618" y="2097744"/>
                </a:lnTo>
                <a:close/>
              </a:path>
              <a:path w="3034665" h="2110740">
                <a:moveTo>
                  <a:pt x="2255518" y="2097744"/>
                </a:moveTo>
                <a:lnTo>
                  <a:pt x="2210404" y="2097744"/>
                </a:lnTo>
                <a:lnTo>
                  <a:pt x="2207560" y="2100587"/>
                </a:lnTo>
                <a:lnTo>
                  <a:pt x="2207560" y="2107601"/>
                </a:lnTo>
                <a:lnTo>
                  <a:pt x="2210404" y="2110444"/>
                </a:lnTo>
                <a:lnTo>
                  <a:pt x="2255518" y="2110444"/>
                </a:lnTo>
                <a:lnTo>
                  <a:pt x="2258360" y="2107601"/>
                </a:lnTo>
                <a:lnTo>
                  <a:pt x="2258360" y="2100587"/>
                </a:lnTo>
                <a:lnTo>
                  <a:pt x="2255518" y="2097744"/>
                </a:lnTo>
                <a:close/>
              </a:path>
              <a:path w="3034665" h="2110740">
                <a:moveTo>
                  <a:pt x="2344418" y="2097744"/>
                </a:moveTo>
                <a:lnTo>
                  <a:pt x="2299304" y="2097744"/>
                </a:lnTo>
                <a:lnTo>
                  <a:pt x="2296460" y="2100587"/>
                </a:lnTo>
                <a:lnTo>
                  <a:pt x="2296460" y="2107601"/>
                </a:lnTo>
                <a:lnTo>
                  <a:pt x="2299304" y="2110444"/>
                </a:lnTo>
                <a:lnTo>
                  <a:pt x="2344418" y="2110444"/>
                </a:lnTo>
                <a:lnTo>
                  <a:pt x="2347260" y="2107601"/>
                </a:lnTo>
                <a:lnTo>
                  <a:pt x="2347260" y="2100587"/>
                </a:lnTo>
                <a:lnTo>
                  <a:pt x="2344418" y="2097744"/>
                </a:lnTo>
                <a:close/>
              </a:path>
              <a:path w="3034665" h="2110740">
                <a:moveTo>
                  <a:pt x="2433318" y="2097744"/>
                </a:moveTo>
                <a:lnTo>
                  <a:pt x="2388204" y="2097744"/>
                </a:lnTo>
                <a:lnTo>
                  <a:pt x="2385360" y="2100587"/>
                </a:lnTo>
                <a:lnTo>
                  <a:pt x="2385360" y="2107601"/>
                </a:lnTo>
                <a:lnTo>
                  <a:pt x="2388204" y="2110444"/>
                </a:lnTo>
                <a:lnTo>
                  <a:pt x="2433318" y="2110444"/>
                </a:lnTo>
                <a:lnTo>
                  <a:pt x="2436160" y="2107601"/>
                </a:lnTo>
                <a:lnTo>
                  <a:pt x="2436160" y="2100587"/>
                </a:lnTo>
                <a:lnTo>
                  <a:pt x="2433318" y="2097744"/>
                </a:lnTo>
                <a:close/>
              </a:path>
              <a:path w="3034665" h="2110740">
                <a:moveTo>
                  <a:pt x="2522218" y="2097744"/>
                </a:moveTo>
                <a:lnTo>
                  <a:pt x="2477104" y="2097744"/>
                </a:lnTo>
                <a:lnTo>
                  <a:pt x="2474260" y="2100587"/>
                </a:lnTo>
                <a:lnTo>
                  <a:pt x="2474260" y="2107601"/>
                </a:lnTo>
                <a:lnTo>
                  <a:pt x="2477104" y="2110444"/>
                </a:lnTo>
                <a:lnTo>
                  <a:pt x="2522218" y="2110444"/>
                </a:lnTo>
                <a:lnTo>
                  <a:pt x="2525060" y="2107601"/>
                </a:lnTo>
                <a:lnTo>
                  <a:pt x="2525060" y="2100587"/>
                </a:lnTo>
                <a:lnTo>
                  <a:pt x="2522218" y="2097744"/>
                </a:lnTo>
                <a:close/>
              </a:path>
              <a:path w="3034665" h="2110740">
                <a:moveTo>
                  <a:pt x="2611118" y="2097744"/>
                </a:moveTo>
                <a:lnTo>
                  <a:pt x="2566004" y="2097744"/>
                </a:lnTo>
                <a:lnTo>
                  <a:pt x="2563160" y="2100587"/>
                </a:lnTo>
                <a:lnTo>
                  <a:pt x="2563160" y="2107601"/>
                </a:lnTo>
                <a:lnTo>
                  <a:pt x="2566004" y="2110444"/>
                </a:lnTo>
                <a:lnTo>
                  <a:pt x="2611118" y="2110444"/>
                </a:lnTo>
                <a:lnTo>
                  <a:pt x="2613960" y="2107601"/>
                </a:lnTo>
                <a:lnTo>
                  <a:pt x="2613960" y="2100587"/>
                </a:lnTo>
                <a:lnTo>
                  <a:pt x="2611118" y="2097744"/>
                </a:lnTo>
                <a:close/>
              </a:path>
              <a:path w="3034665" h="2110740">
                <a:moveTo>
                  <a:pt x="2700018" y="2097744"/>
                </a:moveTo>
                <a:lnTo>
                  <a:pt x="2654904" y="2097744"/>
                </a:lnTo>
                <a:lnTo>
                  <a:pt x="2652060" y="2100587"/>
                </a:lnTo>
                <a:lnTo>
                  <a:pt x="2652060" y="2107601"/>
                </a:lnTo>
                <a:lnTo>
                  <a:pt x="2654904" y="2110444"/>
                </a:lnTo>
                <a:lnTo>
                  <a:pt x="2700018" y="2110444"/>
                </a:lnTo>
                <a:lnTo>
                  <a:pt x="2702860" y="2107601"/>
                </a:lnTo>
                <a:lnTo>
                  <a:pt x="2702860" y="2100587"/>
                </a:lnTo>
                <a:lnTo>
                  <a:pt x="2700018" y="2097744"/>
                </a:lnTo>
                <a:close/>
              </a:path>
              <a:path w="3034665" h="2110740">
                <a:moveTo>
                  <a:pt x="2788918" y="2097744"/>
                </a:moveTo>
                <a:lnTo>
                  <a:pt x="2743804" y="2097744"/>
                </a:lnTo>
                <a:lnTo>
                  <a:pt x="2740960" y="2100587"/>
                </a:lnTo>
                <a:lnTo>
                  <a:pt x="2740960" y="2107601"/>
                </a:lnTo>
                <a:lnTo>
                  <a:pt x="2743804" y="2110444"/>
                </a:lnTo>
                <a:lnTo>
                  <a:pt x="2788918" y="2110444"/>
                </a:lnTo>
                <a:lnTo>
                  <a:pt x="2791760" y="2107601"/>
                </a:lnTo>
                <a:lnTo>
                  <a:pt x="2791760" y="2100587"/>
                </a:lnTo>
                <a:lnTo>
                  <a:pt x="2788918" y="2097744"/>
                </a:lnTo>
                <a:close/>
              </a:path>
              <a:path w="3034665" h="2110740">
                <a:moveTo>
                  <a:pt x="2877818" y="2097744"/>
                </a:moveTo>
                <a:lnTo>
                  <a:pt x="2832704" y="2097744"/>
                </a:lnTo>
                <a:lnTo>
                  <a:pt x="2829860" y="2100587"/>
                </a:lnTo>
                <a:lnTo>
                  <a:pt x="2829860" y="2107601"/>
                </a:lnTo>
                <a:lnTo>
                  <a:pt x="2832704" y="2110444"/>
                </a:lnTo>
                <a:lnTo>
                  <a:pt x="2877818" y="2110444"/>
                </a:lnTo>
                <a:lnTo>
                  <a:pt x="2880660" y="2107601"/>
                </a:lnTo>
                <a:lnTo>
                  <a:pt x="2880660" y="2100587"/>
                </a:lnTo>
                <a:lnTo>
                  <a:pt x="2877818" y="2097744"/>
                </a:lnTo>
                <a:close/>
              </a:path>
              <a:path w="3034665" h="2110740">
                <a:moveTo>
                  <a:pt x="2966718" y="2097744"/>
                </a:moveTo>
                <a:lnTo>
                  <a:pt x="2921604" y="2097744"/>
                </a:lnTo>
                <a:lnTo>
                  <a:pt x="2918760" y="2100587"/>
                </a:lnTo>
                <a:lnTo>
                  <a:pt x="2918760" y="2107601"/>
                </a:lnTo>
                <a:lnTo>
                  <a:pt x="2921604" y="2110444"/>
                </a:lnTo>
                <a:lnTo>
                  <a:pt x="2966718" y="2110444"/>
                </a:lnTo>
                <a:lnTo>
                  <a:pt x="2969560" y="2107601"/>
                </a:lnTo>
                <a:lnTo>
                  <a:pt x="2969560" y="2100587"/>
                </a:lnTo>
                <a:lnTo>
                  <a:pt x="2966718" y="2097744"/>
                </a:lnTo>
                <a:close/>
              </a:path>
              <a:path w="3034665" h="2110740">
                <a:moveTo>
                  <a:pt x="2999536" y="2041662"/>
                </a:moveTo>
                <a:lnTo>
                  <a:pt x="2992522" y="2041662"/>
                </a:lnTo>
                <a:lnTo>
                  <a:pt x="2989679" y="2044505"/>
                </a:lnTo>
                <a:lnTo>
                  <a:pt x="2989679" y="2089619"/>
                </a:lnTo>
                <a:lnTo>
                  <a:pt x="2992522" y="2092462"/>
                </a:lnTo>
                <a:lnTo>
                  <a:pt x="2999536" y="2092462"/>
                </a:lnTo>
                <a:lnTo>
                  <a:pt x="3002379" y="2089619"/>
                </a:lnTo>
                <a:lnTo>
                  <a:pt x="3002379" y="2044505"/>
                </a:lnTo>
                <a:lnTo>
                  <a:pt x="2999536" y="2041662"/>
                </a:lnTo>
                <a:close/>
              </a:path>
              <a:path w="3034665" h="2110740">
                <a:moveTo>
                  <a:pt x="2999536" y="1952762"/>
                </a:moveTo>
                <a:lnTo>
                  <a:pt x="2992522" y="1952762"/>
                </a:lnTo>
                <a:lnTo>
                  <a:pt x="2989679" y="1955605"/>
                </a:lnTo>
                <a:lnTo>
                  <a:pt x="2989679" y="2000719"/>
                </a:lnTo>
                <a:lnTo>
                  <a:pt x="2992522" y="2003562"/>
                </a:lnTo>
                <a:lnTo>
                  <a:pt x="2999536" y="2003562"/>
                </a:lnTo>
                <a:lnTo>
                  <a:pt x="3002379" y="2000719"/>
                </a:lnTo>
                <a:lnTo>
                  <a:pt x="3002379" y="1955605"/>
                </a:lnTo>
                <a:lnTo>
                  <a:pt x="2999536" y="1952762"/>
                </a:lnTo>
                <a:close/>
              </a:path>
              <a:path w="3034665" h="2110740">
                <a:moveTo>
                  <a:pt x="2996029" y="1875500"/>
                </a:moveTo>
                <a:lnTo>
                  <a:pt x="2957929" y="1951700"/>
                </a:lnTo>
                <a:lnTo>
                  <a:pt x="3034129" y="1951700"/>
                </a:lnTo>
                <a:lnTo>
                  <a:pt x="2996029" y="187550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554227" y="6699893"/>
            <a:ext cx="400685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12/6/18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31</a:t>
            </a:fld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12622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86183" y="4744769"/>
            <a:ext cx="762000" cy="629920"/>
          </a:xfrm>
          <a:prstGeom prst="rect">
            <a:avLst/>
          </a:prstGeom>
          <a:solidFill>
            <a:srgbClr val="F0AD00"/>
          </a:solidFill>
          <a:ln w="48000">
            <a:solidFill>
              <a:srgbClr val="B07E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4775" indent="-36195">
              <a:lnSpc>
                <a:spcPts val="2185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Node</a:t>
            </a:r>
            <a:endParaRPr sz="2000">
              <a:latin typeface="Corbel"/>
              <a:cs typeface="Corbel"/>
            </a:endParaRPr>
          </a:p>
          <a:p>
            <a:pPr marL="104775">
              <a:lnSpc>
                <a:spcPts val="2395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6974" y="5704332"/>
            <a:ext cx="4667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𝑆</a:t>
            </a:r>
            <a:r>
              <a:rPr dirty="0" sz="2000" spc="-5">
                <a:latin typeface="Cambria Math"/>
                <a:cs typeface="Cambria Math"/>
              </a:rPr>
              <a:t>𝑂</a:t>
            </a:r>
            <a:r>
              <a:rPr dirty="0" sz="2000">
                <a:latin typeface="Cambria Math"/>
                <a:cs typeface="Cambria Math"/>
              </a:rPr>
              <a:t>𝑆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98602" y="5470917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102868" y="68580"/>
                </a:moveTo>
                <a:lnTo>
                  <a:pt x="34289" y="68580"/>
                </a:lnTo>
                <a:lnTo>
                  <a:pt x="34289" y="182880"/>
                </a:lnTo>
                <a:lnTo>
                  <a:pt x="102868" y="182880"/>
                </a:lnTo>
                <a:lnTo>
                  <a:pt x="102868" y="68580"/>
                </a:lnTo>
                <a:close/>
              </a:path>
              <a:path w="137160" h="182879">
                <a:moveTo>
                  <a:pt x="68578" y="0"/>
                </a:moveTo>
                <a:lnTo>
                  <a:pt x="0" y="68580"/>
                </a:lnTo>
                <a:lnTo>
                  <a:pt x="137158" y="68580"/>
                </a:lnTo>
                <a:lnTo>
                  <a:pt x="6857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98602" y="5470917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34289" y="182880"/>
                </a:moveTo>
                <a:lnTo>
                  <a:pt x="34289" y="68579"/>
                </a:lnTo>
                <a:lnTo>
                  <a:pt x="0" y="68579"/>
                </a:lnTo>
                <a:lnTo>
                  <a:pt x="68579" y="0"/>
                </a:lnTo>
                <a:lnTo>
                  <a:pt x="137159" y="68579"/>
                </a:lnTo>
                <a:lnTo>
                  <a:pt x="102869" y="68579"/>
                </a:lnTo>
                <a:lnTo>
                  <a:pt x="102869" y="182880"/>
                </a:lnTo>
                <a:lnTo>
                  <a:pt x="34289" y="182880"/>
                </a:lnTo>
                <a:close/>
              </a:path>
            </a:pathLst>
          </a:custGeom>
          <a:ln w="381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279039" y="3733800"/>
            <a:ext cx="762000" cy="629920"/>
          </a:xfrm>
          <a:prstGeom prst="rect">
            <a:avLst/>
          </a:prstGeom>
          <a:solidFill>
            <a:srgbClr val="60B5CC"/>
          </a:solidFill>
          <a:ln w="48000">
            <a:solidFill>
              <a:srgbClr val="24617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4775" indent="-17780">
              <a:lnSpc>
                <a:spcPts val="2180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Edge</a:t>
            </a:r>
            <a:endParaRPr sz="2000">
              <a:latin typeface="Corbel"/>
              <a:cs typeface="Corbel"/>
            </a:endParaRPr>
          </a:p>
          <a:p>
            <a:pPr marL="104775">
              <a:lnSpc>
                <a:spcPct val="100000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91459" y="4463044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102869" y="68580"/>
                </a:moveTo>
                <a:lnTo>
                  <a:pt x="34289" y="68580"/>
                </a:lnTo>
                <a:lnTo>
                  <a:pt x="34289" y="182880"/>
                </a:lnTo>
                <a:lnTo>
                  <a:pt x="102869" y="182880"/>
                </a:lnTo>
                <a:lnTo>
                  <a:pt x="102869" y="68580"/>
                </a:lnTo>
                <a:close/>
              </a:path>
              <a:path w="137160" h="182879">
                <a:moveTo>
                  <a:pt x="68580" y="0"/>
                </a:moveTo>
                <a:lnTo>
                  <a:pt x="0" y="68580"/>
                </a:lnTo>
                <a:lnTo>
                  <a:pt x="137159" y="68580"/>
                </a:lnTo>
                <a:lnTo>
                  <a:pt x="6858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91459" y="4463044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34289" y="182880"/>
                </a:moveTo>
                <a:lnTo>
                  <a:pt x="34289" y="68579"/>
                </a:lnTo>
                <a:lnTo>
                  <a:pt x="0" y="68579"/>
                </a:lnTo>
                <a:lnTo>
                  <a:pt x="68579" y="0"/>
                </a:lnTo>
                <a:lnTo>
                  <a:pt x="137159" y="68579"/>
                </a:lnTo>
                <a:lnTo>
                  <a:pt x="102869" y="68579"/>
                </a:lnTo>
                <a:lnTo>
                  <a:pt x="102869" y="182880"/>
                </a:lnTo>
                <a:lnTo>
                  <a:pt x="34289" y="182880"/>
                </a:lnTo>
                <a:close/>
              </a:path>
            </a:pathLst>
          </a:custGeom>
          <a:ln w="381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178522" y="3976155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80" h="137160">
                <a:moveTo>
                  <a:pt x="68578" y="0"/>
                </a:moveTo>
                <a:lnTo>
                  <a:pt x="0" y="68580"/>
                </a:lnTo>
                <a:lnTo>
                  <a:pt x="68578" y="137160"/>
                </a:lnTo>
                <a:lnTo>
                  <a:pt x="68578" y="102869"/>
                </a:lnTo>
                <a:lnTo>
                  <a:pt x="182879" y="102869"/>
                </a:lnTo>
                <a:lnTo>
                  <a:pt x="182879" y="34289"/>
                </a:lnTo>
                <a:lnTo>
                  <a:pt x="68578" y="34289"/>
                </a:lnTo>
                <a:lnTo>
                  <a:pt x="68578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178522" y="3976156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80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43642" y="3850534"/>
            <a:ext cx="513715" cy="3962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4765" rIns="0" bIns="0" rtlCol="0" vert="horz">
            <a:spAutoFit/>
          </a:bodyPr>
          <a:lstStyle/>
          <a:p>
            <a:pPr marL="89535">
              <a:lnSpc>
                <a:spcPct val="100000"/>
              </a:lnSpc>
              <a:spcBef>
                <a:spcPts val="195"/>
              </a:spcBef>
            </a:pPr>
            <a:r>
              <a:rPr dirty="0" sz="2000" spc="-5">
                <a:latin typeface="Calibri"/>
                <a:cs typeface="Calibri"/>
              </a:rPr>
              <a:t>0.5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588517" y="5021436"/>
            <a:ext cx="1031240" cy="137160"/>
          </a:xfrm>
          <a:custGeom>
            <a:avLst/>
            <a:gdLst/>
            <a:ahLst/>
            <a:cxnLst/>
            <a:rect l="l" t="t" r="r" b="b"/>
            <a:pathLst>
              <a:path w="1031239" h="137160">
                <a:moveTo>
                  <a:pt x="962345" y="0"/>
                </a:moveTo>
                <a:lnTo>
                  <a:pt x="962345" y="34290"/>
                </a:lnTo>
                <a:lnTo>
                  <a:pt x="0" y="34290"/>
                </a:lnTo>
                <a:lnTo>
                  <a:pt x="0" y="102870"/>
                </a:lnTo>
                <a:lnTo>
                  <a:pt x="962345" y="102870"/>
                </a:lnTo>
                <a:lnTo>
                  <a:pt x="962345" y="137160"/>
                </a:lnTo>
                <a:lnTo>
                  <a:pt x="1030923" y="68580"/>
                </a:lnTo>
                <a:lnTo>
                  <a:pt x="96234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588517" y="5021436"/>
            <a:ext cx="1031240" cy="137160"/>
          </a:xfrm>
          <a:custGeom>
            <a:avLst/>
            <a:gdLst/>
            <a:ahLst/>
            <a:cxnLst/>
            <a:rect l="l" t="t" r="r" b="b"/>
            <a:pathLst>
              <a:path w="1031239" h="137160">
                <a:moveTo>
                  <a:pt x="0" y="34290"/>
                </a:moveTo>
                <a:lnTo>
                  <a:pt x="962344" y="34290"/>
                </a:lnTo>
                <a:lnTo>
                  <a:pt x="962344" y="0"/>
                </a:lnTo>
                <a:lnTo>
                  <a:pt x="1030924" y="68580"/>
                </a:lnTo>
                <a:lnTo>
                  <a:pt x="962344" y="137160"/>
                </a:lnTo>
                <a:lnTo>
                  <a:pt x="962344" y="102870"/>
                </a:lnTo>
                <a:lnTo>
                  <a:pt x="0" y="102870"/>
                </a:lnTo>
                <a:lnTo>
                  <a:pt x="0" y="34290"/>
                </a:lnTo>
                <a:close/>
              </a:path>
            </a:pathLst>
          </a:custGeom>
          <a:ln w="381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268718" y="4744769"/>
            <a:ext cx="762000" cy="629920"/>
          </a:xfrm>
          <a:prstGeom prst="rect">
            <a:avLst/>
          </a:prstGeom>
          <a:solidFill>
            <a:srgbClr val="F0AD00"/>
          </a:solidFill>
          <a:ln w="48000">
            <a:solidFill>
              <a:srgbClr val="B07E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4775" indent="-36195">
              <a:lnSpc>
                <a:spcPts val="2185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Node</a:t>
            </a:r>
            <a:endParaRPr sz="2000">
              <a:latin typeface="Corbel"/>
              <a:cs typeface="Corbel"/>
            </a:endParaRPr>
          </a:p>
          <a:p>
            <a:pPr marL="104775">
              <a:lnSpc>
                <a:spcPts val="2395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573995" y="4463044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102868" y="68580"/>
                </a:moveTo>
                <a:lnTo>
                  <a:pt x="34289" y="68580"/>
                </a:lnTo>
                <a:lnTo>
                  <a:pt x="34289" y="182880"/>
                </a:lnTo>
                <a:lnTo>
                  <a:pt x="102868" y="182880"/>
                </a:lnTo>
                <a:lnTo>
                  <a:pt x="102868" y="68580"/>
                </a:lnTo>
                <a:close/>
              </a:path>
              <a:path w="137160" h="182879">
                <a:moveTo>
                  <a:pt x="68579" y="0"/>
                </a:moveTo>
                <a:lnTo>
                  <a:pt x="0" y="68580"/>
                </a:lnTo>
                <a:lnTo>
                  <a:pt x="137158" y="68580"/>
                </a:lnTo>
                <a:lnTo>
                  <a:pt x="6857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573995" y="4463044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34289" y="182880"/>
                </a:moveTo>
                <a:lnTo>
                  <a:pt x="34289" y="68579"/>
                </a:lnTo>
                <a:lnTo>
                  <a:pt x="0" y="68579"/>
                </a:lnTo>
                <a:lnTo>
                  <a:pt x="68579" y="0"/>
                </a:lnTo>
                <a:lnTo>
                  <a:pt x="137159" y="68579"/>
                </a:lnTo>
                <a:lnTo>
                  <a:pt x="102869" y="68579"/>
                </a:lnTo>
                <a:lnTo>
                  <a:pt x="102869" y="182880"/>
                </a:lnTo>
                <a:lnTo>
                  <a:pt x="34289" y="182880"/>
                </a:lnTo>
                <a:close/>
              </a:path>
            </a:pathLst>
          </a:custGeom>
          <a:ln w="381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272154" y="3733800"/>
            <a:ext cx="762000" cy="629920"/>
          </a:xfrm>
          <a:prstGeom prst="rect">
            <a:avLst/>
          </a:prstGeom>
          <a:solidFill>
            <a:srgbClr val="60B5CC"/>
          </a:solidFill>
          <a:ln w="48000">
            <a:solidFill>
              <a:srgbClr val="24617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4775" indent="-17780">
              <a:lnSpc>
                <a:spcPts val="2180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Edge</a:t>
            </a:r>
            <a:endParaRPr sz="2000">
              <a:latin typeface="Corbel"/>
              <a:cs typeface="Corbel"/>
            </a:endParaRPr>
          </a:p>
          <a:p>
            <a:pPr marL="104775">
              <a:lnSpc>
                <a:spcPct val="100000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72067" y="3977295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80" h="137160">
                <a:moveTo>
                  <a:pt x="68579" y="0"/>
                </a:moveTo>
                <a:lnTo>
                  <a:pt x="0" y="68579"/>
                </a:lnTo>
                <a:lnTo>
                  <a:pt x="68579" y="137158"/>
                </a:lnTo>
                <a:lnTo>
                  <a:pt x="68579" y="102869"/>
                </a:lnTo>
                <a:lnTo>
                  <a:pt x="182880" y="102869"/>
                </a:lnTo>
                <a:lnTo>
                  <a:pt x="182880" y="34289"/>
                </a:lnTo>
                <a:lnTo>
                  <a:pt x="68579" y="34289"/>
                </a:lnTo>
                <a:lnTo>
                  <a:pt x="6857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972067" y="3977295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80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150321" y="3976155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68579" y="0"/>
                </a:moveTo>
                <a:lnTo>
                  <a:pt x="0" y="68580"/>
                </a:lnTo>
                <a:lnTo>
                  <a:pt x="68579" y="137160"/>
                </a:lnTo>
                <a:lnTo>
                  <a:pt x="68579" y="102869"/>
                </a:lnTo>
                <a:lnTo>
                  <a:pt x="182879" y="102869"/>
                </a:lnTo>
                <a:lnTo>
                  <a:pt x="182879" y="34289"/>
                </a:lnTo>
                <a:lnTo>
                  <a:pt x="68579" y="34289"/>
                </a:lnTo>
                <a:lnTo>
                  <a:pt x="6857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150321" y="3976156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376649" y="3844184"/>
            <a:ext cx="0" cy="408940"/>
          </a:xfrm>
          <a:custGeom>
            <a:avLst/>
            <a:gdLst/>
            <a:ahLst/>
            <a:cxnLst/>
            <a:rect l="l" t="t" r="r" b="b"/>
            <a:pathLst>
              <a:path w="0" h="408939">
                <a:moveTo>
                  <a:pt x="0" y="0"/>
                </a:moveTo>
                <a:lnTo>
                  <a:pt x="0" y="40894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889968" y="3844184"/>
            <a:ext cx="0" cy="408940"/>
          </a:xfrm>
          <a:custGeom>
            <a:avLst/>
            <a:gdLst/>
            <a:ahLst/>
            <a:cxnLst/>
            <a:rect l="l" t="t" r="r" b="b"/>
            <a:pathLst>
              <a:path w="0" h="408939">
                <a:moveTo>
                  <a:pt x="0" y="0"/>
                </a:moveTo>
                <a:lnTo>
                  <a:pt x="0" y="40894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370299" y="3850534"/>
            <a:ext cx="526415" cy="0"/>
          </a:xfrm>
          <a:custGeom>
            <a:avLst/>
            <a:gdLst/>
            <a:ahLst/>
            <a:cxnLst/>
            <a:rect l="l" t="t" r="r" b="b"/>
            <a:pathLst>
              <a:path w="526414" h="0">
                <a:moveTo>
                  <a:pt x="0" y="0"/>
                </a:moveTo>
                <a:lnTo>
                  <a:pt x="52601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370299" y="4246774"/>
            <a:ext cx="526415" cy="0"/>
          </a:xfrm>
          <a:custGeom>
            <a:avLst/>
            <a:gdLst/>
            <a:ahLst/>
            <a:cxnLst/>
            <a:rect l="l" t="t" r="r" b="b"/>
            <a:pathLst>
              <a:path w="526414" h="0">
                <a:moveTo>
                  <a:pt x="0" y="0"/>
                </a:moveTo>
                <a:lnTo>
                  <a:pt x="52601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2468590" y="3869435"/>
            <a:ext cx="133858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03935" algn="l"/>
              </a:tabLst>
            </a:pPr>
            <a:r>
              <a:rPr dirty="0" sz="2000">
                <a:latin typeface="Cambria Math"/>
                <a:cs typeface="Cambria Math"/>
              </a:rPr>
              <a:t>𝑆</a:t>
            </a:r>
            <a:r>
              <a:rPr dirty="0" sz="2000" spc="-5">
                <a:latin typeface="Cambria Math"/>
                <a:cs typeface="Cambria Math"/>
              </a:rPr>
              <a:t>𝑂</a:t>
            </a:r>
            <a:r>
              <a:rPr dirty="0" sz="2000">
                <a:latin typeface="Cambria Math"/>
                <a:cs typeface="Cambria Math"/>
              </a:rPr>
              <a:t>𝑆	</a:t>
            </a:r>
            <a:r>
              <a:rPr dirty="0" sz="2000" spc="-5">
                <a:latin typeface="Calibri"/>
                <a:cs typeface="Calibri"/>
              </a:rPr>
              <a:t>0.</a:t>
            </a:r>
            <a:r>
              <a:rPr dirty="0" sz="2000">
                <a:latin typeface="Calibri"/>
                <a:cs typeface="Calibri"/>
              </a:rPr>
              <a:t>6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989382" y="3979280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68578" y="0"/>
                </a:moveTo>
                <a:lnTo>
                  <a:pt x="0" y="68579"/>
                </a:lnTo>
                <a:lnTo>
                  <a:pt x="68578" y="137158"/>
                </a:lnTo>
                <a:lnTo>
                  <a:pt x="68578" y="102868"/>
                </a:lnTo>
                <a:lnTo>
                  <a:pt x="182880" y="102868"/>
                </a:lnTo>
                <a:lnTo>
                  <a:pt x="182880" y="34289"/>
                </a:lnTo>
                <a:lnTo>
                  <a:pt x="68578" y="34289"/>
                </a:lnTo>
                <a:lnTo>
                  <a:pt x="68578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989382" y="3979280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4263685" y="2697328"/>
            <a:ext cx="762000" cy="629920"/>
          </a:xfrm>
          <a:prstGeom prst="rect">
            <a:avLst/>
          </a:prstGeom>
          <a:solidFill>
            <a:srgbClr val="60B5CC"/>
          </a:solidFill>
          <a:ln w="48000">
            <a:solidFill>
              <a:srgbClr val="24617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4775" indent="-17780">
              <a:lnSpc>
                <a:spcPts val="2180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Edge</a:t>
            </a:r>
            <a:endParaRPr sz="2000">
              <a:latin typeface="Corbel"/>
              <a:cs typeface="Corbel"/>
            </a:endParaRPr>
          </a:p>
          <a:p>
            <a:pPr marL="104775">
              <a:lnSpc>
                <a:spcPct val="100000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568962" y="3441090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102868" y="68578"/>
                </a:moveTo>
                <a:lnTo>
                  <a:pt x="34289" y="68578"/>
                </a:lnTo>
                <a:lnTo>
                  <a:pt x="34289" y="182880"/>
                </a:lnTo>
                <a:lnTo>
                  <a:pt x="102868" y="182880"/>
                </a:lnTo>
                <a:lnTo>
                  <a:pt x="102868" y="68578"/>
                </a:lnTo>
                <a:close/>
              </a:path>
              <a:path w="137160" h="182879">
                <a:moveTo>
                  <a:pt x="68579" y="0"/>
                </a:moveTo>
                <a:lnTo>
                  <a:pt x="0" y="68578"/>
                </a:lnTo>
                <a:lnTo>
                  <a:pt x="137158" y="68578"/>
                </a:lnTo>
                <a:lnTo>
                  <a:pt x="6857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568962" y="3441090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34289" y="182880"/>
                </a:moveTo>
                <a:lnTo>
                  <a:pt x="34289" y="68579"/>
                </a:lnTo>
                <a:lnTo>
                  <a:pt x="0" y="68579"/>
                </a:lnTo>
                <a:lnTo>
                  <a:pt x="68579" y="0"/>
                </a:lnTo>
                <a:lnTo>
                  <a:pt x="137159" y="68579"/>
                </a:lnTo>
                <a:lnTo>
                  <a:pt x="102869" y="68579"/>
                </a:lnTo>
                <a:lnTo>
                  <a:pt x="102869" y="182880"/>
                </a:lnTo>
                <a:lnTo>
                  <a:pt x="34289" y="182880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156023" y="2944176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68579" y="0"/>
                </a:moveTo>
                <a:lnTo>
                  <a:pt x="0" y="68579"/>
                </a:lnTo>
                <a:lnTo>
                  <a:pt x="68579" y="137160"/>
                </a:lnTo>
                <a:lnTo>
                  <a:pt x="68579" y="102869"/>
                </a:lnTo>
                <a:lnTo>
                  <a:pt x="182879" y="102869"/>
                </a:lnTo>
                <a:lnTo>
                  <a:pt x="182879" y="34289"/>
                </a:lnTo>
                <a:lnTo>
                  <a:pt x="68579" y="34289"/>
                </a:lnTo>
                <a:lnTo>
                  <a:pt x="6857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156023" y="2944177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949569" y="2944177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68579" y="0"/>
                </a:moveTo>
                <a:lnTo>
                  <a:pt x="0" y="68580"/>
                </a:lnTo>
                <a:lnTo>
                  <a:pt x="68579" y="137160"/>
                </a:lnTo>
                <a:lnTo>
                  <a:pt x="68579" y="102870"/>
                </a:lnTo>
                <a:lnTo>
                  <a:pt x="182879" y="102870"/>
                </a:lnTo>
                <a:lnTo>
                  <a:pt x="182879" y="34289"/>
                </a:lnTo>
                <a:lnTo>
                  <a:pt x="68579" y="34289"/>
                </a:lnTo>
                <a:lnTo>
                  <a:pt x="6857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949569" y="2944178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3370449" y="2796547"/>
            <a:ext cx="513715" cy="3962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7305" rIns="0" bIns="0" rtlCol="0" vert="horz">
            <a:spAutoFit/>
          </a:bodyPr>
          <a:lstStyle/>
          <a:p>
            <a:pPr marL="89535">
              <a:lnSpc>
                <a:spcPct val="100000"/>
              </a:lnSpc>
              <a:spcBef>
                <a:spcPts val="215"/>
              </a:spcBef>
            </a:pPr>
            <a:r>
              <a:rPr dirty="0" sz="2000" spc="-5">
                <a:latin typeface="Calibri"/>
                <a:cs typeface="Calibri"/>
              </a:rPr>
              <a:t>0.4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425996" y="2796547"/>
            <a:ext cx="513715" cy="3962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73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15"/>
              </a:spcBef>
            </a:pPr>
            <a:r>
              <a:rPr dirty="0" sz="2000">
                <a:solidFill>
                  <a:srgbClr val="C64847"/>
                </a:solidFill>
                <a:latin typeface="Calibri"/>
                <a:cs typeface="Calibri"/>
              </a:rPr>
              <a:t>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title"/>
          </p:nvPr>
        </p:nvSpPr>
        <p:spPr>
          <a:xfrm>
            <a:off x="329472" y="1154683"/>
            <a:ext cx="2857500" cy="1125855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5"/>
              </a:spcBef>
            </a:pPr>
            <a:r>
              <a:rPr dirty="0" sz="2400" spc="-20" b="0">
                <a:latin typeface="Calibri"/>
                <a:cs typeface="Calibri"/>
              </a:rPr>
              <a:t>Edge </a:t>
            </a:r>
            <a:r>
              <a:rPr dirty="0" sz="2400" spc="-5" b="0">
                <a:latin typeface="Calibri"/>
                <a:cs typeface="Calibri"/>
              </a:rPr>
              <a:t>RNN </a:t>
            </a:r>
            <a:r>
              <a:rPr dirty="0" sz="2400" spc="-10" b="0">
                <a:latin typeface="Calibri"/>
                <a:cs typeface="Calibri"/>
              </a:rPr>
              <a:t>predicts  </a:t>
            </a:r>
            <a:r>
              <a:rPr dirty="0" sz="2400" spc="-5" b="0">
                <a:latin typeface="Calibri"/>
                <a:cs typeface="Calibri"/>
              </a:rPr>
              <a:t>how </a:t>
            </a:r>
            <a:r>
              <a:rPr dirty="0" sz="2400" spc="-5"/>
              <a:t>Node </a:t>
            </a:r>
            <a:r>
              <a:rPr dirty="0" sz="2400"/>
              <a:t>3 </a:t>
            </a:r>
            <a:r>
              <a:rPr dirty="0" sz="2400" spc="-5" b="0">
                <a:latin typeface="Calibri"/>
                <a:cs typeface="Calibri"/>
              </a:rPr>
              <a:t>tries </a:t>
            </a:r>
            <a:r>
              <a:rPr dirty="0" sz="2400" spc="-15" b="0">
                <a:latin typeface="Calibri"/>
                <a:cs typeface="Calibri"/>
              </a:rPr>
              <a:t>to  </a:t>
            </a:r>
            <a:r>
              <a:rPr dirty="0" sz="2400" spc="-5" b="0">
                <a:latin typeface="Calibri"/>
                <a:cs typeface="Calibri"/>
              </a:rPr>
              <a:t>connects </a:t>
            </a:r>
            <a:r>
              <a:rPr dirty="0" sz="2400" spc="-15" b="0">
                <a:latin typeface="Calibri"/>
                <a:cs typeface="Calibri"/>
              </a:rPr>
              <a:t>to </a:t>
            </a:r>
            <a:r>
              <a:rPr dirty="0" sz="2400" spc="-5"/>
              <a:t>Nodes 1,</a:t>
            </a:r>
            <a:r>
              <a:rPr dirty="0" sz="2400" spc="-85"/>
              <a:t> </a:t>
            </a:r>
            <a:r>
              <a:rPr dirty="0" sz="2400"/>
              <a:t>2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7764687" y="1414976"/>
          <a:ext cx="1289685" cy="1207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0210"/>
                <a:gridCol w="420210"/>
                <a:gridCol w="420210"/>
              </a:tblGrid>
              <a:tr h="355600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1" name="object 41"/>
          <p:cNvSpPr/>
          <p:nvPr/>
        </p:nvSpPr>
        <p:spPr>
          <a:xfrm>
            <a:off x="6216237" y="17480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6301485" y="1739094"/>
            <a:ext cx="194945" cy="384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50" spc="25">
                <a:solidFill>
                  <a:srgbClr val="C00000"/>
                </a:solidFill>
                <a:latin typeface="Arial"/>
                <a:cs typeface="Arial"/>
              </a:rPr>
              <a:t>1</a:t>
            </a:r>
            <a:endParaRPr sz="235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907335" y="209080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897822" y="1488084"/>
            <a:ext cx="384810" cy="383540"/>
          </a:xfrm>
          <a:custGeom>
            <a:avLst/>
            <a:gdLst/>
            <a:ahLst/>
            <a:cxnLst/>
            <a:rect l="l" t="t" r="r" b="b"/>
            <a:pathLst>
              <a:path w="384809" h="383539">
                <a:moveTo>
                  <a:pt x="211571" y="0"/>
                </a:moveTo>
                <a:lnTo>
                  <a:pt x="172257" y="0"/>
                </a:lnTo>
                <a:lnTo>
                  <a:pt x="134736" y="7619"/>
                </a:lnTo>
                <a:lnTo>
                  <a:pt x="84439" y="33019"/>
                </a:lnTo>
                <a:lnTo>
                  <a:pt x="43646" y="69850"/>
                </a:lnTo>
                <a:lnTo>
                  <a:pt x="14940" y="116839"/>
                </a:lnTo>
                <a:lnTo>
                  <a:pt x="3812" y="153669"/>
                </a:lnTo>
                <a:lnTo>
                  <a:pt x="0" y="191769"/>
                </a:lnTo>
                <a:lnTo>
                  <a:pt x="1041" y="212089"/>
                </a:lnTo>
                <a:lnTo>
                  <a:pt x="15303" y="266700"/>
                </a:lnTo>
                <a:lnTo>
                  <a:pt x="44225" y="314960"/>
                </a:lnTo>
                <a:lnTo>
                  <a:pt x="85197" y="351789"/>
                </a:lnTo>
                <a:lnTo>
                  <a:pt x="135638" y="375919"/>
                </a:lnTo>
                <a:lnTo>
                  <a:pt x="173215" y="383539"/>
                </a:lnTo>
                <a:lnTo>
                  <a:pt x="212529" y="383539"/>
                </a:lnTo>
                <a:lnTo>
                  <a:pt x="250050" y="375919"/>
                </a:lnTo>
                <a:lnTo>
                  <a:pt x="255937" y="373379"/>
                </a:lnTo>
                <a:lnTo>
                  <a:pt x="192297" y="373379"/>
                </a:lnTo>
                <a:lnTo>
                  <a:pt x="173790" y="372110"/>
                </a:lnTo>
                <a:lnTo>
                  <a:pt x="121862" y="358139"/>
                </a:lnTo>
                <a:lnTo>
                  <a:pt x="77205" y="331469"/>
                </a:lnTo>
                <a:lnTo>
                  <a:pt x="42271" y="293369"/>
                </a:lnTo>
                <a:lnTo>
                  <a:pt x="19524" y="245110"/>
                </a:lnTo>
                <a:lnTo>
                  <a:pt x="11416" y="191769"/>
                </a:lnTo>
                <a:lnTo>
                  <a:pt x="12359" y="172719"/>
                </a:lnTo>
                <a:lnTo>
                  <a:pt x="25674" y="120650"/>
                </a:lnTo>
                <a:lnTo>
                  <a:pt x="52800" y="76200"/>
                </a:lnTo>
                <a:lnTo>
                  <a:pt x="91283" y="41910"/>
                </a:lnTo>
                <a:lnTo>
                  <a:pt x="138664" y="19050"/>
                </a:lnTo>
                <a:lnTo>
                  <a:pt x="173982" y="11429"/>
                </a:lnTo>
                <a:lnTo>
                  <a:pt x="259770" y="11429"/>
                </a:lnTo>
                <a:lnTo>
                  <a:pt x="249148" y="7619"/>
                </a:lnTo>
                <a:lnTo>
                  <a:pt x="211571" y="0"/>
                </a:lnTo>
                <a:close/>
              </a:path>
              <a:path w="384809" h="383539">
                <a:moveTo>
                  <a:pt x="259770" y="11429"/>
                </a:moveTo>
                <a:lnTo>
                  <a:pt x="210995" y="11429"/>
                </a:lnTo>
                <a:lnTo>
                  <a:pt x="228963" y="13969"/>
                </a:lnTo>
                <a:lnTo>
                  <a:pt x="246302" y="19050"/>
                </a:lnTo>
                <a:lnTo>
                  <a:pt x="293654" y="41910"/>
                </a:lnTo>
                <a:lnTo>
                  <a:pt x="332102" y="76200"/>
                </a:lnTo>
                <a:lnTo>
                  <a:pt x="359185" y="121919"/>
                </a:lnTo>
                <a:lnTo>
                  <a:pt x="372446" y="173989"/>
                </a:lnTo>
                <a:lnTo>
                  <a:pt x="373371" y="191769"/>
                </a:lnTo>
                <a:lnTo>
                  <a:pt x="372426" y="210819"/>
                </a:lnTo>
                <a:lnTo>
                  <a:pt x="359112" y="262889"/>
                </a:lnTo>
                <a:lnTo>
                  <a:pt x="331986" y="307339"/>
                </a:lnTo>
                <a:lnTo>
                  <a:pt x="293502" y="341629"/>
                </a:lnTo>
                <a:lnTo>
                  <a:pt x="246122" y="364489"/>
                </a:lnTo>
                <a:lnTo>
                  <a:pt x="192297" y="373379"/>
                </a:lnTo>
                <a:lnTo>
                  <a:pt x="255937" y="373379"/>
                </a:lnTo>
                <a:lnTo>
                  <a:pt x="300347" y="350519"/>
                </a:lnTo>
                <a:lnTo>
                  <a:pt x="341141" y="313689"/>
                </a:lnTo>
                <a:lnTo>
                  <a:pt x="369846" y="266700"/>
                </a:lnTo>
                <a:lnTo>
                  <a:pt x="380974" y="229869"/>
                </a:lnTo>
                <a:lnTo>
                  <a:pt x="384785" y="191769"/>
                </a:lnTo>
                <a:lnTo>
                  <a:pt x="383745" y="171450"/>
                </a:lnTo>
                <a:lnTo>
                  <a:pt x="369483" y="116839"/>
                </a:lnTo>
                <a:lnTo>
                  <a:pt x="340561" y="68579"/>
                </a:lnTo>
                <a:lnTo>
                  <a:pt x="299589" y="31750"/>
                </a:lnTo>
                <a:lnTo>
                  <a:pt x="266852" y="13969"/>
                </a:lnTo>
                <a:lnTo>
                  <a:pt x="259770" y="11429"/>
                </a:lnTo>
                <a:close/>
              </a:path>
              <a:path w="384809" h="383539">
                <a:moveTo>
                  <a:pt x="210803" y="15239"/>
                </a:moveTo>
                <a:lnTo>
                  <a:pt x="174557" y="15239"/>
                </a:lnTo>
                <a:lnTo>
                  <a:pt x="156960" y="17779"/>
                </a:lnTo>
                <a:lnTo>
                  <a:pt x="108188" y="35560"/>
                </a:lnTo>
                <a:lnTo>
                  <a:pt x="67307" y="66039"/>
                </a:lnTo>
                <a:lnTo>
                  <a:pt x="36734" y="106679"/>
                </a:lnTo>
                <a:lnTo>
                  <a:pt x="18878" y="156210"/>
                </a:lnTo>
                <a:lnTo>
                  <a:pt x="15220" y="191769"/>
                </a:lnTo>
                <a:lnTo>
                  <a:pt x="16107" y="209550"/>
                </a:lnTo>
                <a:lnTo>
                  <a:pt x="29033" y="260350"/>
                </a:lnTo>
                <a:lnTo>
                  <a:pt x="55504" y="304800"/>
                </a:lnTo>
                <a:lnTo>
                  <a:pt x="93111" y="339089"/>
                </a:lnTo>
                <a:lnTo>
                  <a:pt x="139433" y="360679"/>
                </a:lnTo>
                <a:lnTo>
                  <a:pt x="192105" y="369569"/>
                </a:lnTo>
                <a:lnTo>
                  <a:pt x="210229" y="368300"/>
                </a:lnTo>
                <a:lnTo>
                  <a:pt x="227826" y="365760"/>
                </a:lnTo>
                <a:lnTo>
                  <a:pt x="191913" y="365760"/>
                </a:lnTo>
                <a:lnTo>
                  <a:pt x="174175" y="364489"/>
                </a:lnTo>
                <a:lnTo>
                  <a:pt x="124481" y="351789"/>
                </a:lnTo>
                <a:lnTo>
                  <a:pt x="81768" y="325119"/>
                </a:lnTo>
                <a:lnTo>
                  <a:pt x="48374" y="288289"/>
                </a:lnTo>
                <a:lnTo>
                  <a:pt x="26680" y="242569"/>
                </a:lnTo>
                <a:lnTo>
                  <a:pt x="19025" y="191769"/>
                </a:lnTo>
                <a:lnTo>
                  <a:pt x="19970" y="173989"/>
                </a:lnTo>
                <a:lnTo>
                  <a:pt x="32829" y="124460"/>
                </a:lnTo>
                <a:lnTo>
                  <a:pt x="58902" y="81279"/>
                </a:lnTo>
                <a:lnTo>
                  <a:pt x="95848" y="48260"/>
                </a:lnTo>
                <a:lnTo>
                  <a:pt x="141284" y="26669"/>
                </a:lnTo>
                <a:lnTo>
                  <a:pt x="192873" y="17779"/>
                </a:lnTo>
                <a:lnTo>
                  <a:pt x="228387" y="17779"/>
                </a:lnTo>
                <a:lnTo>
                  <a:pt x="210803" y="15239"/>
                </a:lnTo>
                <a:close/>
              </a:path>
              <a:path w="384809" h="383539">
                <a:moveTo>
                  <a:pt x="228387" y="17779"/>
                </a:moveTo>
                <a:lnTo>
                  <a:pt x="192873" y="17779"/>
                </a:lnTo>
                <a:lnTo>
                  <a:pt x="210611" y="19050"/>
                </a:lnTo>
                <a:lnTo>
                  <a:pt x="227812" y="21589"/>
                </a:lnTo>
                <a:lnTo>
                  <a:pt x="275431" y="39369"/>
                </a:lnTo>
                <a:lnTo>
                  <a:pt x="315302" y="69850"/>
                </a:lnTo>
                <a:lnTo>
                  <a:pt x="345060" y="109219"/>
                </a:lnTo>
                <a:lnTo>
                  <a:pt x="362333" y="157479"/>
                </a:lnTo>
                <a:lnTo>
                  <a:pt x="365760" y="191769"/>
                </a:lnTo>
                <a:lnTo>
                  <a:pt x="364816" y="209550"/>
                </a:lnTo>
                <a:lnTo>
                  <a:pt x="351957" y="259079"/>
                </a:lnTo>
                <a:lnTo>
                  <a:pt x="325884" y="302260"/>
                </a:lnTo>
                <a:lnTo>
                  <a:pt x="288938" y="335279"/>
                </a:lnTo>
                <a:lnTo>
                  <a:pt x="243502" y="356869"/>
                </a:lnTo>
                <a:lnTo>
                  <a:pt x="191913" y="365760"/>
                </a:lnTo>
                <a:lnTo>
                  <a:pt x="227826" y="365760"/>
                </a:lnTo>
                <a:lnTo>
                  <a:pt x="276597" y="347979"/>
                </a:lnTo>
                <a:lnTo>
                  <a:pt x="317479" y="317500"/>
                </a:lnTo>
                <a:lnTo>
                  <a:pt x="348052" y="276860"/>
                </a:lnTo>
                <a:lnTo>
                  <a:pt x="365908" y="227329"/>
                </a:lnTo>
                <a:lnTo>
                  <a:pt x="369566" y="191769"/>
                </a:lnTo>
                <a:lnTo>
                  <a:pt x="368679" y="173989"/>
                </a:lnTo>
                <a:lnTo>
                  <a:pt x="355753" y="123189"/>
                </a:lnTo>
                <a:lnTo>
                  <a:pt x="329283" y="78739"/>
                </a:lnTo>
                <a:lnTo>
                  <a:pt x="291675" y="44450"/>
                </a:lnTo>
                <a:lnTo>
                  <a:pt x="245353" y="22860"/>
                </a:lnTo>
                <a:lnTo>
                  <a:pt x="228387" y="177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6992584" y="1486110"/>
            <a:ext cx="194945" cy="978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50" spc="25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2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55"/>
              </a:spcBef>
            </a:pPr>
            <a:r>
              <a:rPr dirty="0" sz="2350" spc="25">
                <a:solidFill>
                  <a:srgbClr val="C00000"/>
                </a:solidFill>
                <a:latin typeface="Arial"/>
                <a:cs typeface="Arial"/>
              </a:rPr>
              <a:t>2</a:t>
            </a:r>
            <a:endParaRPr sz="235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6528434" y="2060261"/>
            <a:ext cx="379095" cy="213995"/>
          </a:xfrm>
          <a:custGeom>
            <a:avLst/>
            <a:gdLst/>
            <a:ahLst/>
            <a:cxnLst/>
            <a:rect l="l" t="t" r="r" b="b"/>
            <a:pathLst>
              <a:path w="379095" h="213994">
                <a:moveTo>
                  <a:pt x="0" y="0"/>
                </a:moveTo>
                <a:lnTo>
                  <a:pt x="378902" y="21342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528434" y="1679231"/>
            <a:ext cx="379095" cy="122555"/>
          </a:xfrm>
          <a:custGeom>
            <a:avLst/>
            <a:gdLst/>
            <a:ahLst/>
            <a:cxnLst/>
            <a:rect l="l" t="t" r="r" b="b"/>
            <a:pathLst>
              <a:path w="379095" h="122555">
                <a:moveTo>
                  <a:pt x="0" y="122398"/>
                </a:moveTo>
                <a:lnTo>
                  <a:pt x="378902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6547472" y="2696972"/>
            <a:ext cx="21463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Arial"/>
                <a:cs typeface="Arial"/>
              </a:rPr>
              <a:t>Observed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35">
                <a:latin typeface="Arial"/>
                <a:cs typeface="Arial"/>
              </a:rPr>
              <a:t>graph</a:t>
            </a:r>
            <a:endParaRPr sz="24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6116383" y="1324100"/>
            <a:ext cx="3027680" cy="1800225"/>
          </a:xfrm>
          <a:custGeom>
            <a:avLst/>
            <a:gdLst/>
            <a:ahLst/>
            <a:cxnLst/>
            <a:rect l="l" t="t" r="r" b="b"/>
            <a:pathLst>
              <a:path w="3027679" h="1800225">
                <a:moveTo>
                  <a:pt x="0" y="0"/>
                </a:moveTo>
                <a:lnTo>
                  <a:pt x="3027616" y="0"/>
                </a:lnTo>
                <a:lnTo>
                  <a:pt x="3027616" y="1800099"/>
                </a:lnTo>
                <a:lnTo>
                  <a:pt x="0" y="1800099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2509110" y="4193540"/>
            <a:ext cx="10826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Will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node</a:t>
            </a:r>
            <a:r>
              <a:rPr dirty="0" sz="1800" spc="-8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54227" y="6699893"/>
            <a:ext cx="400685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12/6/18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57" name="object 5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31</a:t>
            </a:fld>
          </a:p>
        </p:txBody>
      </p:sp>
      <p:sp>
        <p:nvSpPr>
          <p:cNvPr id="51" name="object 51"/>
          <p:cNvSpPr txBox="1"/>
          <p:nvPr/>
        </p:nvSpPr>
        <p:spPr>
          <a:xfrm>
            <a:off x="2509110" y="4461764"/>
            <a:ext cx="18211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connect </a:t>
            </a:r>
            <a:r>
              <a:rPr dirty="0" sz="1800" spc="-15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node</a:t>
            </a:r>
            <a:r>
              <a:rPr dirty="0" sz="1800" spc="-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2?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320501" y="3205988"/>
            <a:ext cx="2810510" cy="990600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dirty="0" sz="1800" spc="-30" b="1">
                <a:solidFill>
                  <a:srgbClr val="C00000"/>
                </a:solidFill>
                <a:latin typeface="Calibri"/>
                <a:cs typeface="Calibri"/>
              </a:rPr>
              <a:t>Teacher </a:t>
            </a:r>
            <a:r>
              <a:rPr dirty="0" sz="1800" spc="-15" b="1">
                <a:solidFill>
                  <a:srgbClr val="C00000"/>
                </a:solidFill>
                <a:latin typeface="Calibri"/>
                <a:cs typeface="Calibri"/>
              </a:rPr>
              <a:t>forcing: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node 3 </a:t>
            </a: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won’t  connect </a:t>
            </a:r>
            <a:r>
              <a:rPr dirty="0" sz="1800" spc="-15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node</a:t>
            </a:r>
            <a:r>
              <a:rPr dirty="0" sz="1800" spc="-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  <a:p>
            <a:pPr marL="132080">
              <a:lnSpc>
                <a:spcPct val="100000"/>
              </a:lnSpc>
              <a:spcBef>
                <a:spcPts val="865"/>
              </a:spcBef>
            </a:pPr>
            <a:r>
              <a:rPr dirty="0" sz="2000" spc="-5">
                <a:latin typeface="Cambria Math"/>
                <a:cs typeface="Cambria Math"/>
              </a:rPr>
              <a:t>𝑆𝑂𝑆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482211" y="3187700"/>
            <a:ext cx="10826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Will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node</a:t>
            </a:r>
            <a:r>
              <a:rPr dirty="0" sz="1800" spc="-8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482211" y="3452876"/>
            <a:ext cx="18211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connect </a:t>
            </a:r>
            <a:r>
              <a:rPr dirty="0" sz="1800" spc="-15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node</a:t>
            </a:r>
            <a:r>
              <a:rPr dirty="0" sz="1800" spc="-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1?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12622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86183" y="4744769"/>
            <a:ext cx="762000" cy="629920"/>
          </a:xfrm>
          <a:prstGeom prst="rect">
            <a:avLst/>
          </a:prstGeom>
          <a:solidFill>
            <a:srgbClr val="F0AD00"/>
          </a:solidFill>
          <a:ln w="48000">
            <a:solidFill>
              <a:srgbClr val="B07E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4775" indent="-36195">
              <a:lnSpc>
                <a:spcPts val="2185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Node</a:t>
            </a:r>
            <a:endParaRPr sz="2000">
              <a:latin typeface="Corbel"/>
              <a:cs typeface="Corbel"/>
            </a:endParaRPr>
          </a:p>
          <a:p>
            <a:pPr marL="104775">
              <a:lnSpc>
                <a:spcPts val="2395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6974" y="5704332"/>
            <a:ext cx="4667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𝑆</a:t>
            </a:r>
            <a:r>
              <a:rPr dirty="0" sz="2000" spc="-5">
                <a:latin typeface="Cambria Math"/>
                <a:cs typeface="Cambria Math"/>
              </a:rPr>
              <a:t>𝑂</a:t>
            </a:r>
            <a:r>
              <a:rPr dirty="0" sz="2000">
                <a:latin typeface="Cambria Math"/>
                <a:cs typeface="Cambria Math"/>
              </a:rPr>
              <a:t>𝑆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98602" y="5470917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102868" y="68580"/>
                </a:moveTo>
                <a:lnTo>
                  <a:pt x="34289" y="68580"/>
                </a:lnTo>
                <a:lnTo>
                  <a:pt x="34289" y="182880"/>
                </a:lnTo>
                <a:lnTo>
                  <a:pt x="102868" y="182880"/>
                </a:lnTo>
                <a:lnTo>
                  <a:pt x="102868" y="68580"/>
                </a:lnTo>
                <a:close/>
              </a:path>
              <a:path w="137160" h="182879">
                <a:moveTo>
                  <a:pt x="68578" y="0"/>
                </a:moveTo>
                <a:lnTo>
                  <a:pt x="0" y="68580"/>
                </a:lnTo>
                <a:lnTo>
                  <a:pt x="137158" y="68580"/>
                </a:lnTo>
                <a:lnTo>
                  <a:pt x="6857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98602" y="5470917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34289" y="182880"/>
                </a:moveTo>
                <a:lnTo>
                  <a:pt x="34289" y="68579"/>
                </a:lnTo>
                <a:lnTo>
                  <a:pt x="0" y="68579"/>
                </a:lnTo>
                <a:lnTo>
                  <a:pt x="68579" y="0"/>
                </a:lnTo>
                <a:lnTo>
                  <a:pt x="137159" y="68579"/>
                </a:lnTo>
                <a:lnTo>
                  <a:pt x="102869" y="68579"/>
                </a:lnTo>
                <a:lnTo>
                  <a:pt x="102869" y="182880"/>
                </a:lnTo>
                <a:lnTo>
                  <a:pt x="34289" y="182880"/>
                </a:lnTo>
                <a:close/>
              </a:path>
            </a:pathLst>
          </a:custGeom>
          <a:ln w="381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279039" y="3733800"/>
            <a:ext cx="762000" cy="629920"/>
          </a:xfrm>
          <a:prstGeom prst="rect">
            <a:avLst/>
          </a:prstGeom>
          <a:solidFill>
            <a:srgbClr val="60B5CC"/>
          </a:solidFill>
          <a:ln w="48000">
            <a:solidFill>
              <a:srgbClr val="24617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4775" indent="-17780">
              <a:lnSpc>
                <a:spcPts val="2180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Edge</a:t>
            </a:r>
            <a:endParaRPr sz="2000">
              <a:latin typeface="Corbel"/>
              <a:cs typeface="Corbel"/>
            </a:endParaRPr>
          </a:p>
          <a:p>
            <a:pPr marL="104775">
              <a:lnSpc>
                <a:spcPct val="100000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91459" y="4463044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102869" y="68580"/>
                </a:moveTo>
                <a:lnTo>
                  <a:pt x="34289" y="68580"/>
                </a:lnTo>
                <a:lnTo>
                  <a:pt x="34289" y="182880"/>
                </a:lnTo>
                <a:lnTo>
                  <a:pt x="102869" y="182880"/>
                </a:lnTo>
                <a:lnTo>
                  <a:pt x="102869" y="68580"/>
                </a:lnTo>
                <a:close/>
              </a:path>
              <a:path w="137160" h="182879">
                <a:moveTo>
                  <a:pt x="68580" y="0"/>
                </a:moveTo>
                <a:lnTo>
                  <a:pt x="0" y="68580"/>
                </a:lnTo>
                <a:lnTo>
                  <a:pt x="137159" y="68580"/>
                </a:lnTo>
                <a:lnTo>
                  <a:pt x="6858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91459" y="4463044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34289" y="182880"/>
                </a:moveTo>
                <a:lnTo>
                  <a:pt x="34289" y="68579"/>
                </a:lnTo>
                <a:lnTo>
                  <a:pt x="0" y="68579"/>
                </a:lnTo>
                <a:lnTo>
                  <a:pt x="68579" y="0"/>
                </a:lnTo>
                <a:lnTo>
                  <a:pt x="137159" y="68579"/>
                </a:lnTo>
                <a:lnTo>
                  <a:pt x="102869" y="68579"/>
                </a:lnTo>
                <a:lnTo>
                  <a:pt x="102869" y="182880"/>
                </a:lnTo>
                <a:lnTo>
                  <a:pt x="34289" y="182880"/>
                </a:lnTo>
                <a:close/>
              </a:path>
            </a:pathLst>
          </a:custGeom>
          <a:ln w="381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178522" y="3976155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80" h="137160">
                <a:moveTo>
                  <a:pt x="68578" y="0"/>
                </a:moveTo>
                <a:lnTo>
                  <a:pt x="0" y="68580"/>
                </a:lnTo>
                <a:lnTo>
                  <a:pt x="68578" y="137160"/>
                </a:lnTo>
                <a:lnTo>
                  <a:pt x="68578" y="102869"/>
                </a:lnTo>
                <a:lnTo>
                  <a:pt x="182879" y="102869"/>
                </a:lnTo>
                <a:lnTo>
                  <a:pt x="182879" y="34289"/>
                </a:lnTo>
                <a:lnTo>
                  <a:pt x="68578" y="34289"/>
                </a:lnTo>
                <a:lnTo>
                  <a:pt x="68578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178522" y="3976156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80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468590" y="3866388"/>
            <a:ext cx="4667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𝑆</a:t>
            </a:r>
            <a:r>
              <a:rPr dirty="0" sz="2000" spc="-5">
                <a:latin typeface="Cambria Math"/>
                <a:cs typeface="Cambria Math"/>
              </a:rPr>
              <a:t>𝑂</a:t>
            </a:r>
            <a:r>
              <a:rPr dirty="0" sz="2000">
                <a:latin typeface="Cambria Math"/>
                <a:cs typeface="Cambria Math"/>
              </a:rPr>
              <a:t>𝑆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3642" y="3850534"/>
            <a:ext cx="513715" cy="3962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4765" rIns="0" bIns="0" rtlCol="0" vert="horz">
            <a:spAutoFit/>
          </a:bodyPr>
          <a:lstStyle/>
          <a:p>
            <a:pPr marL="89535">
              <a:lnSpc>
                <a:spcPct val="100000"/>
              </a:lnSpc>
              <a:spcBef>
                <a:spcPts val="195"/>
              </a:spcBef>
            </a:pPr>
            <a:r>
              <a:rPr dirty="0" sz="2000" spc="-5">
                <a:latin typeface="Calibri"/>
                <a:cs typeface="Calibri"/>
              </a:rPr>
              <a:t>0.5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588517" y="5021436"/>
            <a:ext cx="1031240" cy="137160"/>
          </a:xfrm>
          <a:custGeom>
            <a:avLst/>
            <a:gdLst/>
            <a:ahLst/>
            <a:cxnLst/>
            <a:rect l="l" t="t" r="r" b="b"/>
            <a:pathLst>
              <a:path w="1031239" h="137160">
                <a:moveTo>
                  <a:pt x="962345" y="0"/>
                </a:moveTo>
                <a:lnTo>
                  <a:pt x="962345" y="34290"/>
                </a:lnTo>
                <a:lnTo>
                  <a:pt x="0" y="34290"/>
                </a:lnTo>
                <a:lnTo>
                  <a:pt x="0" y="102870"/>
                </a:lnTo>
                <a:lnTo>
                  <a:pt x="962345" y="102870"/>
                </a:lnTo>
                <a:lnTo>
                  <a:pt x="962345" y="137160"/>
                </a:lnTo>
                <a:lnTo>
                  <a:pt x="1030923" y="68580"/>
                </a:lnTo>
                <a:lnTo>
                  <a:pt x="96234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588517" y="5021436"/>
            <a:ext cx="1031240" cy="137160"/>
          </a:xfrm>
          <a:custGeom>
            <a:avLst/>
            <a:gdLst/>
            <a:ahLst/>
            <a:cxnLst/>
            <a:rect l="l" t="t" r="r" b="b"/>
            <a:pathLst>
              <a:path w="1031239" h="137160">
                <a:moveTo>
                  <a:pt x="0" y="34290"/>
                </a:moveTo>
                <a:lnTo>
                  <a:pt x="962344" y="34290"/>
                </a:lnTo>
                <a:lnTo>
                  <a:pt x="962344" y="0"/>
                </a:lnTo>
                <a:lnTo>
                  <a:pt x="1030924" y="68580"/>
                </a:lnTo>
                <a:lnTo>
                  <a:pt x="962344" y="137160"/>
                </a:lnTo>
                <a:lnTo>
                  <a:pt x="962344" y="102870"/>
                </a:lnTo>
                <a:lnTo>
                  <a:pt x="0" y="102870"/>
                </a:lnTo>
                <a:lnTo>
                  <a:pt x="0" y="34290"/>
                </a:lnTo>
                <a:close/>
              </a:path>
            </a:pathLst>
          </a:custGeom>
          <a:ln w="381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268718" y="4744769"/>
            <a:ext cx="762000" cy="629920"/>
          </a:xfrm>
          <a:custGeom>
            <a:avLst/>
            <a:gdLst/>
            <a:ahLst/>
            <a:cxnLst/>
            <a:rect l="l" t="t" r="r" b="b"/>
            <a:pathLst>
              <a:path w="762000" h="629920">
                <a:moveTo>
                  <a:pt x="0" y="0"/>
                </a:moveTo>
                <a:lnTo>
                  <a:pt x="762000" y="0"/>
                </a:lnTo>
                <a:lnTo>
                  <a:pt x="762000" y="629587"/>
                </a:lnTo>
                <a:lnTo>
                  <a:pt x="0" y="629587"/>
                </a:lnTo>
                <a:lnTo>
                  <a:pt x="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268718" y="4744769"/>
            <a:ext cx="762000" cy="629920"/>
          </a:xfrm>
          <a:custGeom>
            <a:avLst/>
            <a:gdLst/>
            <a:ahLst/>
            <a:cxnLst/>
            <a:rect l="l" t="t" r="r" b="b"/>
            <a:pathLst>
              <a:path w="762000" h="629920">
                <a:moveTo>
                  <a:pt x="0" y="0"/>
                </a:moveTo>
                <a:lnTo>
                  <a:pt x="762000" y="0"/>
                </a:lnTo>
                <a:lnTo>
                  <a:pt x="762000" y="629587"/>
                </a:lnTo>
                <a:lnTo>
                  <a:pt x="0" y="629587"/>
                </a:lnTo>
                <a:lnTo>
                  <a:pt x="0" y="0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292718" y="4728971"/>
            <a:ext cx="73850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4775" marR="86360" indent="-36195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o</a:t>
            </a:r>
            <a:r>
              <a:rPr dirty="0" sz="2000">
                <a:solidFill>
                  <a:srgbClr val="FFFFFF"/>
                </a:solidFill>
                <a:latin typeface="Corbel"/>
                <a:cs typeface="Corbel"/>
              </a:rPr>
              <a:t>de 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573995" y="4463044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102868" y="68580"/>
                </a:moveTo>
                <a:lnTo>
                  <a:pt x="34289" y="68580"/>
                </a:lnTo>
                <a:lnTo>
                  <a:pt x="34289" y="182880"/>
                </a:lnTo>
                <a:lnTo>
                  <a:pt x="102868" y="182880"/>
                </a:lnTo>
                <a:lnTo>
                  <a:pt x="102868" y="68580"/>
                </a:lnTo>
                <a:close/>
              </a:path>
              <a:path w="137160" h="182879">
                <a:moveTo>
                  <a:pt x="68579" y="0"/>
                </a:moveTo>
                <a:lnTo>
                  <a:pt x="0" y="68580"/>
                </a:lnTo>
                <a:lnTo>
                  <a:pt x="137158" y="68580"/>
                </a:lnTo>
                <a:lnTo>
                  <a:pt x="6857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573995" y="4463044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34289" y="182880"/>
                </a:moveTo>
                <a:lnTo>
                  <a:pt x="34289" y="68579"/>
                </a:lnTo>
                <a:lnTo>
                  <a:pt x="0" y="68579"/>
                </a:lnTo>
                <a:lnTo>
                  <a:pt x="68579" y="0"/>
                </a:lnTo>
                <a:lnTo>
                  <a:pt x="137159" y="68579"/>
                </a:lnTo>
                <a:lnTo>
                  <a:pt x="102869" y="68579"/>
                </a:lnTo>
                <a:lnTo>
                  <a:pt x="102869" y="182880"/>
                </a:lnTo>
                <a:lnTo>
                  <a:pt x="34289" y="182880"/>
                </a:lnTo>
                <a:close/>
              </a:path>
            </a:pathLst>
          </a:custGeom>
          <a:ln w="381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272154" y="3733800"/>
            <a:ext cx="762000" cy="629920"/>
          </a:xfrm>
          <a:custGeom>
            <a:avLst/>
            <a:gdLst/>
            <a:ahLst/>
            <a:cxnLst/>
            <a:rect l="l" t="t" r="r" b="b"/>
            <a:pathLst>
              <a:path w="762000" h="629920">
                <a:moveTo>
                  <a:pt x="0" y="0"/>
                </a:moveTo>
                <a:lnTo>
                  <a:pt x="762000" y="0"/>
                </a:lnTo>
                <a:lnTo>
                  <a:pt x="762000" y="629587"/>
                </a:lnTo>
                <a:lnTo>
                  <a:pt x="0" y="629587"/>
                </a:lnTo>
                <a:lnTo>
                  <a:pt x="0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272154" y="3733800"/>
            <a:ext cx="762000" cy="629920"/>
          </a:xfrm>
          <a:custGeom>
            <a:avLst/>
            <a:gdLst/>
            <a:ahLst/>
            <a:cxnLst/>
            <a:rect l="l" t="t" r="r" b="b"/>
            <a:pathLst>
              <a:path w="762000" h="629920">
                <a:moveTo>
                  <a:pt x="0" y="0"/>
                </a:moveTo>
                <a:lnTo>
                  <a:pt x="762000" y="0"/>
                </a:lnTo>
                <a:lnTo>
                  <a:pt x="762000" y="629587"/>
                </a:lnTo>
                <a:lnTo>
                  <a:pt x="0" y="629587"/>
                </a:lnTo>
                <a:lnTo>
                  <a:pt x="0" y="0"/>
                </a:lnTo>
                <a:close/>
              </a:path>
            </a:pathLst>
          </a:custGeom>
          <a:ln w="480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296154" y="3717035"/>
            <a:ext cx="73850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4775" marR="104775" indent="-1778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E</a:t>
            </a:r>
            <a:r>
              <a:rPr dirty="0" sz="2000">
                <a:solidFill>
                  <a:srgbClr val="FFFFFF"/>
                </a:solidFill>
                <a:latin typeface="Corbel"/>
                <a:cs typeface="Corbel"/>
              </a:rPr>
              <a:t>dge 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216299" y="4740912"/>
            <a:ext cx="762000" cy="629920"/>
          </a:xfrm>
          <a:custGeom>
            <a:avLst/>
            <a:gdLst/>
            <a:ahLst/>
            <a:cxnLst/>
            <a:rect l="l" t="t" r="r" b="b"/>
            <a:pathLst>
              <a:path w="762000" h="629920">
                <a:moveTo>
                  <a:pt x="0" y="0"/>
                </a:moveTo>
                <a:lnTo>
                  <a:pt x="762000" y="0"/>
                </a:lnTo>
                <a:lnTo>
                  <a:pt x="762000" y="629585"/>
                </a:lnTo>
                <a:lnTo>
                  <a:pt x="0" y="629585"/>
                </a:lnTo>
                <a:lnTo>
                  <a:pt x="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216299" y="4740912"/>
            <a:ext cx="762000" cy="629920"/>
          </a:xfrm>
          <a:custGeom>
            <a:avLst/>
            <a:gdLst/>
            <a:ahLst/>
            <a:cxnLst/>
            <a:rect l="l" t="t" r="r" b="b"/>
            <a:pathLst>
              <a:path w="762000" h="629920">
                <a:moveTo>
                  <a:pt x="0" y="0"/>
                </a:moveTo>
                <a:lnTo>
                  <a:pt x="762000" y="0"/>
                </a:lnTo>
                <a:lnTo>
                  <a:pt x="762000" y="629587"/>
                </a:lnTo>
                <a:lnTo>
                  <a:pt x="0" y="629587"/>
                </a:lnTo>
                <a:lnTo>
                  <a:pt x="0" y="0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7216299" y="4725923"/>
            <a:ext cx="73850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8905" marR="62230" indent="-36195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o</a:t>
            </a:r>
            <a:r>
              <a:rPr dirty="0" sz="2000">
                <a:solidFill>
                  <a:srgbClr val="FFFFFF"/>
                </a:solidFill>
                <a:latin typeface="Corbel"/>
                <a:cs typeface="Corbel"/>
              </a:rPr>
              <a:t>de 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972067" y="3977295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80" h="137160">
                <a:moveTo>
                  <a:pt x="68579" y="0"/>
                </a:moveTo>
                <a:lnTo>
                  <a:pt x="0" y="68579"/>
                </a:lnTo>
                <a:lnTo>
                  <a:pt x="68579" y="137158"/>
                </a:lnTo>
                <a:lnTo>
                  <a:pt x="68579" y="102869"/>
                </a:lnTo>
                <a:lnTo>
                  <a:pt x="182880" y="102869"/>
                </a:lnTo>
                <a:lnTo>
                  <a:pt x="182880" y="34289"/>
                </a:lnTo>
                <a:lnTo>
                  <a:pt x="68579" y="34289"/>
                </a:lnTo>
                <a:lnTo>
                  <a:pt x="6857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972067" y="3977295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80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150321" y="3976155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68579" y="0"/>
                </a:moveTo>
                <a:lnTo>
                  <a:pt x="0" y="68580"/>
                </a:lnTo>
                <a:lnTo>
                  <a:pt x="68579" y="137160"/>
                </a:lnTo>
                <a:lnTo>
                  <a:pt x="68579" y="102869"/>
                </a:lnTo>
                <a:lnTo>
                  <a:pt x="182879" y="102869"/>
                </a:lnTo>
                <a:lnTo>
                  <a:pt x="182879" y="34289"/>
                </a:lnTo>
                <a:lnTo>
                  <a:pt x="68579" y="34289"/>
                </a:lnTo>
                <a:lnTo>
                  <a:pt x="6857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150321" y="3976156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5440390" y="3866388"/>
            <a:ext cx="4667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𝑆</a:t>
            </a:r>
            <a:r>
              <a:rPr dirty="0" sz="2000" spc="-5">
                <a:latin typeface="Cambria Math"/>
                <a:cs typeface="Cambria Math"/>
              </a:rPr>
              <a:t>𝑂</a:t>
            </a:r>
            <a:r>
              <a:rPr dirty="0" sz="2000">
                <a:latin typeface="Cambria Math"/>
                <a:cs typeface="Cambria Math"/>
              </a:rPr>
              <a:t>𝑆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376649" y="3850534"/>
            <a:ext cx="513715" cy="3962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4765" rIns="0" bIns="0" rtlCol="0" vert="horz">
            <a:spAutoFit/>
          </a:bodyPr>
          <a:lstStyle/>
          <a:p>
            <a:pPr marL="89535">
              <a:lnSpc>
                <a:spcPct val="100000"/>
              </a:lnSpc>
              <a:spcBef>
                <a:spcPts val="195"/>
              </a:spcBef>
            </a:pPr>
            <a:r>
              <a:rPr dirty="0" sz="2000" spc="-5">
                <a:latin typeface="Calibri"/>
                <a:cs typeface="Calibri"/>
              </a:rPr>
              <a:t>0.6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989382" y="3979280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68578" y="0"/>
                </a:moveTo>
                <a:lnTo>
                  <a:pt x="0" y="68579"/>
                </a:lnTo>
                <a:lnTo>
                  <a:pt x="68578" y="137158"/>
                </a:lnTo>
                <a:lnTo>
                  <a:pt x="68578" y="102868"/>
                </a:lnTo>
                <a:lnTo>
                  <a:pt x="182880" y="102868"/>
                </a:lnTo>
                <a:lnTo>
                  <a:pt x="182880" y="34289"/>
                </a:lnTo>
                <a:lnTo>
                  <a:pt x="68578" y="34289"/>
                </a:lnTo>
                <a:lnTo>
                  <a:pt x="68578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989382" y="3979280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263685" y="2697328"/>
            <a:ext cx="762000" cy="629920"/>
          </a:xfrm>
          <a:custGeom>
            <a:avLst/>
            <a:gdLst/>
            <a:ahLst/>
            <a:cxnLst/>
            <a:rect l="l" t="t" r="r" b="b"/>
            <a:pathLst>
              <a:path w="762000" h="629920">
                <a:moveTo>
                  <a:pt x="0" y="0"/>
                </a:moveTo>
                <a:lnTo>
                  <a:pt x="762000" y="0"/>
                </a:lnTo>
                <a:lnTo>
                  <a:pt x="762000" y="629587"/>
                </a:lnTo>
                <a:lnTo>
                  <a:pt x="0" y="629587"/>
                </a:lnTo>
                <a:lnTo>
                  <a:pt x="0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263685" y="2697328"/>
            <a:ext cx="762000" cy="629920"/>
          </a:xfrm>
          <a:custGeom>
            <a:avLst/>
            <a:gdLst/>
            <a:ahLst/>
            <a:cxnLst/>
            <a:rect l="l" t="t" r="r" b="b"/>
            <a:pathLst>
              <a:path w="762000" h="629920">
                <a:moveTo>
                  <a:pt x="0" y="0"/>
                </a:moveTo>
                <a:lnTo>
                  <a:pt x="762000" y="0"/>
                </a:lnTo>
                <a:lnTo>
                  <a:pt x="762000" y="629587"/>
                </a:lnTo>
                <a:lnTo>
                  <a:pt x="0" y="629587"/>
                </a:lnTo>
                <a:lnTo>
                  <a:pt x="0" y="0"/>
                </a:lnTo>
                <a:close/>
              </a:path>
            </a:pathLst>
          </a:custGeom>
          <a:ln w="480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4287685" y="2680716"/>
            <a:ext cx="73850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4775" marR="104775" indent="-1778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E</a:t>
            </a:r>
            <a:r>
              <a:rPr dirty="0" sz="2000">
                <a:solidFill>
                  <a:srgbClr val="FFFFFF"/>
                </a:solidFill>
                <a:latin typeface="Corbel"/>
                <a:cs typeface="Corbel"/>
              </a:rPr>
              <a:t>dge 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568962" y="3441090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102868" y="68578"/>
                </a:moveTo>
                <a:lnTo>
                  <a:pt x="34289" y="68578"/>
                </a:lnTo>
                <a:lnTo>
                  <a:pt x="34289" y="182880"/>
                </a:lnTo>
                <a:lnTo>
                  <a:pt x="102868" y="182880"/>
                </a:lnTo>
                <a:lnTo>
                  <a:pt x="102868" y="68578"/>
                </a:lnTo>
                <a:close/>
              </a:path>
              <a:path w="137160" h="182879">
                <a:moveTo>
                  <a:pt x="68579" y="0"/>
                </a:moveTo>
                <a:lnTo>
                  <a:pt x="0" y="68578"/>
                </a:lnTo>
                <a:lnTo>
                  <a:pt x="137158" y="68578"/>
                </a:lnTo>
                <a:lnTo>
                  <a:pt x="6857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568962" y="3441090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34289" y="182880"/>
                </a:moveTo>
                <a:lnTo>
                  <a:pt x="34289" y="68579"/>
                </a:lnTo>
                <a:lnTo>
                  <a:pt x="0" y="68579"/>
                </a:lnTo>
                <a:lnTo>
                  <a:pt x="68579" y="0"/>
                </a:lnTo>
                <a:lnTo>
                  <a:pt x="137159" y="68579"/>
                </a:lnTo>
                <a:lnTo>
                  <a:pt x="102869" y="68579"/>
                </a:lnTo>
                <a:lnTo>
                  <a:pt x="102869" y="182880"/>
                </a:lnTo>
                <a:lnTo>
                  <a:pt x="34289" y="182880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156023" y="2944176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68579" y="0"/>
                </a:moveTo>
                <a:lnTo>
                  <a:pt x="0" y="68579"/>
                </a:lnTo>
                <a:lnTo>
                  <a:pt x="68579" y="137160"/>
                </a:lnTo>
                <a:lnTo>
                  <a:pt x="68579" y="102869"/>
                </a:lnTo>
                <a:lnTo>
                  <a:pt x="182879" y="102869"/>
                </a:lnTo>
                <a:lnTo>
                  <a:pt x="182879" y="34289"/>
                </a:lnTo>
                <a:lnTo>
                  <a:pt x="68579" y="34289"/>
                </a:lnTo>
                <a:lnTo>
                  <a:pt x="6857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156023" y="2944177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949569" y="2944177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68579" y="0"/>
                </a:moveTo>
                <a:lnTo>
                  <a:pt x="0" y="68580"/>
                </a:lnTo>
                <a:lnTo>
                  <a:pt x="68579" y="137160"/>
                </a:lnTo>
                <a:lnTo>
                  <a:pt x="68579" y="102870"/>
                </a:lnTo>
                <a:lnTo>
                  <a:pt x="182879" y="102870"/>
                </a:lnTo>
                <a:lnTo>
                  <a:pt x="182879" y="34289"/>
                </a:lnTo>
                <a:lnTo>
                  <a:pt x="68579" y="34289"/>
                </a:lnTo>
                <a:lnTo>
                  <a:pt x="6857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949569" y="2944178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3370449" y="2796547"/>
            <a:ext cx="513715" cy="3962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7305" rIns="0" bIns="0" rtlCol="0" vert="horz">
            <a:spAutoFit/>
          </a:bodyPr>
          <a:lstStyle/>
          <a:p>
            <a:pPr marL="89535">
              <a:lnSpc>
                <a:spcPct val="100000"/>
              </a:lnSpc>
              <a:spcBef>
                <a:spcPts val="215"/>
              </a:spcBef>
            </a:pPr>
            <a:r>
              <a:rPr dirty="0" sz="2000" spc="-5">
                <a:latin typeface="Calibri"/>
                <a:cs typeface="Calibri"/>
              </a:rPr>
              <a:t>0.4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425996" y="2796547"/>
            <a:ext cx="513715" cy="3962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73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15"/>
              </a:spcBef>
            </a:pPr>
            <a:r>
              <a:rPr dirty="0" sz="2000">
                <a:latin typeface="Calibri"/>
                <a:cs typeface="Calibri"/>
              </a:rPr>
              <a:t>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5682655" y="4990282"/>
            <a:ext cx="1031240" cy="137160"/>
          </a:xfrm>
          <a:custGeom>
            <a:avLst/>
            <a:gdLst/>
            <a:ahLst/>
            <a:cxnLst/>
            <a:rect l="l" t="t" r="r" b="b"/>
            <a:pathLst>
              <a:path w="1031240" h="137160">
                <a:moveTo>
                  <a:pt x="962343" y="0"/>
                </a:moveTo>
                <a:lnTo>
                  <a:pt x="962343" y="34289"/>
                </a:lnTo>
                <a:lnTo>
                  <a:pt x="0" y="34289"/>
                </a:lnTo>
                <a:lnTo>
                  <a:pt x="0" y="102869"/>
                </a:lnTo>
                <a:lnTo>
                  <a:pt x="962343" y="102869"/>
                </a:lnTo>
                <a:lnTo>
                  <a:pt x="962343" y="137159"/>
                </a:lnTo>
                <a:lnTo>
                  <a:pt x="1030923" y="68579"/>
                </a:lnTo>
                <a:lnTo>
                  <a:pt x="962343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682655" y="4990282"/>
            <a:ext cx="1031240" cy="137160"/>
          </a:xfrm>
          <a:custGeom>
            <a:avLst/>
            <a:gdLst/>
            <a:ahLst/>
            <a:cxnLst/>
            <a:rect l="l" t="t" r="r" b="b"/>
            <a:pathLst>
              <a:path w="1031240" h="137160">
                <a:moveTo>
                  <a:pt x="0" y="34290"/>
                </a:moveTo>
                <a:lnTo>
                  <a:pt x="962344" y="34290"/>
                </a:lnTo>
                <a:lnTo>
                  <a:pt x="962344" y="0"/>
                </a:lnTo>
                <a:lnTo>
                  <a:pt x="1030924" y="68580"/>
                </a:lnTo>
                <a:lnTo>
                  <a:pt x="962344" y="137160"/>
                </a:lnTo>
                <a:lnTo>
                  <a:pt x="962344" y="102870"/>
                </a:lnTo>
                <a:lnTo>
                  <a:pt x="0" y="102870"/>
                </a:lnTo>
                <a:lnTo>
                  <a:pt x="0" y="34290"/>
                </a:lnTo>
                <a:close/>
              </a:path>
            </a:pathLst>
          </a:custGeom>
          <a:ln w="381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48" name="object 48"/>
          <p:cNvGraphicFramePr>
            <a:graphicFrameLocks noGrp="1"/>
          </p:cNvGraphicFramePr>
          <p:nvPr/>
        </p:nvGraphicFramePr>
        <p:xfrm>
          <a:off x="7764687" y="1414976"/>
          <a:ext cx="1289685" cy="1207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0210"/>
                <a:gridCol w="420210"/>
                <a:gridCol w="420210"/>
              </a:tblGrid>
              <a:tr h="355600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9" name="object 49"/>
          <p:cNvSpPr/>
          <p:nvPr/>
        </p:nvSpPr>
        <p:spPr>
          <a:xfrm>
            <a:off x="6216237" y="17480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6301485" y="1739094"/>
            <a:ext cx="194945" cy="384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50" spc="25">
                <a:solidFill>
                  <a:srgbClr val="C00000"/>
                </a:solidFill>
                <a:latin typeface="Arial"/>
                <a:cs typeface="Arial"/>
              </a:rPr>
              <a:t>1</a:t>
            </a:r>
            <a:endParaRPr sz="2350">
              <a:latin typeface="Arial"/>
              <a:cs typeface="Aria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6907335" y="209080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897822" y="1488084"/>
            <a:ext cx="384810" cy="383540"/>
          </a:xfrm>
          <a:custGeom>
            <a:avLst/>
            <a:gdLst/>
            <a:ahLst/>
            <a:cxnLst/>
            <a:rect l="l" t="t" r="r" b="b"/>
            <a:pathLst>
              <a:path w="384809" h="383539">
                <a:moveTo>
                  <a:pt x="211571" y="0"/>
                </a:moveTo>
                <a:lnTo>
                  <a:pt x="172257" y="0"/>
                </a:lnTo>
                <a:lnTo>
                  <a:pt x="134736" y="7619"/>
                </a:lnTo>
                <a:lnTo>
                  <a:pt x="84439" y="33019"/>
                </a:lnTo>
                <a:lnTo>
                  <a:pt x="43646" y="69850"/>
                </a:lnTo>
                <a:lnTo>
                  <a:pt x="14940" y="116839"/>
                </a:lnTo>
                <a:lnTo>
                  <a:pt x="3812" y="153669"/>
                </a:lnTo>
                <a:lnTo>
                  <a:pt x="0" y="191769"/>
                </a:lnTo>
                <a:lnTo>
                  <a:pt x="1041" y="212089"/>
                </a:lnTo>
                <a:lnTo>
                  <a:pt x="15303" y="266700"/>
                </a:lnTo>
                <a:lnTo>
                  <a:pt x="44225" y="314960"/>
                </a:lnTo>
                <a:lnTo>
                  <a:pt x="85197" y="351789"/>
                </a:lnTo>
                <a:lnTo>
                  <a:pt x="135638" y="375919"/>
                </a:lnTo>
                <a:lnTo>
                  <a:pt x="173215" y="383539"/>
                </a:lnTo>
                <a:lnTo>
                  <a:pt x="212529" y="383539"/>
                </a:lnTo>
                <a:lnTo>
                  <a:pt x="250050" y="375919"/>
                </a:lnTo>
                <a:lnTo>
                  <a:pt x="255937" y="373379"/>
                </a:lnTo>
                <a:lnTo>
                  <a:pt x="192297" y="373379"/>
                </a:lnTo>
                <a:lnTo>
                  <a:pt x="173790" y="372110"/>
                </a:lnTo>
                <a:lnTo>
                  <a:pt x="121862" y="358139"/>
                </a:lnTo>
                <a:lnTo>
                  <a:pt x="77205" y="331469"/>
                </a:lnTo>
                <a:lnTo>
                  <a:pt x="42271" y="293369"/>
                </a:lnTo>
                <a:lnTo>
                  <a:pt x="19524" y="245110"/>
                </a:lnTo>
                <a:lnTo>
                  <a:pt x="11416" y="191769"/>
                </a:lnTo>
                <a:lnTo>
                  <a:pt x="12359" y="172719"/>
                </a:lnTo>
                <a:lnTo>
                  <a:pt x="25674" y="120650"/>
                </a:lnTo>
                <a:lnTo>
                  <a:pt x="52800" y="76200"/>
                </a:lnTo>
                <a:lnTo>
                  <a:pt x="91283" y="41910"/>
                </a:lnTo>
                <a:lnTo>
                  <a:pt x="138664" y="19050"/>
                </a:lnTo>
                <a:lnTo>
                  <a:pt x="173982" y="11429"/>
                </a:lnTo>
                <a:lnTo>
                  <a:pt x="259770" y="11429"/>
                </a:lnTo>
                <a:lnTo>
                  <a:pt x="249148" y="7619"/>
                </a:lnTo>
                <a:lnTo>
                  <a:pt x="211571" y="0"/>
                </a:lnTo>
                <a:close/>
              </a:path>
              <a:path w="384809" h="383539">
                <a:moveTo>
                  <a:pt x="259770" y="11429"/>
                </a:moveTo>
                <a:lnTo>
                  <a:pt x="210995" y="11429"/>
                </a:lnTo>
                <a:lnTo>
                  <a:pt x="228963" y="13969"/>
                </a:lnTo>
                <a:lnTo>
                  <a:pt x="246302" y="19050"/>
                </a:lnTo>
                <a:lnTo>
                  <a:pt x="293654" y="41910"/>
                </a:lnTo>
                <a:lnTo>
                  <a:pt x="332102" y="76200"/>
                </a:lnTo>
                <a:lnTo>
                  <a:pt x="359185" y="121919"/>
                </a:lnTo>
                <a:lnTo>
                  <a:pt x="372446" y="173989"/>
                </a:lnTo>
                <a:lnTo>
                  <a:pt x="373371" y="191769"/>
                </a:lnTo>
                <a:lnTo>
                  <a:pt x="372426" y="210819"/>
                </a:lnTo>
                <a:lnTo>
                  <a:pt x="359112" y="262889"/>
                </a:lnTo>
                <a:lnTo>
                  <a:pt x="331986" y="307339"/>
                </a:lnTo>
                <a:lnTo>
                  <a:pt x="293502" y="341629"/>
                </a:lnTo>
                <a:lnTo>
                  <a:pt x="246122" y="364489"/>
                </a:lnTo>
                <a:lnTo>
                  <a:pt x="192297" y="373379"/>
                </a:lnTo>
                <a:lnTo>
                  <a:pt x="255937" y="373379"/>
                </a:lnTo>
                <a:lnTo>
                  <a:pt x="300347" y="350519"/>
                </a:lnTo>
                <a:lnTo>
                  <a:pt x="341141" y="313689"/>
                </a:lnTo>
                <a:lnTo>
                  <a:pt x="369846" y="266700"/>
                </a:lnTo>
                <a:lnTo>
                  <a:pt x="380974" y="229869"/>
                </a:lnTo>
                <a:lnTo>
                  <a:pt x="384785" y="191769"/>
                </a:lnTo>
                <a:lnTo>
                  <a:pt x="383745" y="171450"/>
                </a:lnTo>
                <a:lnTo>
                  <a:pt x="369483" y="116839"/>
                </a:lnTo>
                <a:lnTo>
                  <a:pt x="340561" y="68579"/>
                </a:lnTo>
                <a:lnTo>
                  <a:pt x="299589" y="31750"/>
                </a:lnTo>
                <a:lnTo>
                  <a:pt x="266852" y="13969"/>
                </a:lnTo>
                <a:lnTo>
                  <a:pt x="259770" y="11429"/>
                </a:lnTo>
                <a:close/>
              </a:path>
              <a:path w="384809" h="383539">
                <a:moveTo>
                  <a:pt x="210803" y="15239"/>
                </a:moveTo>
                <a:lnTo>
                  <a:pt x="174557" y="15239"/>
                </a:lnTo>
                <a:lnTo>
                  <a:pt x="156960" y="17779"/>
                </a:lnTo>
                <a:lnTo>
                  <a:pt x="108188" y="35560"/>
                </a:lnTo>
                <a:lnTo>
                  <a:pt x="67307" y="66039"/>
                </a:lnTo>
                <a:lnTo>
                  <a:pt x="36734" y="106679"/>
                </a:lnTo>
                <a:lnTo>
                  <a:pt x="18878" y="156210"/>
                </a:lnTo>
                <a:lnTo>
                  <a:pt x="15220" y="191769"/>
                </a:lnTo>
                <a:lnTo>
                  <a:pt x="16107" y="209550"/>
                </a:lnTo>
                <a:lnTo>
                  <a:pt x="29033" y="260350"/>
                </a:lnTo>
                <a:lnTo>
                  <a:pt x="55504" y="304800"/>
                </a:lnTo>
                <a:lnTo>
                  <a:pt x="93111" y="339089"/>
                </a:lnTo>
                <a:lnTo>
                  <a:pt x="139433" y="360679"/>
                </a:lnTo>
                <a:lnTo>
                  <a:pt x="192105" y="369569"/>
                </a:lnTo>
                <a:lnTo>
                  <a:pt x="210229" y="368300"/>
                </a:lnTo>
                <a:lnTo>
                  <a:pt x="227826" y="365760"/>
                </a:lnTo>
                <a:lnTo>
                  <a:pt x="191913" y="365760"/>
                </a:lnTo>
                <a:lnTo>
                  <a:pt x="174175" y="364489"/>
                </a:lnTo>
                <a:lnTo>
                  <a:pt x="124481" y="351789"/>
                </a:lnTo>
                <a:lnTo>
                  <a:pt x="81768" y="325119"/>
                </a:lnTo>
                <a:lnTo>
                  <a:pt x="48374" y="288289"/>
                </a:lnTo>
                <a:lnTo>
                  <a:pt x="26680" y="242569"/>
                </a:lnTo>
                <a:lnTo>
                  <a:pt x="19025" y="191769"/>
                </a:lnTo>
                <a:lnTo>
                  <a:pt x="19970" y="173989"/>
                </a:lnTo>
                <a:lnTo>
                  <a:pt x="32829" y="124460"/>
                </a:lnTo>
                <a:lnTo>
                  <a:pt x="58902" y="81279"/>
                </a:lnTo>
                <a:lnTo>
                  <a:pt x="95848" y="48260"/>
                </a:lnTo>
                <a:lnTo>
                  <a:pt x="141284" y="26669"/>
                </a:lnTo>
                <a:lnTo>
                  <a:pt x="192873" y="17779"/>
                </a:lnTo>
                <a:lnTo>
                  <a:pt x="228387" y="17779"/>
                </a:lnTo>
                <a:lnTo>
                  <a:pt x="210803" y="15239"/>
                </a:lnTo>
                <a:close/>
              </a:path>
              <a:path w="384809" h="383539">
                <a:moveTo>
                  <a:pt x="228387" y="17779"/>
                </a:moveTo>
                <a:lnTo>
                  <a:pt x="192873" y="17779"/>
                </a:lnTo>
                <a:lnTo>
                  <a:pt x="210611" y="19050"/>
                </a:lnTo>
                <a:lnTo>
                  <a:pt x="227812" y="21589"/>
                </a:lnTo>
                <a:lnTo>
                  <a:pt x="275431" y="39369"/>
                </a:lnTo>
                <a:lnTo>
                  <a:pt x="315302" y="69850"/>
                </a:lnTo>
                <a:lnTo>
                  <a:pt x="345060" y="109219"/>
                </a:lnTo>
                <a:lnTo>
                  <a:pt x="362333" y="157479"/>
                </a:lnTo>
                <a:lnTo>
                  <a:pt x="365760" y="191769"/>
                </a:lnTo>
                <a:lnTo>
                  <a:pt x="364816" y="209550"/>
                </a:lnTo>
                <a:lnTo>
                  <a:pt x="351957" y="259079"/>
                </a:lnTo>
                <a:lnTo>
                  <a:pt x="325884" y="302260"/>
                </a:lnTo>
                <a:lnTo>
                  <a:pt x="288938" y="335279"/>
                </a:lnTo>
                <a:lnTo>
                  <a:pt x="243502" y="356869"/>
                </a:lnTo>
                <a:lnTo>
                  <a:pt x="191913" y="365760"/>
                </a:lnTo>
                <a:lnTo>
                  <a:pt x="227826" y="365760"/>
                </a:lnTo>
                <a:lnTo>
                  <a:pt x="276597" y="347979"/>
                </a:lnTo>
                <a:lnTo>
                  <a:pt x="317479" y="317500"/>
                </a:lnTo>
                <a:lnTo>
                  <a:pt x="348052" y="276860"/>
                </a:lnTo>
                <a:lnTo>
                  <a:pt x="365908" y="227329"/>
                </a:lnTo>
                <a:lnTo>
                  <a:pt x="369566" y="191769"/>
                </a:lnTo>
                <a:lnTo>
                  <a:pt x="368679" y="173989"/>
                </a:lnTo>
                <a:lnTo>
                  <a:pt x="355753" y="123189"/>
                </a:lnTo>
                <a:lnTo>
                  <a:pt x="329283" y="78739"/>
                </a:lnTo>
                <a:lnTo>
                  <a:pt x="291675" y="44450"/>
                </a:lnTo>
                <a:lnTo>
                  <a:pt x="245353" y="22860"/>
                </a:lnTo>
                <a:lnTo>
                  <a:pt x="228387" y="177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6992584" y="1486110"/>
            <a:ext cx="194945" cy="978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50" spc="25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2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55"/>
              </a:spcBef>
            </a:pPr>
            <a:r>
              <a:rPr dirty="0" sz="2350" spc="25">
                <a:solidFill>
                  <a:srgbClr val="C00000"/>
                </a:solidFill>
                <a:latin typeface="Arial"/>
                <a:cs typeface="Arial"/>
              </a:rPr>
              <a:t>2</a:t>
            </a:r>
            <a:endParaRPr sz="235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6528434" y="2060261"/>
            <a:ext cx="379095" cy="213995"/>
          </a:xfrm>
          <a:custGeom>
            <a:avLst/>
            <a:gdLst/>
            <a:ahLst/>
            <a:cxnLst/>
            <a:rect l="l" t="t" r="r" b="b"/>
            <a:pathLst>
              <a:path w="379095" h="213994">
                <a:moveTo>
                  <a:pt x="0" y="0"/>
                </a:moveTo>
                <a:lnTo>
                  <a:pt x="378902" y="21342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6528434" y="1679231"/>
            <a:ext cx="379095" cy="122555"/>
          </a:xfrm>
          <a:custGeom>
            <a:avLst/>
            <a:gdLst/>
            <a:ahLst/>
            <a:cxnLst/>
            <a:rect l="l" t="t" r="r" b="b"/>
            <a:pathLst>
              <a:path w="379095" h="122555">
                <a:moveTo>
                  <a:pt x="0" y="122398"/>
                </a:moveTo>
                <a:lnTo>
                  <a:pt x="378902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6547472" y="2696972"/>
            <a:ext cx="21463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Arial"/>
                <a:cs typeface="Arial"/>
              </a:rPr>
              <a:t>Observed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35">
                <a:latin typeface="Arial"/>
                <a:cs typeface="Arial"/>
              </a:rPr>
              <a:t>graph</a:t>
            </a:r>
            <a:endParaRPr sz="2400">
              <a:latin typeface="Arial"/>
              <a:cs typeface="Aria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6116383" y="1324100"/>
            <a:ext cx="3027680" cy="1800225"/>
          </a:xfrm>
          <a:custGeom>
            <a:avLst/>
            <a:gdLst/>
            <a:ahLst/>
            <a:cxnLst/>
            <a:rect l="l" t="t" r="r" b="b"/>
            <a:pathLst>
              <a:path w="3027679" h="1800225">
                <a:moveTo>
                  <a:pt x="0" y="0"/>
                </a:moveTo>
                <a:lnTo>
                  <a:pt x="3027616" y="0"/>
                </a:lnTo>
                <a:lnTo>
                  <a:pt x="3027616" y="1800099"/>
                </a:lnTo>
                <a:lnTo>
                  <a:pt x="0" y="1800099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4638335" y="2462371"/>
            <a:ext cx="2997200" cy="3143250"/>
          </a:xfrm>
          <a:custGeom>
            <a:avLst/>
            <a:gdLst/>
            <a:ahLst/>
            <a:cxnLst/>
            <a:rect l="l" t="t" r="r" b="b"/>
            <a:pathLst>
              <a:path w="2997200" h="3143250">
                <a:moveTo>
                  <a:pt x="9857" y="190507"/>
                </a:moveTo>
                <a:lnTo>
                  <a:pt x="2843" y="190507"/>
                </a:lnTo>
                <a:lnTo>
                  <a:pt x="0" y="193351"/>
                </a:lnTo>
                <a:lnTo>
                  <a:pt x="0" y="238464"/>
                </a:lnTo>
                <a:lnTo>
                  <a:pt x="2843" y="241307"/>
                </a:lnTo>
                <a:lnTo>
                  <a:pt x="9857" y="241307"/>
                </a:lnTo>
                <a:lnTo>
                  <a:pt x="12700" y="238464"/>
                </a:lnTo>
                <a:lnTo>
                  <a:pt x="12700" y="193351"/>
                </a:lnTo>
                <a:lnTo>
                  <a:pt x="9857" y="190507"/>
                </a:lnTo>
                <a:close/>
              </a:path>
              <a:path w="2997200" h="3143250">
                <a:moveTo>
                  <a:pt x="9857" y="101607"/>
                </a:moveTo>
                <a:lnTo>
                  <a:pt x="2843" y="101607"/>
                </a:lnTo>
                <a:lnTo>
                  <a:pt x="0" y="104451"/>
                </a:lnTo>
                <a:lnTo>
                  <a:pt x="0" y="149564"/>
                </a:lnTo>
                <a:lnTo>
                  <a:pt x="2843" y="152407"/>
                </a:lnTo>
                <a:lnTo>
                  <a:pt x="9857" y="152407"/>
                </a:lnTo>
                <a:lnTo>
                  <a:pt x="12700" y="149564"/>
                </a:lnTo>
                <a:lnTo>
                  <a:pt x="12700" y="104451"/>
                </a:lnTo>
                <a:lnTo>
                  <a:pt x="9857" y="101607"/>
                </a:lnTo>
                <a:close/>
              </a:path>
              <a:path w="2997200" h="3143250">
                <a:moveTo>
                  <a:pt x="9857" y="12707"/>
                </a:moveTo>
                <a:lnTo>
                  <a:pt x="2843" y="12707"/>
                </a:lnTo>
                <a:lnTo>
                  <a:pt x="0" y="15551"/>
                </a:lnTo>
                <a:lnTo>
                  <a:pt x="0" y="60664"/>
                </a:lnTo>
                <a:lnTo>
                  <a:pt x="2843" y="63507"/>
                </a:lnTo>
                <a:lnTo>
                  <a:pt x="9857" y="63507"/>
                </a:lnTo>
                <a:lnTo>
                  <a:pt x="12700" y="60664"/>
                </a:lnTo>
                <a:lnTo>
                  <a:pt x="12700" y="15551"/>
                </a:lnTo>
                <a:lnTo>
                  <a:pt x="9857" y="12707"/>
                </a:lnTo>
                <a:close/>
              </a:path>
              <a:path w="2997200" h="3143250">
                <a:moveTo>
                  <a:pt x="86048" y="0"/>
                </a:moveTo>
                <a:lnTo>
                  <a:pt x="40934" y="0"/>
                </a:lnTo>
                <a:lnTo>
                  <a:pt x="38092" y="2842"/>
                </a:lnTo>
                <a:lnTo>
                  <a:pt x="38092" y="9856"/>
                </a:lnTo>
                <a:lnTo>
                  <a:pt x="40934" y="12700"/>
                </a:lnTo>
                <a:lnTo>
                  <a:pt x="86048" y="12700"/>
                </a:lnTo>
                <a:lnTo>
                  <a:pt x="88892" y="9856"/>
                </a:lnTo>
                <a:lnTo>
                  <a:pt x="88892" y="2842"/>
                </a:lnTo>
                <a:lnTo>
                  <a:pt x="86048" y="0"/>
                </a:lnTo>
                <a:close/>
              </a:path>
              <a:path w="2997200" h="3143250">
                <a:moveTo>
                  <a:pt x="174948" y="0"/>
                </a:moveTo>
                <a:lnTo>
                  <a:pt x="129834" y="0"/>
                </a:lnTo>
                <a:lnTo>
                  <a:pt x="126992" y="2842"/>
                </a:lnTo>
                <a:lnTo>
                  <a:pt x="126992" y="9856"/>
                </a:lnTo>
                <a:lnTo>
                  <a:pt x="129834" y="12700"/>
                </a:lnTo>
                <a:lnTo>
                  <a:pt x="174948" y="12700"/>
                </a:lnTo>
                <a:lnTo>
                  <a:pt x="177792" y="9856"/>
                </a:lnTo>
                <a:lnTo>
                  <a:pt x="177792" y="2842"/>
                </a:lnTo>
                <a:lnTo>
                  <a:pt x="174948" y="0"/>
                </a:lnTo>
                <a:close/>
              </a:path>
              <a:path w="2997200" h="3143250">
                <a:moveTo>
                  <a:pt x="263848" y="0"/>
                </a:moveTo>
                <a:lnTo>
                  <a:pt x="218734" y="0"/>
                </a:lnTo>
                <a:lnTo>
                  <a:pt x="215892" y="2842"/>
                </a:lnTo>
                <a:lnTo>
                  <a:pt x="215892" y="9856"/>
                </a:lnTo>
                <a:lnTo>
                  <a:pt x="218734" y="12700"/>
                </a:lnTo>
                <a:lnTo>
                  <a:pt x="263848" y="12700"/>
                </a:lnTo>
                <a:lnTo>
                  <a:pt x="266692" y="9856"/>
                </a:lnTo>
                <a:lnTo>
                  <a:pt x="266692" y="2842"/>
                </a:lnTo>
                <a:lnTo>
                  <a:pt x="263848" y="0"/>
                </a:lnTo>
                <a:close/>
              </a:path>
              <a:path w="2997200" h="3143250">
                <a:moveTo>
                  <a:pt x="352748" y="0"/>
                </a:moveTo>
                <a:lnTo>
                  <a:pt x="307634" y="0"/>
                </a:lnTo>
                <a:lnTo>
                  <a:pt x="304792" y="2842"/>
                </a:lnTo>
                <a:lnTo>
                  <a:pt x="304792" y="9856"/>
                </a:lnTo>
                <a:lnTo>
                  <a:pt x="307634" y="12700"/>
                </a:lnTo>
                <a:lnTo>
                  <a:pt x="352748" y="12700"/>
                </a:lnTo>
                <a:lnTo>
                  <a:pt x="355592" y="9856"/>
                </a:lnTo>
                <a:lnTo>
                  <a:pt x="355592" y="2842"/>
                </a:lnTo>
                <a:lnTo>
                  <a:pt x="352748" y="0"/>
                </a:lnTo>
                <a:close/>
              </a:path>
              <a:path w="2997200" h="3143250">
                <a:moveTo>
                  <a:pt x="441648" y="0"/>
                </a:moveTo>
                <a:lnTo>
                  <a:pt x="396534" y="0"/>
                </a:lnTo>
                <a:lnTo>
                  <a:pt x="393692" y="2842"/>
                </a:lnTo>
                <a:lnTo>
                  <a:pt x="393692" y="9856"/>
                </a:lnTo>
                <a:lnTo>
                  <a:pt x="396534" y="12700"/>
                </a:lnTo>
                <a:lnTo>
                  <a:pt x="441648" y="12700"/>
                </a:lnTo>
                <a:lnTo>
                  <a:pt x="444492" y="9856"/>
                </a:lnTo>
                <a:lnTo>
                  <a:pt x="444492" y="2842"/>
                </a:lnTo>
                <a:lnTo>
                  <a:pt x="441648" y="0"/>
                </a:lnTo>
                <a:close/>
              </a:path>
              <a:path w="2997200" h="3143250">
                <a:moveTo>
                  <a:pt x="530548" y="0"/>
                </a:moveTo>
                <a:lnTo>
                  <a:pt x="485434" y="0"/>
                </a:lnTo>
                <a:lnTo>
                  <a:pt x="482592" y="2842"/>
                </a:lnTo>
                <a:lnTo>
                  <a:pt x="482592" y="9856"/>
                </a:lnTo>
                <a:lnTo>
                  <a:pt x="485434" y="12700"/>
                </a:lnTo>
                <a:lnTo>
                  <a:pt x="530548" y="12700"/>
                </a:lnTo>
                <a:lnTo>
                  <a:pt x="533392" y="9856"/>
                </a:lnTo>
                <a:lnTo>
                  <a:pt x="533392" y="2842"/>
                </a:lnTo>
                <a:lnTo>
                  <a:pt x="530548" y="0"/>
                </a:lnTo>
                <a:close/>
              </a:path>
              <a:path w="2997200" h="3143250">
                <a:moveTo>
                  <a:pt x="619448" y="0"/>
                </a:moveTo>
                <a:lnTo>
                  <a:pt x="574334" y="0"/>
                </a:lnTo>
                <a:lnTo>
                  <a:pt x="571492" y="2842"/>
                </a:lnTo>
                <a:lnTo>
                  <a:pt x="571492" y="9856"/>
                </a:lnTo>
                <a:lnTo>
                  <a:pt x="574334" y="12700"/>
                </a:lnTo>
                <a:lnTo>
                  <a:pt x="619448" y="12700"/>
                </a:lnTo>
                <a:lnTo>
                  <a:pt x="622292" y="9856"/>
                </a:lnTo>
                <a:lnTo>
                  <a:pt x="622292" y="2842"/>
                </a:lnTo>
                <a:lnTo>
                  <a:pt x="619448" y="0"/>
                </a:lnTo>
                <a:close/>
              </a:path>
              <a:path w="2997200" h="3143250">
                <a:moveTo>
                  <a:pt x="708348" y="0"/>
                </a:moveTo>
                <a:lnTo>
                  <a:pt x="663234" y="0"/>
                </a:lnTo>
                <a:lnTo>
                  <a:pt x="660392" y="2842"/>
                </a:lnTo>
                <a:lnTo>
                  <a:pt x="660392" y="9856"/>
                </a:lnTo>
                <a:lnTo>
                  <a:pt x="663234" y="12700"/>
                </a:lnTo>
                <a:lnTo>
                  <a:pt x="708348" y="12700"/>
                </a:lnTo>
                <a:lnTo>
                  <a:pt x="711192" y="9856"/>
                </a:lnTo>
                <a:lnTo>
                  <a:pt x="711192" y="2842"/>
                </a:lnTo>
                <a:lnTo>
                  <a:pt x="708348" y="0"/>
                </a:lnTo>
                <a:close/>
              </a:path>
              <a:path w="2997200" h="3143250">
                <a:moveTo>
                  <a:pt x="797248" y="0"/>
                </a:moveTo>
                <a:lnTo>
                  <a:pt x="752134" y="0"/>
                </a:lnTo>
                <a:lnTo>
                  <a:pt x="749292" y="2842"/>
                </a:lnTo>
                <a:lnTo>
                  <a:pt x="749292" y="9856"/>
                </a:lnTo>
                <a:lnTo>
                  <a:pt x="752134" y="12700"/>
                </a:lnTo>
                <a:lnTo>
                  <a:pt x="797248" y="12700"/>
                </a:lnTo>
                <a:lnTo>
                  <a:pt x="800092" y="9856"/>
                </a:lnTo>
                <a:lnTo>
                  <a:pt x="800092" y="2842"/>
                </a:lnTo>
                <a:lnTo>
                  <a:pt x="797248" y="0"/>
                </a:lnTo>
                <a:close/>
              </a:path>
              <a:path w="2997200" h="3143250">
                <a:moveTo>
                  <a:pt x="886148" y="0"/>
                </a:moveTo>
                <a:lnTo>
                  <a:pt x="841034" y="0"/>
                </a:lnTo>
                <a:lnTo>
                  <a:pt x="838192" y="2842"/>
                </a:lnTo>
                <a:lnTo>
                  <a:pt x="838192" y="9856"/>
                </a:lnTo>
                <a:lnTo>
                  <a:pt x="841034" y="12700"/>
                </a:lnTo>
                <a:lnTo>
                  <a:pt x="886148" y="12700"/>
                </a:lnTo>
                <a:lnTo>
                  <a:pt x="888992" y="9856"/>
                </a:lnTo>
                <a:lnTo>
                  <a:pt x="888992" y="2842"/>
                </a:lnTo>
                <a:lnTo>
                  <a:pt x="886148" y="0"/>
                </a:lnTo>
                <a:close/>
              </a:path>
              <a:path w="2997200" h="3143250">
                <a:moveTo>
                  <a:pt x="975048" y="0"/>
                </a:moveTo>
                <a:lnTo>
                  <a:pt x="929934" y="0"/>
                </a:lnTo>
                <a:lnTo>
                  <a:pt x="927092" y="2842"/>
                </a:lnTo>
                <a:lnTo>
                  <a:pt x="927092" y="9856"/>
                </a:lnTo>
                <a:lnTo>
                  <a:pt x="929934" y="12700"/>
                </a:lnTo>
                <a:lnTo>
                  <a:pt x="975048" y="12700"/>
                </a:lnTo>
                <a:lnTo>
                  <a:pt x="977892" y="9856"/>
                </a:lnTo>
                <a:lnTo>
                  <a:pt x="977892" y="2842"/>
                </a:lnTo>
                <a:lnTo>
                  <a:pt x="975048" y="0"/>
                </a:lnTo>
                <a:close/>
              </a:path>
              <a:path w="2997200" h="3143250">
                <a:moveTo>
                  <a:pt x="1063948" y="0"/>
                </a:moveTo>
                <a:lnTo>
                  <a:pt x="1018834" y="0"/>
                </a:lnTo>
                <a:lnTo>
                  <a:pt x="1015992" y="2842"/>
                </a:lnTo>
                <a:lnTo>
                  <a:pt x="1015992" y="9856"/>
                </a:lnTo>
                <a:lnTo>
                  <a:pt x="1018834" y="12700"/>
                </a:lnTo>
                <a:lnTo>
                  <a:pt x="1063948" y="12700"/>
                </a:lnTo>
                <a:lnTo>
                  <a:pt x="1066792" y="9856"/>
                </a:lnTo>
                <a:lnTo>
                  <a:pt x="1066792" y="2842"/>
                </a:lnTo>
                <a:lnTo>
                  <a:pt x="1063948" y="0"/>
                </a:lnTo>
                <a:close/>
              </a:path>
              <a:path w="2997200" h="3143250">
                <a:moveTo>
                  <a:pt x="1152848" y="0"/>
                </a:moveTo>
                <a:lnTo>
                  <a:pt x="1107734" y="0"/>
                </a:lnTo>
                <a:lnTo>
                  <a:pt x="1104892" y="2842"/>
                </a:lnTo>
                <a:lnTo>
                  <a:pt x="1104892" y="9856"/>
                </a:lnTo>
                <a:lnTo>
                  <a:pt x="1107734" y="12700"/>
                </a:lnTo>
                <a:lnTo>
                  <a:pt x="1152848" y="12700"/>
                </a:lnTo>
                <a:lnTo>
                  <a:pt x="1155692" y="9856"/>
                </a:lnTo>
                <a:lnTo>
                  <a:pt x="1155692" y="2842"/>
                </a:lnTo>
                <a:lnTo>
                  <a:pt x="1152848" y="0"/>
                </a:lnTo>
                <a:close/>
              </a:path>
              <a:path w="2997200" h="3143250">
                <a:moveTo>
                  <a:pt x="1241748" y="0"/>
                </a:moveTo>
                <a:lnTo>
                  <a:pt x="1196634" y="0"/>
                </a:lnTo>
                <a:lnTo>
                  <a:pt x="1193792" y="2842"/>
                </a:lnTo>
                <a:lnTo>
                  <a:pt x="1193792" y="9856"/>
                </a:lnTo>
                <a:lnTo>
                  <a:pt x="1196634" y="12700"/>
                </a:lnTo>
                <a:lnTo>
                  <a:pt x="1241748" y="12700"/>
                </a:lnTo>
                <a:lnTo>
                  <a:pt x="1244592" y="9856"/>
                </a:lnTo>
                <a:lnTo>
                  <a:pt x="1244592" y="2842"/>
                </a:lnTo>
                <a:lnTo>
                  <a:pt x="1241748" y="0"/>
                </a:lnTo>
                <a:close/>
              </a:path>
              <a:path w="2997200" h="3143250">
                <a:moveTo>
                  <a:pt x="1330648" y="0"/>
                </a:moveTo>
                <a:lnTo>
                  <a:pt x="1285534" y="0"/>
                </a:lnTo>
                <a:lnTo>
                  <a:pt x="1282692" y="2842"/>
                </a:lnTo>
                <a:lnTo>
                  <a:pt x="1282692" y="9856"/>
                </a:lnTo>
                <a:lnTo>
                  <a:pt x="1285534" y="12700"/>
                </a:lnTo>
                <a:lnTo>
                  <a:pt x="1330648" y="12700"/>
                </a:lnTo>
                <a:lnTo>
                  <a:pt x="1333492" y="9856"/>
                </a:lnTo>
                <a:lnTo>
                  <a:pt x="1333492" y="2842"/>
                </a:lnTo>
                <a:lnTo>
                  <a:pt x="1330648" y="0"/>
                </a:lnTo>
                <a:close/>
              </a:path>
              <a:path w="2997200" h="3143250">
                <a:moveTo>
                  <a:pt x="1419548" y="0"/>
                </a:moveTo>
                <a:lnTo>
                  <a:pt x="1374434" y="0"/>
                </a:lnTo>
                <a:lnTo>
                  <a:pt x="1371592" y="2842"/>
                </a:lnTo>
                <a:lnTo>
                  <a:pt x="1371592" y="9856"/>
                </a:lnTo>
                <a:lnTo>
                  <a:pt x="1374434" y="12700"/>
                </a:lnTo>
                <a:lnTo>
                  <a:pt x="1419548" y="12700"/>
                </a:lnTo>
                <a:lnTo>
                  <a:pt x="1422392" y="9856"/>
                </a:lnTo>
                <a:lnTo>
                  <a:pt x="1422392" y="2842"/>
                </a:lnTo>
                <a:lnTo>
                  <a:pt x="1419548" y="0"/>
                </a:lnTo>
                <a:close/>
              </a:path>
              <a:path w="2997200" h="3143250">
                <a:moveTo>
                  <a:pt x="1476307" y="6350"/>
                </a:moveTo>
                <a:lnTo>
                  <a:pt x="1476307" y="32141"/>
                </a:lnTo>
                <a:lnTo>
                  <a:pt x="1479149" y="34984"/>
                </a:lnTo>
                <a:lnTo>
                  <a:pt x="1486164" y="34984"/>
                </a:lnTo>
                <a:lnTo>
                  <a:pt x="1489007" y="32141"/>
                </a:lnTo>
                <a:lnTo>
                  <a:pt x="1489007" y="12700"/>
                </a:lnTo>
                <a:lnTo>
                  <a:pt x="1482657" y="12700"/>
                </a:lnTo>
                <a:lnTo>
                  <a:pt x="1476307" y="6350"/>
                </a:lnTo>
                <a:close/>
              </a:path>
              <a:path w="2997200" h="3143250">
                <a:moveTo>
                  <a:pt x="1486164" y="0"/>
                </a:moveTo>
                <a:lnTo>
                  <a:pt x="1463334" y="0"/>
                </a:lnTo>
                <a:lnTo>
                  <a:pt x="1460492" y="2842"/>
                </a:lnTo>
                <a:lnTo>
                  <a:pt x="1460492" y="9856"/>
                </a:lnTo>
                <a:lnTo>
                  <a:pt x="1463334" y="12700"/>
                </a:lnTo>
                <a:lnTo>
                  <a:pt x="1476307" y="12700"/>
                </a:lnTo>
                <a:lnTo>
                  <a:pt x="1476307" y="6350"/>
                </a:lnTo>
                <a:lnTo>
                  <a:pt x="1489007" y="6350"/>
                </a:lnTo>
                <a:lnTo>
                  <a:pt x="1489007" y="2842"/>
                </a:lnTo>
                <a:lnTo>
                  <a:pt x="1486164" y="0"/>
                </a:lnTo>
                <a:close/>
              </a:path>
              <a:path w="2997200" h="3143250">
                <a:moveTo>
                  <a:pt x="1489007" y="6350"/>
                </a:moveTo>
                <a:lnTo>
                  <a:pt x="1476307" y="6350"/>
                </a:lnTo>
                <a:lnTo>
                  <a:pt x="1482657" y="12700"/>
                </a:lnTo>
                <a:lnTo>
                  <a:pt x="1489007" y="12700"/>
                </a:lnTo>
                <a:lnTo>
                  <a:pt x="1489007" y="6350"/>
                </a:lnTo>
                <a:close/>
              </a:path>
              <a:path w="2997200" h="3143250">
                <a:moveTo>
                  <a:pt x="1486164" y="73084"/>
                </a:moveTo>
                <a:lnTo>
                  <a:pt x="1479149" y="73084"/>
                </a:lnTo>
                <a:lnTo>
                  <a:pt x="1476307" y="75926"/>
                </a:lnTo>
                <a:lnTo>
                  <a:pt x="1476307" y="121041"/>
                </a:lnTo>
                <a:lnTo>
                  <a:pt x="1479149" y="123884"/>
                </a:lnTo>
                <a:lnTo>
                  <a:pt x="1486164" y="123884"/>
                </a:lnTo>
                <a:lnTo>
                  <a:pt x="1489007" y="121041"/>
                </a:lnTo>
                <a:lnTo>
                  <a:pt x="1489007" y="75926"/>
                </a:lnTo>
                <a:lnTo>
                  <a:pt x="1486164" y="73084"/>
                </a:lnTo>
                <a:close/>
              </a:path>
              <a:path w="2997200" h="3143250">
                <a:moveTo>
                  <a:pt x="1486164" y="161984"/>
                </a:moveTo>
                <a:lnTo>
                  <a:pt x="1479149" y="161984"/>
                </a:lnTo>
                <a:lnTo>
                  <a:pt x="1476307" y="164826"/>
                </a:lnTo>
                <a:lnTo>
                  <a:pt x="1476307" y="209941"/>
                </a:lnTo>
                <a:lnTo>
                  <a:pt x="1479149" y="212784"/>
                </a:lnTo>
                <a:lnTo>
                  <a:pt x="1486164" y="212784"/>
                </a:lnTo>
                <a:lnTo>
                  <a:pt x="1489007" y="209941"/>
                </a:lnTo>
                <a:lnTo>
                  <a:pt x="1489007" y="164826"/>
                </a:lnTo>
                <a:lnTo>
                  <a:pt x="1486164" y="161984"/>
                </a:lnTo>
                <a:close/>
              </a:path>
              <a:path w="2997200" h="3143250">
                <a:moveTo>
                  <a:pt x="1486164" y="250884"/>
                </a:moveTo>
                <a:lnTo>
                  <a:pt x="1479149" y="250884"/>
                </a:lnTo>
                <a:lnTo>
                  <a:pt x="1476307" y="253726"/>
                </a:lnTo>
                <a:lnTo>
                  <a:pt x="1476307" y="298841"/>
                </a:lnTo>
                <a:lnTo>
                  <a:pt x="1479149" y="301684"/>
                </a:lnTo>
                <a:lnTo>
                  <a:pt x="1486164" y="301684"/>
                </a:lnTo>
                <a:lnTo>
                  <a:pt x="1489007" y="298841"/>
                </a:lnTo>
                <a:lnTo>
                  <a:pt x="1489007" y="253726"/>
                </a:lnTo>
                <a:lnTo>
                  <a:pt x="1486164" y="250884"/>
                </a:lnTo>
                <a:close/>
              </a:path>
              <a:path w="2997200" h="3143250">
                <a:moveTo>
                  <a:pt x="1486164" y="339784"/>
                </a:moveTo>
                <a:lnTo>
                  <a:pt x="1479149" y="339784"/>
                </a:lnTo>
                <a:lnTo>
                  <a:pt x="1476307" y="342626"/>
                </a:lnTo>
                <a:lnTo>
                  <a:pt x="1476307" y="387741"/>
                </a:lnTo>
                <a:lnTo>
                  <a:pt x="1479149" y="390584"/>
                </a:lnTo>
                <a:lnTo>
                  <a:pt x="1486164" y="390584"/>
                </a:lnTo>
                <a:lnTo>
                  <a:pt x="1489007" y="387741"/>
                </a:lnTo>
                <a:lnTo>
                  <a:pt x="1489007" y="342626"/>
                </a:lnTo>
                <a:lnTo>
                  <a:pt x="1486164" y="339784"/>
                </a:lnTo>
                <a:close/>
              </a:path>
              <a:path w="2997200" h="3143250">
                <a:moveTo>
                  <a:pt x="1486164" y="428684"/>
                </a:moveTo>
                <a:lnTo>
                  <a:pt x="1479149" y="428684"/>
                </a:lnTo>
                <a:lnTo>
                  <a:pt x="1476307" y="431526"/>
                </a:lnTo>
                <a:lnTo>
                  <a:pt x="1476307" y="476641"/>
                </a:lnTo>
                <a:lnTo>
                  <a:pt x="1479149" y="479484"/>
                </a:lnTo>
                <a:lnTo>
                  <a:pt x="1486164" y="479484"/>
                </a:lnTo>
                <a:lnTo>
                  <a:pt x="1489007" y="476641"/>
                </a:lnTo>
                <a:lnTo>
                  <a:pt x="1489007" y="431526"/>
                </a:lnTo>
                <a:lnTo>
                  <a:pt x="1486164" y="428684"/>
                </a:lnTo>
                <a:close/>
              </a:path>
              <a:path w="2997200" h="3143250">
                <a:moveTo>
                  <a:pt x="1486164" y="517584"/>
                </a:moveTo>
                <a:lnTo>
                  <a:pt x="1479149" y="517584"/>
                </a:lnTo>
                <a:lnTo>
                  <a:pt x="1476307" y="520426"/>
                </a:lnTo>
                <a:lnTo>
                  <a:pt x="1476307" y="565541"/>
                </a:lnTo>
                <a:lnTo>
                  <a:pt x="1479149" y="568384"/>
                </a:lnTo>
                <a:lnTo>
                  <a:pt x="1486164" y="568384"/>
                </a:lnTo>
                <a:lnTo>
                  <a:pt x="1489007" y="565541"/>
                </a:lnTo>
                <a:lnTo>
                  <a:pt x="1489007" y="520426"/>
                </a:lnTo>
                <a:lnTo>
                  <a:pt x="1486164" y="517584"/>
                </a:lnTo>
                <a:close/>
              </a:path>
              <a:path w="2997200" h="3143250">
                <a:moveTo>
                  <a:pt x="1486164" y="606484"/>
                </a:moveTo>
                <a:lnTo>
                  <a:pt x="1479149" y="606484"/>
                </a:lnTo>
                <a:lnTo>
                  <a:pt x="1476307" y="609326"/>
                </a:lnTo>
                <a:lnTo>
                  <a:pt x="1476307" y="654441"/>
                </a:lnTo>
                <a:lnTo>
                  <a:pt x="1479149" y="657284"/>
                </a:lnTo>
                <a:lnTo>
                  <a:pt x="1486164" y="657284"/>
                </a:lnTo>
                <a:lnTo>
                  <a:pt x="1489007" y="654441"/>
                </a:lnTo>
                <a:lnTo>
                  <a:pt x="1489007" y="609326"/>
                </a:lnTo>
                <a:lnTo>
                  <a:pt x="1486164" y="606484"/>
                </a:lnTo>
                <a:close/>
              </a:path>
              <a:path w="2997200" h="3143250">
                <a:moveTo>
                  <a:pt x="1486164" y="695384"/>
                </a:moveTo>
                <a:lnTo>
                  <a:pt x="1479149" y="695384"/>
                </a:lnTo>
                <a:lnTo>
                  <a:pt x="1476307" y="698226"/>
                </a:lnTo>
                <a:lnTo>
                  <a:pt x="1476307" y="743341"/>
                </a:lnTo>
                <a:lnTo>
                  <a:pt x="1479149" y="746184"/>
                </a:lnTo>
                <a:lnTo>
                  <a:pt x="1486164" y="746184"/>
                </a:lnTo>
                <a:lnTo>
                  <a:pt x="1489007" y="743341"/>
                </a:lnTo>
                <a:lnTo>
                  <a:pt x="1489007" y="698226"/>
                </a:lnTo>
                <a:lnTo>
                  <a:pt x="1486164" y="695384"/>
                </a:lnTo>
                <a:close/>
              </a:path>
              <a:path w="2997200" h="3143250">
                <a:moveTo>
                  <a:pt x="1486164" y="784284"/>
                </a:moveTo>
                <a:lnTo>
                  <a:pt x="1479149" y="784284"/>
                </a:lnTo>
                <a:lnTo>
                  <a:pt x="1476307" y="787126"/>
                </a:lnTo>
                <a:lnTo>
                  <a:pt x="1476307" y="832241"/>
                </a:lnTo>
                <a:lnTo>
                  <a:pt x="1479149" y="835084"/>
                </a:lnTo>
                <a:lnTo>
                  <a:pt x="1486164" y="835084"/>
                </a:lnTo>
                <a:lnTo>
                  <a:pt x="1489007" y="832241"/>
                </a:lnTo>
                <a:lnTo>
                  <a:pt x="1489007" y="787126"/>
                </a:lnTo>
                <a:lnTo>
                  <a:pt x="1486164" y="784284"/>
                </a:lnTo>
                <a:close/>
              </a:path>
              <a:path w="2997200" h="3143250">
                <a:moveTo>
                  <a:pt x="1486164" y="873184"/>
                </a:moveTo>
                <a:lnTo>
                  <a:pt x="1479149" y="873184"/>
                </a:lnTo>
                <a:lnTo>
                  <a:pt x="1476307" y="876026"/>
                </a:lnTo>
                <a:lnTo>
                  <a:pt x="1476307" y="921141"/>
                </a:lnTo>
                <a:lnTo>
                  <a:pt x="1479149" y="923984"/>
                </a:lnTo>
                <a:lnTo>
                  <a:pt x="1486164" y="923984"/>
                </a:lnTo>
                <a:lnTo>
                  <a:pt x="1489007" y="921141"/>
                </a:lnTo>
                <a:lnTo>
                  <a:pt x="1489007" y="876026"/>
                </a:lnTo>
                <a:lnTo>
                  <a:pt x="1486164" y="873184"/>
                </a:lnTo>
                <a:close/>
              </a:path>
              <a:path w="2997200" h="3143250">
                <a:moveTo>
                  <a:pt x="1486164" y="962084"/>
                </a:moveTo>
                <a:lnTo>
                  <a:pt x="1479149" y="962084"/>
                </a:lnTo>
                <a:lnTo>
                  <a:pt x="1476307" y="964926"/>
                </a:lnTo>
                <a:lnTo>
                  <a:pt x="1476307" y="1010041"/>
                </a:lnTo>
                <a:lnTo>
                  <a:pt x="1479149" y="1012884"/>
                </a:lnTo>
                <a:lnTo>
                  <a:pt x="1486164" y="1012884"/>
                </a:lnTo>
                <a:lnTo>
                  <a:pt x="1489007" y="1010041"/>
                </a:lnTo>
                <a:lnTo>
                  <a:pt x="1489007" y="964926"/>
                </a:lnTo>
                <a:lnTo>
                  <a:pt x="1486164" y="962084"/>
                </a:lnTo>
                <a:close/>
              </a:path>
              <a:path w="2997200" h="3143250">
                <a:moveTo>
                  <a:pt x="1486164" y="1050984"/>
                </a:moveTo>
                <a:lnTo>
                  <a:pt x="1479149" y="1050984"/>
                </a:lnTo>
                <a:lnTo>
                  <a:pt x="1476307" y="1053826"/>
                </a:lnTo>
                <a:lnTo>
                  <a:pt x="1476307" y="1098941"/>
                </a:lnTo>
                <a:lnTo>
                  <a:pt x="1479149" y="1101784"/>
                </a:lnTo>
                <a:lnTo>
                  <a:pt x="1486164" y="1101784"/>
                </a:lnTo>
                <a:lnTo>
                  <a:pt x="1489007" y="1098941"/>
                </a:lnTo>
                <a:lnTo>
                  <a:pt x="1489007" y="1053826"/>
                </a:lnTo>
                <a:lnTo>
                  <a:pt x="1486164" y="1050984"/>
                </a:lnTo>
                <a:close/>
              </a:path>
              <a:path w="2997200" h="3143250">
                <a:moveTo>
                  <a:pt x="1486164" y="1139884"/>
                </a:moveTo>
                <a:lnTo>
                  <a:pt x="1479149" y="1139884"/>
                </a:lnTo>
                <a:lnTo>
                  <a:pt x="1476307" y="1142726"/>
                </a:lnTo>
                <a:lnTo>
                  <a:pt x="1476307" y="1187841"/>
                </a:lnTo>
                <a:lnTo>
                  <a:pt x="1479149" y="1190684"/>
                </a:lnTo>
                <a:lnTo>
                  <a:pt x="1486164" y="1190684"/>
                </a:lnTo>
                <a:lnTo>
                  <a:pt x="1489007" y="1187841"/>
                </a:lnTo>
                <a:lnTo>
                  <a:pt x="1489007" y="1142726"/>
                </a:lnTo>
                <a:lnTo>
                  <a:pt x="1486164" y="1139884"/>
                </a:lnTo>
                <a:close/>
              </a:path>
              <a:path w="2997200" h="3143250">
                <a:moveTo>
                  <a:pt x="1486164" y="1228784"/>
                </a:moveTo>
                <a:lnTo>
                  <a:pt x="1479149" y="1228784"/>
                </a:lnTo>
                <a:lnTo>
                  <a:pt x="1476307" y="1231626"/>
                </a:lnTo>
                <a:lnTo>
                  <a:pt x="1476307" y="1276741"/>
                </a:lnTo>
                <a:lnTo>
                  <a:pt x="1479149" y="1279584"/>
                </a:lnTo>
                <a:lnTo>
                  <a:pt x="1486164" y="1279584"/>
                </a:lnTo>
                <a:lnTo>
                  <a:pt x="1489007" y="1276741"/>
                </a:lnTo>
                <a:lnTo>
                  <a:pt x="1489007" y="1231626"/>
                </a:lnTo>
                <a:lnTo>
                  <a:pt x="1486164" y="1228784"/>
                </a:lnTo>
                <a:close/>
              </a:path>
              <a:path w="2997200" h="3143250">
                <a:moveTo>
                  <a:pt x="1486164" y="1317684"/>
                </a:moveTo>
                <a:lnTo>
                  <a:pt x="1479149" y="1317684"/>
                </a:lnTo>
                <a:lnTo>
                  <a:pt x="1476307" y="1320526"/>
                </a:lnTo>
                <a:lnTo>
                  <a:pt x="1476307" y="1365641"/>
                </a:lnTo>
                <a:lnTo>
                  <a:pt x="1479149" y="1368484"/>
                </a:lnTo>
                <a:lnTo>
                  <a:pt x="1486164" y="1368484"/>
                </a:lnTo>
                <a:lnTo>
                  <a:pt x="1489007" y="1365641"/>
                </a:lnTo>
                <a:lnTo>
                  <a:pt x="1489007" y="1320526"/>
                </a:lnTo>
                <a:lnTo>
                  <a:pt x="1486164" y="1317684"/>
                </a:lnTo>
                <a:close/>
              </a:path>
              <a:path w="2997200" h="3143250">
                <a:moveTo>
                  <a:pt x="1486164" y="1406584"/>
                </a:moveTo>
                <a:lnTo>
                  <a:pt x="1479149" y="1406584"/>
                </a:lnTo>
                <a:lnTo>
                  <a:pt x="1476307" y="1409426"/>
                </a:lnTo>
                <a:lnTo>
                  <a:pt x="1476307" y="1454541"/>
                </a:lnTo>
                <a:lnTo>
                  <a:pt x="1479149" y="1457384"/>
                </a:lnTo>
                <a:lnTo>
                  <a:pt x="1486164" y="1457384"/>
                </a:lnTo>
                <a:lnTo>
                  <a:pt x="1489007" y="1454541"/>
                </a:lnTo>
                <a:lnTo>
                  <a:pt x="1489007" y="1409426"/>
                </a:lnTo>
                <a:lnTo>
                  <a:pt x="1486164" y="1406584"/>
                </a:lnTo>
                <a:close/>
              </a:path>
              <a:path w="2997200" h="3143250">
                <a:moveTo>
                  <a:pt x="1486164" y="1495484"/>
                </a:moveTo>
                <a:lnTo>
                  <a:pt x="1479149" y="1495484"/>
                </a:lnTo>
                <a:lnTo>
                  <a:pt x="1476307" y="1498326"/>
                </a:lnTo>
                <a:lnTo>
                  <a:pt x="1476307" y="1543441"/>
                </a:lnTo>
                <a:lnTo>
                  <a:pt x="1479149" y="1546284"/>
                </a:lnTo>
                <a:lnTo>
                  <a:pt x="1486164" y="1546284"/>
                </a:lnTo>
                <a:lnTo>
                  <a:pt x="1489007" y="1543441"/>
                </a:lnTo>
                <a:lnTo>
                  <a:pt x="1489007" y="1498326"/>
                </a:lnTo>
                <a:lnTo>
                  <a:pt x="1486164" y="1495484"/>
                </a:lnTo>
                <a:close/>
              </a:path>
              <a:path w="2997200" h="3143250">
                <a:moveTo>
                  <a:pt x="1486164" y="1584384"/>
                </a:moveTo>
                <a:lnTo>
                  <a:pt x="1479149" y="1584384"/>
                </a:lnTo>
                <a:lnTo>
                  <a:pt x="1476307" y="1587226"/>
                </a:lnTo>
                <a:lnTo>
                  <a:pt x="1476307" y="1632341"/>
                </a:lnTo>
                <a:lnTo>
                  <a:pt x="1479149" y="1635184"/>
                </a:lnTo>
                <a:lnTo>
                  <a:pt x="1486164" y="1635184"/>
                </a:lnTo>
                <a:lnTo>
                  <a:pt x="1489007" y="1632341"/>
                </a:lnTo>
                <a:lnTo>
                  <a:pt x="1489007" y="1587226"/>
                </a:lnTo>
                <a:lnTo>
                  <a:pt x="1486164" y="1584384"/>
                </a:lnTo>
                <a:close/>
              </a:path>
              <a:path w="2997200" h="3143250">
                <a:moveTo>
                  <a:pt x="1486164" y="1673284"/>
                </a:moveTo>
                <a:lnTo>
                  <a:pt x="1479149" y="1673284"/>
                </a:lnTo>
                <a:lnTo>
                  <a:pt x="1476307" y="1676126"/>
                </a:lnTo>
                <a:lnTo>
                  <a:pt x="1476307" y="1721241"/>
                </a:lnTo>
                <a:lnTo>
                  <a:pt x="1479149" y="1724084"/>
                </a:lnTo>
                <a:lnTo>
                  <a:pt x="1486164" y="1724084"/>
                </a:lnTo>
                <a:lnTo>
                  <a:pt x="1489007" y="1721241"/>
                </a:lnTo>
                <a:lnTo>
                  <a:pt x="1489007" y="1676126"/>
                </a:lnTo>
                <a:lnTo>
                  <a:pt x="1486164" y="1673284"/>
                </a:lnTo>
                <a:close/>
              </a:path>
              <a:path w="2997200" h="3143250">
                <a:moveTo>
                  <a:pt x="1486164" y="1762184"/>
                </a:moveTo>
                <a:lnTo>
                  <a:pt x="1479149" y="1762184"/>
                </a:lnTo>
                <a:lnTo>
                  <a:pt x="1476307" y="1765026"/>
                </a:lnTo>
                <a:lnTo>
                  <a:pt x="1476307" y="1810141"/>
                </a:lnTo>
                <a:lnTo>
                  <a:pt x="1479149" y="1812984"/>
                </a:lnTo>
                <a:lnTo>
                  <a:pt x="1486164" y="1812984"/>
                </a:lnTo>
                <a:lnTo>
                  <a:pt x="1489007" y="1810141"/>
                </a:lnTo>
                <a:lnTo>
                  <a:pt x="1489007" y="1765026"/>
                </a:lnTo>
                <a:lnTo>
                  <a:pt x="1486164" y="1762184"/>
                </a:lnTo>
                <a:close/>
              </a:path>
              <a:path w="2997200" h="3143250">
                <a:moveTo>
                  <a:pt x="1486164" y="1851084"/>
                </a:moveTo>
                <a:lnTo>
                  <a:pt x="1479149" y="1851084"/>
                </a:lnTo>
                <a:lnTo>
                  <a:pt x="1476307" y="1853926"/>
                </a:lnTo>
                <a:lnTo>
                  <a:pt x="1476307" y="1899041"/>
                </a:lnTo>
                <a:lnTo>
                  <a:pt x="1479149" y="1901884"/>
                </a:lnTo>
                <a:lnTo>
                  <a:pt x="1486164" y="1901884"/>
                </a:lnTo>
                <a:lnTo>
                  <a:pt x="1489007" y="1899041"/>
                </a:lnTo>
                <a:lnTo>
                  <a:pt x="1489007" y="1853926"/>
                </a:lnTo>
                <a:lnTo>
                  <a:pt x="1486164" y="1851084"/>
                </a:lnTo>
                <a:close/>
              </a:path>
              <a:path w="2997200" h="3143250">
                <a:moveTo>
                  <a:pt x="1486164" y="1939984"/>
                </a:moveTo>
                <a:lnTo>
                  <a:pt x="1479149" y="1939984"/>
                </a:lnTo>
                <a:lnTo>
                  <a:pt x="1476307" y="1942826"/>
                </a:lnTo>
                <a:lnTo>
                  <a:pt x="1476307" y="1987941"/>
                </a:lnTo>
                <a:lnTo>
                  <a:pt x="1479149" y="1990784"/>
                </a:lnTo>
                <a:lnTo>
                  <a:pt x="1486164" y="1990784"/>
                </a:lnTo>
                <a:lnTo>
                  <a:pt x="1489007" y="1987941"/>
                </a:lnTo>
                <a:lnTo>
                  <a:pt x="1489007" y="1942826"/>
                </a:lnTo>
                <a:lnTo>
                  <a:pt x="1486164" y="1939984"/>
                </a:lnTo>
                <a:close/>
              </a:path>
              <a:path w="2997200" h="3143250">
                <a:moveTo>
                  <a:pt x="1486164" y="2028884"/>
                </a:moveTo>
                <a:lnTo>
                  <a:pt x="1479149" y="2028884"/>
                </a:lnTo>
                <a:lnTo>
                  <a:pt x="1476307" y="2031726"/>
                </a:lnTo>
                <a:lnTo>
                  <a:pt x="1476307" y="2076841"/>
                </a:lnTo>
                <a:lnTo>
                  <a:pt x="1479149" y="2079684"/>
                </a:lnTo>
                <a:lnTo>
                  <a:pt x="1486164" y="2079684"/>
                </a:lnTo>
                <a:lnTo>
                  <a:pt x="1489007" y="2076841"/>
                </a:lnTo>
                <a:lnTo>
                  <a:pt x="1489007" y="2031726"/>
                </a:lnTo>
                <a:lnTo>
                  <a:pt x="1486164" y="2028884"/>
                </a:lnTo>
                <a:close/>
              </a:path>
              <a:path w="2997200" h="3143250">
                <a:moveTo>
                  <a:pt x="1486164" y="2117784"/>
                </a:moveTo>
                <a:lnTo>
                  <a:pt x="1479149" y="2117784"/>
                </a:lnTo>
                <a:lnTo>
                  <a:pt x="1476307" y="2120626"/>
                </a:lnTo>
                <a:lnTo>
                  <a:pt x="1476307" y="2165741"/>
                </a:lnTo>
                <a:lnTo>
                  <a:pt x="1479149" y="2168584"/>
                </a:lnTo>
                <a:lnTo>
                  <a:pt x="1486164" y="2168584"/>
                </a:lnTo>
                <a:lnTo>
                  <a:pt x="1489007" y="2165741"/>
                </a:lnTo>
                <a:lnTo>
                  <a:pt x="1489007" y="2120626"/>
                </a:lnTo>
                <a:lnTo>
                  <a:pt x="1486164" y="2117784"/>
                </a:lnTo>
                <a:close/>
              </a:path>
              <a:path w="2997200" h="3143250">
                <a:moveTo>
                  <a:pt x="1486164" y="2206684"/>
                </a:moveTo>
                <a:lnTo>
                  <a:pt x="1479149" y="2206684"/>
                </a:lnTo>
                <a:lnTo>
                  <a:pt x="1476307" y="2209526"/>
                </a:lnTo>
                <a:lnTo>
                  <a:pt x="1476307" y="2254641"/>
                </a:lnTo>
                <a:lnTo>
                  <a:pt x="1479149" y="2257484"/>
                </a:lnTo>
                <a:lnTo>
                  <a:pt x="1486164" y="2257484"/>
                </a:lnTo>
                <a:lnTo>
                  <a:pt x="1489007" y="2254641"/>
                </a:lnTo>
                <a:lnTo>
                  <a:pt x="1489007" y="2209526"/>
                </a:lnTo>
                <a:lnTo>
                  <a:pt x="1486164" y="2206684"/>
                </a:lnTo>
                <a:close/>
              </a:path>
              <a:path w="2997200" h="3143250">
                <a:moveTo>
                  <a:pt x="1486164" y="2295584"/>
                </a:moveTo>
                <a:lnTo>
                  <a:pt x="1479149" y="2295584"/>
                </a:lnTo>
                <a:lnTo>
                  <a:pt x="1476307" y="2298426"/>
                </a:lnTo>
                <a:lnTo>
                  <a:pt x="1476307" y="2343541"/>
                </a:lnTo>
                <a:lnTo>
                  <a:pt x="1479149" y="2346384"/>
                </a:lnTo>
                <a:lnTo>
                  <a:pt x="1486164" y="2346384"/>
                </a:lnTo>
                <a:lnTo>
                  <a:pt x="1489007" y="2343541"/>
                </a:lnTo>
                <a:lnTo>
                  <a:pt x="1489007" y="2298426"/>
                </a:lnTo>
                <a:lnTo>
                  <a:pt x="1486164" y="2295584"/>
                </a:lnTo>
                <a:close/>
              </a:path>
              <a:path w="2997200" h="3143250">
                <a:moveTo>
                  <a:pt x="1486164" y="2384484"/>
                </a:moveTo>
                <a:lnTo>
                  <a:pt x="1479149" y="2384484"/>
                </a:lnTo>
                <a:lnTo>
                  <a:pt x="1476307" y="2387326"/>
                </a:lnTo>
                <a:lnTo>
                  <a:pt x="1476307" y="2432441"/>
                </a:lnTo>
                <a:lnTo>
                  <a:pt x="1479149" y="2435284"/>
                </a:lnTo>
                <a:lnTo>
                  <a:pt x="1486164" y="2435284"/>
                </a:lnTo>
                <a:lnTo>
                  <a:pt x="1489007" y="2432441"/>
                </a:lnTo>
                <a:lnTo>
                  <a:pt x="1489007" y="2387326"/>
                </a:lnTo>
                <a:lnTo>
                  <a:pt x="1486164" y="2384484"/>
                </a:lnTo>
                <a:close/>
              </a:path>
              <a:path w="2997200" h="3143250">
                <a:moveTo>
                  <a:pt x="1486164" y="2473384"/>
                </a:moveTo>
                <a:lnTo>
                  <a:pt x="1479149" y="2473384"/>
                </a:lnTo>
                <a:lnTo>
                  <a:pt x="1476307" y="2476226"/>
                </a:lnTo>
                <a:lnTo>
                  <a:pt x="1476307" y="2521341"/>
                </a:lnTo>
                <a:lnTo>
                  <a:pt x="1479149" y="2524184"/>
                </a:lnTo>
                <a:lnTo>
                  <a:pt x="1486164" y="2524184"/>
                </a:lnTo>
                <a:lnTo>
                  <a:pt x="1489007" y="2521341"/>
                </a:lnTo>
                <a:lnTo>
                  <a:pt x="1489007" y="2476226"/>
                </a:lnTo>
                <a:lnTo>
                  <a:pt x="1486164" y="2473384"/>
                </a:lnTo>
                <a:close/>
              </a:path>
              <a:path w="2997200" h="3143250">
                <a:moveTo>
                  <a:pt x="1486164" y="2562284"/>
                </a:moveTo>
                <a:lnTo>
                  <a:pt x="1479149" y="2562284"/>
                </a:lnTo>
                <a:lnTo>
                  <a:pt x="1476307" y="2565126"/>
                </a:lnTo>
                <a:lnTo>
                  <a:pt x="1476307" y="2610241"/>
                </a:lnTo>
                <a:lnTo>
                  <a:pt x="1479149" y="2613084"/>
                </a:lnTo>
                <a:lnTo>
                  <a:pt x="1486164" y="2613084"/>
                </a:lnTo>
                <a:lnTo>
                  <a:pt x="1489007" y="2610241"/>
                </a:lnTo>
                <a:lnTo>
                  <a:pt x="1489007" y="2565126"/>
                </a:lnTo>
                <a:lnTo>
                  <a:pt x="1486164" y="2562284"/>
                </a:lnTo>
                <a:close/>
              </a:path>
              <a:path w="2997200" h="3143250">
                <a:moveTo>
                  <a:pt x="1486164" y="2651184"/>
                </a:moveTo>
                <a:lnTo>
                  <a:pt x="1479149" y="2651184"/>
                </a:lnTo>
                <a:lnTo>
                  <a:pt x="1476307" y="2654026"/>
                </a:lnTo>
                <a:lnTo>
                  <a:pt x="1476307" y="2699141"/>
                </a:lnTo>
                <a:lnTo>
                  <a:pt x="1479149" y="2701984"/>
                </a:lnTo>
                <a:lnTo>
                  <a:pt x="1486164" y="2701984"/>
                </a:lnTo>
                <a:lnTo>
                  <a:pt x="1489007" y="2699141"/>
                </a:lnTo>
                <a:lnTo>
                  <a:pt x="1489007" y="2654026"/>
                </a:lnTo>
                <a:lnTo>
                  <a:pt x="1486164" y="2651184"/>
                </a:lnTo>
                <a:close/>
              </a:path>
              <a:path w="2997200" h="3143250">
                <a:moveTo>
                  <a:pt x="1486164" y="2740084"/>
                </a:moveTo>
                <a:lnTo>
                  <a:pt x="1479149" y="2740084"/>
                </a:lnTo>
                <a:lnTo>
                  <a:pt x="1476307" y="2742926"/>
                </a:lnTo>
                <a:lnTo>
                  <a:pt x="1476307" y="2788041"/>
                </a:lnTo>
                <a:lnTo>
                  <a:pt x="1479149" y="2790884"/>
                </a:lnTo>
                <a:lnTo>
                  <a:pt x="1486164" y="2790884"/>
                </a:lnTo>
                <a:lnTo>
                  <a:pt x="1489007" y="2788041"/>
                </a:lnTo>
                <a:lnTo>
                  <a:pt x="1489007" y="2742926"/>
                </a:lnTo>
                <a:lnTo>
                  <a:pt x="1486164" y="2740084"/>
                </a:lnTo>
                <a:close/>
              </a:path>
              <a:path w="2997200" h="3143250">
                <a:moveTo>
                  <a:pt x="1486164" y="2828984"/>
                </a:moveTo>
                <a:lnTo>
                  <a:pt x="1479149" y="2828984"/>
                </a:lnTo>
                <a:lnTo>
                  <a:pt x="1476307" y="2831826"/>
                </a:lnTo>
                <a:lnTo>
                  <a:pt x="1476307" y="2876941"/>
                </a:lnTo>
                <a:lnTo>
                  <a:pt x="1479149" y="2879784"/>
                </a:lnTo>
                <a:lnTo>
                  <a:pt x="1486164" y="2879784"/>
                </a:lnTo>
                <a:lnTo>
                  <a:pt x="1489007" y="2876941"/>
                </a:lnTo>
                <a:lnTo>
                  <a:pt x="1489007" y="2831826"/>
                </a:lnTo>
                <a:lnTo>
                  <a:pt x="1486164" y="2828984"/>
                </a:lnTo>
                <a:close/>
              </a:path>
              <a:path w="2997200" h="3143250">
                <a:moveTo>
                  <a:pt x="1486164" y="2917884"/>
                </a:moveTo>
                <a:lnTo>
                  <a:pt x="1479149" y="2917884"/>
                </a:lnTo>
                <a:lnTo>
                  <a:pt x="1476307" y="2920726"/>
                </a:lnTo>
                <a:lnTo>
                  <a:pt x="1476307" y="2965841"/>
                </a:lnTo>
                <a:lnTo>
                  <a:pt x="1479149" y="2968684"/>
                </a:lnTo>
                <a:lnTo>
                  <a:pt x="1486164" y="2968684"/>
                </a:lnTo>
                <a:lnTo>
                  <a:pt x="1489007" y="2965841"/>
                </a:lnTo>
                <a:lnTo>
                  <a:pt x="1489007" y="2920726"/>
                </a:lnTo>
                <a:lnTo>
                  <a:pt x="1486164" y="2917884"/>
                </a:lnTo>
                <a:close/>
              </a:path>
              <a:path w="2997200" h="3143250">
                <a:moveTo>
                  <a:pt x="1486164" y="3006784"/>
                </a:moveTo>
                <a:lnTo>
                  <a:pt x="1479149" y="3006784"/>
                </a:lnTo>
                <a:lnTo>
                  <a:pt x="1476307" y="3009626"/>
                </a:lnTo>
                <a:lnTo>
                  <a:pt x="1476307" y="3054741"/>
                </a:lnTo>
                <a:lnTo>
                  <a:pt x="1479149" y="3057584"/>
                </a:lnTo>
                <a:lnTo>
                  <a:pt x="1486164" y="3057584"/>
                </a:lnTo>
                <a:lnTo>
                  <a:pt x="1489007" y="3054741"/>
                </a:lnTo>
                <a:lnTo>
                  <a:pt x="1489007" y="3009626"/>
                </a:lnTo>
                <a:lnTo>
                  <a:pt x="1486164" y="3006784"/>
                </a:lnTo>
                <a:close/>
              </a:path>
              <a:path w="2997200" h="3143250">
                <a:moveTo>
                  <a:pt x="1486164" y="3095684"/>
                </a:moveTo>
                <a:lnTo>
                  <a:pt x="1479149" y="3095684"/>
                </a:lnTo>
                <a:lnTo>
                  <a:pt x="1476307" y="3098526"/>
                </a:lnTo>
                <a:lnTo>
                  <a:pt x="1476307" y="3140242"/>
                </a:lnTo>
                <a:lnTo>
                  <a:pt x="1479149" y="3143085"/>
                </a:lnTo>
                <a:lnTo>
                  <a:pt x="1489562" y="3143085"/>
                </a:lnTo>
                <a:lnTo>
                  <a:pt x="1492406" y="3140242"/>
                </a:lnTo>
                <a:lnTo>
                  <a:pt x="1492406" y="3136735"/>
                </a:lnTo>
                <a:lnTo>
                  <a:pt x="1489007" y="3136735"/>
                </a:lnTo>
                <a:lnTo>
                  <a:pt x="1482657" y="3130385"/>
                </a:lnTo>
                <a:lnTo>
                  <a:pt x="1489007" y="3130385"/>
                </a:lnTo>
                <a:lnTo>
                  <a:pt x="1489007" y="3098526"/>
                </a:lnTo>
                <a:lnTo>
                  <a:pt x="1486164" y="3095684"/>
                </a:lnTo>
                <a:close/>
              </a:path>
              <a:path w="2997200" h="3143250">
                <a:moveTo>
                  <a:pt x="1489007" y="3130385"/>
                </a:moveTo>
                <a:lnTo>
                  <a:pt x="1482657" y="3130385"/>
                </a:lnTo>
                <a:lnTo>
                  <a:pt x="1489007" y="3136735"/>
                </a:lnTo>
                <a:lnTo>
                  <a:pt x="1489007" y="3130385"/>
                </a:lnTo>
                <a:close/>
              </a:path>
              <a:path w="2997200" h="3143250">
                <a:moveTo>
                  <a:pt x="1489562" y="3130385"/>
                </a:moveTo>
                <a:lnTo>
                  <a:pt x="1489007" y="3130385"/>
                </a:lnTo>
                <a:lnTo>
                  <a:pt x="1489007" y="3136735"/>
                </a:lnTo>
                <a:lnTo>
                  <a:pt x="1492406" y="3136735"/>
                </a:lnTo>
                <a:lnTo>
                  <a:pt x="1492406" y="3133228"/>
                </a:lnTo>
                <a:lnTo>
                  <a:pt x="1489562" y="3130385"/>
                </a:lnTo>
                <a:close/>
              </a:path>
              <a:path w="2997200" h="3143250">
                <a:moveTo>
                  <a:pt x="1578462" y="3130385"/>
                </a:moveTo>
                <a:lnTo>
                  <a:pt x="1533348" y="3130385"/>
                </a:lnTo>
                <a:lnTo>
                  <a:pt x="1530506" y="3133228"/>
                </a:lnTo>
                <a:lnTo>
                  <a:pt x="1530506" y="3140242"/>
                </a:lnTo>
                <a:lnTo>
                  <a:pt x="1533348" y="3143085"/>
                </a:lnTo>
                <a:lnTo>
                  <a:pt x="1578462" y="3143085"/>
                </a:lnTo>
                <a:lnTo>
                  <a:pt x="1581306" y="3140242"/>
                </a:lnTo>
                <a:lnTo>
                  <a:pt x="1581306" y="3133228"/>
                </a:lnTo>
                <a:lnTo>
                  <a:pt x="1578462" y="3130385"/>
                </a:lnTo>
                <a:close/>
              </a:path>
              <a:path w="2997200" h="3143250">
                <a:moveTo>
                  <a:pt x="1667362" y="3130385"/>
                </a:moveTo>
                <a:lnTo>
                  <a:pt x="1622248" y="3130385"/>
                </a:lnTo>
                <a:lnTo>
                  <a:pt x="1619406" y="3133228"/>
                </a:lnTo>
                <a:lnTo>
                  <a:pt x="1619406" y="3140242"/>
                </a:lnTo>
                <a:lnTo>
                  <a:pt x="1622248" y="3143085"/>
                </a:lnTo>
                <a:lnTo>
                  <a:pt x="1667362" y="3143085"/>
                </a:lnTo>
                <a:lnTo>
                  <a:pt x="1670206" y="3140242"/>
                </a:lnTo>
                <a:lnTo>
                  <a:pt x="1670206" y="3133228"/>
                </a:lnTo>
                <a:lnTo>
                  <a:pt x="1667362" y="3130385"/>
                </a:lnTo>
                <a:close/>
              </a:path>
              <a:path w="2997200" h="3143250">
                <a:moveTo>
                  <a:pt x="1756262" y="3130385"/>
                </a:moveTo>
                <a:lnTo>
                  <a:pt x="1711148" y="3130385"/>
                </a:lnTo>
                <a:lnTo>
                  <a:pt x="1708306" y="3133228"/>
                </a:lnTo>
                <a:lnTo>
                  <a:pt x="1708306" y="3140242"/>
                </a:lnTo>
                <a:lnTo>
                  <a:pt x="1711148" y="3143085"/>
                </a:lnTo>
                <a:lnTo>
                  <a:pt x="1756262" y="3143085"/>
                </a:lnTo>
                <a:lnTo>
                  <a:pt x="1759106" y="3140242"/>
                </a:lnTo>
                <a:lnTo>
                  <a:pt x="1759106" y="3133228"/>
                </a:lnTo>
                <a:lnTo>
                  <a:pt x="1756262" y="3130385"/>
                </a:lnTo>
                <a:close/>
              </a:path>
              <a:path w="2997200" h="3143250">
                <a:moveTo>
                  <a:pt x="1845162" y="3130385"/>
                </a:moveTo>
                <a:lnTo>
                  <a:pt x="1800048" y="3130385"/>
                </a:lnTo>
                <a:lnTo>
                  <a:pt x="1797206" y="3133228"/>
                </a:lnTo>
                <a:lnTo>
                  <a:pt x="1797206" y="3140242"/>
                </a:lnTo>
                <a:lnTo>
                  <a:pt x="1800048" y="3143085"/>
                </a:lnTo>
                <a:lnTo>
                  <a:pt x="1845162" y="3143085"/>
                </a:lnTo>
                <a:lnTo>
                  <a:pt x="1848006" y="3140242"/>
                </a:lnTo>
                <a:lnTo>
                  <a:pt x="1848006" y="3133228"/>
                </a:lnTo>
                <a:lnTo>
                  <a:pt x="1845162" y="3130385"/>
                </a:lnTo>
                <a:close/>
              </a:path>
              <a:path w="2997200" h="3143250">
                <a:moveTo>
                  <a:pt x="1934062" y="3130385"/>
                </a:moveTo>
                <a:lnTo>
                  <a:pt x="1888948" y="3130385"/>
                </a:lnTo>
                <a:lnTo>
                  <a:pt x="1886106" y="3133228"/>
                </a:lnTo>
                <a:lnTo>
                  <a:pt x="1886106" y="3140242"/>
                </a:lnTo>
                <a:lnTo>
                  <a:pt x="1888948" y="3143085"/>
                </a:lnTo>
                <a:lnTo>
                  <a:pt x="1934062" y="3143085"/>
                </a:lnTo>
                <a:lnTo>
                  <a:pt x="1936906" y="3140242"/>
                </a:lnTo>
                <a:lnTo>
                  <a:pt x="1936906" y="3133228"/>
                </a:lnTo>
                <a:lnTo>
                  <a:pt x="1934062" y="3130385"/>
                </a:lnTo>
                <a:close/>
              </a:path>
              <a:path w="2997200" h="3143250">
                <a:moveTo>
                  <a:pt x="2022962" y="3130385"/>
                </a:moveTo>
                <a:lnTo>
                  <a:pt x="1977848" y="3130385"/>
                </a:lnTo>
                <a:lnTo>
                  <a:pt x="1975006" y="3133228"/>
                </a:lnTo>
                <a:lnTo>
                  <a:pt x="1975006" y="3140242"/>
                </a:lnTo>
                <a:lnTo>
                  <a:pt x="1977848" y="3143085"/>
                </a:lnTo>
                <a:lnTo>
                  <a:pt x="2022962" y="3143085"/>
                </a:lnTo>
                <a:lnTo>
                  <a:pt x="2025806" y="3140242"/>
                </a:lnTo>
                <a:lnTo>
                  <a:pt x="2025806" y="3133228"/>
                </a:lnTo>
                <a:lnTo>
                  <a:pt x="2022962" y="3130385"/>
                </a:lnTo>
                <a:close/>
              </a:path>
              <a:path w="2997200" h="3143250">
                <a:moveTo>
                  <a:pt x="2111862" y="3130385"/>
                </a:moveTo>
                <a:lnTo>
                  <a:pt x="2066748" y="3130385"/>
                </a:lnTo>
                <a:lnTo>
                  <a:pt x="2063906" y="3133228"/>
                </a:lnTo>
                <a:lnTo>
                  <a:pt x="2063906" y="3140242"/>
                </a:lnTo>
                <a:lnTo>
                  <a:pt x="2066748" y="3143085"/>
                </a:lnTo>
                <a:lnTo>
                  <a:pt x="2111862" y="3143085"/>
                </a:lnTo>
                <a:lnTo>
                  <a:pt x="2114706" y="3140242"/>
                </a:lnTo>
                <a:lnTo>
                  <a:pt x="2114706" y="3133228"/>
                </a:lnTo>
                <a:lnTo>
                  <a:pt x="2111862" y="3130385"/>
                </a:lnTo>
                <a:close/>
              </a:path>
              <a:path w="2997200" h="3143250">
                <a:moveTo>
                  <a:pt x="2200762" y="3130385"/>
                </a:moveTo>
                <a:lnTo>
                  <a:pt x="2155648" y="3130385"/>
                </a:lnTo>
                <a:lnTo>
                  <a:pt x="2152806" y="3133228"/>
                </a:lnTo>
                <a:lnTo>
                  <a:pt x="2152806" y="3140242"/>
                </a:lnTo>
                <a:lnTo>
                  <a:pt x="2155648" y="3143085"/>
                </a:lnTo>
                <a:lnTo>
                  <a:pt x="2200762" y="3143085"/>
                </a:lnTo>
                <a:lnTo>
                  <a:pt x="2203606" y="3140242"/>
                </a:lnTo>
                <a:lnTo>
                  <a:pt x="2203606" y="3133228"/>
                </a:lnTo>
                <a:lnTo>
                  <a:pt x="2200762" y="3130385"/>
                </a:lnTo>
                <a:close/>
              </a:path>
              <a:path w="2997200" h="3143250">
                <a:moveTo>
                  <a:pt x="2289662" y="3130385"/>
                </a:moveTo>
                <a:lnTo>
                  <a:pt x="2244548" y="3130385"/>
                </a:lnTo>
                <a:lnTo>
                  <a:pt x="2241706" y="3133228"/>
                </a:lnTo>
                <a:lnTo>
                  <a:pt x="2241706" y="3140242"/>
                </a:lnTo>
                <a:lnTo>
                  <a:pt x="2244548" y="3143085"/>
                </a:lnTo>
                <a:lnTo>
                  <a:pt x="2289662" y="3143085"/>
                </a:lnTo>
                <a:lnTo>
                  <a:pt x="2292506" y="3140242"/>
                </a:lnTo>
                <a:lnTo>
                  <a:pt x="2292506" y="3133228"/>
                </a:lnTo>
                <a:lnTo>
                  <a:pt x="2289662" y="3130385"/>
                </a:lnTo>
                <a:close/>
              </a:path>
              <a:path w="2997200" h="3143250">
                <a:moveTo>
                  <a:pt x="2378562" y="3130385"/>
                </a:moveTo>
                <a:lnTo>
                  <a:pt x="2333448" y="3130385"/>
                </a:lnTo>
                <a:lnTo>
                  <a:pt x="2330606" y="3133228"/>
                </a:lnTo>
                <a:lnTo>
                  <a:pt x="2330606" y="3140242"/>
                </a:lnTo>
                <a:lnTo>
                  <a:pt x="2333448" y="3143085"/>
                </a:lnTo>
                <a:lnTo>
                  <a:pt x="2378562" y="3143085"/>
                </a:lnTo>
                <a:lnTo>
                  <a:pt x="2381406" y="3140242"/>
                </a:lnTo>
                <a:lnTo>
                  <a:pt x="2381406" y="3133228"/>
                </a:lnTo>
                <a:lnTo>
                  <a:pt x="2378562" y="3130385"/>
                </a:lnTo>
                <a:close/>
              </a:path>
              <a:path w="2997200" h="3143250">
                <a:moveTo>
                  <a:pt x="2467462" y="3130385"/>
                </a:moveTo>
                <a:lnTo>
                  <a:pt x="2422348" y="3130385"/>
                </a:lnTo>
                <a:lnTo>
                  <a:pt x="2419506" y="3133228"/>
                </a:lnTo>
                <a:lnTo>
                  <a:pt x="2419506" y="3140242"/>
                </a:lnTo>
                <a:lnTo>
                  <a:pt x="2422348" y="3143085"/>
                </a:lnTo>
                <a:lnTo>
                  <a:pt x="2467462" y="3143085"/>
                </a:lnTo>
                <a:lnTo>
                  <a:pt x="2470306" y="3140242"/>
                </a:lnTo>
                <a:lnTo>
                  <a:pt x="2470306" y="3133228"/>
                </a:lnTo>
                <a:lnTo>
                  <a:pt x="2467462" y="3130385"/>
                </a:lnTo>
                <a:close/>
              </a:path>
              <a:path w="2997200" h="3143250">
                <a:moveTo>
                  <a:pt x="2556362" y="3130385"/>
                </a:moveTo>
                <a:lnTo>
                  <a:pt x="2511248" y="3130385"/>
                </a:lnTo>
                <a:lnTo>
                  <a:pt x="2508406" y="3133228"/>
                </a:lnTo>
                <a:lnTo>
                  <a:pt x="2508406" y="3140242"/>
                </a:lnTo>
                <a:lnTo>
                  <a:pt x="2511248" y="3143085"/>
                </a:lnTo>
                <a:lnTo>
                  <a:pt x="2556362" y="3143085"/>
                </a:lnTo>
                <a:lnTo>
                  <a:pt x="2559206" y="3140242"/>
                </a:lnTo>
                <a:lnTo>
                  <a:pt x="2559206" y="3133228"/>
                </a:lnTo>
                <a:lnTo>
                  <a:pt x="2556362" y="3130385"/>
                </a:lnTo>
                <a:close/>
              </a:path>
              <a:path w="2997200" h="3143250">
                <a:moveTo>
                  <a:pt x="2645262" y="3130385"/>
                </a:moveTo>
                <a:lnTo>
                  <a:pt x="2600148" y="3130385"/>
                </a:lnTo>
                <a:lnTo>
                  <a:pt x="2597306" y="3133228"/>
                </a:lnTo>
                <a:lnTo>
                  <a:pt x="2597306" y="3140242"/>
                </a:lnTo>
                <a:lnTo>
                  <a:pt x="2600148" y="3143085"/>
                </a:lnTo>
                <a:lnTo>
                  <a:pt x="2645262" y="3143085"/>
                </a:lnTo>
                <a:lnTo>
                  <a:pt x="2648106" y="3140242"/>
                </a:lnTo>
                <a:lnTo>
                  <a:pt x="2648106" y="3133228"/>
                </a:lnTo>
                <a:lnTo>
                  <a:pt x="2645262" y="3130385"/>
                </a:lnTo>
                <a:close/>
              </a:path>
              <a:path w="2997200" h="3143250">
                <a:moveTo>
                  <a:pt x="2734162" y="3130385"/>
                </a:moveTo>
                <a:lnTo>
                  <a:pt x="2689048" y="3130385"/>
                </a:lnTo>
                <a:lnTo>
                  <a:pt x="2686206" y="3133228"/>
                </a:lnTo>
                <a:lnTo>
                  <a:pt x="2686206" y="3140242"/>
                </a:lnTo>
                <a:lnTo>
                  <a:pt x="2689048" y="3143085"/>
                </a:lnTo>
                <a:lnTo>
                  <a:pt x="2734162" y="3143085"/>
                </a:lnTo>
                <a:lnTo>
                  <a:pt x="2737006" y="3140242"/>
                </a:lnTo>
                <a:lnTo>
                  <a:pt x="2737006" y="3133228"/>
                </a:lnTo>
                <a:lnTo>
                  <a:pt x="2734162" y="3130385"/>
                </a:lnTo>
                <a:close/>
              </a:path>
              <a:path w="2997200" h="3143250">
                <a:moveTo>
                  <a:pt x="2823062" y="3130385"/>
                </a:moveTo>
                <a:lnTo>
                  <a:pt x="2777948" y="3130385"/>
                </a:lnTo>
                <a:lnTo>
                  <a:pt x="2775106" y="3133228"/>
                </a:lnTo>
                <a:lnTo>
                  <a:pt x="2775106" y="3140242"/>
                </a:lnTo>
                <a:lnTo>
                  <a:pt x="2777948" y="3143085"/>
                </a:lnTo>
                <a:lnTo>
                  <a:pt x="2823062" y="3143085"/>
                </a:lnTo>
                <a:lnTo>
                  <a:pt x="2825906" y="3140242"/>
                </a:lnTo>
                <a:lnTo>
                  <a:pt x="2825906" y="3133228"/>
                </a:lnTo>
                <a:lnTo>
                  <a:pt x="2823062" y="3130385"/>
                </a:lnTo>
                <a:close/>
              </a:path>
              <a:path w="2997200" h="3143250">
                <a:moveTo>
                  <a:pt x="2911962" y="3130385"/>
                </a:moveTo>
                <a:lnTo>
                  <a:pt x="2866848" y="3130385"/>
                </a:lnTo>
                <a:lnTo>
                  <a:pt x="2864006" y="3133228"/>
                </a:lnTo>
                <a:lnTo>
                  <a:pt x="2864006" y="3140242"/>
                </a:lnTo>
                <a:lnTo>
                  <a:pt x="2866848" y="3143085"/>
                </a:lnTo>
                <a:lnTo>
                  <a:pt x="2911962" y="3143085"/>
                </a:lnTo>
                <a:lnTo>
                  <a:pt x="2914806" y="3140242"/>
                </a:lnTo>
                <a:lnTo>
                  <a:pt x="2914806" y="3133228"/>
                </a:lnTo>
                <a:lnTo>
                  <a:pt x="2911962" y="3130385"/>
                </a:lnTo>
                <a:close/>
              </a:path>
              <a:path w="2997200" h="3143250">
                <a:moveTo>
                  <a:pt x="2962470" y="3091994"/>
                </a:moveTo>
                <a:lnTo>
                  <a:pt x="2955457" y="3091994"/>
                </a:lnTo>
                <a:lnTo>
                  <a:pt x="2952614" y="3094837"/>
                </a:lnTo>
                <a:lnTo>
                  <a:pt x="2952614" y="3139951"/>
                </a:lnTo>
                <a:lnTo>
                  <a:pt x="2955457" y="3142794"/>
                </a:lnTo>
                <a:lnTo>
                  <a:pt x="2962470" y="3142794"/>
                </a:lnTo>
                <a:lnTo>
                  <a:pt x="2965314" y="3139951"/>
                </a:lnTo>
                <a:lnTo>
                  <a:pt x="2965314" y="3094837"/>
                </a:lnTo>
                <a:lnTo>
                  <a:pt x="2962470" y="3091994"/>
                </a:lnTo>
                <a:close/>
              </a:path>
              <a:path w="2997200" h="3143250">
                <a:moveTo>
                  <a:pt x="2962470" y="3003094"/>
                </a:moveTo>
                <a:lnTo>
                  <a:pt x="2955457" y="3003094"/>
                </a:lnTo>
                <a:lnTo>
                  <a:pt x="2952614" y="3005937"/>
                </a:lnTo>
                <a:lnTo>
                  <a:pt x="2952614" y="3051051"/>
                </a:lnTo>
                <a:lnTo>
                  <a:pt x="2955457" y="3053894"/>
                </a:lnTo>
                <a:lnTo>
                  <a:pt x="2962470" y="3053894"/>
                </a:lnTo>
                <a:lnTo>
                  <a:pt x="2965314" y="3051051"/>
                </a:lnTo>
                <a:lnTo>
                  <a:pt x="2965314" y="3005937"/>
                </a:lnTo>
                <a:lnTo>
                  <a:pt x="2962470" y="3003094"/>
                </a:lnTo>
                <a:close/>
              </a:path>
              <a:path w="2997200" h="3143250">
                <a:moveTo>
                  <a:pt x="2958964" y="2908127"/>
                </a:moveTo>
                <a:lnTo>
                  <a:pt x="2920864" y="2984327"/>
                </a:lnTo>
                <a:lnTo>
                  <a:pt x="2997064" y="2984327"/>
                </a:lnTo>
                <a:lnTo>
                  <a:pt x="2958964" y="2908127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>
            <a:spLocks noGrp="1"/>
          </p:cNvSpPr>
          <p:nvPr>
            <p:ph type="title"/>
          </p:nvPr>
        </p:nvSpPr>
        <p:spPr>
          <a:xfrm>
            <a:off x="329473" y="1154683"/>
            <a:ext cx="3099435" cy="7600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/>
              <a:t>Update </a:t>
            </a:r>
            <a:r>
              <a:rPr dirty="0" sz="2400" spc="-5"/>
              <a:t>Node RNN</a:t>
            </a:r>
            <a:r>
              <a:rPr dirty="0" sz="2400" spc="-80"/>
              <a:t> </a:t>
            </a:r>
            <a:r>
              <a:rPr dirty="0" sz="2400" spc="-5" b="0">
                <a:latin typeface="Calibri"/>
                <a:cs typeface="Calibri"/>
              </a:rPr>
              <a:t>using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2400" spc="-20"/>
              <a:t>Edge </a:t>
            </a:r>
            <a:r>
              <a:rPr dirty="0" sz="2400" spc="-30"/>
              <a:t>RNN’s </a:t>
            </a:r>
            <a:r>
              <a:rPr dirty="0" sz="2400" spc="-5"/>
              <a:t>hidden</a:t>
            </a:r>
            <a:r>
              <a:rPr dirty="0" sz="2400" spc="-15"/>
              <a:t> </a:t>
            </a:r>
            <a:r>
              <a:rPr dirty="0" sz="2400" spc="-20"/>
              <a:t>state</a:t>
            </a:r>
            <a:endParaRPr sz="2400"/>
          </a:p>
        </p:txBody>
      </p:sp>
      <p:sp>
        <p:nvSpPr>
          <p:cNvPr id="60" name="object 60"/>
          <p:cNvSpPr txBox="1"/>
          <p:nvPr/>
        </p:nvSpPr>
        <p:spPr>
          <a:xfrm>
            <a:off x="554227" y="6699893"/>
            <a:ext cx="400685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12/6/18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1" name="object 6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62" name="object 6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31</a:t>
            </a:fld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12622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86183" y="4744769"/>
            <a:ext cx="762000" cy="629920"/>
          </a:xfrm>
          <a:prstGeom prst="rect">
            <a:avLst/>
          </a:prstGeom>
          <a:solidFill>
            <a:srgbClr val="F0AD00"/>
          </a:solidFill>
          <a:ln w="48000">
            <a:solidFill>
              <a:srgbClr val="B07E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4775" indent="-36195">
              <a:lnSpc>
                <a:spcPts val="2185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Node</a:t>
            </a:r>
            <a:endParaRPr sz="2000">
              <a:latin typeface="Corbel"/>
              <a:cs typeface="Corbel"/>
            </a:endParaRPr>
          </a:p>
          <a:p>
            <a:pPr marL="104775">
              <a:lnSpc>
                <a:spcPts val="2395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6974" y="5704332"/>
            <a:ext cx="4667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𝑆</a:t>
            </a:r>
            <a:r>
              <a:rPr dirty="0" sz="2000" spc="-5">
                <a:latin typeface="Cambria Math"/>
                <a:cs typeface="Cambria Math"/>
              </a:rPr>
              <a:t>𝑂</a:t>
            </a:r>
            <a:r>
              <a:rPr dirty="0" sz="2000">
                <a:latin typeface="Cambria Math"/>
                <a:cs typeface="Cambria Math"/>
              </a:rPr>
              <a:t>𝑆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98602" y="5470917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102868" y="68580"/>
                </a:moveTo>
                <a:lnTo>
                  <a:pt x="34289" y="68580"/>
                </a:lnTo>
                <a:lnTo>
                  <a:pt x="34289" y="182880"/>
                </a:lnTo>
                <a:lnTo>
                  <a:pt x="102868" y="182880"/>
                </a:lnTo>
                <a:lnTo>
                  <a:pt x="102868" y="68580"/>
                </a:lnTo>
                <a:close/>
              </a:path>
              <a:path w="137160" h="182879">
                <a:moveTo>
                  <a:pt x="68578" y="0"/>
                </a:moveTo>
                <a:lnTo>
                  <a:pt x="0" y="68580"/>
                </a:lnTo>
                <a:lnTo>
                  <a:pt x="137158" y="68580"/>
                </a:lnTo>
                <a:lnTo>
                  <a:pt x="6857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98602" y="5470917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34289" y="182880"/>
                </a:moveTo>
                <a:lnTo>
                  <a:pt x="34289" y="68579"/>
                </a:lnTo>
                <a:lnTo>
                  <a:pt x="0" y="68579"/>
                </a:lnTo>
                <a:lnTo>
                  <a:pt x="68579" y="0"/>
                </a:lnTo>
                <a:lnTo>
                  <a:pt x="137159" y="68579"/>
                </a:lnTo>
                <a:lnTo>
                  <a:pt x="102869" y="68579"/>
                </a:lnTo>
                <a:lnTo>
                  <a:pt x="102869" y="182880"/>
                </a:lnTo>
                <a:lnTo>
                  <a:pt x="34289" y="182880"/>
                </a:lnTo>
                <a:close/>
              </a:path>
            </a:pathLst>
          </a:custGeom>
          <a:ln w="381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279039" y="3733800"/>
            <a:ext cx="762000" cy="629920"/>
          </a:xfrm>
          <a:prstGeom prst="rect">
            <a:avLst/>
          </a:prstGeom>
          <a:solidFill>
            <a:srgbClr val="60B5CC"/>
          </a:solidFill>
          <a:ln w="48000">
            <a:solidFill>
              <a:srgbClr val="24617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4775" indent="-17780">
              <a:lnSpc>
                <a:spcPts val="2180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Edge</a:t>
            </a:r>
            <a:endParaRPr sz="2000">
              <a:latin typeface="Corbel"/>
              <a:cs typeface="Corbel"/>
            </a:endParaRPr>
          </a:p>
          <a:p>
            <a:pPr marL="104775">
              <a:lnSpc>
                <a:spcPct val="100000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91459" y="4463044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102869" y="68580"/>
                </a:moveTo>
                <a:lnTo>
                  <a:pt x="34289" y="68580"/>
                </a:lnTo>
                <a:lnTo>
                  <a:pt x="34289" y="182880"/>
                </a:lnTo>
                <a:lnTo>
                  <a:pt x="102869" y="182880"/>
                </a:lnTo>
                <a:lnTo>
                  <a:pt x="102869" y="68580"/>
                </a:lnTo>
                <a:close/>
              </a:path>
              <a:path w="137160" h="182879">
                <a:moveTo>
                  <a:pt x="68580" y="0"/>
                </a:moveTo>
                <a:lnTo>
                  <a:pt x="0" y="68580"/>
                </a:lnTo>
                <a:lnTo>
                  <a:pt x="137159" y="68580"/>
                </a:lnTo>
                <a:lnTo>
                  <a:pt x="6858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91459" y="4463044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34289" y="182880"/>
                </a:moveTo>
                <a:lnTo>
                  <a:pt x="34289" y="68579"/>
                </a:lnTo>
                <a:lnTo>
                  <a:pt x="0" y="68579"/>
                </a:lnTo>
                <a:lnTo>
                  <a:pt x="68579" y="0"/>
                </a:lnTo>
                <a:lnTo>
                  <a:pt x="137159" y="68579"/>
                </a:lnTo>
                <a:lnTo>
                  <a:pt x="102869" y="68579"/>
                </a:lnTo>
                <a:lnTo>
                  <a:pt x="102869" y="182880"/>
                </a:lnTo>
                <a:lnTo>
                  <a:pt x="34289" y="182880"/>
                </a:lnTo>
                <a:close/>
              </a:path>
            </a:pathLst>
          </a:custGeom>
          <a:ln w="381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178522" y="3976155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80" h="137160">
                <a:moveTo>
                  <a:pt x="68578" y="0"/>
                </a:moveTo>
                <a:lnTo>
                  <a:pt x="0" y="68580"/>
                </a:lnTo>
                <a:lnTo>
                  <a:pt x="68578" y="137160"/>
                </a:lnTo>
                <a:lnTo>
                  <a:pt x="68578" y="102869"/>
                </a:lnTo>
                <a:lnTo>
                  <a:pt x="182879" y="102869"/>
                </a:lnTo>
                <a:lnTo>
                  <a:pt x="182879" y="34289"/>
                </a:lnTo>
                <a:lnTo>
                  <a:pt x="68578" y="34289"/>
                </a:lnTo>
                <a:lnTo>
                  <a:pt x="68578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178522" y="3976156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80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468590" y="3866388"/>
            <a:ext cx="4667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𝑆</a:t>
            </a:r>
            <a:r>
              <a:rPr dirty="0" sz="2000" spc="-5">
                <a:latin typeface="Cambria Math"/>
                <a:cs typeface="Cambria Math"/>
              </a:rPr>
              <a:t>𝑂</a:t>
            </a:r>
            <a:r>
              <a:rPr dirty="0" sz="2000">
                <a:latin typeface="Cambria Math"/>
                <a:cs typeface="Cambria Math"/>
              </a:rPr>
              <a:t>𝑆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3642" y="3850534"/>
            <a:ext cx="513715" cy="3962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4765" rIns="0" bIns="0" rtlCol="0" vert="horz">
            <a:spAutoFit/>
          </a:bodyPr>
          <a:lstStyle/>
          <a:p>
            <a:pPr marL="89535">
              <a:lnSpc>
                <a:spcPct val="100000"/>
              </a:lnSpc>
              <a:spcBef>
                <a:spcPts val="195"/>
              </a:spcBef>
            </a:pPr>
            <a:r>
              <a:rPr dirty="0" sz="2000" spc="-5">
                <a:latin typeface="Calibri"/>
                <a:cs typeface="Calibri"/>
              </a:rPr>
              <a:t>0.5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588517" y="5021436"/>
            <a:ext cx="1031240" cy="137160"/>
          </a:xfrm>
          <a:custGeom>
            <a:avLst/>
            <a:gdLst/>
            <a:ahLst/>
            <a:cxnLst/>
            <a:rect l="l" t="t" r="r" b="b"/>
            <a:pathLst>
              <a:path w="1031239" h="137160">
                <a:moveTo>
                  <a:pt x="962345" y="0"/>
                </a:moveTo>
                <a:lnTo>
                  <a:pt x="962345" y="34290"/>
                </a:lnTo>
                <a:lnTo>
                  <a:pt x="0" y="34290"/>
                </a:lnTo>
                <a:lnTo>
                  <a:pt x="0" y="102870"/>
                </a:lnTo>
                <a:lnTo>
                  <a:pt x="962345" y="102870"/>
                </a:lnTo>
                <a:lnTo>
                  <a:pt x="962345" y="137160"/>
                </a:lnTo>
                <a:lnTo>
                  <a:pt x="1030923" y="68580"/>
                </a:lnTo>
                <a:lnTo>
                  <a:pt x="96234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588517" y="5021436"/>
            <a:ext cx="1031240" cy="137160"/>
          </a:xfrm>
          <a:custGeom>
            <a:avLst/>
            <a:gdLst/>
            <a:ahLst/>
            <a:cxnLst/>
            <a:rect l="l" t="t" r="r" b="b"/>
            <a:pathLst>
              <a:path w="1031239" h="137160">
                <a:moveTo>
                  <a:pt x="0" y="34290"/>
                </a:moveTo>
                <a:lnTo>
                  <a:pt x="962344" y="34290"/>
                </a:lnTo>
                <a:lnTo>
                  <a:pt x="962344" y="0"/>
                </a:lnTo>
                <a:lnTo>
                  <a:pt x="1030924" y="68580"/>
                </a:lnTo>
                <a:lnTo>
                  <a:pt x="962344" y="137160"/>
                </a:lnTo>
                <a:lnTo>
                  <a:pt x="962344" y="102870"/>
                </a:lnTo>
                <a:lnTo>
                  <a:pt x="0" y="102870"/>
                </a:lnTo>
                <a:lnTo>
                  <a:pt x="0" y="34290"/>
                </a:lnTo>
                <a:close/>
              </a:path>
            </a:pathLst>
          </a:custGeom>
          <a:ln w="381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268718" y="4744769"/>
            <a:ext cx="762000" cy="629920"/>
          </a:xfrm>
          <a:prstGeom prst="rect">
            <a:avLst/>
          </a:prstGeom>
          <a:solidFill>
            <a:srgbClr val="F0AD00"/>
          </a:solidFill>
          <a:ln w="48000">
            <a:solidFill>
              <a:srgbClr val="B07E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4775" indent="-36195">
              <a:lnSpc>
                <a:spcPts val="2185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Node</a:t>
            </a:r>
            <a:endParaRPr sz="2000">
              <a:latin typeface="Corbel"/>
              <a:cs typeface="Corbel"/>
            </a:endParaRPr>
          </a:p>
          <a:p>
            <a:pPr marL="104775">
              <a:lnSpc>
                <a:spcPts val="2395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573995" y="4463044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102868" y="68580"/>
                </a:moveTo>
                <a:lnTo>
                  <a:pt x="34289" y="68580"/>
                </a:lnTo>
                <a:lnTo>
                  <a:pt x="34289" y="182880"/>
                </a:lnTo>
                <a:lnTo>
                  <a:pt x="102868" y="182880"/>
                </a:lnTo>
                <a:lnTo>
                  <a:pt x="102868" y="68580"/>
                </a:lnTo>
                <a:close/>
              </a:path>
              <a:path w="137160" h="182879">
                <a:moveTo>
                  <a:pt x="68579" y="0"/>
                </a:moveTo>
                <a:lnTo>
                  <a:pt x="0" y="68580"/>
                </a:lnTo>
                <a:lnTo>
                  <a:pt x="137158" y="68580"/>
                </a:lnTo>
                <a:lnTo>
                  <a:pt x="6857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573995" y="4463044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34289" y="182880"/>
                </a:moveTo>
                <a:lnTo>
                  <a:pt x="34289" y="68579"/>
                </a:lnTo>
                <a:lnTo>
                  <a:pt x="0" y="68579"/>
                </a:lnTo>
                <a:lnTo>
                  <a:pt x="68579" y="0"/>
                </a:lnTo>
                <a:lnTo>
                  <a:pt x="137159" y="68579"/>
                </a:lnTo>
                <a:lnTo>
                  <a:pt x="102869" y="68579"/>
                </a:lnTo>
                <a:lnTo>
                  <a:pt x="102869" y="182880"/>
                </a:lnTo>
                <a:lnTo>
                  <a:pt x="34289" y="182880"/>
                </a:lnTo>
                <a:close/>
              </a:path>
            </a:pathLst>
          </a:custGeom>
          <a:ln w="381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272154" y="3733800"/>
            <a:ext cx="762000" cy="629920"/>
          </a:xfrm>
          <a:prstGeom prst="rect">
            <a:avLst/>
          </a:prstGeom>
          <a:solidFill>
            <a:srgbClr val="60B5CC"/>
          </a:solidFill>
          <a:ln w="48000">
            <a:solidFill>
              <a:srgbClr val="24617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4775" indent="-17780">
              <a:lnSpc>
                <a:spcPts val="2180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Edge</a:t>
            </a:r>
            <a:endParaRPr sz="2000">
              <a:latin typeface="Corbel"/>
              <a:cs typeface="Corbel"/>
            </a:endParaRPr>
          </a:p>
          <a:p>
            <a:pPr marL="104775">
              <a:lnSpc>
                <a:spcPct val="100000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16299" y="4740912"/>
            <a:ext cx="762000" cy="629920"/>
          </a:xfrm>
          <a:prstGeom prst="rect">
            <a:avLst/>
          </a:prstGeom>
          <a:solidFill>
            <a:srgbClr val="F0AD00"/>
          </a:solidFill>
          <a:ln w="48000">
            <a:solidFill>
              <a:srgbClr val="B07E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4775" indent="-36195">
              <a:lnSpc>
                <a:spcPts val="2195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Node</a:t>
            </a:r>
            <a:endParaRPr sz="2000">
              <a:latin typeface="Corbel"/>
              <a:cs typeface="Corbel"/>
            </a:endParaRPr>
          </a:p>
          <a:p>
            <a:pPr marL="104775">
              <a:lnSpc>
                <a:spcPts val="2385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521576" y="4459185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59" h="182879">
                <a:moveTo>
                  <a:pt x="102868" y="68580"/>
                </a:moveTo>
                <a:lnTo>
                  <a:pt x="34290" y="68580"/>
                </a:lnTo>
                <a:lnTo>
                  <a:pt x="34290" y="182880"/>
                </a:lnTo>
                <a:lnTo>
                  <a:pt x="102868" y="182880"/>
                </a:lnTo>
                <a:lnTo>
                  <a:pt x="102868" y="68580"/>
                </a:lnTo>
                <a:close/>
              </a:path>
              <a:path w="137159" h="182879">
                <a:moveTo>
                  <a:pt x="68579" y="0"/>
                </a:moveTo>
                <a:lnTo>
                  <a:pt x="0" y="68580"/>
                </a:lnTo>
                <a:lnTo>
                  <a:pt x="137158" y="68580"/>
                </a:lnTo>
                <a:lnTo>
                  <a:pt x="6857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521576" y="4459185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59" h="182879">
                <a:moveTo>
                  <a:pt x="34289" y="182880"/>
                </a:moveTo>
                <a:lnTo>
                  <a:pt x="34289" y="68579"/>
                </a:lnTo>
                <a:lnTo>
                  <a:pt x="0" y="68579"/>
                </a:lnTo>
                <a:lnTo>
                  <a:pt x="68579" y="0"/>
                </a:lnTo>
                <a:lnTo>
                  <a:pt x="137159" y="68579"/>
                </a:lnTo>
                <a:lnTo>
                  <a:pt x="102869" y="68579"/>
                </a:lnTo>
                <a:lnTo>
                  <a:pt x="102869" y="182880"/>
                </a:lnTo>
                <a:lnTo>
                  <a:pt x="34289" y="182880"/>
                </a:lnTo>
                <a:close/>
              </a:path>
            </a:pathLst>
          </a:custGeom>
          <a:ln w="381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7219735" y="3729941"/>
            <a:ext cx="762000" cy="629920"/>
          </a:xfrm>
          <a:prstGeom prst="rect">
            <a:avLst/>
          </a:prstGeom>
          <a:solidFill>
            <a:srgbClr val="60B5CC"/>
          </a:solidFill>
          <a:ln w="48000">
            <a:solidFill>
              <a:srgbClr val="24617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4775" indent="-17780">
              <a:lnSpc>
                <a:spcPts val="2185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Edge</a:t>
            </a:r>
            <a:endParaRPr sz="2000">
              <a:latin typeface="Corbel"/>
              <a:cs typeface="Corbel"/>
            </a:endParaRPr>
          </a:p>
          <a:p>
            <a:pPr marL="104775">
              <a:lnSpc>
                <a:spcPts val="2395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72067" y="3977295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80" h="137160">
                <a:moveTo>
                  <a:pt x="68579" y="0"/>
                </a:moveTo>
                <a:lnTo>
                  <a:pt x="0" y="68579"/>
                </a:lnTo>
                <a:lnTo>
                  <a:pt x="68579" y="137158"/>
                </a:lnTo>
                <a:lnTo>
                  <a:pt x="68579" y="102869"/>
                </a:lnTo>
                <a:lnTo>
                  <a:pt x="182880" y="102869"/>
                </a:lnTo>
                <a:lnTo>
                  <a:pt x="182880" y="34289"/>
                </a:lnTo>
                <a:lnTo>
                  <a:pt x="68579" y="34289"/>
                </a:lnTo>
                <a:lnTo>
                  <a:pt x="6857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972067" y="3977295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80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150321" y="3976155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68579" y="0"/>
                </a:moveTo>
                <a:lnTo>
                  <a:pt x="0" y="68580"/>
                </a:lnTo>
                <a:lnTo>
                  <a:pt x="68579" y="137160"/>
                </a:lnTo>
                <a:lnTo>
                  <a:pt x="68579" y="102869"/>
                </a:lnTo>
                <a:lnTo>
                  <a:pt x="182879" y="102869"/>
                </a:lnTo>
                <a:lnTo>
                  <a:pt x="182879" y="34289"/>
                </a:lnTo>
                <a:lnTo>
                  <a:pt x="68579" y="34289"/>
                </a:lnTo>
                <a:lnTo>
                  <a:pt x="6857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150321" y="3976156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5440390" y="3866388"/>
            <a:ext cx="4667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𝑆</a:t>
            </a:r>
            <a:r>
              <a:rPr dirty="0" sz="2000" spc="-5">
                <a:latin typeface="Cambria Math"/>
                <a:cs typeface="Cambria Math"/>
              </a:rPr>
              <a:t>𝑂</a:t>
            </a:r>
            <a:r>
              <a:rPr dirty="0" sz="2000">
                <a:latin typeface="Cambria Math"/>
                <a:cs typeface="Cambria Math"/>
              </a:rPr>
              <a:t>𝑆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077200" y="3976155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68579" y="0"/>
                </a:moveTo>
                <a:lnTo>
                  <a:pt x="0" y="68580"/>
                </a:lnTo>
                <a:lnTo>
                  <a:pt x="68579" y="137160"/>
                </a:lnTo>
                <a:lnTo>
                  <a:pt x="68579" y="102869"/>
                </a:lnTo>
                <a:lnTo>
                  <a:pt x="182879" y="102869"/>
                </a:lnTo>
                <a:lnTo>
                  <a:pt x="182879" y="34289"/>
                </a:lnTo>
                <a:lnTo>
                  <a:pt x="68579" y="34289"/>
                </a:lnTo>
                <a:lnTo>
                  <a:pt x="6857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077200" y="3976156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8368094" y="3866388"/>
            <a:ext cx="4667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𝑆</a:t>
            </a:r>
            <a:r>
              <a:rPr dirty="0" sz="2000" spc="-5">
                <a:latin typeface="Cambria Math"/>
                <a:cs typeface="Cambria Math"/>
              </a:rPr>
              <a:t>𝑂</a:t>
            </a:r>
            <a:r>
              <a:rPr dirty="0" sz="2000">
                <a:latin typeface="Cambria Math"/>
                <a:cs typeface="Cambria Math"/>
              </a:rPr>
              <a:t>𝑆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936962" y="3977295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68579" y="0"/>
                </a:moveTo>
                <a:lnTo>
                  <a:pt x="0" y="68579"/>
                </a:lnTo>
                <a:lnTo>
                  <a:pt x="68579" y="137158"/>
                </a:lnTo>
                <a:lnTo>
                  <a:pt x="68579" y="102869"/>
                </a:lnTo>
                <a:lnTo>
                  <a:pt x="182879" y="102869"/>
                </a:lnTo>
                <a:lnTo>
                  <a:pt x="182879" y="34289"/>
                </a:lnTo>
                <a:lnTo>
                  <a:pt x="68579" y="34289"/>
                </a:lnTo>
                <a:lnTo>
                  <a:pt x="6857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936962" y="3977295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3376649" y="3850534"/>
            <a:ext cx="513715" cy="3962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4765" rIns="0" bIns="0" rtlCol="0" vert="horz">
            <a:spAutoFit/>
          </a:bodyPr>
          <a:lstStyle/>
          <a:p>
            <a:pPr marL="89535">
              <a:lnSpc>
                <a:spcPct val="100000"/>
              </a:lnSpc>
              <a:spcBef>
                <a:spcPts val="195"/>
              </a:spcBef>
            </a:pPr>
            <a:r>
              <a:rPr dirty="0" sz="2000" spc="-5">
                <a:latin typeface="Calibri"/>
                <a:cs typeface="Calibri"/>
              </a:rPr>
              <a:t>0.6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989382" y="3979280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68578" y="0"/>
                </a:moveTo>
                <a:lnTo>
                  <a:pt x="0" y="68579"/>
                </a:lnTo>
                <a:lnTo>
                  <a:pt x="68578" y="137158"/>
                </a:lnTo>
                <a:lnTo>
                  <a:pt x="68578" y="102868"/>
                </a:lnTo>
                <a:lnTo>
                  <a:pt x="182880" y="102868"/>
                </a:lnTo>
                <a:lnTo>
                  <a:pt x="182880" y="34289"/>
                </a:lnTo>
                <a:lnTo>
                  <a:pt x="68578" y="34289"/>
                </a:lnTo>
                <a:lnTo>
                  <a:pt x="68578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989382" y="3979280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4263685" y="2697328"/>
            <a:ext cx="762000" cy="629920"/>
          </a:xfrm>
          <a:prstGeom prst="rect">
            <a:avLst/>
          </a:prstGeom>
          <a:solidFill>
            <a:srgbClr val="60B5CC"/>
          </a:solidFill>
          <a:ln w="48000">
            <a:solidFill>
              <a:srgbClr val="24617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4775" indent="-17780">
              <a:lnSpc>
                <a:spcPts val="2180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Edge</a:t>
            </a:r>
            <a:endParaRPr sz="2000">
              <a:latin typeface="Corbel"/>
              <a:cs typeface="Corbel"/>
            </a:endParaRPr>
          </a:p>
          <a:p>
            <a:pPr marL="104775">
              <a:lnSpc>
                <a:spcPct val="100000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568962" y="3441090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102868" y="68578"/>
                </a:moveTo>
                <a:lnTo>
                  <a:pt x="34289" y="68578"/>
                </a:lnTo>
                <a:lnTo>
                  <a:pt x="34289" y="182880"/>
                </a:lnTo>
                <a:lnTo>
                  <a:pt x="102868" y="182880"/>
                </a:lnTo>
                <a:lnTo>
                  <a:pt x="102868" y="68578"/>
                </a:lnTo>
                <a:close/>
              </a:path>
              <a:path w="137160" h="182879">
                <a:moveTo>
                  <a:pt x="68579" y="0"/>
                </a:moveTo>
                <a:lnTo>
                  <a:pt x="0" y="68578"/>
                </a:lnTo>
                <a:lnTo>
                  <a:pt x="137158" y="68578"/>
                </a:lnTo>
                <a:lnTo>
                  <a:pt x="6857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568962" y="3441090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34289" y="182880"/>
                </a:moveTo>
                <a:lnTo>
                  <a:pt x="34289" y="68579"/>
                </a:lnTo>
                <a:lnTo>
                  <a:pt x="0" y="68579"/>
                </a:lnTo>
                <a:lnTo>
                  <a:pt x="68579" y="0"/>
                </a:lnTo>
                <a:lnTo>
                  <a:pt x="137159" y="68579"/>
                </a:lnTo>
                <a:lnTo>
                  <a:pt x="102869" y="68579"/>
                </a:lnTo>
                <a:lnTo>
                  <a:pt x="102869" y="182880"/>
                </a:lnTo>
                <a:lnTo>
                  <a:pt x="34289" y="182880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156023" y="2944176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68579" y="0"/>
                </a:moveTo>
                <a:lnTo>
                  <a:pt x="0" y="68579"/>
                </a:lnTo>
                <a:lnTo>
                  <a:pt x="68579" y="137160"/>
                </a:lnTo>
                <a:lnTo>
                  <a:pt x="68579" y="102869"/>
                </a:lnTo>
                <a:lnTo>
                  <a:pt x="182879" y="102869"/>
                </a:lnTo>
                <a:lnTo>
                  <a:pt x="182879" y="34289"/>
                </a:lnTo>
                <a:lnTo>
                  <a:pt x="68579" y="34289"/>
                </a:lnTo>
                <a:lnTo>
                  <a:pt x="6857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156023" y="2944177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949569" y="2944177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68579" y="0"/>
                </a:moveTo>
                <a:lnTo>
                  <a:pt x="0" y="68580"/>
                </a:lnTo>
                <a:lnTo>
                  <a:pt x="68579" y="137160"/>
                </a:lnTo>
                <a:lnTo>
                  <a:pt x="68579" y="102870"/>
                </a:lnTo>
                <a:lnTo>
                  <a:pt x="182879" y="102870"/>
                </a:lnTo>
                <a:lnTo>
                  <a:pt x="182879" y="34289"/>
                </a:lnTo>
                <a:lnTo>
                  <a:pt x="68579" y="34289"/>
                </a:lnTo>
                <a:lnTo>
                  <a:pt x="6857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949569" y="2944178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3370449" y="2796547"/>
            <a:ext cx="513715" cy="3962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7305" rIns="0" bIns="0" rtlCol="0" vert="horz">
            <a:spAutoFit/>
          </a:bodyPr>
          <a:lstStyle/>
          <a:p>
            <a:pPr marL="89535">
              <a:lnSpc>
                <a:spcPct val="100000"/>
              </a:lnSpc>
              <a:spcBef>
                <a:spcPts val="215"/>
              </a:spcBef>
            </a:pPr>
            <a:r>
              <a:rPr dirty="0" sz="2000" spc="-5">
                <a:latin typeface="Calibri"/>
                <a:cs typeface="Calibri"/>
              </a:rPr>
              <a:t>0.4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332202" y="3855822"/>
            <a:ext cx="513715" cy="3962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6034" rIns="0" bIns="0" rtlCol="0" vert="horz">
            <a:spAutoFit/>
          </a:bodyPr>
          <a:lstStyle/>
          <a:p>
            <a:pPr marL="89535">
              <a:lnSpc>
                <a:spcPct val="100000"/>
              </a:lnSpc>
              <a:spcBef>
                <a:spcPts val="204"/>
              </a:spcBef>
            </a:pPr>
            <a:r>
              <a:rPr dirty="0" sz="2000" spc="-5">
                <a:latin typeface="Calibri"/>
                <a:cs typeface="Calibri"/>
              </a:rPr>
              <a:t>0.4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326395" y="3494532"/>
            <a:ext cx="49022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C64847"/>
                </a:solidFill>
                <a:latin typeface="Cambria Math"/>
                <a:cs typeface="Cambria Math"/>
              </a:rPr>
              <a:t>𝐸</a:t>
            </a:r>
            <a:r>
              <a:rPr dirty="0" sz="2000" spc="-5">
                <a:solidFill>
                  <a:srgbClr val="C64847"/>
                </a:solidFill>
                <a:latin typeface="Cambria Math"/>
                <a:cs typeface="Cambria Math"/>
              </a:rPr>
              <a:t>𝑂𝑆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425996" y="2796547"/>
            <a:ext cx="513715" cy="3962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73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15"/>
              </a:spcBef>
            </a:pPr>
            <a:r>
              <a:rPr dirty="0" sz="2000">
                <a:latin typeface="Calibri"/>
                <a:cs typeface="Calibri"/>
              </a:rPr>
              <a:t>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5682655" y="4990282"/>
            <a:ext cx="1031240" cy="137160"/>
          </a:xfrm>
          <a:custGeom>
            <a:avLst/>
            <a:gdLst/>
            <a:ahLst/>
            <a:cxnLst/>
            <a:rect l="l" t="t" r="r" b="b"/>
            <a:pathLst>
              <a:path w="1031240" h="137160">
                <a:moveTo>
                  <a:pt x="962343" y="0"/>
                </a:moveTo>
                <a:lnTo>
                  <a:pt x="962343" y="34289"/>
                </a:lnTo>
                <a:lnTo>
                  <a:pt x="0" y="34289"/>
                </a:lnTo>
                <a:lnTo>
                  <a:pt x="0" y="102869"/>
                </a:lnTo>
                <a:lnTo>
                  <a:pt x="962343" y="102869"/>
                </a:lnTo>
                <a:lnTo>
                  <a:pt x="962343" y="137159"/>
                </a:lnTo>
                <a:lnTo>
                  <a:pt x="1030923" y="68579"/>
                </a:lnTo>
                <a:lnTo>
                  <a:pt x="962343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682655" y="4990282"/>
            <a:ext cx="1031240" cy="137160"/>
          </a:xfrm>
          <a:custGeom>
            <a:avLst/>
            <a:gdLst/>
            <a:ahLst/>
            <a:cxnLst/>
            <a:rect l="l" t="t" r="r" b="b"/>
            <a:pathLst>
              <a:path w="1031240" h="137160">
                <a:moveTo>
                  <a:pt x="0" y="34290"/>
                </a:moveTo>
                <a:lnTo>
                  <a:pt x="962344" y="34290"/>
                </a:lnTo>
                <a:lnTo>
                  <a:pt x="962344" y="0"/>
                </a:lnTo>
                <a:lnTo>
                  <a:pt x="1030924" y="68580"/>
                </a:lnTo>
                <a:lnTo>
                  <a:pt x="962344" y="137160"/>
                </a:lnTo>
                <a:lnTo>
                  <a:pt x="962344" y="102870"/>
                </a:lnTo>
                <a:lnTo>
                  <a:pt x="0" y="102870"/>
                </a:lnTo>
                <a:lnTo>
                  <a:pt x="0" y="34290"/>
                </a:lnTo>
                <a:close/>
              </a:path>
            </a:pathLst>
          </a:custGeom>
          <a:ln w="381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>
            <a:spLocks noGrp="1"/>
          </p:cNvSpPr>
          <p:nvPr>
            <p:ph type="title"/>
          </p:nvPr>
        </p:nvSpPr>
        <p:spPr>
          <a:xfrm>
            <a:off x="329472" y="1154683"/>
            <a:ext cx="2842260" cy="1125855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5"/>
              </a:spcBef>
            </a:pPr>
            <a:r>
              <a:rPr dirty="0" sz="2400" spc="-10"/>
              <a:t>Stop </a:t>
            </a:r>
            <a:r>
              <a:rPr dirty="0" sz="2400" spc="-15"/>
              <a:t>generation </a:t>
            </a:r>
            <a:r>
              <a:rPr dirty="0" sz="2400" spc="-5" b="0">
                <a:latin typeface="Calibri"/>
                <a:cs typeface="Calibri"/>
              </a:rPr>
              <a:t>since  </a:t>
            </a:r>
            <a:r>
              <a:rPr dirty="0" sz="2400" spc="-15" b="0">
                <a:latin typeface="Calibri"/>
                <a:cs typeface="Calibri"/>
              </a:rPr>
              <a:t>we </a:t>
            </a:r>
            <a:r>
              <a:rPr dirty="0" sz="2400" spc="-5" b="0">
                <a:latin typeface="Calibri"/>
                <a:cs typeface="Calibri"/>
              </a:rPr>
              <a:t>know node </a:t>
            </a:r>
            <a:r>
              <a:rPr dirty="0" sz="2400" b="0">
                <a:latin typeface="Calibri"/>
                <a:cs typeface="Calibri"/>
              </a:rPr>
              <a:t>4</a:t>
            </a:r>
            <a:r>
              <a:rPr dirty="0" sz="2400" spc="-60" b="0">
                <a:latin typeface="Calibri"/>
                <a:cs typeface="Calibri"/>
              </a:rPr>
              <a:t> </a:t>
            </a:r>
            <a:r>
              <a:rPr dirty="0" sz="2400" spc="-10" b="0">
                <a:latin typeface="Calibri"/>
                <a:cs typeface="Calibri"/>
              </a:rPr>
              <a:t>won’t  </a:t>
            </a:r>
            <a:r>
              <a:rPr dirty="0" sz="2400" spc="-5" b="0">
                <a:latin typeface="Calibri"/>
                <a:cs typeface="Calibri"/>
              </a:rPr>
              <a:t>connect </a:t>
            </a:r>
            <a:r>
              <a:rPr dirty="0" sz="2400" spc="-15" b="0">
                <a:latin typeface="Calibri"/>
                <a:cs typeface="Calibri"/>
              </a:rPr>
              <a:t>to any</a:t>
            </a:r>
            <a:r>
              <a:rPr dirty="0" sz="2400" spc="-75" b="0">
                <a:latin typeface="Calibri"/>
                <a:cs typeface="Calibri"/>
              </a:rPr>
              <a:t> </a:t>
            </a:r>
            <a:r>
              <a:rPr dirty="0" sz="2400" spc="-5" b="0">
                <a:latin typeface="Calibri"/>
                <a:cs typeface="Calibri"/>
              </a:rPr>
              <a:t>nodes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51" name="object 51"/>
          <p:cNvGraphicFramePr>
            <a:graphicFrameLocks noGrp="1"/>
          </p:cNvGraphicFramePr>
          <p:nvPr/>
        </p:nvGraphicFramePr>
        <p:xfrm>
          <a:off x="7764687" y="1414976"/>
          <a:ext cx="1289685" cy="1207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0210"/>
                <a:gridCol w="420210"/>
                <a:gridCol w="420210"/>
              </a:tblGrid>
              <a:tr h="355600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2" name="object 52"/>
          <p:cNvSpPr/>
          <p:nvPr/>
        </p:nvSpPr>
        <p:spPr>
          <a:xfrm>
            <a:off x="6216237" y="17480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6301485" y="1739094"/>
            <a:ext cx="194945" cy="384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50" spc="25">
                <a:solidFill>
                  <a:srgbClr val="C00000"/>
                </a:solidFill>
                <a:latin typeface="Arial"/>
                <a:cs typeface="Arial"/>
              </a:rPr>
              <a:t>1</a:t>
            </a:r>
            <a:endParaRPr sz="235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6907335" y="209080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6897822" y="1488084"/>
            <a:ext cx="384810" cy="383540"/>
          </a:xfrm>
          <a:custGeom>
            <a:avLst/>
            <a:gdLst/>
            <a:ahLst/>
            <a:cxnLst/>
            <a:rect l="l" t="t" r="r" b="b"/>
            <a:pathLst>
              <a:path w="384809" h="383539">
                <a:moveTo>
                  <a:pt x="211571" y="0"/>
                </a:moveTo>
                <a:lnTo>
                  <a:pt x="172257" y="0"/>
                </a:lnTo>
                <a:lnTo>
                  <a:pt x="134736" y="7619"/>
                </a:lnTo>
                <a:lnTo>
                  <a:pt x="84439" y="33019"/>
                </a:lnTo>
                <a:lnTo>
                  <a:pt x="43646" y="69850"/>
                </a:lnTo>
                <a:lnTo>
                  <a:pt x="14940" y="116839"/>
                </a:lnTo>
                <a:lnTo>
                  <a:pt x="3812" y="153669"/>
                </a:lnTo>
                <a:lnTo>
                  <a:pt x="0" y="191769"/>
                </a:lnTo>
                <a:lnTo>
                  <a:pt x="1041" y="212089"/>
                </a:lnTo>
                <a:lnTo>
                  <a:pt x="15303" y="266700"/>
                </a:lnTo>
                <a:lnTo>
                  <a:pt x="44225" y="314960"/>
                </a:lnTo>
                <a:lnTo>
                  <a:pt x="85197" y="351789"/>
                </a:lnTo>
                <a:lnTo>
                  <a:pt x="135638" y="375919"/>
                </a:lnTo>
                <a:lnTo>
                  <a:pt x="173215" y="383539"/>
                </a:lnTo>
                <a:lnTo>
                  <a:pt x="212529" y="383539"/>
                </a:lnTo>
                <a:lnTo>
                  <a:pt x="250050" y="375919"/>
                </a:lnTo>
                <a:lnTo>
                  <a:pt x="255937" y="373379"/>
                </a:lnTo>
                <a:lnTo>
                  <a:pt x="192297" y="373379"/>
                </a:lnTo>
                <a:lnTo>
                  <a:pt x="173790" y="372110"/>
                </a:lnTo>
                <a:lnTo>
                  <a:pt x="121862" y="358139"/>
                </a:lnTo>
                <a:lnTo>
                  <a:pt x="77205" y="331469"/>
                </a:lnTo>
                <a:lnTo>
                  <a:pt x="42271" y="293369"/>
                </a:lnTo>
                <a:lnTo>
                  <a:pt x="19524" y="245110"/>
                </a:lnTo>
                <a:lnTo>
                  <a:pt x="11416" y="191769"/>
                </a:lnTo>
                <a:lnTo>
                  <a:pt x="12359" y="172719"/>
                </a:lnTo>
                <a:lnTo>
                  <a:pt x="25674" y="120650"/>
                </a:lnTo>
                <a:lnTo>
                  <a:pt x="52800" y="76200"/>
                </a:lnTo>
                <a:lnTo>
                  <a:pt x="91283" y="41910"/>
                </a:lnTo>
                <a:lnTo>
                  <a:pt x="138664" y="19050"/>
                </a:lnTo>
                <a:lnTo>
                  <a:pt x="173982" y="11429"/>
                </a:lnTo>
                <a:lnTo>
                  <a:pt x="259770" y="11429"/>
                </a:lnTo>
                <a:lnTo>
                  <a:pt x="249148" y="7619"/>
                </a:lnTo>
                <a:lnTo>
                  <a:pt x="211571" y="0"/>
                </a:lnTo>
                <a:close/>
              </a:path>
              <a:path w="384809" h="383539">
                <a:moveTo>
                  <a:pt x="259770" y="11429"/>
                </a:moveTo>
                <a:lnTo>
                  <a:pt x="210995" y="11429"/>
                </a:lnTo>
                <a:lnTo>
                  <a:pt x="228963" y="13969"/>
                </a:lnTo>
                <a:lnTo>
                  <a:pt x="246302" y="19050"/>
                </a:lnTo>
                <a:lnTo>
                  <a:pt x="293654" y="41910"/>
                </a:lnTo>
                <a:lnTo>
                  <a:pt x="332102" y="76200"/>
                </a:lnTo>
                <a:lnTo>
                  <a:pt x="359185" y="121919"/>
                </a:lnTo>
                <a:lnTo>
                  <a:pt x="372446" y="173989"/>
                </a:lnTo>
                <a:lnTo>
                  <a:pt x="373371" y="191769"/>
                </a:lnTo>
                <a:lnTo>
                  <a:pt x="372426" y="210819"/>
                </a:lnTo>
                <a:lnTo>
                  <a:pt x="359112" y="262889"/>
                </a:lnTo>
                <a:lnTo>
                  <a:pt x="331986" y="307339"/>
                </a:lnTo>
                <a:lnTo>
                  <a:pt x="293502" y="341629"/>
                </a:lnTo>
                <a:lnTo>
                  <a:pt x="246122" y="364489"/>
                </a:lnTo>
                <a:lnTo>
                  <a:pt x="192297" y="373379"/>
                </a:lnTo>
                <a:lnTo>
                  <a:pt x="255937" y="373379"/>
                </a:lnTo>
                <a:lnTo>
                  <a:pt x="300347" y="350519"/>
                </a:lnTo>
                <a:lnTo>
                  <a:pt x="341141" y="313689"/>
                </a:lnTo>
                <a:lnTo>
                  <a:pt x="369846" y="266700"/>
                </a:lnTo>
                <a:lnTo>
                  <a:pt x="380974" y="229869"/>
                </a:lnTo>
                <a:lnTo>
                  <a:pt x="384785" y="191769"/>
                </a:lnTo>
                <a:lnTo>
                  <a:pt x="383745" y="171450"/>
                </a:lnTo>
                <a:lnTo>
                  <a:pt x="369483" y="116839"/>
                </a:lnTo>
                <a:lnTo>
                  <a:pt x="340561" y="68579"/>
                </a:lnTo>
                <a:lnTo>
                  <a:pt x="299589" y="31750"/>
                </a:lnTo>
                <a:lnTo>
                  <a:pt x="266852" y="13969"/>
                </a:lnTo>
                <a:lnTo>
                  <a:pt x="259770" y="11429"/>
                </a:lnTo>
                <a:close/>
              </a:path>
              <a:path w="384809" h="383539">
                <a:moveTo>
                  <a:pt x="210803" y="15239"/>
                </a:moveTo>
                <a:lnTo>
                  <a:pt x="174557" y="15239"/>
                </a:lnTo>
                <a:lnTo>
                  <a:pt x="156960" y="17779"/>
                </a:lnTo>
                <a:lnTo>
                  <a:pt x="108188" y="35560"/>
                </a:lnTo>
                <a:lnTo>
                  <a:pt x="67307" y="66039"/>
                </a:lnTo>
                <a:lnTo>
                  <a:pt x="36734" y="106679"/>
                </a:lnTo>
                <a:lnTo>
                  <a:pt x="18878" y="156210"/>
                </a:lnTo>
                <a:lnTo>
                  <a:pt x="15220" y="191769"/>
                </a:lnTo>
                <a:lnTo>
                  <a:pt x="16107" y="209550"/>
                </a:lnTo>
                <a:lnTo>
                  <a:pt x="29033" y="260350"/>
                </a:lnTo>
                <a:lnTo>
                  <a:pt x="55504" y="304800"/>
                </a:lnTo>
                <a:lnTo>
                  <a:pt x="93111" y="339089"/>
                </a:lnTo>
                <a:lnTo>
                  <a:pt x="139433" y="360679"/>
                </a:lnTo>
                <a:lnTo>
                  <a:pt x="192105" y="369569"/>
                </a:lnTo>
                <a:lnTo>
                  <a:pt x="210229" y="368300"/>
                </a:lnTo>
                <a:lnTo>
                  <a:pt x="227826" y="365760"/>
                </a:lnTo>
                <a:lnTo>
                  <a:pt x="191913" y="365760"/>
                </a:lnTo>
                <a:lnTo>
                  <a:pt x="174175" y="364489"/>
                </a:lnTo>
                <a:lnTo>
                  <a:pt x="124481" y="351789"/>
                </a:lnTo>
                <a:lnTo>
                  <a:pt x="81768" y="325119"/>
                </a:lnTo>
                <a:lnTo>
                  <a:pt x="48374" y="288289"/>
                </a:lnTo>
                <a:lnTo>
                  <a:pt x="26680" y="242569"/>
                </a:lnTo>
                <a:lnTo>
                  <a:pt x="19025" y="191769"/>
                </a:lnTo>
                <a:lnTo>
                  <a:pt x="19970" y="173989"/>
                </a:lnTo>
                <a:lnTo>
                  <a:pt x="32829" y="124460"/>
                </a:lnTo>
                <a:lnTo>
                  <a:pt x="58902" y="81279"/>
                </a:lnTo>
                <a:lnTo>
                  <a:pt x="95848" y="48260"/>
                </a:lnTo>
                <a:lnTo>
                  <a:pt x="141284" y="26669"/>
                </a:lnTo>
                <a:lnTo>
                  <a:pt x="192873" y="17779"/>
                </a:lnTo>
                <a:lnTo>
                  <a:pt x="228387" y="17779"/>
                </a:lnTo>
                <a:lnTo>
                  <a:pt x="210803" y="15239"/>
                </a:lnTo>
                <a:close/>
              </a:path>
              <a:path w="384809" h="383539">
                <a:moveTo>
                  <a:pt x="228387" y="17779"/>
                </a:moveTo>
                <a:lnTo>
                  <a:pt x="192873" y="17779"/>
                </a:lnTo>
                <a:lnTo>
                  <a:pt x="210611" y="19050"/>
                </a:lnTo>
                <a:lnTo>
                  <a:pt x="227812" y="21589"/>
                </a:lnTo>
                <a:lnTo>
                  <a:pt x="275431" y="39369"/>
                </a:lnTo>
                <a:lnTo>
                  <a:pt x="315302" y="69850"/>
                </a:lnTo>
                <a:lnTo>
                  <a:pt x="345060" y="109219"/>
                </a:lnTo>
                <a:lnTo>
                  <a:pt x="362333" y="157479"/>
                </a:lnTo>
                <a:lnTo>
                  <a:pt x="365760" y="191769"/>
                </a:lnTo>
                <a:lnTo>
                  <a:pt x="364816" y="209550"/>
                </a:lnTo>
                <a:lnTo>
                  <a:pt x="351957" y="259079"/>
                </a:lnTo>
                <a:lnTo>
                  <a:pt x="325884" y="302260"/>
                </a:lnTo>
                <a:lnTo>
                  <a:pt x="288938" y="335279"/>
                </a:lnTo>
                <a:lnTo>
                  <a:pt x="243502" y="356869"/>
                </a:lnTo>
                <a:lnTo>
                  <a:pt x="191913" y="365760"/>
                </a:lnTo>
                <a:lnTo>
                  <a:pt x="227826" y="365760"/>
                </a:lnTo>
                <a:lnTo>
                  <a:pt x="276597" y="347979"/>
                </a:lnTo>
                <a:lnTo>
                  <a:pt x="317479" y="317500"/>
                </a:lnTo>
                <a:lnTo>
                  <a:pt x="348052" y="276860"/>
                </a:lnTo>
                <a:lnTo>
                  <a:pt x="365908" y="227329"/>
                </a:lnTo>
                <a:lnTo>
                  <a:pt x="369566" y="191769"/>
                </a:lnTo>
                <a:lnTo>
                  <a:pt x="368679" y="173989"/>
                </a:lnTo>
                <a:lnTo>
                  <a:pt x="355753" y="123189"/>
                </a:lnTo>
                <a:lnTo>
                  <a:pt x="329283" y="78739"/>
                </a:lnTo>
                <a:lnTo>
                  <a:pt x="291675" y="44450"/>
                </a:lnTo>
                <a:lnTo>
                  <a:pt x="245353" y="22860"/>
                </a:lnTo>
                <a:lnTo>
                  <a:pt x="228387" y="177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6992584" y="1486110"/>
            <a:ext cx="194945" cy="978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50" spc="25">
                <a:solidFill>
                  <a:srgbClr val="C00000"/>
                </a:solidFill>
                <a:latin typeface="Arial"/>
                <a:cs typeface="Arial"/>
              </a:rPr>
              <a:t>3</a:t>
            </a:r>
            <a:endParaRPr sz="2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55"/>
              </a:spcBef>
            </a:pPr>
            <a:r>
              <a:rPr dirty="0" sz="2350" spc="25">
                <a:solidFill>
                  <a:srgbClr val="C00000"/>
                </a:solidFill>
                <a:latin typeface="Arial"/>
                <a:cs typeface="Arial"/>
              </a:rPr>
              <a:t>2</a:t>
            </a:r>
            <a:endParaRPr sz="2350">
              <a:latin typeface="Arial"/>
              <a:cs typeface="Aria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6528434" y="2060261"/>
            <a:ext cx="379095" cy="213995"/>
          </a:xfrm>
          <a:custGeom>
            <a:avLst/>
            <a:gdLst/>
            <a:ahLst/>
            <a:cxnLst/>
            <a:rect l="l" t="t" r="r" b="b"/>
            <a:pathLst>
              <a:path w="379095" h="213994">
                <a:moveTo>
                  <a:pt x="0" y="0"/>
                </a:moveTo>
                <a:lnTo>
                  <a:pt x="378902" y="21342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528434" y="1679231"/>
            <a:ext cx="379095" cy="122555"/>
          </a:xfrm>
          <a:custGeom>
            <a:avLst/>
            <a:gdLst/>
            <a:ahLst/>
            <a:cxnLst/>
            <a:rect l="l" t="t" r="r" b="b"/>
            <a:pathLst>
              <a:path w="379095" h="122555">
                <a:moveTo>
                  <a:pt x="0" y="122398"/>
                </a:moveTo>
                <a:lnTo>
                  <a:pt x="378902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6547472" y="2696972"/>
            <a:ext cx="21463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Arial"/>
                <a:cs typeface="Arial"/>
              </a:rPr>
              <a:t>Observed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35">
                <a:latin typeface="Arial"/>
                <a:cs typeface="Arial"/>
              </a:rPr>
              <a:t>graph</a:t>
            </a:r>
            <a:endParaRPr sz="2400">
              <a:latin typeface="Arial"/>
              <a:cs typeface="Arial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6116383" y="1324100"/>
            <a:ext cx="3027680" cy="1800225"/>
          </a:xfrm>
          <a:custGeom>
            <a:avLst/>
            <a:gdLst/>
            <a:ahLst/>
            <a:cxnLst/>
            <a:rect l="l" t="t" r="r" b="b"/>
            <a:pathLst>
              <a:path w="3027679" h="1800225">
                <a:moveTo>
                  <a:pt x="0" y="0"/>
                </a:moveTo>
                <a:lnTo>
                  <a:pt x="3027616" y="0"/>
                </a:lnTo>
                <a:lnTo>
                  <a:pt x="3027616" y="1800099"/>
                </a:lnTo>
                <a:lnTo>
                  <a:pt x="0" y="1800099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7305643" y="238271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182880" y="0"/>
                </a:moveTo>
                <a:lnTo>
                  <a:pt x="134263" y="6532"/>
                </a:lnTo>
                <a:lnTo>
                  <a:pt x="90576" y="24968"/>
                </a:lnTo>
                <a:lnTo>
                  <a:pt x="53564" y="53564"/>
                </a:lnTo>
                <a:lnTo>
                  <a:pt x="24968" y="90576"/>
                </a:lnTo>
                <a:lnTo>
                  <a:pt x="6532" y="134263"/>
                </a:lnTo>
                <a:lnTo>
                  <a:pt x="0" y="182879"/>
                </a:lnTo>
                <a:lnTo>
                  <a:pt x="6532" y="231496"/>
                </a:lnTo>
                <a:lnTo>
                  <a:pt x="24968" y="275183"/>
                </a:lnTo>
                <a:lnTo>
                  <a:pt x="53564" y="312195"/>
                </a:lnTo>
                <a:lnTo>
                  <a:pt x="90576" y="340791"/>
                </a:lnTo>
                <a:lnTo>
                  <a:pt x="134263" y="359227"/>
                </a:lnTo>
                <a:lnTo>
                  <a:pt x="182880" y="365760"/>
                </a:lnTo>
                <a:lnTo>
                  <a:pt x="231496" y="359227"/>
                </a:lnTo>
                <a:lnTo>
                  <a:pt x="275183" y="340791"/>
                </a:lnTo>
                <a:lnTo>
                  <a:pt x="312195" y="312195"/>
                </a:lnTo>
                <a:lnTo>
                  <a:pt x="340791" y="275183"/>
                </a:lnTo>
                <a:lnTo>
                  <a:pt x="359227" y="231496"/>
                </a:lnTo>
                <a:lnTo>
                  <a:pt x="365760" y="182879"/>
                </a:lnTo>
                <a:lnTo>
                  <a:pt x="359227" y="134263"/>
                </a:lnTo>
                <a:lnTo>
                  <a:pt x="340791" y="90576"/>
                </a:lnTo>
                <a:lnTo>
                  <a:pt x="312195" y="53564"/>
                </a:lnTo>
                <a:lnTo>
                  <a:pt x="275183" y="24968"/>
                </a:lnTo>
                <a:lnTo>
                  <a:pt x="231496" y="6532"/>
                </a:lnTo>
                <a:lnTo>
                  <a:pt x="1828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7296130" y="2374450"/>
            <a:ext cx="384810" cy="383540"/>
          </a:xfrm>
          <a:custGeom>
            <a:avLst/>
            <a:gdLst/>
            <a:ahLst/>
            <a:cxnLst/>
            <a:rect l="l" t="t" r="r" b="b"/>
            <a:pathLst>
              <a:path w="384809" h="383539">
                <a:moveTo>
                  <a:pt x="211571" y="0"/>
                </a:moveTo>
                <a:lnTo>
                  <a:pt x="172257" y="0"/>
                </a:lnTo>
                <a:lnTo>
                  <a:pt x="134735" y="7619"/>
                </a:lnTo>
                <a:lnTo>
                  <a:pt x="84438" y="33019"/>
                </a:lnTo>
                <a:lnTo>
                  <a:pt x="43644" y="69850"/>
                </a:lnTo>
                <a:lnTo>
                  <a:pt x="14939" y="116839"/>
                </a:lnTo>
                <a:lnTo>
                  <a:pt x="3812" y="153669"/>
                </a:lnTo>
                <a:lnTo>
                  <a:pt x="0" y="191769"/>
                </a:lnTo>
                <a:lnTo>
                  <a:pt x="1041" y="212089"/>
                </a:lnTo>
                <a:lnTo>
                  <a:pt x="15303" y="266700"/>
                </a:lnTo>
                <a:lnTo>
                  <a:pt x="44225" y="314960"/>
                </a:lnTo>
                <a:lnTo>
                  <a:pt x="85196" y="351789"/>
                </a:lnTo>
                <a:lnTo>
                  <a:pt x="135637" y="375919"/>
                </a:lnTo>
                <a:lnTo>
                  <a:pt x="173214" y="383539"/>
                </a:lnTo>
                <a:lnTo>
                  <a:pt x="212528" y="383539"/>
                </a:lnTo>
                <a:lnTo>
                  <a:pt x="250049" y="375919"/>
                </a:lnTo>
                <a:lnTo>
                  <a:pt x="255936" y="373379"/>
                </a:lnTo>
                <a:lnTo>
                  <a:pt x="192297" y="373379"/>
                </a:lnTo>
                <a:lnTo>
                  <a:pt x="173790" y="372110"/>
                </a:lnTo>
                <a:lnTo>
                  <a:pt x="121862" y="358139"/>
                </a:lnTo>
                <a:lnTo>
                  <a:pt x="77204" y="331469"/>
                </a:lnTo>
                <a:lnTo>
                  <a:pt x="42270" y="293369"/>
                </a:lnTo>
                <a:lnTo>
                  <a:pt x="19523" y="245110"/>
                </a:lnTo>
                <a:lnTo>
                  <a:pt x="11414" y="191769"/>
                </a:lnTo>
                <a:lnTo>
                  <a:pt x="12359" y="172719"/>
                </a:lnTo>
                <a:lnTo>
                  <a:pt x="25673" y="120650"/>
                </a:lnTo>
                <a:lnTo>
                  <a:pt x="52798" y="76200"/>
                </a:lnTo>
                <a:lnTo>
                  <a:pt x="91283" y="41910"/>
                </a:lnTo>
                <a:lnTo>
                  <a:pt x="138664" y="19050"/>
                </a:lnTo>
                <a:lnTo>
                  <a:pt x="173981" y="11429"/>
                </a:lnTo>
                <a:lnTo>
                  <a:pt x="259769" y="11429"/>
                </a:lnTo>
                <a:lnTo>
                  <a:pt x="249147" y="7619"/>
                </a:lnTo>
                <a:lnTo>
                  <a:pt x="211571" y="0"/>
                </a:lnTo>
                <a:close/>
              </a:path>
              <a:path w="384809" h="383539">
                <a:moveTo>
                  <a:pt x="259769" y="11429"/>
                </a:moveTo>
                <a:lnTo>
                  <a:pt x="210995" y="11429"/>
                </a:lnTo>
                <a:lnTo>
                  <a:pt x="228961" y="13969"/>
                </a:lnTo>
                <a:lnTo>
                  <a:pt x="246301" y="19050"/>
                </a:lnTo>
                <a:lnTo>
                  <a:pt x="293653" y="41910"/>
                </a:lnTo>
                <a:lnTo>
                  <a:pt x="332102" y="76200"/>
                </a:lnTo>
                <a:lnTo>
                  <a:pt x="359185" y="121919"/>
                </a:lnTo>
                <a:lnTo>
                  <a:pt x="372445" y="173989"/>
                </a:lnTo>
                <a:lnTo>
                  <a:pt x="373369" y="191769"/>
                </a:lnTo>
                <a:lnTo>
                  <a:pt x="372426" y="210819"/>
                </a:lnTo>
                <a:lnTo>
                  <a:pt x="359111" y="262889"/>
                </a:lnTo>
                <a:lnTo>
                  <a:pt x="331985" y="307339"/>
                </a:lnTo>
                <a:lnTo>
                  <a:pt x="293502" y="341629"/>
                </a:lnTo>
                <a:lnTo>
                  <a:pt x="246120" y="364489"/>
                </a:lnTo>
                <a:lnTo>
                  <a:pt x="192297" y="373379"/>
                </a:lnTo>
                <a:lnTo>
                  <a:pt x="255936" y="373379"/>
                </a:lnTo>
                <a:lnTo>
                  <a:pt x="300347" y="350519"/>
                </a:lnTo>
                <a:lnTo>
                  <a:pt x="341139" y="313689"/>
                </a:lnTo>
                <a:lnTo>
                  <a:pt x="369845" y="266700"/>
                </a:lnTo>
                <a:lnTo>
                  <a:pt x="380973" y="229869"/>
                </a:lnTo>
                <a:lnTo>
                  <a:pt x="384785" y="191769"/>
                </a:lnTo>
                <a:lnTo>
                  <a:pt x="383744" y="171450"/>
                </a:lnTo>
                <a:lnTo>
                  <a:pt x="369482" y="116839"/>
                </a:lnTo>
                <a:lnTo>
                  <a:pt x="340560" y="68579"/>
                </a:lnTo>
                <a:lnTo>
                  <a:pt x="299587" y="31750"/>
                </a:lnTo>
                <a:lnTo>
                  <a:pt x="266851" y="13969"/>
                </a:lnTo>
                <a:lnTo>
                  <a:pt x="259769" y="11429"/>
                </a:lnTo>
                <a:close/>
              </a:path>
              <a:path w="384809" h="383539">
                <a:moveTo>
                  <a:pt x="210802" y="15239"/>
                </a:moveTo>
                <a:lnTo>
                  <a:pt x="174556" y="15239"/>
                </a:lnTo>
                <a:lnTo>
                  <a:pt x="156959" y="17779"/>
                </a:lnTo>
                <a:lnTo>
                  <a:pt x="108188" y="35560"/>
                </a:lnTo>
                <a:lnTo>
                  <a:pt x="67306" y="66039"/>
                </a:lnTo>
                <a:lnTo>
                  <a:pt x="36733" y="106679"/>
                </a:lnTo>
                <a:lnTo>
                  <a:pt x="18877" y="156210"/>
                </a:lnTo>
                <a:lnTo>
                  <a:pt x="15220" y="191769"/>
                </a:lnTo>
                <a:lnTo>
                  <a:pt x="16106" y="209550"/>
                </a:lnTo>
                <a:lnTo>
                  <a:pt x="29033" y="260350"/>
                </a:lnTo>
                <a:lnTo>
                  <a:pt x="55502" y="304800"/>
                </a:lnTo>
                <a:lnTo>
                  <a:pt x="93110" y="339089"/>
                </a:lnTo>
                <a:lnTo>
                  <a:pt x="139433" y="360679"/>
                </a:lnTo>
                <a:lnTo>
                  <a:pt x="192104" y="369569"/>
                </a:lnTo>
                <a:lnTo>
                  <a:pt x="210228" y="368300"/>
                </a:lnTo>
                <a:lnTo>
                  <a:pt x="227826" y="365760"/>
                </a:lnTo>
                <a:lnTo>
                  <a:pt x="191912" y="365760"/>
                </a:lnTo>
                <a:lnTo>
                  <a:pt x="174174" y="364489"/>
                </a:lnTo>
                <a:lnTo>
                  <a:pt x="124481" y="351789"/>
                </a:lnTo>
                <a:lnTo>
                  <a:pt x="81767" y="325119"/>
                </a:lnTo>
                <a:lnTo>
                  <a:pt x="48374" y="288289"/>
                </a:lnTo>
                <a:lnTo>
                  <a:pt x="26678" y="242569"/>
                </a:lnTo>
                <a:lnTo>
                  <a:pt x="19025" y="191769"/>
                </a:lnTo>
                <a:lnTo>
                  <a:pt x="19969" y="173989"/>
                </a:lnTo>
                <a:lnTo>
                  <a:pt x="32829" y="124460"/>
                </a:lnTo>
                <a:lnTo>
                  <a:pt x="58901" y="81279"/>
                </a:lnTo>
                <a:lnTo>
                  <a:pt x="95846" y="48260"/>
                </a:lnTo>
                <a:lnTo>
                  <a:pt x="141283" y="26669"/>
                </a:lnTo>
                <a:lnTo>
                  <a:pt x="192872" y="17779"/>
                </a:lnTo>
                <a:lnTo>
                  <a:pt x="228386" y="17779"/>
                </a:lnTo>
                <a:lnTo>
                  <a:pt x="210802" y="15239"/>
                </a:lnTo>
                <a:close/>
              </a:path>
              <a:path w="384809" h="383539">
                <a:moveTo>
                  <a:pt x="228386" y="17779"/>
                </a:moveTo>
                <a:lnTo>
                  <a:pt x="192872" y="17779"/>
                </a:lnTo>
                <a:lnTo>
                  <a:pt x="210610" y="19050"/>
                </a:lnTo>
                <a:lnTo>
                  <a:pt x="227812" y="21589"/>
                </a:lnTo>
                <a:lnTo>
                  <a:pt x="275429" y="39369"/>
                </a:lnTo>
                <a:lnTo>
                  <a:pt x="315301" y="69850"/>
                </a:lnTo>
                <a:lnTo>
                  <a:pt x="345058" y="109219"/>
                </a:lnTo>
                <a:lnTo>
                  <a:pt x="362332" y="157479"/>
                </a:lnTo>
                <a:lnTo>
                  <a:pt x="365759" y="191769"/>
                </a:lnTo>
                <a:lnTo>
                  <a:pt x="364815" y="209550"/>
                </a:lnTo>
                <a:lnTo>
                  <a:pt x="351956" y="259079"/>
                </a:lnTo>
                <a:lnTo>
                  <a:pt x="325883" y="302260"/>
                </a:lnTo>
                <a:lnTo>
                  <a:pt x="288938" y="335279"/>
                </a:lnTo>
                <a:lnTo>
                  <a:pt x="243502" y="356869"/>
                </a:lnTo>
                <a:lnTo>
                  <a:pt x="191912" y="365760"/>
                </a:lnTo>
                <a:lnTo>
                  <a:pt x="227826" y="365760"/>
                </a:lnTo>
                <a:lnTo>
                  <a:pt x="276597" y="347979"/>
                </a:lnTo>
                <a:lnTo>
                  <a:pt x="317479" y="317500"/>
                </a:lnTo>
                <a:lnTo>
                  <a:pt x="348051" y="276860"/>
                </a:lnTo>
                <a:lnTo>
                  <a:pt x="365907" y="227329"/>
                </a:lnTo>
                <a:lnTo>
                  <a:pt x="369564" y="191769"/>
                </a:lnTo>
                <a:lnTo>
                  <a:pt x="368678" y="173989"/>
                </a:lnTo>
                <a:lnTo>
                  <a:pt x="355752" y="123189"/>
                </a:lnTo>
                <a:lnTo>
                  <a:pt x="329283" y="78739"/>
                </a:lnTo>
                <a:lnTo>
                  <a:pt x="291675" y="44450"/>
                </a:lnTo>
                <a:lnTo>
                  <a:pt x="245352" y="22860"/>
                </a:lnTo>
                <a:lnTo>
                  <a:pt x="228386" y="177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7390892" y="2373078"/>
            <a:ext cx="194945" cy="384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50" spc="25">
                <a:solidFill>
                  <a:srgbClr val="7F7F7F"/>
                </a:solidFill>
                <a:latin typeface="Arial"/>
                <a:cs typeface="Arial"/>
              </a:rPr>
              <a:t>4</a:t>
            </a:r>
            <a:endParaRPr sz="235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54227" y="6699893"/>
            <a:ext cx="400685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12/6/18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5" name="object 6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66" name="object 6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31</a:t>
            </a:fld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12622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86183" y="4744769"/>
            <a:ext cx="762000" cy="629920"/>
          </a:xfrm>
          <a:prstGeom prst="rect">
            <a:avLst/>
          </a:prstGeom>
          <a:solidFill>
            <a:srgbClr val="F0AD00"/>
          </a:solidFill>
          <a:ln w="48000">
            <a:solidFill>
              <a:srgbClr val="B07E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4775" indent="-36195">
              <a:lnSpc>
                <a:spcPts val="2185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Node</a:t>
            </a:r>
            <a:endParaRPr sz="2000">
              <a:latin typeface="Corbel"/>
              <a:cs typeface="Corbel"/>
            </a:endParaRPr>
          </a:p>
          <a:p>
            <a:pPr marL="104775">
              <a:lnSpc>
                <a:spcPts val="2395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6974" y="5704332"/>
            <a:ext cx="4667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𝑆</a:t>
            </a:r>
            <a:r>
              <a:rPr dirty="0" sz="2000" spc="-5">
                <a:latin typeface="Cambria Math"/>
                <a:cs typeface="Cambria Math"/>
              </a:rPr>
              <a:t>𝑂</a:t>
            </a:r>
            <a:r>
              <a:rPr dirty="0" sz="2000">
                <a:latin typeface="Cambria Math"/>
                <a:cs typeface="Cambria Math"/>
              </a:rPr>
              <a:t>𝑆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98602" y="5470917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102868" y="68580"/>
                </a:moveTo>
                <a:lnTo>
                  <a:pt x="34289" y="68580"/>
                </a:lnTo>
                <a:lnTo>
                  <a:pt x="34289" y="182880"/>
                </a:lnTo>
                <a:lnTo>
                  <a:pt x="102868" y="182880"/>
                </a:lnTo>
                <a:lnTo>
                  <a:pt x="102868" y="68580"/>
                </a:lnTo>
                <a:close/>
              </a:path>
              <a:path w="137160" h="182879">
                <a:moveTo>
                  <a:pt x="68578" y="0"/>
                </a:moveTo>
                <a:lnTo>
                  <a:pt x="0" y="68580"/>
                </a:lnTo>
                <a:lnTo>
                  <a:pt x="137158" y="68580"/>
                </a:lnTo>
                <a:lnTo>
                  <a:pt x="6857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98602" y="5470917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34289" y="182880"/>
                </a:moveTo>
                <a:lnTo>
                  <a:pt x="34289" y="68579"/>
                </a:lnTo>
                <a:lnTo>
                  <a:pt x="0" y="68579"/>
                </a:lnTo>
                <a:lnTo>
                  <a:pt x="68579" y="0"/>
                </a:lnTo>
                <a:lnTo>
                  <a:pt x="137159" y="68579"/>
                </a:lnTo>
                <a:lnTo>
                  <a:pt x="102869" y="68579"/>
                </a:lnTo>
                <a:lnTo>
                  <a:pt x="102869" y="182880"/>
                </a:lnTo>
                <a:lnTo>
                  <a:pt x="34289" y="182880"/>
                </a:lnTo>
                <a:close/>
              </a:path>
            </a:pathLst>
          </a:custGeom>
          <a:ln w="381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279039" y="3733800"/>
            <a:ext cx="762000" cy="629920"/>
          </a:xfrm>
          <a:prstGeom prst="rect">
            <a:avLst/>
          </a:prstGeom>
          <a:solidFill>
            <a:srgbClr val="60B5CC"/>
          </a:solidFill>
          <a:ln w="48000">
            <a:solidFill>
              <a:srgbClr val="24617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4775" indent="-17780">
              <a:lnSpc>
                <a:spcPts val="2180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Edge</a:t>
            </a:r>
            <a:endParaRPr sz="2000">
              <a:latin typeface="Corbel"/>
              <a:cs typeface="Corbel"/>
            </a:endParaRPr>
          </a:p>
          <a:p>
            <a:pPr marL="104775">
              <a:lnSpc>
                <a:spcPct val="100000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91459" y="4463044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102869" y="68580"/>
                </a:moveTo>
                <a:lnTo>
                  <a:pt x="34289" y="68580"/>
                </a:lnTo>
                <a:lnTo>
                  <a:pt x="34289" y="182880"/>
                </a:lnTo>
                <a:lnTo>
                  <a:pt x="102869" y="182880"/>
                </a:lnTo>
                <a:lnTo>
                  <a:pt x="102869" y="68580"/>
                </a:lnTo>
                <a:close/>
              </a:path>
              <a:path w="137160" h="182879">
                <a:moveTo>
                  <a:pt x="68580" y="0"/>
                </a:moveTo>
                <a:lnTo>
                  <a:pt x="0" y="68580"/>
                </a:lnTo>
                <a:lnTo>
                  <a:pt x="137159" y="68580"/>
                </a:lnTo>
                <a:lnTo>
                  <a:pt x="6858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91459" y="4463044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34289" y="182880"/>
                </a:moveTo>
                <a:lnTo>
                  <a:pt x="34289" y="68579"/>
                </a:lnTo>
                <a:lnTo>
                  <a:pt x="0" y="68579"/>
                </a:lnTo>
                <a:lnTo>
                  <a:pt x="68579" y="0"/>
                </a:lnTo>
                <a:lnTo>
                  <a:pt x="137159" y="68579"/>
                </a:lnTo>
                <a:lnTo>
                  <a:pt x="102869" y="68579"/>
                </a:lnTo>
                <a:lnTo>
                  <a:pt x="102869" y="182880"/>
                </a:lnTo>
                <a:lnTo>
                  <a:pt x="34289" y="182880"/>
                </a:lnTo>
                <a:close/>
              </a:path>
            </a:pathLst>
          </a:custGeom>
          <a:ln w="381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178522" y="3976155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80" h="137160">
                <a:moveTo>
                  <a:pt x="68578" y="0"/>
                </a:moveTo>
                <a:lnTo>
                  <a:pt x="0" y="68580"/>
                </a:lnTo>
                <a:lnTo>
                  <a:pt x="68578" y="137160"/>
                </a:lnTo>
                <a:lnTo>
                  <a:pt x="68578" y="102869"/>
                </a:lnTo>
                <a:lnTo>
                  <a:pt x="182879" y="102869"/>
                </a:lnTo>
                <a:lnTo>
                  <a:pt x="182879" y="34289"/>
                </a:lnTo>
                <a:lnTo>
                  <a:pt x="68578" y="34289"/>
                </a:lnTo>
                <a:lnTo>
                  <a:pt x="68578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178522" y="3976156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80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468590" y="3866388"/>
            <a:ext cx="4667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𝑆</a:t>
            </a:r>
            <a:r>
              <a:rPr dirty="0" sz="2000" spc="-5">
                <a:latin typeface="Cambria Math"/>
                <a:cs typeface="Cambria Math"/>
              </a:rPr>
              <a:t>𝑂</a:t>
            </a:r>
            <a:r>
              <a:rPr dirty="0" sz="2000">
                <a:latin typeface="Cambria Math"/>
                <a:cs typeface="Cambria Math"/>
              </a:rPr>
              <a:t>𝑆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3642" y="3850534"/>
            <a:ext cx="513715" cy="3962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4765" rIns="0" bIns="0" rtlCol="0" vert="horz">
            <a:spAutoFit/>
          </a:bodyPr>
          <a:lstStyle/>
          <a:p>
            <a:pPr marL="89535">
              <a:lnSpc>
                <a:spcPct val="100000"/>
              </a:lnSpc>
              <a:spcBef>
                <a:spcPts val="195"/>
              </a:spcBef>
            </a:pPr>
            <a:r>
              <a:rPr dirty="0" sz="2000" spc="-5">
                <a:latin typeface="Calibri"/>
                <a:cs typeface="Calibri"/>
              </a:rPr>
              <a:t>0.5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7764687" y="1414976"/>
          <a:ext cx="1289685" cy="1207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0210"/>
                <a:gridCol w="420210"/>
                <a:gridCol w="420210"/>
              </a:tblGrid>
              <a:tr h="355600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6216237" y="17480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6301485" y="1736851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907335" y="209080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897822" y="1488084"/>
            <a:ext cx="384810" cy="383540"/>
          </a:xfrm>
          <a:custGeom>
            <a:avLst/>
            <a:gdLst/>
            <a:ahLst/>
            <a:cxnLst/>
            <a:rect l="l" t="t" r="r" b="b"/>
            <a:pathLst>
              <a:path w="384809" h="383539">
                <a:moveTo>
                  <a:pt x="211571" y="0"/>
                </a:moveTo>
                <a:lnTo>
                  <a:pt x="172257" y="0"/>
                </a:lnTo>
                <a:lnTo>
                  <a:pt x="134736" y="7619"/>
                </a:lnTo>
                <a:lnTo>
                  <a:pt x="84439" y="33019"/>
                </a:lnTo>
                <a:lnTo>
                  <a:pt x="43646" y="69850"/>
                </a:lnTo>
                <a:lnTo>
                  <a:pt x="14940" y="116839"/>
                </a:lnTo>
                <a:lnTo>
                  <a:pt x="3812" y="153669"/>
                </a:lnTo>
                <a:lnTo>
                  <a:pt x="0" y="191769"/>
                </a:lnTo>
                <a:lnTo>
                  <a:pt x="1041" y="212089"/>
                </a:lnTo>
                <a:lnTo>
                  <a:pt x="15303" y="266700"/>
                </a:lnTo>
                <a:lnTo>
                  <a:pt x="44225" y="314960"/>
                </a:lnTo>
                <a:lnTo>
                  <a:pt x="85197" y="351789"/>
                </a:lnTo>
                <a:lnTo>
                  <a:pt x="135638" y="375919"/>
                </a:lnTo>
                <a:lnTo>
                  <a:pt x="173215" y="383539"/>
                </a:lnTo>
                <a:lnTo>
                  <a:pt x="212529" y="383539"/>
                </a:lnTo>
                <a:lnTo>
                  <a:pt x="250050" y="375919"/>
                </a:lnTo>
                <a:lnTo>
                  <a:pt x="255937" y="373379"/>
                </a:lnTo>
                <a:lnTo>
                  <a:pt x="192297" y="373379"/>
                </a:lnTo>
                <a:lnTo>
                  <a:pt x="173790" y="372110"/>
                </a:lnTo>
                <a:lnTo>
                  <a:pt x="121862" y="358139"/>
                </a:lnTo>
                <a:lnTo>
                  <a:pt x="77205" y="331469"/>
                </a:lnTo>
                <a:lnTo>
                  <a:pt x="42271" y="293369"/>
                </a:lnTo>
                <a:lnTo>
                  <a:pt x="19524" y="245110"/>
                </a:lnTo>
                <a:lnTo>
                  <a:pt x="11416" y="191769"/>
                </a:lnTo>
                <a:lnTo>
                  <a:pt x="12359" y="172719"/>
                </a:lnTo>
                <a:lnTo>
                  <a:pt x="25674" y="120650"/>
                </a:lnTo>
                <a:lnTo>
                  <a:pt x="52800" y="76200"/>
                </a:lnTo>
                <a:lnTo>
                  <a:pt x="91283" y="41910"/>
                </a:lnTo>
                <a:lnTo>
                  <a:pt x="138664" y="19050"/>
                </a:lnTo>
                <a:lnTo>
                  <a:pt x="173982" y="11429"/>
                </a:lnTo>
                <a:lnTo>
                  <a:pt x="259770" y="11429"/>
                </a:lnTo>
                <a:lnTo>
                  <a:pt x="249148" y="7619"/>
                </a:lnTo>
                <a:lnTo>
                  <a:pt x="211571" y="0"/>
                </a:lnTo>
                <a:close/>
              </a:path>
              <a:path w="384809" h="383539">
                <a:moveTo>
                  <a:pt x="259770" y="11429"/>
                </a:moveTo>
                <a:lnTo>
                  <a:pt x="210995" y="11429"/>
                </a:lnTo>
                <a:lnTo>
                  <a:pt x="228963" y="13969"/>
                </a:lnTo>
                <a:lnTo>
                  <a:pt x="246302" y="19050"/>
                </a:lnTo>
                <a:lnTo>
                  <a:pt x="293654" y="41910"/>
                </a:lnTo>
                <a:lnTo>
                  <a:pt x="332102" y="76200"/>
                </a:lnTo>
                <a:lnTo>
                  <a:pt x="359185" y="121919"/>
                </a:lnTo>
                <a:lnTo>
                  <a:pt x="372446" y="173989"/>
                </a:lnTo>
                <a:lnTo>
                  <a:pt x="373371" y="191769"/>
                </a:lnTo>
                <a:lnTo>
                  <a:pt x="372426" y="210819"/>
                </a:lnTo>
                <a:lnTo>
                  <a:pt x="359112" y="262889"/>
                </a:lnTo>
                <a:lnTo>
                  <a:pt x="331986" y="307339"/>
                </a:lnTo>
                <a:lnTo>
                  <a:pt x="293502" y="341629"/>
                </a:lnTo>
                <a:lnTo>
                  <a:pt x="246122" y="364489"/>
                </a:lnTo>
                <a:lnTo>
                  <a:pt x="192297" y="373379"/>
                </a:lnTo>
                <a:lnTo>
                  <a:pt x="255937" y="373379"/>
                </a:lnTo>
                <a:lnTo>
                  <a:pt x="300347" y="350519"/>
                </a:lnTo>
                <a:lnTo>
                  <a:pt x="341141" y="313689"/>
                </a:lnTo>
                <a:lnTo>
                  <a:pt x="369846" y="266700"/>
                </a:lnTo>
                <a:lnTo>
                  <a:pt x="380974" y="229869"/>
                </a:lnTo>
                <a:lnTo>
                  <a:pt x="384785" y="191769"/>
                </a:lnTo>
                <a:lnTo>
                  <a:pt x="383745" y="171450"/>
                </a:lnTo>
                <a:lnTo>
                  <a:pt x="369483" y="116839"/>
                </a:lnTo>
                <a:lnTo>
                  <a:pt x="340561" y="68579"/>
                </a:lnTo>
                <a:lnTo>
                  <a:pt x="299589" y="31750"/>
                </a:lnTo>
                <a:lnTo>
                  <a:pt x="266852" y="13969"/>
                </a:lnTo>
                <a:lnTo>
                  <a:pt x="259770" y="11429"/>
                </a:lnTo>
                <a:close/>
              </a:path>
              <a:path w="384809" h="383539">
                <a:moveTo>
                  <a:pt x="210803" y="15239"/>
                </a:moveTo>
                <a:lnTo>
                  <a:pt x="174557" y="15239"/>
                </a:lnTo>
                <a:lnTo>
                  <a:pt x="156960" y="17779"/>
                </a:lnTo>
                <a:lnTo>
                  <a:pt x="108188" y="35560"/>
                </a:lnTo>
                <a:lnTo>
                  <a:pt x="67307" y="66039"/>
                </a:lnTo>
                <a:lnTo>
                  <a:pt x="36734" y="106679"/>
                </a:lnTo>
                <a:lnTo>
                  <a:pt x="18878" y="156210"/>
                </a:lnTo>
                <a:lnTo>
                  <a:pt x="15220" y="191769"/>
                </a:lnTo>
                <a:lnTo>
                  <a:pt x="16107" y="209550"/>
                </a:lnTo>
                <a:lnTo>
                  <a:pt x="29033" y="260350"/>
                </a:lnTo>
                <a:lnTo>
                  <a:pt x="55504" y="304800"/>
                </a:lnTo>
                <a:lnTo>
                  <a:pt x="93111" y="339089"/>
                </a:lnTo>
                <a:lnTo>
                  <a:pt x="139433" y="360679"/>
                </a:lnTo>
                <a:lnTo>
                  <a:pt x="192105" y="369569"/>
                </a:lnTo>
                <a:lnTo>
                  <a:pt x="210229" y="368300"/>
                </a:lnTo>
                <a:lnTo>
                  <a:pt x="227826" y="365760"/>
                </a:lnTo>
                <a:lnTo>
                  <a:pt x="191913" y="365760"/>
                </a:lnTo>
                <a:lnTo>
                  <a:pt x="174175" y="364489"/>
                </a:lnTo>
                <a:lnTo>
                  <a:pt x="124481" y="351789"/>
                </a:lnTo>
                <a:lnTo>
                  <a:pt x="81768" y="325119"/>
                </a:lnTo>
                <a:lnTo>
                  <a:pt x="48374" y="288289"/>
                </a:lnTo>
                <a:lnTo>
                  <a:pt x="26680" y="242569"/>
                </a:lnTo>
                <a:lnTo>
                  <a:pt x="19025" y="191769"/>
                </a:lnTo>
                <a:lnTo>
                  <a:pt x="19970" y="173989"/>
                </a:lnTo>
                <a:lnTo>
                  <a:pt x="32829" y="124460"/>
                </a:lnTo>
                <a:lnTo>
                  <a:pt x="58902" y="81279"/>
                </a:lnTo>
                <a:lnTo>
                  <a:pt x="95848" y="48260"/>
                </a:lnTo>
                <a:lnTo>
                  <a:pt x="141284" y="26669"/>
                </a:lnTo>
                <a:lnTo>
                  <a:pt x="192873" y="17779"/>
                </a:lnTo>
                <a:lnTo>
                  <a:pt x="228387" y="17779"/>
                </a:lnTo>
                <a:lnTo>
                  <a:pt x="210803" y="15239"/>
                </a:lnTo>
                <a:close/>
              </a:path>
              <a:path w="384809" h="383539">
                <a:moveTo>
                  <a:pt x="228387" y="17779"/>
                </a:moveTo>
                <a:lnTo>
                  <a:pt x="192873" y="17779"/>
                </a:lnTo>
                <a:lnTo>
                  <a:pt x="210611" y="19050"/>
                </a:lnTo>
                <a:lnTo>
                  <a:pt x="227812" y="21589"/>
                </a:lnTo>
                <a:lnTo>
                  <a:pt x="275431" y="39369"/>
                </a:lnTo>
                <a:lnTo>
                  <a:pt x="315302" y="69850"/>
                </a:lnTo>
                <a:lnTo>
                  <a:pt x="345060" y="109219"/>
                </a:lnTo>
                <a:lnTo>
                  <a:pt x="362333" y="157479"/>
                </a:lnTo>
                <a:lnTo>
                  <a:pt x="365760" y="191769"/>
                </a:lnTo>
                <a:lnTo>
                  <a:pt x="364816" y="209550"/>
                </a:lnTo>
                <a:lnTo>
                  <a:pt x="351957" y="259079"/>
                </a:lnTo>
                <a:lnTo>
                  <a:pt x="325884" y="302260"/>
                </a:lnTo>
                <a:lnTo>
                  <a:pt x="288938" y="335279"/>
                </a:lnTo>
                <a:lnTo>
                  <a:pt x="243502" y="356869"/>
                </a:lnTo>
                <a:lnTo>
                  <a:pt x="191913" y="365760"/>
                </a:lnTo>
                <a:lnTo>
                  <a:pt x="227826" y="365760"/>
                </a:lnTo>
                <a:lnTo>
                  <a:pt x="276597" y="347979"/>
                </a:lnTo>
                <a:lnTo>
                  <a:pt x="317479" y="317500"/>
                </a:lnTo>
                <a:lnTo>
                  <a:pt x="348052" y="276860"/>
                </a:lnTo>
                <a:lnTo>
                  <a:pt x="365908" y="227329"/>
                </a:lnTo>
                <a:lnTo>
                  <a:pt x="369566" y="191769"/>
                </a:lnTo>
                <a:lnTo>
                  <a:pt x="368679" y="173989"/>
                </a:lnTo>
                <a:lnTo>
                  <a:pt x="355753" y="123189"/>
                </a:lnTo>
                <a:lnTo>
                  <a:pt x="329283" y="78739"/>
                </a:lnTo>
                <a:lnTo>
                  <a:pt x="291675" y="44450"/>
                </a:lnTo>
                <a:lnTo>
                  <a:pt x="245353" y="22860"/>
                </a:lnTo>
                <a:lnTo>
                  <a:pt x="228387" y="177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992584" y="1483867"/>
            <a:ext cx="194945" cy="9855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dirty="0" sz="2400" spc="-5"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528434" y="2060261"/>
            <a:ext cx="379095" cy="213995"/>
          </a:xfrm>
          <a:custGeom>
            <a:avLst/>
            <a:gdLst/>
            <a:ahLst/>
            <a:cxnLst/>
            <a:rect l="l" t="t" r="r" b="b"/>
            <a:pathLst>
              <a:path w="379095" h="213994">
                <a:moveTo>
                  <a:pt x="0" y="0"/>
                </a:moveTo>
                <a:lnTo>
                  <a:pt x="378902" y="21342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528434" y="1679231"/>
            <a:ext cx="379095" cy="122555"/>
          </a:xfrm>
          <a:custGeom>
            <a:avLst/>
            <a:gdLst/>
            <a:ahLst/>
            <a:cxnLst/>
            <a:rect l="l" t="t" r="r" b="b"/>
            <a:pathLst>
              <a:path w="379095" h="122555">
                <a:moveTo>
                  <a:pt x="0" y="122398"/>
                </a:moveTo>
                <a:lnTo>
                  <a:pt x="378902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588517" y="5021436"/>
            <a:ext cx="1031240" cy="137160"/>
          </a:xfrm>
          <a:custGeom>
            <a:avLst/>
            <a:gdLst/>
            <a:ahLst/>
            <a:cxnLst/>
            <a:rect l="l" t="t" r="r" b="b"/>
            <a:pathLst>
              <a:path w="1031239" h="137160">
                <a:moveTo>
                  <a:pt x="962345" y="0"/>
                </a:moveTo>
                <a:lnTo>
                  <a:pt x="962345" y="34290"/>
                </a:lnTo>
                <a:lnTo>
                  <a:pt x="0" y="34290"/>
                </a:lnTo>
                <a:lnTo>
                  <a:pt x="0" y="102870"/>
                </a:lnTo>
                <a:lnTo>
                  <a:pt x="962345" y="102870"/>
                </a:lnTo>
                <a:lnTo>
                  <a:pt x="962345" y="137160"/>
                </a:lnTo>
                <a:lnTo>
                  <a:pt x="1030923" y="68580"/>
                </a:lnTo>
                <a:lnTo>
                  <a:pt x="96234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588517" y="5021436"/>
            <a:ext cx="1031240" cy="137160"/>
          </a:xfrm>
          <a:custGeom>
            <a:avLst/>
            <a:gdLst/>
            <a:ahLst/>
            <a:cxnLst/>
            <a:rect l="l" t="t" r="r" b="b"/>
            <a:pathLst>
              <a:path w="1031239" h="137160">
                <a:moveTo>
                  <a:pt x="0" y="34290"/>
                </a:moveTo>
                <a:lnTo>
                  <a:pt x="962344" y="34290"/>
                </a:lnTo>
                <a:lnTo>
                  <a:pt x="962344" y="0"/>
                </a:lnTo>
                <a:lnTo>
                  <a:pt x="1030924" y="68580"/>
                </a:lnTo>
                <a:lnTo>
                  <a:pt x="962344" y="137160"/>
                </a:lnTo>
                <a:lnTo>
                  <a:pt x="962344" y="102870"/>
                </a:lnTo>
                <a:lnTo>
                  <a:pt x="0" y="102870"/>
                </a:lnTo>
                <a:lnTo>
                  <a:pt x="0" y="34290"/>
                </a:lnTo>
                <a:close/>
              </a:path>
            </a:pathLst>
          </a:custGeom>
          <a:ln w="381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4268718" y="4744769"/>
            <a:ext cx="762000" cy="629920"/>
          </a:xfrm>
          <a:prstGeom prst="rect">
            <a:avLst/>
          </a:prstGeom>
          <a:solidFill>
            <a:srgbClr val="F0AD00"/>
          </a:solidFill>
          <a:ln w="48000">
            <a:solidFill>
              <a:srgbClr val="B07E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4775" indent="-36195">
              <a:lnSpc>
                <a:spcPts val="2185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Node</a:t>
            </a:r>
            <a:endParaRPr sz="2000">
              <a:latin typeface="Corbel"/>
              <a:cs typeface="Corbel"/>
            </a:endParaRPr>
          </a:p>
          <a:p>
            <a:pPr marL="104775">
              <a:lnSpc>
                <a:spcPts val="2395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573995" y="4463044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102868" y="68580"/>
                </a:moveTo>
                <a:lnTo>
                  <a:pt x="34289" y="68580"/>
                </a:lnTo>
                <a:lnTo>
                  <a:pt x="34289" y="182880"/>
                </a:lnTo>
                <a:lnTo>
                  <a:pt x="102868" y="182880"/>
                </a:lnTo>
                <a:lnTo>
                  <a:pt x="102868" y="68580"/>
                </a:lnTo>
                <a:close/>
              </a:path>
              <a:path w="137160" h="182879">
                <a:moveTo>
                  <a:pt x="68579" y="0"/>
                </a:moveTo>
                <a:lnTo>
                  <a:pt x="0" y="68580"/>
                </a:lnTo>
                <a:lnTo>
                  <a:pt x="137158" y="68580"/>
                </a:lnTo>
                <a:lnTo>
                  <a:pt x="6857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573995" y="4463044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34289" y="182880"/>
                </a:moveTo>
                <a:lnTo>
                  <a:pt x="34289" y="68579"/>
                </a:lnTo>
                <a:lnTo>
                  <a:pt x="0" y="68579"/>
                </a:lnTo>
                <a:lnTo>
                  <a:pt x="68579" y="0"/>
                </a:lnTo>
                <a:lnTo>
                  <a:pt x="137159" y="68579"/>
                </a:lnTo>
                <a:lnTo>
                  <a:pt x="102869" y="68579"/>
                </a:lnTo>
                <a:lnTo>
                  <a:pt x="102869" y="182880"/>
                </a:lnTo>
                <a:lnTo>
                  <a:pt x="34289" y="182880"/>
                </a:lnTo>
                <a:close/>
              </a:path>
            </a:pathLst>
          </a:custGeom>
          <a:ln w="381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4272154" y="3733800"/>
            <a:ext cx="762000" cy="629920"/>
          </a:xfrm>
          <a:prstGeom prst="rect">
            <a:avLst/>
          </a:prstGeom>
          <a:solidFill>
            <a:srgbClr val="60B5CC"/>
          </a:solidFill>
          <a:ln w="48000">
            <a:solidFill>
              <a:srgbClr val="24617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4775" indent="-17780">
              <a:lnSpc>
                <a:spcPts val="2180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Edge</a:t>
            </a:r>
            <a:endParaRPr sz="2000">
              <a:latin typeface="Corbel"/>
              <a:cs typeface="Corbel"/>
            </a:endParaRPr>
          </a:p>
          <a:p>
            <a:pPr marL="104775">
              <a:lnSpc>
                <a:spcPct val="100000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216299" y="4740912"/>
            <a:ext cx="762000" cy="629920"/>
          </a:xfrm>
          <a:prstGeom prst="rect">
            <a:avLst/>
          </a:prstGeom>
          <a:solidFill>
            <a:srgbClr val="F0AD00"/>
          </a:solidFill>
          <a:ln w="48000">
            <a:solidFill>
              <a:srgbClr val="B07E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4775" indent="-36195">
              <a:lnSpc>
                <a:spcPts val="2195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Node</a:t>
            </a:r>
            <a:endParaRPr sz="2000">
              <a:latin typeface="Corbel"/>
              <a:cs typeface="Corbel"/>
            </a:endParaRPr>
          </a:p>
          <a:p>
            <a:pPr marL="104775">
              <a:lnSpc>
                <a:spcPts val="2385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521576" y="4459185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59" h="182879">
                <a:moveTo>
                  <a:pt x="102868" y="68580"/>
                </a:moveTo>
                <a:lnTo>
                  <a:pt x="34290" y="68580"/>
                </a:lnTo>
                <a:lnTo>
                  <a:pt x="34290" y="182880"/>
                </a:lnTo>
                <a:lnTo>
                  <a:pt x="102868" y="182880"/>
                </a:lnTo>
                <a:lnTo>
                  <a:pt x="102868" y="68580"/>
                </a:lnTo>
                <a:close/>
              </a:path>
              <a:path w="137159" h="182879">
                <a:moveTo>
                  <a:pt x="68579" y="0"/>
                </a:moveTo>
                <a:lnTo>
                  <a:pt x="0" y="68580"/>
                </a:lnTo>
                <a:lnTo>
                  <a:pt x="137158" y="68580"/>
                </a:lnTo>
                <a:lnTo>
                  <a:pt x="6857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521576" y="4459185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59" h="182879">
                <a:moveTo>
                  <a:pt x="34289" y="182880"/>
                </a:moveTo>
                <a:lnTo>
                  <a:pt x="34289" y="68579"/>
                </a:lnTo>
                <a:lnTo>
                  <a:pt x="0" y="68579"/>
                </a:lnTo>
                <a:lnTo>
                  <a:pt x="68579" y="0"/>
                </a:lnTo>
                <a:lnTo>
                  <a:pt x="137159" y="68579"/>
                </a:lnTo>
                <a:lnTo>
                  <a:pt x="102869" y="68579"/>
                </a:lnTo>
                <a:lnTo>
                  <a:pt x="102869" y="182880"/>
                </a:lnTo>
                <a:lnTo>
                  <a:pt x="34289" y="182880"/>
                </a:lnTo>
                <a:close/>
              </a:path>
            </a:pathLst>
          </a:custGeom>
          <a:ln w="381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7219735" y="3729941"/>
            <a:ext cx="762000" cy="629920"/>
          </a:xfrm>
          <a:prstGeom prst="rect">
            <a:avLst/>
          </a:prstGeom>
          <a:solidFill>
            <a:srgbClr val="60B5CC"/>
          </a:solidFill>
          <a:ln w="48000">
            <a:solidFill>
              <a:srgbClr val="24617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4775" indent="-17780">
              <a:lnSpc>
                <a:spcPts val="2185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Edge</a:t>
            </a:r>
            <a:endParaRPr sz="2000">
              <a:latin typeface="Corbel"/>
              <a:cs typeface="Corbel"/>
            </a:endParaRPr>
          </a:p>
          <a:p>
            <a:pPr marL="104775">
              <a:lnSpc>
                <a:spcPts val="2395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972067" y="3977295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80" h="137160">
                <a:moveTo>
                  <a:pt x="68579" y="0"/>
                </a:moveTo>
                <a:lnTo>
                  <a:pt x="0" y="68579"/>
                </a:lnTo>
                <a:lnTo>
                  <a:pt x="68579" y="137158"/>
                </a:lnTo>
                <a:lnTo>
                  <a:pt x="68579" y="102869"/>
                </a:lnTo>
                <a:lnTo>
                  <a:pt x="182880" y="102869"/>
                </a:lnTo>
                <a:lnTo>
                  <a:pt x="182880" y="34289"/>
                </a:lnTo>
                <a:lnTo>
                  <a:pt x="68579" y="34289"/>
                </a:lnTo>
                <a:lnTo>
                  <a:pt x="6857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972067" y="3977295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80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150321" y="3976155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68579" y="0"/>
                </a:moveTo>
                <a:lnTo>
                  <a:pt x="0" y="68580"/>
                </a:lnTo>
                <a:lnTo>
                  <a:pt x="68579" y="137160"/>
                </a:lnTo>
                <a:lnTo>
                  <a:pt x="68579" y="102869"/>
                </a:lnTo>
                <a:lnTo>
                  <a:pt x="182879" y="102869"/>
                </a:lnTo>
                <a:lnTo>
                  <a:pt x="182879" y="34289"/>
                </a:lnTo>
                <a:lnTo>
                  <a:pt x="68579" y="34289"/>
                </a:lnTo>
                <a:lnTo>
                  <a:pt x="6857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150321" y="3976156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5440390" y="3866388"/>
            <a:ext cx="4667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𝑆</a:t>
            </a:r>
            <a:r>
              <a:rPr dirty="0" sz="2000" spc="-5">
                <a:latin typeface="Cambria Math"/>
                <a:cs typeface="Cambria Math"/>
              </a:rPr>
              <a:t>𝑂</a:t>
            </a:r>
            <a:r>
              <a:rPr dirty="0" sz="2000">
                <a:latin typeface="Cambria Math"/>
                <a:cs typeface="Cambria Math"/>
              </a:rPr>
              <a:t>𝑆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8077200" y="3976155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68579" y="0"/>
                </a:moveTo>
                <a:lnTo>
                  <a:pt x="0" y="68580"/>
                </a:lnTo>
                <a:lnTo>
                  <a:pt x="68579" y="137160"/>
                </a:lnTo>
                <a:lnTo>
                  <a:pt x="68579" y="102869"/>
                </a:lnTo>
                <a:lnTo>
                  <a:pt x="182879" y="102869"/>
                </a:lnTo>
                <a:lnTo>
                  <a:pt x="182879" y="34289"/>
                </a:lnTo>
                <a:lnTo>
                  <a:pt x="68579" y="34289"/>
                </a:lnTo>
                <a:lnTo>
                  <a:pt x="6857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8077200" y="3976156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8367269" y="3866388"/>
            <a:ext cx="4667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𝑆</a:t>
            </a:r>
            <a:r>
              <a:rPr dirty="0" sz="2000" spc="-5">
                <a:latin typeface="Cambria Math"/>
                <a:cs typeface="Cambria Math"/>
              </a:rPr>
              <a:t>𝑂</a:t>
            </a:r>
            <a:r>
              <a:rPr dirty="0" sz="2000">
                <a:latin typeface="Cambria Math"/>
                <a:cs typeface="Cambria Math"/>
              </a:rPr>
              <a:t>𝑆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936962" y="3977295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68579" y="0"/>
                </a:moveTo>
                <a:lnTo>
                  <a:pt x="0" y="68579"/>
                </a:lnTo>
                <a:lnTo>
                  <a:pt x="68579" y="137158"/>
                </a:lnTo>
                <a:lnTo>
                  <a:pt x="68579" y="102869"/>
                </a:lnTo>
                <a:lnTo>
                  <a:pt x="182879" y="102869"/>
                </a:lnTo>
                <a:lnTo>
                  <a:pt x="182879" y="34289"/>
                </a:lnTo>
                <a:lnTo>
                  <a:pt x="68579" y="34289"/>
                </a:lnTo>
                <a:lnTo>
                  <a:pt x="6857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936962" y="3977295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3376649" y="3850534"/>
            <a:ext cx="513715" cy="3962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4765" rIns="0" bIns="0" rtlCol="0" vert="horz">
            <a:spAutoFit/>
          </a:bodyPr>
          <a:lstStyle/>
          <a:p>
            <a:pPr marL="89535">
              <a:lnSpc>
                <a:spcPct val="100000"/>
              </a:lnSpc>
              <a:spcBef>
                <a:spcPts val="195"/>
              </a:spcBef>
            </a:pPr>
            <a:r>
              <a:rPr dirty="0" sz="2000" spc="-5">
                <a:latin typeface="Calibri"/>
                <a:cs typeface="Calibri"/>
              </a:rPr>
              <a:t>0.6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989382" y="3979280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68578" y="0"/>
                </a:moveTo>
                <a:lnTo>
                  <a:pt x="0" y="68579"/>
                </a:lnTo>
                <a:lnTo>
                  <a:pt x="68578" y="137158"/>
                </a:lnTo>
                <a:lnTo>
                  <a:pt x="68578" y="102868"/>
                </a:lnTo>
                <a:lnTo>
                  <a:pt x="182880" y="102868"/>
                </a:lnTo>
                <a:lnTo>
                  <a:pt x="182880" y="34289"/>
                </a:lnTo>
                <a:lnTo>
                  <a:pt x="68578" y="34289"/>
                </a:lnTo>
                <a:lnTo>
                  <a:pt x="68578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989382" y="3979280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4263685" y="2697328"/>
            <a:ext cx="762000" cy="629920"/>
          </a:xfrm>
          <a:prstGeom prst="rect">
            <a:avLst/>
          </a:prstGeom>
          <a:solidFill>
            <a:srgbClr val="60B5CC"/>
          </a:solidFill>
          <a:ln w="48000">
            <a:solidFill>
              <a:srgbClr val="24617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4775" indent="-17780">
              <a:lnSpc>
                <a:spcPts val="2180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Edge</a:t>
            </a:r>
            <a:endParaRPr sz="2000">
              <a:latin typeface="Corbel"/>
              <a:cs typeface="Corbel"/>
            </a:endParaRPr>
          </a:p>
          <a:p>
            <a:pPr marL="104775">
              <a:lnSpc>
                <a:spcPct val="100000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4568962" y="3441090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102868" y="68578"/>
                </a:moveTo>
                <a:lnTo>
                  <a:pt x="34289" y="68578"/>
                </a:lnTo>
                <a:lnTo>
                  <a:pt x="34289" y="182880"/>
                </a:lnTo>
                <a:lnTo>
                  <a:pt x="102868" y="182880"/>
                </a:lnTo>
                <a:lnTo>
                  <a:pt x="102868" y="68578"/>
                </a:lnTo>
                <a:close/>
              </a:path>
              <a:path w="137160" h="182879">
                <a:moveTo>
                  <a:pt x="68579" y="0"/>
                </a:moveTo>
                <a:lnTo>
                  <a:pt x="0" y="68578"/>
                </a:lnTo>
                <a:lnTo>
                  <a:pt x="137158" y="68578"/>
                </a:lnTo>
                <a:lnTo>
                  <a:pt x="6857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568962" y="3441090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34289" y="182880"/>
                </a:moveTo>
                <a:lnTo>
                  <a:pt x="34289" y="68579"/>
                </a:lnTo>
                <a:lnTo>
                  <a:pt x="0" y="68579"/>
                </a:lnTo>
                <a:lnTo>
                  <a:pt x="68579" y="0"/>
                </a:lnTo>
                <a:lnTo>
                  <a:pt x="137159" y="68579"/>
                </a:lnTo>
                <a:lnTo>
                  <a:pt x="102869" y="68579"/>
                </a:lnTo>
                <a:lnTo>
                  <a:pt x="102869" y="182880"/>
                </a:lnTo>
                <a:lnTo>
                  <a:pt x="34289" y="182880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5156023" y="2944176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68579" y="0"/>
                </a:moveTo>
                <a:lnTo>
                  <a:pt x="0" y="68579"/>
                </a:lnTo>
                <a:lnTo>
                  <a:pt x="68579" y="137160"/>
                </a:lnTo>
                <a:lnTo>
                  <a:pt x="68579" y="102869"/>
                </a:lnTo>
                <a:lnTo>
                  <a:pt x="182879" y="102869"/>
                </a:lnTo>
                <a:lnTo>
                  <a:pt x="182879" y="34289"/>
                </a:lnTo>
                <a:lnTo>
                  <a:pt x="68579" y="34289"/>
                </a:lnTo>
                <a:lnTo>
                  <a:pt x="6857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156023" y="2944177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949569" y="2944177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68579" y="0"/>
                </a:moveTo>
                <a:lnTo>
                  <a:pt x="0" y="68580"/>
                </a:lnTo>
                <a:lnTo>
                  <a:pt x="68579" y="137160"/>
                </a:lnTo>
                <a:lnTo>
                  <a:pt x="68579" y="102870"/>
                </a:lnTo>
                <a:lnTo>
                  <a:pt x="182879" y="102870"/>
                </a:lnTo>
                <a:lnTo>
                  <a:pt x="182879" y="34289"/>
                </a:lnTo>
                <a:lnTo>
                  <a:pt x="68579" y="34289"/>
                </a:lnTo>
                <a:lnTo>
                  <a:pt x="6857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949569" y="2944178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343642" y="4359826"/>
            <a:ext cx="513715" cy="3962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79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20"/>
              </a:spcBef>
            </a:pPr>
            <a:r>
              <a:rPr dirty="0" sz="2000">
                <a:solidFill>
                  <a:srgbClr val="C64847"/>
                </a:solidFill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370449" y="2796547"/>
            <a:ext cx="513715" cy="3962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7305" rIns="0" bIns="0" rtlCol="0" vert="horz">
            <a:spAutoFit/>
          </a:bodyPr>
          <a:lstStyle/>
          <a:p>
            <a:pPr marL="89535">
              <a:lnSpc>
                <a:spcPct val="100000"/>
              </a:lnSpc>
              <a:spcBef>
                <a:spcPts val="215"/>
              </a:spcBef>
            </a:pPr>
            <a:r>
              <a:rPr dirty="0" sz="2000" spc="-5">
                <a:latin typeface="Calibri"/>
                <a:cs typeface="Calibri"/>
              </a:rPr>
              <a:t>0.4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370449" y="4359826"/>
            <a:ext cx="513715" cy="3962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79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20"/>
              </a:spcBef>
            </a:pPr>
            <a:r>
              <a:rPr dirty="0" sz="2000">
                <a:solidFill>
                  <a:srgbClr val="C64847"/>
                </a:solidFill>
                <a:latin typeface="Calibri"/>
                <a:cs typeface="Calibri"/>
              </a:rPr>
              <a:t>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372527" y="3277203"/>
            <a:ext cx="513715" cy="3962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54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dirty="0" sz="2000">
                <a:solidFill>
                  <a:srgbClr val="C64847"/>
                </a:solidFill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332202" y="3855822"/>
            <a:ext cx="513715" cy="3962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6034" rIns="0" bIns="0" rtlCol="0" vert="horz">
            <a:spAutoFit/>
          </a:bodyPr>
          <a:lstStyle/>
          <a:p>
            <a:pPr marL="89535">
              <a:lnSpc>
                <a:spcPct val="100000"/>
              </a:lnSpc>
              <a:spcBef>
                <a:spcPts val="204"/>
              </a:spcBef>
            </a:pPr>
            <a:r>
              <a:rPr dirty="0" sz="2000" spc="-5">
                <a:latin typeface="Calibri"/>
                <a:cs typeface="Calibri"/>
              </a:rPr>
              <a:t>0.4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373167" y="3488435"/>
            <a:ext cx="49022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C64847"/>
                </a:solidFill>
                <a:latin typeface="Cambria Math"/>
                <a:cs typeface="Cambria Math"/>
              </a:rPr>
              <a:t>𝐸</a:t>
            </a:r>
            <a:r>
              <a:rPr dirty="0" sz="2000" spc="-5">
                <a:solidFill>
                  <a:srgbClr val="C64847"/>
                </a:solidFill>
                <a:latin typeface="Cambria Math"/>
                <a:cs typeface="Cambria Math"/>
              </a:rPr>
              <a:t>𝑂𝑆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547472" y="2696972"/>
            <a:ext cx="21463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Arial"/>
                <a:cs typeface="Arial"/>
              </a:rPr>
              <a:t>Observed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35">
                <a:latin typeface="Arial"/>
                <a:cs typeface="Arial"/>
              </a:rPr>
              <a:t>graph</a:t>
            </a:r>
            <a:endParaRPr sz="2400">
              <a:latin typeface="Arial"/>
              <a:cs typeface="Arial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6116383" y="1324100"/>
            <a:ext cx="3027680" cy="1800225"/>
          </a:xfrm>
          <a:custGeom>
            <a:avLst/>
            <a:gdLst/>
            <a:ahLst/>
            <a:cxnLst/>
            <a:rect l="l" t="t" r="r" b="b"/>
            <a:pathLst>
              <a:path w="3027679" h="1800225">
                <a:moveTo>
                  <a:pt x="0" y="0"/>
                </a:moveTo>
                <a:lnTo>
                  <a:pt x="3027616" y="0"/>
                </a:lnTo>
                <a:lnTo>
                  <a:pt x="3027616" y="1800099"/>
                </a:lnTo>
                <a:lnTo>
                  <a:pt x="0" y="1800099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5425996" y="2796547"/>
            <a:ext cx="513715" cy="3962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73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15"/>
              </a:spcBef>
            </a:pPr>
            <a:r>
              <a:rPr dirty="0" sz="2000">
                <a:latin typeface="Calibri"/>
                <a:cs typeface="Calibri"/>
              </a:rPr>
              <a:t>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5682655" y="4990282"/>
            <a:ext cx="1031240" cy="137160"/>
          </a:xfrm>
          <a:custGeom>
            <a:avLst/>
            <a:gdLst/>
            <a:ahLst/>
            <a:cxnLst/>
            <a:rect l="l" t="t" r="r" b="b"/>
            <a:pathLst>
              <a:path w="1031240" h="137160">
                <a:moveTo>
                  <a:pt x="962343" y="0"/>
                </a:moveTo>
                <a:lnTo>
                  <a:pt x="962343" y="34289"/>
                </a:lnTo>
                <a:lnTo>
                  <a:pt x="0" y="34289"/>
                </a:lnTo>
                <a:lnTo>
                  <a:pt x="0" y="102869"/>
                </a:lnTo>
                <a:lnTo>
                  <a:pt x="962343" y="102869"/>
                </a:lnTo>
                <a:lnTo>
                  <a:pt x="962343" y="137159"/>
                </a:lnTo>
                <a:lnTo>
                  <a:pt x="1030923" y="68579"/>
                </a:lnTo>
                <a:lnTo>
                  <a:pt x="962343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5682655" y="4990282"/>
            <a:ext cx="1031240" cy="137160"/>
          </a:xfrm>
          <a:custGeom>
            <a:avLst/>
            <a:gdLst/>
            <a:ahLst/>
            <a:cxnLst/>
            <a:rect l="l" t="t" r="r" b="b"/>
            <a:pathLst>
              <a:path w="1031240" h="137160">
                <a:moveTo>
                  <a:pt x="0" y="34290"/>
                </a:moveTo>
                <a:lnTo>
                  <a:pt x="962344" y="34290"/>
                </a:lnTo>
                <a:lnTo>
                  <a:pt x="962344" y="0"/>
                </a:lnTo>
                <a:lnTo>
                  <a:pt x="1030924" y="68580"/>
                </a:lnTo>
                <a:lnTo>
                  <a:pt x="962344" y="137160"/>
                </a:lnTo>
                <a:lnTo>
                  <a:pt x="962344" y="102870"/>
                </a:lnTo>
                <a:lnTo>
                  <a:pt x="0" y="102870"/>
                </a:lnTo>
                <a:lnTo>
                  <a:pt x="0" y="34290"/>
                </a:lnTo>
                <a:close/>
              </a:path>
            </a:pathLst>
          </a:custGeom>
          <a:ln w="381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>
            <a:spLocks noGrp="1"/>
          </p:cNvSpPr>
          <p:nvPr>
            <p:ph type="title"/>
          </p:nvPr>
        </p:nvSpPr>
        <p:spPr>
          <a:xfrm>
            <a:off x="236234" y="1203452"/>
            <a:ext cx="4342765" cy="760095"/>
          </a:xfrm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15" b="0">
                <a:latin typeface="Calibri"/>
                <a:cs typeface="Calibri"/>
              </a:rPr>
              <a:t>For </a:t>
            </a:r>
            <a:r>
              <a:rPr dirty="0" sz="2400" spc="-5" b="0">
                <a:latin typeface="Calibri"/>
                <a:cs typeface="Calibri"/>
              </a:rPr>
              <a:t>each </a:t>
            </a:r>
            <a:r>
              <a:rPr dirty="0" sz="2400" spc="-10" b="0">
                <a:latin typeface="Calibri"/>
                <a:cs typeface="Calibri"/>
              </a:rPr>
              <a:t>prediction, </a:t>
            </a:r>
            <a:r>
              <a:rPr dirty="0" sz="2400" spc="-15" b="0">
                <a:latin typeface="Calibri"/>
                <a:cs typeface="Calibri"/>
              </a:rPr>
              <a:t>we </a:t>
            </a:r>
            <a:r>
              <a:rPr dirty="0" sz="2400" spc="-15"/>
              <a:t>get  </a:t>
            </a:r>
            <a:r>
              <a:rPr dirty="0" sz="2400" spc="-5"/>
              <a:t>supervision </a:t>
            </a:r>
            <a:r>
              <a:rPr dirty="0" sz="2400" spc="-10"/>
              <a:t>from </a:t>
            </a:r>
            <a:r>
              <a:rPr dirty="0" sz="2400" spc="-5"/>
              <a:t>the </a:t>
            </a:r>
            <a:r>
              <a:rPr dirty="0" sz="2400" spc="-10"/>
              <a:t>ground</a:t>
            </a:r>
            <a:r>
              <a:rPr dirty="0" sz="2400" spc="-25"/>
              <a:t> </a:t>
            </a:r>
            <a:r>
              <a:rPr dirty="0" sz="2400" spc="-5"/>
              <a:t>truth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54227" y="6699893"/>
            <a:ext cx="400685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12/6/18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5" name="object 6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66" name="object 6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31</a:t>
            </a:fld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12622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86183" y="4744769"/>
            <a:ext cx="762000" cy="629920"/>
          </a:xfrm>
          <a:custGeom>
            <a:avLst/>
            <a:gdLst/>
            <a:ahLst/>
            <a:cxnLst/>
            <a:rect l="l" t="t" r="r" b="b"/>
            <a:pathLst>
              <a:path w="762000" h="629920">
                <a:moveTo>
                  <a:pt x="0" y="0"/>
                </a:moveTo>
                <a:lnTo>
                  <a:pt x="762000" y="0"/>
                </a:lnTo>
                <a:lnTo>
                  <a:pt x="762000" y="629587"/>
                </a:lnTo>
                <a:lnTo>
                  <a:pt x="0" y="629587"/>
                </a:lnTo>
                <a:lnTo>
                  <a:pt x="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286183" y="4744769"/>
            <a:ext cx="762000" cy="629920"/>
          </a:xfrm>
          <a:custGeom>
            <a:avLst/>
            <a:gdLst/>
            <a:ahLst/>
            <a:cxnLst/>
            <a:rect l="l" t="t" r="r" b="b"/>
            <a:pathLst>
              <a:path w="762000" h="629920">
                <a:moveTo>
                  <a:pt x="0" y="0"/>
                </a:moveTo>
                <a:lnTo>
                  <a:pt x="762000" y="0"/>
                </a:lnTo>
                <a:lnTo>
                  <a:pt x="762000" y="629587"/>
                </a:lnTo>
                <a:lnTo>
                  <a:pt x="0" y="629587"/>
                </a:lnTo>
                <a:lnTo>
                  <a:pt x="0" y="0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367146" y="4728971"/>
            <a:ext cx="60007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8260" marR="5080" indent="-36195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o</a:t>
            </a:r>
            <a:r>
              <a:rPr dirty="0" sz="2000">
                <a:solidFill>
                  <a:srgbClr val="FFFFFF"/>
                </a:solidFill>
                <a:latin typeface="Corbel"/>
                <a:cs typeface="Corbel"/>
              </a:rPr>
              <a:t>de 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56974" y="5704332"/>
            <a:ext cx="4667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𝑆</a:t>
            </a:r>
            <a:r>
              <a:rPr dirty="0" sz="2000" spc="-5">
                <a:latin typeface="Cambria Math"/>
                <a:cs typeface="Cambria Math"/>
              </a:rPr>
              <a:t>𝑂</a:t>
            </a:r>
            <a:r>
              <a:rPr dirty="0" sz="2000">
                <a:latin typeface="Cambria Math"/>
                <a:cs typeface="Cambria Math"/>
              </a:rPr>
              <a:t>𝑆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98602" y="5470917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102868" y="68580"/>
                </a:moveTo>
                <a:lnTo>
                  <a:pt x="34289" y="68580"/>
                </a:lnTo>
                <a:lnTo>
                  <a:pt x="34289" y="182880"/>
                </a:lnTo>
                <a:lnTo>
                  <a:pt x="102868" y="182880"/>
                </a:lnTo>
                <a:lnTo>
                  <a:pt x="102868" y="68580"/>
                </a:lnTo>
                <a:close/>
              </a:path>
              <a:path w="137160" h="182879">
                <a:moveTo>
                  <a:pt x="68578" y="0"/>
                </a:moveTo>
                <a:lnTo>
                  <a:pt x="0" y="68580"/>
                </a:lnTo>
                <a:lnTo>
                  <a:pt x="137158" y="68580"/>
                </a:lnTo>
                <a:lnTo>
                  <a:pt x="6857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98602" y="5470917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34289" y="182880"/>
                </a:moveTo>
                <a:lnTo>
                  <a:pt x="34289" y="68579"/>
                </a:lnTo>
                <a:lnTo>
                  <a:pt x="0" y="68579"/>
                </a:lnTo>
                <a:lnTo>
                  <a:pt x="68579" y="0"/>
                </a:lnTo>
                <a:lnTo>
                  <a:pt x="137159" y="68579"/>
                </a:lnTo>
                <a:lnTo>
                  <a:pt x="102869" y="68579"/>
                </a:lnTo>
                <a:lnTo>
                  <a:pt x="102869" y="182880"/>
                </a:lnTo>
                <a:lnTo>
                  <a:pt x="34289" y="182880"/>
                </a:lnTo>
                <a:close/>
              </a:path>
            </a:pathLst>
          </a:custGeom>
          <a:ln w="381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79039" y="3733800"/>
            <a:ext cx="762000" cy="629920"/>
          </a:xfrm>
          <a:custGeom>
            <a:avLst/>
            <a:gdLst/>
            <a:ahLst/>
            <a:cxnLst/>
            <a:rect l="l" t="t" r="r" b="b"/>
            <a:pathLst>
              <a:path w="762000" h="629920">
                <a:moveTo>
                  <a:pt x="0" y="0"/>
                </a:moveTo>
                <a:lnTo>
                  <a:pt x="762000" y="0"/>
                </a:lnTo>
                <a:lnTo>
                  <a:pt x="762000" y="629587"/>
                </a:lnTo>
                <a:lnTo>
                  <a:pt x="0" y="629587"/>
                </a:lnTo>
                <a:lnTo>
                  <a:pt x="0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79039" y="3733800"/>
            <a:ext cx="762000" cy="629920"/>
          </a:xfrm>
          <a:custGeom>
            <a:avLst/>
            <a:gdLst/>
            <a:ahLst/>
            <a:cxnLst/>
            <a:rect l="l" t="t" r="r" b="b"/>
            <a:pathLst>
              <a:path w="762000" h="629920">
                <a:moveTo>
                  <a:pt x="0" y="0"/>
                </a:moveTo>
                <a:lnTo>
                  <a:pt x="762000" y="0"/>
                </a:lnTo>
                <a:lnTo>
                  <a:pt x="762000" y="629587"/>
                </a:lnTo>
                <a:lnTo>
                  <a:pt x="0" y="629587"/>
                </a:lnTo>
                <a:lnTo>
                  <a:pt x="0" y="0"/>
                </a:lnTo>
                <a:close/>
              </a:path>
            </a:pathLst>
          </a:custGeom>
          <a:ln w="480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378258" y="3717035"/>
            <a:ext cx="56324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" marR="5080" indent="-1778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E</a:t>
            </a:r>
            <a:r>
              <a:rPr dirty="0" sz="2000">
                <a:solidFill>
                  <a:srgbClr val="FFFFFF"/>
                </a:solidFill>
                <a:latin typeface="Corbel"/>
                <a:cs typeface="Corbel"/>
              </a:rPr>
              <a:t>dge 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591459" y="4463044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102869" y="68580"/>
                </a:moveTo>
                <a:lnTo>
                  <a:pt x="34289" y="68580"/>
                </a:lnTo>
                <a:lnTo>
                  <a:pt x="34289" y="182880"/>
                </a:lnTo>
                <a:lnTo>
                  <a:pt x="102869" y="182880"/>
                </a:lnTo>
                <a:lnTo>
                  <a:pt x="102869" y="68580"/>
                </a:lnTo>
                <a:close/>
              </a:path>
              <a:path w="137160" h="182879">
                <a:moveTo>
                  <a:pt x="68580" y="0"/>
                </a:moveTo>
                <a:lnTo>
                  <a:pt x="0" y="68580"/>
                </a:lnTo>
                <a:lnTo>
                  <a:pt x="137159" y="68580"/>
                </a:lnTo>
                <a:lnTo>
                  <a:pt x="6858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591459" y="4463044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34289" y="182880"/>
                </a:moveTo>
                <a:lnTo>
                  <a:pt x="34289" y="68579"/>
                </a:lnTo>
                <a:lnTo>
                  <a:pt x="0" y="68579"/>
                </a:lnTo>
                <a:lnTo>
                  <a:pt x="68579" y="0"/>
                </a:lnTo>
                <a:lnTo>
                  <a:pt x="137159" y="68579"/>
                </a:lnTo>
                <a:lnTo>
                  <a:pt x="102869" y="68579"/>
                </a:lnTo>
                <a:lnTo>
                  <a:pt x="102869" y="182880"/>
                </a:lnTo>
                <a:lnTo>
                  <a:pt x="34289" y="182880"/>
                </a:lnTo>
                <a:close/>
              </a:path>
            </a:pathLst>
          </a:custGeom>
          <a:ln w="381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178522" y="3976155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80" h="137160">
                <a:moveTo>
                  <a:pt x="68578" y="0"/>
                </a:moveTo>
                <a:lnTo>
                  <a:pt x="0" y="68580"/>
                </a:lnTo>
                <a:lnTo>
                  <a:pt x="68578" y="137160"/>
                </a:lnTo>
                <a:lnTo>
                  <a:pt x="68578" y="102869"/>
                </a:lnTo>
                <a:lnTo>
                  <a:pt x="182879" y="102869"/>
                </a:lnTo>
                <a:lnTo>
                  <a:pt x="182879" y="34289"/>
                </a:lnTo>
                <a:lnTo>
                  <a:pt x="68578" y="34289"/>
                </a:lnTo>
                <a:lnTo>
                  <a:pt x="68578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178522" y="3976156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80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468590" y="3866388"/>
            <a:ext cx="4667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𝑆</a:t>
            </a:r>
            <a:r>
              <a:rPr dirty="0" sz="2000" spc="-5">
                <a:latin typeface="Cambria Math"/>
                <a:cs typeface="Cambria Math"/>
              </a:rPr>
              <a:t>𝑂</a:t>
            </a:r>
            <a:r>
              <a:rPr dirty="0" sz="2000">
                <a:latin typeface="Cambria Math"/>
                <a:cs typeface="Cambria Math"/>
              </a:rPr>
              <a:t>𝑆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43642" y="3844184"/>
            <a:ext cx="0" cy="408940"/>
          </a:xfrm>
          <a:custGeom>
            <a:avLst/>
            <a:gdLst/>
            <a:ahLst/>
            <a:cxnLst/>
            <a:rect l="l" t="t" r="r" b="b"/>
            <a:pathLst>
              <a:path w="0" h="408939">
                <a:moveTo>
                  <a:pt x="0" y="0"/>
                </a:moveTo>
                <a:lnTo>
                  <a:pt x="0" y="40894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56961" y="3844184"/>
            <a:ext cx="0" cy="408940"/>
          </a:xfrm>
          <a:custGeom>
            <a:avLst/>
            <a:gdLst/>
            <a:ahLst/>
            <a:cxnLst/>
            <a:rect l="l" t="t" r="r" b="b"/>
            <a:pathLst>
              <a:path w="0" h="408939">
                <a:moveTo>
                  <a:pt x="0" y="0"/>
                </a:moveTo>
                <a:lnTo>
                  <a:pt x="0" y="40894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37292" y="3850534"/>
            <a:ext cx="526415" cy="0"/>
          </a:xfrm>
          <a:custGeom>
            <a:avLst/>
            <a:gdLst/>
            <a:ahLst/>
            <a:cxnLst/>
            <a:rect l="l" t="t" r="r" b="b"/>
            <a:pathLst>
              <a:path w="526415" h="0">
                <a:moveTo>
                  <a:pt x="0" y="0"/>
                </a:moveTo>
                <a:lnTo>
                  <a:pt x="52601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37292" y="4246774"/>
            <a:ext cx="526415" cy="0"/>
          </a:xfrm>
          <a:custGeom>
            <a:avLst/>
            <a:gdLst/>
            <a:ahLst/>
            <a:cxnLst/>
            <a:rect l="l" t="t" r="r" b="b"/>
            <a:pathLst>
              <a:path w="526415" h="0">
                <a:moveTo>
                  <a:pt x="0" y="0"/>
                </a:moveTo>
                <a:lnTo>
                  <a:pt x="52601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427264" y="3869435"/>
            <a:ext cx="34671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latin typeface="Calibri"/>
                <a:cs typeface="Calibri"/>
              </a:rPr>
              <a:t>0.</a:t>
            </a:r>
            <a:r>
              <a:rPr dirty="0" sz="2000">
                <a:latin typeface="Calibri"/>
                <a:cs typeface="Calibri"/>
              </a:rPr>
              <a:t>5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7764687" y="1414976"/>
          <a:ext cx="1289685" cy="1207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0210"/>
                <a:gridCol w="420210"/>
                <a:gridCol w="420210"/>
              </a:tblGrid>
              <a:tr h="355600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3" name="object 23"/>
          <p:cNvSpPr/>
          <p:nvPr/>
        </p:nvSpPr>
        <p:spPr>
          <a:xfrm>
            <a:off x="6216237" y="17480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6301485" y="1736851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907335" y="209080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897822" y="1488084"/>
            <a:ext cx="384810" cy="383540"/>
          </a:xfrm>
          <a:custGeom>
            <a:avLst/>
            <a:gdLst/>
            <a:ahLst/>
            <a:cxnLst/>
            <a:rect l="l" t="t" r="r" b="b"/>
            <a:pathLst>
              <a:path w="384809" h="383539">
                <a:moveTo>
                  <a:pt x="211571" y="0"/>
                </a:moveTo>
                <a:lnTo>
                  <a:pt x="172257" y="0"/>
                </a:lnTo>
                <a:lnTo>
                  <a:pt x="134736" y="7619"/>
                </a:lnTo>
                <a:lnTo>
                  <a:pt x="84439" y="33019"/>
                </a:lnTo>
                <a:lnTo>
                  <a:pt x="43646" y="69850"/>
                </a:lnTo>
                <a:lnTo>
                  <a:pt x="14940" y="116839"/>
                </a:lnTo>
                <a:lnTo>
                  <a:pt x="3812" y="153669"/>
                </a:lnTo>
                <a:lnTo>
                  <a:pt x="0" y="191769"/>
                </a:lnTo>
                <a:lnTo>
                  <a:pt x="1041" y="212089"/>
                </a:lnTo>
                <a:lnTo>
                  <a:pt x="15303" y="266700"/>
                </a:lnTo>
                <a:lnTo>
                  <a:pt x="44225" y="314960"/>
                </a:lnTo>
                <a:lnTo>
                  <a:pt x="85197" y="351789"/>
                </a:lnTo>
                <a:lnTo>
                  <a:pt x="135638" y="375919"/>
                </a:lnTo>
                <a:lnTo>
                  <a:pt x="173215" y="383539"/>
                </a:lnTo>
                <a:lnTo>
                  <a:pt x="212529" y="383539"/>
                </a:lnTo>
                <a:lnTo>
                  <a:pt x="250050" y="375919"/>
                </a:lnTo>
                <a:lnTo>
                  <a:pt x="255937" y="373379"/>
                </a:lnTo>
                <a:lnTo>
                  <a:pt x="192297" y="373379"/>
                </a:lnTo>
                <a:lnTo>
                  <a:pt x="173790" y="372110"/>
                </a:lnTo>
                <a:lnTo>
                  <a:pt x="121862" y="358139"/>
                </a:lnTo>
                <a:lnTo>
                  <a:pt x="77205" y="331469"/>
                </a:lnTo>
                <a:lnTo>
                  <a:pt x="42271" y="293369"/>
                </a:lnTo>
                <a:lnTo>
                  <a:pt x="19524" y="245110"/>
                </a:lnTo>
                <a:lnTo>
                  <a:pt x="11416" y="191769"/>
                </a:lnTo>
                <a:lnTo>
                  <a:pt x="12359" y="172719"/>
                </a:lnTo>
                <a:lnTo>
                  <a:pt x="25674" y="120650"/>
                </a:lnTo>
                <a:lnTo>
                  <a:pt x="52800" y="76200"/>
                </a:lnTo>
                <a:lnTo>
                  <a:pt x="91283" y="41910"/>
                </a:lnTo>
                <a:lnTo>
                  <a:pt x="138664" y="19050"/>
                </a:lnTo>
                <a:lnTo>
                  <a:pt x="173982" y="11429"/>
                </a:lnTo>
                <a:lnTo>
                  <a:pt x="259770" y="11429"/>
                </a:lnTo>
                <a:lnTo>
                  <a:pt x="249148" y="7619"/>
                </a:lnTo>
                <a:lnTo>
                  <a:pt x="211571" y="0"/>
                </a:lnTo>
                <a:close/>
              </a:path>
              <a:path w="384809" h="383539">
                <a:moveTo>
                  <a:pt x="259770" y="11429"/>
                </a:moveTo>
                <a:lnTo>
                  <a:pt x="210995" y="11429"/>
                </a:lnTo>
                <a:lnTo>
                  <a:pt x="228963" y="13969"/>
                </a:lnTo>
                <a:lnTo>
                  <a:pt x="246302" y="19050"/>
                </a:lnTo>
                <a:lnTo>
                  <a:pt x="293654" y="41910"/>
                </a:lnTo>
                <a:lnTo>
                  <a:pt x="332102" y="76200"/>
                </a:lnTo>
                <a:lnTo>
                  <a:pt x="359185" y="121919"/>
                </a:lnTo>
                <a:lnTo>
                  <a:pt x="372446" y="173989"/>
                </a:lnTo>
                <a:lnTo>
                  <a:pt x="373371" y="191769"/>
                </a:lnTo>
                <a:lnTo>
                  <a:pt x="372426" y="210819"/>
                </a:lnTo>
                <a:lnTo>
                  <a:pt x="359112" y="262889"/>
                </a:lnTo>
                <a:lnTo>
                  <a:pt x="331986" y="307339"/>
                </a:lnTo>
                <a:lnTo>
                  <a:pt x="293502" y="341629"/>
                </a:lnTo>
                <a:lnTo>
                  <a:pt x="246122" y="364489"/>
                </a:lnTo>
                <a:lnTo>
                  <a:pt x="192297" y="373379"/>
                </a:lnTo>
                <a:lnTo>
                  <a:pt x="255937" y="373379"/>
                </a:lnTo>
                <a:lnTo>
                  <a:pt x="300347" y="350519"/>
                </a:lnTo>
                <a:lnTo>
                  <a:pt x="341141" y="313689"/>
                </a:lnTo>
                <a:lnTo>
                  <a:pt x="369846" y="266700"/>
                </a:lnTo>
                <a:lnTo>
                  <a:pt x="380974" y="229869"/>
                </a:lnTo>
                <a:lnTo>
                  <a:pt x="384785" y="191769"/>
                </a:lnTo>
                <a:lnTo>
                  <a:pt x="383745" y="171450"/>
                </a:lnTo>
                <a:lnTo>
                  <a:pt x="369483" y="116839"/>
                </a:lnTo>
                <a:lnTo>
                  <a:pt x="340561" y="68579"/>
                </a:lnTo>
                <a:lnTo>
                  <a:pt x="299589" y="31750"/>
                </a:lnTo>
                <a:lnTo>
                  <a:pt x="266852" y="13969"/>
                </a:lnTo>
                <a:lnTo>
                  <a:pt x="259770" y="11429"/>
                </a:lnTo>
                <a:close/>
              </a:path>
              <a:path w="384809" h="383539">
                <a:moveTo>
                  <a:pt x="210803" y="15239"/>
                </a:moveTo>
                <a:lnTo>
                  <a:pt x="174557" y="15239"/>
                </a:lnTo>
                <a:lnTo>
                  <a:pt x="156960" y="17779"/>
                </a:lnTo>
                <a:lnTo>
                  <a:pt x="108188" y="35560"/>
                </a:lnTo>
                <a:lnTo>
                  <a:pt x="67307" y="66039"/>
                </a:lnTo>
                <a:lnTo>
                  <a:pt x="36734" y="106679"/>
                </a:lnTo>
                <a:lnTo>
                  <a:pt x="18878" y="156210"/>
                </a:lnTo>
                <a:lnTo>
                  <a:pt x="15220" y="191769"/>
                </a:lnTo>
                <a:lnTo>
                  <a:pt x="16107" y="209550"/>
                </a:lnTo>
                <a:lnTo>
                  <a:pt x="29033" y="260350"/>
                </a:lnTo>
                <a:lnTo>
                  <a:pt x="55504" y="304800"/>
                </a:lnTo>
                <a:lnTo>
                  <a:pt x="93111" y="339089"/>
                </a:lnTo>
                <a:lnTo>
                  <a:pt x="139433" y="360679"/>
                </a:lnTo>
                <a:lnTo>
                  <a:pt x="192105" y="369569"/>
                </a:lnTo>
                <a:lnTo>
                  <a:pt x="210229" y="368300"/>
                </a:lnTo>
                <a:lnTo>
                  <a:pt x="227826" y="365760"/>
                </a:lnTo>
                <a:lnTo>
                  <a:pt x="191913" y="365760"/>
                </a:lnTo>
                <a:lnTo>
                  <a:pt x="174175" y="364489"/>
                </a:lnTo>
                <a:lnTo>
                  <a:pt x="124481" y="351789"/>
                </a:lnTo>
                <a:lnTo>
                  <a:pt x="81768" y="325119"/>
                </a:lnTo>
                <a:lnTo>
                  <a:pt x="48374" y="288289"/>
                </a:lnTo>
                <a:lnTo>
                  <a:pt x="26680" y="242569"/>
                </a:lnTo>
                <a:lnTo>
                  <a:pt x="19025" y="191769"/>
                </a:lnTo>
                <a:lnTo>
                  <a:pt x="19970" y="173989"/>
                </a:lnTo>
                <a:lnTo>
                  <a:pt x="32829" y="124460"/>
                </a:lnTo>
                <a:lnTo>
                  <a:pt x="58902" y="81279"/>
                </a:lnTo>
                <a:lnTo>
                  <a:pt x="95848" y="48260"/>
                </a:lnTo>
                <a:lnTo>
                  <a:pt x="141284" y="26669"/>
                </a:lnTo>
                <a:lnTo>
                  <a:pt x="192873" y="17779"/>
                </a:lnTo>
                <a:lnTo>
                  <a:pt x="228387" y="17779"/>
                </a:lnTo>
                <a:lnTo>
                  <a:pt x="210803" y="15239"/>
                </a:lnTo>
                <a:close/>
              </a:path>
              <a:path w="384809" h="383539">
                <a:moveTo>
                  <a:pt x="228387" y="17779"/>
                </a:moveTo>
                <a:lnTo>
                  <a:pt x="192873" y="17779"/>
                </a:lnTo>
                <a:lnTo>
                  <a:pt x="210611" y="19050"/>
                </a:lnTo>
                <a:lnTo>
                  <a:pt x="227812" y="21589"/>
                </a:lnTo>
                <a:lnTo>
                  <a:pt x="275431" y="39369"/>
                </a:lnTo>
                <a:lnTo>
                  <a:pt x="315302" y="69850"/>
                </a:lnTo>
                <a:lnTo>
                  <a:pt x="345060" y="109219"/>
                </a:lnTo>
                <a:lnTo>
                  <a:pt x="362333" y="157479"/>
                </a:lnTo>
                <a:lnTo>
                  <a:pt x="365760" y="191769"/>
                </a:lnTo>
                <a:lnTo>
                  <a:pt x="364816" y="209550"/>
                </a:lnTo>
                <a:lnTo>
                  <a:pt x="351957" y="259079"/>
                </a:lnTo>
                <a:lnTo>
                  <a:pt x="325884" y="302260"/>
                </a:lnTo>
                <a:lnTo>
                  <a:pt x="288938" y="335279"/>
                </a:lnTo>
                <a:lnTo>
                  <a:pt x="243502" y="356869"/>
                </a:lnTo>
                <a:lnTo>
                  <a:pt x="191913" y="365760"/>
                </a:lnTo>
                <a:lnTo>
                  <a:pt x="227826" y="365760"/>
                </a:lnTo>
                <a:lnTo>
                  <a:pt x="276597" y="347979"/>
                </a:lnTo>
                <a:lnTo>
                  <a:pt x="317479" y="317500"/>
                </a:lnTo>
                <a:lnTo>
                  <a:pt x="348052" y="276860"/>
                </a:lnTo>
                <a:lnTo>
                  <a:pt x="365908" y="227329"/>
                </a:lnTo>
                <a:lnTo>
                  <a:pt x="369566" y="191769"/>
                </a:lnTo>
                <a:lnTo>
                  <a:pt x="368679" y="173989"/>
                </a:lnTo>
                <a:lnTo>
                  <a:pt x="355753" y="123189"/>
                </a:lnTo>
                <a:lnTo>
                  <a:pt x="329283" y="78739"/>
                </a:lnTo>
                <a:lnTo>
                  <a:pt x="291675" y="44450"/>
                </a:lnTo>
                <a:lnTo>
                  <a:pt x="245353" y="22860"/>
                </a:lnTo>
                <a:lnTo>
                  <a:pt x="228387" y="177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6992584" y="1483867"/>
            <a:ext cx="194945" cy="9855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dirty="0" sz="2400" spc="-5"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528434" y="2060261"/>
            <a:ext cx="379095" cy="213995"/>
          </a:xfrm>
          <a:custGeom>
            <a:avLst/>
            <a:gdLst/>
            <a:ahLst/>
            <a:cxnLst/>
            <a:rect l="l" t="t" r="r" b="b"/>
            <a:pathLst>
              <a:path w="379095" h="213994">
                <a:moveTo>
                  <a:pt x="0" y="0"/>
                </a:moveTo>
                <a:lnTo>
                  <a:pt x="378902" y="21342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528434" y="1679231"/>
            <a:ext cx="379095" cy="122555"/>
          </a:xfrm>
          <a:custGeom>
            <a:avLst/>
            <a:gdLst/>
            <a:ahLst/>
            <a:cxnLst/>
            <a:rect l="l" t="t" r="r" b="b"/>
            <a:pathLst>
              <a:path w="379095" h="122555">
                <a:moveTo>
                  <a:pt x="0" y="122398"/>
                </a:moveTo>
                <a:lnTo>
                  <a:pt x="378902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588517" y="5021436"/>
            <a:ext cx="1031240" cy="137160"/>
          </a:xfrm>
          <a:custGeom>
            <a:avLst/>
            <a:gdLst/>
            <a:ahLst/>
            <a:cxnLst/>
            <a:rect l="l" t="t" r="r" b="b"/>
            <a:pathLst>
              <a:path w="1031239" h="137160">
                <a:moveTo>
                  <a:pt x="962345" y="0"/>
                </a:moveTo>
                <a:lnTo>
                  <a:pt x="962345" y="34290"/>
                </a:lnTo>
                <a:lnTo>
                  <a:pt x="0" y="34290"/>
                </a:lnTo>
                <a:lnTo>
                  <a:pt x="0" y="102870"/>
                </a:lnTo>
                <a:lnTo>
                  <a:pt x="962345" y="102870"/>
                </a:lnTo>
                <a:lnTo>
                  <a:pt x="962345" y="137160"/>
                </a:lnTo>
                <a:lnTo>
                  <a:pt x="1030923" y="68580"/>
                </a:lnTo>
                <a:lnTo>
                  <a:pt x="96234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588517" y="5021436"/>
            <a:ext cx="1031240" cy="137160"/>
          </a:xfrm>
          <a:custGeom>
            <a:avLst/>
            <a:gdLst/>
            <a:ahLst/>
            <a:cxnLst/>
            <a:rect l="l" t="t" r="r" b="b"/>
            <a:pathLst>
              <a:path w="1031239" h="137160">
                <a:moveTo>
                  <a:pt x="0" y="34290"/>
                </a:moveTo>
                <a:lnTo>
                  <a:pt x="962344" y="34290"/>
                </a:lnTo>
                <a:lnTo>
                  <a:pt x="962344" y="0"/>
                </a:lnTo>
                <a:lnTo>
                  <a:pt x="1030924" y="68580"/>
                </a:lnTo>
                <a:lnTo>
                  <a:pt x="962344" y="137160"/>
                </a:lnTo>
                <a:lnTo>
                  <a:pt x="962344" y="102870"/>
                </a:lnTo>
                <a:lnTo>
                  <a:pt x="0" y="102870"/>
                </a:lnTo>
                <a:lnTo>
                  <a:pt x="0" y="34290"/>
                </a:lnTo>
                <a:close/>
              </a:path>
            </a:pathLst>
          </a:custGeom>
          <a:ln w="381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268718" y="4744769"/>
            <a:ext cx="762000" cy="629920"/>
          </a:xfrm>
          <a:custGeom>
            <a:avLst/>
            <a:gdLst/>
            <a:ahLst/>
            <a:cxnLst/>
            <a:rect l="l" t="t" r="r" b="b"/>
            <a:pathLst>
              <a:path w="762000" h="629920">
                <a:moveTo>
                  <a:pt x="0" y="0"/>
                </a:moveTo>
                <a:lnTo>
                  <a:pt x="762000" y="0"/>
                </a:lnTo>
                <a:lnTo>
                  <a:pt x="762000" y="629587"/>
                </a:lnTo>
                <a:lnTo>
                  <a:pt x="0" y="629587"/>
                </a:lnTo>
                <a:lnTo>
                  <a:pt x="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268718" y="4744769"/>
            <a:ext cx="762000" cy="629920"/>
          </a:xfrm>
          <a:custGeom>
            <a:avLst/>
            <a:gdLst/>
            <a:ahLst/>
            <a:cxnLst/>
            <a:rect l="l" t="t" r="r" b="b"/>
            <a:pathLst>
              <a:path w="762000" h="629920">
                <a:moveTo>
                  <a:pt x="0" y="0"/>
                </a:moveTo>
                <a:lnTo>
                  <a:pt x="762000" y="0"/>
                </a:lnTo>
                <a:lnTo>
                  <a:pt x="762000" y="629587"/>
                </a:lnTo>
                <a:lnTo>
                  <a:pt x="0" y="629587"/>
                </a:lnTo>
                <a:lnTo>
                  <a:pt x="0" y="0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4349681" y="4728971"/>
            <a:ext cx="60007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8260" marR="5080" indent="-36195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o</a:t>
            </a:r>
            <a:r>
              <a:rPr dirty="0" sz="2000">
                <a:solidFill>
                  <a:srgbClr val="FFFFFF"/>
                </a:solidFill>
                <a:latin typeface="Corbel"/>
                <a:cs typeface="Corbel"/>
              </a:rPr>
              <a:t>de 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573995" y="4463044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102868" y="68580"/>
                </a:moveTo>
                <a:lnTo>
                  <a:pt x="34289" y="68580"/>
                </a:lnTo>
                <a:lnTo>
                  <a:pt x="34289" y="182880"/>
                </a:lnTo>
                <a:lnTo>
                  <a:pt x="102868" y="182880"/>
                </a:lnTo>
                <a:lnTo>
                  <a:pt x="102868" y="68580"/>
                </a:lnTo>
                <a:close/>
              </a:path>
              <a:path w="137160" h="182879">
                <a:moveTo>
                  <a:pt x="68579" y="0"/>
                </a:moveTo>
                <a:lnTo>
                  <a:pt x="0" y="68580"/>
                </a:lnTo>
                <a:lnTo>
                  <a:pt x="137158" y="68580"/>
                </a:lnTo>
                <a:lnTo>
                  <a:pt x="6857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573995" y="4463044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34289" y="182880"/>
                </a:moveTo>
                <a:lnTo>
                  <a:pt x="34289" y="68579"/>
                </a:lnTo>
                <a:lnTo>
                  <a:pt x="0" y="68579"/>
                </a:lnTo>
                <a:lnTo>
                  <a:pt x="68579" y="0"/>
                </a:lnTo>
                <a:lnTo>
                  <a:pt x="137159" y="68579"/>
                </a:lnTo>
                <a:lnTo>
                  <a:pt x="102869" y="68579"/>
                </a:lnTo>
                <a:lnTo>
                  <a:pt x="102869" y="182880"/>
                </a:lnTo>
                <a:lnTo>
                  <a:pt x="34289" y="182880"/>
                </a:lnTo>
                <a:close/>
              </a:path>
            </a:pathLst>
          </a:custGeom>
          <a:ln w="381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272154" y="3733800"/>
            <a:ext cx="762000" cy="629920"/>
          </a:xfrm>
          <a:custGeom>
            <a:avLst/>
            <a:gdLst/>
            <a:ahLst/>
            <a:cxnLst/>
            <a:rect l="l" t="t" r="r" b="b"/>
            <a:pathLst>
              <a:path w="762000" h="629920">
                <a:moveTo>
                  <a:pt x="0" y="0"/>
                </a:moveTo>
                <a:lnTo>
                  <a:pt x="762000" y="0"/>
                </a:lnTo>
                <a:lnTo>
                  <a:pt x="762000" y="629587"/>
                </a:lnTo>
                <a:lnTo>
                  <a:pt x="0" y="629587"/>
                </a:lnTo>
                <a:lnTo>
                  <a:pt x="0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272154" y="3733800"/>
            <a:ext cx="762000" cy="629920"/>
          </a:xfrm>
          <a:custGeom>
            <a:avLst/>
            <a:gdLst/>
            <a:ahLst/>
            <a:cxnLst/>
            <a:rect l="l" t="t" r="r" b="b"/>
            <a:pathLst>
              <a:path w="762000" h="629920">
                <a:moveTo>
                  <a:pt x="0" y="0"/>
                </a:moveTo>
                <a:lnTo>
                  <a:pt x="762000" y="0"/>
                </a:lnTo>
                <a:lnTo>
                  <a:pt x="762000" y="629587"/>
                </a:lnTo>
                <a:lnTo>
                  <a:pt x="0" y="629587"/>
                </a:lnTo>
                <a:lnTo>
                  <a:pt x="0" y="0"/>
                </a:lnTo>
                <a:close/>
              </a:path>
            </a:pathLst>
          </a:custGeom>
          <a:ln w="480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4371373" y="3717035"/>
            <a:ext cx="56324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" marR="5080" indent="-1778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E</a:t>
            </a:r>
            <a:r>
              <a:rPr dirty="0" sz="2000">
                <a:solidFill>
                  <a:srgbClr val="FFFFFF"/>
                </a:solidFill>
                <a:latin typeface="Corbel"/>
                <a:cs typeface="Corbel"/>
              </a:rPr>
              <a:t>dge 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216299" y="4740912"/>
            <a:ext cx="762000" cy="629920"/>
          </a:xfrm>
          <a:custGeom>
            <a:avLst/>
            <a:gdLst/>
            <a:ahLst/>
            <a:cxnLst/>
            <a:rect l="l" t="t" r="r" b="b"/>
            <a:pathLst>
              <a:path w="762000" h="629920">
                <a:moveTo>
                  <a:pt x="0" y="0"/>
                </a:moveTo>
                <a:lnTo>
                  <a:pt x="762000" y="0"/>
                </a:lnTo>
                <a:lnTo>
                  <a:pt x="762000" y="629585"/>
                </a:lnTo>
                <a:lnTo>
                  <a:pt x="0" y="629585"/>
                </a:lnTo>
                <a:lnTo>
                  <a:pt x="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216299" y="4740912"/>
            <a:ext cx="762000" cy="629920"/>
          </a:xfrm>
          <a:custGeom>
            <a:avLst/>
            <a:gdLst/>
            <a:ahLst/>
            <a:cxnLst/>
            <a:rect l="l" t="t" r="r" b="b"/>
            <a:pathLst>
              <a:path w="762000" h="629920">
                <a:moveTo>
                  <a:pt x="0" y="0"/>
                </a:moveTo>
                <a:lnTo>
                  <a:pt x="762000" y="0"/>
                </a:lnTo>
                <a:lnTo>
                  <a:pt x="762000" y="629587"/>
                </a:lnTo>
                <a:lnTo>
                  <a:pt x="0" y="629587"/>
                </a:lnTo>
                <a:lnTo>
                  <a:pt x="0" y="0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7297261" y="4725923"/>
            <a:ext cx="60007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8260" marR="5080" indent="-36195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o</a:t>
            </a:r>
            <a:r>
              <a:rPr dirty="0" sz="2000">
                <a:solidFill>
                  <a:srgbClr val="FFFFFF"/>
                </a:solidFill>
                <a:latin typeface="Corbel"/>
                <a:cs typeface="Corbel"/>
              </a:rPr>
              <a:t>de 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7521576" y="4459185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59" h="182879">
                <a:moveTo>
                  <a:pt x="102868" y="68580"/>
                </a:moveTo>
                <a:lnTo>
                  <a:pt x="34290" y="68580"/>
                </a:lnTo>
                <a:lnTo>
                  <a:pt x="34290" y="182880"/>
                </a:lnTo>
                <a:lnTo>
                  <a:pt x="102868" y="182880"/>
                </a:lnTo>
                <a:lnTo>
                  <a:pt x="102868" y="68580"/>
                </a:lnTo>
                <a:close/>
              </a:path>
              <a:path w="137159" h="182879">
                <a:moveTo>
                  <a:pt x="68579" y="0"/>
                </a:moveTo>
                <a:lnTo>
                  <a:pt x="0" y="68580"/>
                </a:lnTo>
                <a:lnTo>
                  <a:pt x="137158" y="68580"/>
                </a:lnTo>
                <a:lnTo>
                  <a:pt x="6857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521576" y="4459185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59" h="182879">
                <a:moveTo>
                  <a:pt x="34289" y="182880"/>
                </a:moveTo>
                <a:lnTo>
                  <a:pt x="34289" y="68579"/>
                </a:lnTo>
                <a:lnTo>
                  <a:pt x="0" y="68579"/>
                </a:lnTo>
                <a:lnTo>
                  <a:pt x="68579" y="0"/>
                </a:lnTo>
                <a:lnTo>
                  <a:pt x="137159" y="68579"/>
                </a:lnTo>
                <a:lnTo>
                  <a:pt x="102869" y="68579"/>
                </a:lnTo>
                <a:lnTo>
                  <a:pt x="102869" y="182880"/>
                </a:lnTo>
                <a:lnTo>
                  <a:pt x="34289" y="182880"/>
                </a:lnTo>
                <a:close/>
              </a:path>
            </a:pathLst>
          </a:custGeom>
          <a:ln w="381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219735" y="3729941"/>
            <a:ext cx="762000" cy="629920"/>
          </a:xfrm>
          <a:custGeom>
            <a:avLst/>
            <a:gdLst/>
            <a:ahLst/>
            <a:cxnLst/>
            <a:rect l="l" t="t" r="r" b="b"/>
            <a:pathLst>
              <a:path w="762000" h="629920">
                <a:moveTo>
                  <a:pt x="0" y="0"/>
                </a:moveTo>
                <a:lnTo>
                  <a:pt x="762000" y="0"/>
                </a:lnTo>
                <a:lnTo>
                  <a:pt x="762000" y="629587"/>
                </a:lnTo>
                <a:lnTo>
                  <a:pt x="0" y="629587"/>
                </a:lnTo>
                <a:lnTo>
                  <a:pt x="0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219735" y="3729941"/>
            <a:ext cx="762000" cy="629920"/>
          </a:xfrm>
          <a:custGeom>
            <a:avLst/>
            <a:gdLst/>
            <a:ahLst/>
            <a:cxnLst/>
            <a:rect l="l" t="t" r="r" b="b"/>
            <a:pathLst>
              <a:path w="762000" h="629920">
                <a:moveTo>
                  <a:pt x="0" y="0"/>
                </a:moveTo>
                <a:lnTo>
                  <a:pt x="762000" y="0"/>
                </a:lnTo>
                <a:lnTo>
                  <a:pt x="762000" y="629587"/>
                </a:lnTo>
                <a:lnTo>
                  <a:pt x="0" y="629587"/>
                </a:lnTo>
                <a:lnTo>
                  <a:pt x="0" y="0"/>
                </a:lnTo>
                <a:close/>
              </a:path>
            </a:pathLst>
          </a:custGeom>
          <a:ln w="480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7318954" y="3713988"/>
            <a:ext cx="56324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" marR="5080" indent="-1778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E</a:t>
            </a:r>
            <a:r>
              <a:rPr dirty="0" sz="2000">
                <a:solidFill>
                  <a:srgbClr val="FFFFFF"/>
                </a:solidFill>
                <a:latin typeface="Corbel"/>
                <a:cs typeface="Corbel"/>
              </a:rPr>
              <a:t>dge 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972067" y="3977295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80" h="137160">
                <a:moveTo>
                  <a:pt x="68579" y="0"/>
                </a:moveTo>
                <a:lnTo>
                  <a:pt x="0" y="68579"/>
                </a:lnTo>
                <a:lnTo>
                  <a:pt x="68579" y="137158"/>
                </a:lnTo>
                <a:lnTo>
                  <a:pt x="68579" y="102869"/>
                </a:lnTo>
                <a:lnTo>
                  <a:pt x="182880" y="102869"/>
                </a:lnTo>
                <a:lnTo>
                  <a:pt x="182880" y="34289"/>
                </a:lnTo>
                <a:lnTo>
                  <a:pt x="68579" y="34289"/>
                </a:lnTo>
                <a:lnTo>
                  <a:pt x="6857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972067" y="3977295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80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150321" y="3976155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68579" y="0"/>
                </a:moveTo>
                <a:lnTo>
                  <a:pt x="0" y="68580"/>
                </a:lnTo>
                <a:lnTo>
                  <a:pt x="68579" y="137160"/>
                </a:lnTo>
                <a:lnTo>
                  <a:pt x="68579" y="102869"/>
                </a:lnTo>
                <a:lnTo>
                  <a:pt x="182879" y="102869"/>
                </a:lnTo>
                <a:lnTo>
                  <a:pt x="182879" y="34289"/>
                </a:lnTo>
                <a:lnTo>
                  <a:pt x="68579" y="34289"/>
                </a:lnTo>
                <a:lnTo>
                  <a:pt x="6857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150321" y="3976156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5440390" y="3866388"/>
            <a:ext cx="4667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𝑆</a:t>
            </a:r>
            <a:r>
              <a:rPr dirty="0" sz="2000" spc="-5">
                <a:latin typeface="Cambria Math"/>
                <a:cs typeface="Cambria Math"/>
              </a:rPr>
              <a:t>𝑂</a:t>
            </a:r>
            <a:r>
              <a:rPr dirty="0" sz="2000">
                <a:latin typeface="Cambria Math"/>
                <a:cs typeface="Cambria Math"/>
              </a:rPr>
              <a:t>𝑆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8077200" y="3976155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68579" y="0"/>
                </a:moveTo>
                <a:lnTo>
                  <a:pt x="0" y="68580"/>
                </a:lnTo>
                <a:lnTo>
                  <a:pt x="68579" y="137160"/>
                </a:lnTo>
                <a:lnTo>
                  <a:pt x="68579" y="102869"/>
                </a:lnTo>
                <a:lnTo>
                  <a:pt x="182879" y="102869"/>
                </a:lnTo>
                <a:lnTo>
                  <a:pt x="182879" y="34289"/>
                </a:lnTo>
                <a:lnTo>
                  <a:pt x="68579" y="34289"/>
                </a:lnTo>
                <a:lnTo>
                  <a:pt x="6857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8077200" y="3976156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8367269" y="3866388"/>
            <a:ext cx="4667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𝑆</a:t>
            </a:r>
            <a:r>
              <a:rPr dirty="0" sz="2000" spc="-5">
                <a:latin typeface="Cambria Math"/>
                <a:cs typeface="Cambria Math"/>
              </a:rPr>
              <a:t>𝑂</a:t>
            </a:r>
            <a:r>
              <a:rPr dirty="0" sz="2000">
                <a:latin typeface="Cambria Math"/>
                <a:cs typeface="Cambria Math"/>
              </a:rPr>
              <a:t>𝑆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6936962" y="3977295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68579" y="0"/>
                </a:moveTo>
                <a:lnTo>
                  <a:pt x="0" y="68579"/>
                </a:lnTo>
                <a:lnTo>
                  <a:pt x="68579" y="137158"/>
                </a:lnTo>
                <a:lnTo>
                  <a:pt x="68579" y="102869"/>
                </a:lnTo>
                <a:lnTo>
                  <a:pt x="182879" y="102869"/>
                </a:lnTo>
                <a:lnTo>
                  <a:pt x="182879" y="34289"/>
                </a:lnTo>
                <a:lnTo>
                  <a:pt x="68579" y="34289"/>
                </a:lnTo>
                <a:lnTo>
                  <a:pt x="6857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6936962" y="3977295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376649" y="3844184"/>
            <a:ext cx="0" cy="408940"/>
          </a:xfrm>
          <a:custGeom>
            <a:avLst/>
            <a:gdLst/>
            <a:ahLst/>
            <a:cxnLst/>
            <a:rect l="l" t="t" r="r" b="b"/>
            <a:pathLst>
              <a:path w="0" h="408939">
                <a:moveTo>
                  <a:pt x="0" y="0"/>
                </a:moveTo>
                <a:lnTo>
                  <a:pt x="0" y="40894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3889968" y="3844184"/>
            <a:ext cx="0" cy="408940"/>
          </a:xfrm>
          <a:custGeom>
            <a:avLst/>
            <a:gdLst/>
            <a:ahLst/>
            <a:cxnLst/>
            <a:rect l="l" t="t" r="r" b="b"/>
            <a:pathLst>
              <a:path w="0" h="408939">
                <a:moveTo>
                  <a:pt x="0" y="0"/>
                </a:moveTo>
                <a:lnTo>
                  <a:pt x="0" y="40894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3370299" y="3850534"/>
            <a:ext cx="526415" cy="0"/>
          </a:xfrm>
          <a:custGeom>
            <a:avLst/>
            <a:gdLst/>
            <a:ahLst/>
            <a:cxnLst/>
            <a:rect l="l" t="t" r="r" b="b"/>
            <a:pathLst>
              <a:path w="526414" h="0">
                <a:moveTo>
                  <a:pt x="0" y="0"/>
                </a:moveTo>
                <a:lnTo>
                  <a:pt x="52601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3370299" y="4246774"/>
            <a:ext cx="526415" cy="0"/>
          </a:xfrm>
          <a:custGeom>
            <a:avLst/>
            <a:gdLst/>
            <a:ahLst/>
            <a:cxnLst/>
            <a:rect l="l" t="t" r="r" b="b"/>
            <a:pathLst>
              <a:path w="526414" h="0">
                <a:moveTo>
                  <a:pt x="0" y="0"/>
                </a:moveTo>
                <a:lnTo>
                  <a:pt x="52601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3460269" y="3869435"/>
            <a:ext cx="34671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latin typeface="Calibri"/>
                <a:cs typeface="Calibri"/>
              </a:rPr>
              <a:t>0.</a:t>
            </a:r>
            <a:r>
              <a:rPr dirty="0" sz="2000">
                <a:latin typeface="Calibri"/>
                <a:cs typeface="Calibri"/>
              </a:rPr>
              <a:t>6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3989382" y="3979280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68578" y="0"/>
                </a:moveTo>
                <a:lnTo>
                  <a:pt x="0" y="68579"/>
                </a:lnTo>
                <a:lnTo>
                  <a:pt x="68578" y="137158"/>
                </a:lnTo>
                <a:lnTo>
                  <a:pt x="68578" y="102868"/>
                </a:lnTo>
                <a:lnTo>
                  <a:pt x="182880" y="102868"/>
                </a:lnTo>
                <a:lnTo>
                  <a:pt x="182880" y="34289"/>
                </a:lnTo>
                <a:lnTo>
                  <a:pt x="68578" y="34289"/>
                </a:lnTo>
                <a:lnTo>
                  <a:pt x="68578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3989382" y="3979280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4263685" y="2697328"/>
            <a:ext cx="762000" cy="629920"/>
          </a:xfrm>
          <a:custGeom>
            <a:avLst/>
            <a:gdLst/>
            <a:ahLst/>
            <a:cxnLst/>
            <a:rect l="l" t="t" r="r" b="b"/>
            <a:pathLst>
              <a:path w="762000" h="629920">
                <a:moveTo>
                  <a:pt x="0" y="0"/>
                </a:moveTo>
                <a:lnTo>
                  <a:pt x="762000" y="0"/>
                </a:lnTo>
                <a:lnTo>
                  <a:pt x="762000" y="629587"/>
                </a:lnTo>
                <a:lnTo>
                  <a:pt x="0" y="629587"/>
                </a:lnTo>
                <a:lnTo>
                  <a:pt x="0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4263685" y="2697328"/>
            <a:ext cx="762000" cy="629920"/>
          </a:xfrm>
          <a:custGeom>
            <a:avLst/>
            <a:gdLst/>
            <a:ahLst/>
            <a:cxnLst/>
            <a:rect l="l" t="t" r="r" b="b"/>
            <a:pathLst>
              <a:path w="762000" h="629920">
                <a:moveTo>
                  <a:pt x="0" y="0"/>
                </a:moveTo>
                <a:lnTo>
                  <a:pt x="762000" y="0"/>
                </a:lnTo>
                <a:lnTo>
                  <a:pt x="762000" y="629587"/>
                </a:lnTo>
                <a:lnTo>
                  <a:pt x="0" y="629587"/>
                </a:lnTo>
                <a:lnTo>
                  <a:pt x="0" y="0"/>
                </a:lnTo>
                <a:close/>
              </a:path>
            </a:pathLst>
          </a:custGeom>
          <a:ln w="480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4362904" y="2680716"/>
            <a:ext cx="56324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" marR="5080" indent="-1778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E</a:t>
            </a:r>
            <a:r>
              <a:rPr dirty="0" sz="2000">
                <a:solidFill>
                  <a:srgbClr val="FFFFFF"/>
                </a:solidFill>
                <a:latin typeface="Corbel"/>
                <a:cs typeface="Corbel"/>
              </a:rPr>
              <a:t>dge 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4568962" y="3441090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102868" y="68578"/>
                </a:moveTo>
                <a:lnTo>
                  <a:pt x="34289" y="68578"/>
                </a:lnTo>
                <a:lnTo>
                  <a:pt x="34289" y="182880"/>
                </a:lnTo>
                <a:lnTo>
                  <a:pt x="102868" y="182880"/>
                </a:lnTo>
                <a:lnTo>
                  <a:pt x="102868" y="68578"/>
                </a:lnTo>
                <a:close/>
              </a:path>
              <a:path w="137160" h="182879">
                <a:moveTo>
                  <a:pt x="68579" y="0"/>
                </a:moveTo>
                <a:lnTo>
                  <a:pt x="0" y="68578"/>
                </a:lnTo>
                <a:lnTo>
                  <a:pt x="137158" y="68578"/>
                </a:lnTo>
                <a:lnTo>
                  <a:pt x="6857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4568962" y="3441090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34289" y="182880"/>
                </a:moveTo>
                <a:lnTo>
                  <a:pt x="34289" y="68579"/>
                </a:lnTo>
                <a:lnTo>
                  <a:pt x="0" y="68579"/>
                </a:lnTo>
                <a:lnTo>
                  <a:pt x="68579" y="0"/>
                </a:lnTo>
                <a:lnTo>
                  <a:pt x="137159" y="68579"/>
                </a:lnTo>
                <a:lnTo>
                  <a:pt x="102869" y="68579"/>
                </a:lnTo>
                <a:lnTo>
                  <a:pt x="102869" y="182880"/>
                </a:lnTo>
                <a:lnTo>
                  <a:pt x="34289" y="182880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5156023" y="2944176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68579" y="0"/>
                </a:moveTo>
                <a:lnTo>
                  <a:pt x="0" y="68579"/>
                </a:lnTo>
                <a:lnTo>
                  <a:pt x="68579" y="137160"/>
                </a:lnTo>
                <a:lnTo>
                  <a:pt x="68579" y="102869"/>
                </a:lnTo>
                <a:lnTo>
                  <a:pt x="182879" y="102869"/>
                </a:lnTo>
                <a:lnTo>
                  <a:pt x="182879" y="34289"/>
                </a:lnTo>
                <a:lnTo>
                  <a:pt x="68579" y="34289"/>
                </a:lnTo>
                <a:lnTo>
                  <a:pt x="6857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5156023" y="2944177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3949569" y="2944177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68579" y="0"/>
                </a:moveTo>
                <a:lnTo>
                  <a:pt x="0" y="68580"/>
                </a:lnTo>
                <a:lnTo>
                  <a:pt x="68579" y="137160"/>
                </a:lnTo>
                <a:lnTo>
                  <a:pt x="68579" y="102870"/>
                </a:lnTo>
                <a:lnTo>
                  <a:pt x="182879" y="102870"/>
                </a:lnTo>
                <a:lnTo>
                  <a:pt x="182879" y="34289"/>
                </a:lnTo>
                <a:lnTo>
                  <a:pt x="68579" y="34289"/>
                </a:lnTo>
                <a:lnTo>
                  <a:pt x="6857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3949569" y="2944178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343642" y="4359826"/>
            <a:ext cx="513715" cy="3962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79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20"/>
              </a:spcBef>
            </a:pPr>
            <a:r>
              <a:rPr dirty="0" sz="2000">
                <a:solidFill>
                  <a:srgbClr val="C64847"/>
                </a:solidFill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3370449" y="2790197"/>
            <a:ext cx="0" cy="408940"/>
          </a:xfrm>
          <a:custGeom>
            <a:avLst/>
            <a:gdLst/>
            <a:ahLst/>
            <a:cxnLst/>
            <a:rect l="l" t="t" r="r" b="b"/>
            <a:pathLst>
              <a:path w="0" h="408939">
                <a:moveTo>
                  <a:pt x="0" y="0"/>
                </a:moveTo>
                <a:lnTo>
                  <a:pt x="0" y="40894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3883768" y="2790197"/>
            <a:ext cx="0" cy="408940"/>
          </a:xfrm>
          <a:custGeom>
            <a:avLst/>
            <a:gdLst/>
            <a:ahLst/>
            <a:cxnLst/>
            <a:rect l="l" t="t" r="r" b="b"/>
            <a:pathLst>
              <a:path w="0" h="408939">
                <a:moveTo>
                  <a:pt x="0" y="0"/>
                </a:moveTo>
                <a:lnTo>
                  <a:pt x="0" y="40894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3364099" y="2796547"/>
            <a:ext cx="526415" cy="0"/>
          </a:xfrm>
          <a:custGeom>
            <a:avLst/>
            <a:gdLst/>
            <a:ahLst/>
            <a:cxnLst/>
            <a:rect l="l" t="t" r="r" b="b"/>
            <a:pathLst>
              <a:path w="526414" h="0">
                <a:moveTo>
                  <a:pt x="0" y="0"/>
                </a:moveTo>
                <a:lnTo>
                  <a:pt x="52601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3364099" y="3192787"/>
            <a:ext cx="526415" cy="0"/>
          </a:xfrm>
          <a:custGeom>
            <a:avLst/>
            <a:gdLst/>
            <a:ahLst/>
            <a:cxnLst/>
            <a:rect l="l" t="t" r="r" b="b"/>
            <a:pathLst>
              <a:path w="526414" h="0">
                <a:moveTo>
                  <a:pt x="0" y="0"/>
                </a:moveTo>
                <a:lnTo>
                  <a:pt x="52601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 txBox="1"/>
          <p:nvPr/>
        </p:nvSpPr>
        <p:spPr>
          <a:xfrm>
            <a:off x="3454070" y="2817876"/>
            <a:ext cx="34671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latin typeface="Calibri"/>
                <a:cs typeface="Calibri"/>
              </a:rPr>
              <a:t>0.</a:t>
            </a:r>
            <a:r>
              <a:rPr dirty="0" sz="2000">
                <a:latin typeface="Calibri"/>
                <a:cs typeface="Calibri"/>
              </a:rPr>
              <a:t>4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370449" y="4359826"/>
            <a:ext cx="513715" cy="3962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79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20"/>
              </a:spcBef>
            </a:pPr>
            <a:r>
              <a:rPr dirty="0" sz="2000">
                <a:solidFill>
                  <a:srgbClr val="C64847"/>
                </a:solidFill>
                <a:latin typeface="Calibri"/>
                <a:cs typeface="Calibri"/>
              </a:rPr>
              <a:t>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3372527" y="3277203"/>
            <a:ext cx="513715" cy="3962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54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dirty="0" sz="2000">
                <a:solidFill>
                  <a:srgbClr val="C64847"/>
                </a:solidFill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6332202" y="3849472"/>
            <a:ext cx="0" cy="408940"/>
          </a:xfrm>
          <a:custGeom>
            <a:avLst/>
            <a:gdLst/>
            <a:ahLst/>
            <a:cxnLst/>
            <a:rect l="l" t="t" r="r" b="b"/>
            <a:pathLst>
              <a:path w="0" h="408939">
                <a:moveTo>
                  <a:pt x="0" y="0"/>
                </a:moveTo>
                <a:lnTo>
                  <a:pt x="0" y="40894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6845520" y="3849472"/>
            <a:ext cx="0" cy="408940"/>
          </a:xfrm>
          <a:custGeom>
            <a:avLst/>
            <a:gdLst/>
            <a:ahLst/>
            <a:cxnLst/>
            <a:rect l="l" t="t" r="r" b="b"/>
            <a:pathLst>
              <a:path w="0" h="408939">
                <a:moveTo>
                  <a:pt x="0" y="0"/>
                </a:moveTo>
                <a:lnTo>
                  <a:pt x="0" y="40894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6325852" y="3855822"/>
            <a:ext cx="526415" cy="0"/>
          </a:xfrm>
          <a:custGeom>
            <a:avLst/>
            <a:gdLst/>
            <a:ahLst/>
            <a:cxnLst/>
            <a:rect l="l" t="t" r="r" b="b"/>
            <a:pathLst>
              <a:path w="526415" h="0">
                <a:moveTo>
                  <a:pt x="0" y="0"/>
                </a:moveTo>
                <a:lnTo>
                  <a:pt x="52601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6325852" y="4252062"/>
            <a:ext cx="526415" cy="0"/>
          </a:xfrm>
          <a:custGeom>
            <a:avLst/>
            <a:gdLst/>
            <a:ahLst/>
            <a:cxnLst/>
            <a:rect l="l" t="t" r="r" b="b"/>
            <a:pathLst>
              <a:path w="526415" h="0">
                <a:moveTo>
                  <a:pt x="0" y="0"/>
                </a:moveTo>
                <a:lnTo>
                  <a:pt x="52601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 txBox="1"/>
          <p:nvPr/>
        </p:nvSpPr>
        <p:spPr>
          <a:xfrm>
            <a:off x="6415824" y="3875532"/>
            <a:ext cx="34671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latin typeface="Calibri"/>
                <a:cs typeface="Calibri"/>
              </a:rPr>
              <a:t>0.</a:t>
            </a:r>
            <a:r>
              <a:rPr dirty="0" sz="2000">
                <a:latin typeface="Calibri"/>
                <a:cs typeface="Calibri"/>
              </a:rPr>
              <a:t>4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6373167" y="3488435"/>
            <a:ext cx="49022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C64847"/>
                </a:solidFill>
                <a:latin typeface="Cambria Math"/>
                <a:cs typeface="Cambria Math"/>
              </a:rPr>
              <a:t>𝐸</a:t>
            </a:r>
            <a:r>
              <a:rPr dirty="0" sz="2000" spc="-5">
                <a:solidFill>
                  <a:srgbClr val="C64847"/>
                </a:solidFill>
                <a:latin typeface="Cambria Math"/>
                <a:cs typeface="Cambria Math"/>
              </a:rPr>
              <a:t>𝑂𝑆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6547472" y="2696972"/>
            <a:ext cx="21463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Arial"/>
                <a:cs typeface="Arial"/>
              </a:rPr>
              <a:t>Observed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35">
                <a:latin typeface="Arial"/>
                <a:cs typeface="Arial"/>
              </a:rPr>
              <a:t>graph</a:t>
            </a:r>
            <a:endParaRPr sz="2400">
              <a:latin typeface="Arial"/>
              <a:cs typeface="Arial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6116383" y="1324100"/>
            <a:ext cx="3027680" cy="1800225"/>
          </a:xfrm>
          <a:custGeom>
            <a:avLst/>
            <a:gdLst/>
            <a:ahLst/>
            <a:cxnLst/>
            <a:rect l="l" t="t" r="r" b="b"/>
            <a:pathLst>
              <a:path w="3027679" h="1800225">
                <a:moveTo>
                  <a:pt x="0" y="0"/>
                </a:moveTo>
                <a:lnTo>
                  <a:pt x="3027616" y="0"/>
                </a:lnTo>
                <a:lnTo>
                  <a:pt x="3027616" y="1800099"/>
                </a:lnTo>
                <a:lnTo>
                  <a:pt x="0" y="1800099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 txBox="1"/>
          <p:nvPr/>
        </p:nvSpPr>
        <p:spPr>
          <a:xfrm>
            <a:off x="5425996" y="2796547"/>
            <a:ext cx="513715" cy="3962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73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15"/>
              </a:spcBef>
            </a:pPr>
            <a:r>
              <a:rPr dirty="0" sz="2000">
                <a:latin typeface="Calibri"/>
                <a:cs typeface="Calibri"/>
              </a:rPr>
              <a:t>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5682655" y="4990282"/>
            <a:ext cx="1031240" cy="137160"/>
          </a:xfrm>
          <a:custGeom>
            <a:avLst/>
            <a:gdLst/>
            <a:ahLst/>
            <a:cxnLst/>
            <a:rect l="l" t="t" r="r" b="b"/>
            <a:pathLst>
              <a:path w="1031240" h="137160">
                <a:moveTo>
                  <a:pt x="962343" y="0"/>
                </a:moveTo>
                <a:lnTo>
                  <a:pt x="962343" y="34289"/>
                </a:lnTo>
                <a:lnTo>
                  <a:pt x="0" y="34289"/>
                </a:lnTo>
                <a:lnTo>
                  <a:pt x="0" y="102869"/>
                </a:lnTo>
                <a:lnTo>
                  <a:pt x="962343" y="102869"/>
                </a:lnTo>
                <a:lnTo>
                  <a:pt x="962343" y="137159"/>
                </a:lnTo>
                <a:lnTo>
                  <a:pt x="1030923" y="68579"/>
                </a:lnTo>
                <a:lnTo>
                  <a:pt x="962343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5682655" y="4990282"/>
            <a:ext cx="1031240" cy="137160"/>
          </a:xfrm>
          <a:custGeom>
            <a:avLst/>
            <a:gdLst/>
            <a:ahLst/>
            <a:cxnLst/>
            <a:rect l="l" t="t" r="r" b="b"/>
            <a:pathLst>
              <a:path w="1031240" h="137160">
                <a:moveTo>
                  <a:pt x="0" y="34290"/>
                </a:moveTo>
                <a:lnTo>
                  <a:pt x="962344" y="34290"/>
                </a:lnTo>
                <a:lnTo>
                  <a:pt x="962344" y="0"/>
                </a:lnTo>
                <a:lnTo>
                  <a:pt x="1030924" y="68580"/>
                </a:lnTo>
                <a:lnTo>
                  <a:pt x="962344" y="137160"/>
                </a:lnTo>
                <a:lnTo>
                  <a:pt x="962344" y="102870"/>
                </a:lnTo>
                <a:lnTo>
                  <a:pt x="0" y="102870"/>
                </a:lnTo>
                <a:lnTo>
                  <a:pt x="0" y="34290"/>
                </a:lnTo>
                <a:close/>
              </a:path>
            </a:pathLst>
          </a:custGeom>
          <a:ln w="381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 txBox="1">
            <a:spLocks noGrp="1"/>
          </p:cNvSpPr>
          <p:nvPr>
            <p:ph type="title"/>
          </p:nvPr>
        </p:nvSpPr>
        <p:spPr>
          <a:xfrm>
            <a:off x="285330" y="1218691"/>
            <a:ext cx="3385185" cy="1129030"/>
          </a:xfrm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10"/>
              <a:t>Backprop through </a:t>
            </a:r>
            <a:r>
              <a:rPr dirty="0" sz="2400" spc="-5"/>
              <a:t>time:  </a:t>
            </a:r>
            <a:r>
              <a:rPr dirty="0" sz="2400" spc="-10" b="0">
                <a:latin typeface="Calibri"/>
                <a:cs typeface="Calibri"/>
              </a:rPr>
              <a:t>Gradients are </a:t>
            </a:r>
            <a:r>
              <a:rPr dirty="0" sz="2400" spc="-10"/>
              <a:t>accumulated  across </a:t>
            </a:r>
            <a:r>
              <a:rPr dirty="0" sz="2400" spc="-5"/>
              <a:t>time</a:t>
            </a:r>
            <a:r>
              <a:rPr dirty="0" sz="2400" spc="-60"/>
              <a:t> </a:t>
            </a:r>
            <a:r>
              <a:rPr dirty="0" sz="2400" spc="-15"/>
              <a:t>steps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1639379" y="4096504"/>
            <a:ext cx="152400" cy="1031240"/>
          </a:xfrm>
          <a:custGeom>
            <a:avLst/>
            <a:gdLst/>
            <a:ahLst/>
            <a:cxnLst/>
            <a:rect l="l" t="t" r="r" b="b"/>
            <a:pathLst>
              <a:path w="152400" h="1031239">
                <a:moveTo>
                  <a:pt x="50799" y="878537"/>
                </a:moveTo>
                <a:lnTo>
                  <a:pt x="0" y="878537"/>
                </a:lnTo>
                <a:lnTo>
                  <a:pt x="76200" y="1030937"/>
                </a:lnTo>
                <a:lnTo>
                  <a:pt x="127000" y="929337"/>
                </a:lnTo>
                <a:lnTo>
                  <a:pt x="76200" y="929337"/>
                </a:lnTo>
                <a:lnTo>
                  <a:pt x="66313" y="927341"/>
                </a:lnTo>
                <a:lnTo>
                  <a:pt x="58239" y="921897"/>
                </a:lnTo>
                <a:lnTo>
                  <a:pt x="52796" y="913824"/>
                </a:lnTo>
                <a:lnTo>
                  <a:pt x="50800" y="903937"/>
                </a:lnTo>
                <a:lnTo>
                  <a:pt x="50799" y="878537"/>
                </a:lnTo>
                <a:close/>
              </a:path>
              <a:path w="152400" h="1031239">
                <a:moveTo>
                  <a:pt x="76198" y="0"/>
                </a:moveTo>
                <a:lnTo>
                  <a:pt x="66311" y="1996"/>
                </a:lnTo>
                <a:lnTo>
                  <a:pt x="58238" y="7439"/>
                </a:lnTo>
                <a:lnTo>
                  <a:pt x="52794" y="15513"/>
                </a:lnTo>
                <a:lnTo>
                  <a:pt x="50798" y="25400"/>
                </a:lnTo>
                <a:lnTo>
                  <a:pt x="50800" y="903937"/>
                </a:lnTo>
                <a:lnTo>
                  <a:pt x="52796" y="913824"/>
                </a:lnTo>
                <a:lnTo>
                  <a:pt x="58239" y="921897"/>
                </a:lnTo>
                <a:lnTo>
                  <a:pt x="66313" y="927341"/>
                </a:lnTo>
                <a:lnTo>
                  <a:pt x="76200" y="929337"/>
                </a:lnTo>
                <a:lnTo>
                  <a:pt x="86086" y="927341"/>
                </a:lnTo>
                <a:lnTo>
                  <a:pt x="94160" y="921897"/>
                </a:lnTo>
                <a:lnTo>
                  <a:pt x="99603" y="913824"/>
                </a:lnTo>
                <a:lnTo>
                  <a:pt x="101600" y="903937"/>
                </a:lnTo>
                <a:lnTo>
                  <a:pt x="101598" y="25400"/>
                </a:lnTo>
                <a:lnTo>
                  <a:pt x="99602" y="15513"/>
                </a:lnTo>
                <a:lnTo>
                  <a:pt x="94159" y="7439"/>
                </a:lnTo>
                <a:lnTo>
                  <a:pt x="86085" y="1996"/>
                </a:lnTo>
                <a:lnTo>
                  <a:pt x="76198" y="0"/>
                </a:lnTo>
                <a:close/>
              </a:path>
              <a:path w="152400" h="1031239">
                <a:moveTo>
                  <a:pt x="152400" y="878537"/>
                </a:moveTo>
                <a:lnTo>
                  <a:pt x="101599" y="878537"/>
                </a:lnTo>
                <a:lnTo>
                  <a:pt x="101600" y="903937"/>
                </a:lnTo>
                <a:lnTo>
                  <a:pt x="99603" y="913824"/>
                </a:lnTo>
                <a:lnTo>
                  <a:pt x="94160" y="921897"/>
                </a:lnTo>
                <a:lnTo>
                  <a:pt x="86086" y="927341"/>
                </a:lnTo>
                <a:lnTo>
                  <a:pt x="76200" y="929337"/>
                </a:lnTo>
                <a:lnTo>
                  <a:pt x="127000" y="929337"/>
                </a:lnTo>
                <a:lnTo>
                  <a:pt x="152400" y="878537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436480" y="4187727"/>
            <a:ext cx="1304290" cy="152400"/>
          </a:xfrm>
          <a:custGeom>
            <a:avLst/>
            <a:gdLst/>
            <a:ahLst/>
            <a:cxnLst/>
            <a:rect l="l" t="t" r="r" b="b"/>
            <a:pathLst>
              <a:path w="1304289" h="152400">
                <a:moveTo>
                  <a:pt x="1151562" y="101599"/>
                </a:moveTo>
                <a:lnTo>
                  <a:pt x="1151562" y="152400"/>
                </a:lnTo>
                <a:lnTo>
                  <a:pt x="1253162" y="101600"/>
                </a:lnTo>
                <a:lnTo>
                  <a:pt x="1151562" y="101599"/>
                </a:lnTo>
                <a:close/>
              </a:path>
              <a:path w="1304289" h="152400">
                <a:moveTo>
                  <a:pt x="1151562" y="50799"/>
                </a:moveTo>
                <a:lnTo>
                  <a:pt x="1151562" y="101599"/>
                </a:lnTo>
                <a:lnTo>
                  <a:pt x="1176968" y="101598"/>
                </a:lnTo>
                <a:lnTo>
                  <a:pt x="1186850" y="99602"/>
                </a:lnTo>
                <a:lnTo>
                  <a:pt x="1194923" y="94159"/>
                </a:lnTo>
                <a:lnTo>
                  <a:pt x="1200366" y="86085"/>
                </a:lnTo>
                <a:lnTo>
                  <a:pt x="1202361" y="76198"/>
                </a:lnTo>
                <a:lnTo>
                  <a:pt x="1200365" y="66311"/>
                </a:lnTo>
                <a:lnTo>
                  <a:pt x="1194920" y="58238"/>
                </a:lnTo>
                <a:lnTo>
                  <a:pt x="1186842" y="52794"/>
                </a:lnTo>
                <a:lnTo>
                  <a:pt x="1176962" y="50800"/>
                </a:lnTo>
                <a:lnTo>
                  <a:pt x="1151562" y="50799"/>
                </a:lnTo>
                <a:close/>
              </a:path>
              <a:path w="1304289" h="152400">
                <a:moveTo>
                  <a:pt x="1151562" y="0"/>
                </a:moveTo>
                <a:lnTo>
                  <a:pt x="1151562" y="50799"/>
                </a:lnTo>
                <a:lnTo>
                  <a:pt x="1176962" y="50800"/>
                </a:lnTo>
                <a:lnTo>
                  <a:pt x="1186849" y="52796"/>
                </a:lnTo>
                <a:lnTo>
                  <a:pt x="1194922" y="58239"/>
                </a:lnTo>
                <a:lnTo>
                  <a:pt x="1200366" y="66313"/>
                </a:lnTo>
                <a:lnTo>
                  <a:pt x="1202362" y="76200"/>
                </a:lnTo>
                <a:lnTo>
                  <a:pt x="1200366" y="86086"/>
                </a:lnTo>
                <a:lnTo>
                  <a:pt x="1194922" y="94160"/>
                </a:lnTo>
                <a:lnTo>
                  <a:pt x="1186849" y="99603"/>
                </a:lnTo>
                <a:lnTo>
                  <a:pt x="1176962" y="101600"/>
                </a:lnTo>
                <a:lnTo>
                  <a:pt x="1253164" y="101598"/>
                </a:lnTo>
                <a:lnTo>
                  <a:pt x="1303962" y="76200"/>
                </a:lnTo>
                <a:lnTo>
                  <a:pt x="1151562" y="0"/>
                </a:lnTo>
                <a:close/>
              </a:path>
              <a:path w="1304289" h="152400">
                <a:moveTo>
                  <a:pt x="25399" y="50798"/>
                </a:moveTo>
                <a:lnTo>
                  <a:pt x="15511" y="52796"/>
                </a:lnTo>
                <a:lnTo>
                  <a:pt x="7438" y="58239"/>
                </a:lnTo>
                <a:lnTo>
                  <a:pt x="1995" y="66313"/>
                </a:lnTo>
                <a:lnTo>
                  <a:pt x="0" y="76200"/>
                </a:lnTo>
                <a:lnTo>
                  <a:pt x="1996" y="86086"/>
                </a:lnTo>
                <a:lnTo>
                  <a:pt x="7441" y="94160"/>
                </a:lnTo>
                <a:lnTo>
                  <a:pt x="15519" y="99603"/>
                </a:lnTo>
                <a:lnTo>
                  <a:pt x="25399" y="101598"/>
                </a:lnTo>
                <a:lnTo>
                  <a:pt x="1151562" y="101599"/>
                </a:lnTo>
                <a:lnTo>
                  <a:pt x="1151562" y="50799"/>
                </a:lnTo>
                <a:lnTo>
                  <a:pt x="25399" y="50798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4659005" y="2916552"/>
            <a:ext cx="152400" cy="2173605"/>
          </a:xfrm>
          <a:custGeom>
            <a:avLst/>
            <a:gdLst/>
            <a:ahLst/>
            <a:cxnLst/>
            <a:rect l="l" t="t" r="r" b="b"/>
            <a:pathLst>
              <a:path w="152400" h="2173604">
                <a:moveTo>
                  <a:pt x="50800" y="2021064"/>
                </a:moveTo>
                <a:lnTo>
                  <a:pt x="0" y="2021064"/>
                </a:lnTo>
                <a:lnTo>
                  <a:pt x="76201" y="2173464"/>
                </a:lnTo>
                <a:lnTo>
                  <a:pt x="127001" y="2071862"/>
                </a:lnTo>
                <a:lnTo>
                  <a:pt x="76200" y="2071862"/>
                </a:lnTo>
                <a:lnTo>
                  <a:pt x="66313" y="2069866"/>
                </a:lnTo>
                <a:lnTo>
                  <a:pt x="58239" y="2064423"/>
                </a:lnTo>
                <a:lnTo>
                  <a:pt x="52796" y="2056349"/>
                </a:lnTo>
                <a:lnTo>
                  <a:pt x="50800" y="2046462"/>
                </a:lnTo>
                <a:lnTo>
                  <a:pt x="50800" y="2021064"/>
                </a:lnTo>
                <a:close/>
              </a:path>
              <a:path w="152400" h="2173604">
                <a:moveTo>
                  <a:pt x="76200" y="0"/>
                </a:moveTo>
                <a:lnTo>
                  <a:pt x="66313" y="1996"/>
                </a:lnTo>
                <a:lnTo>
                  <a:pt x="58239" y="7439"/>
                </a:lnTo>
                <a:lnTo>
                  <a:pt x="52796" y="15513"/>
                </a:lnTo>
                <a:lnTo>
                  <a:pt x="50800" y="25400"/>
                </a:lnTo>
                <a:lnTo>
                  <a:pt x="50800" y="2046462"/>
                </a:lnTo>
                <a:lnTo>
                  <a:pt x="52796" y="2056349"/>
                </a:lnTo>
                <a:lnTo>
                  <a:pt x="58239" y="2064423"/>
                </a:lnTo>
                <a:lnTo>
                  <a:pt x="66313" y="2069866"/>
                </a:lnTo>
                <a:lnTo>
                  <a:pt x="76200" y="2071862"/>
                </a:lnTo>
                <a:lnTo>
                  <a:pt x="86086" y="2069866"/>
                </a:lnTo>
                <a:lnTo>
                  <a:pt x="94160" y="2064423"/>
                </a:lnTo>
                <a:lnTo>
                  <a:pt x="99603" y="2056349"/>
                </a:lnTo>
                <a:lnTo>
                  <a:pt x="101600" y="2046462"/>
                </a:lnTo>
                <a:lnTo>
                  <a:pt x="101600" y="25400"/>
                </a:lnTo>
                <a:lnTo>
                  <a:pt x="99603" y="15513"/>
                </a:lnTo>
                <a:lnTo>
                  <a:pt x="94160" y="7439"/>
                </a:lnTo>
                <a:lnTo>
                  <a:pt x="86086" y="1996"/>
                </a:lnTo>
                <a:lnTo>
                  <a:pt x="76200" y="0"/>
                </a:lnTo>
                <a:close/>
              </a:path>
              <a:path w="152400" h="2173604">
                <a:moveTo>
                  <a:pt x="152400" y="2021064"/>
                </a:moveTo>
                <a:lnTo>
                  <a:pt x="101600" y="2021064"/>
                </a:lnTo>
                <a:lnTo>
                  <a:pt x="101600" y="2046462"/>
                </a:lnTo>
                <a:lnTo>
                  <a:pt x="99603" y="2056349"/>
                </a:lnTo>
                <a:lnTo>
                  <a:pt x="94160" y="2064423"/>
                </a:lnTo>
                <a:lnTo>
                  <a:pt x="86086" y="2069866"/>
                </a:lnTo>
                <a:lnTo>
                  <a:pt x="76200" y="2071862"/>
                </a:lnTo>
                <a:lnTo>
                  <a:pt x="127001" y="2071862"/>
                </a:lnTo>
                <a:lnTo>
                  <a:pt x="152400" y="2021064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1418390" y="5051240"/>
            <a:ext cx="6426200" cy="152400"/>
          </a:xfrm>
          <a:custGeom>
            <a:avLst/>
            <a:gdLst/>
            <a:ahLst/>
            <a:cxnLst/>
            <a:rect l="l" t="t" r="r" b="b"/>
            <a:pathLst>
              <a:path w="6426200" h="152400">
                <a:moveTo>
                  <a:pt x="152400" y="0"/>
                </a:moveTo>
                <a:lnTo>
                  <a:pt x="0" y="76200"/>
                </a:lnTo>
                <a:lnTo>
                  <a:pt x="152400" y="152400"/>
                </a:lnTo>
                <a:lnTo>
                  <a:pt x="152400" y="101600"/>
                </a:lnTo>
                <a:lnTo>
                  <a:pt x="126994" y="101600"/>
                </a:lnTo>
                <a:lnTo>
                  <a:pt x="117108" y="99603"/>
                </a:lnTo>
                <a:lnTo>
                  <a:pt x="109034" y="94160"/>
                </a:lnTo>
                <a:lnTo>
                  <a:pt x="103591" y="86086"/>
                </a:lnTo>
                <a:lnTo>
                  <a:pt x="101594" y="76200"/>
                </a:lnTo>
                <a:lnTo>
                  <a:pt x="103591" y="66313"/>
                </a:lnTo>
                <a:lnTo>
                  <a:pt x="109034" y="58239"/>
                </a:lnTo>
                <a:lnTo>
                  <a:pt x="117108" y="52796"/>
                </a:lnTo>
                <a:lnTo>
                  <a:pt x="126994" y="50800"/>
                </a:lnTo>
                <a:lnTo>
                  <a:pt x="152400" y="50800"/>
                </a:lnTo>
                <a:lnTo>
                  <a:pt x="152400" y="0"/>
                </a:lnTo>
                <a:close/>
              </a:path>
              <a:path w="6426200" h="152400">
                <a:moveTo>
                  <a:pt x="152400" y="50800"/>
                </a:moveTo>
                <a:lnTo>
                  <a:pt x="152400" y="101600"/>
                </a:lnTo>
                <a:lnTo>
                  <a:pt x="6400806" y="101600"/>
                </a:lnTo>
                <a:lnTo>
                  <a:pt x="6410688" y="99603"/>
                </a:lnTo>
                <a:lnTo>
                  <a:pt x="6418761" y="94160"/>
                </a:lnTo>
                <a:lnTo>
                  <a:pt x="6424204" y="86086"/>
                </a:lnTo>
                <a:lnTo>
                  <a:pt x="6426199" y="76200"/>
                </a:lnTo>
                <a:lnTo>
                  <a:pt x="6424203" y="66313"/>
                </a:lnTo>
                <a:lnTo>
                  <a:pt x="6418758" y="58239"/>
                </a:lnTo>
                <a:lnTo>
                  <a:pt x="6410680" y="52796"/>
                </a:lnTo>
                <a:lnTo>
                  <a:pt x="6400800" y="50801"/>
                </a:lnTo>
                <a:lnTo>
                  <a:pt x="152400" y="50800"/>
                </a:lnTo>
                <a:close/>
              </a:path>
              <a:path w="6426200" h="152400">
                <a:moveTo>
                  <a:pt x="126994" y="50800"/>
                </a:moveTo>
                <a:lnTo>
                  <a:pt x="117106" y="52797"/>
                </a:lnTo>
                <a:lnTo>
                  <a:pt x="109033" y="58240"/>
                </a:lnTo>
                <a:lnTo>
                  <a:pt x="103590" y="66314"/>
                </a:lnTo>
                <a:lnTo>
                  <a:pt x="101595" y="76201"/>
                </a:lnTo>
                <a:lnTo>
                  <a:pt x="103591" y="86087"/>
                </a:lnTo>
                <a:lnTo>
                  <a:pt x="109035" y="94161"/>
                </a:lnTo>
                <a:lnTo>
                  <a:pt x="117113" y="99605"/>
                </a:lnTo>
                <a:lnTo>
                  <a:pt x="126994" y="101600"/>
                </a:lnTo>
                <a:lnTo>
                  <a:pt x="152400" y="101600"/>
                </a:lnTo>
                <a:lnTo>
                  <a:pt x="152400" y="50800"/>
                </a:lnTo>
                <a:lnTo>
                  <a:pt x="126994" y="50800"/>
                </a:lnTo>
                <a:close/>
              </a:path>
              <a:path w="6426200" h="152400">
                <a:moveTo>
                  <a:pt x="152400" y="50800"/>
                </a:moveTo>
                <a:lnTo>
                  <a:pt x="126994" y="50800"/>
                </a:lnTo>
                <a:lnTo>
                  <a:pt x="152400" y="5080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7589678" y="3841680"/>
            <a:ext cx="152400" cy="1285875"/>
          </a:xfrm>
          <a:custGeom>
            <a:avLst/>
            <a:gdLst/>
            <a:ahLst/>
            <a:cxnLst/>
            <a:rect l="l" t="t" r="r" b="b"/>
            <a:pathLst>
              <a:path w="152400" h="1285875">
                <a:moveTo>
                  <a:pt x="50799" y="1133361"/>
                </a:moveTo>
                <a:lnTo>
                  <a:pt x="0" y="1133361"/>
                </a:lnTo>
                <a:lnTo>
                  <a:pt x="76200" y="1285761"/>
                </a:lnTo>
                <a:lnTo>
                  <a:pt x="127000" y="1184161"/>
                </a:lnTo>
                <a:lnTo>
                  <a:pt x="76200" y="1184161"/>
                </a:lnTo>
                <a:lnTo>
                  <a:pt x="66313" y="1182165"/>
                </a:lnTo>
                <a:lnTo>
                  <a:pt x="58239" y="1176722"/>
                </a:lnTo>
                <a:lnTo>
                  <a:pt x="52796" y="1168648"/>
                </a:lnTo>
                <a:lnTo>
                  <a:pt x="50800" y="1158761"/>
                </a:lnTo>
                <a:lnTo>
                  <a:pt x="50799" y="1133361"/>
                </a:lnTo>
                <a:close/>
              </a:path>
              <a:path w="152400" h="1285875">
                <a:moveTo>
                  <a:pt x="76198" y="0"/>
                </a:moveTo>
                <a:lnTo>
                  <a:pt x="66311" y="1996"/>
                </a:lnTo>
                <a:lnTo>
                  <a:pt x="58238" y="7439"/>
                </a:lnTo>
                <a:lnTo>
                  <a:pt x="52794" y="15513"/>
                </a:lnTo>
                <a:lnTo>
                  <a:pt x="50798" y="25399"/>
                </a:lnTo>
                <a:lnTo>
                  <a:pt x="50800" y="1158761"/>
                </a:lnTo>
                <a:lnTo>
                  <a:pt x="52796" y="1168648"/>
                </a:lnTo>
                <a:lnTo>
                  <a:pt x="58239" y="1176722"/>
                </a:lnTo>
                <a:lnTo>
                  <a:pt x="66313" y="1182165"/>
                </a:lnTo>
                <a:lnTo>
                  <a:pt x="76200" y="1184161"/>
                </a:lnTo>
                <a:lnTo>
                  <a:pt x="86086" y="1182165"/>
                </a:lnTo>
                <a:lnTo>
                  <a:pt x="94160" y="1176722"/>
                </a:lnTo>
                <a:lnTo>
                  <a:pt x="99603" y="1168648"/>
                </a:lnTo>
                <a:lnTo>
                  <a:pt x="101600" y="1158761"/>
                </a:lnTo>
                <a:lnTo>
                  <a:pt x="101598" y="25399"/>
                </a:lnTo>
                <a:lnTo>
                  <a:pt x="99602" y="15513"/>
                </a:lnTo>
                <a:lnTo>
                  <a:pt x="94159" y="7439"/>
                </a:lnTo>
                <a:lnTo>
                  <a:pt x="86085" y="1996"/>
                </a:lnTo>
                <a:lnTo>
                  <a:pt x="76198" y="0"/>
                </a:lnTo>
                <a:close/>
              </a:path>
              <a:path w="152400" h="1285875">
                <a:moveTo>
                  <a:pt x="152400" y="1133361"/>
                </a:moveTo>
                <a:lnTo>
                  <a:pt x="101599" y="1133361"/>
                </a:lnTo>
                <a:lnTo>
                  <a:pt x="101600" y="1158761"/>
                </a:lnTo>
                <a:lnTo>
                  <a:pt x="99603" y="1168648"/>
                </a:lnTo>
                <a:lnTo>
                  <a:pt x="94160" y="1176722"/>
                </a:lnTo>
                <a:lnTo>
                  <a:pt x="86086" y="1182165"/>
                </a:lnTo>
                <a:lnTo>
                  <a:pt x="76200" y="1184161"/>
                </a:lnTo>
                <a:lnTo>
                  <a:pt x="127000" y="1184161"/>
                </a:lnTo>
                <a:lnTo>
                  <a:pt x="152400" y="1133361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3431242" y="4191890"/>
            <a:ext cx="1304290" cy="152400"/>
          </a:xfrm>
          <a:custGeom>
            <a:avLst/>
            <a:gdLst/>
            <a:ahLst/>
            <a:cxnLst/>
            <a:rect l="l" t="t" r="r" b="b"/>
            <a:pathLst>
              <a:path w="1304289" h="152400">
                <a:moveTo>
                  <a:pt x="1151562" y="101599"/>
                </a:moveTo>
                <a:lnTo>
                  <a:pt x="1151562" y="152399"/>
                </a:lnTo>
                <a:lnTo>
                  <a:pt x="1253162" y="101599"/>
                </a:lnTo>
                <a:lnTo>
                  <a:pt x="1151562" y="101599"/>
                </a:lnTo>
                <a:close/>
              </a:path>
              <a:path w="1304289" h="152400">
                <a:moveTo>
                  <a:pt x="1151562" y="50799"/>
                </a:moveTo>
                <a:lnTo>
                  <a:pt x="1151562" y="101599"/>
                </a:lnTo>
                <a:lnTo>
                  <a:pt x="1176968" y="101598"/>
                </a:lnTo>
                <a:lnTo>
                  <a:pt x="1186850" y="99602"/>
                </a:lnTo>
                <a:lnTo>
                  <a:pt x="1194923" y="94159"/>
                </a:lnTo>
                <a:lnTo>
                  <a:pt x="1200366" y="86085"/>
                </a:lnTo>
                <a:lnTo>
                  <a:pt x="1202361" y="76198"/>
                </a:lnTo>
                <a:lnTo>
                  <a:pt x="1200365" y="66311"/>
                </a:lnTo>
                <a:lnTo>
                  <a:pt x="1194920" y="58238"/>
                </a:lnTo>
                <a:lnTo>
                  <a:pt x="1186842" y="52794"/>
                </a:lnTo>
                <a:lnTo>
                  <a:pt x="1176962" y="50799"/>
                </a:lnTo>
                <a:lnTo>
                  <a:pt x="1151562" y="50799"/>
                </a:lnTo>
                <a:close/>
              </a:path>
              <a:path w="1304289" h="152400">
                <a:moveTo>
                  <a:pt x="1151562" y="0"/>
                </a:moveTo>
                <a:lnTo>
                  <a:pt x="1151562" y="50799"/>
                </a:lnTo>
                <a:lnTo>
                  <a:pt x="1176962" y="50799"/>
                </a:lnTo>
                <a:lnTo>
                  <a:pt x="1186849" y="52796"/>
                </a:lnTo>
                <a:lnTo>
                  <a:pt x="1194922" y="58239"/>
                </a:lnTo>
                <a:lnTo>
                  <a:pt x="1200366" y="66313"/>
                </a:lnTo>
                <a:lnTo>
                  <a:pt x="1202362" y="76199"/>
                </a:lnTo>
                <a:lnTo>
                  <a:pt x="1200366" y="86086"/>
                </a:lnTo>
                <a:lnTo>
                  <a:pt x="1194922" y="94160"/>
                </a:lnTo>
                <a:lnTo>
                  <a:pt x="1186849" y="99603"/>
                </a:lnTo>
                <a:lnTo>
                  <a:pt x="1176962" y="101599"/>
                </a:lnTo>
                <a:lnTo>
                  <a:pt x="1253164" y="101598"/>
                </a:lnTo>
                <a:lnTo>
                  <a:pt x="1303962" y="76199"/>
                </a:lnTo>
                <a:lnTo>
                  <a:pt x="1151562" y="0"/>
                </a:lnTo>
                <a:close/>
              </a:path>
              <a:path w="1304289" h="152400">
                <a:moveTo>
                  <a:pt x="25399" y="50798"/>
                </a:moveTo>
                <a:lnTo>
                  <a:pt x="15510" y="52796"/>
                </a:lnTo>
                <a:lnTo>
                  <a:pt x="7438" y="58239"/>
                </a:lnTo>
                <a:lnTo>
                  <a:pt x="1995" y="66313"/>
                </a:lnTo>
                <a:lnTo>
                  <a:pt x="0" y="76199"/>
                </a:lnTo>
                <a:lnTo>
                  <a:pt x="1996" y="86086"/>
                </a:lnTo>
                <a:lnTo>
                  <a:pt x="7440" y="94160"/>
                </a:lnTo>
                <a:lnTo>
                  <a:pt x="15518" y="99603"/>
                </a:lnTo>
                <a:lnTo>
                  <a:pt x="25399" y="101598"/>
                </a:lnTo>
                <a:lnTo>
                  <a:pt x="1151562" y="101599"/>
                </a:lnTo>
                <a:lnTo>
                  <a:pt x="1151562" y="50799"/>
                </a:lnTo>
                <a:lnTo>
                  <a:pt x="25399" y="50798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3431242" y="3116587"/>
            <a:ext cx="1304290" cy="152400"/>
          </a:xfrm>
          <a:custGeom>
            <a:avLst/>
            <a:gdLst/>
            <a:ahLst/>
            <a:cxnLst/>
            <a:rect l="l" t="t" r="r" b="b"/>
            <a:pathLst>
              <a:path w="1304289" h="152400">
                <a:moveTo>
                  <a:pt x="1151562" y="0"/>
                </a:moveTo>
                <a:lnTo>
                  <a:pt x="1151562" y="152400"/>
                </a:lnTo>
                <a:lnTo>
                  <a:pt x="1253162" y="101600"/>
                </a:lnTo>
                <a:lnTo>
                  <a:pt x="1176962" y="101600"/>
                </a:lnTo>
                <a:lnTo>
                  <a:pt x="1186849" y="99603"/>
                </a:lnTo>
                <a:lnTo>
                  <a:pt x="1194923" y="94160"/>
                </a:lnTo>
                <a:lnTo>
                  <a:pt x="1200366" y="86085"/>
                </a:lnTo>
                <a:lnTo>
                  <a:pt x="1202361" y="76198"/>
                </a:lnTo>
                <a:lnTo>
                  <a:pt x="1200365" y="66312"/>
                </a:lnTo>
                <a:lnTo>
                  <a:pt x="1194921" y="58239"/>
                </a:lnTo>
                <a:lnTo>
                  <a:pt x="1186848" y="52795"/>
                </a:lnTo>
                <a:lnTo>
                  <a:pt x="1176962" y="50800"/>
                </a:lnTo>
                <a:lnTo>
                  <a:pt x="1253162" y="50800"/>
                </a:lnTo>
                <a:lnTo>
                  <a:pt x="1151562" y="0"/>
                </a:lnTo>
                <a:close/>
              </a:path>
              <a:path w="1304289" h="152400">
                <a:moveTo>
                  <a:pt x="1151562" y="50800"/>
                </a:moveTo>
                <a:lnTo>
                  <a:pt x="25399" y="50800"/>
                </a:lnTo>
                <a:lnTo>
                  <a:pt x="15512" y="52796"/>
                </a:lnTo>
                <a:lnTo>
                  <a:pt x="7438" y="58239"/>
                </a:lnTo>
                <a:lnTo>
                  <a:pt x="1995" y="66313"/>
                </a:lnTo>
                <a:lnTo>
                  <a:pt x="0" y="76200"/>
                </a:lnTo>
                <a:lnTo>
                  <a:pt x="1996" y="86086"/>
                </a:lnTo>
                <a:lnTo>
                  <a:pt x="7440" y="94160"/>
                </a:lnTo>
                <a:lnTo>
                  <a:pt x="15513" y="99603"/>
                </a:lnTo>
                <a:lnTo>
                  <a:pt x="25399" y="101600"/>
                </a:lnTo>
                <a:lnTo>
                  <a:pt x="1151562" y="101600"/>
                </a:lnTo>
                <a:lnTo>
                  <a:pt x="1151562" y="50800"/>
                </a:lnTo>
                <a:close/>
              </a:path>
              <a:path w="1304289" h="152400">
                <a:moveTo>
                  <a:pt x="1253162" y="50800"/>
                </a:moveTo>
                <a:lnTo>
                  <a:pt x="1176962" y="50800"/>
                </a:lnTo>
                <a:lnTo>
                  <a:pt x="1186849" y="52796"/>
                </a:lnTo>
                <a:lnTo>
                  <a:pt x="1194922" y="58239"/>
                </a:lnTo>
                <a:lnTo>
                  <a:pt x="1200366" y="66313"/>
                </a:lnTo>
                <a:lnTo>
                  <a:pt x="1202362" y="76200"/>
                </a:lnTo>
                <a:lnTo>
                  <a:pt x="1200366" y="86086"/>
                </a:lnTo>
                <a:lnTo>
                  <a:pt x="1194922" y="94160"/>
                </a:lnTo>
                <a:lnTo>
                  <a:pt x="1186849" y="99603"/>
                </a:lnTo>
                <a:lnTo>
                  <a:pt x="1176962" y="101600"/>
                </a:lnTo>
                <a:lnTo>
                  <a:pt x="1253162" y="101600"/>
                </a:lnTo>
                <a:lnTo>
                  <a:pt x="1303962" y="76200"/>
                </a:lnTo>
                <a:lnTo>
                  <a:pt x="1253162" y="5080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6398575" y="3782720"/>
            <a:ext cx="1304290" cy="152400"/>
          </a:xfrm>
          <a:custGeom>
            <a:avLst/>
            <a:gdLst/>
            <a:ahLst/>
            <a:cxnLst/>
            <a:rect l="l" t="t" r="r" b="b"/>
            <a:pathLst>
              <a:path w="1304290" h="152400">
                <a:moveTo>
                  <a:pt x="1151560" y="101599"/>
                </a:moveTo>
                <a:lnTo>
                  <a:pt x="1151560" y="152400"/>
                </a:lnTo>
                <a:lnTo>
                  <a:pt x="1253160" y="101600"/>
                </a:lnTo>
                <a:lnTo>
                  <a:pt x="1151560" y="101599"/>
                </a:lnTo>
                <a:close/>
              </a:path>
              <a:path w="1304290" h="152400">
                <a:moveTo>
                  <a:pt x="1151560" y="50799"/>
                </a:moveTo>
                <a:lnTo>
                  <a:pt x="1151560" y="101599"/>
                </a:lnTo>
                <a:lnTo>
                  <a:pt x="1176968" y="101598"/>
                </a:lnTo>
                <a:lnTo>
                  <a:pt x="1186850" y="99602"/>
                </a:lnTo>
                <a:lnTo>
                  <a:pt x="1194922" y="94159"/>
                </a:lnTo>
                <a:lnTo>
                  <a:pt x="1200366" y="86085"/>
                </a:lnTo>
                <a:lnTo>
                  <a:pt x="1202361" y="76198"/>
                </a:lnTo>
                <a:lnTo>
                  <a:pt x="1200365" y="66311"/>
                </a:lnTo>
                <a:lnTo>
                  <a:pt x="1194920" y="58238"/>
                </a:lnTo>
                <a:lnTo>
                  <a:pt x="1186842" y="52794"/>
                </a:lnTo>
                <a:lnTo>
                  <a:pt x="1176962" y="50800"/>
                </a:lnTo>
                <a:lnTo>
                  <a:pt x="1151560" y="50799"/>
                </a:lnTo>
                <a:close/>
              </a:path>
              <a:path w="1304290" h="152400">
                <a:moveTo>
                  <a:pt x="1151560" y="0"/>
                </a:moveTo>
                <a:lnTo>
                  <a:pt x="1151560" y="50799"/>
                </a:lnTo>
                <a:lnTo>
                  <a:pt x="1176962" y="50800"/>
                </a:lnTo>
                <a:lnTo>
                  <a:pt x="1186848" y="52796"/>
                </a:lnTo>
                <a:lnTo>
                  <a:pt x="1194922" y="58239"/>
                </a:lnTo>
                <a:lnTo>
                  <a:pt x="1200365" y="66313"/>
                </a:lnTo>
                <a:lnTo>
                  <a:pt x="1202362" y="76200"/>
                </a:lnTo>
                <a:lnTo>
                  <a:pt x="1200365" y="86086"/>
                </a:lnTo>
                <a:lnTo>
                  <a:pt x="1194922" y="94160"/>
                </a:lnTo>
                <a:lnTo>
                  <a:pt x="1186848" y="99603"/>
                </a:lnTo>
                <a:lnTo>
                  <a:pt x="1176962" y="101600"/>
                </a:lnTo>
                <a:lnTo>
                  <a:pt x="1253163" y="101598"/>
                </a:lnTo>
                <a:lnTo>
                  <a:pt x="1303960" y="76200"/>
                </a:lnTo>
                <a:lnTo>
                  <a:pt x="1151560" y="0"/>
                </a:lnTo>
                <a:close/>
              </a:path>
              <a:path w="1304290" h="152400">
                <a:moveTo>
                  <a:pt x="25399" y="50798"/>
                </a:moveTo>
                <a:lnTo>
                  <a:pt x="15510" y="52796"/>
                </a:lnTo>
                <a:lnTo>
                  <a:pt x="7438" y="58239"/>
                </a:lnTo>
                <a:lnTo>
                  <a:pt x="1995" y="66313"/>
                </a:lnTo>
                <a:lnTo>
                  <a:pt x="0" y="76200"/>
                </a:lnTo>
                <a:lnTo>
                  <a:pt x="1996" y="86086"/>
                </a:lnTo>
                <a:lnTo>
                  <a:pt x="7440" y="94160"/>
                </a:lnTo>
                <a:lnTo>
                  <a:pt x="15518" y="99603"/>
                </a:lnTo>
                <a:lnTo>
                  <a:pt x="25399" y="101598"/>
                </a:lnTo>
                <a:lnTo>
                  <a:pt x="1151560" y="101599"/>
                </a:lnTo>
                <a:lnTo>
                  <a:pt x="1151560" y="50799"/>
                </a:lnTo>
                <a:lnTo>
                  <a:pt x="25399" y="50798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 txBox="1"/>
          <p:nvPr/>
        </p:nvSpPr>
        <p:spPr>
          <a:xfrm>
            <a:off x="554227" y="6699893"/>
            <a:ext cx="400685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12/6/18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3" name="object 10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104" name="object 10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31</a:t>
            </a:fld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17524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86183" y="4744769"/>
            <a:ext cx="762000" cy="629920"/>
          </a:xfrm>
          <a:custGeom>
            <a:avLst/>
            <a:gdLst/>
            <a:ahLst/>
            <a:cxnLst/>
            <a:rect l="l" t="t" r="r" b="b"/>
            <a:pathLst>
              <a:path w="762000" h="629920">
                <a:moveTo>
                  <a:pt x="0" y="0"/>
                </a:moveTo>
                <a:lnTo>
                  <a:pt x="762000" y="0"/>
                </a:lnTo>
                <a:lnTo>
                  <a:pt x="762000" y="629587"/>
                </a:lnTo>
                <a:lnTo>
                  <a:pt x="0" y="629587"/>
                </a:lnTo>
                <a:lnTo>
                  <a:pt x="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286183" y="4744769"/>
            <a:ext cx="762000" cy="629920"/>
          </a:xfrm>
          <a:custGeom>
            <a:avLst/>
            <a:gdLst/>
            <a:ahLst/>
            <a:cxnLst/>
            <a:rect l="l" t="t" r="r" b="b"/>
            <a:pathLst>
              <a:path w="762000" h="629920">
                <a:moveTo>
                  <a:pt x="0" y="0"/>
                </a:moveTo>
                <a:lnTo>
                  <a:pt x="762000" y="0"/>
                </a:lnTo>
                <a:lnTo>
                  <a:pt x="762000" y="629587"/>
                </a:lnTo>
                <a:lnTo>
                  <a:pt x="0" y="629587"/>
                </a:lnTo>
                <a:lnTo>
                  <a:pt x="0" y="0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310183" y="4728971"/>
            <a:ext cx="73850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4775" marR="86360" indent="-36195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o</a:t>
            </a:r>
            <a:r>
              <a:rPr dirty="0" sz="2000">
                <a:solidFill>
                  <a:srgbClr val="FFFFFF"/>
                </a:solidFill>
                <a:latin typeface="Corbel"/>
                <a:cs typeface="Corbel"/>
              </a:rPr>
              <a:t>de 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56974" y="5704332"/>
            <a:ext cx="4667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𝑆</a:t>
            </a:r>
            <a:r>
              <a:rPr dirty="0" sz="2000" spc="-5">
                <a:latin typeface="Cambria Math"/>
                <a:cs typeface="Cambria Math"/>
              </a:rPr>
              <a:t>𝑂</a:t>
            </a:r>
            <a:r>
              <a:rPr dirty="0" sz="2000">
                <a:latin typeface="Cambria Math"/>
                <a:cs typeface="Cambria Math"/>
              </a:rPr>
              <a:t>𝑆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98602" y="5470917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102868" y="68580"/>
                </a:moveTo>
                <a:lnTo>
                  <a:pt x="34289" y="68580"/>
                </a:lnTo>
                <a:lnTo>
                  <a:pt x="34289" y="182880"/>
                </a:lnTo>
                <a:lnTo>
                  <a:pt x="102868" y="182880"/>
                </a:lnTo>
                <a:lnTo>
                  <a:pt x="102868" y="68580"/>
                </a:lnTo>
                <a:close/>
              </a:path>
              <a:path w="137160" h="182879">
                <a:moveTo>
                  <a:pt x="68578" y="0"/>
                </a:moveTo>
                <a:lnTo>
                  <a:pt x="0" y="68580"/>
                </a:lnTo>
                <a:lnTo>
                  <a:pt x="137158" y="68580"/>
                </a:lnTo>
                <a:lnTo>
                  <a:pt x="6857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98602" y="5470917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34289" y="182880"/>
                </a:moveTo>
                <a:lnTo>
                  <a:pt x="34289" y="68579"/>
                </a:lnTo>
                <a:lnTo>
                  <a:pt x="0" y="68579"/>
                </a:lnTo>
                <a:lnTo>
                  <a:pt x="68579" y="0"/>
                </a:lnTo>
                <a:lnTo>
                  <a:pt x="137159" y="68579"/>
                </a:lnTo>
                <a:lnTo>
                  <a:pt x="102869" y="68579"/>
                </a:lnTo>
                <a:lnTo>
                  <a:pt x="102869" y="182880"/>
                </a:lnTo>
                <a:lnTo>
                  <a:pt x="34289" y="182880"/>
                </a:lnTo>
                <a:close/>
              </a:path>
            </a:pathLst>
          </a:custGeom>
          <a:ln w="381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79039" y="3733800"/>
            <a:ext cx="762000" cy="629920"/>
          </a:xfrm>
          <a:custGeom>
            <a:avLst/>
            <a:gdLst/>
            <a:ahLst/>
            <a:cxnLst/>
            <a:rect l="l" t="t" r="r" b="b"/>
            <a:pathLst>
              <a:path w="762000" h="629920">
                <a:moveTo>
                  <a:pt x="0" y="0"/>
                </a:moveTo>
                <a:lnTo>
                  <a:pt x="762000" y="0"/>
                </a:lnTo>
                <a:lnTo>
                  <a:pt x="762000" y="629587"/>
                </a:lnTo>
                <a:lnTo>
                  <a:pt x="0" y="629587"/>
                </a:lnTo>
                <a:lnTo>
                  <a:pt x="0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79039" y="3733800"/>
            <a:ext cx="762000" cy="629920"/>
          </a:xfrm>
          <a:custGeom>
            <a:avLst/>
            <a:gdLst/>
            <a:ahLst/>
            <a:cxnLst/>
            <a:rect l="l" t="t" r="r" b="b"/>
            <a:pathLst>
              <a:path w="762000" h="629920">
                <a:moveTo>
                  <a:pt x="0" y="0"/>
                </a:moveTo>
                <a:lnTo>
                  <a:pt x="762000" y="0"/>
                </a:lnTo>
                <a:lnTo>
                  <a:pt x="762000" y="629587"/>
                </a:lnTo>
                <a:lnTo>
                  <a:pt x="0" y="629587"/>
                </a:lnTo>
                <a:lnTo>
                  <a:pt x="0" y="0"/>
                </a:lnTo>
                <a:close/>
              </a:path>
            </a:pathLst>
          </a:custGeom>
          <a:ln w="480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303039" y="3717035"/>
            <a:ext cx="73850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4775" marR="104775" indent="-1778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E</a:t>
            </a:r>
            <a:r>
              <a:rPr dirty="0" sz="2000">
                <a:solidFill>
                  <a:srgbClr val="FFFFFF"/>
                </a:solidFill>
                <a:latin typeface="Corbel"/>
                <a:cs typeface="Corbel"/>
              </a:rPr>
              <a:t>dge 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591459" y="4463044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102869" y="68580"/>
                </a:moveTo>
                <a:lnTo>
                  <a:pt x="34289" y="68580"/>
                </a:lnTo>
                <a:lnTo>
                  <a:pt x="34289" y="182880"/>
                </a:lnTo>
                <a:lnTo>
                  <a:pt x="102869" y="182880"/>
                </a:lnTo>
                <a:lnTo>
                  <a:pt x="102869" y="68580"/>
                </a:lnTo>
                <a:close/>
              </a:path>
              <a:path w="137160" h="182879">
                <a:moveTo>
                  <a:pt x="68580" y="0"/>
                </a:moveTo>
                <a:lnTo>
                  <a:pt x="0" y="68580"/>
                </a:lnTo>
                <a:lnTo>
                  <a:pt x="137159" y="68580"/>
                </a:lnTo>
                <a:lnTo>
                  <a:pt x="6858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591459" y="4463044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34289" y="182880"/>
                </a:moveTo>
                <a:lnTo>
                  <a:pt x="34289" y="68579"/>
                </a:lnTo>
                <a:lnTo>
                  <a:pt x="0" y="68579"/>
                </a:lnTo>
                <a:lnTo>
                  <a:pt x="68579" y="0"/>
                </a:lnTo>
                <a:lnTo>
                  <a:pt x="137159" y="68579"/>
                </a:lnTo>
                <a:lnTo>
                  <a:pt x="102869" y="68579"/>
                </a:lnTo>
                <a:lnTo>
                  <a:pt x="102869" y="182880"/>
                </a:lnTo>
                <a:lnTo>
                  <a:pt x="34289" y="182880"/>
                </a:lnTo>
                <a:close/>
              </a:path>
            </a:pathLst>
          </a:custGeom>
          <a:ln w="381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178522" y="3976155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80" h="137160">
                <a:moveTo>
                  <a:pt x="68578" y="0"/>
                </a:moveTo>
                <a:lnTo>
                  <a:pt x="0" y="68580"/>
                </a:lnTo>
                <a:lnTo>
                  <a:pt x="68578" y="137160"/>
                </a:lnTo>
                <a:lnTo>
                  <a:pt x="68578" y="102869"/>
                </a:lnTo>
                <a:lnTo>
                  <a:pt x="182879" y="102869"/>
                </a:lnTo>
                <a:lnTo>
                  <a:pt x="182879" y="34289"/>
                </a:lnTo>
                <a:lnTo>
                  <a:pt x="68578" y="34289"/>
                </a:lnTo>
                <a:lnTo>
                  <a:pt x="68578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178522" y="3976156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80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468590" y="3866388"/>
            <a:ext cx="4667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𝑆</a:t>
            </a:r>
            <a:r>
              <a:rPr dirty="0" sz="2000" spc="-5">
                <a:latin typeface="Cambria Math"/>
                <a:cs typeface="Cambria Math"/>
              </a:rPr>
              <a:t>𝑂</a:t>
            </a:r>
            <a:r>
              <a:rPr dirty="0" sz="2000">
                <a:latin typeface="Cambria Math"/>
                <a:cs typeface="Cambria Math"/>
              </a:rPr>
              <a:t>𝑆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43642" y="3844184"/>
            <a:ext cx="0" cy="408940"/>
          </a:xfrm>
          <a:custGeom>
            <a:avLst/>
            <a:gdLst/>
            <a:ahLst/>
            <a:cxnLst/>
            <a:rect l="l" t="t" r="r" b="b"/>
            <a:pathLst>
              <a:path w="0" h="408939">
                <a:moveTo>
                  <a:pt x="0" y="0"/>
                </a:moveTo>
                <a:lnTo>
                  <a:pt x="0" y="40894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56961" y="3844184"/>
            <a:ext cx="0" cy="408940"/>
          </a:xfrm>
          <a:custGeom>
            <a:avLst/>
            <a:gdLst/>
            <a:ahLst/>
            <a:cxnLst/>
            <a:rect l="l" t="t" r="r" b="b"/>
            <a:pathLst>
              <a:path w="0" h="408939">
                <a:moveTo>
                  <a:pt x="0" y="0"/>
                </a:moveTo>
                <a:lnTo>
                  <a:pt x="0" y="40894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37292" y="3850534"/>
            <a:ext cx="526415" cy="0"/>
          </a:xfrm>
          <a:custGeom>
            <a:avLst/>
            <a:gdLst/>
            <a:ahLst/>
            <a:cxnLst/>
            <a:rect l="l" t="t" r="r" b="b"/>
            <a:pathLst>
              <a:path w="526415" h="0">
                <a:moveTo>
                  <a:pt x="0" y="0"/>
                </a:moveTo>
                <a:lnTo>
                  <a:pt x="52601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37292" y="4246774"/>
            <a:ext cx="526415" cy="0"/>
          </a:xfrm>
          <a:custGeom>
            <a:avLst/>
            <a:gdLst/>
            <a:ahLst/>
            <a:cxnLst/>
            <a:rect l="l" t="t" r="r" b="b"/>
            <a:pathLst>
              <a:path w="526415" h="0">
                <a:moveTo>
                  <a:pt x="0" y="0"/>
                </a:moveTo>
                <a:lnTo>
                  <a:pt x="52601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7764687" y="1414976"/>
          <a:ext cx="1289685" cy="1207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0210"/>
                <a:gridCol w="420210"/>
                <a:gridCol w="420210"/>
              </a:tblGrid>
              <a:tr h="355600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5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2" name="object 22"/>
          <p:cNvSpPr/>
          <p:nvPr/>
        </p:nvSpPr>
        <p:spPr>
          <a:xfrm>
            <a:off x="6216237" y="17480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6301485" y="1736851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907335" y="209080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897822" y="1488084"/>
            <a:ext cx="384810" cy="383540"/>
          </a:xfrm>
          <a:custGeom>
            <a:avLst/>
            <a:gdLst/>
            <a:ahLst/>
            <a:cxnLst/>
            <a:rect l="l" t="t" r="r" b="b"/>
            <a:pathLst>
              <a:path w="384809" h="383539">
                <a:moveTo>
                  <a:pt x="211571" y="0"/>
                </a:moveTo>
                <a:lnTo>
                  <a:pt x="172257" y="0"/>
                </a:lnTo>
                <a:lnTo>
                  <a:pt x="134736" y="7619"/>
                </a:lnTo>
                <a:lnTo>
                  <a:pt x="84439" y="33019"/>
                </a:lnTo>
                <a:lnTo>
                  <a:pt x="43646" y="69850"/>
                </a:lnTo>
                <a:lnTo>
                  <a:pt x="14940" y="116839"/>
                </a:lnTo>
                <a:lnTo>
                  <a:pt x="3812" y="153669"/>
                </a:lnTo>
                <a:lnTo>
                  <a:pt x="0" y="191769"/>
                </a:lnTo>
                <a:lnTo>
                  <a:pt x="1041" y="212089"/>
                </a:lnTo>
                <a:lnTo>
                  <a:pt x="15303" y="266700"/>
                </a:lnTo>
                <a:lnTo>
                  <a:pt x="44225" y="314960"/>
                </a:lnTo>
                <a:lnTo>
                  <a:pt x="85197" y="351789"/>
                </a:lnTo>
                <a:lnTo>
                  <a:pt x="135638" y="375919"/>
                </a:lnTo>
                <a:lnTo>
                  <a:pt x="173215" y="383539"/>
                </a:lnTo>
                <a:lnTo>
                  <a:pt x="212529" y="383539"/>
                </a:lnTo>
                <a:lnTo>
                  <a:pt x="250050" y="375919"/>
                </a:lnTo>
                <a:lnTo>
                  <a:pt x="255937" y="373379"/>
                </a:lnTo>
                <a:lnTo>
                  <a:pt x="192297" y="373379"/>
                </a:lnTo>
                <a:lnTo>
                  <a:pt x="173790" y="372110"/>
                </a:lnTo>
                <a:lnTo>
                  <a:pt x="121862" y="358139"/>
                </a:lnTo>
                <a:lnTo>
                  <a:pt x="77205" y="331469"/>
                </a:lnTo>
                <a:lnTo>
                  <a:pt x="42271" y="293369"/>
                </a:lnTo>
                <a:lnTo>
                  <a:pt x="19524" y="245110"/>
                </a:lnTo>
                <a:lnTo>
                  <a:pt x="11416" y="191769"/>
                </a:lnTo>
                <a:lnTo>
                  <a:pt x="12359" y="172719"/>
                </a:lnTo>
                <a:lnTo>
                  <a:pt x="25674" y="120650"/>
                </a:lnTo>
                <a:lnTo>
                  <a:pt x="52800" y="76200"/>
                </a:lnTo>
                <a:lnTo>
                  <a:pt x="91283" y="41910"/>
                </a:lnTo>
                <a:lnTo>
                  <a:pt x="138664" y="19050"/>
                </a:lnTo>
                <a:lnTo>
                  <a:pt x="173982" y="11429"/>
                </a:lnTo>
                <a:lnTo>
                  <a:pt x="259770" y="11429"/>
                </a:lnTo>
                <a:lnTo>
                  <a:pt x="249148" y="7619"/>
                </a:lnTo>
                <a:lnTo>
                  <a:pt x="211571" y="0"/>
                </a:lnTo>
                <a:close/>
              </a:path>
              <a:path w="384809" h="383539">
                <a:moveTo>
                  <a:pt x="259770" y="11429"/>
                </a:moveTo>
                <a:lnTo>
                  <a:pt x="210995" y="11429"/>
                </a:lnTo>
                <a:lnTo>
                  <a:pt x="228963" y="13969"/>
                </a:lnTo>
                <a:lnTo>
                  <a:pt x="246302" y="19050"/>
                </a:lnTo>
                <a:lnTo>
                  <a:pt x="293654" y="41910"/>
                </a:lnTo>
                <a:lnTo>
                  <a:pt x="332102" y="76200"/>
                </a:lnTo>
                <a:lnTo>
                  <a:pt x="359185" y="121919"/>
                </a:lnTo>
                <a:lnTo>
                  <a:pt x="372446" y="173989"/>
                </a:lnTo>
                <a:lnTo>
                  <a:pt x="373371" y="191769"/>
                </a:lnTo>
                <a:lnTo>
                  <a:pt x="372426" y="210819"/>
                </a:lnTo>
                <a:lnTo>
                  <a:pt x="359112" y="262889"/>
                </a:lnTo>
                <a:lnTo>
                  <a:pt x="331986" y="307339"/>
                </a:lnTo>
                <a:lnTo>
                  <a:pt x="293502" y="341629"/>
                </a:lnTo>
                <a:lnTo>
                  <a:pt x="246122" y="364489"/>
                </a:lnTo>
                <a:lnTo>
                  <a:pt x="192297" y="373379"/>
                </a:lnTo>
                <a:lnTo>
                  <a:pt x="255937" y="373379"/>
                </a:lnTo>
                <a:lnTo>
                  <a:pt x="300347" y="350519"/>
                </a:lnTo>
                <a:lnTo>
                  <a:pt x="341141" y="313689"/>
                </a:lnTo>
                <a:lnTo>
                  <a:pt x="369846" y="266700"/>
                </a:lnTo>
                <a:lnTo>
                  <a:pt x="380974" y="229869"/>
                </a:lnTo>
                <a:lnTo>
                  <a:pt x="384785" y="191769"/>
                </a:lnTo>
                <a:lnTo>
                  <a:pt x="383745" y="171450"/>
                </a:lnTo>
                <a:lnTo>
                  <a:pt x="369483" y="116839"/>
                </a:lnTo>
                <a:lnTo>
                  <a:pt x="340561" y="68579"/>
                </a:lnTo>
                <a:lnTo>
                  <a:pt x="299589" y="31750"/>
                </a:lnTo>
                <a:lnTo>
                  <a:pt x="266852" y="13969"/>
                </a:lnTo>
                <a:lnTo>
                  <a:pt x="259770" y="11429"/>
                </a:lnTo>
                <a:close/>
              </a:path>
              <a:path w="384809" h="383539">
                <a:moveTo>
                  <a:pt x="210803" y="15239"/>
                </a:moveTo>
                <a:lnTo>
                  <a:pt x="174557" y="15239"/>
                </a:lnTo>
                <a:lnTo>
                  <a:pt x="156960" y="17779"/>
                </a:lnTo>
                <a:lnTo>
                  <a:pt x="108188" y="35560"/>
                </a:lnTo>
                <a:lnTo>
                  <a:pt x="67307" y="66039"/>
                </a:lnTo>
                <a:lnTo>
                  <a:pt x="36734" y="106679"/>
                </a:lnTo>
                <a:lnTo>
                  <a:pt x="18878" y="156210"/>
                </a:lnTo>
                <a:lnTo>
                  <a:pt x="15220" y="191769"/>
                </a:lnTo>
                <a:lnTo>
                  <a:pt x="16107" y="209550"/>
                </a:lnTo>
                <a:lnTo>
                  <a:pt x="29033" y="260350"/>
                </a:lnTo>
                <a:lnTo>
                  <a:pt x="55504" y="304800"/>
                </a:lnTo>
                <a:lnTo>
                  <a:pt x="93111" y="339089"/>
                </a:lnTo>
                <a:lnTo>
                  <a:pt x="139433" y="360679"/>
                </a:lnTo>
                <a:lnTo>
                  <a:pt x="192105" y="369569"/>
                </a:lnTo>
                <a:lnTo>
                  <a:pt x="210229" y="368300"/>
                </a:lnTo>
                <a:lnTo>
                  <a:pt x="227826" y="365760"/>
                </a:lnTo>
                <a:lnTo>
                  <a:pt x="191913" y="365760"/>
                </a:lnTo>
                <a:lnTo>
                  <a:pt x="174175" y="364489"/>
                </a:lnTo>
                <a:lnTo>
                  <a:pt x="124481" y="351789"/>
                </a:lnTo>
                <a:lnTo>
                  <a:pt x="81768" y="325119"/>
                </a:lnTo>
                <a:lnTo>
                  <a:pt x="48374" y="288289"/>
                </a:lnTo>
                <a:lnTo>
                  <a:pt x="26680" y="242569"/>
                </a:lnTo>
                <a:lnTo>
                  <a:pt x="19025" y="191769"/>
                </a:lnTo>
                <a:lnTo>
                  <a:pt x="19970" y="173989"/>
                </a:lnTo>
                <a:lnTo>
                  <a:pt x="32829" y="124460"/>
                </a:lnTo>
                <a:lnTo>
                  <a:pt x="58902" y="81279"/>
                </a:lnTo>
                <a:lnTo>
                  <a:pt x="95848" y="48260"/>
                </a:lnTo>
                <a:lnTo>
                  <a:pt x="141284" y="26669"/>
                </a:lnTo>
                <a:lnTo>
                  <a:pt x="192873" y="17779"/>
                </a:lnTo>
                <a:lnTo>
                  <a:pt x="228387" y="17779"/>
                </a:lnTo>
                <a:lnTo>
                  <a:pt x="210803" y="15239"/>
                </a:lnTo>
                <a:close/>
              </a:path>
              <a:path w="384809" h="383539">
                <a:moveTo>
                  <a:pt x="228387" y="17779"/>
                </a:moveTo>
                <a:lnTo>
                  <a:pt x="192873" y="17779"/>
                </a:lnTo>
                <a:lnTo>
                  <a:pt x="210611" y="19050"/>
                </a:lnTo>
                <a:lnTo>
                  <a:pt x="227812" y="21589"/>
                </a:lnTo>
                <a:lnTo>
                  <a:pt x="275431" y="39369"/>
                </a:lnTo>
                <a:lnTo>
                  <a:pt x="315302" y="69850"/>
                </a:lnTo>
                <a:lnTo>
                  <a:pt x="345060" y="109219"/>
                </a:lnTo>
                <a:lnTo>
                  <a:pt x="362333" y="157479"/>
                </a:lnTo>
                <a:lnTo>
                  <a:pt x="365760" y="191769"/>
                </a:lnTo>
                <a:lnTo>
                  <a:pt x="364816" y="209550"/>
                </a:lnTo>
                <a:lnTo>
                  <a:pt x="351957" y="259079"/>
                </a:lnTo>
                <a:lnTo>
                  <a:pt x="325884" y="302260"/>
                </a:lnTo>
                <a:lnTo>
                  <a:pt x="288938" y="335279"/>
                </a:lnTo>
                <a:lnTo>
                  <a:pt x="243502" y="356869"/>
                </a:lnTo>
                <a:lnTo>
                  <a:pt x="191913" y="365760"/>
                </a:lnTo>
                <a:lnTo>
                  <a:pt x="227826" y="365760"/>
                </a:lnTo>
                <a:lnTo>
                  <a:pt x="276597" y="347979"/>
                </a:lnTo>
                <a:lnTo>
                  <a:pt x="317479" y="317500"/>
                </a:lnTo>
                <a:lnTo>
                  <a:pt x="348052" y="276860"/>
                </a:lnTo>
                <a:lnTo>
                  <a:pt x="365908" y="227329"/>
                </a:lnTo>
                <a:lnTo>
                  <a:pt x="369566" y="191769"/>
                </a:lnTo>
                <a:lnTo>
                  <a:pt x="368679" y="173989"/>
                </a:lnTo>
                <a:lnTo>
                  <a:pt x="355753" y="123189"/>
                </a:lnTo>
                <a:lnTo>
                  <a:pt x="329283" y="78739"/>
                </a:lnTo>
                <a:lnTo>
                  <a:pt x="291675" y="44450"/>
                </a:lnTo>
                <a:lnTo>
                  <a:pt x="245353" y="22860"/>
                </a:lnTo>
                <a:lnTo>
                  <a:pt x="228387" y="177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992584" y="1483867"/>
            <a:ext cx="194945" cy="9855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dirty="0" sz="2400" spc="-5"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528434" y="2060261"/>
            <a:ext cx="379095" cy="213995"/>
          </a:xfrm>
          <a:custGeom>
            <a:avLst/>
            <a:gdLst/>
            <a:ahLst/>
            <a:cxnLst/>
            <a:rect l="l" t="t" r="r" b="b"/>
            <a:pathLst>
              <a:path w="379095" h="213994">
                <a:moveTo>
                  <a:pt x="0" y="0"/>
                </a:moveTo>
                <a:lnTo>
                  <a:pt x="378902" y="21342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528434" y="1679231"/>
            <a:ext cx="379095" cy="122555"/>
          </a:xfrm>
          <a:custGeom>
            <a:avLst/>
            <a:gdLst/>
            <a:ahLst/>
            <a:cxnLst/>
            <a:rect l="l" t="t" r="r" b="b"/>
            <a:pathLst>
              <a:path w="379095" h="122555">
                <a:moveTo>
                  <a:pt x="0" y="122398"/>
                </a:moveTo>
                <a:lnTo>
                  <a:pt x="378902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588517" y="5021436"/>
            <a:ext cx="1031240" cy="137160"/>
          </a:xfrm>
          <a:custGeom>
            <a:avLst/>
            <a:gdLst/>
            <a:ahLst/>
            <a:cxnLst/>
            <a:rect l="l" t="t" r="r" b="b"/>
            <a:pathLst>
              <a:path w="1031239" h="137160">
                <a:moveTo>
                  <a:pt x="962345" y="0"/>
                </a:moveTo>
                <a:lnTo>
                  <a:pt x="962345" y="34290"/>
                </a:lnTo>
                <a:lnTo>
                  <a:pt x="0" y="34290"/>
                </a:lnTo>
                <a:lnTo>
                  <a:pt x="0" y="102870"/>
                </a:lnTo>
                <a:lnTo>
                  <a:pt x="962345" y="102870"/>
                </a:lnTo>
                <a:lnTo>
                  <a:pt x="962345" y="137160"/>
                </a:lnTo>
                <a:lnTo>
                  <a:pt x="1030923" y="68580"/>
                </a:lnTo>
                <a:lnTo>
                  <a:pt x="96234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588517" y="5021436"/>
            <a:ext cx="1031240" cy="137160"/>
          </a:xfrm>
          <a:custGeom>
            <a:avLst/>
            <a:gdLst/>
            <a:ahLst/>
            <a:cxnLst/>
            <a:rect l="l" t="t" r="r" b="b"/>
            <a:pathLst>
              <a:path w="1031239" h="137160">
                <a:moveTo>
                  <a:pt x="0" y="34290"/>
                </a:moveTo>
                <a:lnTo>
                  <a:pt x="962344" y="34290"/>
                </a:lnTo>
                <a:lnTo>
                  <a:pt x="962344" y="0"/>
                </a:lnTo>
                <a:lnTo>
                  <a:pt x="1030924" y="68580"/>
                </a:lnTo>
                <a:lnTo>
                  <a:pt x="962344" y="137160"/>
                </a:lnTo>
                <a:lnTo>
                  <a:pt x="962344" y="102870"/>
                </a:lnTo>
                <a:lnTo>
                  <a:pt x="0" y="102870"/>
                </a:lnTo>
                <a:lnTo>
                  <a:pt x="0" y="34290"/>
                </a:lnTo>
                <a:close/>
              </a:path>
            </a:pathLst>
          </a:custGeom>
          <a:ln w="381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268718" y="4744769"/>
            <a:ext cx="762000" cy="629920"/>
          </a:xfrm>
          <a:custGeom>
            <a:avLst/>
            <a:gdLst/>
            <a:ahLst/>
            <a:cxnLst/>
            <a:rect l="l" t="t" r="r" b="b"/>
            <a:pathLst>
              <a:path w="762000" h="629920">
                <a:moveTo>
                  <a:pt x="0" y="0"/>
                </a:moveTo>
                <a:lnTo>
                  <a:pt x="762000" y="0"/>
                </a:lnTo>
                <a:lnTo>
                  <a:pt x="762000" y="629587"/>
                </a:lnTo>
                <a:lnTo>
                  <a:pt x="0" y="629587"/>
                </a:lnTo>
                <a:lnTo>
                  <a:pt x="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268718" y="4744769"/>
            <a:ext cx="762000" cy="629920"/>
          </a:xfrm>
          <a:custGeom>
            <a:avLst/>
            <a:gdLst/>
            <a:ahLst/>
            <a:cxnLst/>
            <a:rect l="l" t="t" r="r" b="b"/>
            <a:pathLst>
              <a:path w="762000" h="629920">
                <a:moveTo>
                  <a:pt x="0" y="0"/>
                </a:moveTo>
                <a:lnTo>
                  <a:pt x="762000" y="0"/>
                </a:lnTo>
                <a:lnTo>
                  <a:pt x="762000" y="629587"/>
                </a:lnTo>
                <a:lnTo>
                  <a:pt x="0" y="629587"/>
                </a:lnTo>
                <a:lnTo>
                  <a:pt x="0" y="0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4349681" y="4728971"/>
            <a:ext cx="60007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8260" marR="5080" indent="-36195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o</a:t>
            </a:r>
            <a:r>
              <a:rPr dirty="0" sz="2000">
                <a:solidFill>
                  <a:srgbClr val="FFFFFF"/>
                </a:solidFill>
                <a:latin typeface="Corbel"/>
                <a:cs typeface="Corbel"/>
              </a:rPr>
              <a:t>de 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573995" y="4463044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102868" y="68580"/>
                </a:moveTo>
                <a:lnTo>
                  <a:pt x="34289" y="68580"/>
                </a:lnTo>
                <a:lnTo>
                  <a:pt x="34289" y="182880"/>
                </a:lnTo>
                <a:lnTo>
                  <a:pt x="102868" y="182880"/>
                </a:lnTo>
                <a:lnTo>
                  <a:pt x="102868" y="68580"/>
                </a:lnTo>
                <a:close/>
              </a:path>
              <a:path w="137160" h="182879">
                <a:moveTo>
                  <a:pt x="68579" y="0"/>
                </a:moveTo>
                <a:lnTo>
                  <a:pt x="0" y="68580"/>
                </a:lnTo>
                <a:lnTo>
                  <a:pt x="137158" y="68580"/>
                </a:lnTo>
                <a:lnTo>
                  <a:pt x="6857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573995" y="4463044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34289" y="182880"/>
                </a:moveTo>
                <a:lnTo>
                  <a:pt x="34289" y="68579"/>
                </a:lnTo>
                <a:lnTo>
                  <a:pt x="0" y="68579"/>
                </a:lnTo>
                <a:lnTo>
                  <a:pt x="68579" y="0"/>
                </a:lnTo>
                <a:lnTo>
                  <a:pt x="137159" y="68579"/>
                </a:lnTo>
                <a:lnTo>
                  <a:pt x="102869" y="68579"/>
                </a:lnTo>
                <a:lnTo>
                  <a:pt x="102869" y="182880"/>
                </a:lnTo>
                <a:lnTo>
                  <a:pt x="34289" y="182880"/>
                </a:lnTo>
                <a:close/>
              </a:path>
            </a:pathLst>
          </a:custGeom>
          <a:ln w="381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272154" y="3733800"/>
            <a:ext cx="762000" cy="629920"/>
          </a:xfrm>
          <a:custGeom>
            <a:avLst/>
            <a:gdLst/>
            <a:ahLst/>
            <a:cxnLst/>
            <a:rect l="l" t="t" r="r" b="b"/>
            <a:pathLst>
              <a:path w="762000" h="629920">
                <a:moveTo>
                  <a:pt x="0" y="0"/>
                </a:moveTo>
                <a:lnTo>
                  <a:pt x="762000" y="0"/>
                </a:lnTo>
                <a:lnTo>
                  <a:pt x="762000" y="629587"/>
                </a:lnTo>
                <a:lnTo>
                  <a:pt x="0" y="629587"/>
                </a:lnTo>
                <a:lnTo>
                  <a:pt x="0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272154" y="3733800"/>
            <a:ext cx="762000" cy="629920"/>
          </a:xfrm>
          <a:custGeom>
            <a:avLst/>
            <a:gdLst/>
            <a:ahLst/>
            <a:cxnLst/>
            <a:rect l="l" t="t" r="r" b="b"/>
            <a:pathLst>
              <a:path w="762000" h="629920">
                <a:moveTo>
                  <a:pt x="0" y="0"/>
                </a:moveTo>
                <a:lnTo>
                  <a:pt x="762000" y="0"/>
                </a:lnTo>
                <a:lnTo>
                  <a:pt x="762000" y="629587"/>
                </a:lnTo>
                <a:lnTo>
                  <a:pt x="0" y="629587"/>
                </a:lnTo>
                <a:lnTo>
                  <a:pt x="0" y="0"/>
                </a:lnTo>
                <a:close/>
              </a:path>
            </a:pathLst>
          </a:custGeom>
          <a:ln w="480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4371373" y="3717035"/>
            <a:ext cx="56324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" marR="5080" indent="-1778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E</a:t>
            </a:r>
            <a:r>
              <a:rPr dirty="0" sz="2000">
                <a:solidFill>
                  <a:srgbClr val="FFFFFF"/>
                </a:solidFill>
                <a:latin typeface="Corbel"/>
                <a:cs typeface="Corbel"/>
              </a:rPr>
              <a:t>dge 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216299" y="4740912"/>
            <a:ext cx="762000" cy="629920"/>
          </a:xfrm>
          <a:custGeom>
            <a:avLst/>
            <a:gdLst/>
            <a:ahLst/>
            <a:cxnLst/>
            <a:rect l="l" t="t" r="r" b="b"/>
            <a:pathLst>
              <a:path w="762000" h="629920">
                <a:moveTo>
                  <a:pt x="0" y="0"/>
                </a:moveTo>
                <a:lnTo>
                  <a:pt x="762000" y="0"/>
                </a:lnTo>
                <a:lnTo>
                  <a:pt x="762000" y="629585"/>
                </a:lnTo>
                <a:lnTo>
                  <a:pt x="0" y="629585"/>
                </a:lnTo>
                <a:lnTo>
                  <a:pt x="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216299" y="4740912"/>
            <a:ext cx="762000" cy="629920"/>
          </a:xfrm>
          <a:custGeom>
            <a:avLst/>
            <a:gdLst/>
            <a:ahLst/>
            <a:cxnLst/>
            <a:rect l="l" t="t" r="r" b="b"/>
            <a:pathLst>
              <a:path w="762000" h="629920">
                <a:moveTo>
                  <a:pt x="0" y="0"/>
                </a:moveTo>
                <a:lnTo>
                  <a:pt x="762000" y="0"/>
                </a:lnTo>
                <a:lnTo>
                  <a:pt x="762000" y="629587"/>
                </a:lnTo>
                <a:lnTo>
                  <a:pt x="0" y="629587"/>
                </a:lnTo>
                <a:lnTo>
                  <a:pt x="0" y="0"/>
                </a:lnTo>
                <a:close/>
              </a:path>
            </a:pathLst>
          </a:custGeom>
          <a:ln w="480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7216299" y="4725923"/>
            <a:ext cx="73850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8905" marR="62230" indent="-36195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o</a:t>
            </a:r>
            <a:r>
              <a:rPr dirty="0" sz="2000">
                <a:solidFill>
                  <a:srgbClr val="FFFFFF"/>
                </a:solidFill>
                <a:latin typeface="Corbel"/>
                <a:cs typeface="Corbel"/>
              </a:rPr>
              <a:t>de 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521576" y="4459185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59" h="182879">
                <a:moveTo>
                  <a:pt x="102868" y="68580"/>
                </a:moveTo>
                <a:lnTo>
                  <a:pt x="34290" y="68580"/>
                </a:lnTo>
                <a:lnTo>
                  <a:pt x="34290" y="182880"/>
                </a:lnTo>
                <a:lnTo>
                  <a:pt x="102868" y="182880"/>
                </a:lnTo>
                <a:lnTo>
                  <a:pt x="102868" y="68580"/>
                </a:lnTo>
                <a:close/>
              </a:path>
              <a:path w="137159" h="182879">
                <a:moveTo>
                  <a:pt x="68579" y="0"/>
                </a:moveTo>
                <a:lnTo>
                  <a:pt x="0" y="68580"/>
                </a:lnTo>
                <a:lnTo>
                  <a:pt x="137158" y="68580"/>
                </a:lnTo>
                <a:lnTo>
                  <a:pt x="6857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521576" y="4459185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59" h="182879">
                <a:moveTo>
                  <a:pt x="34289" y="182880"/>
                </a:moveTo>
                <a:lnTo>
                  <a:pt x="34289" y="68579"/>
                </a:lnTo>
                <a:lnTo>
                  <a:pt x="0" y="68579"/>
                </a:lnTo>
                <a:lnTo>
                  <a:pt x="68579" y="0"/>
                </a:lnTo>
                <a:lnTo>
                  <a:pt x="137159" y="68579"/>
                </a:lnTo>
                <a:lnTo>
                  <a:pt x="102869" y="68579"/>
                </a:lnTo>
                <a:lnTo>
                  <a:pt x="102869" y="182880"/>
                </a:lnTo>
                <a:lnTo>
                  <a:pt x="34289" y="182880"/>
                </a:lnTo>
                <a:close/>
              </a:path>
            </a:pathLst>
          </a:custGeom>
          <a:ln w="381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219735" y="3729941"/>
            <a:ext cx="762000" cy="629920"/>
          </a:xfrm>
          <a:custGeom>
            <a:avLst/>
            <a:gdLst/>
            <a:ahLst/>
            <a:cxnLst/>
            <a:rect l="l" t="t" r="r" b="b"/>
            <a:pathLst>
              <a:path w="762000" h="629920">
                <a:moveTo>
                  <a:pt x="0" y="0"/>
                </a:moveTo>
                <a:lnTo>
                  <a:pt x="762000" y="0"/>
                </a:lnTo>
                <a:lnTo>
                  <a:pt x="762000" y="629587"/>
                </a:lnTo>
                <a:lnTo>
                  <a:pt x="0" y="629587"/>
                </a:lnTo>
                <a:lnTo>
                  <a:pt x="0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219735" y="3729941"/>
            <a:ext cx="762000" cy="629920"/>
          </a:xfrm>
          <a:custGeom>
            <a:avLst/>
            <a:gdLst/>
            <a:ahLst/>
            <a:cxnLst/>
            <a:rect l="l" t="t" r="r" b="b"/>
            <a:pathLst>
              <a:path w="762000" h="629920">
                <a:moveTo>
                  <a:pt x="0" y="0"/>
                </a:moveTo>
                <a:lnTo>
                  <a:pt x="762000" y="0"/>
                </a:lnTo>
                <a:lnTo>
                  <a:pt x="762000" y="629587"/>
                </a:lnTo>
                <a:lnTo>
                  <a:pt x="0" y="629587"/>
                </a:lnTo>
                <a:lnTo>
                  <a:pt x="0" y="0"/>
                </a:lnTo>
                <a:close/>
              </a:path>
            </a:pathLst>
          </a:custGeom>
          <a:ln w="480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7219735" y="3713988"/>
            <a:ext cx="73850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8905" marR="80645" indent="-1778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E</a:t>
            </a:r>
            <a:r>
              <a:rPr dirty="0" sz="2000">
                <a:solidFill>
                  <a:srgbClr val="FFFFFF"/>
                </a:solidFill>
                <a:latin typeface="Corbel"/>
                <a:cs typeface="Corbel"/>
              </a:rPr>
              <a:t>dge 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972067" y="3977295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80" h="137160">
                <a:moveTo>
                  <a:pt x="68579" y="0"/>
                </a:moveTo>
                <a:lnTo>
                  <a:pt x="0" y="68579"/>
                </a:lnTo>
                <a:lnTo>
                  <a:pt x="68579" y="137158"/>
                </a:lnTo>
                <a:lnTo>
                  <a:pt x="68579" y="102869"/>
                </a:lnTo>
                <a:lnTo>
                  <a:pt x="182880" y="102869"/>
                </a:lnTo>
                <a:lnTo>
                  <a:pt x="182880" y="34289"/>
                </a:lnTo>
                <a:lnTo>
                  <a:pt x="68579" y="34289"/>
                </a:lnTo>
                <a:lnTo>
                  <a:pt x="6857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972067" y="3977295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80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150321" y="3976155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68579" y="0"/>
                </a:moveTo>
                <a:lnTo>
                  <a:pt x="0" y="68580"/>
                </a:lnTo>
                <a:lnTo>
                  <a:pt x="68579" y="137160"/>
                </a:lnTo>
                <a:lnTo>
                  <a:pt x="68579" y="102869"/>
                </a:lnTo>
                <a:lnTo>
                  <a:pt x="182879" y="102869"/>
                </a:lnTo>
                <a:lnTo>
                  <a:pt x="182879" y="34289"/>
                </a:lnTo>
                <a:lnTo>
                  <a:pt x="68579" y="34289"/>
                </a:lnTo>
                <a:lnTo>
                  <a:pt x="6857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150321" y="3976156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5440390" y="3866388"/>
            <a:ext cx="4667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𝑆</a:t>
            </a:r>
            <a:r>
              <a:rPr dirty="0" sz="2000" spc="-5">
                <a:latin typeface="Cambria Math"/>
                <a:cs typeface="Cambria Math"/>
              </a:rPr>
              <a:t>𝑂</a:t>
            </a:r>
            <a:r>
              <a:rPr dirty="0" sz="2000">
                <a:latin typeface="Cambria Math"/>
                <a:cs typeface="Cambria Math"/>
              </a:rPr>
              <a:t>𝑆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8077200" y="3976155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68579" y="0"/>
                </a:moveTo>
                <a:lnTo>
                  <a:pt x="0" y="68580"/>
                </a:lnTo>
                <a:lnTo>
                  <a:pt x="68579" y="137160"/>
                </a:lnTo>
                <a:lnTo>
                  <a:pt x="68579" y="102869"/>
                </a:lnTo>
                <a:lnTo>
                  <a:pt x="182879" y="102869"/>
                </a:lnTo>
                <a:lnTo>
                  <a:pt x="182879" y="34289"/>
                </a:lnTo>
                <a:lnTo>
                  <a:pt x="68579" y="34289"/>
                </a:lnTo>
                <a:lnTo>
                  <a:pt x="6857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8077200" y="3976156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8367269" y="3866388"/>
            <a:ext cx="4667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𝑆</a:t>
            </a:r>
            <a:r>
              <a:rPr dirty="0" sz="2000" spc="-5">
                <a:latin typeface="Cambria Math"/>
                <a:cs typeface="Cambria Math"/>
              </a:rPr>
              <a:t>𝑂</a:t>
            </a:r>
            <a:r>
              <a:rPr dirty="0" sz="2000">
                <a:latin typeface="Cambria Math"/>
                <a:cs typeface="Cambria Math"/>
              </a:rPr>
              <a:t>𝑆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6936962" y="3977295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68579" y="0"/>
                </a:moveTo>
                <a:lnTo>
                  <a:pt x="0" y="68579"/>
                </a:lnTo>
                <a:lnTo>
                  <a:pt x="68579" y="137158"/>
                </a:lnTo>
                <a:lnTo>
                  <a:pt x="68579" y="102869"/>
                </a:lnTo>
                <a:lnTo>
                  <a:pt x="182879" y="102869"/>
                </a:lnTo>
                <a:lnTo>
                  <a:pt x="182879" y="34289"/>
                </a:lnTo>
                <a:lnTo>
                  <a:pt x="68579" y="34289"/>
                </a:lnTo>
                <a:lnTo>
                  <a:pt x="6857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936962" y="3977295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3376649" y="3844184"/>
            <a:ext cx="0" cy="408940"/>
          </a:xfrm>
          <a:custGeom>
            <a:avLst/>
            <a:gdLst/>
            <a:ahLst/>
            <a:cxnLst/>
            <a:rect l="l" t="t" r="r" b="b"/>
            <a:pathLst>
              <a:path w="0" h="408939">
                <a:moveTo>
                  <a:pt x="0" y="0"/>
                </a:moveTo>
                <a:lnTo>
                  <a:pt x="0" y="40894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889968" y="3844184"/>
            <a:ext cx="0" cy="408940"/>
          </a:xfrm>
          <a:custGeom>
            <a:avLst/>
            <a:gdLst/>
            <a:ahLst/>
            <a:cxnLst/>
            <a:rect l="l" t="t" r="r" b="b"/>
            <a:pathLst>
              <a:path w="0" h="408939">
                <a:moveTo>
                  <a:pt x="0" y="0"/>
                </a:moveTo>
                <a:lnTo>
                  <a:pt x="0" y="40894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3370299" y="3850534"/>
            <a:ext cx="526415" cy="0"/>
          </a:xfrm>
          <a:custGeom>
            <a:avLst/>
            <a:gdLst/>
            <a:ahLst/>
            <a:cxnLst/>
            <a:rect l="l" t="t" r="r" b="b"/>
            <a:pathLst>
              <a:path w="526414" h="0">
                <a:moveTo>
                  <a:pt x="0" y="0"/>
                </a:moveTo>
                <a:lnTo>
                  <a:pt x="52601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3370299" y="4246774"/>
            <a:ext cx="526415" cy="0"/>
          </a:xfrm>
          <a:custGeom>
            <a:avLst/>
            <a:gdLst/>
            <a:ahLst/>
            <a:cxnLst/>
            <a:rect l="l" t="t" r="r" b="b"/>
            <a:pathLst>
              <a:path w="526414" h="0">
                <a:moveTo>
                  <a:pt x="0" y="0"/>
                </a:moveTo>
                <a:lnTo>
                  <a:pt x="52601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3989382" y="3979280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68578" y="0"/>
                </a:moveTo>
                <a:lnTo>
                  <a:pt x="0" y="68579"/>
                </a:lnTo>
                <a:lnTo>
                  <a:pt x="68578" y="137158"/>
                </a:lnTo>
                <a:lnTo>
                  <a:pt x="68578" y="102868"/>
                </a:lnTo>
                <a:lnTo>
                  <a:pt x="182880" y="102868"/>
                </a:lnTo>
                <a:lnTo>
                  <a:pt x="182880" y="34289"/>
                </a:lnTo>
                <a:lnTo>
                  <a:pt x="68578" y="34289"/>
                </a:lnTo>
                <a:lnTo>
                  <a:pt x="68578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3989382" y="3979280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4263685" y="2697328"/>
            <a:ext cx="762000" cy="629920"/>
          </a:xfrm>
          <a:custGeom>
            <a:avLst/>
            <a:gdLst/>
            <a:ahLst/>
            <a:cxnLst/>
            <a:rect l="l" t="t" r="r" b="b"/>
            <a:pathLst>
              <a:path w="762000" h="629920">
                <a:moveTo>
                  <a:pt x="0" y="0"/>
                </a:moveTo>
                <a:lnTo>
                  <a:pt x="762000" y="0"/>
                </a:lnTo>
                <a:lnTo>
                  <a:pt x="762000" y="629587"/>
                </a:lnTo>
                <a:lnTo>
                  <a:pt x="0" y="629587"/>
                </a:lnTo>
                <a:lnTo>
                  <a:pt x="0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4263685" y="2697328"/>
            <a:ext cx="762000" cy="629920"/>
          </a:xfrm>
          <a:custGeom>
            <a:avLst/>
            <a:gdLst/>
            <a:ahLst/>
            <a:cxnLst/>
            <a:rect l="l" t="t" r="r" b="b"/>
            <a:pathLst>
              <a:path w="762000" h="629920">
                <a:moveTo>
                  <a:pt x="0" y="0"/>
                </a:moveTo>
                <a:lnTo>
                  <a:pt x="762000" y="0"/>
                </a:lnTo>
                <a:lnTo>
                  <a:pt x="762000" y="629587"/>
                </a:lnTo>
                <a:lnTo>
                  <a:pt x="0" y="629587"/>
                </a:lnTo>
                <a:lnTo>
                  <a:pt x="0" y="0"/>
                </a:lnTo>
                <a:close/>
              </a:path>
            </a:pathLst>
          </a:custGeom>
          <a:ln w="480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4287685" y="2680716"/>
            <a:ext cx="73850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4775" marR="104775" indent="-1778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E</a:t>
            </a:r>
            <a:r>
              <a:rPr dirty="0" sz="2000">
                <a:solidFill>
                  <a:srgbClr val="FFFFFF"/>
                </a:solidFill>
                <a:latin typeface="Corbel"/>
                <a:cs typeface="Corbel"/>
              </a:rPr>
              <a:t>dge 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4568962" y="3441090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102868" y="68578"/>
                </a:moveTo>
                <a:lnTo>
                  <a:pt x="34289" y="68578"/>
                </a:lnTo>
                <a:lnTo>
                  <a:pt x="34289" y="182880"/>
                </a:lnTo>
                <a:lnTo>
                  <a:pt x="102868" y="182880"/>
                </a:lnTo>
                <a:lnTo>
                  <a:pt x="102868" y="68578"/>
                </a:lnTo>
                <a:close/>
              </a:path>
              <a:path w="137160" h="182879">
                <a:moveTo>
                  <a:pt x="68579" y="0"/>
                </a:moveTo>
                <a:lnTo>
                  <a:pt x="0" y="68578"/>
                </a:lnTo>
                <a:lnTo>
                  <a:pt x="137158" y="68578"/>
                </a:lnTo>
                <a:lnTo>
                  <a:pt x="6857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4568962" y="3441090"/>
            <a:ext cx="137160" cy="182880"/>
          </a:xfrm>
          <a:custGeom>
            <a:avLst/>
            <a:gdLst/>
            <a:ahLst/>
            <a:cxnLst/>
            <a:rect l="l" t="t" r="r" b="b"/>
            <a:pathLst>
              <a:path w="137160" h="182879">
                <a:moveTo>
                  <a:pt x="34289" y="182880"/>
                </a:moveTo>
                <a:lnTo>
                  <a:pt x="34289" y="68579"/>
                </a:lnTo>
                <a:lnTo>
                  <a:pt x="0" y="68579"/>
                </a:lnTo>
                <a:lnTo>
                  <a:pt x="68579" y="0"/>
                </a:lnTo>
                <a:lnTo>
                  <a:pt x="137159" y="68579"/>
                </a:lnTo>
                <a:lnTo>
                  <a:pt x="102869" y="68579"/>
                </a:lnTo>
                <a:lnTo>
                  <a:pt x="102869" y="182880"/>
                </a:lnTo>
                <a:lnTo>
                  <a:pt x="34289" y="182880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5156023" y="2944176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68579" y="0"/>
                </a:moveTo>
                <a:lnTo>
                  <a:pt x="0" y="68579"/>
                </a:lnTo>
                <a:lnTo>
                  <a:pt x="68579" y="137160"/>
                </a:lnTo>
                <a:lnTo>
                  <a:pt x="68579" y="102869"/>
                </a:lnTo>
                <a:lnTo>
                  <a:pt x="182879" y="102869"/>
                </a:lnTo>
                <a:lnTo>
                  <a:pt x="182879" y="34289"/>
                </a:lnTo>
                <a:lnTo>
                  <a:pt x="68579" y="34289"/>
                </a:lnTo>
                <a:lnTo>
                  <a:pt x="6857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5156023" y="2944177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3949569" y="2944177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68579" y="0"/>
                </a:moveTo>
                <a:lnTo>
                  <a:pt x="0" y="68580"/>
                </a:lnTo>
                <a:lnTo>
                  <a:pt x="68579" y="137160"/>
                </a:lnTo>
                <a:lnTo>
                  <a:pt x="68579" y="102870"/>
                </a:lnTo>
                <a:lnTo>
                  <a:pt x="182879" y="102870"/>
                </a:lnTo>
                <a:lnTo>
                  <a:pt x="182879" y="34289"/>
                </a:lnTo>
                <a:lnTo>
                  <a:pt x="68579" y="34289"/>
                </a:lnTo>
                <a:lnTo>
                  <a:pt x="6857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3949569" y="2944178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182880" y="102869"/>
                </a:moveTo>
                <a:lnTo>
                  <a:pt x="68579" y="102869"/>
                </a:lnTo>
                <a:lnTo>
                  <a:pt x="68579" y="137159"/>
                </a:lnTo>
                <a:lnTo>
                  <a:pt x="0" y="68579"/>
                </a:lnTo>
                <a:lnTo>
                  <a:pt x="68579" y="0"/>
                </a:lnTo>
                <a:lnTo>
                  <a:pt x="68579" y="34289"/>
                </a:lnTo>
                <a:lnTo>
                  <a:pt x="182880" y="34289"/>
                </a:lnTo>
                <a:lnTo>
                  <a:pt x="182880" y="10286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3370449" y="2790197"/>
            <a:ext cx="0" cy="408940"/>
          </a:xfrm>
          <a:custGeom>
            <a:avLst/>
            <a:gdLst/>
            <a:ahLst/>
            <a:cxnLst/>
            <a:rect l="l" t="t" r="r" b="b"/>
            <a:pathLst>
              <a:path w="0" h="408939">
                <a:moveTo>
                  <a:pt x="0" y="0"/>
                </a:moveTo>
                <a:lnTo>
                  <a:pt x="0" y="40894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3883768" y="2790197"/>
            <a:ext cx="0" cy="408940"/>
          </a:xfrm>
          <a:custGeom>
            <a:avLst/>
            <a:gdLst/>
            <a:ahLst/>
            <a:cxnLst/>
            <a:rect l="l" t="t" r="r" b="b"/>
            <a:pathLst>
              <a:path w="0" h="408939">
                <a:moveTo>
                  <a:pt x="0" y="0"/>
                </a:moveTo>
                <a:lnTo>
                  <a:pt x="0" y="40894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3364099" y="2796547"/>
            <a:ext cx="526415" cy="0"/>
          </a:xfrm>
          <a:custGeom>
            <a:avLst/>
            <a:gdLst/>
            <a:ahLst/>
            <a:cxnLst/>
            <a:rect l="l" t="t" r="r" b="b"/>
            <a:pathLst>
              <a:path w="526414" h="0">
                <a:moveTo>
                  <a:pt x="0" y="0"/>
                </a:moveTo>
                <a:lnTo>
                  <a:pt x="52601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3364099" y="3192787"/>
            <a:ext cx="526415" cy="0"/>
          </a:xfrm>
          <a:custGeom>
            <a:avLst/>
            <a:gdLst/>
            <a:ahLst/>
            <a:cxnLst/>
            <a:rect l="l" t="t" r="r" b="b"/>
            <a:pathLst>
              <a:path w="526414" h="0">
                <a:moveTo>
                  <a:pt x="0" y="0"/>
                </a:moveTo>
                <a:lnTo>
                  <a:pt x="52601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 txBox="1"/>
          <p:nvPr/>
        </p:nvSpPr>
        <p:spPr>
          <a:xfrm>
            <a:off x="6547472" y="2696972"/>
            <a:ext cx="21463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Arial"/>
                <a:cs typeface="Arial"/>
              </a:rPr>
              <a:t>Observed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 spc="-35">
                <a:latin typeface="Arial"/>
                <a:cs typeface="Arial"/>
              </a:rPr>
              <a:t>graph</a:t>
            </a:r>
            <a:endParaRPr sz="2400">
              <a:latin typeface="Arial"/>
              <a:cs typeface="Arial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6116383" y="1324100"/>
            <a:ext cx="3027680" cy="1800225"/>
          </a:xfrm>
          <a:custGeom>
            <a:avLst/>
            <a:gdLst/>
            <a:ahLst/>
            <a:cxnLst/>
            <a:rect l="l" t="t" r="r" b="b"/>
            <a:pathLst>
              <a:path w="3027679" h="1800225">
                <a:moveTo>
                  <a:pt x="0" y="0"/>
                </a:moveTo>
                <a:lnTo>
                  <a:pt x="3027616" y="0"/>
                </a:lnTo>
                <a:lnTo>
                  <a:pt x="3027616" y="1800099"/>
                </a:lnTo>
                <a:lnTo>
                  <a:pt x="0" y="1800099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 txBox="1"/>
          <p:nvPr/>
        </p:nvSpPr>
        <p:spPr>
          <a:xfrm>
            <a:off x="5425996" y="2796547"/>
            <a:ext cx="513715" cy="3962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73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15"/>
              </a:spcBef>
            </a:pPr>
            <a:r>
              <a:rPr dirty="0" sz="2000">
                <a:solidFill>
                  <a:srgbClr val="C64847"/>
                </a:solidFill>
                <a:latin typeface="Calibri"/>
                <a:cs typeface="Calibri"/>
              </a:rPr>
              <a:t>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5682655" y="4990282"/>
            <a:ext cx="1031240" cy="137160"/>
          </a:xfrm>
          <a:custGeom>
            <a:avLst/>
            <a:gdLst/>
            <a:ahLst/>
            <a:cxnLst/>
            <a:rect l="l" t="t" r="r" b="b"/>
            <a:pathLst>
              <a:path w="1031240" h="137160">
                <a:moveTo>
                  <a:pt x="962343" y="0"/>
                </a:moveTo>
                <a:lnTo>
                  <a:pt x="962343" y="34289"/>
                </a:lnTo>
                <a:lnTo>
                  <a:pt x="0" y="34289"/>
                </a:lnTo>
                <a:lnTo>
                  <a:pt x="0" y="102869"/>
                </a:lnTo>
                <a:lnTo>
                  <a:pt x="962343" y="102869"/>
                </a:lnTo>
                <a:lnTo>
                  <a:pt x="962343" y="137159"/>
                </a:lnTo>
                <a:lnTo>
                  <a:pt x="1030923" y="68579"/>
                </a:lnTo>
                <a:lnTo>
                  <a:pt x="962343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5682655" y="4990282"/>
            <a:ext cx="1031240" cy="137160"/>
          </a:xfrm>
          <a:custGeom>
            <a:avLst/>
            <a:gdLst/>
            <a:ahLst/>
            <a:cxnLst/>
            <a:rect l="l" t="t" r="r" b="b"/>
            <a:pathLst>
              <a:path w="1031240" h="137160">
                <a:moveTo>
                  <a:pt x="0" y="34290"/>
                </a:moveTo>
                <a:lnTo>
                  <a:pt x="962344" y="34290"/>
                </a:lnTo>
                <a:lnTo>
                  <a:pt x="962344" y="0"/>
                </a:lnTo>
                <a:lnTo>
                  <a:pt x="1030924" y="68580"/>
                </a:lnTo>
                <a:lnTo>
                  <a:pt x="962344" y="137160"/>
                </a:lnTo>
                <a:lnTo>
                  <a:pt x="962344" y="102870"/>
                </a:lnTo>
                <a:lnTo>
                  <a:pt x="0" y="102870"/>
                </a:lnTo>
                <a:lnTo>
                  <a:pt x="0" y="34290"/>
                </a:lnTo>
                <a:close/>
              </a:path>
            </a:pathLst>
          </a:custGeom>
          <a:ln w="381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 txBox="1">
            <a:spLocks noGrp="1"/>
          </p:cNvSpPr>
          <p:nvPr>
            <p:ph type="title"/>
          </p:nvPr>
        </p:nvSpPr>
        <p:spPr>
          <a:xfrm>
            <a:off x="124754" y="1075436"/>
            <a:ext cx="4977130" cy="760095"/>
          </a:xfrm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60">
                <a:solidFill>
                  <a:srgbClr val="C00000"/>
                </a:solidFill>
              </a:rPr>
              <a:t>Test </a:t>
            </a:r>
            <a:r>
              <a:rPr dirty="0" sz="2400" spc="-5">
                <a:solidFill>
                  <a:srgbClr val="C00000"/>
                </a:solidFill>
              </a:rPr>
              <a:t>time: </a:t>
            </a:r>
            <a:r>
              <a:rPr dirty="0" sz="2400" spc="-5"/>
              <a:t>(1) </a:t>
            </a:r>
            <a:r>
              <a:rPr dirty="0" sz="2400" spc="-5">
                <a:solidFill>
                  <a:srgbClr val="C00000"/>
                </a:solidFill>
              </a:rPr>
              <a:t>Sample </a:t>
            </a:r>
            <a:r>
              <a:rPr dirty="0" sz="2400" spc="-10">
                <a:solidFill>
                  <a:srgbClr val="C00000"/>
                </a:solidFill>
              </a:rPr>
              <a:t>edge </a:t>
            </a:r>
            <a:r>
              <a:rPr dirty="0" sz="2400" spc="-5">
                <a:solidFill>
                  <a:srgbClr val="C00000"/>
                </a:solidFill>
              </a:rPr>
              <a:t>connectivity  </a:t>
            </a:r>
            <a:r>
              <a:rPr dirty="0" sz="2400" spc="-5"/>
              <a:t>based on </a:t>
            </a:r>
            <a:r>
              <a:rPr dirty="0" sz="2400" spc="-10"/>
              <a:t>predicted</a:t>
            </a:r>
            <a:r>
              <a:rPr dirty="0" sz="2400" spc="0"/>
              <a:t> </a:t>
            </a:r>
            <a:r>
              <a:rPr dirty="0" sz="2400" spc="-10"/>
              <a:t>distribution</a:t>
            </a:r>
            <a:endParaRPr sz="2400"/>
          </a:p>
        </p:txBody>
      </p:sp>
      <p:sp>
        <p:nvSpPr>
          <p:cNvPr id="82" name="object 82"/>
          <p:cNvSpPr txBox="1"/>
          <p:nvPr/>
        </p:nvSpPr>
        <p:spPr>
          <a:xfrm>
            <a:off x="124754" y="1813051"/>
            <a:ext cx="4137025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5" b="1">
                <a:latin typeface="Calibri"/>
                <a:cs typeface="Calibri"/>
              </a:rPr>
              <a:t>(2) </a:t>
            </a:r>
            <a:r>
              <a:rPr dirty="0" sz="2400" spc="-10" b="1">
                <a:latin typeface="Calibri"/>
                <a:cs typeface="Calibri"/>
              </a:rPr>
              <a:t>Replace </a:t>
            </a:r>
            <a:r>
              <a:rPr dirty="0" sz="2400" spc="-5" b="1">
                <a:latin typeface="Calibri"/>
                <a:cs typeface="Calibri"/>
              </a:rPr>
              <a:t>input </a:t>
            </a:r>
            <a:r>
              <a:rPr dirty="0" sz="2400" spc="-10" b="1">
                <a:latin typeface="Calibri"/>
                <a:cs typeface="Calibri"/>
              </a:rPr>
              <a:t>at </a:t>
            </a:r>
            <a:r>
              <a:rPr dirty="0" sz="2400" spc="-5" b="1">
                <a:latin typeface="Calibri"/>
                <a:cs typeface="Calibri"/>
              </a:rPr>
              <a:t>each </a:t>
            </a:r>
            <a:r>
              <a:rPr dirty="0" sz="2400" spc="-15" b="1">
                <a:latin typeface="Calibri"/>
                <a:cs typeface="Calibri"/>
              </a:rPr>
              <a:t>step </a:t>
            </a:r>
            <a:r>
              <a:rPr dirty="0" sz="2400" spc="-10" b="1">
                <a:latin typeface="Calibri"/>
                <a:cs typeface="Calibri"/>
              </a:rPr>
              <a:t>by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25" b="1">
                <a:solidFill>
                  <a:srgbClr val="C00000"/>
                </a:solidFill>
                <a:latin typeface="Calibri"/>
                <a:cs typeface="Calibri"/>
              </a:rPr>
              <a:t>GraphRNN’s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own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predictions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341333" y="4390621"/>
            <a:ext cx="513715" cy="3962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73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15"/>
              </a:spcBef>
            </a:pPr>
            <a:r>
              <a:rPr dirty="0" sz="2000">
                <a:solidFill>
                  <a:srgbClr val="C64847"/>
                </a:solidFill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27264" y="3869435"/>
            <a:ext cx="346710" cy="572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270"/>
              </a:lnSpc>
              <a:spcBef>
                <a:spcPts val="100"/>
              </a:spcBef>
            </a:pPr>
            <a:r>
              <a:rPr dirty="0" sz="2000" spc="-5">
                <a:latin typeface="Calibri"/>
                <a:cs typeface="Calibri"/>
              </a:rPr>
              <a:t>0.</a:t>
            </a:r>
            <a:r>
              <a:rPr dirty="0" sz="2000">
                <a:latin typeface="Calibri"/>
                <a:cs typeface="Calibri"/>
              </a:rPr>
              <a:t>9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ts val="2030"/>
              </a:lnSpc>
            </a:pPr>
            <a:r>
              <a:rPr dirty="0" sz="1800">
                <a:solidFill>
                  <a:srgbClr val="C64847"/>
                </a:solidFill>
                <a:latin typeface="Cambria Math"/>
                <a:cs typeface="Cambria Math"/>
              </a:rPr>
              <a:t>~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3374614" y="4385171"/>
            <a:ext cx="513715" cy="3962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66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10"/>
              </a:spcBef>
            </a:pPr>
            <a:r>
              <a:rPr dirty="0" sz="2000">
                <a:solidFill>
                  <a:srgbClr val="C64847"/>
                </a:solidFill>
                <a:latin typeface="Calibri"/>
                <a:cs typeface="Calibri"/>
              </a:rPr>
              <a:t>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3460269" y="3869435"/>
            <a:ext cx="346710" cy="566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250"/>
              </a:lnSpc>
              <a:spcBef>
                <a:spcPts val="100"/>
              </a:spcBef>
            </a:pPr>
            <a:r>
              <a:rPr dirty="0" sz="2000" spc="-5">
                <a:latin typeface="Calibri"/>
                <a:cs typeface="Calibri"/>
              </a:rPr>
              <a:t>0.</a:t>
            </a:r>
            <a:r>
              <a:rPr dirty="0" sz="2000"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ts val="2010"/>
              </a:lnSpc>
            </a:pPr>
            <a:r>
              <a:rPr dirty="0" sz="1800">
                <a:solidFill>
                  <a:srgbClr val="C64847"/>
                </a:solidFill>
                <a:latin typeface="Cambria Math"/>
                <a:cs typeface="Cambria Math"/>
              </a:rPr>
              <a:t>~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6373695" y="3840265"/>
            <a:ext cx="0" cy="408940"/>
          </a:xfrm>
          <a:custGeom>
            <a:avLst/>
            <a:gdLst/>
            <a:ahLst/>
            <a:cxnLst/>
            <a:rect l="l" t="t" r="r" b="b"/>
            <a:pathLst>
              <a:path w="0" h="408939">
                <a:moveTo>
                  <a:pt x="0" y="0"/>
                </a:moveTo>
                <a:lnTo>
                  <a:pt x="0" y="40894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6887014" y="3840265"/>
            <a:ext cx="0" cy="408940"/>
          </a:xfrm>
          <a:custGeom>
            <a:avLst/>
            <a:gdLst/>
            <a:ahLst/>
            <a:cxnLst/>
            <a:rect l="l" t="t" r="r" b="b"/>
            <a:pathLst>
              <a:path w="0" h="408939">
                <a:moveTo>
                  <a:pt x="0" y="0"/>
                </a:moveTo>
                <a:lnTo>
                  <a:pt x="0" y="40894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6367345" y="3846615"/>
            <a:ext cx="526415" cy="0"/>
          </a:xfrm>
          <a:custGeom>
            <a:avLst/>
            <a:gdLst/>
            <a:ahLst/>
            <a:cxnLst/>
            <a:rect l="l" t="t" r="r" b="b"/>
            <a:pathLst>
              <a:path w="526415" h="0">
                <a:moveTo>
                  <a:pt x="0" y="0"/>
                </a:moveTo>
                <a:lnTo>
                  <a:pt x="52601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6367345" y="4242855"/>
            <a:ext cx="526415" cy="0"/>
          </a:xfrm>
          <a:custGeom>
            <a:avLst/>
            <a:gdLst/>
            <a:ahLst/>
            <a:cxnLst/>
            <a:rect l="l" t="t" r="r" b="b"/>
            <a:pathLst>
              <a:path w="526415" h="0">
                <a:moveTo>
                  <a:pt x="0" y="0"/>
                </a:moveTo>
                <a:lnTo>
                  <a:pt x="52601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 txBox="1"/>
          <p:nvPr/>
        </p:nvSpPr>
        <p:spPr>
          <a:xfrm>
            <a:off x="6457317" y="3866388"/>
            <a:ext cx="34671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latin typeface="Calibri"/>
                <a:cs typeface="Calibri"/>
              </a:rPr>
              <a:t>0.</a:t>
            </a:r>
            <a:r>
              <a:rPr dirty="0" sz="2000">
                <a:latin typeface="Calibri"/>
                <a:cs typeface="Calibri"/>
              </a:rPr>
              <a:t>5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6404918" y="4351020"/>
            <a:ext cx="49022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C64847"/>
                </a:solidFill>
                <a:latin typeface="Cambria Math"/>
                <a:cs typeface="Cambria Math"/>
              </a:rPr>
              <a:t>𝐸</a:t>
            </a:r>
            <a:r>
              <a:rPr dirty="0" sz="2000" spc="-5">
                <a:solidFill>
                  <a:srgbClr val="C64847"/>
                </a:solidFill>
                <a:latin typeface="Cambria Math"/>
                <a:cs typeface="Cambria Math"/>
              </a:rPr>
              <a:t>𝑂𝑆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6558235" y="4181347"/>
            <a:ext cx="1885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C64847"/>
                </a:solidFill>
                <a:latin typeface="Cambria Math"/>
                <a:cs typeface="Cambria Math"/>
              </a:rPr>
              <a:t>~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3370632" y="3333948"/>
            <a:ext cx="0" cy="408940"/>
          </a:xfrm>
          <a:custGeom>
            <a:avLst/>
            <a:gdLst/>
            <a:ahLst/>
            <a:cxnLst/>
            <a:rect l="l" t="t" r="r" b="b"/>
            <a:pathLst>
              <a:path w="0" h="408939">
                <a:moveTo>
                  <a:pt x="0" y="0"/>
                </a:moveTo>
                <a:lnTo>
                  <a:pt x="0" y="40894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3883950" y="3333948"/>
            <a:ext cx="0" cy="408940"/>
          </a:xfrm>
          <a:custGeom>
            <a:avLst/>
            <a:gdLst/>
            <a:ahLst/>
            <a:cxnLst/>
            <a:rect l="l" t="t" r="r" b="b"/>
            <a:pathLst>
              <a:path w="0" h="408939">
                <a:moveTo>
                  <a:pt x="0" y="0"/>
                </a:moveTo>
                <a:lnTo>
                  <a:pt x="0" y="40894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3364282" y="3340298"/>
            <a:ext cx="526415" cy="0"/>
          </a:xfrm>
          <a:custGeom>
            <a:avLst/>
            <a:gdLst/>
            <a:ahLst/>
            <a:cxnLst/>
            <a:rect l="l" t="t" r="r" b="b"/>
            <a:pathLst>
              <a:path w="526414" h="0">
                <a:moveTo>
                  <a:pt x="0" y="0"/>
                </a:moveTo>
                <a:lnTo>
                  <a:pt x="52601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3364282" y="3736538"/>
            <a:ext cx="526415" cy="0"/>
          </a:xfrm>
          <a:custGeom>
            <a:avLst/>
            <a:gdLst/>
            <a:ahLst/>
            <a:cxnLst/>
            <a:rect l="l" t="t" r="r" b="b"/>
            <a:pathLst>
              <a:path w="526414" h="0">
                <a:moveTo>
                  <a:pt x="0" y="0"/>
                </a:moveTo>
                <a:lnTo>
                  <a:pt x="52601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 txBox="1"/>
          <p:nvPr/>
        </p:nvSpPr>
        <p:spPr>
          <a:xfrm>
            <a:off x="3550297" y="3360420"/>
            <a:ext cx="1543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C64847"/>
                </a:solidFill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3454070" y="2817876"/>
            <a:ext cx="346710" cy="575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285"/>
              </a:lnSpc>
              <a:spcBef>
                <a:spcPts val="100"/>
              </a:spcBef>
            </a:pPr>
            <a:r>
              <a:rPr dirty="0" sz="2000" spc="-5">
                <a:latin typeface="Calibri"/>
                <a:cs typeface="Calibri"/>
              </a:rPr>
              <a:t>0.</a:t>
            </a:r>
            <a:r>
              <a:rPr dirty="0" sz="2000">
                <a:latin typeface="Calibri"/>
                <a:cs typeface="Calibri"/>
              </a:rPr>
              <a:t>8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ts val="2045"/>
              </a:lnSpc>
            </a:pPr>
            <a:r>
              <a:rPr dirty="0" sz="1800">
                <a:solidFill>
                  <a:srgbClr val="C64847"/>
                </a:solidFill>
                <a:latin typeface="Cambria Math"/>
                <a:cs typeface="Cambria Math"/>
              </a:rPr>
              <a:t>~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4638335" y="2462371"/>
            <a:ext cx="2997200" cy="3143250"/>
          </a:xfrm>
          <a:custGeom>
            <a:avLst/>
            <a:gdLst/>
            <a:ahLst/>
            <a:cxnLst/>
            <a:rect l="l" t="t" r="r" b="b"/>
            <a:pathLst>
              <a:path w="2997200" h="3143250">
                <a:moveTo>
                  <a:pt x="9857" y="190507"/>
                </a:moveTo>
                <a:lnTo>
                  <a:pt x="2843" y="190507"/>
                </a:lnTo>
                <a:lnTo>
                  <a:pt x="0" y="193351"/>
                </a:lnTo>
                <a:lnTo>
                  <a:pt x="0" y="238464"/>
                </a:lnTo>
                <a:lnTo>
                  <a:pt x="2843" y="241307"/>
                </a:lnTo>
                <a:lnTo>
                  <a:pt x="9857" y="241307"/>
                </a:lnTo>
                <a:lnTo>
                  <a:pt x="12700" y="238464"/>
                </a:lnTo>
                <a:lnTo>
                  <a:pt x="12700" y="193351"/>
                </a:lnTo>
                <a:lnTo>
                  <a:pt x="9857" y="190507"/>
                </a:lnTo>
                <a:close/>
              </a:path>
              <a:path w="2997200" h="3143250">
                <a:moveTo>
                  <a:pt x="9857" y="101607"/>
                </a:moveTo>
                <a:lnTo>
                  <a:pt x="2843" y="101607"/>
                </a:lnTo>
                <a:lnTo>
                  <a:pt x="0" y="104451"/>
                </a:lnTo>
                <a:lnTo>
                  <a:pt x="0" y="149564"/>
                </a:lnTo>
                <a:lnTo>
                  <a:pt x="2843" y="152407"/>
                </a:lnTo>
                <a:lnTo>
                  <a:pt x="9857" y="152407"/>
                </a:lnTo>
                <a:lnTo>
                  <a:pt x="12700" y="149564"/>
                </a:lnTo>
                <a:lnTo>
                  <a:pt x="12700" y="104451"/>
                </a:lnTo>
                <a:lnTo>
                  <a:pt x="9857" y="101607"/>
                </a:lnTo>
                <a:close/>
              </a:path>
              <a:path w="2997200" h="3143250">
                <a:moveTo>
                  <a:pt x="9857" y="12707"/>
                </a:moveTo>
                <a:lnTo>
                  <a:pt x="2843" y="12707"/>
                </a:lnTo>
                <a:lnTo>
                  <a:pt x="0" y="15551"/>
                </a:lnTo>
                <a:lnTo>
                  <a:pt x="0" y="60664"/>
                </a:lnTo>
                <a:lnTo>
                  <a:pt x="2843" y="63507"/>
                </a:lnTo>
                <a:lnTo>
                  <a:pt x="9857" y="63507"/>
                </a:lnTo>
                <a:lnTo>
                  <a:pt x="12700" y="60664"/>
                </a:lnTo>
                <a:lnTo>
                  <a:pt x="12700" y="15551"/>
                </a:lnTo>
                <a:lnTo>
                  <a:pt x="9857" y="12707"/>
                </a:lnTo>
                <a:close/>
              </a:path>
              <a:path w="2997200" h="3143250">
                <a:moveTo>
                  <a:pt x="86048" y="0"/>
                </a:moveTo>
                <a:lnTo>
                  <a:pt x="40934" y="0"/>
                </a:lnTo>
                <a:lnTo>
                  <a:pt x="38092" y="2842"/>
                </a:lnTo>
                <a:lnTo>
                  <a:pt x="38092" y="9856"/>
                </a:lnTo>
                <a:lnTo>
                  <a:pt x="40934" y="12700"/>
                </a:lnTo>
                <a:lnTo>
                  <a:pt x="86048" y="12700"/>
                </a:lnTo>
                <a:lnTo>
                  <a:pt x="88892" y="9856"/>
                </a:lnTo>
                <a:lnTo>
                  <a:pt x="88892" y="2842"/>
                </a:lnTo>
                <a:lnTo>
                  <a:pt x="86048" y="0"/>
                </a:lnTo>
                <a:close/>
              </a:path>
              <a:path w="2997200" h="3143250">
                <a:moveTo>
                  <a:pt x="174948" y="0"/>
                </a:moveTo>
                <a:lnTo>
                  <a:pt x="129834" y="0"/>
                </a:lnTo>
                <a:lnTo>
                  <a:pt x="126992" y="2842"/>
                </a:lnTo>
                <a:lnTo>
                  <a:pt x="126992" y="9856"/>
                </a:lnTo>
                <a:lnTo>
                  <a:pt x="129834" y="12700"/>
                </a:lnTo>
                <a:lnTo>
                  <a:pt x="174948" y="12700"/>
                </a:lnTo>
                <a:lnTo>
                  <a:pt x="177792" y="9856"/>
                </a:lnTo>
                <a:lnTo>
                  <a:pt x="177792" y="2842"/>
                </a:lnTo>
                <a:lnTo>
                  <a:pt x="174948" y="0"/>
                </a:lnTo>
                <a:close/>
              </a:path>
              <a:path w="2997200" h="3143250">
                <a:moveTo>
                  <a:pt x="263848" y="0"/>
                </a:moveTo>
                <a:lnTo>
                  <a:pt x="218734" y="0"/>
                </a:lnTo>
                <a:lnTo>
                  <a:pt x="215892" y="2842"/>
                </a:lnTo>
                <a:lnTo>
                  <a:pt x="215892" y="9856"/>
                </a:lnTo>
                <a:lnTo>
                  <a:pt x="218734" y="12700"/>
                </a:lnTo>
                <a:lnTo>
                  <a:pt x="263848" y="12700"/>
                </a:lnTo>
                <a:lnTo>
                  <a:pt x="266692" y="9856"/>
                </a:lnTo>
                <a:lnTo>
                  <a:pt x="266692" y="2842"/>
                </a:lnTo>
                <a:lnTo>
                  <a:pt x="263848" y="0"/>
                </a:lnTo>
                <a:close/>
              </a:path>
              <a:path w="2997200" h="3143250">
                <a:moveTo>
                  <a:pt x="352748" y="0"/>
                </a:moveTo>
                <a:lnTo>
                  <a:pt x="307634" y="0"/>
                </a:lnTo>
                <a:lnTo>
                  <a:pt x="304792" y="2842"/>
                </a:lnTo>
                <a:lnTo>
                  <a:pt x="304792" y="9856"/>
                </a:lnTo>
                <a:lnTo>
                  <a:pt x="307634" y="12700"/>
                </a:lnTo>
                <a:lnTo>
                  <a:pt x="352748" y="12700"/>
                </a:lnTo>
                <a:lnTo>
                  <a:pt x="355592" y="9856"/>
                </a:lnTo>
                <a:lnTo>
                  <a:pt x="355592" y="2842"/>
                </a:lnTo>
                <a:lnTo>
                  <a:pt x="352748" y="0"/>
                </a:lnTo>
                <a:close/>
              </a:path>
              <a:path w="2997200" h="3143250">
                <a:moveTo>
                  <a:pt x="441648" y="0"/>
                </a:moveTo>
                <a:lnTo>
                  <a:pt x="396534" y="0"/>
                </a:lnTo>
                <a:lnTo>
                  <a:pt x="393692" y="2842"/>
                </a:lnTo>
                <a:lnTo>
                  <a:pt x="393692" y="9856"/>
                </a:lnTo>
                <a:lnTo>
                  <a:pt x="396534" y="12700"/>
                </a:lnTo>
                <a:lnTo>
                  <a:pt x="441648" y="12700"/>
                </a:lnTo>
                <a:lnTo>
                  <a:pt x="444492" y="9856"/>
                </a:lnTo>
                <a:lnTo>
                  <a:pt x="444492" y="2842"/>
                </a:lnTo>
                <a:lnTo>
                  <a:pt x="441648" y="0"/>
                </a:lnTo>
                <a:close/>
              </a:path>
              <a:path w="2997200" h="3143250">
                <a:moveTo>
                  <a:pt x="530548" y="0"/>
                </a:moveTo>
                <a:lnTo>
                  <a:pt x="485434" y="0"/>
                </a:lnTo>
                <a:lnTo>
                  <a:pt x="482592" y="2842"/>
                </a:lnTo>
                <a:lnTo>
                  <a:pt x="482592" y="9856"/>
                </a:lnTo>
                <a:lnTo>
                  <a:pt x="485434" y="12700"/>
                </a:lnTo>
                <a:lnTo>
                  <a:pt x="530548" y="12700"/>
                </a:lnTo>
                <a:lnTo>
                  <a:pt x="533392" y="9856"/>
                </a:lnTo>
                <a:lnTo>
                  <a:pt x="533392" y="2842"/>
                </a:lnTo>
                <a:lnTo>
                  <a:pt x="530548" y="0"/>
                </a:lnTo>
                <a:close/>
              </a:path>
              <a:path w="2997200" h="3143250">
                <a:moveTo>
                  <a:pt x="619448" y="0"/>
                </a:moveTo>
                <a:lnTo>
                  <a:pt x="574334" y="0"/>
                </a:lnTo>
                <a:lnTo>
                  <a:pt x="571492" y="2842"/>
                </a:lnTo>
                <a:lnTo>
                  <a:pt x="571492" y="9856"/>
                </a:lnTo>
                <a:lnTo>
                  <a:pt x="574334" y="12700"/>
                </a:lnTo>
                <a:lnTo>
                  <a:pt x="619448" y="12700"/>
                </a:lnTo>
                <a:lnTo>
                  <a:pt x="622292" y="9856"/>
                </a:lnTo>
                <a:lnTo>
                  <a:pt x="622292" y="2842"/>
                </a:lnTo>
                <a:lnTo>
                  <a:pt x="619448" y="0"/>
                </a:lnTo>
                <a:close/>
              </a:path>
              <a:path w="2997200" h="3143250">
                <a:moveTo>
                  <a:pt x="708348" y="0"/>
                </a:moveTo>
                <a:lnTo>
                  <a:pt x="663234" y="0"/>
                </a:lnTo>
                <a:lnTo>
                  <a:pt x="660392" y="2842"/>
                </a:lnTo>
                <a:lnTo>
                  <a:pt x="660392" y="9856"/>
                </a:lnTo>
                <a:lnTo>
                  <a:pt x="663234" y="12700"/>
                </a:lnTo>
                <a:lnTo>
                  <a:pt x="708348" y="12700"/>
                </a:lnTo>
                <a:lnTo>
                  <a:pt x="711192" y="9856"/>
                </a:lnTo>
                <a:lnTo>
                  <a:pt x="711192" y="2842"/>
                </a:lnTo>
                <a:lnTo>
                  <a:pt x="708348" y="0"/>
                </a:lnTo>
                <a:close/>
              </a:path>
              <a:path w="2997200" h="3143250">
                <a:moveTo>
                  <a:pt x="797248" y="0"/>
                </a:moveTo>
                <a:lnTo>
                  <a:pt x="752134" y="0"/>
                </a:lnTo>
                <a:lnTo>
                  <a:pt x="749292" y="2842"/>
                </a:lnTo>
                <a:lnTo>
                  <a:pt x="749292" y="9856"/>
                </a:lnTo>
                <a:lnTo>
                  <a:pt x="752134" y="12700"/>
                </a:lnTo>
                <a:lnTo>
                  <a:pt x="797248" y="12700"/>
                </a:lnTo>
                <a:lnTo>
                  <a:pt x="800092" y="9856"/>
                </a:lnTo>
                <a:lnTo>
                  <a:pt x="800092" y="2842"/>
                </a:lnTo>
                <a:lnTo>
                  <a:pt x="797248" y="0"/>
                </a:lnTo>
                <a:close/>
              </a:path>
              <a:path w="2997200" h="3143250">
                <a:moveTo>
                  <a:pt x="886148" y="0"/>
                </a:moveTo>
                <a:lnTo>
                  <a:pt x="841034" y="0"/>
                </a:lnTo>
                <a:lnTo>
                  <a:pt x="838192" y="2842"/>
                </a:lnTo>
                <a:lnTo>
                  <a:pt x="838192" y="9856"/>
                </a:lnTo>
                <a:lnTo>
                  <a:pt x="841034" y="12700"/>
                </a:lnTo>
                <a:lnTo>
                  <a:pt x="886148" y="12700"/>
                </a:lnTo>
                <a:lnTo>
                  <a:pt x="888992" y="9856"/>
                </a:lnTo>
                <a:lnTo>
                  <a:pt x="888992" y="2842"/>
                </a:lnTo>
                <a:lnTo>
                  <a:pt x="886148" y="0"/>
                </a:lnTo>
                <a:close/>
              </a:path>
              <a:path w="2997200" h="3143250">
                <a:moveTo>
                  <a:pt x="975048" y="0"/>
                </a:moveTo>
                <a:lnTo>
                  <a:pt x="929934" y="0"/>
                </a:lnTo>
                <a:lnTo>
                  <a:pt x="927092" y="2842"/>
                </a:lnTo>
                <a:lnTo>
                  <a:pt x="927092" y="9856"/>
                </a:lnTo>
                <a:lnTo>
                  <a:pt x="929934" y="12700"/>
                </a:lnTo>
                <a:lnTo>
                  <a:pt x="975048" y="12700"/>
                </a:lnTo>
                <a:lnTo>
                  <a:pt x="977892" y="9856"/>
                </a:lnTo>
                <a:lnTo>
                  <a:pt x="977892" y="2842"/>
                </a:lnTo>
                <a:lnTo>
                  <a:pt x="975048" y="0"/>
                </a:lnTo>
                <a:close/>
              </a:path>
              <a:path w="2997200" h="3143250">
                <a:moveTo>
                  <a:pt x="1063948" y="0"/>
                </a:moveTo>
                <a:lnTo>
                  <a:pt x="1018834" y="0"/>
                </a:lnTo>
                <a:lnTo>
                  <a:pt x="1015992" y="2842"/>
                </a:lnTo>
                <a:lnTo>
                  <a:pt x="1015992" y="9856"/>
                </a:lnTo>
                <a:lnTo>
                  <a:pt x="1018834" y="12700"/>
                </a:lnTo>
                <a:lnTo>
                  <a:pt x="1063948" y="12700"/>
                </a:lnTo>
                <a:lnTo>
                  <a:pt x="1066792" y="9856"/>
                </a:lnTo>
                <a:lnTo>
                  <a:pt x="1066792" y="2842"/>
                </a:lnTo>
                <a:lnTo>
                  <a:pt x="1063948" y="0"/>
                </a:lnTo>
                <a:close/>
              </a:path>
              <a:path w="2997200" h="3143250">
                <a:moveTo>
                  <a:pt x="1152848" y="0"/>
                </a:moveTo>
                <a:lnTo>
                  <a:pt x="1107734" y="0"/>
                </a:lnTo>
                <a:lnTo>
                  <a:pt x="1104892" y="2842"/>
                </a:lnTo>
                <a:lnTo>
                  <a:pt x="1104892" y="9856"/>
                </a:lnTo>
                <a:lnTo>
                  <a:pt x="1107734" y="12700"/>
                </a:lnTo>
                <a:lnTo>
                  <a:pt x="1152848" y="12700"/>
                </a:lnTo>
                <a:lnTo>
                  <a:pt x="1155692" y="9856"/>
                </a:lnTo>
                <a:lnTo>
                  <a:pt x="1155692" y="2842"/>
                </a:lnTo>
                <a:lnTo>
                  <a:pt x="1152848" y="0"/>
                </a:lnTo>
                <a:close/>
              </a:path>
              <a:path w="2997200" h="3143250">
                <a:moveTo>
                  <a:pt x="1241748" y="0"/>
                </a:moveTo>
                <a:lnTo>
                  <a:pt x="1196634" y="0"/>
                </a:lnTo>
                <a:lnTo>
                  <a:pt x="1193792" y="2842"/>
                </a:lnTo>
                <a:lnTo>
                  <a:pt x="1193792" y="9856"/>
                </a:lnTo>
                <a:lnTo>
                  <a:pt x="1196634" y="12700"/>
                </a:lnTo>
                <a:lnTo>
                  <a:pt x="1241748" y="12700"/>
                </a:lnTo>
                <a:lnTo>
                  <a:pt x="1244592" y="9856"/>
                </a:lnTo>
                <a:lnTo>
                  <a:pt x="1244592" y="2842"/>
                </a:lnTo>
                <a:lnTo>
                  <a:pt x="1241748" y="0"/>
                </a:lnTo>
                <a:close/>
              </a:path>
              <a:path w="2997200" h="3143250">
                <a:moveTo>
                  <a:pt x="1330648" y="0"/>
                </a:moveTo>
                <a:lnTo>
                  <a:pt x="1285534" y="0"/>
                </a:lnTo>
                <a:lnTo>
                  <a:pt x="1282692" y="2842"/>
                </a:lnTo>
                <a:lnTo>
                  <a:pt x="1282692" y="9856"/>
                </a:lnTo>
                <a:lnTo>
                  <a:pt x="1285534" y="12700"/>
                </a:lnTo>
                <a:lnTo>
                  <a:pt x="1330648" y="12700"/>
                </a:lnTo>
                <a:lnTo>
                  <a:pt x="1333492" y="9856"/>
                </a:lnTo>
                <a:lnTo>
                  <a:pt x="1333492" y="2842"/>
                </a:lnTo>
                <a:lnTo>
                  <a:pt x="1330648" y="0"/>
                </a:lnTo>
                <a:close/>
              </a:path>
              <a:path w="2997200" h="3143250">
                <a:moveTo>
                  <a:pt x="1419548" y="0"/>
                </a:moveTo>
                <a:lnTo>
                  <a:pt x="1374434" y="0"/>
                </a:lnTo>
                <a:lnTo>
                  <a:pt x="1371592" y="2842"/>
                </a:lnTo>
                <a:lnTo>
                  <a:pt x="1371592" y="9856"/>
                </a:lnTo>
                <a:lnTo>
                  <a:pt x="1374434" y="12700"/>
                </a:lnTo>
                <a:lnTo>
                  <a:pt x="1419548" y="12700"/>
                </a:lnTo>
                <a:lnTo>
                  <a:pt x="1422392" y="9856"/>
                </a:lnTo>
                <a:lnTo>
                  <a:pt x="1422392" y="2842"/>
                </a:lnTo>
                <a:lnTo>
                  <a:pt x="1419548" y="0"/>
                </a:lnTo>
                <a:close/>
              </a:path>
              <a:path w="2997200" h="3143250">
                <a:moveTo>
                  <a:pt x="1476307" y="6350"/>
                </a:moveTo>
                <a:lnTo>
                  <a:pt x="1476307" y="32141"/>
                </a:lnTo>
                <a:lnTo>
                  <a:pt x="1479149" y="34984"/>
                </a:lnTo>
                <a:lnTo>
                  <a:pt x="1486164" y="34984"/>
                </a:lnTo>
                <a:lnTo>
                  <a:pt x="1489007" y="32141"/>
                </a:lnTo>
                <a:lnTo>
                  <a:pt x="1489007" y="12700"/>
                </a:lnTo>
                <a:lnTo>
                  <a:pt x="1482657" y="12700"/>
                </a:lnTo>
                <a:lnTo>
                  <a:pt x="1476307" y="6350"/>
                </a:lnTo>
                <a:close/>
              </a:path>
              <a:path w="2997200" h="3143250">
                <a:moveTo>
                  <a:pt x="1486164" y="0"/>
                </a:moveTo>
                <a:lnTo>
                  <a:pt x="1463334" y="0"/>
                </a:lnTo>
                <a:lnTo>
                  <a:pt x="1460492" y="2842"/>
                </a:lnTo>
                <a:lnTo>
                  <a:pt x="1460492" y="9856"/>
                </a:lnTo>
                <a:lnTo>
                  <a:pt x="1463334" y="12700"/>
                </a:lnTo>
                <a:lnTo>
                  <a:pt x="1476307" y="12700"/>
                </a:lnTo>
                <a:lnTo>
                  <a:pt x="1476307" y="6350"/>
                </a:lnTo>
                <a:lnTo>
                  <a:pt x="1489007" y="6350"/>
                </a:lnTo>
                <a:lnTo>
                  <a:pt x="1489007" y="2842"/>
                </a:lnTo>
                <a:lnTo>
                  <a:pt x="1486164" y="0"/>
                </a:lnTo>
                <a:close/>
              </a:path>
              <a:path w="2997200" h="3143250">
                <a:moveTo>
                  <a:pt x="1489007" y="6350"/>
                </a:moveTo>
                <a:lnTo>
                  <a:pt x="1476307" y="6350"/>
                </a:lnTo>
                <a:lnTo>
                  <a:pt x="1482657" y="12700"/>
                </a:lnTo>
                <a:lnTo>
                  <a:pt x="1489007" y="12700"/>
                </a:lnTo>
                <a:lnTo>
                  <a:pt x="1489007" y="6350"/>
                </a:lnTo>
                <a:close/>
              </a:path>
              <a:path w="2997200" h="3143250">
                <a:moveTo>
                  <a:pt x="1486164" y="73084"/>
                </a:moveTo>
                <a:lnTo>
                  <a:pt x="1479149" y="73084"/>
                </a:lnTo>
                <a:lnTo>
                  <a:pt x="1476307" y="75926"/>
                </a:lnTo>
                <a:lnTo>
                  <a:pt x="1476307" y="121041"/>
                </a:lnTo>
                <a:lnTo>
                  <a:pt x="1479149" y="123884"/>
                </a:lnTo>
                <a:lnTo>
                  <a:pt x="1486164" y="123884"/>
                </a:lnTo>
                <a:lnTo>
                  <a:pt x="1489007" y="121041"/>
                </a:lnTo>
                <a:lnTo>
                  <a:pt x="1489007" y="75926"/>
                </a:lnTo>
                <a:lnTo>
                  <a:pt x="1486164" y="73084"/>
                </a:lnTo>
                <a:close/>
              </a:path>
              <a:path w="2997200" h="3143250">
                <a:moveTo>
                  <a:pt x="1486164" y="161984"/>
                </a:moveTo>
                <a:lnTo>
                  <a:pt x="1479149" y="161984"/>
                </a:lnTo>
                <a:lnTo>
                  <a:pt x="1476307" y="164826"/>
                </a:lnTo>
                <a:lnTo>
                  <a:pt x="1476307" y="209941"/>
                </a:lnTo>
                <a:lnTo>
                  <a:pt x="1479149" y="212784"/>
                </a:lnTo>
                <a:lnTo>
                  <a:pt x="1486164" y="212784"/>
                </a:lnTo>
                <a:lnTo>
                  <a:pt x="1489007" y="209941"/>
                </a:lnTo>
                <a:lnTo>
                  <a:pt x="1489007" y="164826"/>
                </a:lnTo>
                <a:lnTo>
                  <a:pt x="1486164" y="161984"/>
                </a:lnTo>
                <a:close/>
              </a:path>
              <a:path w="2997200" h="3143250">
                <a:moveTo>
                  <a:pt x="1486164" y="250884"/>
                </a:moveTo>
                <a:lnTo>
                  <a:pt x="1479149" y="250884"/>
                </a:lnTo>
                <a:lnTo>
                  <a:pt x="1476307" y="253726"/>
                </a:lnTo>
                <a:lnTo>
                  <a:pt x="1476307" y="298841"/>
                </a:lnTo>
                <a:lnTo>
                  <a:pt x="1479149" y="301684"/>
                </a:lnTo>
                <a:lnTo>
                  <a:pt x="1486164" y="301684"/>
                </a:lnTo>
                <a:lnTo>
                  <a:pt x="1489007" y="298841"/>
                </a:lnTo>
                <a:lnTo>
                  <a:pt x="1489007" y="253726"/>
                </a:lnTo>
                <a:lnTo>
                  <a:pt x="1486164" y="250884"/>
                </a:lnTo>
                <a:close/>
              </a:path>
              <a:path w="2997200" h="3143250">
                <a:moveTo>
                  <a:pt x="1486164" y="339784"/>
                </a:moveTo>
                <a:lnTo>
                  <a:pt x="1479149" y="339784"/>
                </a:lnTo>
                <a:lnTo>
                  <a:pt x="1476307" y="342626"/>
                </a:lnTo>
                <a:lnTo>
                  <a:pt x="1476307" y="387741"/>
                </a:lnTo>
                <a:lnTo>
                  <a:pt x="1479149" y="390584"/>
                </a:lnTo>
                <a:lnTo>
                  <a:pt x="1486164" y="390584"/>
                </a:lnTo>
                <a:lnTo>
                  <a:pt x="1489007" y="387741"/>
                </a:lnTo>
                <a:lnTo>
                  <a:pt x="1489007" y="342626"/>
                </a:lnTo>
                <a:lnTo>
                  <a:pt x="1486164" y="339784"/>
                </a:lnTo>
                <a:close/>
              </a:path>
              <a:path w="2997200" h="3143250">
                <a:moveTo>
                  <a:pt x="1486164" y="428684"/>
                </a:moveTo>
                <a:lnTo>
                  <a:pt x="1479149" y="428684"/>
                </a:lnTo>
                <a:lnTo>
                  <a:pt x="1476307" y="431526"/>
                </a:lnTo>
                <a:lnTo>
                  <a:pt x="1476307" y="476641"/>
                </a:lnTo>
                <a:lnTo>
                  <a:pt x="1479149" y="479484"/>
                </a:lnTo>
                <a:lnTo>
                  <a:pt x="1486164" y="479484"/>
                </a:lnTo>
                <a:lnTo>
                  <a:pt x="1489007" y="476641"/>
                </a:lnTo>
                <a:lnTo>
                  <a:pt x="1489007" y="431526"/>
                </a:lnTo>
                <a:lnTo>
                  <a:pt x="1486164" y="428684"/>
                </a:lnTo>
                <a:close/>
              </a:path>
              <a:path w="2997200" h="3143250">
                <a:moveTo>
                  <a:pt x="1486164" y="517584"/>
                </a:moveTo>
                <a:lnTo>
                  <a:pt x="1479149" y="517584"/>
                </a:lnTo>
                <a:lnTo>
                  <a:pt x="1476307" y="520426"/>
                </a:lnTo>
                <a:lnTo>
                  <a:pt x="1476307" y="565541"/>
                </a:lnTo>
                <a:lnTo>
                  <a:pt x="1479149" y="568384"/>
                </a:lnTo>
                <a:lnTo>
                  <a:pt x="1486164" y="568384"/>
                </a:lnTo>
                <a:lnTo>
                  <a:pt x="1489007" y="565541"/>
                </a:lnTo>
                <a:lnTo>
                  <a:pt x="1489007" y="520426"/>
                </a:lnTo>
                <a:lnTo>
                  <a:pt x="1486164" y="517584"/>
                </a:lnTo>
                <a:close/>
              </a:path>
              <a:path w="2997200" h="3143250">
                <a:moveTo>
                  <a:pt x="1486164" y="606484"/>
                </a:moveTo>
                <a:lnTo>
                  <a:pt x="1479149" y="606484"/>
                </a:lnTo>
                <a:lnTo>
                  <a:pt x="1476307" y="609326"/>
                </a:lnTo>
                <a:lnTo>
                  <a:pt x="1476307" y="654441"/>
                </a:lnTo>
                <a:lnTo>
                  <a:pt x="1479149" y="657284"/>
                </a:lnTo>
                <a:lnTo>
                  <a:pt x="1486164" y="657284"/>
                </a:lnTo>
                <a:lnTo>
                  <a:pt x="1489007" y="654441"/>
                </a:lnTo>
                <a:lnTo>
                  <a:pt x="1489007" y="609326"/>
                </a:lnTo>
                <a:lnTo>
                  <a:pt x="1486164" y="606484"/>
                </a:lnTo>
                <a:close/>
              </a:path>
              <a:path w="2997200" h="3143250">
                <a:moveTo>
                  <a:pt x="1486164" y="695384"/>
                </a:moveTo>
                <a:lnTo>
                  <a:pt x="1479149" y="695384"/>
                </a:lnTo>
                <a:lnTo>
                  <a:pt x="1476307" y="698226"/>
                </a:lnTo>
                <a:lnTo>
                  <a:pt x="1476307" y="743341"/>
                </a:lnTo>
                <a:lnTo>
                  <a:pt x="1479149" y="746184"/>
                </a:lnTo>
                <a:lnTo>
                  <a:pt x="1486164" y="746184"/>
                </a:lnTo>
                <a:lnTo>
                  <a:pt x="1489007" y="743341"/>
                </a:lnTo>
                <a:lnTo>
                  <a:pt x="1489007" y="698226"/>
                </a:lnTo>
                <a:lnTo>
                  <a:pt x="1486164" y="695384"/>
                </a:lnTo>
                <a:close/>
              </a:path>
              <a:path w="2997200" h="3143250">
                <a:moveTo>
                  <a:pt x="1486164" y="784284"/>
                </a:moveTo>
                <a:lnTo>
                  <a:pt x="1479149" y="784284"/>
                </a:lnTo>
                <a:lnTo>
                  <a:pt x="1476307" y="787126"/>
                </a:lnTo>
                <a:lnTo>
                  <a:pt x="1476307" y="832241"/>
                </a:lnTo>
                <a:lnTo>
                  <a:pt x="1479149" y="835084"/>
                </a:lnTo>
                <a:lnTo>
                  <a:pt x="1486164" y="835084"/>
                </a:lnTo>
                <a:lnTo>
                  <a:pt x="1489007" y="832241"/>
                </a:lnTo>
                <a:lnTo>
                  <a:pt x="1489007" y="787126"/>
                </a:lnTo>
                <a:lnTo>
                  <a:pt x="1486164" y="784284"/>
                </a:lnTo>
                <a:close/>
              </a:path>
              <a:path w="2997200" h="3143250">
                <a:moveTo>
                  <a:pt x="1486164" y="873184"/>
                </a:moveTo>
                <a:lnTo>
                  <a:pt x="1479149" y="873184"/>
                </a:lnTo>
                <a:lnTo>
                  <a:pt x="1476307" y="876026"/>
                </a:lnTo>
                <a:lnTo>
                  <a:pt x="1476307" y="921141"/>
                </a:lnTo>
                <a:lnTo>
                  <a:pt x="1479149" y="923984"/>
                </a:lnTo>
                <a:lnTo>
                  <a:pt x="1486164" y="923984"/>
                </a:lnTo>
                <a:lnTo>
                  <a:pt x="1489007" y="921141"/>
                </a:lnTo>
                <a:lnTo>
                  <a:pt x="1489007" y="876026"/>
                </a:lnTo>
                <a:lnTo>
                  <a:pt x="1486164" y="873184"/>
                </a:lnTo>
                <a:close/>
              </a:path>
              <a:path w="2997200" h="3143250">
                <a:moveTo>
                  <a:pt x="1486164" y="962084"/>
                </a:moveTo>
                <a:lnTo>
                  <a:pt x="1479149" y="962084"/>
                </a:lnTo>
                <a:lnTo>
                  <a:pt x="1476307" y="964926"/>
                </a:lnTo>
                <a:lnTo>
                  <a:pt x="1476307" y="1010041"/>
                </a:lnTo>
                <a:lnTo>
                  <a:pt x="1479149" y="1012884"/>
                </a:lnTo>
                <a:lnTo>
                  <a:pt x="1486164" y="1012884"/>
                </a:lnTo>
                <a:lnTo>
                  <a:pt x="1489007" y="1010041"/>
                </a:lnTo>
                <a:lnTo>
                  <a:pt x="1489007" y="964926"/>
                </a:lnTo>
                <a:lnTo>
                  <a:pt x="1486164" y="962084"/>
                </a:lnTo>
                <a:close/>
              </a:path>
              <a:path w="2997200" h="3143250">
                <a:moveTo>
                  <a:pt x="1486164" y="1050984"/>
                </a:moveTo>
                <a:lnTo>
                  <a:pt x="1479149" y="1050984"/>
                </a:lnTo>
                <a:lnTo>
                  <a:pt x="1476307" y="1053826"/>
                </a:lnTo>
                <a:lnTo>
                  <a:pt x="1476307" y="1098941"/>
                </a:lnTo>
                <a:lnTo>
                  <a:pt x="1479149" y="1101784"/>
                </a:lnTo>
                <a:lnTo>
                  <a:pt x="1486164" y="1101784"/>
                </a:lnTo>
                <a:lnTo>
                  <a:pt x="1489007" y="1098941"/>
                </a:lnTo>
                <a:lnTo>
                  <a:pt x="1489007" y="1053826"/>
                </a:lnTo>
                <a:lnTo>
                  <a:pt x="1486164" y="1050984"/>
                </a:lnTo>
                <a:close/>
              </a:path>
              <a:path w="2997200" h="3143250">
                <a:moveTo>
                  <a:pt x="1486164" y="1139884"/>
                </a:moveTo>
                <a:lnTo>
                  <a:pt x="1479149" y="1139884"/>
                </a:lnTo>
                <a:lnTo>
                  <a:pt x="1476307" y="1142726"/>
                </a:lnTo>
                <a:lnTo>
                  <a:pt x="1476307" y="1187841"/>
                </a:lnTo>
                <a:lnTo>
                  <a:pt x="1479149" y="1190684"/>
                </a:lnTo>
                <a:lnTo>
                  <a:pt x="1486164" y="1190684"/>
                </a:lnTo>
                <a:lnTo>
                  <a:pt x="1489007" y="1187841"/>
                </a:lnTo>
                <a:lnTo>
                  <a:pt x="1489007" y="1142726"/>
                </a:lnTo>
                <a:lnTo>
                  <a:pt x="1486164" y="1139884"/>
                </a:lnTo>
                <a:close/>
              </a:path>
              <a:path w="2997200" h="3143250">
                <a:moveTo>
                  <a:pt x="1486164" y="1228784"/>
                </a:moveTo>
                <a:lnTo>
                  <a:pt x="1479149" y="1228784"/>
                </a:lnTo>
                <a:lnTo>
                  <a:pt x="1476307" y="1231626"/>
                </a:lnTo>
                <a:lnTo>
                  <a:pt x="1476307" y="1276741"/>
                </a:lnTo>
                <a:lnTo>
                  <a:pt x="1479149" y="1279584"/>
                </a:lnTo>
                <a:lnTo>
                  <a:pt x="1486164" y="1279584"/>
                </a:lnTo>
                <a:lnTo>
                  <a:pt x="1489007" y="1276741"/>
                </a:lnTo>
                <a:lnTo>
                  <a:pt x="1489007" y="1231626"/>
                </a:lnTo>
                <a:lnTo>
                  <a:pt x="1486164" y="1228784"/>
                </a:lnTo>
                <a:close/>
              </a:path>
              <a:path w="2997200" h="3143250">
                <a:moveTo>
                  <a:pt x="1486164" y="1317684"/>
                </a:moveTo>
                <a:lnTo>
                  <a:pt x="1479149" y="1317684"/>
                </a:lnTo>
                <a:lnTo>
                  <a:pt x="1476307" y="1320526"/>
                </a:lnTo>
                <a:lnTo>
                  <a:pt x="1476307" y="1365641"/>
                </a:lnTo>
                <a:lnTo>
                  <a:pt x="1479149" y="1368484"/>
                </a:lnTo>
                <a:lnTo>
                  <a:pt x="1486164" y="1368484"/>
                </a:lnTo>
                <a:lnTo>
                  <a:pt x="1489007" y="1365641"/>
                </a:lnTo>
                <a:lnTo>
                  <a:pt x="1489007" y="1320526"/>
                </a:lnTo>
                <a:lnTo>
                  <a:pt x="1486164" y="1317684"/>
                </a:lnTo>
                <a:close/>
              </a:path>
              <a:path w="2997200" h="3143250">
                <a:moveTo>
                  <a:pt x="1486164" y="1406584"/>
                </a:moveTo>
                <a:lnTo>
                  <a:pt x="1479149" y="1406584"/>
                </a:lnTo>
                <a:lnTo>
                  <a:pt x="1476307" y="1409426"/>
                </a:lnTo>
                <a:lnTo>
                  <a:pt x="1476307" y="1454541"/>
                </a:lnTo>
                <a:lnTo>
                  <a:pt x="1479149" y="1457384"/>
                </a:lnTo>
                <a:lnTo>
                  <a:pt x="1486164" y="1457384"/>
                </a:lnTo>
                <a:lnTo>
                  <a:pt x="1489007" y="1454541"/>
                </a:lnTo>
                <a:lnTo>
                  <a:pt x="1489007" y="1409426"/>
                </a:lnTo>
                <a:lnTo>
                  <a:pt x="1486164" y="1406584"/>
                </a:lnTo>
                <a:close/>
              </a:path>
              <a:path w="2997200" h="3143250">
                <a:moveTo>
                  <a:pt x="1486164" y="1495484"/>
                </a:moveTo>
                <a:lnTo>
                  <a:pt x="1479149" y="1495484"/>
                </a:lnTo>
                <a:lnTo>
                  <a:pt x="1476307" y="1498326"/>
                </a:lnTo>
                <a:lnTo>
                  <a:pt x="1476307" y="1543441"/>
                </a:lnTo>
                <a:lnTo>
                  <a:pt x="1479149" y="1546284"/>
                </a:lnTo>
                <a:lnTo>
                  <a:pt x="1486164" y="1546284"/>
                </a:lnTo>
                <a:lnTo>
                  <a:pt x="1489007" y="1543441"/>
                </a:lnTo>
                <a:lnTo>
                  <a:pt x="1489007" y="1498326"/>
                </a:lnTo>
                <a:lnTo>
                  <a:pt x="1486164" y="1495484"/>
                </a:lnTo>
                <a:close/>
              </a:path>
              <a:path w="2997200" h="3143250">
                <a:moveTo>
                  <a:pt x="1486164" y="1584384"/>
                </a:moveTo>
                <a:lnTo>
                  <a:pt x="1479149" y="1584384"/>
                </a:lnTo>
                <a:lnTo>
                  <a:pt x="1476307" y="1587226"/>
                </a:lnTo>
                <a:lnTo>
                  <a:pt x="1476307" y="1632341"/>
                </a:lnTo>
                <a:lnTo>
                  <a:pt x="1479149" y="1635184"/>
                </a:lnTo>
                <a:lnTo>
                  <a:pt x="1486164" y="1635184"/>
                </a:lnTo>
                <a:lnTo>
                  <a:pt x="1489007" y="1632341"/>
                </a:lnTo>
                <a:lnTo>
                  <a:pt x="1489007" y="1587226"/>
                </a:lnTo>
                <a:lnTo>
                  <a:pt x="1486164" y="1584384"/>
                </a:lnTo>
                <a:close/>
              </a:path>
              <a:path w="2997200" h="3143250">
                <a:moveTo>
                  <a:pt x="1486164" y="1673284"/>
                </a:moveTo>
                <a:lnTo>
                  <a:pt x="1479149" y="1673284"/>
                </a:lnTo>
                <a:lnTo>
                  <a:pt x="1476307" y="1676126"/>
                </a:lnTo>
                <a:lnTo>
                  <a:pt x="1476307" y="1721241"/>
                </a:lnTo>
                <a:lnTo>
                  <a:pt x="1479149" y="1724084"/>
                </a:lnTo>
                <a:lnTo>
                  <a:pt x="1486164" y="1724084"/>
                </a:lnTo>
                <a:lnTo>
                  <a:pt x="1489007" y="1721241"/>
                </a:lnTo>
                <a:lnTo>
                  <a:pt x="1489007" y="1676126"/>
                </a:lnTo>
                <a:lnTo>
                  <a:pt x="1486164" y="1673284"/>
                </a:lnTo>
                <a:close/>
              </a:path>
              <a:path w="2997200" h="3143250">
                <a:moveTo>
                  <a:pt x="1486164" y="1762184"/>
                </a:moveTo>
                <a:lnTo>
                  <a:pt x="1479149" y="1762184"/>
                </a:lnTo>
                <a:lnTo>
                  <a:pt x="1476307" y="1765026"/>
                </a:lnTo>
                <a:lnTo>
                  <a:pt x="1476307" y="1810141"/>
                </a:lnTo>
                <a:lnTo>
                  <a:pt x="1479149" y="1812984"/>
                </a:lnTo>
                <a:lnTo>
                  <a:pt x="1486164" y="1812984"/>
                </a:lnTo>
                <a:lnTo>
                  <a:pt x="1489007" y="1810141"/>
                </a:lnTo>
                <a:lnTo>
                  <a:pt x="1489007" y="1765026"/>
                </a:lnTo>
                <a:lnTo>
                  <a:pt x="1486164" y="1762184"/>
                </a:lnTo>
                <a:close/>
              </a:path>
              <a:path w="2997200" h="3143250">
                <a:moveTo>
                  <a:pt x="1486164" y="1851084"/>
                </a:moveTo>
                <a:lnTo>
                  <a:pt x="1479149" y="1851084"/>
                </a:lnTo>
                <a:lnTo>
                  <a:pt x="1476307" y="1853926"/>
                </a:lnTo>
                <a:lnTo>
                  <a:pt x="1476307" y="1899041"/>
                </a:lnTo>
                <a:lnTo>
                  <a:pt x="1479149" y="1901884"/>
                </a:lnTo>
                <a:lnTo>
                  <a:pt x="1486164" y="1901884"/>
                </a:lnTo>
                <a:lnTo>
                  <a:pt x="1489007" y="1899041"/>
                </a:lnTo>
                <a:lnTo>
                  <a:pt x="1489007" y="1853926"/>
                </a:lnTo>
                <a:lnTo>
                  <a:pt x="1486164" y="1851084"/>
                </a:lnTo>
                <a:close/>
              </a:path>
              <a:path w="2997200" h="3143250">
                <a:moveTo>
                  <a:pt x="1486164" y="1939984"/>
                </a:moveTo>
                <a:lnTo>
                  <a:pt x="1479149" y="1939984"/>
                </a:lnTo>
                <a:lnTo>
                  <a:pt x="1476307" y="1942826"/>
                </a:lnTo>
                <a:lnTo>
                  <a:pt x="1476307" y="1987941"/>
                </a:lnTo>
                <a:lnTo>
                  <a:pt x="1479149" y="1990784"/>
                </a:lnTo>
                <a:lnTo>
                  <a:pt x="1486164" y="1990784"/>
                </a:lnTo>
                <a:lnTo>
                  <a:pt x="1489007" y="1987941"/>
                </a:lnTo>
                <a:lnTo>
                  <a:pt x="1489007" y="1942826"/>
                </a:lnTo>
                <a:lnTo>
                  <a:pt x="1486164" y="1939984"/>
                </a:lnTo>
                <a:close/>
              </a:path>
              <a:path w="2997200" h="3143250">
                <a:moveTo>
                  <a:pt x="1486164" y="2028884"/>
                </a:moveTo>
                <a:lnTo>
                  <a:pt x="1479149" y="2028884"/>
                </a:lnTo>
                <a:lnTo>
                  <a:pt x="1476307" y="2031726"/>
                </a:lnTo>
                <a:lnTo>
                  <a:pt x="1476307" y="2076841"/>
                </a:lnTo>
                <a:lnTo>
                  <a:pt x="1479149" y="2079684"/>
                </a:lnTo>
                <a:lnTo>
                  <a:pt x="1486164" y="2079684"/>
                </a:lnTo>
                <a:lnTo>
                  <a:pt x="1489007" y="2076841"/>
                </a:lnTo>
                <a:lnTo>
                  <a:pt x="1489007" y="2031726"/>
                </a:lnTo>
                <a:lnTo>
                  <a:pt x="1486164" y="2028884"/>
                </a:lnTo>
                <a:close/>
              </a:path>
              <a:path w="2997200" h="3143250">
                <a:moveTo>
                  <a:pt x="1486164" y="2117784"/>
                </a:moveTo>
                <a:lnTo>
                  <a:pt x="1479149" y="2117784"/>
                </a:lnTo>
                <a:lnTo>
                  <a:pt x="1476307" y="2120626"/>
                </a:lnTo>
                <a:lnTo>
                  <a:pt x="1476307" y="2165741"/>
                </a:lnTo>
                <a:lnTo>
                  <a:pt x="1479149" y="2168584"/>
                </a:lnTo>
                <a:lnTo>
                  <a:pt x="1486164" y="2168584"/>
                </a:lnTo>
                <a:lnTo>
                  <a:pt x="1489007" y="2165741"/>
                </a:lnTo>
                <a:lnTo>
                  <a:pt x="1489007" y="2120626"/>
                </a:lnTo>
                <a:lnTo>
                  <a:pt x="1486164" y="2117784"/>
                </a:lnTo>
                <a:close/>
              </a:path>
              <a:path w="2997200" h="3143250">
                <a:moveTo>
                  <a:pt x="1486164" y="2206684"/>
                </a:moveTo>
                <a:lnTo>
                  <a:pt x="1479149" y="2206684"/>
                </a:lnTo>
                <a:lnTo>
                  <a:pt x="1476307" y="2209526"/>
                </a:lnTo>
                <a:lnTo>
                  <a:pt x="1476307" y="2254641"/>
                </a:lnTo>
                <a:lnTo>
                  <a:pt x="1479149" y="2257484"/>
                </a:lnTo>
                <a:lnTo>
                  <a:pt x="1486164" y="2257484"/>
                </a:lnTo>
                <a:lnTo>
                  <a:pt x="1489007" y="2254641"/>
                </a:lnTo>
                <a:lnTo>
                  <a:pt x="1489007" y="2209526"/>
                </a:lnTo>
                <a:lnTo>
                  <a:pt x="1486164" y="2206684"/>
                </a:lnTo>
                <a:close/>
              </a:path>
              <a:path w="2997200" h="3143250">
                <a:moveTo>
                  <a:pt x="1486164" y="2295584"/>
                </a:moveTo>
                <a:lnTo>
                  <a:pt x="1479149" y="2295584"/>
                </a:lnTo>
                <a:lnTo>
                  <a:pt x="1476307" y="2298426"/>
                </a:lnTo>
                <a:lnTo>
                  <a:pt x="1476307" y="2343541"/>
                </a:lnTo>
                <a:lnTo>
                  <a:pt x="1479149" y="2346384"/>
                </a:lnTo>
                <a:lnTo>
                  <a:pt x="1486164" y="2346384"/>
                </a:lnTo>
                <a:lnTo>
                  <a:pt x="1489007" y="2343541"/>
                </a:lnTo>
                <a:lnTo>
                  <a:pt x="1489007" y="2298426"/>
                </a:lnTo>
                <a:lnTo>
                  <a:pt x="1486164" y="2295584"/>
                </a:lnTo>
                <a:close/>
              </a:path>
              <a:path w="2997200" h="3143250">
                <a:moveTo>
                  <a:pt x="1486164" y="2384484"/>
                </a:moveTo>
                <a:lnTo>
                  <a:pt x="1479149" y="2384484"/>
                </a:lnTo>
                <a:lnTo>
                  <a:pt x="1476307" y="2387326"/>
                </a:lnTo>
                <a:lnTo>
                  <a:pt x="1476307" y="2432441"/>
                </a:lnTo>
                <a:lnTo>
                  <a:pt x="1479149" y="2435284"/>
                </a:lnTo>
                <a:lnTo>
                  <a:pt x="1486164" y="2435284"/>
                </a:lnTo>
                <a:lnTo>
                  <a:pt x="1489007" y="2432441"/>
                </a:lnTo>
                <a:lnTo>
                  <a:pt x="1489007" y="2387326"/>
                </a:lnTo>
                <a:lnTo>
                  <a:pt x="1486164" y="2384484"/>
                </a:lnTo>
                <a:close/>
              </a:path>
              <a:path w="2997200" h="3143250">
                <a:moveTo>
                  <a:pt x="1486164" y="2473384"/>
                </a:moveTo>
                <a:lnTo>
                  <a:pt x="1479149" y="2473384"/>
                </a:lnTo>
                <a:lnTo>
                  <a:pt x="1476307" y="2476226"/>
                </a:lnTo>
                <a:lnTo>
                  <a:pt x="1476307" y="2521341"/>
                </a:lnTo>
                <a:lnTo>
                  <a:pt x="1479149" y="2524184"/>
                </a:lnTo>
                <a:lnTo>
                  <a:pt x="1486164" y="2524184"/>
                </a:lnTo>
                <a:lnTo>
                  <a:pt x="1489007" y="2521341"/>
                </a:lnTo>
                <a:lnTo>
                  <a:pt x="1489007" y="2476226"/>
                </a:lnTo>
                <a:lnTo>
                  <a:pt x="1486164" y="2473384"/>
                </a:lnTo>
                <a:close/>
              </a:path>
              <a:path w="2997200" h="3143250">
                <a:moveTo>
                  <a:pt x="1486164" y="2562284"/>
                </a:moveTo>
                <a:lnTo>
                  <a:pt x="1479149" y="2562284"/>
                </a:lnTo>
                <a:lnTo>
                  <a:pt x="1476307" y="2565126"/>
                </a:lnTo>
                <a:lnTo>
                  <a:pt x="1476307" y="2610241"/>
                </a:lnTo>
                <a:lnTo>
                  <a:pt x="1479149" y="2613084"/>
                </a:lnTo>
                <a:lnTo>
                  <a:pt x="1486164" y="2613084"/>
                </a:lnTo>
                <a:lnTo>
                  <a:pt x="1489007" y="2610241"/>
                </a:lnTo>
                <a:lnTo>
                  <a:pt x="1489007" y="2565126"/>
                </a:lnTo>
                <a:lnTo>
                  <a:pt x="1486164" y="2562284"/>
                </a:lnTo>
                <a:close/>
              </a:path>
              <a:path w="2997200" h="3143250">
                <a:moveTo>
                  <a:pt x="1486164" y="2651184"/>
                </a:moveTo>
                <a:lnTo>
                  <a:pt x="1479149" y="2651184"/>
                </a:lnTo>
                <a:lnTo>
                  <a:pt x="1476307" y="2654026"/>
                </a:lnTo>
                <a:lnTo>
                  <a:pt x="1476307" y="2699141"/>
                </a:lnTo>
                <a:lnTo>
                  <a:pt x="1479149" y="2701984"/>
                </a:lnTo>
                <a:lnTo>
                  <a:pt x="1486164" y="2701984"/>
                </a:lnTo>
                <a:lnTo>
                  <a:pt x="1489007" y="2699141"/>
                </a:lnTo>
                <a:lnTo>
                  <a:pt x="1489007" y="2654026"/>
                </a:lnTo>
                <a:lnTo>
                  <a:pt x="1486164" y="2651184"/>
                </a:lnTo>
                <a:close/>
              </a:path>
              <a:path w="2997200" h="3143250">
                <a:moveTo>
                  <a:pt x="1486164" y="2740084"/>
                </a:moveTo>
                <a:lnTo>
                  <a:pt x="1479149" y="2740084"/>
                </a:lnTo>
                <a:lnTo>
                  <a:pt x="1476307" y="2742926"/>
                </a:lnTo>
                <a:lnTo>
                  <a:pt x="1476307" y="2788041"/>
                </a:lnTo>
                <a:lnTo>
                  <a:pt x="1479149" y="2790884"/>
                </a:lnTo>
                <a:lnTo>
                  <a:pt x="1486164" y="2790884"/>
                </a:lnTo>
                <a:lnTo>
                  <a:pt x="1489007" y="2788041"/>
                </a:lnTo>
                <a:lnTo>
                  <a:pt x="1489007" y="2742926"/>
                </a:lnTo>
                <a:lnTo>
                  <a:pt x="1486164" y="2740084"/>
                </a:lnTo>
                <a:close/>
              </a:path>
              <a:path w="2997200" h="3143250">
                <a:moveTo>
                  <a:pt x="1486164" y="2828984"/>
                </a:moveTo>
                <a:lnTo>
                  <a:pt x="1479149" y="2828984"/>
                </a:lnTo>
                <a:lnTo>
                  <a:pt x="1476307" y="2831826"/>
                </a:lnTo>
                <a:lnTo>
                  <a:pt x="1476307" y="2876941"/>
                </a:lnTo>
                <a:lnTo>
                  <a:pt x="1479149" y="2879784"/>
                </a:lnTo>
                <a:lnTo>
                  <a:pt x="1486164" y="2879784"/>
                </a:lnTo>
                <a:lnTo>
                  <a:pt x="1489007" y="2876941"/>
                </a:lnTo>
                <a:lnTo>
                  <a:pt x="1489007" y="2831826"/>
                </a:lnTo>
                <a:lnTo>
                  <a:pt x="1486164" y="2828984"/>
                </a:lnTo>
                <a:close/>
              </a:path>
              <a:path w="2997200" h="3143250">
                <a:moveTo>
                  <a:pt x="1486164" y="2917884"/>
                </a:moveTo>
                <a:lnTo>
                  <a:pt x="1479149" y="2917884"/>
                </a:lnTo>
                <a:lnTo>
                  <a:pt x="1476307" y="2920726"/>
                </a:lnTo>
                <a:lnTo>
                  <a:pt x="1476307" y="2965841"/>
                </a:lnTo>
                <a:lnTo>
                  <a:pt x="1479149" y="2968684"/>
                </a:lnTo>
                <a:lnTo>
                  <a:pt x="1486164" y="2968684"/>
                </a:lnTo>
                <a:lnTo>
                  <a:pt x="1489007" y="2965841"/>
                </a:lnTo>
                <a:lnTo>
                  <a:pt x="1489007" y="2920726"/>
                </a:lnTo>
                <a:lnTo>
                  <a:pt x="1486164" y="2917884"/>
                </a:lnTo>
                <a:close/>
              </a:path>
              <a:path w="2997200" h="3143250">
                <a:moveTo>
                  <a:pt x="1486164" y="3006784"/>
                </a:moveTo>
                <a:lnTo>
                  <a:pt x="1479149" y="3006784"/>
                </a:lnTo>
                <a:lnTo>
                  <a:pt x="1476307" y="3009626"/>
                </a:lnTo>
                <a:lnTo>
                  <a:pt x="1476307" y="3054741"/>
                </a:lnTo>
                <a:lnTo>
                  <a:pt x="1479149" y="3057584"/>
                </a:lnTo>
                <a:lnTo>
                  <a:pt x="1486164" y="3057584"/>
                </a:lnTo>
                <a:lnTo>
                  <a:pt x="1489007" y="3054741"/>
                </a:lnTo>
                <a:lnTo>
                  <a:pt x="1489007" y="3009626"/>
                </a:lnTo>
                <a:lnTo>
                  <a:pt x="1486164" y="3006784"/>
                </a:lnTo>
                <a:close/>
              </a:path>
              <a:path w="2997200" h="3143250">
                <a:moveTo>
                  <a:pt x="1486164" y="3095684"/>
                </a:moveTo>
                <a:lnTo>
                  <a:pt x="1479149" y="3095684"/>
                </a:lnTo>
                <a:lnTo>
                  <a:pt x="1476307" y="3098526"/>
                </a:lnTo>
                <a:lnTo>
                  <a:pt x="1476307" y="3140242"/>
                </a:lnTo>
                <a:lnTo>
                  <a:pt x="1479149" y="3143085"/>
                </a:lnTo>
                <a:lnTo>
                  <a:pt x="1489562" y="3143085"/>
                </a:lnTo>
                <a:lnTo>
                  <a:pt x="1492406" y="3140242"/>
                </a:lnTo>
                <a:lnTo>
                  <a:pt x="1492406" y="3136735"/>
                </a:lnTo>
                <a:lnTo>
                  <a:pt x="1489007" y="3136735"/>
                </a:lnTo>
                <a:lnTo>
                  <a:pt x="1482657" y="3130385"/>
                </a:lnTo>
                <a:lnTo>
                  <a:pt x="1489007" y="3130385"/>
                </a:lnTo>
                <a:lnTo>
                  <a:pt x="1489007" y="3098526"/>
                </a:lnTo>
                <a:lnTo>
                  <a:pt x="1486164" y="3095684"/>
                </a:lnTo>
                <a:close/>
              </a:path>
              <a:path w="2997200" h="3143250">
                <a:moveTo>
                  <a:pt x="1489007" y="3130385"/>
                </a:moveTo>
                <a:lnTo>
                  <a:pt x="1482657" y="3130385"/>
                </a:lnTo>
                <a:lnTo>
                  <a:pt x="1489007" y="3136735"/>
                </a:lnTo>
                <a:lnTo>
                  <a:pt x="1489007" y="3130385"/>
                </a:lnTo>
                <a:close/>
              </a:path>
              <a:path w="2997200" h="3143250">
                <a:moveTo>
                  <a:pt x="1489562" y="3130385"/>
                </a:moveTo>
                <a:lnTo>
                  <a:pt x="1489007" y="3130385"/>
                </a:lnTo>
                <a:lnTo>
                  <a:pt x="1489007" y="3136735"/>
                </a:lnTo>
                <a:lnTo>
                  <a:pt x="1492406" y="3136735"/>
                </a:lnTo>
                <a:lnTo>
                  <a:pt x="1492406" y="3133228"/>
                </a:lnTo>
                <a:lnTo>
                  <a:pt x="1489562" y="3130385"/>
                </a:lnTo>
                <a:close/>
              </a:path>
              <a:path w="2997200" h="3143250">
                <a:moveTo>
                  <a:pt x="1578462" y="3130385"/>
                </a:moveTo>
                <a:lnTo>
                  <a:pt x="1533348" y="3130385"/>
                </a:lnTo>
                <a:lnTo>
                  <a:pt x="1530506" y="3133228"/>
                </a:lnTo>
                <a:lnTo>
                  <a:pt x="1530506" y="3140242"/>
                </a:lnTo>
                <a:lnTo>
                  <a:pt x="1533348" y="3143085"/>
                </a:lnTo>
                <a:lnTo>
                  <a:pt x="1578462" y="3143085"/>
                </a:lnTo>
                <a:lnTo>
                  <a:pt x="1581306" y="3140242"/>
                </a:lnTo>
                <a:lnTo>
                  <a:pt x="1581306" y="3133228"/>
                </a:lnTo>
                <a:lnTo>
                  <a:pt x="1578462" y="3130385"/>
                </a:lnTo>
                <a:close/>
              </a:path>
              <a:path w="2997200" h="3143250">
                <a:moveTo>
                  <a:pt x="1667362" y="3130385"/>
                </a:moveTo>
                <a:lnTo>
                  <a:pt x="1622248" y="3130385"/>
                </a:lnTo>
                <a:lnTo>
                  <a:pt x="1619406" y="3133228"/>
                </a:lnTo>
                <a:lnTo>
                  <a:pt x="1619406" y="3140242"/>
                </a:lnTo>
                <a:lnTo>
                  <a:pt x="1622248" y="3143085"/>
                </a:lnTo>
                <a:lnTo>
                  <a:pt x="1667362" y="3143085"/>
                </a:lnTo>
                <a:lnTo>
                  <a:pt x="1670206" y="3140242"/>
                </a:lnTo>
                <a:lnTo>
                  <a:pt x="1670206" y="3133228"/>
                </a:lnTo>
                <a:lnTo>
                  <a:pt x="1667362" y="3130385"/>
                </a:lnTo>
                <a:close/>
              </a:path>
              <a:path w="2997200" h="3143250">
                <a:moveTo>
                  <a:pt x="1756262" y="3130385"/>
                </a:moveTo>
                <a:lnTo>
                  <a:pt x="1711148" y="3130385"/>
                </a:lnTo>
                <a:lnTo>
                  <a:pt x="1708306" y="3133228"/>
                </a:lnTo>
                <a:lnTo>
                  <a:pt x="1708306" y="3140242"/>
                </a:lnTo>
                <a:lnTo>
                  <a:pt x="1711148" y="3143085"/>
                </a:lnTo>
                <a:lnTo>
                  <a:pt x="1756262" y="3143085"/>
                </a:lnTo>
                <a:lnTo>
                  <a:pt x="1759106" y="3140242"/>
                </a:lnTo>
                <a:lnTo>
                  <a:pt x="1759106" y="3133228"/>
                </a:lnTo>
                <a:lnTo>
                  <a:pt x="1756262" y="3130385"/>
                </a:lnTo>
                <a:close/>
              </a:path>
              <a:path w="2997200" h="3143250">
                <a:moveTo>
                  <a:pt x="1845162" y="3130385"/>
                </a:moveTo>
                <a:lnTo>
                  <a:pt x="1800048" y="3130385"/>
                </a:lnTo>
                <a:lnTo>
                  <a:pt x="1797206" y="3133228"/>
                </a:lnTo>
                <a:lnTo>
                  <a:pt x="1797206" y="3140242"/>
                </a:lnTo>
                <a:lnTo>
                  <a:pt x="1800048" y="3143085"/>
                </a:lnTo>
                <a:lnTo>
                  <a:pt x="1845162" y="3143085"/>
                </a:lnTo>
                <a:lnTo>
                  <a:pt x="1848006" y="3140242"/>
                </a:lnTo>
                <a:lnTo>
                  <a:pt x="1848006" y="3133228"/>
                </a:lnTo>
                <a:lnTo>
                  <a:pt x="1845162" y="3130385"/>
                </a:lnTo>
                <a:close/>
              </a:path>
              <a:path w="2997200" h="3143250">
                <a:moveTo>
                  <a:pt x="1934062" y="3130385"/>
                </a:moveTo>
                <a:lnTo>
                  <a:pt x="1888948" y="3130385"/>
                </a:lnTo>
                <a:lnTo>
                  <a:pt x="1886106" y="3133228"/>
                </a:lnTo>
                <a:lnTo>
                  <a:pt x="1886106" y="3140242"/>
                </a:lnTo>
                <a:lnTo>
                  <a:pt x="1888948" y="3143085"/>
                </a:lnTo>
                <a:lnTo>
                  <a:pt x="1934062" y="3143085"/>
                </a:lnTo>
                <a:lnTo>
                  <a:pt x="1936906" y="3140242"/>
                </a:lnTo>
                <a:lnTo>
                  <a:pt x="1936906" y="3133228"/>
                </a:lnTo>
                <a:lnTo>
                  <a:pt x="1934062" y="3130385"/>
                </a:lnTo>
                <a:close/>
              </a:path>
              <a:path w="2997200" h="3143250">
                <a:moveTo>
                  <a:pt x="2022962" y="3130385"/>
                </a:moveTo>
                <a:lnTo>
                  <a:pt x="1977848" y="3130385"/>
                </a:lnTo>
                <a:lnTo>
                  <a:pt x="1975006" y="3133228"/>
                </a:lnTo>
                <a:lnTo>
                  <a:pt x="1975006" y="3140242"/>
                </a:lnTo>
                <a:lnTo>
                  <a:pt x="1977848" y="3143085"/>
                </a:lnTo>
                <a:lnTo>
                  <a:pt x="2022962" y="3143085"/>
                </a:lnTo>
                <a:lnTo>
                  <a:pt x="2025806" y="3140242"/>
                </a:lnTo>
                <a:lnTo>
                  <a:pt x="2025806" y="3133228"/>
                </a:lnTo>
                <a:lnTo>
                  <a:pt x="2022962" y="3130385"/>
                </a:lnTo>
                <a:close/>
              </a:path>
              <a:path w="2997200" h="3143250">
                <a:moveTo>
                  <a:pt x="2111862" y="3130385"/>
                </a:moveTo>
                <a:lnTo>
                  <a:pt x="2066748" y="3130385"/>
                </a:lnTo>
                <a:lnTo>
                  <a:pt x="2063906" y="3133228"/>
                </a:lnTo>
                <a:lnTo>
                  <a:pt x="2063906" y="3140242"/>
                </a:lnTo>
                <a:lnTo>
                  <a:pt x="2066748" y="3143085"/>
                </a:lnTo>
                <a:lnTo>
                  <a:pt x="2111862" y="3143085"/>
                </a:lnTo>
                <a:lnTo>
                  <a:pt x="2114706" y="3140242"/>
                </a:lnTo>
                <a:lnTo>
                  <a:pt x="2114706" y="3133228"/>
                </a:lnTo>
                <a:lnTo>
                  <a:pt x="2111862" y="3130385"/>
                </a:lnTo>
                <a:close/>
              </a:path>
              <a:path w="2997200" h="3143250">
                <a:moveTo>
                  <a:pt x="2200762" y="3130385"/>
                </a:moveTo>
                <a:lnTo>
                  <a:pt x="2155648" y="3130385"/>
                </a:lnTo>
                <a:lnTo>
                  <a:pt x="2152806" y="3133228"/>
                </a:lnTo>
                <a:lnTo>
                  <a:pt x="2152806" y="3140242"/>
                </a:lnTo>
                <a:lnTo>
                  <a:pt x="2155648" y="3143085"/>
                </a:lnTo>
                <a:lnTo>
                  <a:pt x="2200762" y="3143085"/>
                </a:lnTo>
                <a:lnTo>
                  <a:pt x="2203606" y="3140242"/>
                </a:lnTo>
                <a:lnTo>
                  <a:pt x="2203606" y="3133228"/>
                </a:lnTo>
                <a:lnTo>
                  <a:pt x="2200762" y="3130385"/>
                </a:lnTo>
                <a:close/>
              </a:path>
              <a:path w="2997200" h="3143250">
                <a:moveTo>
                  <a:pt x="2289662" y="3130385"/>
                </a:moveTo>
                <a:lnTo>
                  <a:pt x="2244548" y="3130385"/>
                </a:lnTo>
                <a:lnTo>
                  <a:pt x="2241706" y="3133228"/>
                </a:lnTo>
                <a:lnTo>
                  <a:pt x="2241706" y="3140242"/>
                </a:lnTo>
                <a:lnTo>
                  <a:pt x="2244548" y="3143085"/>
                </a:lnTo>
                <a:lnTo>
                  <a:pt x="2289662" y="3143085"/>
                </a:lnTo>
                <a:lnTo>
                  <a:pt x="2292506" y="3140242"/>
                </a:lnTo>
                <a:lnTo>
                  <a:pt x="2292506" y="3133228"/>
                </a:lnTo>
                <a:lnTo>
                  <a:pt x="2289662" y="3130385"/>
                </a:lnTo>
                <a:close/>
              </a:path>
              <a:path w="2997200" h="3143250">
                <a:moveTo>
                  <a:pt x="2378562" y="3130385"/>
                </a:moveTo>
                <a:lnTo>
                  <a:pt x="2333448" y="3130385"/>
                </a:lnTo>
                <a:lnTo>
                  <a:pt x="2330606" y="3133228"/>
                </a:lnTo>
                <a:lnTo>
                  <a:pt x="2330606" y="3140242"/>
                </a:lnTo>
                <a:lnTo>
                  <a:pt x="2333448" y="3143085"/>
                </a:lnTo>
                <a:lnTo>
                  <a:pt x="2378562" y="3143085"/>
                </a:lnTo>
                <a:lnTo>
                  <a:pt x="2381406" y="3140242"/>
                </a:lnTo>
                <a:lnTo>
                  <a:pt x="2381406" y="3133228"/>
                </a:lnTo>
                <a:lnTo>
                  <a:pt x="2378562" y="3130385"/>
                </a:lnTo>
                <a:close/>
              </a:path>
              <a:path w="2997200" h="3143250">
                <a:moveTo>
                  <a:pt x="2467462" y="3130385"/>
                </a:moveTo>
                <a:lnTo>
                  <a:pt x="2422348" y="3130385"/>
                </a:lnTo>
                <a:lnTo>
                  <a:pt x="2419506" y="3133228"/>
                </a:lnTo>
                <a:lnTo>
                  <a:pt x="2419506" y="3140242"/>
                </a:lnTo>
                <a:lnTo>
                  <a:pt x="2422348" y="3143085"/>
                </a:lnTo>
                <a:lnTo>
                  <a:pt x="2467462" y="3143085"/>
                </a:lnTo>
                <a:lnTo>
                  <a:pt x="2470306" y="3140242"/>
                </a:lnTo>
                <a:lnTo>
                  <a:pt x="2470306" y="3133228"/>
                </a:lnTo>
                <a:lnTo>
                  <a:pt x="2467462" y="3130385"/>
                </a:lnTo>
                <a:close/>
              </a:path>
              <a:path w="2997200" h="3143250">
                <a:moveTo>
                  <a:pt x="2556362" y="3130385"/>
                </a:moveTo>
                <a:lnTo>
                  <a:pt x="2511248" y="3130385"/>
                </a:lnTo>
                <a:lnTo>
                  <a:pt x="2508406" y="3133228"/>
                </a:lnTo>
                <a:lnTo>
                  <a:pt x="2508406" y="3140242"/>
                </a:lnTo>
                <a:lnTo>
                  <a:pt x="2511248" y="3143085"/>
                </a:lnTo>
                <a:lnTo>
                  <a:pt x="2556362" y="3143085"/>
                </a:lnTo>
                <a:lnTo>
                  <a:pt x="2559206" y="3140242"/>
                </a:lnTo>
                <a:lnTo>
                  <a:pt x="2559206" y="3133228"/>
                </a:lnTo>
                <a:lnTo>
                  <a:pt x="2556362" y="3130385"/>
                </a:lnTo>
                <a:close/>
              </a:path>
              <a:path w="2997200" h="3143250">
                <a:moveTo>
                  <a:pt x="2645262" y="3130385"/>
                </a:moveTo>
                <a:lnTo>
                  <a:pt x="2600148" y="3130385"/>
                </a:lnTo>
                <a:lnTo>
                  <a:pt x="2597306" y="3133228"/>
                </a:lnTo>
                <a:lnTo>
                  <a:pt x="2597306" y="3140242"/>
                </a:lnTo>
                <a:lnTo>
                  <a:pt x="2600148" y="3143085"/>
                </a:lnTo>
                <a:lnTo>
                  <a:pt x="2645262" y="3143085"/>
                </a:lnTo>
                <a:lnTo>
                  <a:pt x="2648106" y="3140242"/>
                </a:lnTo>
                <a:lnTo>
                  <a:pt x="2648106" y="3133228"/>
                </a:lnTo>
                <a:lnTo>
                  <a:pt x="2645262" y="3130385"/>
                </a:lnTo>
                <a:close/>
              </a:path>
              <a:path w="2997200" h="3143250">
                <a:moveTo>
                  <a:pt x="2734162" y="3130385"/>
                </a:moveTo>
                <a:lnTo>
                  <a:pt x="2689048" y="3130385"/>
                </a:lnTo>
                <a:lnTo>
                  <a:pt x="2686206" y="3133228"/>
                </a:lnTo>
                <a:lnTo>
                  <a:pt x="2686206" y="3140242"/>
                </a:lnTo>
                <a:lnTo>
                  <a:pt x="2689048" y="3143085"/>
                </a:lnTo>
                <a:lnTo>
                  <a:pt x="2734162" y="3143085"/>
                </a:lnTo>
                <a:lnTo>
                  <a:pt x="2737006" y="3140242"/>
                </a:lnTo>
                <a:lnTo>
                  <a:pt x="2737006" y="3133228"/>
                </a:lnTo>
                <a:lnTo>
                  <a:pt x="2734162" y="3130385"/>
                </a:lnTo>
                <a:close/>
              </a:path>
              <a:path w="2997200" h="3143250">
                <a:moveTo>
                  <a:pt x="2823062" y="3130385"/>
                </a:moveTo>
                <a:lnTo>
                  <a:pt x="2777948" y="3130385"/>
                </a:lnTo>
                <a:lnTo>
                  <a:pt x="2775106" y="3133228"/>
                </a:lnTo>
                <a:lnTo>
                  <a:pt x="2775106" y="3140242"/>
                </a:lnTo>
                <a:lnTo>
                  <a:pt x="2777948" y="3143085"/>
                </a:lnTo>
                <a:lnTo>
                  <a:pt x="2823062" y="3143085"/>
                </a:lnTo>
                <a:lnTo>
                  <a:pt x="2825906" y="3140242"/>
                </a:lnTo>
                <a:lnTo>
                  <a:pt x="2825906" y="3133228"/>
                </a:lnTo>
                <a:lnTo>
                  <a:pt x="2823062" y="3130385"/>
                </a:lnTo>
                <a:close/>
              </a:path>
              <a:path w="2997200" h="3143250">
                <a:moveTo>
                  <a:pt x="2911962" y="3130385"/>
                </a:moveTo>
                <a:lnTo>
                  <a:pt x="2866848" y="3130385"/>
                </a:lnTo>
                <a:lnTo>
                  <a:pt x="2864006" y="3133228"/>
                </a:lnTo>
                <a:lnTo>
                  <a:pt x="2864006" y="3140242"/>
                </a:lnTo>
                <a:lnTo>
                  <a:pt x="2866848" y="3143085"/>
                </a:lnTo>
                <a:lnTo>
                  <a:pt x="2911962" y="3143085"/>
                </a:lnTo>
                <a:lnTo>
                  <a:pt x="2914806" y="3140242"/>
                </a:lnTo>
                <a:lnTo>
                  <a:pt x="2914806" y="3133228"/>
                </a:lnTo>
                <a:lnTo>
                  <a:pt x="2911962" y="3130385"/>
                </a:lnTo>
                <a:close/>
              </a:path>
              <a:path w="2997200" h="3143250">
                <a:moveTo>
                  <a:pt x="2962470" y="3091994"/>
                </a:moveTo>
                <a:lnTo>
                  <a:pt x="2955457" y="3091994"/>
                </a:lnTo>
                <a:lnTo>
                  <a:pt x="2952614" y="3094837"/>
                </a:lnTo>
                <a:lnTo>
                  <a:pt x="2952614" y="3139951"/>
                </a:lnTo>
                <a:lnTo>
                  <a:pt x="2955457" y="3142794"/>
                </a:lnTo>
                <a:lnTo>
                  <a:pt x="2962470" y="3142794"/>
                </a:lnTo>
                <a:lnTo>
                  <a:pt x="2965314" y="3139951"/>
                </a:lnTo>
                <a:lnTo>
                  <a:pt x="2965314" y="3094837"/>
                </a:lnTo>
                <a:lnTo>
                  <a:pt x="2962470" y="3091994"/>
                </a:lnTo>
                <a:close/>
              </a:path>
              <a:path w="2997200" h="3143250">
                <a:moveTo>
                  <a:pt x="2962470" y="3003094"/>
                </a:moveTo>
                <a:lnTo>
                  <a:pt x="2955457" y="3003094"/>
                </a:lnTo>
                <a:lnTo>
                  <a:pt x="2952614" y="3005937"/>
                </a:lnTo>
                <a:lnTo>
                  <a:pt x="2952614" y="3051051"/>
                </a:lnTo>
                <a:lnTo>
                  <a:pt x="2955457" y="3053894"/>
                </a:lnTo>
                <a:lnTo>
                  <a:pt x="2962470" y="3053894"/>
                </a:lnTo>
                <a:lnTo>
                  <a:pt x="2965314" y="3051051"/>
                </a:lnTo>
                <a:lnTo>
                  <a:pt x="2965314" y="3005937"/>
                </a:lnTo>
                <a:lnTo>
                  <a:pt x="2962470" y="3003094"/>
                </a:lnTo>
                <a:close/>
              </a:path>
              <a:path w="2997200" h="3143250">
                <a:moveTo>
                  <a:pt x="2958964" y="2908127"/>
                </a:moveTo>
                <a:lnTo>
                  <a:pt x="2920864" y="2984327"/>
                </a:lnTo>
                <a:lnTo>
                  <a:pt x="2997064" y="2984327"/>
                </a:lnTo>
                <a:lnTo>
                  <a:pt x="2958964" y="2908127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1653688" y="3498856"/>
            <a:ext cx="3034665" cy="2110740"/>
          </a:xfrm>
          <a:custGeom>
            <a:avLst/>
            <a:gdLst/>
            <a:ahLst/>
            <a:cxnLst/>
            <a:rect l="l" t="t" r="r" b="b"/>
            <a:pathLst>
              <a:path w="3034665" h="2110740">
                <a:moveTo>
                  <a:pt x="9857" y="190493"/>
                </a:moveTo>
                <a:lnTo>
                  <a:pt x="2843" y="190493"/>
                </a:lnTo>
                <a:lnTo>
                  <a:pt x="0" y="193337"/>
                </a:lnTo>
                <a:lnTo>
                  <a:pt x="0" y="238450"/>
                </a:lnTo>
                <a:lnTo>
                  <a:pt x="2843" y="241293"/>
                </a:lnTo>
                <a:lnTo>
                  <a:pt x="9857" y="241293"/>
                </a:lnTo>
                <a:lnTo>
                  <a:pt x="12700" y="238450"/>
                </a:lnTo>
                <a:lnTo>
                  <a:pt x="12700" y="193337"/>
                </a:lnTo>
                <a:lnTo>
                  <a:pt x="9857" y="190493"/>
                </a:lnTo>
                <a:close/>
              </a:path>
              <a:path w="3034665" h="2110740">
                <a:moveTo>
                  <a:pt x="9857" y="101593"/>
                </a:moveTo>
                <a:lnTo>
                  <a:pt x="2843" y="101593"/>
                </a:lnTo>
                <a:lnTo>
                  <a:pt x="0" y="104437"/>
                </a:lnTo>
                <a:lnTo>
                  <a:pt x="0" y="149550"/>
                </a:lnTo>
                <a:lnTo>
                  <a:pt x="2843" y="152393"/>
                </a:lnTo>
                <a:lnTo>
                  <a:pt x="9857" y="152393"/>
                </a:lnTo>
                <a:lnTo>
                  <a:pt x="12700" y="149550"/>
                </a:lnTo>
                <a:lnTo>
                  <a:pt x="12700" y="104437"/>
                </a:lnTo>
                <a:lnTo>
                  <a:pt x="9857" y="101593"/>
                </a:lnTo>
                <a:close/>
              </a:path>
              <a:path w="3034665" h="2110740">
                <a:moveTo>
                  <a:pt x="9857" y="12693"/>
                </a:moveTo>
                <a:lnTo>
                  <a:pt x="2843" y="12693"/>
                </a:lnTo>
                <a:lnTo>
                  <a:pt x="0" y="15537"/>
                </a:lnTo>
                <a:lnTo>
                  <a:pt x="0" y="60650"/>
                </a:lnTo>
                <a:lnTo>
                  <a:pt x="2843" y="63493"/>
                </a:lnTo>
                <a:lnTo>
                  <a:pt x="9857" y="63493"/>
                </a:lnTo>
                <a:lnTo>
                  <a:pt x="12700" y="60650"/>
                </a:lnTo>
                <a:lnTo>
                  <a:pt x="12700" y="15537"/>
                </a:lnTo>
                <a:lnTo>
                  <a:pt x="9857" y="12693"/>
                </a:lnTo>
                <a:close/>
              </a:path>
              <a:path w="3034665" h="2110740">
                <a:moveTo>
                  <a:pt x="86062" y="0"/>
                </a:moveTo>
                <a:lnTo>
                  <a:pt x="40949" y="0"/>
                </a:lnTo>
                <a:lnTo>
                  <a:pt x="38106" y="2842"/>
                </a:lnTo>
                <a:lnTo>
                  <a:pt x="38106" y="9856"/>
                </a:lnTo>
                <a:lnTo>
                  <a:pt x="40949" y="12700"/>
                </a:lnTo>
                <a:lnTo>
                  <a:pt x="86062" y="12700"/>
                </a:lnTo>
                <a:lnTo>
                  <a:pt x="88906" y="9856"/>
                </a:lnTo>
                <a:lnTo>
                  <a:pt x="88906" y="2842"/>
                </a:lnTo>
                <a:lnTo>
                  <a:pt x="86062" y="0"/>
                </a:lnTo>
                <a:close/>
              </a:path>
              <a:path w="3034665" h="2110740">
                <a:moveTo>
                  <a:pt x="174962" y="0"/>
                </a:moveTo>
                <a:lnTo>
                  <a:pt x="129849" y="0"/>
                </a:lnTo>
                <a:lnTo>
                  <a:pt x="127006" y="2842"/>
                </a:lnTo>
                <a:lnTo>
                  <a:pt x="127006" y="9856"/>
                </a:lnTo>
                <a:lnTo>
                  <a:pt x="129849" y="12700"/>
                </a:lnTo>
                <a:lnTo>
                  <a:pt x="174962" y="12700"/>
                </a:lnTo>
                <a:lnTo>
                  <a:pt x="177806" y="9856"/>
                </a:lnTo>
                <a:lnTo>
                  <a:pt x="177806" y="2842"/>
                </a:lnTo>
                <a:lnTo>
                  <a:pt x="174962" y="0"/>
                </a:lnTo>
                <a:close/>
              </a:path>
              <a:path w="3034665" h="2110740">
                <a:moveTo>
                  <a:pt x="263862" y="0"/>
                </a:moveTo>
                <a:lnTo>
                  <a:pt x="218748" y="0"/>
                </a:lnTo>
                <a:lnTo>
                  <a:pt x="215906" y="2842"/>
                </a:lnTo>
                <a:lnTo>
                  <a:pt x="215906" y="9856"/>
                </a:lnTo>
                <a:lnTo>
                  <a:pt x="218748" y="12700"/>
                </a:lnTo>
                <a:lnTo>
                  <a:pt x="263862" y="12700"/>
                </a:lnTo>
                <a:lnTo>
                  <a:pt x="266706" y="9856"/>
                </a:lnTo>
                <a:lnTo>
                  <a:pt x="266706" y="2842"/>
                </a:lnTo>
                <a:lnTo>
                  <a:pt x="263862" y="0"/>
                </a:lnTo>
                <a:close/>
              </a:path>
              <a:path w="3034665" h="2110740">
                <a:moveTo>
                  <a:pt x="352762" y="0"/>
                </a:moveTo>
                <a:lnTo>
                  <a:pt x="307649" y="0"/>
                </a:lnTo>
                <a:lnTo>
                  <a:pt x="304806" y="2842"/>
                </a:lnTo>
                <a:lnTo>
                  <a:pt x="304806" y="9856"/>
                </a:lnTo>
                <a:lnTo>
                  <a:pt x="307649" y="12700"/>
                </a:lnTo>
                <a:lnTo>
                  <a:pt x="352762" y="12700"/>
                </a:lnTo>
                <a:lnTo>
                  <a:pt x="355606" y="9856"/>
                </a:lnTo>
                <a:lnTo>
                  <a:pt x="355606" y="2842"/>
                </a:lnTo>
                <a:lnTo>
                  <a:pt x="352762" y="0"/>
                </a:lnTo>
                <a:close/>
              </a:path>
              <a:path w="3034665" h="2110740">
                <a:moveTo>
                  <a:pt x="441662" y="0"/>
                </a:moveTo>
                <a:lnTo>
                  <a:pt x="396549" y="0"/>
                </a:lnTo>
                <a:lnTo>
                  <a:pt x="393706" y="2842"/>
                </a:lnTo>
                <a:lnTo>
                  <a:pt x="393706" y="9856"/>
                </a:lnTo>
                <a:lnTo>
                  <a:pt x="396549" y="12700"/>
                </a:lnTo>
                <a:lnTo>
                  <a:pt x="441662" y="12700"/>
                </a:lnTo>
                <a:lnTo>
                  <a:pt x="444506" y="9856"/>
                </a:lnTo>
                <a:lnTo>
                  <a:pt x="444506" y="2842"/>
                </a:lnTo>
                <a:lnTo>
                  <a:pt x="441662" y="0"/>
                </a:lnTo>
                <a:close/>
              </a:path>
              <a:path w="3034665" h="2110740">
                <a:moveTo>
                  <a:pt x="530562" y="0"/>
                </a:moveTo>
                <a:lnTo>
                  <a:pt x="485449" y="0"/>
                </a:lnTo>
                <a:lnTo>
                  <a:pt x="482606" y="2842"/>
                </a:lnTo>
                <a:lnTo>
                  <a:pt x="482606" y="9856"/>
                </a:lnTo>
                <a:lnTo>
                  <a:pt x="485449" y="12700"/>
                </a:lnTo>
                <a:lnTo>
                  <a:pt x="530562" y="12700"/>
                </a:lnTo>
                <a:lnTo>
                  <a:pt x="533406" y="9856"/>
                </a:lnTo>
                <a:lnTo>
                  <a:pt x="533406" y="2842"/>
                </a:lnTo>
                <a:lnTo>
                  <a:pt x="530562" y="0"/>
                </a:lnTo>
                <a:close/>
              </a:path>
              <a:path w="3034665" h="2110740">
                <a:moveTo>
                  <a:pt x="619462" y="0"/>
                </a:moveTo>
                <a:lnTo>
                  <a:pt x="574349" y="0"/>
                </a:lnTo>
                <a:lnTo>
                  <a:pt x="571506" y="2842"/>
                </a:lnTo>
                <a:lnTo>
                  <a:pt x="571506" y="9856"/>
                </a:lnTo>
                <a:lnTo>
                  <a:pt x="574349" y="12700"/>
                </a:lnTo>
                <a:lnTo>
                  <a:pt x="619462" y="12700"/>
                </a:lnTo>
                <a:lnTo>
                  <a:pt x="622306" y="9856"/>
                </a:lnTo>
                <a:lnTo>
                  <a:pt x="622306" y="2842"/>
                </a:lnTo>
                <a:lnTo>
                  <a:pt x="619462" y="0"/>
                </a:lnTo>
                <a:close/>
              </a:path>
              <a:path w="3034665" h="2110740">
                <a:moveTo>
                  <a:pt x="708362" y="0"/>
                </a:moveTo>
                <a:lnTo>
                  <a:pt x="663249" y="0"/>
                </a:lnTo>
                <a:lnTo>
                  <a:pt x="660406" y="2842"/>
                </a:lnTo>
                <a:lnTo>
                  <a:pt x="660406" y="9856"/>
                </a:lnTo>
                <a:lnTo>
                  <a:pt x="663249" y="12700"/>
                </a:lnTo>
                <a:lnTo>
                  <a:pt x="708362" y="12700"/>
                </a:lnTo>
                <a:lnTo>
                  <a:pt x="711206" y="9856"/>
                </a:lnTo>
                <a:lnTo>
                  <a:pt x="711206" y="2842"/>
                </a:lnTo>
                <a:lnTo>
                  <a:pt x="708362" y="0"/>
                </a:lnTo>
                <a:close/>
              </a:path>
              <a:path w="3034665" h="2110740">
                <a:moveTo>
                  <a:pt x="797262" y="0"/>
                </a:moveTo>
                <a:lnTo>
                  <a:pt x="752148" y="0"/>
                </a:lnTo>
                <a:lnTo>
                  <a:pt x="749306" y="2842"/>
                </a:lnTo>
                <a:lnTo>
                  <a:pt x="749306" y="9856"/>
                </a:lnTo>
                <a:lnTo>
                  <a:pt x="752148" y="12700"/>
                </a:lnTo>
                <a:lnTo>
                  <a:pt x="797262" y="12700"/>
                </a:lnTo>
                <a:lnTo>
                  <a:pt x="800106" y="9856"/>
                </a:lnTo>
                <a:lnTo>
                  <a:pt x="800106" y="2842"/>
                </a:lnTo>
                <a:lnTo>
                  <a:pt x="797262" y="0"/>
                </a:lnTo>
                <a:close/>
              </a:path>
              <a:path w="3034665" h="2110740">
                <a:moveTo>
                  <a:pt x="886162" y="0"/>
                </a:moveTo>
                <a:lnTo>
                  <a:pt x="841048" y="0"/>
                </a:lnTo>
                <a:lnTo>
                  <a:pt x="838206" y="2842"/>
                </a:lnTo>
                <a:lnTo>
                  <a:pt x="838206" y="9856"/>
                </a:lnTo>
                <a:lnTo>
                  <a:pt x="841048" y="12700"/>
                </a:lnTo>
                <a:lnTo>
                  <a:pt x="886162" y="12700"/>
                </a:lnTo>
                <a:lnTo>
                  <a:pt x="889006" y="9856"/>
                </a:lnTo>
                <a:lnTo>
                  <a:pt x="889006" y="2842"/>
                </a:lnTo>
                <a:lnTo>
                  <a:pt x="886162" y="0"/>
                </a:lnTo>
                <a:close/>
              </a:path>
              <a:path w="3034665" h="2110740">
                <a:moveTo>
                  <a:pt x="975062" y="0"/>
                </a:moveTo>
                <a:lnTo>
                  <a:pt x="929948" y="0"/>
                </a:lnTo>
                <a:lnTo>
                  <a:pt x="927106" y="2842"/>
                </a:lnTo>
                <a:lnTo>
                  <a:pt x="927106" y="9856"/>
                </a:lnTo>
                <a:lnTo>
                  <a:pt x="929948" y="12700"/>
                </a:lnTo>
                <a:lnTo>
                  <a:pt x="975062" y="12700"/>
                </a:lnTo>
                <a:lnTo>
                  <a:pt x="977906" y="9856"/>
                </a:lnTo>
                <a:lnTo>
                  <a:pt x="977906" y="2842"/>
                </a:lnTo>
                <a:lnTo>
                  <a:pt x="975062" y="0"/>
                </a:lnTo>
                <a:close/>
              </a:path>
              <a:path w="3034665" h="2110740">
                <a:moveTo>
                  <a:pt x="1063962" y="0"/>
                </a:moveTo>
                <a:lnTo>
                  <a:pt x="1018848" y="0"/>
                </a:lnTo>
                <a:lnTo>
                  <a:pt x="1016006" y="2842"/>
                </a:lnTo>
                <a:lnTo>
                  <a:pt x="1016006" y="9856"/>
                </a:lnTo>
                <a:lnTo>
                  <a:pt x="1018848" y="12700"/>
                </a:lnTo>
                <a:lnTo>
                  <a:pt x="1063962" y="12700"/>
                </a:lnTo>
                <a:lnTo>
                  <a:pt x="1066806" y="9856"/>
                </a:lnTo>
                <a:lnTo>
                  <a:pt x="1066806" y="2842"/>
                </a:lnTo>
                <a:lnTo>
                  <a:pt x="1063962" y="0"/>
                </a:lnTo>
                <a:close/>
              </a:path>
              <a:path w="3034665" h="2110740">
                <a:moveTo>
                  <a:pt x="1152862" y="0"/>
                </a:moveTo>
                <a:lnTo>
                  <a:pt x="1107749" y="0"/>
                </a:lnTo>
                <a:lnTo>
                  <a:pt x="1104906" y="2842"/>
                </a:lnTo>
                <a:lnTo>
                  <a:pt x="1104906" y="9856"/>
                </a:lnTo>
                <a:lnTo>
                  <a:pt x="1107749" y="12700"/>
                </a:lnTo>
                <a:lnTo>
                  <a:pt x="1152862" y="12700"/>
                </a:lnTo>
                <a:lnTo>
                  <a:pt x="1155706" y="9856"/>
                </a:lnTo>
                <a:lnTo>
                  <a:pt x="1155706" y="2842"/>
                </a:lnTo>
                <a:lnTo>
                  <a:pt x="1152862" y="0"/>
                </a:lnTo>
                <a:close/>
              </a:path>
              <a:path w="3034665" h="2110740">
                <a:moveTo>
                  <a:pt x="1241762" y="0"/>
                </a:moveTo>
                <a:lnTo>
                  <a:pt x="1196649" y="0"/>
                </a:lnTo>
                <a:lnTo>
                  <a:pt x="1193806" y="2842"/>
                </a:lnTo>
                <a:lnTo>
                  <a:pt x="1193806" y="9856"/>
                </a:lnTo>
                <a:lnTo>
                  <a:pt x="1196649" y="12700"/>
                </a:lnTo>
                <a:lnTo>
                  <a:pt x="1241762" y="12700"/>
                </a:lnTo>
                <a:lnTo>
                  <a:pt x="1244606" y="9856"/>
                </a:lnTo>
                <a:lnTo>
                  <a:pt x="1244606" y="2842"/>
                </a:lnTo>
                <a:lnTo>
                  <a:pt x="1241762" y="0"/>
                </a:lnTo>
                <a:close/>
              </a:path>
              <a:path w="3034665" h="2110740">
                <a:moveTo>
                  <a:pt x="1330662" y="0"/>
                </a:moveTo>
                <a:lnTo>
                  <a:pt x="1285549" y="0"/>
                </a:lnTo>
                <a:lnTo>
                  <a:pt x="1282706" y="2842"/>
                </a:lnTo>
                <a:lnTo>
                  <a:pt x="1282706" y="9856"/>
                </a:lnTo>
                <a:lnTo>
                  <a:pt x="1285549" y="12700"/>
                </a:lnTo>
                <a:lnTo>
                  <a:pt x="1330662" y="12700"/>
                </a:lnTo>
                <a:lnTo>
                  <a:pt x="1333506" y="9856"/>
                </a:lnTo>
                <a:lnTo>
                  <a:pt x="1333506" y="2842"/>
                </a:lnTo>
                <a:lnTo>
                  <a:pt x="1330662" y="0"/>
                </a:lnTo>
                <a:close/>
              </a:path>
              <a:path w="3034665" h="2110740">
                <a:moveTo>
                  <a:pt x="1419562" y="0"/>
                </a:moveTo>
                <a:lnTo>
                  <a:pt x="1374449" y="0"/>
                </a:lnTo>
                <a:lnTo>
                  <a:pt x="1371606" y="2842"/>
                </a:lnTo>
                <a:lnTo>
                  <a:pt x="1371606" y="9856"/>
                </a:lnTo>
                <a:lnTo>
                  <a:pt x="1374449" y="12700"/>
                </a:lnTo>
                <a:lnTo>
                  <a:pt x="1419562" y="12700"/>
                </a:lnTo>
                <a:lnTo>
                  <a:pt x="1422406" y="9856"/>
                </a:lnTo>
                <a:lnTo>
                  <a:pt x="1422406" y="2842"/>
                </a:lnTo>
                <a:lnTo>
                  <a:pt x="1419562" y="0"/>
                </a:lnTo>
                <a:close/>
              </a:path>
              <a:path w="3034665" h="2110740">
                <a:moveTo>
                  <a:pt x="1494839" y="6350"/>
                </a:moveTo>
                <a:lnTo>
                  <a:pt x="1494839" y="13623"/>
                </a:lnTo>
                <a:lnTo>
                  <a:pt x="1497683" y="16465"/>
                </a:lnTo>
                <a:lnTo>
                  <a:pt x="1504697" y="16465"/>
                </a:lnTo>
                <a:lnTo>
                  <a:pt x="1507539" y="13623"/>
                </a:lnTo>
                <a:lnTo>
                  <a:pt x="1507539" y="12700"/>
                </a:lnTo>
                <a:lnTo>
                  <a:pt x="1501189" y="12700"/>
                </a:lnTo>
                <a:lnTo>
                  <a:pt x="1494839" y="6350"/>
                </a:lnTo>
                <a:close/>
              </a:path>
              <a:path w="3034665" h="2110740">
                <a:moveTo>
                  <a:pt x="1504697" y="0"/>
                </a:moveTo>
                <a:lnTo>
                  <a:pt x="1463349" y="0"/>
                </a:lnTo>
                <a:lnTo>
                  <a:pt x="1460506" y="2842"/>
                </a:lnTo>
                <a:lnTo>
                  <a:pt x="1460506" y="9856"/>
                </a:lnTo>
                <a:lnTo>
                  <a:pt x="1463349" y="12700"/>
                </a:lnTo>
                <a:lnTo>
                  <a:pt x="1494839" y="12700"/>
                </a:lnTo>
                <a:lnTo>
                  <a:pt x="1494839" y="6350"/>
                </a:lnTo>
                <a:lnTo>
                  <a:pt x="1507539" y="6350"/>
                </a:lnTo>
                <a:lnTo>
                  <a:pt x="1507539" y="2842"/>
                </a:lnTo>
                <a:lnTo>
                  <a:pt x="1504697" y="0"/>
                </a:lnTo>
                <a:close/>
              </a:path>
              <a:path w="3034665" h="2110740">
                <a:moveTo>
                  <a:pt x="1507539" y="6350"/>
                </a:moveTo>
                <a:lnTo>
                  <a:pt x="1494839" y="6350"/>
                </a:lnTo>
                <a:lnTo>
                  <a:pt x="1501189" y="12700"/>
                </a:lnTo>
                <a:lnTo>
                  <a:pt x="1507539" y="12700"/>
                </a:lnTo>
                <a:lnTo>
                  <a:pt x="1507539" y="6350"/>
                </a:lnTo>
                <a:close/>
              </a:path>
              <a:path w="3034665" h="2110740">
                <a:moveTo>
                  <a:pt x="1504697" y="54565"/>
                </a:moveTo>
                <a:lnTo>
                  <a:pt x="1497683" y="54565"/>
                </a:lnTo>
                <a:lnTo>
                  <a:pt x="1494839" y="57409"/>
                </a:lnTo>
                <a:lnTo>
                  <a:pt x="1494839" y="102523"/>
                </a:lnTo>
                <a:lnTo>
                  <a:pt x="1497683" y="105365"/>
                </a:lnTo>
                <a:lnTo>
                  <a:pt x="1504697" y="105365"/>
                </a:lnTo>
                <a:lnTo>
                  <a:pt x="1507539" y="102523"/>
                </a:lnTo>
                <a:lnTo>
                  <a:pt x="1507539" y="57409"/>
                </a:lnTo>
                <a:lnTo>
                  <a:pt x="1504697" y="54565"/>
                </a:lnTo>
                <a:close/>
              </a:path>
              <a:path w="3034665" h="2110740">
                <a:moveTo>
                  <a:pt x="1504697" y="143465"/>
                </a:moveTo>
                <a:lnTo>
                  <a:pt x="1497683" y="143465"/>
                </a:lnTo>
                <a:lnTo>
                  <a:pt x="1494839" y="146309"/>
                </a:lnTo>
                <a:lnTo>
                  <a:pt x="1494839" y="191423"/>
                </a:lnTo>
                <a:lnTo>
                  <a:pt x="1497683" y="194265"/>
                </a:lnTo>
                <a:lnTo>
                  <a:pt x="1504697" y="194265"/>
                </a:lnTo>
                <a:lnTo>
                  <a:pt x="1507539" y="191423"/>
                </a:lnTo>
                <a:lnTo>
                  <a:pt x="1507539" y="146309"/>
                </a:lnTo>
                <a:lnTo>
                  <a:pt x="1504697" y="143465"/>
                </a:lnTo>
                <a:close/>
              </a:path>
              <a:path w="3034665" h="2110740">
                <a:moveTo>
                  <a:pt x="1504697" y="232365"/>
                </a:moveTo>
                <a:lnTo>
                  <a:pt x="1497683" y="232365"/>
                </a:lnTo>
                <a:lnTo>
                  <a:pt x="1494839" y="235209"/>
                </a:lnTo>
                <a:lnTo>
                  <a:pt x="1494839" y="280323"/>
                </a:lnTo>
                <a:lnTo>
                  <a:pt x="1497683" y="283165"/>
                </a:lnTo>
                <a:lnTo>
                  <a:pt x="1504697" y="283165"/>
                </a:lnTo>
                <a:lnTo>
                  <a:pt x="1507539" y="280323"/>
                </a:lnTo>
                <a:lnTo>
                  <a:pt x="1507539" y="235209"/>
                </a:lnTo>
                <a:lnTo>
                  <a:pt x="1504697" y="232365"/>
                </a:lnTo>
                <a:close/>
              </a:path>
              <a:path w="3034665" h="2110740">
                <a:moveTo>
                  <a:pt x="1504697" y="321265"/>
                </a:moveTo>
                <a:lnTo>
                  <a:pt x="1497683" y="321265"/>
                </a:lnTo>
                <a:lnTo>
                  <a:pt x="1494839" y="324109"/>
                </a:lnTo>
                <a:lnTo>
                  <a:pt x="1494839" y="369223"/>
                </a:lnTo>
                <a:lnTo>
                  <a:pt x="1497683" y="372065"/>
                </a:lnTo>
                <a:lnTo>
                  <a:pt x="1504697" y="372065"/>
                </a:lnTo>
                <a:lnTo>
                  <a:pt x="1507539" y="369223"/>
                </a:lnTo>
                <a:lnTo>
                  <a:pt x="1507539" y="324109"/>
                </a:lnTo>
                <a:lnTo>
                  <a:pt x="1504697" y="321265"/>
                </a:lnTo>
                <a:close/>
              </a:path>
              <a:path w="3034665" h="2110740">
                <a:moveTo>
                  <a:pt x="1504697" y="410165"/>
                </a:moveTo>
                <a:lnTo>
                  <a:pt x="1497683" y="410165"/>
                </a:lnTo>
                <a:lnTo>
                  <a:pt x="1494839" y="413009"/>
                </a:lnTo>
                <a:lnTo>
                  <a:pt x="1494839" y="458123"/>
                </a:lnTo>
                <a:lnTo>
                  <a:pt x="1497683" y="460965"/>
                </a:lnTo>
                <a:lnTo>
                  <a:pt x="1504697" y="460965"/>
                </a:lnTo>
                <a:lnTo>
                  <a:pt x="1507539" y="458123"/>
                </a:lnTo>
                <a:lnTo>
                  <a:pt x="1507539" y="413009"/>
                </a:lnTo>
                <a:lnTo>
                  <a:pt x="1504697" y="410165"/>
                </a:lnTo>
                <a:close/>
              </a:path>
              <a:path w="3034665" h="2110740">
                <a:moveTo>
                  <a:pt x="1504697" y="499065"/>
                </a:moveTo>
                <a:lnTo>
                  <a:pt x="1497683" y="499065"/>
                </a:lnTo>
                <a:lnTo>
                  <a:pt x="1494839" y="501909"/>
                </a:lnTo>
                <a:lnTo>
                  <a:pt x="1494839" y="547023"/>
                </a:lnTo>
                <a:lnTo>
                  <a:pt x="1497683" y="549865"/>
                </a:lnTo>
                <a:lnTo>
                  <a:pt x="1504697" y="549865"/>
                </a:lnTo>
                <a:lnTo>
                  <a:pt x="1507539" y="547023"/>
                </a:lnTo>
                <a:lnTo>
                  <a:pt x="1507539" y="501909"/>
                </a:lnTo>
                <a:lnTo>
                  <a:pt x="1504697" y="499065"/>
                </a:lnTo>
                <a:close/>
              </a:path>
              <a:path w="3034665" h="2110740">
                <a:moveTo>
                  <a:pt x="1504697" y="587965"/>
                </a:moveTo>
                <a:lnTo>
                  <a:pt x="1497683" y="587965"/>
                </a:lnTo>
                <a:lnTo>
                  <a:pt x="1494839" y="590809"/>
                </a:lnTo>
                <a:lnTo>
                  <a:pt x="1494839" y="635923"/>
                </a:lnTo>
                <a:lnTo>
                  <a:pt x="1497683" y="638765"/>
                </a:lnTo>
                <a:lnTo>
                  <a:pt x="1504697" y="638765"/>
                </a:lnTo>
                <a:lnTo>
                  <a:pt x="1507539" y="635923"/>
                </a:lnTo>
                <a:lnTo>
                  <a:pt x="1507539" y="590809"/>
                </a:lnTo>
                <a:lnTo>
                  <a:pt x="1504697" y="587965"/>
                </a:lnTo>
                <a:close/>
              </a:path>
              <a:path w="3034665" h="2110740">
                <a:moveTo>
                  <a:pt x="1504697" y="676865"/>
                </a:moveTo>
                <a:lnTo>
                  <a:pt x="1497683" y="676865"/>
                </a:lnTo>
                <a:lnTo>
                  <a:pt x="1494839" y="679709"/>
                </a:lnTo>
                <a:lnTo>
                  <a:pt x="1494839" y="724823"/>
                </a:lnTo>
                <a:lnTo>
                  <a:pt x="1497683" y="727665"/>
                </a:lnTo>
                <a:lnTo>
                  <a:pt x="1504697" y="727665"/>
                </a:lnTo>
                <a:lnTo>
                  <a:pt x="1507539" y="724823"/>
                </a:lnTo>
                <a:lnTo>
                  <a:pt x="1507539" y="679709"/>
                </a:lnTo>
                <a:lnTo>
                  <a:pt x="1504697" y="676865"/>
                </a:lnTo>
                <a:close/>
              </a:path>
              <a:path w="3034665" h="2110740">
                <a:moveTo>
                  <a:pt x="1504697" y="765765"/>
                </a:moveTo>
                <a:lnTo>
                  <a:pt x="1497683" y="765765"/>
                </a:lnTo>
                <a:lnTo>
                  <a:pt x="1494839" y="768609"/>
                </a:lnTo>
                <a:lnTo>
                  <a:pt x="1494839" y="813723"/>
                </a:lnTo>
                <a:lnTo>
                  <a:pt x="1497683" y="816565"/>
                </a:lnTo>
                <a:lnTo>
                  <a:pt x="1504697" y="816565"/>
                </a:lnTo>
                <a:lnTo>
                  <a:pt x="1507539" y="813723"/>
                </a:lnTo>
                <a:lnTo>
                  <a:pt x="1507539" y="768609"/>
                </a:lnTo>
                <a:lnTo>
                  <a:pt x="1504697" y="765765"/>
                </a:lnTo>
                <a:close/>
              </a:path>
              <a:path w="3034665" h="2110740">
                <a:moveTo>
                  <a:pt x="1504697" y="854665"/>
                </a:moveTo>
                <a:lnTo>
                  <a:pt x="1497683" y="854665"/>
                </a:lnTo>
                <a:lnTo>
                  <a:pt x="1494839" y="857509"/>
                </a:lnTo>
                <a:lnTo>
                  <a:pt x="1494839" y="902623"/>
                </a:lnTo>
                <a:lnTo>
                  <a:pt x="1497683" y="905465"/>
                </a:lnTo>
                <a:lnTo>
                  <a:pt x="1504697" y="905465"/>
                </a:lnTo>
                <a:lnTo>
                  <a:pt x="1507539" y="902623"/>
                </a:lnTo>
                <a:lnTo>
                  <a:pt x="1507539" y="857509"/>
                </a:lnTo>
                <a:lnTo>
                  <a:pt x="1504697" y="854665"/>
                </a:lnTo>
                <a:close/>
              </a:path>
              <a:path w="3034665" h="2110740">
                <a:moveTo>
                  <a:pt x="1504697" y="943565"/>
                </a:moveTo>
                <a:lnTo>
                  <a:pt x="1497683" y="943565"/>
                </a:lnTo>
                <a:lnTo>
                  <a:pt x="1494839" y="946409"/>
                </a:lnTo>
                <a:lnTo>
                  <a:pt x="1494839" y="991523"/>
                </a:lnTo>
                <a:lnTo>
                  <a:pt x="1497683" y="994365"/>
                </a:lnTo>
                <a:lnTo>
                  <a:pt x="1504697" y="994365"/>
                </a:lnTo>
                <a:lnTo>
                  <a:pt x="1507539" y="991523"/>
                </a:lnTo>
                <a:lnTo>
                  <a:pt x="1507539" y="946409"/>
                </a:lnTo>
                <a:lnTo>
                  <a:pt x="1504697" y="943565"/>
                </a:lnTo>
                <a:close/>
              </a:path>
              <a:path w="3034665" h="2110740">
                <a:moveTo>
                  <a:pt x="1504697" y="1032465"/>
                </a:moveTo>
                <a:lnTo>
                  <a:pt x="1497683" y="1032465"/>
                </a:lnTo>
                <a:lnTo>
                  <a:pt x="1494839" y="1035309"/>
                </a:lnTo>
                <a:lnTo>
                  <a:pt x="1494839" y="1080423"/>
                </a:lnTo>
                <a:lnTo>
                  <a:pt x="1497683" y="1083265"/>
                </a:lnTo>
                <a:lnTo>
                  <a:pt x="1504697" y="1083265"/>
                </a:lnTo>
                <a:lnTo>
                  <a:pt x="1507539" y="1080423"/>
                </a:lnTo>
                <a:lnTo>
                  <a:pt x="1507539" y="1035309"/>
                </a:lnTo>
                <a:lnTo>
                  <a:pt x="1504697" y="1032465"/>
                </a:lnTo>
                <a:close/>
              </a:path>
              <a:path w="3034665" h="2110740">
                <a:moveTo>
                  <a:pt x="1504697" y="1121365"/>
                </a:moveTo>
                <a:lnTo>
                  <a:pt x="1497683" y="1121365"/>
                </a:lnTo>
                <a:lnTo>
                  <a:pt x="1494839" y="1124209"/>
                </a:lnTo>
                <a:lnTo>
                  <a:pt x="1494839" y="1169323"/>
                </a:lnTo>
                <a:lnTo>
                  <a:pt x="1497683" y="1172165"/>
                </a:lnTo>
                <a:lnTo>
                  <a:pt x="1504697" y="1172165"/>
                </a:lnTo>
                <a:lnTo>
                  <a:pt x="1507539" y="1169323"/>
                </a:lnTo>
                <a:lnTo>
                  <a:pt x="1507539" y="1124209"/>
                </a:lnTo>
                <a:lnTo>
                  <a:pt x="1504697" y="1121365"/>
                </a:lnTo>
                <a:close/>
              </a:path>
              <a:path w="3034665" h="2110740">
                <a:moveTo>
                  <a:pt x="1504697" y="1210265"/>
                </a:moveTo>
                <a:lnTo>
                  <a:pt x="1497683" y="1210265"/>
                </a:lnTo>
                <a:lnTo>
                  <a:pt x="1494839" y="1213109"/>
                </a:lnTo>
                <a:lnTo>
                  <a:pt x="1494839" y="1258223"/>
                </a:lnTo>
                <a:lnTo>
                  <a:pt x="1497683" y="1261065"/>
                </a:lnTo>
                <a:lnTo>
                  <a:pt x="1504697" y="1261065"/>
                </a:lnTo>
                <a:lnTo>
                  <a:pt x="1507539" y="1258223"/>
                </a:lnTo>
                <a:lnTo>
                  <a:pt x="1507539" y="1213109"/>
                </a:lnTo>
                <a:lnTo>
                  <a:pt x="1504697" y="1210265"/>
                </a:lnTo>
                <a:close/>
              </a:path>
              <a:path w="3034665" h="2110740">
                <a:moveTo>
                  <a:pt x="1504697" y="1299165"/>
                </a:moveTo>
                <a:lnTo>
                  <a:pt x="1497683" y="1299165"/>
                </a:lnTo>
                <a:lnTo>
                  <a:pt x="1494839" y="1302009"/>
                </a:lnTo>
                <a:lnTo>
                  <a:pt x="1494839" y="1347123"/>
                </a:lnTo>
                <a:lnTo>
                  <a:pt x="1497683" y="1349965"/>
                </a:lnTo>
                <a:lnTo>
                  <a:pt x="1504697" y="1349965"/>
                </a:lnTo>
                <a:lnTo>
                  <a:pt x="1507539" y="1347123"/>
                </a:lnTo>
                <a:lnTo>
                  <a:pt x="1507539" y="1302009"/>
                </a:lnTo>
                <a:lnTo>
                  <a:pt x="1504697" y="1299165"/>
                </a:lnTo>
                <a:close/>
              </a:path>
              <a:path w="3034665" h="2110740">
                <a:moveTo>
                  <a:pt x="1504697" y="1388065"/>
                </a:moveTo>
                <a:lnTo>
                  <a:pt x="1497683" y="1388065"/>
                </a:lnTo>
                <a:lnTo>
                  <a:pt x="1494839" y="1390909"/>
                </a:lnTo>
                <a:lnTo>
                  <a:pt x="1494839" y="1436023"/>
                </a:lnTo>
                <a:lnTo>
                  <a:pt x="1497683" y="1438865"/>
                </a:lnTo>
                <a:lnTo>
                  <a:pt x="1504697" y="1438865"/>
                </a:lnTo>
                <a:lnTo>
                  <a:pt x="1507539" y="1436023"/>
                </a:lnTo>
                <a:lnTo>
                  <a:pt x="1507539" y="1390909"/>
                </a:lnTo>
                <a:lnTo>
                  <a:pt x="1504697" y="1388065"/>
                </a:lnTo>
                <a:close/>
              </a:path>
              <a:path w="3034665" h="2110740">
                <a:moveTo>
                  <a:pt x="1504697" y="1476965"/>
                </a:moveTo>
                <a:lnTo>
                  <a:pt x="1497683" y="1476965"/>
                </a:lnTo>
                <a:lnTo>
                  <a:pt x="1494839" y="1479809"/>
                </a:lnTo>
                <a:lnTo>
                  <a:pt x="1494839" y="1524923"/>
                </a:lnTo>
                <a:lnTo>
                  <a:pt x="1497683" y="1527765"/>
                </a:lnTo>
                <a:lnTo>
                  <a:pt x="1504697" y="1527765"/>
                </a:lnTo>
                <a:lnTo>
                  <a:pt x="1507539" y="1524923"/>
                </a:lnTo>
                <a:lnTo>
                  <a:pt x="1507539" y="1479809"/>
                </a:lnTo>
                <a:lnTo>
                  <a:pt x="1504697" y="1476965"/>
                </a:lnTo>
                <a:close/>
              </a:path>
              <a:path w="3034665" h="2110740">
                <a:moveTo>
                  <a:pt x="1504697" y="1565865"/>
                </a:moveTo>
                <a:lnTo>
                  <a:pt x="1497683" y="1565865"/>
                </a:lnTo>
                <a:lnTo>
                  <a:pt x="1494839" y="1568709"/>
                </a:lnTo>
                <a:lnTo>
                  <a:pt x="1494839" y="1613823"/>
                </a:lnTo>
                <a:lnTo>
                  <a:pt x="1497683" y="1616665"/>
                </a:lnTo>
                <a:lnTo>
                  <a:pt x="1504697" y="1616665"/>
                </a:lnTo>
                <a:lnTo>
                  <a:pt x="1507539" y="1613823"/>
                </a:lnTo>
                <a:lnTo>
                  <a:pt x="1507539" y="1568709"/>
                </a:lnTo>
                <a:lnTo>
                  <a:pt x="1504697" y="1565865"/>
                </a:lnTo>
                <a:close/>
              </a:path>
              <a:path w="3034665" h="2110740">
                <a:moveTo>
                  <a:pt x="1504697" y="1654765"/>
                </a:moveTo>
                <a:lnTo>
                  <a:pt x="1497683" y="1654765"/>
                </a:lnTo>
                <a:lnTo>
                  <a:pt x="1494839" y="1657609"/>
                </a:lnTo>
                <a:lnTo>
                  <a:pt x="1494839" y="1702723"/>
                </a:lnTo>
                <a:lnTo>
                  <a:pt x="1497683" y="1705565"/>
                </a:lnTo>
                <a:lnTo>
                  <a:pt x="1504697" y="1705565"/>
                </a:lnTo>
                <a:lnTo>
                  <a:pt x="1507539" y="1702723"/>
                </a:lnTo>
                <a:lnTo>
                  <a:pt x="1507539" y="1657609"/>
                </a:lnTo>
                <a:lnTo>
                  <a:pt x="1504697" y="1654765"/>
                </a:lnTo>
                <a:close/>
              </a:path>
              <a:path w="3034665" h="2110740">
                <a:moveTo>
                  <a:pt x="1504697" y="1743665"/>
                </a:moveTo>
                <a:lnTo>
                  <a:pt x="1497683" y="1743665"/>
                </a:lnTo>
                <a:lnTo>
                  <a:pt x="1494839" y="1746509"/>
                </a:lnTo>
                <a:lnTo>
                  <a:pt x="1494839" y="1791623"/>
                </a:lnTo>
                <a:lnTo>
                  <a:pt x="1497683" y="1794465"/>
                </a:lnTo>
                <a:lnTo>
                  <a:pt x="1504697" y="1794465"/>
                </a:lnTo>
                <a:lnTo>
                  <a:pt x="1507539" y="1791623"/>
                </a:lnTo>
                <a:lnTo>
                  <a:pt x="1507539" y="1746509"/>
                </a:lnTo>
                <a:lnTo>
                  <a:pt x="1504697" y="1743665"/>
                </a:lnTo>
                <a:close/>
              </a:path>
              <a:path w="3034665" h="2110740">
                <a:moveTo>
                  <a:pt x="1504697" y="1832565"/>
                </a:moveTo>
                <a:lnTo>
                  <a:pt x="1497683" y="1832565"/>
                </a:lnTo>
                <a:lnTo>
                  <a:pt x="1494839" y="1835409"/>
                </a:lnTo>
                <a:lnTo>
                  <a:pt x="1494839" y="1880523"/>
                </a:lnTo>
                <a:lnTo>
                  <a:pt x="1497683" y="1883365"/>
                </a:lnTo>
                <a:lnTo>
                  <a:pt x="1504697" y="1883365"/>
                </a:lnTo>
                <a:lnTo>
                  <a:pt x="1507539" y="1880523"/>
                </a:lnTo>
                <a:lnTo>
                  <a:pt x="1507539" y="1835409"/>
                </a:lnTo>
                <a:lnTo>
                  <a:pt x="1504697" y="1832565"/>
                </a:lnTo>
                <a:close/>
              </a:path>
              <a:path w="3034665" h="2110740">
                <a:moveTo>
                  <a:pt x="1504697" y="1921465"/>
                </a:moveTo>
                <a:lnTo>
                  <a:pt x="1497683" y="1921465"/>
                </a:lnTo>
                <a:lnTo>
                  <a:pt x="1494839" y="1924309"/>
                </a:lnTo>
                <a:lnTo>
                  <a:pt x="1494839" y="1969423"/>
                </a:lnTo>
                <a:lnTo>
                  <a:pt x="1497683" y="1972265"/>
                </a:lnTo>
                <a:lnTo>
                  <a:pt x="1504697" y="1972265"/>
                </a:lnTo>
                <a:lnTo>
                  <a:pt x="1507539" y="1969423"/>
                </a:lnTo>
                <a:lnTo>
                  <a:pt x="1507539" y="1924309"/>
                </a:lnTo>
                <a:lnTo>
                  <a:pt x="1504697" y="1921465"/>
                </a:lnTo>
                <a:close/>
              </a:path>
              <a:path w="3034665" h="2110740">
                <a:moveTo>
                  <a:pt x="1504697" y="2010365"/>
                </a:moveTo>
                <a:lnTo>
                  <a:pt x="1497683" y="2010365"/>
                </a:lnTo>
                <a:lnTo>
                  <a:pt x="1494839" y="2013209"/>
                </a:lnTo>
                <a:lnTo>
                  <a:pt x="1494839" y="2058323"/>
                </a:lnTo>
                <a:lnTo>
                  <a:pt x="1497683" y="2061165"/>
                </a:lnTo>
                <a:lnTo>
                  <a:pt x="1504697" y="2061165"/>
                </a:lnTo>
                <a:lnTo>
                  <a:pt x="1507539" y="2058323"/>
                </a:lnTo>
                <a:lnTo>
                  <a:pt x="1507539" y="2013209"/>
                </a:lnTo>
                <a:lnTo>
                  <a:pt x="1504697" y="2010365"/>
                </a:lnTo>
                <a:close/>
              </a:path>
              <a:path w="3034665" h="2110740">
                <a:moveTo>
                  <a:pt x="1544318" y="2097744"/>
                </a:moveTo>
                <a:lnTo>
                  <a:pt x="1499204" y="2097744"/>
                </a:lnTo>
                <a:lnTo>
                  <a:pt x="1496360" y="2100587"/>
                </a:lnTo>
                <a:lnTo>
                  <a:pt x="1496360" y="2107601"/>
                </a:lnTo>
                <a:lnTo>
                  <a:pt x="1499204" y="2110444"/>
                </a:lnTo>
                <a:lnTo>
                  <a:pt x="1544318" y="2110444"/>
                </a:lnTo>
                <a:lnTo>
                  <a:pt x="1547160" y="2107601"/>
                </a:lnTo>
                <a:lnTo>
                  <a:pt x="1547160" y="2100587"/>
                </a:lnTo>
                <a:lnTo>
                  <a:pt x="1544318" y="2097744"/>
                </a:lnTo>
                <a:close/>
              </a:path>
              <a:path w="3034665" h="2110740">
                <a:moveTo>
                  <a:pt x="1633218" y="2097744"/>
                </a:moveTo>
                <a:lnTo>
                  <a:pt x="1588104" y="2097744"/>
                </a:lnTo>
                <a:lnTo>
                  <a:pt x="1585260" y="2100587"/>
                </a:lnTo>
                <a:lnTo>
                  <a:pt x="1585260" y="2107601"/>
                </a:lnTo>
                <a:lnTo>
                  <a:pt x="1588104" y="2110444"/>
                </a:lnTo>
                <a:lnTo>
                  <a:pt x="1633218" y="2110444"/>
                </a:lnTo>
                <a:lnTo>
                  <a:pt x="1636060" y="2107601"/>
                </a:lnTo>
                <a:lnTo>
                  <a:pt x="1636060" y="2100587"/>
                </a:lnTo>
                <a:lnTo>
                  <a:pt x="1633218" y="2097744"/>
                </a:lnTo>
                <a:close/>
              </a:path>
              <a:path w="3034665" h="2110740">
                <a:moveTo>
                  <a:pt x="1722118" y="2097744"/>
                </a:moveTo>
                <a:lnTo>
                  <a:pt x="1677004" y="2097744"/>
                </a:lnTo>
                <a:lnTo>
                  <a:pt x="1674160" y="2100587"/>
                </a:lnTo>
                <a:lnTo>
                  <a:pt x="1674160" y="2107601"/>
                </a:lnTo>
                <a:lnTo>
                  <a:pt x="1677004" y="2110444"/>
                </a:lnTo>
                <a:lnTo>
                  <a:pt x="1722118" y="2110444"/>
                </a:lnTo>
                <a:lnTo>
                  <a:pt x="1724960" y="2107601"/>
                </a:lnTo>
                <a:lnTo>
                  <a:pt x="1724960" y="2100587"/>
                </a:lnTo>
                <a:lnTo>
                  <a:pt x="1722118" y="2097744"/>
                </a:lnTo>
                <a:close/>
              </a:path>
              <a:path w="3034665" h="2110740">
                <a:moveTo>
                  <a:pt x="1811018" y="2097744"/>
                </a:moveTo>
                <a:lnTo>
                  <a:pt x="1765904" y="2097744"/>
                </a:lnTo>
                <a:lnTo>
                  <a:pt x="1763060" y="2100587"/>
                </a:lnTo>
                <a:lnTo>
                  <a:pt x="1763060" y="2107601"/>
                </a:lnTo>
                <a:lnTo>
                  <a:pt x="1765904" y="2110444"/>
                </a:lnTo>
                <a:lnTo>
                  <a:pt x="1811018" y="2110444"/>
                </a:lnTo>
                <a:lnTo>
                  <a:pt x="1813860" y="2107601"/>
                </a:lnTo>
                <a:lnTo>
                  <a:pt x="1813860" y="2100587"/>
                </a:lnTo>
                <a:lnTo>
                  <a:pt x="1811018" y="2097744"/>
                </a:lnTo>
                <a:close/>
              </a:path>
              <a:path w="3034665" h="2110740">
                <a:moveTo>
                  <a:pt x="1899918" y="2097744"/>
                </a:moveTo>
                <a:lnTo>
                  <a:pt x="1854804" y="2097744"/>
                </a:lnTo>
                <a:lnTo>
                  <a:pt x="1851960" y="2100587"/>
                </a:lnTo>
                <a:lnTo>
                  <a:pt x="1851960" y="2107601"/>
                </a:lnTo>
                <a:lnTo>
                  <a:pt x="1854804" y="2110444"/>
                </a:lnTo>
                <a:lnTo>
                  <a:pt x="1899918" y="2110444"/>
                </a:lnTo>
                <a:lnTo>
                  <a:pt x="1902760" y="2107601"/>
                </a:lnTo>
                <a:lnTo>
                  <a:pt x="1902760" y="2100587"/>
                </a:lnTo>
                <a:lnTo>
                  <a:pt x="1899918" y="2097744"/>
                </a:lnTo>
                <a:close/>
              </a:path>
              <a:path w="3034665" h="2110740">
                <a:moveTo>
                  <a:pt x="1988818" y="2097744"/>
                </a:moveTo>
                <a:lnTo>
                  <a:pt x="1943704" y="2097744"/>
                </a:lnTo>
                <a:lnTo>
                  <a:pt x="1940860" y="2100587"/>
                </a:lnTo>
                <a:lnTo>
                  <a:pt x="1940860" y="2107601"/>
                </a:lnTo>
                <a:lnTo>
                  <a:pt x="1943704" y="2110444"/>
                </a:lnTo>
                <a:lnTo>
                  <a:pt x="1988818" y="2110444"/>
                </a:lnTo>
                <a:lnTo>
                  <a:pt x="1991660" y="2107601"/>
                </a:lnTo>
                <a:lnTo>
                  <a:pt x="1991660" y="2100587"/>
                </a:lnTo>
                <a:lnTo>
                  <a:pt x="1988818" y="2097744"/>
                </a:lnTo>
                <a:close/>
              </a:path>
              <a:path w="3034665" h="2110740">
                <a:moveTo>
                  <a:pt x="2077718" y="2097744"/>
                </a:moveTo>
                <a:lnTo>
                  <a:pt x="2032604" y="2097744"/>
                </a:lnTo>
                <a:lnTo>
                  <a:pt x="2029760" y="2100587"/>
                </a:lnTo>
                <a:lnTo>
                  <a:pt x="2029760" y="2107601"/>
                </a:lnTo>
                <a:lnTo>
                  <a:pt x="2032604" y="2110444"/>
                </a:lnTo>
                <a:lnTo>
                  <a:pt x="2077718" y="2110444"/>
                </a:lnTo>
                <a:lnTo>
                  <a:pt x="2080560" y="2107601"/>
                </a:lnTo>
                <a:lnTo>
                  <a:pt x="2080560" y="2100587"/>
                </a:lnTo>
                <a:lnTo>
                  <a:pt x="2077718" y="2097744"/>
                </a:lnTo>
                <a:close/>
              </a:path>
              <a:path w="3034665" h="2110740">
                <a:moveTo>
                  <a:pt x="2166618" y="2097744"/>
                </a:moveTo>
                <a:lnTo>
                  <a:pt x="2121504" y="2097744"/>
                </a:lnTo>
                <a:lnTo>
                  <a:pt x="2118660" y="2100587"/>
                </a:lnTo>
                <a:lnTo>
                  <a:pt x="2118660" y="2107601"/>
                </a:lnTo>
                <a:lnTo>
                  <a:pt x="2121504" y="2110444"/>
                </a:lnTo>
                <a:lnTo>
                  <a:pt x="2166618" y="2110444"/>
                </a:lnTo>
                <a:lnTo>
                  <a:pt x="2169460" y="2107601"/>
                </a:lnTo>
                <a:lnTo>
                  <a:pt x="2169460" y="2100587"/>
                </a:lnTo>
                <a:lnTo>
                  <a:pt x="2166618" y="2097744"/>
                </a:lnTo>
                <a:close/>
              </a:path>
              <a:path w="3034665" h="2110740">
                <a:moveTo>
                  <a:pt x="2255518" y="2097744"/>
                </a:moveTo>
                <a:lnTo>
                  <a:pt x="2210404" y="2097744"/>
                </a:lnTo>
                <a:lnTo>
                  <a:pt x="2207560" y="2100587"/>
                </a:lnTo>
                <a:lnTo>
                  <a:pt x="2207560" y="2107601"/>
                </a:lnTo>
                <a:lnTo>
                  <a:pt x="2210404" y="2110444"/>
                </a:lnTo>
                <a:lnTo>
                  <a:pt x="2255518" y="2110444"/>
                </a:lnTo>
                <a:lnTo>
                  <a:pt x="2258360" y="2107601"/>
                </a:lnTo>
                <a:lnTo>
                  <a:pt x="2258360" y="2100587"/>
                </a:lnTo>
                <a:lnTo>
                  <a:pt x="2255518" y="2097744"/>
                </a:lnTo>
                <a:close/>
              </a:path>
              <a:path w="3034665" h="2110740">
                <a:moveTo>
                  <a:pt x="2344418" y="2097744"/>
                </a:moveTo>
                <a:lnTo>
                  <a:pt x="2299304" y="2097744"/>
                </a:lnTo>
                <a:lnTo>
                  <a:pt x="2296460" y="2100587"/>
                </a:lnTo>
                <a:lnTo>
                  <a:pt x="2296460" y="2107601"/>
                </a:lnTo>
                <a:lnTo>
                  <a:pt x="2299304" y="2110444"/>
                </a:lnTo>
                <a:lnTo>
                  <a:pt x="2344418" y="2110444"/>
                </a:lnTo>
                <a:lnTo>
                  <a:pt x="2347260" y="2107601"/>
                </a:lnTo>
                <a:lnTo>
                  <a:pt x="2347260" y="2100587"/>
                </a:lnTo>
                <a:lnTo>
                  <a:pt x="2344418" y="2097744"/>
                </a:lnTo>
                <a:close/>
              </a:path>
              <a:path w="3034665" h="2110740">
                <a:moveTo>
                  <a:pt x="2433318" y="2097744"/>
                </a:moveTo>
                <a:lnTo>
                  <a:pt x="2388204" y="2097744"/>
                </a:lnTo>
                <a:lnTo>
                  <a:pt x="2385360" y="2100587"/>
                </a:lnTo>
                <a:lnTo>
                  <a:pt x="2385360" y="2107601"/>
                </a:lnTo>
                <a:lnTo>
                  <a:pt x="2388204" y="2110444"/>
                </a:lnTo>
                <a:lnTo>
                  <a:pt x="2433318" y="2110444"/>
                </a:lnTo>
                <a:lnTo>
                  <a:pt x="2436160" y="2107601"/>
                </a:lnTo>
                <a:lnTo>
                  <a:pt x="2436160" y="2100587"/>
                </a:lnTo>
                <a:lnTo>
                  <a:pt x="2433318" y="2097744"/>
                </a:lnTo>
                <a:close/>
              </a:path>
              <a:path w="3034665" h="2110740">
                <a:moveTo>
                  <a:pt x="2522218" y="2097744"/>
                </a:moveTo>
                <a:lnTo>
                  <a:pt x="2477104" y="2097744"/>
                </a:lnTo>
                <a:lnTo>
                  <a:pt x="2474260" y="2100587"/>
                </a:lnTo>
                <a:lnTo>
                  <a:pt x="2474260" y="2107601"/>
                </a:lnTo>
                <a:lnTo>
                  <a:pt x="2477104" y="2110444"/>
                </a:lnTo>
                <a:lnTo>
                  <a:pt x="2522218" y="2110444"/>
                </a:lnTo>
                <a:lnTo>
                  <a:pt x="2525060" y="2107601"/>
                </a:lnTo>
                <a:lnTo>
                  <a:pt x="2525060" y="2100587"/>
                </a:lnTo>
                <a:lnTo>
                  <a:pt x="2522218" y="2097744"/>
                </a:lnTo>
                <a:close/>
              </a:path>
              <a:path w="3034665" h="2110740">
                <a:moveTo>
                  <a:pt x="2611118" y="2097744"/>
                </a:moveTo>
                <a:lnTo>
                  <a:pt x="2566004" y="2097744"/>
                </a:lnTo>
                <a:lnTo>
                  <a:pt x="2563160" y="2100587"/>
                </a:lnTo>
                <a:lnTo>
                  <a:pt x="2563160" y="2107601"/>
                </a:lnTo>
                <a:lnTo>
                  <a:pt x="2566004" y="2110444"/>
                </a:lnTo>
                <a:lnTo>
                  <a:pt x="2611118" y="2110444"/>
                </a:lnTo>
                <a:lnTo>
                  <a:pt x="2613960" y="2107601"/>
                </a:lnTo>
                <a:lnTo>
                  <a:pt x="2613960" y="2100587"/>
                </a:lnTo>
                <a:lnTo>
                  <a:pt x="2611118" y="2097744"/>
                </a:lnTo>
                <a:close/>
              </a:path>
              <a:path w="3034665" h="2110740">
                <a:moveTo>
                  <a:pt x="2700018" y="2097744"/>
                </a:moveTo>
                <a:lnTo>
                  <a:pt x="2654904" y="2097744"/>
                </a:lnTo>
                <a:lnTo>
                  <a:pt x="2652060" y="2100587"/>
                </a:lnTo>
                <a:lnTo>
                  <a:pt x="2652060" y="2107601"/>
                </a:lnTo>
                <a:lnTo>
                  <a:pt x="2654904" y="2110444"/>
                </a:lnTo>
                <a:lnTo>
                  <a:pt x="2700018" y="2110444"/>
                </a:lnTo>
                <a:lnTo>
                  <a:pt x="2702860" y="2107601"/>
                </a:lnTo>
                <a:lnTo>
                  <a:pt x="2702860" y="2100587"/>
                </a:lnTo>
                <a:lnTo>
                  <a:pt x="2700018" y="2097744"/>
                </a:lnTo>
                <a:close/>
              </a:path>
              <a:path w="3034665" h="2110740">
                <a:moveTo>
                  <a:pt x="2788918" y="2097744"/>
                </a:moveTo>
                <a:lnTo>
                  <a:pt x="2743804" y="2097744"/>
                </a:lnTo>
                <a:lnTo>
                  <a:pt x="2740960" y="2100587"/>
                </a:lnTo>
                <a:lnTo>
                  <a:pt x="2740960" y="2107601"/>
                </a:lnTo>
                <a:lnTo>
                  <a:pt x="2743804" y="2110444"/>
                </a:lnTo>
                <a:lnTo>
                  <a:pt x="2788918" y="2110444"/>
                </a:lnTo>
                <a:lnTo>
                  <a:pt x="2791760" y="2107601"/>
                </a:lnTo>
                <a:lnTo>
                  <a:pt x="2791760" y="2100587"/>
                </a:lnTo>
                <a:lnTo>
                  <a:pt x="2788918" y="2097744"/>
                </a:lnTo>
                <a:close/>
              </a:path>
              <a:path w="3034665" h="2110740">
                <a:moveTo>
                  <a:pt x="2877818" y="2097744"/>
                </a:moveTo>
                <a:lnTo>
                  <a:pt x="2832704" y="2097744"/>
                </a:lnTo>
                <a:lnTo>
                  <a:pt x="2829860" y="2100587"/>
                </a:lnTo>
                <a:lnTo>
                  <a:pt x="2829860" y="2107601"/>
                </a:lnTo>
                <a:lnTo>
                  <a:pt x="2832704" y="2110444"/>
                </a:lnTo>
                <a:lnTo>
                  <a:pt x="2877818" y="2110444"/>
                </a:lnTo>
                <a:lnTo>
                  <a:pt x="2880660" y="2107601"/>
                </a:lnTo>
                <a:lnTo>
                  <a:pt x="2880660" y="2100587"/>
                </a:lnTo>
                <a:lnTo>
                  <a:pt x="2877818" y="2097744"/>
                </a:lnTo>
                <a:close/>
              </a:path>
              <a:path w="3034665" h="2110740">
                <a:moveTo>
                  <a:pt x="2966718" y="2097744"/>
                </a:moveTo>
                <a:lnTo>
                  <a:pt x="2921604" y="2097744"/>
                </a:lnTo>
                <a:lnTo>
                  <a:pt x="2918760" y="2100587"/>
                </a:lnTo>
                <a:lnTo>
                  <a:pt x="2918760" y="2107601"/>
                </a:lnTo>
                <a:lnTo>
                  <a:pt x="2921604" y="2110444"/>
                </a:lnTo>
                <a:lnTo>
                  <a:pt x="2966718" y="2110444"/>
                </a:lnTo>
                <a:lnTo>
                  <a:pt x="2969560" y="2107601"/>
                </a:lnTo>
                <a:lnTo>
                  <a:pt x="2969560" y="2100587"/>
                </a:lnTo>
                <a:lnTo>
                  <a:pt x="2966718" y="2097744"/>
                </a:lnTo>
                <a:close/>
              </a:path>
              <a:path w="3034665" h="2110740">
                <a:moveTo>
                  <a:pt x="2999536" y="2041662"/>
                </a:moveTo>
                <a:lnTo>
                  <a:pt x="2992522" y="2041662"/>
                </a:lnTo>
                <a:lnTo>
                  <a:pt x="2989679" y="2044505"/>
                </a:lnTo>
                <a:lnTo>
                  <a:pt x="2989679" y="2089619"/>
                </a:lnTo>
                <a:lnTo>
                  <a:pt x="2992522" y="2092462"/>
                </a:lnTo>
                <a:lnTo>
                  <a:pt x="2999536" y="2092462"/>
                </a:lnTo>
                <a:lnTo>
                  <a:pt x="3002379" y="2089619"/>
                </a:lnTo>
                <a:lnTo>
                  <a:pt x="3002379" y="2044505"/>
                </a:lnTo>
                <a:lnTo>
                  <a:pt x="2999536" y="2041662"/>
                </a:lnTo>
                <a:close/>
              </a:path>
              <a:path w="3034665" h="2110740">
                <a:moveTo>
                  <a:pt x="2999536" y="1952762"/>
                </a:moveTo>
                <a:lnTo>
                  <a:pt x="2992522" y="1952762"/>
                </a:lnTo>
                <a:lnTo>
                  <a:pt x="2989679" y="1955605"/>
                </a:lnTo>
                <a:lnTo>
                  <a:pt x="2989679" y="2000719"/>
                </a:lnTo>
                <a:lnTo>
                  <a:pt x="2992522" y="2003562"/>
                </a:lnTo>
                <a:lnTo>
                  <a:pt x="2999536" y="2003562"/>
                </a:lnTo>
                <a:lnTo>
                  <a:pt x="3002379" y="2000719"/>
                </a:lnTo>
                <a:lnTo>
                  <a:pt x="3002379" y="1955605"/>
                </a:lnTo>
                <a:lnTo>
                  <a:pt x="2999536" y="1952762"/>
                </a:lnTo>
                <a:close/>
              </a:path>
              <a:path w="3034665" h="2110740">
                <a:moveTo>
                  <a:pt x="2996029" y="1875500"/>
                </a:moveTo>
                <a:lnTo>
                  <a:pt x="2957929" y="1951700"/>
                </a:lnTo>
                <a:lnTo>
                  <a:pt x="3034129" y="1951700"/>
                </a:lnTo>
                <a:lnTo>
                  <a:pt x="2996029" y="187550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 txBox="1"/>
          <p:nvPr/>
        </p:nvSpPr>
        <p:spPr>
          <a:xfrm>
            <a:off x="554227" y="6699893"/>
            <a:ext cx="400685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12/6/18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3" name="object 10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104" name="object 104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40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1375"/>
            <a:ext cx="7367016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449580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/>
              <a:t>Quick Summary of</a:t>
            </a:r>
            <a:r>
              <a:rPr dirty="0" sz="2800" spc="0"/>
              <a:t> </a:t>
            </a:r>
            <a:r>
              <a:rPr dirty="0" sz="2800" spc="-10"/>
              <a:t>GraphRNN:</a:t>
            </a:r>
            <a:endParaRPr sz="280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279771" y="4345542"/>
          <a:ext cx="2129790" cy="2000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0210"/>
                <a:gridCol w="420210"/>
                <a:gridCol w="420210"/>
                <a:gridCol w="420210"/>
                <a:gridCol w="420210"/>
              </a:tblGrid>
              <a:tr h="355600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D25D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800">
                          <a:solidFill>
                            <a:srgbClr val="A6A6A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69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784097" y="4399823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69345" y="4388611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84097" y="5232601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59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69345" y="5220715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776765" y="5232601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62014" y="5220715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4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49856" y="5411682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6909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767253" y="4391557"/>
            <a:ext cx="384810" cy="383540"/>
          </a:xfrm>
          <a:custGeom>
            <a:avLst/>
            <a:gdLst/>
            <a:ahLst/>
            <a:cxnLst/>
            <a:rect l="l" t="t" r="r" b="b"/>
            <a:pathLst>
              <a:path w="384810" h="383539">
                <a:moveTo>
                  <a:pt x="211571" y="0"/>
                </a:moveTo>
                <a:lnTo>
                  <a:pt x="172257" y="0"/>
                </a:lnTo>
                <a:lnTo>
                  <a:pt x="134735" y="7619"/>
                </a:lnTo>
                <a:lnTo>
                  <a:pt x="84438" y="33019"/>
                </a:lnTo>
                <a:lnTo>
                  <a:pt x="43646" y="69850"/>
                </a:lnTo>
                <a:lnTo>
                  <a:pt x="14939" y="116839"/>
                </a:lnTo>
                <a:lnTo>
                  <a:pt x="3812" y="153669"/>
                </a:lnTo>
                <a:lnTo>
                  <a:pt x="0" y="191769"/>
                </a:lnTo>
                <a:lnTo>
                  <a:pt x="1041" y="212089"/>
                </a:lnTo>
                <a:lnTo>
                  <a:pt x="15303" y="266700"/>
                </a:lnTo>
                <a:lnTo>
                  <a:pt x="44225" y="314959"/>
                </a:lnTo>
                <a:lnTo>
                  <a:pt x="85196" y="351789"/>
                </a:lnTo>
                <a:lnTo>
                  <a:pt x="135637" y="375919"/>
                </a:lnTo>
                <a:lnTo>
                  <a:pt x="173214" y="383539"/>
                </a:lnTo>
                <a:lnTo>
                  <a:pt x="212528" y="383539"/>
                </a:lnTo>
                <a:lnTo>
                  <a:pt x="250049" y="375919"/>
                </a:lnTo>
                <a:lnTo>
                  <a:pt x="255936" y="373379"/>
                </a:lnTo>
                <a:lnTo>
                  <a:pt x="192297" y="373379"/>
                </a:lnTo>
                <a:lnTo>
                  <a:pt x="173790" y="372109"/>
                </a:lnTo>
                <a:lnTo>
                  <a:pt x="121862" y="358139"/>
                </a:lnTo>
                <a:lnTo>
                  <a:pt x="77204" y="331469"/>
                </a:lnTo>
                <a:lnTo>
                  <a:pt x="42271" y="293369"/>
                </a:lnTo>
                <a:lnTo>
                  <a:pt x="19523" y="245109"/>
                </a:lnTo>
                <a:lnTo>
                  <a:pt x="11414" y="191769"/>
                </a:lnTo>
                <a:lnTo>
                  <a:pt x="12359" y="172719"/>
                </a:lnTo>
                <a:lnTo>
                  <a:pt x="25673" y="120650"/>
                </a:lnTo>
                <a:lnTo>
                  <a:pt x="52798" y="76200"/>
                </a:lnTo>
                <a:lnTo>
                  <a:pt x="91283" y="41909"/>
                </a:lnTo>
                <a:lnTo>
                  <a:pt x="138664" y="19050"/>
                </a:lnTo>
                <a:lnTo>
                  <a:pt x="173981" y="11429"/>
                </a:lnTo>
                <a:lnTo>
                  <a:pt x="259769" y="11429"/>
                </a:lnTo>
                <a:lnTo>
                  <a:pt x="249147" y="7619"/>
                </a:lnTo>
                <a:lnTo>
                  <a:pt x="211571" y="0"/>
                </a:lnTo>
                <a:close/>
              </a:path>
              <a:path w="384810" h="383539">
                <a:moveTo>
                  <a:pt x="259769" y="11429"/>
                </a:moveTo>
                <a:lnTo>
                  <a:pt x="210995" y="11429"/>
                </a:lnTo>
                <a:lnTo>
                  <a:pt x="228961" y="13969"/>
                </a:lnTo>
                <a:lnTo>
                  <a:pt x="246301" y="19050"/>
                </a:lnTo>
                <a:lnTo>
                  <a:pt x="293653" y="41909"/>
                </a:lnTo>
                <a:lnTo>
                  <a:pt x="332102" y="76200"/>
                </a:lnTo>
                <a:lnTo>
                  <a:pt x="359185" y="121919"/>
                </a:lnTo>
                <a:lnTo>
                  <a:pt x="372445" y="173989"/>
                </a:lnTo>
                <a:lnTo>
                  <a:pt x="373369" y="191769"/>
                </a:lnTo>
                <a:lnTo>
                  <a:pt x="372426" y="210819"/>
                </a:lnTo>
                <a:lnTo>
                  <a:pt x="359111" y="262889"/>
                </a:lnTo>
                <a:lnTo>
                  <a:pt x="331985" y="307339"/>
                </a:lnTo>
                <a:lnTo>
                  <a:pt x="293502" y="341629"/>
                </a:lnTo>
                <a:lnTo>
                  <a:pt x="246120" y="364489"/>
                </a:lnTo>
                <a:lnTo>
                  <a:pt x="192297" y="373379"/>
                </a:lnTo>
                <a:lnTo>
                  <a:pt x="255936" y="373379"/>
                </a:lnTo>
                <a:lnTo>
                  <a:pt x="300347" y="350519"/>
                </a:lnTo>
                <a:lnTo>
                  <a:pt x="341139" y="313689"/>
                </a:lnTo>
                <a:lnTo>
                  <a:pt x="369845" y="266700"/>
                </a:lnTo>
                <a:lnTo>
                  <a:pt x="380973" y="229869"/>
                </a:lnTo>
                <a:lnTo>
                  <a:pt x="384785" y="191769"/>
                </a:lnTo>
                <a:lnTo>
                  <a:pt x="383744" y="171450"/>
                </a:lnTo>
                <a:lnTo>
                  <a:pt x="369482" y="116839"/>
                </a:lnTo>
                <a:lnTo>
                  <a:pt x="340560" y="68579"/>
                </a:lnTo>
                <a:lnTo>
                  <a:pt x="299587" y="31750"/>
                </a:lnTo>
                <a:lnTo>
                  <a:pt x="266851" y="13969"/>
                </a:lnTo>
                <a:lnTo>
                  <a:pt x="259769" y="11429"/>
                </a:lnTo>
                <a:close/>
              </a:path>
              <a:path w="384810" h="383539">
                <a:moveTo>
                  <a:pt x="210802" y="15239"/>
                </a:moveTo>
                <a:lnTo>
                  <a:pt x="174556" y="15239"/>
                </a:lnTo>
                <a:lnTo>
                  <a:pt x="156959" y="17779"/>
                </a:lnTo>
                <a:lnTo>
                  <a:pt x="108188" y="35559"/>
                </a:lnTo>
                <a:lnTo>
                  <a:pt x="67306" y="66039"/>
                </a:lnTo>
                <a:lnTo>
                  <a:pt x="36733" y="106679"/>
                </a:lnTo>
                <a:lnTo>
                  <a:pt x="18877" y="156209"/>
                </a:lnTo>
                <a:lnTo>
                  <a:pt x="15220" y="191769"/>
                </a:lnTo>
                <a:lnTo>
                  <a:pt x="16106" y="209550"/>
                </a:lnTo>
                <a:lnTo>
                  <a:pt x="29033" y="260350"/>
                </a:lnTo>
                <a:lnTo>
                  <a:pt x="55502" y="304800"/>
                </a:lnTo>
                <a:lnTo>
                  <a:pt x="93110" y="339089"/>
                </a:lnTo>
                <a:lnTo>
                  <a:pt x="139433" y="360679"/>
                </a:lnTo>
                <a:lnTo>
                  <a:pt x="192104" y="369569"/>
                </a:lnTo>
                <a:lnTo>
                  <a:pt x="210229" y="368300"/>
                </a:lnTo>
                <a:lnTo>
                  <a:pt x="227826" y="365759"/>
                </a:lnTo>
                <a:lnTo>
                  <a:pt x="191912" y="365759"/>
                </a:lnTo>
                <a:lnTo>
                  <a:pt x="174174" y="364489"/>
                </a:lnTo>
                <a:lnTo>
                  <a:pt x="124481" y="351789"/>
                </a:lnTo>
                <a:lnTo>
                  <a:pt x="81767" y="325119"/>
                </a:lnTo>
                <a:lnTo>
                  <a:pt x="48374" y="288289"/>
                </a:lnTo>
                <a:lnTo>
                  <a:pt x="26678" y="242569"/>
                </a:lnTo>
                <a:lnTo>
                  <a:pt x="19025" y="191769"/>
                </a:lnTo>
                <a:lnTo>
                  <a:pt x="19969" y="173989"/>
                </a:lnTo>
                <a:lnTo>
                  <a:pt x="32829" y="124459"/>
                </a:lnTo>
                <a:lnTo>
                  <a:pt x="58901" y="81279"/>
                </a:lnTo>
                <a:lnTo>
                  <a:pt x="95846" y="48259"/>
                </a:lnTo>
                <a:lnTo>
                  <a:pt x="141283" y="26669"/>
                </a:lnTo>
                <a:lnTo>
                  <a:pt x="175131" y="19050"/>
                </a:lnTo>
                <a:lnTo>
                  <a:pt x="232628" y="19050"/>
                </a:lnTo>
                <a:lnTo>
                  <a:pt x="228386" y="17779"/>
                </a:lnTo>
                <a:lnTo>
                  <a:pt x="210802" y="15239"/>
                </a:lnTo>
                <a:close/>
              </a:path>
              <a:path w="384810" h="383539">
                <a:moveTo>
                  <a:pt x="232628" y="19050"/>
                </a:moveTo>
                <a:lnTo>
                  <a:pt x="210610" y="19050"/>
                </a:lnTo>
                <a:lnTo>
                  <a:pt x="227812" y="21589"/>
                </a:lnTo>
                <a:lnTo>
                  <a:pt x="244403" y="26669"/>
                </a:lnTo>
                <a:lnTo>
                  <a:pt x="289697" y="48259"/>
                </a:lnTo>
                <a:lnTo>
                  <a:pt x="326463" y="81279"/>
                </a:lnTo>
                <a:lnTo>
                  <a:pt x="352319" y="124459"/>
                </a:lnTo>
                <a:lnTo>
                  <a:pt x="364912" y="173989"/>
                </a:lnTo>
                <a:lnTo>
                  <a:pt x="365760" y="191769"/>
                </a:lnTo>
                <a:lnTo>
                  <a:pt x="364815" y="209550"/>
                </a:lnTo>
                <a:lnTo>
                  <a:pt x="351956" y="259079"/>
                </a:lnTo>
                <a:lnTo>
                  <a:pt x="325883" y="302259"/>
                </a:lnTo>
                <a:lnTo>
                  <a:pt x="288938" y="335279"/>
                </a:lnTo>
                <a:lnTo>
                  <a:pt x="243502" y="356869"/>
                </a:lnTo>
                <a:lnTo>
                  <a:pt x="191912" y="365759"/>
                </a:lnTo>
                <a:lnTo>
                  <a:pt x="227826" y="365759"/>
                </a:lnTo>
                <a:lnTo>
                  <a:pt x="276597" y="347979"/>
                </a:lnTo>
                <a:lnTo>
                  <a:pt x="317479" y="317500"/>
                </a:lnTo>
                <a:lnTo>
                  <a:pt x="348051" y="276859"/>
                </a:lnTo>
                <a:lnTo>
                  <a:pt x="365907" y="227329"/>
                </a:lnTo>
                <a:lnTo>
                  <a:pt x="369564" y="191769"/>
                </a:lnTo>
                <a:lnTo>
                  <a:pt x="368678" y="173989"/>
                </a:lnTo>
                <a:lnTo>
                  <a:pt x="355752" y="123189"/>
                </a:lnTo>
                <a:lnTo>
                  <a:pt x="329283" y="78739"/>
                </a:lnTo>
                <a:lnTo>
                  <a:pt x="291675" y="44450"/>
                </a:lnTo>
                <a:lnTo>
                  <a:pt x="245352" y="22859"/>
                </a:lnTo>
                <a:lnTo>
                  <a:pt x="232628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862014" y="4388611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464154" y="4854774"/>
            <a:ext cx="384810" cy="383540"/>
          </a:xfrm>
          <a:custGeom>
            <a:avLst/>
            <a:gdLst/>
            <a:ahLst/>
            <a:cxnLst/>
            <a:rect l="l" t="t" r="r" b="b"/>
            <a:pathLst>
              <a:path w="384810" h="383539">
                <a:moveTo>
                  <a:pt x="211571" y="0"/>
                </a:moveTo>
                <a:lnTo>
                  <a:pt x="172257" y="0"/>
                </a:lnTo>
                <a:lnTo>
                  <a:pt x="134735" y="7619"/>
                </a:lnTo>
                <a:lnTo>
                  <a:pt x="84438" y="33019"/>
                </a:lnTo>
                <a:lnTo>
                  <a:pt x="43646" y="69849"/>
                </a:lnTo>
                <a:lnTo>
                  <a:pt x="14939" y="116839"/>
                </a:lnTo>
                <a:lnTo>
                  <a:pt x="3812" y="153669"/>
                </a:lnTo>
                <a:lnTo>
                  <a:pt x="0" y="191769"/>
                </a:lnTo>
                <a:lnTo>
                  <a:pt x="1041" y="212089"/>
                </a:lnTo>
                <a:lnTo>
                  <a:pt x="15303" y="266699"/>
                </a:lnTo>
                <a:lnTo>
                  <a:pt x="44225" y="314959"/>
                </a:lnTo>
                <a:lnTo>
                  <a:pt x="85196" y="351789"/>
                </a:lnTo>
                <a:lnTo>
                  <a:pt x="135637" y="375919"/>
                </a:lnTo>
                <a:lnTo>
                  <a:pt x="173214" y="383539"/>
                </a:lnTo>
                <a:lnTo>
                  <a:pt x="212528" y="383539"/>
                </a:lnTo>
                <a:lnTo>
                  <a:pt x="250049" y="375919"/>
                </a:lnTo>
                <a:lnTo>
                  <a:pt x="255936" y="373379"/>
                </a:lnTo>
                <a:lnTo>
                  <a:pt x="192297" y="373379"/>
                </a:lnTo>
                <a:lnTo>
                  <a:pt x="173790" y="372109"/>
                </a:lnTo>
                <a:lnTo>
                  <a:pt x="121862" y="358139"/>
                </a:lnTo>
                <a:lnTo>
                  <a:pt x="77204" y="331469"/>
                </a:lnTo>
                <a:lnTo>
                  <a:pt x="42271" y="293369"/>
                </a:lnTo>
                <a:lnTo>
                  <a:pt x="19523" y="245109"/>
                </a:lnTo>
                <a:lnTo>
                  <a:pt x="11414" y="191769"/>
                </a:lnTo>
                <a:lnTo>
                  <a:pt x="12359" y="172719"/>
                </a:lnTo>
                <a:lnTo>
                  <a:pt x="25673" y="120649"/>
                </a:lnTo>
                <a:lnTo>
                  <a:pt x="52798" y="76199"/>
                </a:lnTo>
                <a:lnTo>
                  <a:pt x="91283" y="41909"/>
                </a:lnTo>
                <a:lnTo>
                  <a:pt x="138664" y="19049"/>
                </a:lnTo>
                <a:lnTo>
                  <a:pt x="173981" y="11429"/>
                </a:lnTo>
                <a:lnTo>
                  <a:pt x="259769" y="11429"/>
                </a:lnTo>
                <a:lnTo>
                  <a:pt x="249147" y="7619"/>
                </a:lnTo>
                <a:lnTo>
                  <a:pt x="211571" y="0"/>
                </a:lnTo>
                <a:close/>
              </a:path>
              <a:path w="384810" h="383539">
                <a:moveTo>
                  <a:pt x="259769" y="11429"/>
                </a:moveTo>
                <a:lnTo>
                  <a:pt x="210995" y="11429"/>
                </a:lnTo>
                <a:lnTo>
                  <a:pt x="228961" y="13969"/>
                </a:lnTo>
                <a:lnTo>
                  <a:pt x="246301" y="19049"/>
                </a:lnTo>
                <a:lnTo>
                  <a:pt x="293653" y="41909"/>
                </a:lnTo>
                <a:lnTo>
                  <a:pt x="332102" y="76199"/>
                </a:lnTo>
                <a:lnTo>
                  <a:pt x="359185" y="121919"/>
                </a:lnTo>
                <a:lnTo>
                  <a:pt x="372445" y="173989"/>
                </a:lnTo>
                <a:lnTo>
                  <a:pt x="373369" y="191769"/>
                </a:lnTo>
                <a:lnTo>
                  <a:pt x="372426" y="210819"/>
                </a:lnTo>
                <a:lnTo>
                  <a:pt x="359111" y="262889"/>
                </a:lnTo>
                <a:lnTo>
                  <a:pt x="331985" y="307339"/>
                </a:lnTo>
                <a:lnTo>
                  <a:pt x="293502" y="341629"/>
                </a:lnTo>
                <a:lnTo>
                  <a:pt x="246120" y="364489"/>
                </a:lnTo>
                <a:lnTo>
                  <a:pt x="192297" y="373379"/>
                </a:lnTo>
                <a:lnTo>
                  <a:pt x="255936" y="373379"/>
                </a:lnTo>
                <a:lnTo>
                  <a:pt x="300347" y="350519"/>
                </a:lnTo>
                <a:lnTo>
                  <a:pt x="341139" y="313689"/>
                </a:lnTo>
                <a:lnTo>
                  <a:pt x="369845" y="266699"/>
                </a:lnTo>
                <a:lnTo>
                  <a:pt x="380973" y="229869"/>
                </a:lnTo>
                <a:lnTo>
                  <a:pt x="384785" y="191769"/>
                </a:lnTo>
                <a:lnTo>
                  <a:pt x="383744" y="171449"/>
                </a:lnTo>
                <a:lnTo>
                  <a:pt x="369482" y="116839"/>
                </a:lnTo>
                <a:lnTo>
                  <a:pt x="340560" y="68579"/>
                </a:lnTo>
                <a:lnTo>
                  <a:pt x="299587" y="31749"/>
                </a:lnTo>
                <a:lnTo>
                  <a:pt x="266851" y="13969"/>
                </a:lnTo>
                <a:lnTo>
                  <a:pt x="259769" y="11429"/>
                </a:lnTo>
                <a:close/>
              </a:path>
              <a:path w="384810" h="383539">
                <a:moveTo>
                  <a:pt x="210802" y="15239"/>
                </a:moveTo>
                <a:lnTo>
                  <a:pt x="174556" y="15239"/>
                </a:lnTo>
                <a:lnTo>
                  <a:pt x="156959" y="17779"/>
                </a:lnTo>
                <a:lnTo>
                  <a:pt x="108188" y="35559"/>
                </a:lnTo>
                <a:lnTo>
                  <a:pt x="67306" y="66039"/>
                </a:lnTo>
                <a:lnTo>
                  <a:pt x="36733" y="106679"/>
                </a:lnTo>
                <a:lnTo>
                  <a:pt x="18877" y="156209"/>
                </a:lnTo>
                <a:lnTo>
                  <a:pt x="15220" y="191769"/>
                </a:lnTo>
                <a:lnTo>
                  <a:pt x="16106" y="209549"/>
                </a:lnTo>
                <a:lnTo>
                  <a:pt x="29033" y="260349"/>
                </a:lnTo>
                <a:lnTo>
                  <a:pt x="55502" y="304799"/>
                </a:lnTo>
                <a:lnTo>
                  <a:pt x="93110" y="339089"/>
                </a:lnTo>
                <a:lnTo>
                  <a:pt x="139433" y="360679"/>
                </a:lnTo>
                <a:lnTo>
                  <a:pt x="192104" y="369569"/>
                </a:lnTo>
                <a:lnTo>
                  <a:pt x="210229" y="368299"/>
                </a:lnTo>
                <a:lnTo>
                  <a:pt x="227826" y="365759"/>
                </a:lnTo>
                <a:lnTo>
                  <a:pt x="191912" y="365759"/>
                </a:lnTo>
                <a:lnTo>
                  <a:pt x="174174" y="364489"/>
                </a:lnTo>
                <a:lnTo>
                  <a:pt x="124481" y="351789"/>
                </a:lnTo>
                <a:lnTo>
                  <a:pt x="81767" y="325119"/>
                </a:lnTo>
                <a:lnTo>
                  <a:pt x="48374" y="288289"/>
                </a:lnTo>
                <a:lnTo>
                  <a:pt x="26678" y="242569"/>
                </a:lnTo>
                <a:lnTo>
                  <a:pt x="19025" y="191769"/>
                </a:lnTo>
                <a:lnTo>
                  <a:pt x="19969" y="173989"/>
                </a:lnTo>
                <a:lnTo>
                  <a:pt x="32829" y="124459"/>
                </a:lnTo>
                <a:lnTo>
                  <a:pt x="58901" y="81279"/>
                </a:lnTo>
                <a:lnTo>
                  <a:pt x="95846" y="48259"/>
                </a:lnTo>
                <a:lnTo>
                  <a:pt x="141283" y="26669"/>
                </a:lnTo>
                <a:lnTo>
                  <a:pt x="192873" y="17779"/>
                </a:lnTo>
                <a:lnTo>
                  <a:pt x="228386" y="17779"/>
                </a:lnTo>
                <a:lnTo>
                  <a:pt x="210802" y="15239"/>
                </a:lnTo>
                <a:close/>
              </a:path>
              <a:path w="384810" h="383539">
                <a:moveTo>
                  <a:pt x="228386" y="17779"/>
                </a:moveTo>
                <a:lnTo>
                  <a:pt x="192873" y="17779"/>
                </a:lnTo>
                <a:lnTo>
                  <a:pt x="210610" y="19049"/>
                </a:lnTo>
                <a:lnTo>
                  <a:pt x="227812" y="21589"/>
                </a:lnTo>
                <a:lnTo>
                  <a:pt x="275429" y="39369"/>
                </a:lnTo>
                <a:lnTo>
                  <a:pt x="315301" y="69849"/>
                </a:lnTo>
                <a:lnTo>
                  <a:pt x="345059" y="109219"/>
                </a:lnTo>
                <a:lnTo>
                  <a:pt x="362332" y="157479"/>
                </a:lnTo>
                <a:lnTo>
                  <a:pt x="365760" y="191769"/>
                </a:lnTo>
                <a:lnTo>
                  <a:pt x="364815" y="209549"/>
                </a:lnTo>
                <a:lnTo>
                  <a:pt x="351956" y="259079"/>
                </a:lnTo>
                <a:lnTo>
                  <a:pt x="325883" y="302259"/>
                </a:lnTo>
                <a:lnTo>
                  <a:pt x="288938" y="335279"/>
                </a:lnTo>
                <a:lnTo>
                  <a:pt x="243502" y="356869"/>
                </a:lnTo>
                <a:lnTo>
                  <a:pt x="191912" y="365759"/>
                </a:lnTo>
                <a:lnTo>
                  <a:pt x="227826" y="365759"/>
                </a:lnTo>
                <a:lnTo>
                  <a:pt x="276597" y="347979"/>
                </a:lnTo>
                <a:lnTo>
                  <a:pt x="317479" y="317499"/>
                </a:lnTo>
                <a:lnTo>
                  <a:pt x="348051" y="276859"/>
                </a:lnTo>
                <a:lnTo>
                  <a:pt x="365907" y="227329"/>
                </a:lnTo>
                <a:lnTo>
                  <a:pt x="369564" y="191769"/>
                </a:lnTo>
                <a:lnTo>
                  <a:pt x="368678" y="173989"/>
                </a:lnTo>
                <a:lnTo>
                  <a:pt x="355752" y="123189"/>
                </a:lnTo>
                <a:lnTo>
                  <a:pt x="329283" y="78739"/>
                </a:lnTo>
                <a:lnTo>
                  <a:pt x="291675" y="44449"/>
                </a:lnTo>
                <a:lnTo>
                  <a:pt x="245352" y="22859"/>
                </a:lnTo>
                <a:lnTo>
                  <a:pt x="228386" y="177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558915" y="4848859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5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66977" y="4765584"/>
            <a:ext cx="0" cy="467359"/>
          </a:xfrm>
          <a:custGeom>
            <a:avLst/>
            <a:gdLst/>
            <a:ahLst/>
            <a:cxnLst/>
            <a:rect l="l" t="t" r="r" b="b"/>
            <a:pathLst>
              <a:path w="0" h="467360">
                <a:moveTo>
                  <a:pt x="0" y="0"/>
                </a:moveTo>
                <a:lnTo>
                  <a:pt x="1" y="467017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149856" y="4582703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6909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959645" y="4765584"/>
            <a:ext cx="0" cy="467359"/>
          </a:xfrm>
          <a:custGeom>
            <a:avLst/>
            <a:gdLst/>
            <a:ahLst/>
            <a:cxnLst/>
            <a:rect l="l" t="t" r="r" b="b"/>
            <a:pathLst>
              <a:path w="0" h="467360">
                <a:moveTo>
                  <a:pt x="0" y="0"/>
                </a:moveTo>
                <a:lnTo>
                  <a:pt x="1" y="467017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142526" y="4582704"/>
            <a:ext cx="384810" cy="334010"/>
          </a:xfrm>
          <a:custGeom>
            <a:avLst/>
            <a:gdLst/>
            <a:ahLst/>
            <a:cxnLst/>
            <a:rect l="l" t="t" r="r" b="b"/>
            <a:pathLst>
              <a:path w="384810" h="334010">
                <a:moveTo>
                  <a:pt x="0" y="0"/>
                </a:moveTo>
                <a:lnTo>
                  <a:pt x="384705" y="33390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142526" y="5175237"/>
            <a:ext cx="384810" cy="240665"/>
          </a:xfrm>
          <a:custGeom>
            <a:avLst/>
            <a:gdLst/>
            <a:ahLst/>
            <a:cxnLst/>
            <a:rect l="l" t="t" r="r" b="b"/>
            <a:pathLst>
              <a:path w="384810" h="240664">
                <a:moveTo>
                  <a:pt x="0" y="240244"/>
                </a:moveTo>
                <a:lnTo>
                  <a:pt x="384705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042308" y="5818123"/>
            <a:ext cx="11195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Arial"/>
                <a:cs typeface="Arial"/>
              </a:rPr>
              <a:t>Graph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>
                <a:latin typeface="Cambria Math"/>
                <a:cs typeface="Cambria Math"/>
              </a:rPr>
              <a:t>𝐺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18108" y="1786636"/>
            <a:ext cx="8283575" cy="257683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20">
                <a:solidFill>
                  <a:srgbClr val="C00000"/>
                </a:solidFill>
                <a:latin typeface="Calibri"/>
                <a:cs typeface="Calibri"/>
              </a:rPr>
              <a:t>Generate </a:t>
            </a:r>
            <a:r>
              <a:rPr dirty="0" sz="2800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graph 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by </a:t>
            </a:r>
            <a:r>
              <a:rPr dirty="0" sz="2800" spc="-20">
                <a:solidFill>
                  <a:srgbClr val="C00000"/>
                </a:solidFill>
                <a:latin typeface="Calibri"/>
                <a:cs typeface="Calibri"/>
              </a:rPr>
              <a:t>generating </a:t>
            </a:r>
            <a:r>
              <a:rPr dirty="0" sz="2800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two level</a:t>
            </a:r>
            <a:r>
              <a:rPr dirty="0" sz="2800" spc="5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C00000"/>
                </a:solidFill>
                <a:latin typeface="Calibri"/>
                <a:cs typeface="Calibri"/>
              </a:rPr>
              <a:t>sequence</a:t>
            </a:r>
            <a:endParaRPr sz="2800">
              <a:latin typeface="Calibri"/>
              <a:cs typeface="Calibri"/>
            </a:endParaRPr>
          </a:p>
          <a:p>
            <a:pPr marL="62547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>
                <a:solidFill>
                  <a:srgbClr val="C00000"/>
                </a:solidFill>
                <a:latin typeface="Calibri"/>
                <a:cs typeface="Calibri"/>
              </a:rPr>
              <a:t>Use RNN </a:t>
            </a: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dirty="0" sz="2800" spc="-25">
                <a:solidFill>
                  <a:srgbClr val="C00000"/>
                </a:solidFill>
                <a:latin typeface="Calibri"/>
                <a:cs typeface="Calibri"/>
              </a:rPr>
              <a:t>generate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2800" spc="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sequences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283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 b="1">
                <a:latin typeface="Calibri"/>
                <a:cs typeface="Calibri"/>
              </a:rPr>
              <a:t>Next</a:t>
            </a:r>
            <a:r>
              <a:rPr dirty="0" sz="2800" spc="-10">
                <a:latin typeface="Calibri"/>
                <a:cs typeface="Calibri"/>
              </a:rPr>
              <a:t>: </a:t>
            </a:r>
            <a:r>
              <a:rPr dirty="0" sz="2800" spc="-5">
                <a:latin typeface="Calibri"/>
                <a:cs typeface="Calibri"/>
              </a:rPr>
              <a:t>Making </a:t>
            </a:r>
            <a:r>
              <a:rPr dirty="0" sz="2800" spc="-10">
                <a:latin typeface="Calibri"/>
                <a:cs typeface="Calibri"/>
              </a:rPr>
              <a:t>GraphRNN </a:t>
            </a:r>
            <a:r>
              <a:rPr dirty="0" sz="2800" spc="-15">
                <a:latin typeface="Calibri"/>
                <a:cs typeface="Calibri"/>
              </a:rPr>
              <a:t>tractable, proper</a:t>
            </a:r>
            <a:r>
              <a:rPr dirty="0" sz="2800" spc="6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evaluation</a:t>
            </a:r>
            <a:endParaRPr sz="2800">
              <a:latin typeface="Calibri"/>
              <a:cs typeface="Calibri"/>
            </a:endParaRPr>
          </a:p>
          <a:p>
            <a:pPr marL="2216150">
              <a:lnSpc>
                <a:spcPct val="100000"/>
              </a:lnSpc>
              <a:spcBef>
                <a:spcPts val="3055"/>
              </a:spcBef>
            </a:pPr>
            <a:r>
              <a:rPr dirty="0" sz="2350" spc="-25">
                <a:solidFill>
                  <a:srgbClr val="008000"/>
                </a:solidFill>
                <a:latin typeface="Arial"/>
                <a:cs typeface="Arial"/>
              </a:rPr>
              <a:t>Node-level</a:t>
            </a:r>
            <a:r>
              <a:rPr dirty="0" sz="2350" spc="-3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350" spc="-45">
                <a:solidFill>
                  <a:srgbClr val="008000"/>
                </a:solidFill>
                <a:latin typeface="Arial"/>
                <a:cs typeface="Arial"/>
              </a:rPr>
              <a:t>RNN</a:t>
            </a:r>
            <a:endParaRPr sz="235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086351" y="3988037"/>
            <a:ext cx="1016000" cy="304800"/>
          </a:xfrm>
          <a:custGeom>
            <a:avLst/>
            <a:gdLst/>
            <a:ahLst/>
            <a:cxnLst/>
            <a:rect l="l" t="t" r="r" b="b"/>
            <a:pathLst>
              <a:path w="1016000" h="304800">
                <a:moveTo>
                  <a:pt x="863600" y="0"/>
                </a:moveTo>
                <a:lnTo>
                  <a:pt x="863600" y="76200"/>
                </a:lnTo>
                <a:lnTo>
                  <a:pt x="0" y="76200"/>
                </a:lnTo>
                <a:lnTo>
                  <a:pt x="0" y="228600"/>
                </a:lnTo>
                <a:lnTo>
                  <a:pt x="863600" y="228600"/>
                </a:lnTo>
                <a:lnTo>
                  <a:pt x="863600" y="304800"/>
                </a:lnTo>
                <a:lnTo>
                  <a:pt x="1016000" y="152400"/>
                </a:lnTo>
                <a:lnTo>
                  <a:pt x="863600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062350" y="3930096"/>
            <a:ext cx="1074420" cy="421005"/>
          </a:xfrm>
          <a:custGeom>
            <a:avLst/>
            <a:gdLst/>
            <a:ahLst/>
            <a:cxnLst/>
            <a:rect l="l" t="t" r="r" b="b"/>
            <a:pathLst>
              <a:path w="1074420" h="421004">
                <a:moveTo>
                  <a:pt x="863600" y="0"/>
                </a:moveTo>
                <a:lnTo>
                  <a:pt x="863600" y="110142"/>
                </a:lnTo>
                <a:lnTo>
                  <a:pt x="0" y="110142"/>
                </a:lnTo>
                <a:lnTo>
                  <a:pt x="0" y="310541"/>
                </a:lnTo>
                <a:lnTo>
                  <a:pt x="863600" y="310541"/>
                </a:lnTo>
                <a:lnTo>
                  <a:pt x="863600" y="420682"/>
                </a:lnTo>
                <a:lnTo>
                  <a:pt x="933128" y="351153"/>
                </a:lnTo>
                <a:lnTo>
                  <a:pt x="892399" y="351153"/>
                </a:lnTo>
                <a:lnTo>
                  <a:pt x="892399" y="281741"/>
                </a:lnTo>
                <a:lnTo>
                  <a:pt x="28799" y="281741"/>
                </a:lnTo>
                <a:lnTo>
                  <a:pt x="28799" y="138941"/>
                </a:lnTo>
                <a:lnTo>
                  <a:pt x="892399" y="138941"/>
                </a:lnTo>
                <a:lnTo>
                  <a:pt x="892399" y="69529"/>
                </a:lnTo>
                <a:lnTo>
                  <a:pt x="933129" y="69529"/>
                </a:lnTo>
                <a:lnTo>
                  <a:pt x="863600" y="0"/>
                </a:lnTo>
                <a:close/>
              </a:path>
              <a:path w="1074420" h="421004">
                <a:moveTo>
                  <a:pt x="933129" y="69529"/>
                </a:moveTo>
                <a:lnTo>
                  <a:pt x="892399" y="69529"/>
                </a:lnTo>
                <a:lnTo>
                  <a:pt x="1033212" y="210341"/>
                </a:lnTo>
                <a:lnTo>
                  <a:pt x="892399" y="351153"/>
                </a:lnTo>
                <a:lnTo>
                  <a:pt x="933128" y="351153"/>
                </a:lnTo>
                <a:lnTo>
                  <a:pt x="1073941" y="210341"/>
                </a:lnTo>
                <a:lnTo>
                  <a:pt x="933129" y="69529"/>
                </a:lnTo>
                <a:close/>
              </a:path>
              <a:path w="1074420" h="421004">
                <a:moveTo>
                  <a:pt x="901999" y="92706"/>
                </a:moveTo>
                <a:lnTo>
                  <a:pt x="901999" y="148541"/>
                </a:lnTo>
                <a:lnTo>
                  <a:pt x="38399" y="148541"/>
                </a:lnTo>
                <a:lnTo>
                  <a:pt x="38399" y="272141"/>
                </a:lnTo>
                <a:lnTo>
                  <a:pt x="901999" y="272141"/>
                </a:lnTo>
                <a:lnTo>
                  <a:pt x="901999" y="327976"/>
                </a:lnTo>
                <a:lnTo>
                  <a:pt x="925176" y="304799"/>
                </a:lnTo>
                <a:lnTo>
                  <a:pt x="911599" y="304799"/>
                </a:lnTo>
                <a:lnTo>
                  <a:pt x="911599" y="262542"/>
                </a:lnTo>
                <a:lnTo>
                  <a:pt x="47999" y="262542"/>
                </a:lnTo>
                <a:lnTo>
                  <a:pt x="47999" y="158141"/>
                </a:lnTo>
                <a:lnTo>
                  <a:pt x="911599" y="158141"/>
                </a:lnTo>
                <a:lnTo>
                  <a:pt x="911599" y="115882"/>
                </a:lnTo>
                <a:lnTo>
                  <a:pt x="925176" y="115882"/>
                </a:lnTo>
                <a:lnTo>
                  <a:pt x="901999" y="92706"/>
                </a:lnTo>
                <a:close/>
              </a:path>
              <a:path w="1074420" h="421004">
                <a:moveTo>
                  <a:pt x="925176" y="115882"/>
                </a:moveTo>
                <a:lnTo>
                  <a:pt x="911599" y="115882"/>
                </a:lnTo>
                <a:lnTo>
                  <a:pt x="1006058" y="210341"/>
                </a:lnTo>
                <a:lnTo>
                  <a:pt x="911599" y="304799"/>
                </a:lnTo>
                <a:lnTo>
                  <a:pt x="925176" y="304799"/>
                </a:lnTo>
                <a:lnTo>
                  <a:pt x="1019636" y="210341"/>
                </a:lnTo>
                <a:lnTo>
                  <a:pt x="925176" y="115882"/>
                </a:lnTo>
                <a:close/>
              </a:path>
            </a:pathLst>
          </a:custGeom>
          <a:solidFill>
            <a:srgbClr val="2F62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6933676" y="4793190"/>
            <a:ext cx="2113280" cy="384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50" spc="-40">
                <a:solidFill>
                  <a:srgbClr val="0070C0"/>
                </a:solidFill>
                <a:latin typeface="Arial"/>
                <a:cs typeface="Arial"/>
              </a:rPr>
              <a:t>Edge-level</a:t>
            </a:r>
            <a:r>
              <a:rPr dirty="0" sz="2350" spc="-15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350" spc="-45">
                <a:solidFill>
                  <a:srgbClr val="0070C0"/>
                </a:solidFill>
                <a:latin typeface="Arial"/>
                <a:cs typeface="Arial"/>
              </a:rPr>
              <a:t>RNN</a:t>
            </a:r>
            <a:endParaRPr sz="235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553200" y="4609029"/>
            <a:ext cx="304800" cy="1016000"/>
          </a:xfrm>
          <a:custGeom>
            <a:avLst/>
            <a:gdLst/>
            <a:ahLst/>
            <a:cxnLst/>
            <a:rect l="l" t="t" r="r" b="b"/>
            <a:pathLst>
              <a:path w="304800" h="1016000">
                <a:moveTo>
                  <a:pt x="304800" y="863599"/>
                </a:moveTo>
                <a:lnTo>
                  <a:pt x="0" y="863599"/>
                </a:lnTo>
                <a:lnTo>
                  <a:pt x="152400" y="1016000"/>
                </a:lnTo>
                <a:lnTo>
                  <a:pt x="304800" y="863599"/>
                </a:lnTo>
                <a:close/>
              </a:path>
              <a:path w="304800" h="1016000">
                <a:moveTo>
                  <a:pt x="228600" y="0"/>
                </a:moveTo>
                <a:lnTo>
                  <a:pt x="76200" y="0"/>
                </a:lnTo>
                <a:lnTo>
                  <a:pt x="76200" y="863599"/>
                </a:lnTo>
                <a:lnTo>
                  <a:pt x="228600" y="863599"/>
                </a:lnTo>
                <a:lnTo>
                  <a:pt x="228600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495258" y="4585030"/>
            <a:ext cx="421005" cy="1074420"/>
          </a:xfrm>
          <a:custGeom>
            <a:avLst/>
            <a:gdLst/>
            <a:ahLst/>
            <a:cxnLst/>
            <a:rect l="l" t="t" r="r" b="b"/>
            <a:pathLst>
              <a:path w="421004" h="1074420">
                <a:moveTo>
                  <a:pt x="310541" y="0"/>
                </a:moveTo>
                <a:lnTo>
                  <a:pt x="110140" y="0"/>
                </a:lnTo>
                <a:lnTo>
                  <a:pt x="110140" y="863599"/>
                </a:lnTo>
                <a:lnTo>
                  <a:pt x="0" y="863599"/>
                </a:lnTo>
                <a:lnTo>
                  <a:pt x="210341" y="1073940"/>
                </a:lnTo>
                <a:lnTo>
                  <a:pt x="251070" y="1033211"/>
                </a:lnTo>
                <a:lnTo>
                  <a:pt x="210341" y="1033211"/>
                </a:lnTo>
                <a:lnTo>
                  <a:pt x="69528" y="892399"/>
                </a:lnTo>
                <a:lnTo>
                  <a:pt x="138940" y="892399"/>
                </a:lnTo>
                <a:lnTo>
                  <a:pt x="138940" y="28799"/>
                </a:lnTo>
                <a:lnTo>
                  <a:pt x="310541" y="28799"/>
                </a:lnTo>
                <a:lnTo>
                  <a:pt x="310541" y="0"/>
                </a:lnTo>
                <a:close/>
              </a:path>
              <a:path w="421004" h="1074420">
                <a:moveTo>
                  <a:pt x="310541" y="28799"/>
                </a:moveTo>
                <a:lnTo>
                  <a:pt x="281740" y="28799"/>
                </a:lnTo>
                <a:lnTo>
                  <a:pt x="281740" y="892399"/>
                </a:lnTo>
                <a:lnTo>
                  <a:pt x="351152" y="892399"/>
                </a:lnTo>
                <a:lnTo>
                  <a:pt x="210341" y="1033211"/>
                </a:lnTo>
                <a:lnTo>
                  <a:pt x="251070" y="1033211"/>
                </a:lnTo>
                <a:lnTo>
                  <a:pt x="420682" y="863599"/>
                </a:lnTo>
                <a:lnTo>
                  <a:pt x="310541" y="863599"/>
                </a:lnTo>
                <a:lnTo>
                  <a:pt x="310541" y="28799"/>
                </a:lnTo>
                <a:close/>
              </a:path>
              <a:path w="421004" h="1074420">
                <a:moveTo>
                  <a:pt x="272140" y="38399"/>
                </a:moveTo>
                <a:lnTo>
                  <a:pt x="148540" y="38399"/>
                </a:lnTo>
                <a:lnTo>
                  <a:pt x="148540" y="901999"/>
                </a:lnTo>
                <a:lnTo>
                  <a:pt x="92706" y="901999"/>
                </a:lnTo>
                <a:lnTo>
                  <a:pt x="210341" y="1019634"/>
                </a:lnTo>
                <a:lnTo>
                  <a:pt x="223917" y="1006058"/>
                </a:lnTo>
                <a:lnTo>
                  <a:pt x="210341" y="1006058"/>
                </a:lnTo>
                <a:lnTo>
                  <a:pt x="115882" y="911599"/>
                </a:lnTo>
                <a:lnTo>
                  <a:pt x="158141" y="911599"/>
                </a:lnTo>
                <a:lnTo>
                  <a:pt x="158141" y="47999"/>
                </a:lnTo>
                <a:lnTo>
                  <a:pt x="272140" y="47999"/>
                </a:lnTo>
                <a:lnTo>
                  <a:pt x="272140" y="38399"/>
                </a:lnTo>
                <a:close/>
              </a:path>
              <a:path w="421004" h="1074420">
                <a:moveTo>
                  <a:pt x="272140" y="47999"/>
                </a:moveTo>
                <a:lnTo>
                  <a:pt x="262540" y="47999"/>
                </a:lnTo>
                <a:lnTo>
                  <a:pt x="262540" y="911599"/>
                </a:lnTo>
                <a:lnTo>
                  <a:pt x="304799" y="911599"/>
                </a:lnTo>
                <a:lnTo>
                  <a:pt x="210341" y="1006058"/>
                </a:lnTo>
                <a:lnTo>
                  <a:pt x="223917" y="1006058"/>
                </a:lnTo>
                <a:lnTo>
                  <a:pt x="327976" y="901999"/>
                </a:lnTo>
                <a:lnTo>
                  <a:pt x="272140" y="901999"/>
                </a:lnTo>
                <a:lnTo>
                  <a:pt x="272140" y="47999"/>
                </a:lnTo>
                <a:close/>
              </a:path>
            </a:pathLst>
          </a:custGeom>
          <a:solidFill>
            <a:srgbClr val="2461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4473431" y="6293611"/>
            <a:ext cx="17157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">
                <a:latin typeface="Arial"/>
                <a:cs typeface="Arial"/>
              </a:rPr>
              <a:t>Adjacency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 spc="-30">
                <a:latin typeface="Arial"/>
                <a:cs typeface="Arial"/>
              </a:rPr>
              <a:t>matrix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41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234037" y="4754371"/>
            <a:ext cx="499109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Cambria Math"/>
                <a:cs typeface="Cambria Math"/>
              </a:rPr>
              <a:t>⇔</a:t>
            </a:r>
            <a:endParaRPr sz="36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264152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958965" cy="10566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2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 b="0">
                <a:solidFill>
                  <a:srgbClr val="0000FF"/>
                </a:solidFill>
                <a:latin typeface="Calibri"/>
                <a:cs typeface="Calibri"/>
              </a:rPr>
              <a:t>Any </a:t>
            </a:r>
            <a:r>
              <a:rPr dirty="0" sz="3200" spc="-5" b="0">
                <a:solidFill>
                  <a:srgbClr val="0000FF"/>
                </a:solidFill>
                <a:latin typeface="Calibri"/>
                <a:cs typeface="Calibri"/>
              </a:rPr>
              <a:t>node </a:t>
            </a:r>
            <a:r>
              <a:rPr dirty="0" sz="3200" spc="-15" b="0">
                <a:solidFill>
                  <a:srgbClr val="0000FF"/>
                </a:solidFill>
                <a:latin typeface="Calibri"/>
                <a:cs typeface="Calibri"/>
              </a:rPr>
              <a:t>can </a:t>
            </a:r>
            <a:r>
              <a:rPr dirty="0" sz="3200" spc="-10" b="0">
                <a:solidFill>
                  <a:srgbClr val="0000FF"/>
                </a:solidFill>
                <a:latin typeface="Calibri"/>
                <a:cs typeface="Calibri"/>
              </a:rPr>
              <a:t>connect </a:t>
            </a:r>
            <a:r>
              <a:rPr dirty="0" sz="3200" spc="-15" b="0">
                <a:solidFill>
                  <a:srgbClr val="0000FF"/>
                </a:solidFill>
                <a:latin typeface="Calibri"/>
                <a:cs typeface="Calibri"/>
              </a:rPr>
              <a:t>to </a:t>
            </a:r>
            <a:r>
              <a:rPr dirty="0" sz="3200" spc="-20" b="0">
                <a:solidFill>
                  <a:srgbClr val="0000FF"/>
                </a:solidFill>
                <a:latin typeface="Calibri"/>
                <a:cs typeface="Calibri"/>
              </a:rPr>
              <a:t>any </a:t>
            </a:r>
            <a:r>
              <a:rPr dirty="0" sz="3200" spc="-5" b="0">
                <a:solidFill>
                  <a:srgbClr val="0000FF"/>
                </a:solidFill>
                <a:latin typeface="Calibri"/>
                <a:cs typeface="Calibri"/>
              </a:rPr>
              <a:t>prior</a:t>
            </a:r>
            <a:r>
              <a:rPr dirty="0" sz="3200" spc="105" b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5" b="0">
                <a:solidFill>
                  <a:srgbClr val="0000FF"/>
                </a:solidFill>
                <a:latin typeface="Calibri"/>
                <a:cs typeface="Calibri"/>
              </a:rPr>
              <a:t>node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4300"/>
              </a:lnSpc>
              <a:buClr>
                <a:srgbClr val="F0AD00"/>
              </a:buClr>
              <a:buSzPct val="80555"/>
              <a:buFont typeface="Arial"/>
              <a:buChar char="▪"/>
              <a:tabLst>
                <a:tab pos="332740" algn="l"/>
              </a:tabLst>
            </a:pPr>
            <a:r>
              <a:rPr dirty="0" sz="3600" spc="-110" b="0">
                <a:latin typeface="Calibri"/>
                <a:cs typeface="Calibri"/>
              </a:rPr>
              <a:t>Too </a:t>
            </a:r>
            <a:r>
              <a:rPr dirty="0" sz="3600" spc="-20" b="0">
                <a:latin typeface="Calibri"/>
                <a:cs typeface="Calibri"/>
              </a:rPr>
              <a:t>many </a:t>
            </a:r>
            <a:r>
              <a:rPr dirty="0" sz="3600" spc="-25" b="0">
                <a:latin typeface="Calibri"/>
                <a:cs typeface="Calibri"/>
              </a:rPr>
              <a:t>steps </a:t>
            </a:r>
            <a:r>
              <a:rPr dirty="0" sz="3600" spc="-30" b="0">
                <a:latin typeface="Calibri"/>
                <a:cs typeface="Calibri"/>
              </a:rPr>
              <a:t>for </a:t>
            </a:r>
            <a:r>
              <a:rPr dirty="0" sz="3600" spc="-10" b="0">
                <a:latin typeface="Calibri"/>
                <a:cs typeface="Calibri"/>
              </a:rPr>
              <a:t>edge</a:t>
            </a:r>
            <a:r>
              <a:rPr dirty="0" sz="3600" spc="125" b="0">
                <a:latin typeface="Calibri"/>
                <a:cs typeface="Calibri"/>
              </a:rPr>
              <a:t> </a:t>
            </a:r>
            <a:r>
              <a:rPr dirty="0" sz="3600" spc="-20" b="0">
                <a:latin typeface="Calibri"/>
                <a:cs typeface="Calibri"/>
              </a:rPr>
              <a:t>generation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2382520"/>
            <a:ext cx="6475730" cy="116586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6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3100" spc="-5">
                <a:latin typeface="Calibri"/>
                <a:cs typeface="Calibri"/>
              </a:rPr>
              <a:t>Need </a:t>
            </a:r>
            <a:r>
              <a:rPr dirty="0" sz="3100" spc="-20">
                <a:latin typeface="Calibri"/>
                <a:cs typeface="Calibri"/>
              </a:rPr>
              <a:t>to </a:t>
            </a:r>
            <a:r>
              <a:rPr dirty="0" sz="3100" spc="-25">
                <a:latin typeface="Calibri"/>
                <a:cs typeface="Calibri"/>
              </a:rPr>
              <a:t>generate </a:t>
            </a:r>
            <a:r>
              <a:rPr dirty="0" sz="3100" spc="-5">
                <a:latin typeface="Calibri"/>
                <a:cs typeface="Calibri"/>
              </a:rPr>
              <a:t>full adjacency  </a:t>
            </a:r>
            <a:r>
              <a:rPr dirty="0" sz="3100" spc="-95">
                <a:latin typeface="Calibri"/>
                <a:cs typeface="Calibri"/>
              </a:rPr>
              <a:t>matrix</a:t>
            </a:r>
            <a:endParaRPr sz="31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76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3100" spc="-10">
                <a:latin typeface="Calibri"/>
                <a:cs typeface="Calibri"/>
              </a:rPr>
              <a:t>Complex too-long edge dependencies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09800" y="395311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209800" y="4785893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202468" y="4785893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575560" y="4964973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6909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192956" y="3944848"/>
            <a:ext cx="384810" cy="383540"/>
          </a:xfrm>
          <a:custGeom>
            <a:avLst/>
            <a:gdLst/>
            <a:ahLst/>
            <a:cxnLst/>
            <a:rect l="l" t="t" r="r" b="b"/>
            <a:pathLst>
              <a:path w="384810" h="383539">
                <a:moveTo>
                  <a:pt x="211571" y="0"/>
                </a:moveTo>
                <a:lnTo>
                  <a:pt x="172256" y="0"/>
                </a:lnTo>
                <a:lnTo>
                  <a:pt x="134735" y="7619"/>
                </a:lnTo>
                <a:lnTo>
                  <a:pt x="84438" y="33019"/>
                </a:lnTo>
                <a:lnTo>
                  <a:pt x="43644" y="69849"/>
                </a:lnTo>
                <a:lnTo>
                  <a:pt x="14939" y="116839"/>
                </a:lnTo>
                <a:lnTo>
                  <a:pt x="3812" y="153669"/>
                </a:lnTo>
                <a:lnTo>
                  <a:pt x="0" y="191769"/>
                </a:lnTo>
                <a:lnTo>
                  <a:pt x="1040" y="212089"/>
                </a:lnTo>
                <a:lnTo>
                  <a:pt x="15303" y="266699"/>
                </a:lnTo>
                <a:lnTo>
                  <a:pt x="44225" y="314959"/>
                </a:lnTo>
                <a:lnTo>
                  <a:pt x="85196" y="351789"/>
                </a:lnTo>
                <a:lnTo>
                  <a:pt x="135637" y="375919"/>
                </a:lnTo>
                <a:lnTo>
                  <a:pt x="173214" y="383539"/>
                </a:lnTo>
                <a:lnTo>
                  <a:pt x="212528" y="383539"/>
                </a:lnTo>
                <a:lnTo>
                  <a:pt x="250049" y="375919"/>
                </a:lnTo>
                <a:lnTo>
                  <a:pt x="255936" y="373379"/>
                </a:lnTo>
                <a:lnTo>
                  <a:pt x="192295" y="373379"/>
                </a:lnTo>
                <a:lnTo>
                  <a:pt x="173790" y="372109"/>
                </a:lnTo>
                <a:lnTo>
                  <a:pt x="121861" y="358139"/>
                </a:lnTo>
                <a:lnTo>
                  <a:pt x="77204" y="331469"/>
                </a:lnTo>
                <a:lnTo>
                  <a:pt x="42270" y="293369"/>
                </a:lnTo>
                <a:lnTo>
                  <a:pt x="19523" y="245109"/>
                </a:lnTo>
                <a:lnTo>
                  <a:pt x="11414" y="191769"/>
                </a:lnTo>
                <a:lnTo>
                  <a:pt x="12359" y="172719"/>
                </a:lnTo>
                <a:lnTo>
                  <a:pt x="25673" y="120649"/>
                </a:lnTo>
                <a:lnTo>
                  <a:pt x="52798" y="76199"/>
                </a:lnTo>
                <a:lnTo>
                  <a:pt x="91283" y="41909"/>
                </a:lnTo>
                <a:lnTo>
                  <a:pt x="138663" y="19049"/>
                </a:lnTo>
                <a:lnTo>
                  <a:pt x="173981" y="11429"/>
                </a:lnTo>
                <a:lnTo>
                  <a:pt x="259769" y="11429"/>
                </a:lnTo>
                <a:lnTo>
                  <a:pt x="249147" y="7619"/>
                </a:lnTo>
                <a:lnTo>
                  <a:pt x="211571" y="0"/>
                </a:lnTo>
                <a:close/>
              </a:path>
              <a:path w="384810" h="383539">
                <a:moveTo>
                  <a:pt x="259769" y="11429"/>
                </a:moveTo>
                <a:lnTo>
                  <a:pt x="210995" y="11429"/>
                </a:lnTo>
                <a:lnTo>
                  <a:pt x="228961" y="13969"/>
                </a:lnTo>
                <a:lnTo>
                  <a:pt x="246301" y="19049"/>
                </a:lnTo>
                <a:lnTo>
                  <a:pt x="293653" y="41909"/>
                </a:lnTo>
                <a:lnTo>
                  <a:pt x="332101" y="76199"/>
                </a:lnTo>
                <a:lnTo>
                  <a:pt x="359185" y="121919"/>
                </a:lnTo>
                <a:lnTo>
                  <a:pt x="372445" y="173989"/>
                </a:lnTo>
                <a:lnTo>
                  <a:pt x="373369" y="191769"/>
                </a:lnTo>
                <a:lnTo>
                  <a:pt x="372426" y="210819"/>
                </a:lnTo>
                <a:lnTo>
                  <a:pt x="359111" y="262889"/>
                </a:lnTo>
                <a:lnTo>
                  <a:pt x="331985" y="307339"/>
                </a:lnTo>
                <a:lnTo>
                  <a:pt x="293502" y="341629"/>
                </a:lnTo>
                <a:lnTo>
                  <a:pt x="246120" y="364489"/>
                </a:lnTo>
                <a:lnTo>
                  <a:pt x="192295" y="373379"/>
                </a:lnTo>
                <a:lnTo>
                  <a:pt x="255936" y="373379"/>
                </a:lnTo>
                <a:lnTo>
                  <a:pt x="300346" y="350519"/>
                </a:lnTo>
                <a:lnTo>
                  <a:pt x="341139" y="313689"/>
                </a:lnTo>
                <a:lnTo>
                  <a:pt x="369845" y="266699"/>
                </a:lnTo>
                <a:lnTo>
                  <a:pt x="380973" y="229869"/>
                </a:lnTo>
                <a:lnTo>
                  <a:pt x="384785" y="191769"/>
                </a:lnTo>
                <a:lnTo>
                  <a:pt x="383744" y="171449"/>
                </a:lnTo>
                <a:lnTo>
                  <a:pt x="369482" y="116839"/>
                </a:lnTo>
                <a:lnTo>
                  <a:pt x="340560" y="68579"/>
                </a:lnTo>
                <a:lnTo>
                  <a:pt x="299587" y="31749"/>
                </a:lnTo>
                <a:lnTo>
                  <a:pt x="266851" y="13969"/>
                </a:lnTo>
                <a:lnTo>
                  <a:pt x="259769" y="11429"/>
                </a:lnTo>
                <a:close/>
              </a:path>
              <a:path w="384810" h="383539">
                <a:moveTo>
                  <a:pt x="210802" y="15239"/>
                </a:moveTo>
                <a:lnTo>
                  <a:pt x="174556" y="15239"/>
                </a:lnTo>
                <a:lnTo>
                  <a:pt x="156959" y="17779"/>
                </a:lnTo>
                <a:lnTo>
                  <a:pt x="108188" y="35559"/>
                </a:lnTo>
                <a:lnTo>
                  <a:pt x="67306" y="66039"/>
                </a:lnTo>
                <a:lnTo>
                  <a:pt x="36733" y="106679"/>
                </a:lnTo>
                <a:lnTo>
                  <a:pt x="18877" y="156209"/>
                </a:lnTo>
                <a:lnTo>
                  <a:pt x="15219" y="191769"/>
                </a:lnTo>
                <a:lnTo>
                  <a:pt x="16106" y="209549"/>
                </a:lnTo>
                <a:lnTo>
                  <a:pt x="29032" y="260349"/>
                </a:lnTo>
                <a:lnTo>
                  <a:pt x="55502" y="304799"/>
                </a:lnTo>
                <a:lnTo>
                  <a:pt x="93110" y="339089"/>
                </a:lnTo>
                <a:lnTo>
                  <a:pt x="139433" y="360679"/>
                </a:lnTo>
                <a:lnTo>
                  <a:pt x="192104" y="369569"/>
                </a:lnTo>
                <a:lnTo>
                  <a:pt x="210228" y="368299"/>
                </a:lnTo>
                <a:lnTo>
                  <a:pt x="227826" y="365759"/>
                </a:lnTo>
                <a:lnTo>
                  <a:pt x="191912" y="365759"/>
                </a:lnTo>
                <a:lnTo>
                  <a:pt x="174174" y="364489"/>
                </a:lnTo>
                <a:lnTo>
                  <a:pt x="124481" y="351789"/>
                </a:lnTo>
                <a:lnTo>
                  <a:pt x="81767" y="325119"/>
                </a:lnTo>
                <a:lnTo>
                  <a:pt x="48373" y="288289"/>
                </a:lnTo>
                <a:lnTo>
                  <a:pt x="26678" y="242569"/>
                </a:lnTo>
                <a:lnTo>
                  <a:pt x="19025" y="191769"/>
                </a:lnTo>
                <a:lnTo>
                  <a:pt x="19969" y="173989"/>
                </a:lnTo>
                <a:lnTo>
                  <a:pt x="32828" y="124459"/>
                </a:lnTo>
                <a:lnTo>
                  <a:pt x="58901" y="81279"/>
                </a:lnTo>
                <a:lnTo>
                  <a:pt x="95846" y="48259"/>
                </a:lnTo>
                <a:lnTo>
                  <a:pt x="141283" y="26669"/>
                </a:lnTo>
                <a:lnTo>
                  <a:pt x="192872" y="17779"/>
                </a:lnTo>
                <a:lnTo>
                  <a:pt x="228386" y="17779"/>
                </a:lnTo>
                <a:lnTo>
                  <a:pt x="210802" y="15239"/>
                </a:lnTo>
                <a:close/>
              </a:path>
              <a:path w="384810" h="383539">
                <a:moveTo>
                  <a:pt x="228386" y="17779"/>
                </a:moveTo>
                <a:lnTo>
                  <a:pt x="192872" y="17779"/>
                </a:lnTo>
                <a:lnTo>
                  <a:pt x="210610" y="19049"/>
                </a:lnTo>
                <a:lnTo>
                  <a:pt x="227812" y="21589"/>
                </a:lnTo>
                <a:lnTo>
                  <a:pt x="275429" y="39369"/>
                </a:lnTo>
                <a:lnTo>
                  <a:pt x="315301" y="69849"/>
                </a:lnTo>
                <a:lnTo>
                  <a:pt x="345059" y="109219"/>
                </a:lnTo>
                <a:lnTo>
                  <a:pt x="362332" y="157479"/>
                </a:lnTo>
                <a:lnTo>
                  <a:pt x="365760" y="191769"/>
                </a:lnTo>
                <a:lnTo>
                  <a:pt x="364815" y="209549"/>
                </a:lnTo>
                <a:lnTo>
                  <a:pt x="351956" y="259079"/>
                </a:lnTo>
                <a:lnTo>
                  <a:pt x="325883" y="302259"/>
                </a:lnTo>
                <a:lnTo>
                  <a:pt x="288937" y="335279"/>
                </a:lnTo>
                <a:lnTo>
                  <a:pt x="243502" y="356869"/>
                </a:lnTo>
                <a:lnTo>
                  <a:pt x="191912" y="365759"/>
                </a:lnTo>
                <a:lnTo>
                  <a:pt x="227826" y="365759"/>
                </a:lnTo>
                <a:lnTo>
                  <a:pt x="276597" y="347979"/>
                </a:lnTo>
                <a:lnTo>
                  <a:pt x="317478" y="317499"/>
                </a:lnTo>
                <a:lnTo>
                  <a:pt x="348051" y="276859"/>
                </a:lnTo>
                <a:lnTo>
                  <a:pt x="365907" y="227329"/>
                </a:lnTo>
                <a:lnTo>
                  <a:pt x="369564" y="191769"/>
                </a:lnTo>
                <a:lnTo>
                  <a:pt x="368678" y="173989"/>
                </a:lnTo>
                <a:lnTo>
                  <a:pt x="355752" y="123189"/>
                </a:lnTo>
                <a:lnTo>
                  <a:pt x="329281" y="78739"/>
                </a:lnTo>
                <a:lnTo>
                  <a:pt x="291674" y="44449"/>
                </a:lnTo>
                <a:lnTo>
                  <a:pt x="245352" y="22859"/>
                </a:lnTo>
                <a:lnTo>
                  <a:pt x="228386" y="177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295048" y="3940555"/>
            <a:ext cx="1188085" cy="1223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05205" algn="l"/>
              </a:tabLst>
            </a:pPr>
            <a:r>
              <a:rPr dirty="0" sz="2400" spc="-5">
                <a:latin typeface="Arial"/>
                <a:cs typeface="Arial"/>
              </a:rPr>
              <a:t>1</a:t>
            </a:r>
            <a:r>
              <a:rPr dirty="0" sz="2400" spc="-5">
                <a:latin typeface="Arial"/>
                <a:cs typeface="Arial"/>
              </a:rPr>
              <a:t>	</a:t>
            </a:r>
            <a:r>
              <a:rPr dirty="0" sz="2400" spc="-5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1005205" algn="l"/>
              </a:tabLst>
            </a:pP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5</a:t>
            </a: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	</a:t>
            </a:r>
            <a:r>
              <a:rPr dirty="0" sz="2400" spc="-5">
                <a:latin typeface="Arial"/>
                <a:cs typeface="Arial"/>
              </a:rPr>
              <a:t>4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889857" y="4408066"/>
            <a:ext cx="384810" cy="383540"/>
          </a:xfrm>
          <a:custGeom>
            <a:avLst/>
            <a:gdLst/>
            <a:ahLst/>
            <a:cxnLst/>
            <a:rect l="l" t="t" r="r" b="b"/>
            <a:pathLst>
              <a:path w="384810" h="383539">
                <a:moveTo>
                  <a:pt x="211571" y="0"/>
                </a:moveTo>
                <a:lnTo>
                  <a:pt x="172256" y="0"/>
                </a:lnTo>
                <a:lnTo>
                  <a:pt x="134735" y="7619"/>
                </a:lnTo>
                <a:lnTo>
                  <a:pt x="84438" y="33019"/>
                </a:lnTo>
                <a:lnTo>
                  <a:pt x="43644" y="69850"/>
                </a:lnTo>
                <a:lnTo>
                  <a:pt x="14939" y="116839"/>
                </a:lnTo>
                <a:lnTo>
                  <a:pt x="3812" y="153669"/>
                </a:lnTo>
                <a:lnTo>
                  <a:pt x="0" y="191769"/>
                </a:lnTo>
                <a:lnTo>
                  <a:pt x="1040" y="212089"/>
                </a:lnTo>
                <a:lnTo>
                  <a:pt x="15303" y="266700"/>
                </a:lnTo>
                <a:lnTo>
                  <a:pt x="44225" y="314959"/>
                </a:lnTo>
                <a:lnTo>
                  <a:pt x="85196" y="351789"/>
                </a:lnTo>
                <a:lnTo>
                  <a:pt x="135637" y="375919"/>
                </a:lnTo>
                <a:lnTo>
                  <a:pt x="173214" y="383539"/>
                </a:lnTo>
                <a:lnTo>
                  <a:pt x="212528" y="383539"/>
                </a:lnTo>
                <a:lnTo>
                  <a:pt x="250049" y="375919"/>
                </a:lnTo>
                <a:lnTo>
                  <a:pt x="255936" y="373379"/>
                </a:lnTo>
                <a:lnTo>
                  <a:pt x="192295" y="373379"/>
                </a:lnTo>
                <a:lnTo>
                  <a:pt x="173790" y="372109"/>
                </a:lnTo>
                <a:lnTo>
                  <a:pt x="121861" y="358139"/>
                </a:lnTo>
                <a:lnTo>
                  <a:pt x="77204" y="331469"/>
                </a:lnTo>
                <a:lnTo>
                  <a:pt x="42270" y="293369"/>
                </a:lnTo>
                <a:lnTo>
                  <a:pt x="19523" y="245109"/>
                </a:lnTo>
                <a:lnTo>
                  <a:pt x="11414" y="191769"/>
                </a:lnTo>
                <a:lnTo>
                  <a:pt x="12359" y="172719"/>
                </a:lnTo>
                <a:lnTo>
                  <a:pt x="25673" y="120650"/>
                </a:lnTo>
                <a:lnTo>
                  <a:pt x="52798" y="76200"/>
                </a:lnTo>
                <a:lnTo>
                  <a:pt x="91283" y="41909"/>
                </a:lnTo>
                <a:lnTo>
                  <a:pt x="138664" y="19050"/>
                </a:lnTo>
                <a:lnTo>
                  <a:pt x="173981" y="11429"/>
                </a:lnTo>
                <a:lnTo>
                  <a:pt x="259769" y="11429"/>
                </a:lnTo>
                <a:lnTo>
                  <a:pt x="249147" y="7619"/>
                </a:lnTo>
                <a:lnTo>
                  <a:pt x="211571" y="0"/>
                </a:lnTo>
                <a:close/>
              </a:path>
              <a:path w="384810" h="383539">
                <a:moveTo>
                  <a:pt x="259769" y="11429"/>
                </a:moveTo>
                <a:lnTo>
                  <a:pt x="210995" y="11429"/>
                </a:lnTo>
                <a:lnTo>
                  <a:pt x="228961" y="13969"/>
                </a:lnTo>
                <a:lnTo>
                  <a:pt x="246301" y="19050"/>
                </a:lnTo>
                <a:lnTo>
                  <a:pt x="293653" y="41909"/>
                </a:lnTo>
                <a:lnTo>
                  <a:pt x="332101" y="76200"/>
                </a:lnTo>
                <a:lnTo>
                  <a:pt x="359185" y="121919"/>
                </a:lnTo>
                <a:lnTo>
                  <a:pt x="372445" y="173989"/>
                </a:lnTo>
                <a:lnTo>
                  <a:pt x="373369" y="191769"/>
                </a:lnTo>
                <a:lnTo>
                  <a:pt x="372426" y="210819"/>
                </a:lnTo>
                <a:lnTo>
                  <a:pt x="359111" y="262889"/>
                </a:lnTo>
                <a:lnTo>
                  <a:pt x="331985" y="307339"/>
                </a:lnTo>
                <a:lnTo>
                  <a:pt x="293502" y="341629"/>
                </a:lnTo>
                <a:lnTo>
                  <a:pt x="246120" y="364489"/>
                </a:lnTo>
                <a:lnTo>
                  <a:pt x="192295" y="373379"/>
                </a:lnTo>
                <a:lnTo>
                  <a:pt x="255936" y="373379"/>
                </a:lnTo>
                <a:lnTo>
                  <a:pt x="300346" y="350519"/>
                </a:lnTo>
                <a:lnTo>
                  <a:pt x="341139" y="313689"/>
                </a:lnTo>
                <a:lnTo>
                  <a:pt x="369845" y="266700"/>
                </a:lnTo>
                <a:lnTo>
                  <a:pt x="380973" y="229869"/>
                </a:lnTo>
                <a:lnTo>
                  <a:pt x="384785" y="191769"/>
                </a:lnTo>
                <a:lnTo>
                  <a:pt x="383744" y="171450"/>
                </a:lnTo>
                <a:lnTo>
                  <a:pt x="369482" y="116839"/>
                </a:lnTo>
                <a:lnTo>
                  <a:pt x="340560" y="68579"/>
                </a:lnTo>
                <a:lnTo>
                  <a:pt x="299587" y="31750"/>
                </a:lnTo>
                <a:lnTo>
                  <a:pt x="266851" y="13969"/>
                </a:lnTo>
                <a:lnTo>
                  <a:pt x="259769" y="11429"/>
                </a:lnTo>
                <a:close/>
              </a:path>
              <a:path w="384810" h="383539">
                <a:moveTo>
                  <a:pt x="210802" y="15239"/>
                </a:moveTo>
                <a:lnTo>
                  <a:pt x="174556" y="15239"/>
                </a:lnTo>
                <a:lnTo>
                  <a:pt x="156959" y="17779"/>
                </a:lnTo>
                <a:lnTo>
                  <a:pt x="108188" y="35559"/>
                </a:lnTo>
                <a:lnTo>
                  <a:pt x="67306" y="66039"/>
                </a:lnTo>
                <a:lnTo>
                  <a:pt x="36733" y="106679"/>
                </a:lnTo>
                <a:lnTo>
                  <a:pt x="18877" y="156209"/>
                </a:lnTo>
                <a:lnTo>
                  <a:pt x="15219" y="191769"/>
                </a:lnTo>
                <a:lnTo>
                  <a:pt x="16106" y="209550"/>
                </a:lnTo>
                <a:lnTo>
                  <a:pt x="29033" y="260350"/>
                </a:lnTo>
                <a:lnTo>
                  <a:pt x="55502" y="304800"/>
                </a:lnTo>
                <a:lnTo>
                  <a:pt x="93110" y="339089"/>
                </a:lnTo>
                <a:lnTo>
                  <a:pt x="139433" y="360679"/>
                </a:lnTo>
                <a:lnTo>
                  <a:pt x="192104" y="369569"/>
                </a:lnTo>
                <a:lnTo>
                  <a:pt x="210228" y="368300"/>
                </a:lnTo>
                <a:lnTo>
                  <a:pt x="227826" y="365759"/>
                </a:lnTo>
                <a:lnTo>
                  <a:pt x="191912" y="365759"/>
                </a:lnTo>
                <a:lnTo>
                  <a:pt x="174174" y="364489"/>
                </a:lnTo>
                <a:lnTo>
                  <a:pt x="124481" y="351789"/>
                </a:lnTo>
                <a:lnTo>
                  <a:pt x="81767" y="325119"/>
                </a:lnTo>
                <a:lnTo>
                  <a:pt x="48373" y="288289"/>
                </a:lnTo>
                <a:lnTo>
                  <a:pt x="26678" y="242569"/>
                </a:lnTo>
                <a:lnTo>
                  <a:pt x="19025" y="191769"/>
                </a:lnTo>
                <a:lnTo>
                  <a:pt x="19969" y="173989"/>
                </a:lnTo>
                <a:lnTo>
                  <a:pt x="32828" y="124459"/>
                </a:lnTo>
                <a:lnTo>
                  <a:pt x="58901" y="81279"/>
                </a:lnTo>
                <a:lnTo>
                  <a:pt x="95846" y="48259"/>
                </a:lnTo>
                <a:lnTo>
                  <a:pt x="141283" y="26669"/>
                </a:lnTo>
                <a:lnTo>
                  <a:pt x="192872" y="17779"/>
                </a:lnTo>
                <a:lnTo>
                  <a:pt x="228386" y="17779"/>
                </a:lnTo>
                <a:lnTo>
                  <a:pt x="210802" y="15239"/>
                </a:lnTo>
                <a:close/>
              </a:path>
              <a:path w="384810" h="383539">
                <a:moveTo>
                  <a:pt x="228386" y="17779"/>
                </a:moveTo>
                <a:lnTo>
                  <a:pt x="192872" y="17779"/>
                </a:lnTo>
                <a:lnTo>
                  <a:pt x="210610" y="19050"/>
                </a:lnTo>
                <a:lnTo>
                  <a:pt x="227812" y="21589"/>
                </a:lnTo>
                <a:lnTo>
                  <a:pt x="275429" y="39369"/>
                </a:lnTo>
                <a:lnTo>
                  <a:pt x="315301" y="69850"/>
                </a:lnTo>
                <a:lnTo>
                  <a:pt x="345059" y="109219"/>
                </a:lnTo>
                <a:lnTo>
                  <a:pt x="362332" y="157479"/>
                </a:lnTo>
                <a:lnTo>
                  <a:pt x="365760" y="191769"/>
                </a:lnTo>
                <a:lnTo>
                  <a:pt x="364815" y="209550"/>
                </a:lnTo>
                <a:lnTo>
                  <a:pt x="351956" y="259079"/>
                </a:lnTo>
                <a:lnTo>
                  <a:pt x="325883" y="302259"/>
                </a:lnTo>
                <a:lnTo>
                  <a:pt x="288937" y="335279"/>
                </a:lnTo>
                <a:lnTo>
                  <a:pt x="243502" y="356869"/>
                </a:lnTo>
                <a:lnTo>
                  <a:pt x="191912" y="365759"/>
                </a:lnTo>
                <a:lnTo>
                  <a:pt x="227826" y="365759"/>
                </a:lnTo>
                <a:lnTo>
                  <a:pt x="276597" y="347979"/>
                </a:lnTo>
                <a:lnTo>
                  <a:pt x="317478" y="317500"/>
                </a:lnTo>
                <a:lnTo>
                  <a:pt x="348051" y="276859"/>
                </a:lnTo>
                <a:lnTo>
                  <a:pt x="365907" y="227329"/>
                </a:lnTo>
                <a:lnTo>
                  <a:pt x="369564" y="191769"/>
                </a:lnTo>
                <a:lnTo>
                  <a:pt x="368678" y="173989"/>
                </a:lnTo>
                <a:lnTo>
                  <a:pt x="355752" y="123189"/>
                </a:lnTo>
                <a:lnTo>
                  <a:pt x="329281" y="78739"/>
                </a:lnTo>
                <a:lnTo>
                  <a:pt x="291674" y="44450"/>
                </a:lnTo>
                <a:lnTo>
                  <a:pt x="245352" y="22859"/>
                </a:lnTo>
                <a:lnTo>
                  <a:pt x="228386" y="177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984618" y="4403852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92679" y="4318876"/>
            <a:ext cx="0" cy="467359"/>
          </a:xfrm>
          <a:custGeom>
            <a:avLst/>
            <a:gdLst/>
            <a:ahLst/>
            <a:cxnLst/>
            <a:rect l="l" t="t" r="r" b="b"/>
            <a:pathLst>
              <a:path w="0" h="467360">
                <a:moveTo>
                  <a:pt x="0" y="0"/>
                </a:moveTo>
                <a:lnTo>
                  <a:pt x="1" y="467017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575560" y="4135996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6909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385348" y="4318876"/>
            <a:ext cx="0" cy="467359"/>
          </a:xfrm>
          <a:custGeom>
            <a:avLst/>
            <a:gdLst/>
            <a:ahLst/>
            <a:cxnLst/>
            <a:rect l="l" t="t" r="r" b="b"/>
            <a:pathLst>
              <a:path w="0" h="467360">
                <a:moveTo>
                  <a:pt x="0" y="0"/>
                </a:moveTo>
                <a:lnTo>
                  <a:pt x="1" y="467017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568230" y="4135996"/>
            <a:ext cx="384810" cy="334010"/>
          </a:xfrm>
          <a:custGeom>
            <a:avLst/>
            <a:gdLst/>
            <a:ahLst/>
            <a:cxnLst/>
            <a:rect l="l" t="t" r="r" b="b"/>
            <a:pathLst>
              <a:path w="384810" h="334010">
                <a:moveTo>
                  <a:pt x="0" y="0"/>
                </a:moveTo>
                <a:lnTo>
                  <a:pt x="384705" y="33390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568230" y="4728529"/>
            <a:ext cx="384810" cy="240665"/>
          </a:xfrm>
          <a:custGeom>
            <a:avLst/>
            <a:gdLst/>
            <a:ahLst/>
            <a:cxnLst/>
            <a:rect l="l" t="t" r="r" b="b"/>
            <a:pathLst>
              <a:path w="384810" h="240664">
                <a:moveTo>
                  <a:pt x="0" y="240244"/>
                </a:moveTo>
                <a:lnTo>
                  <a:pt x="384705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442944" y="5222747"/>
            <a:ext cx="26924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solidFill>
                  <a:srgbClr val="C00000"/>
                </a:solidFill>
                <a:latin typeface="Arial"/>
                <a:cs typeface="Arial"/>
              </a:rPr>
              <a:t>Random node</a:t>
            </a:r>
            <a:r>
              <a:rPr dirty="0" sz="2000" spc="-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C00000"/>
                </a:solidFill>
                <a:latin typeface="Arial"/>
                <a:cs typeface="Arial"/>
              </a:rPr>
              <a:t>ordering: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47</a:t>
            </a:fld>
          </a:p>
        </p:txBody>
      </p:sp>
      <p:sp>
        <p:nvSpPr>
          <p:cNvPr id="19" name="object 19"/>
          <p:cNvSpPr txBox="1"/>
          <p:nvPr/>
        </p:nvSpPr>
        <p:spPr>
          <a:xfrm>
            <a:off x="1442944" y="5527547"/>
            <a:ext cx="523113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Node 5 </a:t>
            </a:r>
            <a:r>
              <a:rPr dirty="0" sz="2000" spc="-5">
                <a:latin typeface="Arial"/>
                <a:cs typeface="Arial"/>
              </a:rPr>
              <a:t>may </a:t>
            </a:r>
            <a:r>
              <a:rPr dirty="0" sz="2000">
                <a:latin typeface="Arial"/>
                <a:cs typeface="Arial"/>
              </a:rPr>
              <a:t>connect </a:t>
            </a:r>
            <a:r>
              <a:rPr dirty="0" sz="2000" spc="-5">
                <a:latin typeface="Arial"/>
                <a:cs typeface="Arial"/>
              </a:rPr>
              <a:t>to any/all previous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nodes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14400" y="5943600"/>
            <a:ext cx="7315200" cy="693420"/>
          </a:xfrm>
          <a:prstGeom prst="rect">
            <a:avLst/>
          </a:prstGeom>
          <a:solidFill>
            <a:srgbClr val="92D050"/>
          </a:solidFill>
        </p:spPr>
        <p:txBody>
          <a:bodyPr wrap="square" lIns="0" tIns="78105" rIns="0" bIns="0" rtlCol="0" vert="horz">
            <a:spAutoFit/>
          </a:bodyPr>
          <a:lstStyle/>
          <a:p>
            <a:pPr marL="921385">
              <a:lnSpc>
                <a:spcPct val="100000"/>
              </a:lnSpc>
              <a:spcBef>
                <a:spcPts val="615"/>
              </a:spcBef>
            </a:pPr>
            <a:r>
              <a:rPr dirty="0" sz="3200" spc="-5">
                <a:solidFill>
                  <a:srgbClr val="FFFFFF"/>
                </a:solidFill>
                <a:latin typeface="Calibri"/>
                <a:cs typeface="Calibri"/>
              </a:rPr>
              <a:t>How </a:t>
            </a: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do </a:t>
            </a:r>
            <a:r>
              <a:rPr dirty="0" sz="3200" spc="-15">
                <a:solidFill>
                  <a:srgbClr val="FFFFFF"/>
                </a:solidFill>
                <a:latin typeface="Calibri"/>
                <a:cs typeface="Calibri"/>
              </a:rPr>
              <a:t>we </a:t>
            </a: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limit this</a:t>
            </a:r>
            <a:r>
              <a:rPr dirty="0" sz="3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Calibri"/>
                <a:cs typeface="Calibri"/>
              </a:rPr>
              <a:t>complexity?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024344" y="3614420"/>
            <a:ext cx="3886835" cy="565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“Recipe”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to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generate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the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left</a:t>
            </a:r>
            <a:r>
              <a:rPr dirty="0" sz="1800" spc="-3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graph: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25"/>
              </a:lnSpc>
              <a:tabLst>
                <a:tab pos="297815" algn="l"/>
              </a:tabLst>
            </a:pPr>
            <a:r>
              <a:rPr dirty="0" sz="1800">
                <a:latin typeface="Calibri"/>
                <a:cs typeface="Calibri"/>
              </a:rPr>
              <a:t>-	</a:t>
            </a:r>
            <a:r>
              <a:rPr dirty="0" sz="1800" spc="-5">
                <a:latin typeface="Arial"/>
                <a:cs typeface="Arial"/>
              </a:rPr>
              <a:t>Add node</a:t>
            </a:r>
            <a:r>
              <a:rPr dirty="0" sz="1800" spc="-9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24344" y="4160011"/>
            <a:ext cx="2648585" cy="1391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0" indent="-285750">
              <a:lnSpc>
                <a:spcPts val="2135"/>
              </a:lnSpc>
              <a:spcBef>
                <a:spcPts val="100"/>
              </a:spcBef>
              <a:buFont typeface="Calibri"/>
              <a:buChar char="-"/>
              <a:tabLst>
                <a:tab pos="297815" algn="l"/>
                <a:tab pos="298450" algn="l"/>
              </a:tabLst>
            </a:pPr>
            <a:r>
              <a:rPr dirty="0" sz="1800" spc="-5">
                <a:latin typeface="Arial"/>
                <a:cs typeface="Arial"/>
              </a:rPr>
              <a:t>Add node</a:t>
            </a:r>
            <a:r>
              <a:rPr dirty="0" sz="1800" spc="-9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  <a:p>
            <a:pPr marL="298450" indent="-285750">
              <a:lnSpc>
                <a:spcPts val="2135"/>
              </a:lnSpc>
              <a:buFont typeface="Calibri"/>
              <a:buChar char="-"/>
              <a:tabLst>
                <a:tab pos="297815" algn="l"/>
                <a:tab pos="298450" algn="l"/>
              </a:tabLst>
            </a:pPr>
            <a:r>
              <a:rPr dirty="0" sz="1800" spc="-5">
                <a:latin typeface="Arial"/>
                <a:cs typeface="Arial"/>
              </a:rPr>
              <a:t>Add node</a:t>
            </a:r>
            <a:r>
              <a:rPr dirty="0" sz="1800" spc="-9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25"/>
              </a:spcBef>
              <a:buFont typeface="Calibri"/>
              <a:buChar char="-"/>
              <a:tabLst>
                <a:tab pos="297815" algn="l"/>
                <a:tab pos="298450" algn="l"/>
              </a:tabLst>
            </a:pPr>
            <a:r>
              <a:rPr dirty="0" sz="1800" spc="-5">
                <a:latin typeface="Arial"/>
                <a:cs typeface="Arial"/>
              </a:rPr>
              <a:t>Connect </a:t>
            </a:r>
            <a:r>
              <a:rPr dirty="0" sz="1800">
                <a:latin typeface="Arial"/>
                <a:cs typeface="Arial"/>
              </a:rPr>
              <a:t>3 </a:t>
            </a:r>
            <a:r>
              <a:rPr dirty="0" sz="1800" spc="-5">
                <a:latin typeface="Arial"/>
                <a:cs typeface="Arial"/>
              </a:rPr>
              <a:t>with </a:t>
            </a:r>
            <a:r>
              <a:rPr dirty="0" sz="1800">
                <a:latin typeface="Arial"/>
                <a:cs typeface="Arial"/>
              </a:rPr>
              <a:t>2 </a:t>
            </a:r>
            <a:r>
              <a:rPr dirty="0" sz="1800" spc="-5">
                <a:latin typeface="Arial"/>
                <a:cs typeface="Arial"/>
              </a:rPr>
              <a:t>and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  <a:p>
            <a:pPr marL="298450" indent="-285750">
              <a:lnSpc>
                <a:spcPts val="2125"/>
              </a:lnSpc>
              <a:spcBef>
                <a:spcPts val="45"/>
              </a:spcBef>
              <a:buFont typeface="Calibri"/>
              <a:buChar char="-"/>
              <a:tabLst>
                <a:tab pos="297815" algn="l"/>
                <a:tab pos="298450" algn="l"/>
              </a:tabLst>
            </a:pPr>
            <a:r>
              <a:rPr dirty="0" sz="1800" spc="-5">
                <a:latin typeface="Arial"/>
                <a:cs typeface="Arial"/>
              </a:rPr>
              <a:t>Add node</a:t>
            </a:r>
            <a:r>
              <a:rPr dirty="0" sz="1800" spc="-9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25"/>
              </a:lnSpc>
              <a:tabLst>
                <a:tab pos="297815" algn="l"/>
              </a:tabLst>
            </a:pPr>
            <a:r>
              <a:rPr dirty="0" sz="1800">
                <a:latin typeface="Calibri"/>
                <a:cs typeface="Calibri"/>
              </a:rPr>
              <a:t>-	</a:t>
            </a:r>
            <a:r>
              <a:rPr dirty="0" sz="1800">
                <a:latin typeface="Arial"/>
                <a:cs typeface="Arial"/>
              </a:rPr>
              <a:t>…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702868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11655"/>
            <a:ext cx="5323840" cy="436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10">
                <a:solidFill>
                  <a:srgbClr val="0000FF"/>
                </a:solidFill>
              </a:rPr>
              <a:t>Breadth-First Search </a:t>
            </a:r>
            <a:r>
              <a:rPr dirty="0" sz="2700" spc="-5">
                <a:solidFill>
                  <a:srgbClr val="0000FF"/>
                </a:solidFill>
              </a:rPr>
              <a:t>node</a:t>
            </a:r>
            <a:r>
              <a:rPr dirty="0" sz="2700">
                <a:solidFill>
                  <a:srgbClr val="0000FF"/>
                </a:solidFill>
              </a:rPr>
              <a:t> </a:t>
            </a:r>
            <a:r>
              <a:rPr dirty="0" sz="2700" spc="-10">
                <a:solidFill>
                  <a:srgbClr val="0000FF"/>
                </a:solidFill>
              </a:rPr>
              <a:t>ordering</a:t>
            </a:r>
            <a:endParaRPr sz="2700"/>
          </a:p>
        </p:txBody>
      </p:sp>
      <p:sp>
        <p:nvSpPr>
          <p:cNvPr id="4" name="object 4"/>
          <p:cNvSpPr txBox="1"/>
          <p:nvPr/>
        </p:nvSpPr>
        <p:spPr>
          <a:xfrm>
            <a:off x="618108" y="3852735"/>
            <a:ext cx="8262620" cy="2433320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490"/>
              </a:spcBef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15" b="1">
                <a:solidFill>
                  <a:srgbClr val="C00000"/>
                </a:solidFill>
                <a:latin typeface="Calibri"/>
                <a:cs typeface="Calibri"/>
              </a:rPr>
              <a:t>BFS </a:t>
            </a:r>
            <a:r>
              <a:rPr dirty="0" sz="2700" spc="-5" b="1">
                <a:solidFill>
                  <a:srgbClr val="C00000"/>
                </a:solidFill>
                <a:latin typeface="Calibri"/>
                <a:cs typeface="Calibri"/>
              </a:rPr>
              <a:t>node</a:t>
            </a:r>
            <a:r>
              <a:rPr dirty="0" sz="2700" spc="-2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700" spc="-10" b="1">
                <a:solidFill>
                  <a:srgbClr val="C00000"/>
                </a:solidFill>
                <a:latin typeface="Calibri"/>
                <a:cs typeface="Calibri"/>
              </a:rPr>
              <a:t>ordering:</a:t>
            </a:r>
            <a:endParaRPr sz="27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3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5">
                <a:latin typeface="Calibri"/>
                <a:cs typeface="Calibri"/>
              </a:rPr>
              <a:t>Since Node </a:t>
            </a:r>
            <a:r>
              <a:rPr dirty="0" sz="2400">
                <a:latin typeface="Calibri"/>
                <a:cs typeface="Calibri"/>
              </a:rPr>
              <a:t>4 </a:t>
            </a:r>
            <a:r>
              <a:rPr dirty="0" sz="2400" spc="-5">
                <a:latin typeface="Calibri"/>
                <a:cs typeface="Calibri"/>
              </a:rPr>
              <a:t>doesn’t connect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 spc="-5">
                <a:latin typeface="Calibri"/>
                <a:cs typeface="Calibri"/>
              </a:rPr>
              <a:t>Node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21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45">
                <a:latin typeface="Calibri"/>
                <a:cs typeface="Calibri"/>
              </a:rPr>
              <a:t>We </a:t>
            </a:r>
            <a:r>
              <a:rPr dirty="0" sz="2400" spc="-5">
                <a:latin typeface="Calibri"/>
                <a:cs typeface="Calibri"/>
              </a:rPr>
              <a:t>know all Node </a:t>
            </a:r>
            <a:r>
              <a:rPr dirty="0" sz="2400" spc="-55">
                <a:latin typeface="Calibri"/>
                <a:cs typeface="Calibri"/>
              </a:rPr>
              <a:t>1’s </a:t>
            </a:r>
            <a:r>
              <a:rPr dirty="0" sz="2400" spc="-10">
                <a:latin typeface="Calibri"/>
                <a:cs typeface="Calibri"/>
              </a:rPr>
              <a:t>neighbors </a:t>
            </a:r>
            <a:r>
              <a:rPr dirty="0" sz="2400" spc="-20">
                <a:latin typeface="Calibri"/>
                <a:cs typeface="Calibri"/>
              </a:rPr>
              <a:t>have </a:t>
            </a:r>
            <a:r>
              <a:rPr dirty="0" sz="2400" spc="-10">
                <a:latin typeface="Calibri"/>
                <a:cs typeface="Calibri"/>
              </a:rPr>
              <a:t>already </a:t>
            </a:r>
            <a:r>
              <a:rPr dirty="0" sz="2400">
                <a:latin typeface="Calibri"/>
                <a:cs typeface="Calibri"/>
              </a:rPr>
              <a:t>been</a:t>
            </a:r>
            <a:r>
              <a:rPr dirty="0" sz="2400" spc="16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traversed</a:t>
            </a:r>
            <a:endParaRPr sz="2400">
              <a:latin typeface="Calibri"/>
              <a:cs typeface="Calibri"/>
            </a:endParaRPr>
          </a:p>
          <a:p>
            <a:pPr lvl="1" marL="625475" marR="5080" indent="-274320">
              <a:lnSpc>
                <a:spcPts val="2590"/>
              </a:lnSpc>
              <a:spcBef>
                <a:spcPts val="66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15">
                <a:latin typeface="Calibri"/>
                <a:cs typeface="Calibri"/>
              </a:rPr>
              <a:t>Therefore, </a:t>
            </a:r>
            <a:r>
              <a:rPr dirty="0" sz="2400" spc="-5">
                <a:latin typeface="Calibri"/>
                <a:cs typeface="Calibri"/>
              </a:rPr>
              <a:t>Node </a:t>
            </a:r>
            <a:r>
              <a:rPr dirty="0" sz="2400">
                <a:latin typeface="Calibri"/>
                <a:cs typeface="Calibri"/>
              </a:rPr>
              <a:t>5 and </a:t>
            </a:r>
            <a:r>
              <a:rPr dirty="0" sz="2400" spc="-5">
                <a:latin typeface="Calibri"/>
                <a:cs typeface="Calibri"/>
              </a:rPr>
              <a:t>the </a:t>
            </a:r>
            <a:r>
              <a:rPr dirty="0" sz="2400" spc="-10">
                <a:latin typeface="Calibri"/>
                <a:cs typeface="Calibri"/>
              </a:rPr>
              <a:t>following </a:t>
            </a:r>
            <a:r>
              <a:rPr dirty="0" sz="2400" spc="-5">
                <a:latin typeface="Calibri"/>
                <a:cs typeface="Calibri"/>
              </a:rPr>
              <a:t>nodes will </a:t>
            </a:r>
            <a:r>
              <a:rPr dirty="0" sz="2400" spc="-10">
                <a:latin typeface="Calibri"/>
                <a:cs typeface="Calibri"/>
              </a:rPr>
              <a:t>never </a:t>
            </a:r>
            <a:r>
              <a:rPr dirty="0" sz="2400" spc="-75">
                <a:latin typeface="Calibri"/>
                <a:cs typeface="Calibri"/>
              </a:rPr>
              <a:t>connect 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 spc="-5">
                <a:latin typeface="Calibri"/>
                <a:cs typeface="Calibri"/>
              </a:rPr>
              <a:t>node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27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45">
                <a:latin typeface="Calibri"/>
                <a:cs typeface="Calibri"/>
              </a:rPr>
              <a:t>We </a:t>
            </a:r>
            <a:r>
              <a:rPr dirty="0" sz="2400" spc="-5">
                <a:latin typeface="Calibri"/>
                <a:cs typeface="Calibri"/>
              </a:rPr>
              <a:t>only </a:t>
            </a:r>
            <a:r>
              <a:rPr dirty="0" sz="2400">
                <a:latin typeface="Calibri"/>
                <a:cs typeface="Calibri"/>
              </a:rPr>
              <a:t>need </a:t>
            </a:r>
            <a:r>
              <a:rPr dirty="0" sz="2400" spc="-5">
                <a:latin typeface="Calibri"/>
                <a:cs typeface="Calibri"/>
              </a:rPr>
              <a:t>memory of </a:t>
            </a:r>
            <a:r>
              <a:rPr dirty="0" sz="2400">
                <a:latin typeface="Calibri"/>
                <a:cs typeface="Calibri"/>
              </a:rPr>
              <a:t>2 </a:t>
            </a:r>
            <a:r>
              <a:rPr dirty="0" sz="2400" spc="-20">
                <a:latin typeface="Calibri"/>
                <a:cs typeface="Calibri"/>
              </a:rPr>
              <a:t>“steps” </a:t>
            </a:r>
            <a:r>
              <a:rPr dirty="0" sz="2400" spc="-15">
                <a:latin typeface="Calibri"/>
                <a:cs typeface="Calibri"/>
              </a:rPr>
              <a:t>rather </a:t>
            </a:r>
            <a:r>
              <a:rPr dirty="0" sz="2400" spc="-5">
                <a:latin typeface="Calibri"/>
                <a:cs typeface="Calibri"/>
              </a:rPr>
              <a:t>than </a:t>
            </a:r>
            <a:r>
              <a:rPr dirty="0" sz="2400">
                <a:latin typeface="Cambria Math"/>
                <a:cs typeface="Cambria Math"/>
              </a:rPr>
              <a:t>n − 1</a:t>
            </a:r>
            <a:r>
              <a:rPr dirty="0" sz="2400" spc="50">
                <a:latin typeface="Cambria Math"/>
                <a:cs typeface="Cambria Math"/>
              </a:rPr>
              <a:t> </a:t>
            </a:r>
            <a:r>
              <a:rPr dirty="0" sz="2400" spc="-15">
                <a:latin typeface="Calibri"/>
                <a:cs typeface="Calibri"/>
              </a:rPr>
              <a:t>steps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94911" y="213360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694911" y="296637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687581" y="296637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060671" y="3145457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6909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678068" y="2125332"/>
            <a:ext cx="384810" cy="383540"/>
          </a:xfrm>
          <a:custGeom>
            <a:avLst/>
            <a:gdLst/>
            <a:ahLst/>
            <a:cxnLst/>
            <a:rect l="l" t="t" r="r" b="b"/>
            <a:pathLst>
              <a:path w="384810" h="383539">
                <a:moveTo>
                  <a:pt x="211571" y="0"/>
                </a:moveTo>
                <a:lnTo>
                  <a:pt x="172257" y="0"/>
                </a:lnTo>
                <a:lnTo>
                  <a:pt x="134736" y="7619"/>
                </a:lnTo>
                <a:lnTo>
                  <a:pt x="84438" y="33019"/>
                </a:lnTo>
                <a:lnTo>
                  <a:pt x="43646" y="69850"/>
                </a:lnTo>
                <a:lnTo>
                  <a:pt x="14940" y="116839"/>
                </a:lnTo>
                <a:lnTo>
                  <a:pt x="3812" y="153669"/>
                </a:lnTo>
                <a:lnTo>
                  <a:pt x="0" y="191769"/>
                </a:lnTo>
                <a:lnTo>
                  <a:pt x="1041" y="212089"/>
                </a:lnTo>
                <a:lnTo>
                  <a:pt x="15303" y="266700"/>
                </a:lnTo>
                <a:lnTo>
                  <a:pt x="44225" y="314960"/>
                </a:lnTo>
                <a:lnTo>
                  <a:pt x="85197" y="351789"/>
                </a:lnTo>
                <a:lnTo>
                  <a:pt x="135638" y="375919"/>
                </a:lnTo>
                <a:lnTo>
                  <a:pt x="173214" y="383539"/>
                </a:lnTo>
                <a:lnTo>
                  <a:pt x="212528" y="383539"/>
                </a:lnTo>
                <a:lnTo>
                  <a:pt x="250049" y="375919"/>
                </a:lnTo>
                <a:lnTo>
                  <a:pt x="255936" y="373379"/>
                </a:lnTo>
                <a:lnTo>
                  <a:pt x="192297" y="373379"/>
                </a:lnTo>
                <a:lnTo>
                  <a:pt x="173790" y="372110"/>
                </a:lnTo>
                <a:lnTo>
                  <a:pt x="121862" y="358139"/>
                </a:lnTo>
                <a:lnTo>
                  <a:pt x="77204" y="331469"/>
                </a:lnTo>
                <a:lnTo>
                  <a:pt x="42271" y="293369"/>
                </a:lnTo>
                <a:lnTo>
                  <a:pt x="19523" y="245110"/>
                </a:lnTo>
                <a:lnTo>
                  <a:pt x="11416" y="191769"/>
                </a:lnTo>
                <a:lnTo>
                  <a:pt x="12359" y="172719"/>
                </a:lnTo>
                <a:lnTo>
                  <a:pt x="25673" y="120650"/>
                </a:lnTo>
                <a:lnTo>
                  <a:pt x="52798" y="76200"/>
                </a:lnTo>
                <a:lnTo>
                  <a:pt x="91283" y="41910"/>
                </a:lnTo>
                <a:lnTo>
                  <a:pt x="138664" y="19050"/>
                </a:lnTo>
                <a:lnTo>
                  <a:pt x="173982" y="11429"/>
                </a:lnTo>
                <a:lnTo>
                  <a:pt x="259770" y="11429"/>
                </a:lnTo>
                <a:lnTo>
                  <a:pt x="249147" y="7619"/>
                </a:lnTo>
                <a:lnTo>
                  <a:pt x="211571" y="0"/>
                </a:lnTo>
                <a:close/>
              </a:path>
              <a:path w="384810" h="383539">
                <a:moveTo>
                  <a:pt x="259770" y="11429"/>
                </a:moveTo>
                <a:lnTo>
                  <a:pt x="210995" y="11429"/>
                </a:lnTo>
                <a:lnTo>
                  <a:pt x="228961" y="13969"/>
                </a:lnTo>
                <a:lnTo>
                  <a:pt x="246301" y="19050"/>
                </a:lnTo>
                <a:lnTo>
                  <a:pt x="293653" y="41910"/>
                </a:lnTo>
                <a:lnTo>
                  <a:pt x="332102" y="76200"/>
                </a:lnTo>
                <a:lnTo>
                  <a:pt x="359185" y="121919"/>
                </a:lnTo>
                <a:lnTo>
                  <a:pt x="372445" y="173989"/>
                </a:lnTo>
                <a:lnTo>
                  <a:pt x="373369" y="191769"/>
                </a:lnTo>
                <a:lnTo>
                  <a:pt x="372426" y="210819"/>
                </a:lnTo>
                <a:lnTo>
                  <a:pt x="359112" y="262889"/>
                </a:lnTo>
                <a:lnTo>
                  <a:pt x="331986" y="307339"/>
                </a:lnTo>
                <a:lnTo>
                  <a:pt x="293502" y="341629"/>
                </a:lnTo>
                <a:lnTo>
                  <a:pt x="246120" y="364489"/>
                </a:lnTo>
                <a:lnTo>
                  <a:pt x="192297" y="373379"/>
                </a:lnTo>
                <a:lnTo>
                  <a:pt x="255936" y="373379"/>
                </a:lnTo>
                <a:lnTo>
                  <a:pt x="300347" y="350519"/>
                </a:lnTo>
                <a:lnTo>
                  <a:pt x="341139" y="313689"/>
                </a:lnTo>
                <a:lnTo>
                  <a:pt x="369845" y="266700"/>
                </a:lnTo>
                <a:lnTo>
                  <a:pt x="380973" y="229869"/>
                </a:lnTo>
                <a:lnTo>
                  <a:pt x="384785" y="191769"/>
                </a:lnTo>
                <a:lnTo>
                  <a:pt x="383744" y="171450"/>
                </a:lnTo>
                <a:lnTo>
                  <a:pt x="369482" y="116839"/>
                </a:lnTo>
                <a:lnTo>
                  <a:pt x="340560" y="68579"/>
                </a:lnTo>
                <a:lnTo>
                  <a:pt x="299587" y="31750"/>
                </a:lnTo>
                <a:lnTo>
                  <a:pt x="266852" y="13969"/>
                </a:lnTo>
                <a:lnTo>
                  <a:pt x="259770" y="11429"/>
                </a:lnTo>
                <a:close/>
              </a:path>
              <a:path w="384810" h="383539">
                <a:moveTo>
                  <a:pt x="210803" y="15239"/>
                </a:moveTo>
                <a:lnTo>
                  <a:pt x="174556" y="15239"/>
                </a:lnTo>
                <a:lnTo>
                  <a:pt x="156959" y="17779"/>
                </a:lnTo>
                <a:lnTo>
                  <a:pt x="108188" y="35560"/>
                </a:lnTo>
                <a:lnTo>
                  <a:pt x="67306" y="66039"/>
                </a:lnTo>
                <a:lnTo>
                  <a:pt x="36734" y="106679"/>
                </a:lnTo>
                <a:lnTo>
                  <a:pt x="18878" y="156210"/>
                </a:lnTo>
                <a:lnTo>
                  <a:pt x="15220" y="191769"/>
                </a:lnTo>
                <a:lnTo>
                  <a:pt x="16106" y="209550"/>
                </a:lnTo>
                <a:lnTo>
                  <a:pt x="29033" y="260350"/>
                </a:lnTo>
                <a:lnTo>
                  <a:pt x="55502" y="304800"/>
                </a:lnTo>
                <a:lnTo>
                  <a:pt x="93110" y="339089"/>
                </a:lnTo>
                <a:lnTo>
                  <a:pt x="139433" y="360679"/>
                </a:lnTo>
                <a:lnTo>
                  <a:pt x="192105" y="369569"/>
                </a:lnTo>
                <a:lnTo>
                  <a:pt x="210229" y="368300"/>
                </a:lnTo>
                <a:lnTo>
                  <a:pt x="227826" y="365760"/>
                </a:lnTo>
                <a:lnTo>
                  <a:pt x="191912" y="365760"/>
                </a:lnTo>
                <a:lnTo>
                  <a:pt x="174175" y="364489"/>
                </a:lnTo>
                <a:lnTo>
                  <a:pt x="124481" y="351789"/>
                </a:lnTo>
                <a:lnTo>
                  <a:pt x="81768" y="325119"/>
                </a:lnTo>
                <a:lnTo>
                  <a:pt x="48374" y="288289"/>
                </a:lnTo>
                <a:lnTo>
                  <a:pt x="26680" y="242569"/>
                </a:lnTo>
                <a:lnTo>
                  <a:pt x="19025" y="191769"/>
                </a:lnTo>
                <a:lnTo>
                  <a:pt x="19969" y="173989"/>
                </a:lnTo>
                <a:lnTo>
                  <a:pt x="32829" y="124460"/>
                </a:lnTo>
                <a:lnTo>
                  <a:pt x="58901" y="81279"/>
                </a:lnTo>
                <a:lnTo>
                  <a:pt x="95846" y="48260"/>
                </a:lnTo>
                <a:lnTo>
                  <a:pt x="141283" y="26669"/>
                </a:lnTo>
                <a:lnTo>
                  <a:pt x="175131" y="19050"/>
                </a:lnTo>
                <a:lnTo>
                  <a:pt x="232629" y="19050"/>
                </a:lnTo>
                <a:lnTo>
                  <a:pt x="228387" y="17779"/>
                </a:lnTo>
                <a:lnTo>
                  <a:pt x="210803" y="15239"/>
                </a:lnTo>
                <a:close/>
              </a:path>
              <a:path w="384810" h="383539">
                <a:moveTo>
                  <a:pt x="232629" y="19050"/>
                </a:moveTo>
                <a:lnTo>
                  <a:pt x="210610" y="19050"/>
                </a:lnTo>
                <a:lnTo>
                  <a:pt x="227812" y="21589"/>
                </a:lnTo>
                <a:lnTo>
                  <a:pt x="244403" y="26669"/>
                </a:lnTo>
                <a:lnTo>
                  <a:pt x="289697" y="48260"/>
                </a:lnTo>
                <a:lnTo>
                  <a:pt x="326463" y="81279"/>
                </a:lnTo>
                <a:lnTo>
                  <a:pt x="352319" y="124460"/>
                </a:lnTo>
                <a:lnTo>
                  <a:pt x="364912" y="173989"/>
                </a:lnTo>
                <a:lnTo>
                  <a:pt x="365760" y="191769"/>
                </a:lnTo>
                <a:lnTo>
                  <a:pt x="364816" y="209550"/>
                </a:lnTo>
                <a:lnTo>
                  <a:pt x="351956" y="259079"/>
                </a:lnTo>
                <a:lnTo>
                  <a:pt x="325884" y="302260"/>
                </a:lnTo>
                <a:lnTo>
                  <a:pt x="288938" y="335279"/>
                </a:lnTo>
                <a:lnTo>
                  <a:pt x="243502" y="356869"/>
                </a:lnTo>
                <a:lnTo>
                  <a:pt x="191912" y="365760"/>
                </a:lnTo>
                <a:lnTo>
                  <a:pt x="227826" y="365760"/>
                </a:lnTo>
                <a:lnTo>
                  <a:pt x="276597" y="347979"/>
                </a:lnTo>
                <a:lnTo>
                  <a:pt x="317479" y="317500"/>
                </a:lnTo>
                <a:lnTo>
                  <a:pt x="348051" y="276860"/>
                </a:lnTo>
                <a:lnTo>
                  <a:pt x="365907" y="227329"/>
                </a:lnTo>
                <a:lnTo>
                  <a:pt x="369564" y="191769"/>
                </a:lnTo>
                <a:lnTo>
                  <a:pt x="368679" y="173989"/>
                </a:lnTo>
                <a:lnTo>
                  <a:pt x="355752" y="123189"/>
                </a:lnTo>
                <a:lnTo>
                  <a:pt x="329283" y="78739"/>
                </a:lnTo>
                <a:lnTo>
                  <a:pt x="291675" y="44450"/>
                </a:lnTo>
                <a:lnTo>
                  <a:pt x="245352" y="22860"/>
                </a:lnTo>
                <a:lnTo>
                  <a:pt x="232629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374969" y="2588550"/>
            <a:ext cx="384810" cy="383540"/>
          </a:xfrm>
          <a:custGeom>
            <a:avLst/>
            <a:gdLst/>
            <a:ahLst/>
            <a:cxnLst/>
            <a:rect l="l" t="t" r="r" b="b"/>
            <a:pathLst>
              <a:path w="384810" h="383539">
                <a:moveTo>
                  <a:pt x="211571" y="0"/>
                </a:moveTo>
                <a:lnTo>
                  <a:pt x="172257" y="0"/>
                </a:lnTo>
                <a:lnTo>
                  <a:pt x="134736" y="7619"/>
                </a:lnTo>
                <a:lnTo>
                  <a:pt x="84438" y="33019"/>
                </a:lnTo>
                <a:lnTo>
                  <a:pt x="43646" y="69850"/>
                </a:lnTo>
                <a:lnTo>
                  <a:pt x="14940" y="116839"/>
                </a:lnTo>
                <a:lnTo>
                  <a:pt x="3812" y="153669"/>
                </a:lnTo>
                <a:lnTo>
                  <a:pt x="0" y="191769"/>
                </a:lnTo>
                <a:lnTo>
                  <a:pt x="1041" y="212089"/>
                </a:lnTo>
                <a:lnTo>
                  <a:pt x="15303" y="266700"/>
                </a:lnTo>
                <a:lnTo>
                  <a:pt x="44225" y="314960"/>
                </a:lnTo>
                <a:lnTo>
                  <a:pt x="85197" y="351789"/>
                </a:lnTo>
                <a:lnTo>
                  <a:pt x="135638" y="375919"/>
                </a:lnTo>
                <a:lnTo>
                  <a:pt x="173214" y="383539"/>
                </a:lnTo>
                <a:lnTo>
                  <a:pt x="212528" y="383539"/>
                </a:lnTo>
                <a:lnTo>
                  <a:pt x="250049" y="375919"/>
                </a:lnTo>
                <a:lnTo>
                  <a:pt x="255936" y="373379"/>
                </a:lnTo>
                <a:lnTo>
                  <a:pt x="192297" y="373379"/>
                </a:lnTo>
                <a:lnTo>
                  <a:pt x="173790" y="372110"/>
                </a:lnTo>
                <a:lnTo>
                  <a:pt x="121862" y="358139"/>
                </a:lnTo>
                <a:lnTo>
                  <a:pt x="77204" y="331469"/>
                </a:lnTo>
                <a:lnTo>
                  <a:pt x="42271" y="293369"/>
                </a:lnTo>
                <a:lnTo>
                  <a:pt x="19523" y="245110"/>
                </a:lnTo>
                <a:lnTo>
                  <a:pt x="11416" y="191769"/>
                </a:lnTo>
                <a:lnTo>
                  <a:pt x="12359" y="172719"/>
                </a:lnTo>
                <a:lnTo>
                  <a:pt x="25673" y="120650"/>
                </a:lnTo>
                <a:lnTo>
                  <a:pt x="52798" y="76200"/>
                </a:lnTo>
                <a:lnTo>
                  <a:pt x="91283" y="41910"/>
                </a:lnTo>
                <a:lnTo>
                  <a:pt x="138664" y="19050"/>
                </a:lnTo>
                <a:lnTo>
                  <a:pt x="173982" y="11429"/>
                </a:lnTo>
                <a:lnTo>
                  <a:pt x="259770" y="11429"/>
                </a:lnTo>
                <a:lnTo>
                  <a:pt x="249147" y="7619"/>
                </a:lnTo>
                <a:lnTo>
                  <a:pt x="211571" y="0"/>
                </a:lnTo>
                <a:close/>
              </a:path>
              <a:path w="384810" h="383539">
                <a:moveTo>
                  <a:pt x="259770" y="11429"/>
                </a:moveTo>
                <a:lnTo>
                  <a:pt x="210995" y="11429"/>
                </a:lnTo>
                <a:lnTo>
                  <a:pt x="228961" y="13969"/>
                </a:lnTo>
                <a:lnTo>
                  <a:pt x="246301" y="19050"/>
                </a:lnTo>
                <a:lnTo>
                  <a:pt x="293653" y="41910"/>
                </a:lnTo>
                <a:lnTo>
                  <a:pt x="332102" y="76200"/>
                </a:lnTo>
                <a:lnTo>
                  <a:pt x="359185" y="121919"/>
                </a:lnTo>
                <a:lnTo>
                  <a:pt x="372445" y="173989"/>
                </a:lnTo>
                <a:lnTo>
                  <a:pt x="373369" y="191769"/>
                </a:lnTo>
                <a:lnTo>
                  <a:pt x="372426" y="210819"/>
                </a:lnTo>
                <a:lnTo>
                  <a:pt x="359112" y="262889"/>
                </a:lnTo>
                <a:lnTo>
                  <a:pt x="331986" y="307339"/>
                </a:lnTo>
                <a:lnTo>
                  <a:pt x="293502" y="341629"/>
                </a:lnTo>
                <a:lnTo>
                  <a:pt x="246120" y="364489"/>
                </a:lnTo>
                <a:lnTo>
                  <a:pt x="192297" y="373379"/>
                </a:lnTo>
                <a:lnTo>
                  <a:pt x="255936" y="373379"/>
                </a:lnTo>
                <a:lnTo>
                  <a:pt x="300347" y="350519"/>
                </a:lnTo>
                <a:lnTo>
                  <a:pt x="341139" y="313689"/>
                </a:lnTo>
                <a:lnTo>
                  <a:pt x="369845" y="266700"/>
                </a:lnTo>
                <a:lnTo>
                  <a:pt x="380973" y="229869"/>
                </a:lnTo>
                <a:lnTo>
                  <a:pt x="384785" y="191769"/>
                </a:lnTo>
                <a:lnTo>
                  <a:pt x="383744" y="171450"/>
                </a:lnTo>
                <a:lnTo>
                  <a:pt x="369482" y="116839"/>
                </a:lnTo>
                <a:lnTo>
                  <a:pt x="340560" y="68579"/>
                </a:lnTo>
                <a:lnTo>
                  <a:pt x="299587" y="31750"/>
                </a:lnTo>
                <a:lnTo>
                  <a:pt x="266852" y="13969"/>
                </a:lnTo>
                <a:lnTo>
                  <a:pt x="259770" y="11429"/>
                </a:lnTo>
                <a:close/>
              </a:path>
              <a:path w="384810" h="383539">
                <a:moveTo>
                  <a:pt x="210803" y="15239"/>
                </a:moveTo>
                <a:lnTo>
                  <a:pt x="174556" y="15239"/>
                </a:lnTo>
                <a:lnTo>
                  <a:pt x="156959" y="17779"/>
                </a:lnTo>
                <a:lnTo>
                  <a:pt x="108188" y="35560"/>
                </a:lnTo>
                <a:lnTo>
                  <a:pt x="67306" y="66039"/>
                </a:lnTo>
                <a:lnTo>
                  <a:pt x="36734" y="106679"/>
                </a:lnTo>
                <a:lnTo>
                  <a:pt x="18878" y="156210"/>
                </a:lnTo>
                <a:lnTo>
                  <a:pt x="15220" y="191769"/>
                </a:lnTo>
                <a:lnTo>
                  <a:pt x="16106" y="209550"/>
                </a:lnTo>
                <a:lnTo>
                  <a:pt x="29033" y="260350"/>
                </a:lnTo>
                <a:lnTo>
                  <a:pt x="55502" y="304800"/>
                </a:lnTo>
                <a:lnTo>
                  <a:pt x="93110" y="339089"/>
                </a:lnTo>
                <a:lnTo>
                  <a:pt x="139433" y="360679"/>
                </a:lnTo>
                <a:lnTo>
                  <a:pt x="192105" y="369569"/>
                </a:lnTo>
                <a:lnTo>
                  <a:pt x="210229" y="368300"/>
                </a:lnTo>
                <a:lnTo>
                  <a:pt x="227826" y="365760"/>
                </a:lnTo>
                <a:lnTo>
                  <a:pt x="191912" y="365760"/>
                </a:lnTo>
                <a:lnTo>
                  <a:pt x="174175" y="364489"/>
                </a:lnTo>
                <a:lnTo>
                  <a:pt x="124481" y="351789"/>
                </a:lnTo>
                <a:lnTo>
                  <a:pt x="81768" y="325119"/>
                </a:lnTo>
                <a:lnTo>
                  <a:pt x="48374" y="288289"/>
                </a:lnTo>
                <a:lnTo>
                  <a:pt x="26680" y="242569"/>
                </a:lnTo>
                <a:lnTo>
                  <a:pt x="19025" y="191769"/>
                </a:lnTo>
                <a:lnTo>
                  <a:pt x="19969" y="173989"/>
                </a:lnTo>
                <a:lnTo>
                  <a:pt x="32829" y="124460"/>
                </a:lnTo>
                <a:lnTo>
                  <a:pt x="58901" y="81279"/>
                </a:lnTo>
                <a:lnTo>
                  <a:pt x="95846" y="48260"/>
                </a:lnTo>
                <a:lnTo>
                  <a:pt x="141283" y="26669"/>
                </a:lnTo>
                <a:lnTo>
                  <a:pt x="192873" y="17779"/>
                </a:lnTo>
                <a:lnTo>
                  <a:pt x="228387" y="17779"/>
                </a:lnTo>
                <a:lnTo>
                  <a:pt x="210803" y="15239"/>
                </a:lnTo>
                <a:close/>
              </a:path>
              <a:path w="384810" h="383539">
                <a:moveTo>
                  <a:pt x="228387" y="17779"/>
                </a:moveTo>
                <a:lnTo>
                  <a:pt x="192873" y="17779"/>
                </a:lnTo>
                <a:lnTo>
                  <a:pt x="210610" y="19050"/>
                </a:lnTo>
                <a:lnTo>
                  <a:pt x="227812" y="21589"/>
                </a:lnTo>
                <a:lnTo>
                  <a:pt x="275431" y="39369"/>
                </a:lnTo>
                <a:lnTo>
                  <a:pt x="315302" y="69850"/>
                </a:lnTo>
                <a:lnTo>
                  <a:pt x="345060" y="109219"/>
                </a:lnTo>
                <a:lnTo>
                  <a:pt x="362332" y="157479"/>
                </a:lnTo>
                <a:lnTo>
                  <a:pt x="365759" y="191769"/>
                </a:lnTo>
                <a:lnTo>
                  <a:pt x="364816" y="209550"/>
                </a:lnTo>
                <a:lnTo>
                  <a:pt x="351956" y="259079"/>
                </a:lnTo>
                <a:lnTo>
                  <a:pt x="325884" y="302260"/>
                </a:lnTo>
                <a:lnTo>
                  <a:pt x="288938" y="335279"/>
                </a:lnTo>
                <a:lnTo>
                  <a:pt x="243502" y="356869"/>
                </a:lnTo>
                <a:lnTo>
                  <a:pt x="191912" y="365760"/>
                </a:lnTo>
                <a:lnTo>
                  <a:pt x="227826" y="365760"/>
                </a:lnTo>
                <a:lnTo>
                  <a:pt x="276597" y="347979"/>
                </a:lnTo>
                <a:lnTo>
                  <a:pt x="317479" y="317500"/>
                </a:lnTo>
                <a:lnTo>
                  <a:pt x="348051" y="276860"/>
                </a:lnTo>
                <a:lnTo>
                  <a:pt x="365907" y="227329"/>
                </a:lnTo>
                <a:lnTo>
                  <a:pt x="369564" y="191769"/>
                </a:lnTo>
                <a:lnTo>
                  <a:pt x="368679" y="173989"/>
                </a:lnTo>
                <a:lnTo>
                  <a:pt x="355752" y="123189"/>
                </a:lnTo>
                <a:lnTo>
                  <a:pt x="329283" y="78739"/>
                </a:lnTo>
                <a:lnTo>
                  <a:pt x="291675" y="44450"/>
                </a:lnTo>
                <a:lnTo>
                  <a:pt x="245352" y="22860"/>
                </a:lnTo>
                <a:lnTo>
                  <a:pt x="228387" y="177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469730" y="2584195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5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877791" y="2499361"/>
            <a:ext cx="0" cy="467359"/>
          </a:xfrm>
          <a:custGeom>
            <a:avLst/>
            <a:gdLst/>
            <a:ahLst/>
            <a:cxnLst/>
            <a:rect l="l" t="t" r="r" b="b"/>
            <a:pathLst>
              <a:path w="0" h="467360">
                <a:moveTo>
                  <a:pt x="0" y="0"/>
                </a:moveTo>
                <a:lnTo>
                  <a:pt x="1" y="467017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060671" y="2316479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6909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870461" y="2499361"/>
            <a:ext cx="0" cy="467359"/>
          </a:xfrm>
          <a:custGeom>
            <a:avLst/>
            <a:gdLst/>
            <a:ahLst/>
            <a:cxnLst/>
            <a:rect l="l" t="t" r="r" b="b"/>
            <a:pathLst>
              <a:path w="0" h="467360">
                <a:moveTo>
                  <a:pt x="0" y="0"/>
                </a:moveTo>
                <a:lnTo>
                  <a:pt x="1" y="467017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53341" y="2316481"/>
            <a:ext cx="384810" cy="334010"/>
          </a:xfrm>
          <a:custGeom>
            <a:avLst/>
            <a:gdLst/>
            <a:ahLst/>
            <a:cxnLst/>
            <a:rect l="l" t="t" r="r" b="b"/>
            <a:pathLst>
              <a:path w="384810" h="334010">
                <a:moveTo>
                  <a:pt x="0" y="0"/>
                </a:moveTo>
                <a:lnTo>
                  <a:pt x="384705" y="33390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53341" y="2909014"/>
            <a:ext cx="384810" cy="240665"/>
          </a:xfrm>
          <a:custGeom>
            <a:avLst/>
            <a:gdLst/>
            <a:ahLst/>
            <a:cxnLst/>
            <a:rect l="l" t="t" r="r" b="b"/>
            <a:pathLst>
              <a:path w="384810" h="240664">
                <a:moveTo>
                  <a:pt x="0" y="240244"/>
                </a:moveTo>
                <a:lnTo>
                  <a:pt x="384705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755139" y="2120900"/>
            <a:ext cx="1372235" cy="1564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00"/>
              </a:spcBef>
              <a:tabLst>
                <a:tab pos="1029969" algn="l"/>
              </a:tabLst>
            </a:pPr>
            <a:r>
              <a:rPr dirty="0" sz="2400" spc="-5">
                <a:latin typeface="Arial"/>
                <a:cs typeface="Arial"/>
              </a:rPr>
              <a:t>1	3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150">
              <a:latin typeface="Times New Roman"/>
              <a:cs typeface="Times New Roman"/>
            </a:endParaRPr>
          </a:p>
          <a:p>
            <a:pPr marL="37465">
              <a:lnSpc>
                <a:spcPct val="100000"/>
              </a:lnSpc>
              <a:spcBef>
                <a:spcPts val="5"/>
              </a:spcBef>
              <a:tabLst>
                <a:tab pos="1029969" algn="l"/>
              </a:tabLst>
            </a:pPr>
            <a:r>
              <a:rPr dirty="0" sz="2400" spc="-5">
                <a:latin typeface="Arial"/>
                <a:cs typeface="Arial"/>
              </a:rPr>
              <a:t>2	4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800" spc="-5">
                <a:latin typeface="Arial"/>
                <a:cs typeface="Arial"/>
              </a:rPr>
              <a:t>BFS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ordering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47</a:t>
            </a:fld>
          </a:p>
        </p:txBody>
      </p:sp>
      <p:sp>
        <p:nvSpPr>
          <p:cNvPr id="18" name="object 18"/>
          <p:cNvSpPr txBox="1"/>
          <p:nvPr/>
        </p:nvSpPr>
        <p:spPr>
          <a:xfrm>
            <a:off x="3909457" y="1762251"/>
            <a:ext cx="346075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solidFill>
                  <a:srgbClr val="C00000"/>
                </a:solidFill>
                <a:latin typeface="Arial"/>
                <a:cs typeface="Arial"/>
              </a:rPr>
              <a:t>“Recipe” </a:t>
            </a:r>
            <a:r>
              <a:rPr dirty="0" sz="1600" b="1">
                <a:solidFill>
                  <a:srgbClr val="C00000"/>
                </a:solidFill>
                <a:latin typeface="Arial"/>
                <a:cs typeface="Arial"/>
              </a:rPr>
              <a:t>to </a:t>
            </a:r>
            <a:r>
              <a:rPr dirty="0" sz="1600" spc="-5" b="1">
                <a:solidFill>
                  <a:srgbClr val="C00000"/>
                </a:solidFill>
                <a:latin typeface="Arial"/>
                <a:cs typeface="Arial"/>
              </a:rPr>
              <a:t>generate the left</a:t>
            </a:r>
            <a:r>
              <a:rPr dirty="0" sz="16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C00000"/>
                </a:solidFill>
                <a:latin typeface="Arial"/>
                <a:cs typeface="Arial"/>
              </a:rPr>
              <a:t>graph:</a:t>
            </a:r>
            <a:endParaRPr sz="1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09457" y="2006092"/>
            <a:ext cx="2390140" cy="17297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0" indent="-285750">
              <a:lnSpc>
                <a:spcPts val="1910"/>
              </a:lnSpc>
              <a:spcBef>
                <a:spcPts val="100"/>
              </a:spcBef>
              <a:buFont typeface="Calibri"/>
              <a:buChar char="-"/>
              <a:tabLst>
                <a:tab pos="297815" algn="l"/>
                <a:tab pos="298450" algn="l"/>
              </a:tabLst>
            </a:pPr>
            <a:r>
              <a:rPr dirty="0" sz="1600" spc="-5">
                <a:latin typeface="Arial"/>
                <a:cs typeface="Arial"/>
              </a:rPr>
              <a:t>Add node</a:t>
            </a:r>
            <a:r>
              <a:rPr dirty="0" sz="1600" spc="-8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298450" indent="-285750">
              <a:lnSpc>
                <a:spcPts val="1895"/>
              </a:lnSpc>
              <a:buFont typeface="Calibri"/>
              <a:buChar char="-"/>
              <a:tabLst>
                <a:tab pos="297815" algn="l"/>
                <a:tab pos="298450" algn="l"/>
              </a:tabLst>
            </a:pPr>
            <a:r>
              <a:rPr dirty="0" sz="1600" spc="-5">
                <a:latin typeface="Arial"/>
                <a:cs typeface="Arial"/>
              </a:rPr>
              <a:t>Add node</a:t>
            </a:r>
            <a:r>
              <a:rPr dirty="0" sz="1600" spc="-8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  <a:p>
            <a:pPr marL="298450" indent="-285750">
              <a:lnSpc>
                <a:spcPts val="1895"/>
              </a:lnSpc>
              <a:buFont typeface="Calibri"/>
              <a:buChar char="-"/>
              <a:tabLst>
                <a:tab pos="297815" algn="l"/>
                <a:tab pos="298450" algn="l"/>
              </a:tabLst>
            </a:pPr>
            <a:r>
              <a:rPr dirty="0" sz="1600" spc="-5">
                <a:latin typeface="Arial"/>
                <a:cs typeface="Arial"/>
              </a:rPr>
              <a:t>Connect </a:t>
            </a:r>
            <a:r>
              <a:rPr dirty="0" sz="1600">
                <a:latin typeface="Arial"/>
                <a:cs typeface="Arial"/>
              </a:rPr>
              <a:t>2 </a:t>
            </a:r>
            <a:r>
              <a:rPr dirty="0" sz="1600" spc="-5">
                <a:latin typeface="Arial"/>
                <a:cs typeface="Arial"/>
              </a:rPr>
              <a:t>with</a:t>
            </a:r>
            <a:r>
              <a:rPr dirty="0" sz="1600" spc="-7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298450" indent="-285750">
              <a:lnSpc>
                <a:spcPts val="1910"/>
              </a:lnSpc>
              <a:buFont typeface="Calibri"/>
              <a:buChar char="-"/>
              <a:tabLst>
                <a:tab pos="297815" algn="l"/>
                <a:tab pos="298450" algn="l"/>
              </a:tabLst>
            </a:pPr>
            <a:r>
              <a:rPr dirty="0" sz="1600" spc="-5">
                <a:latin typeface="Arial"/>
                <a:cs typeface="Arial"/>
              </a:rPr>
              <a:t>Add node</a:t>
            </a:r>
            <a:r>
              <a:rPr dirty="0" sz="1600" spc="-8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70"/>
              </a:spcBef>
              <a:buFont typeface="Calibri"/>
              <a:buChar char="-"/>
              <a:tabLst>
                <a:tab pos="297815" algn="l"/>
                <a:tab pos="298450" algn="l"/>
              </a:tabLst>
            </a:pPr>
            <a:r>
              <a:rPr dirty="0" sz="1600" spc="-5">
                <a:latin typeface="Arial"/>
                <a:cs typeface="Arial"/>
              </a:rPr>
              <a:t>Connect </a:t>
            </a:r>
            <a:r>
              <a:rPr dirty="0" sz="1600">
                <a:latin typeface="Arial"/>
                <a:cs typeface="Arial"/>
              </a:rPr>
              <a:t>3 </a:t>
            </a:r>
            <a:r>
              <a:rPr dirty="0" sz="1600" spc="-5">
                <a:latin typeface="Arial"/>
                <a:cs typeface="Arial"/>
              </a:rPr>
              <a:t>with</a:t>
            </a:r>
            <a:r>
              <a:rPr dirty="0" sz="1600" spc="-7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298450" indent="-285750">
              <a:lnSpc>
                <a:spcPts val="1910"/>
              </a:lnSpc>
              <a:buFont typeface="Calibri"/>
              <a:buChar char="-"/>
              <a:tabLst>
                <a:tab pos="297815" algn="l"/>
                <a:tab pos="298450" algn="l"/>
              </a:tabLst>
            </a:pPr>
            <a:r>
              <a:rPr dirty="0" sz="1600" spc="-5">
                <a:latin typeface="Arial"/>
                <a:cs typeface="Arial"/>
              </a:rPr>
              <a:t>Add node</a:t>
            </a:r>
            <a:r>
              <a:rPr dirty="0" sz="1600" spc="-8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  <a:p>
            <a:pPr marL="298450" indent="-285750">
              <a:lnSpc>
                <a:spcPts val="1910"/>
              </a:lnSpc>
              <a:buFont typeface="Calibri"/>
              <a:buChar char="-"/>
              <a:tabLst>
                <a:tab pos="297815" algn="l"/>
                <a:tab pos="298450" algn="l"/>
              </a:tabLst>
            </a:pPr>
            <a:r>
              <a:rPr dirty="0" sz="1600" spc="-5">
                <a:latin typeface="Arial"/>
                <a:cs typeface="Arial"/>
              </a:rPr>
              <a:t>Connect </a:t>
            </a:r>
            <a:r>
              <a:rPr dirty="0" sz="1600">
                <a:latin typeface="Arial"/>
                <a:cs typeface="Arial"/>
              </a:rPr>
              <a:t>4 </a:t>
            </a:r>
            <a:r>
              <a:rPr dirty="0" sz="1600" spc="-5">
                <a:latin typeface="Arial"/>
                <a:cs typeface="Arial"/>
              </a:rPr>
              <a:t>with </a:t>
            </a:r>
            <a:r>
              <a:rPr dirty="0" sz="1600">
                <a:latin typeface="Arial"/>
                <a:cs typeface="Arial"/>
              </a:rPr>
              <a:t>3 </a:t>
            </a:r>
            <a:r>
              <a:rPr dirty="0" sz="1600" spc="-5">
                <a:latin typeface="Arial"/>
                <a:cs typeface="Arial"/>
              </a:rPr>
              <a:t>and</a:t>
            </a:r>
            <a:r>
              <a:rPr dirty="0" sz="1600" spc="-6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702868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23824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>
                <a:solidFill>
                  <a:srgbClr val="0000FF"/>
                </a:solidFill>
              </a:rPr>
              <a:t>Breadth-First </a:t>
            </a:r>
            <a:r>
              <a:rPr dirty="0" sz="3200" spc="-10">
                <a:solidFill>
                  <a:srgbClr val="0000FF"/>
                </a:solidFill>
              </a:rPr>
              <a:t>Search </a:t>
            </a:r>
            <a:r>
              <a:rPr dirty="0" sz="3200" spc="-5">
                <a:solidFill>
                  <a:srgbClr val="0000FF"/>
                </a:solidFill>
              </a:rPr>
              <a:t>node</a:t>
            </a:r>
            <a:r>
              <a:rPr dirty="0" sz="3200" spc="15">
                <a:solidFill>
                  <a:srgbClr val="0000FF"/>
                </a:solidFill>
              </a:rPr>
              <a:t> </a:t>
            </a:r>
            <a:r>
              <a:rPr dirty="0" sz="3200" spc="-10">
                <a:solidFill>
                  <a:srgbClr val="0000FF"/>
                </a:solidFill>
              </a:rPr>
              <a:t>ordering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618108" y="3917623"/>
            <a:ext cx="6778625" cy="2533015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9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Benefits: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5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Reduce </a:t>
            </a:r>
            <a:r>
              <a:rPr dirty="0" sz="2800" spc="-5">
                <a:latin typeface="Calibri"/>
                <a:cs typeface="Calibri"/>
              </a:rPr>
              <a:t>possible node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orderings</a:t>
            </a:r>
            <a:endParaRPr sz="2800">
              <a:latin typeface="Calibri"/>
              <a:cs typeface="Calibri"/>
            </a:endParaRPr>
          </a:p>
          <a:p>
            <a:pPr lvl="2" marL="890905" indent="-228600">
              <a:lnSpc>
                <a:spcPct val="100000"/>
              </a:lnSpc>
              <a:spcBef>
                <a:spcPts val="540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-15">
                <a:latin typeface="Calibri"/>
                <a:cs typeface="Calibri"/>
              </a:rPr>
              <a:t>From </a:t>
            </a:r>
            <a:r>
              <a:rPr dirty="0" sz="2400" spc="10">
                <a:latin typeface="Cambria Math"/>
                <a:cs typeface="Cambria Math"/>
              </a:rPr>
              <a:t>𝑂(𝑛!)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 spc="-5">
                <a:latin typeface="Calibri"/>
                <a:cs typeface="Calibri"/>
              </a:rPr>
              <a:t>number of </a:t>
            </a:r>
            <a:r>
              <a:rPr dirty="0" sz="2400" spc="-10">
                <a:latin typeface="Calibri"/>
                <a:cs typeface="Calibri"/>
              </a:rPr>
              <a:t>distinct </a:t>
            </a:r>
            <a:r>
              <a:rPr dirty="0" sz="2400" spc="-20">
                <a:latin typeface="Calibri"/>
                <a:cs typeface="Calibri"/>
              </a:rPr>
              <a:t>BFS</a:t>
            </a:r>
            <a:r>
              <a:rPr dirty="0" sz="2400" spc="25">
                <a:latin typeface="Calibri"/>
                <a:cs typeface="Calibri"/>
              </a:rPr>
              <a:t> </a:t>
            </a:r>
            <a:r>
              <a:rPr dirty="0" sz="2400" spc="-55">
                <a:latin typeface="Calibri"/>
                <a:cs typeface="Calibri"/>
              </a:rPr>
              <a:t>orderings</a:t>
            </a:r>
            <a:endParaRPr sz="24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0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Reduce </a:t>
            </a:r>
            <a:r>
              <a:rPr dirty="0" sz="2800" spc="-20">
                <a:latin typeface="Calibri"/>
                <a:cs typeface="Calibri"/>
              </a:rPr>
              <a:t>steps </a:t>
            </a:r>
            <a:r>
              <a:rPr dirty="0" sz="2800" spc="-25">
                <a:latin typeface="Calibri"/>
                <a:cs typeface="Calibri"/>
              </a:rPr>
              <a:t>for </a:t>
            </a:r>
            <a:r>
              <a:rPr dirty="0" sz="2800" spc="-10">
                <a:latin typeface="Calibri"/>
                <a:cs typeface="Calibri"/>
              </a:rPr>
              <a:t>edge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generation</a:t>
            </a:r>
            <a:endParaRPr sz="2800">
              <a:latin typeface="Calibri"/>
              <a:cs typeface="Calibri"/>
            </a:endParaRPr>
          </a:p>
          <a:p>
            <a:pPr lvl="2" marL="890905" indent="-228600">
              <a:lnSpc>
                <a:spcPct val="100000"/>
              </a:lnSpc>
              <a:spcBef>
                <a:spcPts val="640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-10">
                <a:latin typeface="Calibri"/>
                <a:cs typeface="Calibri"/>
              </a:rPr>
              <a:t>Reducing </a:t>
            </a:r>
            <a:r>
              <a:rPr dirty="0" sz="2400" spc="-5">
                <a:latin typeface="Calibri"/>
                <a:cs typeface="Calibri"/>
              </a:rPr>
              <a:t>number of </a:t>
            </a:r>
            <a:r>
              <a:rPr dirty="0" sz="2400" spc="-10">
                <a:latin typeface="Calibri"/>
                <a:cs typeface="Calibri"/>
              </a:rPr>
              <a:t>previous </a:t>
            </a:r>
            <a:r>
              <a:rPr dirty="0" sz="2400" spc="-5">
                <a:latin typeface="Calibri"/>
                <a:cs typeface="Calibri"/>
              </a:rPr>
              <a:t>nodes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 spc="-5">
                <a:latin typeface="Calibri"/>
                <a:cs typeface="Calibri"/>
              </a:rPr>
              <a:t>look</a:t>
            </a:r>
            <a:r>
              <a:rPr dirty="0" sz="2400" spc="10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at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94911" y="219069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694911" y="3023467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687581" y="3023467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80"/>
                </a:moveTo>
                <a:lnTo>
                  <a:pt x="6532" y="134263"/>
                </a:lnTo>
                <a:lnTo>
                  <a:pt x="24968" y="90576"/>
                </a:lnTo>
                <a:lnTo>
                  <a:pt x="53564" y="53564"/>
                </a:lnTo>
                <a:lnTo>
                  <a:pt x="90576" y="24968"/>
                </a:lnTo>
                <a:lnTo>
                  <a:pt x="134263" y="6532"/>
                </a:lnTo>
                <a:lnTo>
                  <a:pt x="182880" y="0"/>
                </a:lnTo>
                <a:lnTo>
                  <a:pt x="231496" y="6532"/>
                </a:lnTo>
                <a:lnTo>
                  <a:pt x="275183" y="24968"/>
                </a:lnTo>
                <a:lnTo>
                  <a:pt x="312195" y="53564"/>
                </a:lnTo>
                <a:lnTo>
                  <a:pt x="340791" y="90576"/>
                </a:lnTo>
                <a:lnTo>
                  <a:pt x="359227" y="134263"/>
                </a:lnTo>
                <a:lnTo>
                  <a:pt x="365760" y="182880"/>
                </a:lnTo>
                <a:lnTo>
                  <a:pt x="359227" y="231496"/>
                </a:lnTo>
                <a:lnTo>
                  <a:pt x="340791" y="275183"/>
                </a:lnTo>
                <a:lnTo>
                  <a:pt x="312195" y="312195"/>
                </a:lnTo>
                <a:lnTo>
                  <a:pt x="275183" y="340791"/>
                </a:lnTo>
                <a:lnTo>
                  <a:pt x="231496" y="359227"/>
                </a:lnTo>
                <a:lnTo>
                  <a:pt x="182880" y="365760"/>
                </a:lnTo>
                <a:lnTo>
                  <a:pt x="134263" y="359227"/>
                </a:lnTo>
                <a:lnTo>
                  <a:pt x="90576" y="340791"/>
                </a:lnTo>
                <a:lnTo>
                  <a:pt x="53564" y="312195"/>
                </a:lnTo>
                <a:lnTo>
                  <a:pt x="24968" y="275183"/>
                </a:lnTo>
                <a:lnTo>
                  <a:pt x="6532" y="231496"/>
                </a:lnTo>
                <a:lnTo>
                  <a:pt x="0" y="18288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060671" y="3202547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6909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678068" y="2182422"/>
            <a:ext cx="384810" cy="383540"/>
          </a:xfrm>
          <a:custGeom>
            <a:avLst/>
            <a:gdLst/>
            <a:ahLst/>
            <a:cxnLst/>
            <a:rect l="l" t="t" r="r" b="b"/>
            <a:pathLst>
              <a:path w="384810" h="383539">
                <a:moveTo>
                  <a:pt x="211571" y="0"/>
                </a:moveTo>
                <a:lnTo>
                  <a:pt x="172257" y="0"/>
                </a:lnTo>
                <a:lnTo>
                  <a:pt x="134736" y="7619"/>
                </a:lnTo>
                <a:lnTo>
                  <a:pt x="84438" y="33019"/>
                </a:lnTo>
                <a:lnTo>
                  <a:pt x="43646" y="69850"/>
                </a:lnTo>
                <a:lnTo>
                  <a:pt x="14940" y="116839"/>
                </a:lnTo>
                <a:lnTo>
                  <a:pt x="3812" y="153669"/>
                </a:lnTo>
                <a:lnTo>
                  <a:pt x="0" y="191769"/>
                </a:lnTo>
                <a:lnTo>
                  <a:pt x="1041" y="212089"/>
                </a:lnTo>
                <a:lnTo>
                  <a:pt x="15303" y="266700"/>
                </a:lnTo>
                <a:lnTo>
                  <a:pt x="44225" y="314960"/>
                </a:lnTo>
                <a:lnTo>
                  <a:pt x="85197" y="351789"/>
                </a:lnTo>
                <a:lnTo>
                  <a:pt x="135638" y="375919"/>
                </a:lnTo>
                <a:lnTo>
                  <a:pt x="173214" y="383539"/>
                </a:lnTo>
                <a:lnTo>
                  <a:pt x="212528" y="383539"/>
                </a:lnTo>
                <a:lnTo>
                  <a:pt x="250049" y="375919"/>
                </a:lnTo>
                <a:lnTo>
                  <a:pt x="255936" y="373379"/>
                </a:lnTo>
                <a:lnTo>
                  <a:pt x="192297" y="373379"/>
                </a:lnTo>
                <a:lnTo>
                  <a:pt x="173790" y="372110"/>
                </a:lnTo>
                <a:lnTo>
                  <a:pt x="121862" y="358139"/>
                </a:lnTo>
                <a:lnTo>
                  <a:pt x="77204" y="331469"/>
                </a:lnTo>
                <a:lnTo>
                  <a:pt x="42271" y="293369"/>
                </a:lnTo>
                <a:lnTo>
                  <a:pt x="19523" y="245110"/>
                </a:lnTo>
                <a:lnTo>
                  <a:pt x="11416" y="191769"/>
                </a:lnTo>
                <a:lnTo>
                  <a:pt x="12359" y="172719"/>
                </a:lnTo>
                <a:lnTo>
                  <a:pt x="25673" y="120650"/>
                </a:lnTo>
                <a:lnTo>
                  <a:pt x="52798" y="76200"/>
                </a:lnTo>
                <a:lnTo>
                  <a:pt x="91283" y="41910"/>
                </a:lnTo>
                <a:lnTo>
                  <a:pt x="138664" y="19050"/>
                </a:lnTo>
                <a:lnTo>
                  <a:pt x="173982" y="11429"/>
                </a:lnTo>
                <a:lnTo>
                  <a:pt x="259770" y="11429"/>
                </a:lnTo>
                <a:lnTo>
                  <a:pt x="249147" y="7619"/>
                </a:lnTo>
                <a:lnTo>
                  <a:pt x="211571" y="0"/>
                </a:lnTo>
                <a:close/>
              </a:path>
              <a:path w="384810" h="383539">
                <a:moveTo>
                  <a:pt x="259770" y="11429"/>
                </a:moveTo>
                <a:lnTo>
                  <a:pt x="210995" y="11429"/>
                </a:lnTo>
                <a:lnTo>
                  <a:pt x="228961" y="13969"/>
                </a:lnTo>
                <a:lnTo>
                  <a:pt x="246301" y="19050"/>
                </a:lnTo>
                <a:lnTo>
                  <a:pt x="293653" y="41910"/>
                </a:lnTo>
                <a:lnTo>
                  <a:pt x="332102" y="76200"/>
                </a:lnTo>
                <a:lnTo>
                  <a:pt x="359185" y="121919"/>
                </a:lnTo>
                <a:lnTo>
                  <a:pt x="372445" y="173989"/>
                </a:lnTo>
                <a:lnTo>
                  <a:pt x="373369" y="191769"/>
                </a:lnTo>
                <a:lnTo>
                  <a:pt x="372426" y="210819"/>
                </a:lnTo>
                <a:lnTo>
                  <a:pt x="359112" y="262889"/>
                </a:lnTo>
                <a:lnTo>
                  <a:pt x="331986" y="307339"/>
                </a:lnTo>
                <a:lnTo>
                  <a:pt x="293502" y="341629"/>
                </a:lnTo>
                <a:lnTo>
                  <a:pt x="246120" y="364489"/>
                </a:lnTo>
                <a:lnTo>
                  <a:pt x="192297" y="373379"/>
                </a:lnTo>
                <a:lnTo>
                  <a:pt x="255936" y="373379"/>
                </a:lnTo>
                <a:lnTo>
                  <a:pt x="300347" y="350519"/>
                </a:lnTo>
                <a:lnTo>
                  <a:pt x="341139" y="313689"/>
                </a:lnTo>
                <a:lnTo>
                  <a:pt x="369845" y="266700"/>
                </a:lnTo>
                <a:lnTo>
                  <a:pt x="380973" y="229869"/>
                </a:lnTo>
                <a:lnTo>
                  <a:pt x="384785" y="191769"/>
                </a:lnTo>
                <a:lnTo>
                  <a:pt x="383744" y="171450"/>
                </a:lnTo>
                <a:lnTo>
                  <a:pt x="369482" y="116839"/>
                </a:lnTo>
                <a:lnTo>
                  <a:pt x="340560" y="68579"/>
                </a:lnTo>
                <a:lnTo>
                  <a:pt x="299587" y="31750"/>
                </a:lnTo>
                <a:lnTo>
                  <a:pt x="266852" y="13969"/>
                </a:lnTo>
                <a:lnTo>
                  <a:pt x="259770" y="11429"/>
                </a:lnTo>
                <a:close/>
              </a:path>
              <a:path w="384810" h="383539">
                <a:moveTo>
                  <a:pt x="210803" y="15239"/>
                </a:moveTo>
                <a:lnTo>
                  <a:pt x="174556" y="15239"/>
                </a:lnTo>
                <a:lnTo>
                  <a:pt x="156959" y="17779"/>
                </a:lnTo>
                <a:lnTo>
                  <a:pt x="108188" y="35560"/>
                </a:lnTo>
                <a:lnTo>
                  <a:pt x="67306" y="66039"/>
                </a:lnTo>
                <a:lnTo>
                  <a:pt x="36734" y="106679"/>
                </a:lnTo>
                <a:lnTo>
                  <a:pt x="18878" y="156210"/>
                </a:lnTo>
                <a:lnTo>
                  <a:pt x="15220" y="191769"/>
                </a:lnTo>
                <a:lnTo>
                  <a:pt x="16106" y="209550"/>
                </a:lnTo>
                <a:lnTo>
                  <a:pt x="29033" y="260350"/>
                </a:lnTo>
                <a:lnTo>
                  <a:pt x="55502" y="304800"/>
                </a:lnTo>
                <a:lnTo>
                  <a:pt x="93110" y="339089"/>
                </a:lnTo>
                <a:lnTo>
                  <a:pt x="139433" y="360679"/>
                </a:lnTo>
                <a:lnTo>
                  <a:pt x="192105" y="369569"/>
                </a:lnTo>
                <a:lnTo>
                  <a:pt x="210229" y="368300"/>
                </a:lnTo>
                <a:lnTo>
                  <a:pt x="227826" y="365760"/>
                </a:lnTo>
                <a:lnTo>
                  <a:pt x="191912" y="365760"/>
                </a:lnTo>
                <a:lnTo>
                  <a:pt x="174175" y="364489"/>
                </a:lnTo>
                <a:lnTo>
                  <a:pt x="124481" y="351789"/>
                </a:lnTo>
                <a:lnTo>
                  <a:pt x="81768" y="325119"/>
                </a:lnTo>
                <a:lnTo>
                  <a:pt x="48374" y="288289"/>
                </a:lnTo>
                <a:lnTo>
                  <a:pt x="26680" y="242569"/>
                </a:lnTo>
                <a:lnTo>
                  <a:pt x="19025" y="191769"/>
                </a:lnTo>
                <a:lnTo>
                  <a:pt x="19969" y="173989"/>
                </a:lnTo>
                <a:lnTo>
                  <a:pt x="32829" y="124460"/>
                </a:lnTo>
                <a:lnTo>
                  <a:pt x="58901" y="81279"/>
                </a:lnTo>
                <a:lnTo>
                  <a:pt x="95846" y="48260"/>
                </a:lnTo>
                <a:lnTo>
                  <a:pt x="141283" y="26669"/>
                </a:lnTo>
                <a:lnTo>
                  <a:pt x="192873" y="17779"/>
                </a:lnTo>
                <a:lnTo>
                  <a:pt x="228387" y="17779"/>
                </a:lnTo>
                <a:lnTo>
                  <a:pt x="210803" y="15239"/>
                </a:lnTo>
                <a:close/>
              </a:path>
              <a:path w="384810" h="383539">
                <a:moveTo>
                  <a:pt x="228387" y="17779"/>
                </a:moveTo>
                <a:lnTo>
                  <a:pt x="192873" y="17779"/>
                </a:lnTo>
                <a:lnTo>
                  <a:pt x="210610" y="19050"/>
                </a:lnTo>
                <a:lnTo>
                  <a:pt x="227812" y="21589"/>
                </a:lnTo>
                <a:lnTo>
                  <a:pt x="275431" y="39369"/>
                </a:lnTo>
                <a:lnTo>
                  <a:pt x="315302" y="69850"/>
                </a:lnTo>
                <a:lnTo>
                  <a:pt x="345060" y="109219"/>
                </a:lnTo>
                <a:lnTo>
                  <a:pt x="362332" y="157479"/>
                </a:lnTo>
                <a:lnTo>
                  <a:pt x="365760" y="191769"/>
                </a:lnTo>
                <a:lnTo>
                  <a:pt x="364816" y="209550"/>
                </a:lnTo>
                <a:lnTo>
                  <a:pt x="351956" y="259079"/>
                </a:lnTo>
                <a:lnTo>
                  <a:pt x="325884" y="302260"/>
                </a:lnTo>
                <a:lnTo>
                  <a:pt x="288938" y="335279"/>
                </a:lnTo>
                <a:lnTo>
                  <a:pt x="243502" y="356869"/>
                </a:lnTo>
                <a:lnTo>
                  <a:pt x="191912" y="365760"/>
                </a:lnTo>
                <a:lnTo>
                  <a:pt x="227826" y="365760"/>
                </a:lnTo>
                <a:lnTo>
                  <a:pt x="276597" y="347979"/>
                </a:lnTo>
                <a:lnTo>
                  <a:pt x="317479" y="317500"/>
                </a:lnTo>
                <a:lnTo>
                  <a:pt x="348051" y="276860"/>
                </a:lnTo>
                <a:lnTo>
                  <a:pt x="365907" y="227329"/>
                </a:lnTo>
                <a:lnTo>
                  <a:pt x="369564" y="191769"/>
                </a:lnTo>
                <a:lnTo>
                  <a:pt x="368679" y="173989"/>
                </a:lnTo>
                <a:lnTo>
                  <a:pt x="355752" y="123189"/>
                </a:lnTo>
                <a:lnTo>
                  <a:pt x="329283" y="78739"/>
                </a:lnTo>
                <a:lnTo>
                  <a:pt x="291675" y="44450"/>
                </a:lnTo>
                <a:lnTo>
                  <a:pt x="245352" y="22860"/>
                </a:lnTo>
                <a:lnTo>
                  <a:pt x="228387" y="177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374969" y="2645641"/>
            <a:ext cx="384810" cy="383540"/>
          </a:xfrm>
          <a:custGeom>
            <a:avLst/>
            <a:gdLst/>
            <a:ahLst/>
            <a:cxnLst/>
            <a:rect l="l" t="t" r="r" b="b"/>
            <a:pathLst>
              <a:path w="384810" h="383539">
                <a:moveTo>
                  <a:pt x="211571" y="0"/>
                </a:moveTo>
                <a:lnTo>
                  <a:pt x="172257" y="0"/>
                </a:lnTo>
                <a:lnTo>
                  <a:pt x="134736" y="7619"/>
                </a:lnTo>
                <a:lnTo>
                  <a:pt x="84438" y="33019"/>
                </a:lnTo>
                <a:lnTo>
                  <a:pt x="43646" y="69850"/>
                </a:lnTo>
                <a:lnTo>
                  <a:pt x="14940" y="116839"/>
                </a:lnTo>
                <a:lnTo>
                  <a:pt x="3812" y="153669"/>
                </a:lnTo>
                <a:lnTo>
                  <a:pt x="0" y="191769"/>
                </a:lnTo>
                <a:lnTo>
                  <a:pt x="1041" y="212089"/>
                </a:lnTo>
                <a:lnTo>
                  <a:pt x="15303" y="266700"/>
                </a:lnTo>
                <a:lnTo>
                  <a:pt x="44225" y="314960"/>
                </a:lnTo>
                <a:lnTo>
                  <a:pt x="85197" y="351789"/>
                </a:lnTo>
                <a:lnTo>
                  <a:pt x="135638" y="375919"/>
                </a:lnTo>
                <a:lnTo>
                  <a:pt x="173214" y="383539"/>
                </a:lnTo>
                <a:lnTo>
                  <a:pt x="212528" y="383539"/>
                </a:lnTo>
                <a:lnTo>
                  <a:pt x="250049" y="375919"/>
                </a:lnTo>
                <a:lnTo>
                  <a:pt x="255936" y="373379"/>
                </a:lnTo>
                <a:lnTo>
                  <a:pt x="192297" y="373379"/>
                </a:lnTo>
                <a:lnTo>
                  <a:pt x="173790" y="372110"/>
                </a:lnTo>
                <a:lnTo>
                  <a:pt x="121862" y="358139"/>
                </a:lnTo>
                <a:lnTo>
                  <a:pt x="77204" y="331469"/>
                </a:lnTo>
                <a:lnTo>
                  <a:pt x="42271" y="293369"/>
                </a:lnTo>
                <a:lnTo>
                  <a:pt x="19523" y="245110"/>
                </a:lnTo>
                <a:lnTo>
                  <a:pt x="11416" y="191769"/>
                </a:lnTo>
                <a:lnTo>
                  <a:pt x="12359" y="172719"/>
                </a:lnTo>
                <a:lnTo>
                  <a:pt x="25673" y="120650"/>
                </a:lnTo>
                <a:lnTo>
                  <a:pt x="52798" y="76200"/>
                </a:lnTo>
                <a:lnTo>
                  <a:pt x="91283" y="41910"/>
                </a:lnTo>
                <a:lnTo>
                  <a:pt x="138664" y="19050"/>
                </a:lnTo>
                <a:lnTo>
                  <a:pt x="173982" y="11429"/>
                </a:lnTo>
                <a:lnTo>
                  <a:pt x="259770" y="11429"/>
                </a:lnTo>
                <a:lnTo>
                  <a:pt x="249147" y="7619"/>
                </a:lnTo>
                <a:lnTo>
                  <a:pt x="211571" y="0"/>
                </a:lnTo>
                <a:close/>
              </a:path>
              <a:path w="384810" h="383539">
                <a:moveTo>
                  <a:pt x="259770" y="11429"/>
                </a:moveTo>
                <a:lnTo>
                  <a:pt x="210995" y="11429"/>
                </a:lnTo>
                <a:lnTo>
                  <a:pt x="228961" y="13969"/>
                </a:lnTo>
                <a:lnTo>
                  <a:pt x="246301" y="19050"/>
                </a:lnTo>
                <a:lnTo>
                  <a:pt x="293653" y="41910"/>
                </a:lnTo>
                <a:lnTo>
                  <a:pt x="332102" y="76200"/>
                </a:lnTo>
                <a:lnTo>
                  <a:pt x="359185" y="121919"/>
                </a:lnTo>
                <a:lnTo>
                  <a:pt x="372445" y="173989"/>
                </a:lnTo>
                <a:lnTo>
                  <a:pt x="373369" y="191769"/>
                </a:lnTo>
                <a:lnTo>
                  <a:pt x="372426" y="210819"/>
                </a:lnTo>
                <a:lnTo>
                  <a:pt x="359112" y="262889"/>
                </a:lnTo>
                <a:lnTo>
                  <a:pt x="331986" y="307339"/>
                </a:lnTo>
                <a:lnTo>
                  <a:pt x="293502" y="341629"/>
                </a:lnTo>
                <a:lnTo>
                  <a:pt x="246120" y="364489"/>
                </a:lnTo>
                <a:lnTo>
                  <a:pt x="192297" y="373379"/>
                </a:lnTo>
                <a:lnTo>
                  <a:pt x="255936" y="373379"/>
                </a:lnTo>
                <a:lnTo>
                  <a:pt x="300347" y="350519"/>
                </a:lnTo>
                <a:lnTo>
                  <a:pt x="341139" y="313689"/>
                </a:lnTo>
                <a:lnTo>
                  <a:pt x="369845" y="266700"/>
                </a:lnTo>
                <a:lnTo>
                  <a:pt x="380973" y="229869"/>
                </a:lnTo>
                <a:lnTo>
                  <a:pt x="384785" y="191769"/>
                </a:lnTo>
                <a:lnTo>
                  <a:pt x="383744" y="171450"/>
                </a:lnTo>
                <a:lnTo>
                  <a:pt x="369482" y="116839"/>
                </a:lnTo>
                <a:lnTo>
                  <a:pt x="340560" y="68579"/>
                </a:lnTo>
                <a:lnTo>
                  <a:pt x="299587" y="31750"/>
                </a:lnTo>
                <a:lnTo>
                  <a:pt x="266852" y="13969"/>
                </a:lnTo>
                <a:lnTo>
                  <a:pt x="259770" y="11429"/>
                </a:lnTo>
                <a:close/>
              </a:path>
              <a:path w="384810" h="383539">
                <a:moveTo>
                  <a:pt x="210803" y="15239"/>
                </a:moveTo>
                <a:lnTo>
                  <a:pt x="174556" y="15239"/>
                </a:lnTo>
                <a:lnTo>
                  <a:pt x="156959" y="17779"/>
                </a:lnTo>
                <a:lnTo>
                  <a:pt x="108188" y="35560"/>
                </a:lnTo>
                <a:lnTo>
                  <a:pt x="67306" y="66039"/>
                </a:lnTo>
                <a:lnTo>
                  <a:pt x="36734" y="106679"/>
                </a:lnTo>
                <a:lnTo>
                  <a:pt x="18878" y="156210"/>
                </a:lnTo>
                <a:lnTo>
                  <a:pt x="15220" y="191769"/>
                </a:lnTo>
                <a:lnTo>
                  <a:pt x="16106" y="209550"/>
                </a:lnTo>
                <a:lnTo>
                  <a:pt x="29033" y="260350"/>
                </a:lnTo>
                <a:lnTo>
                  <a:pt x="55502" y="304800"/>
                </a:lnTo>
                <a:lnTo>
                  <a:pt x="93110" y="339089"/>
                </a:lnTo>
                <a:lnTo>
                  <a:pt x="139433" y="360679"/>
                </a:lnTo>
                <a:lnTo>
                  <a:pt x="192105" y="369569"/>
                </a:lnTo>
                <a:lnTo>
                  <a:pt x="210229" y="368300"/>
                </a:lnTo>
                <a:lnTo>
                  <a:pt x="227826" y="365760"/>
                </a:lnTo>
                <a:lnTo>
                  <a:pt x="191912" y="365760"/>
                </a:lnTo>
                <a:lnTo>
                  <a:pt x="174175" y="364489"/>
                </a:lnTo>
                <a:lnTo>
                  <a:pt x="124481" y="351789"/>
                </a:lnTo>
                <a:lnTo>
                  <a:pt x="81768" y="325119"/>
                </a:lnTo>
                <a:lnTo>
                  <a:pt x="48374" y="288289"/>
                </a:lnTo>
                <a:lnTo>
                  <a:pt x="26680" y="242569"/>
                </a:lnTo>
                <a:lnTo>
                  <a:pt x="19025" y="191769"/>
                </a:lnTo>
                <a:lnTo>
                  <a:pt x="19969" y="173989"/>
                </a:lnTo>
                <a:lnTo>
                  <a:pt x="32829" y="124460"/>
                </a:lnTo>
                <a:lnTo>
                  <a:pt x="58901" y="81279"/>
                </a:lnTo>
                <a:lnTo>
                  <a:pt x="95846" y="48260"/>
                </a:lnTo>
                <a:lnTo>
                  <a:pt x="141283" y="26669"/>
                </a:lnTo>
                <a:lnTo>
                  <a:pt x="175131" y="19050"/>
                </a:lnTo>
                <a:lnTo>
                  <a:pt x="232629" y="19050"/>
                </a:lnTo>
                <a:lnTo>
                  <a:pt x="228387" y="17779"/>
                </a:lnTo>
                <a:lnTo>
                  <a:pt x="210803" y="15239"/>
                </a:lnTo>
                <a:close/>
              </a:path>
              <a:path w="384810" h="383539">
                <a:moveTo>
                  <a:pt x="232629" y="19050"/>
                </a:moveTo>
                <a:lnTo>
                  <a:pt x="210610" y="19050"/>
                </a:lnTo>
                <a:lnTo>
                  <a:pt x="227812" y="21589"/>
                </a:lnTo>
                <a:lnTo>
                  <a:pt x="244403" y="26669"/>
                </a:lnTo>
                <a:lnTo>
                  <a:pt x="289697" y="48260"/>
                </a:lnTo>
                <a:lnTo>
                  <a:pt x="326463" y="81279"/>
                </a:lnTo>
                <a:lnTo>
                  <a:pt x="352319" y="124460"/>
                </a:lnTo>
                <a:lnTo>
                  <a:pt x="364912" y="173989"/>
                </a:lnTo>
                <a:lnTo>
                  <a:pt x="365759" y="191769"/>
                </a:lnTo>
                <a:lnTo>
                  <a:pt x="364816" y="209550"/>
                </a:lnTo>
                <a:lnTo>
                  <a:pt x="351956" y="259079"/>
                </a:lnTo>
                <a:lnTo>
                  <a:pt x="325884" y="302260"/>
                </a:lnTo>
                <a:lnTo>
                  <a:pt x="288938" y="335279"/>
                </a:lnTo>
                <a:lnTo>
                  <a:pt x="243502" y="356869"/>
                </a:lnTo>
                <a:lnTo>
                  <a:pt x="191912" y="365760"/>
                </a:lnTo>
                <a:lnTo>
                  <a:pt x="227826" y="365760"/>
                </a:lnTo>
                <a:lnTo>
                  <a:pt x="276597" y="347979"/>
                </a:lnTo>
                <a:lnTo>
                  <a:pt x="317479" y="317500"/>
                </a:lnTo>
                <a:lnTo>
                  <a:pt x="348051" y="276860"/>
                </a:lnTo>
                <a:lnTo>
                  <a:pt x="365907" y="227329"/>
                </a:lnTo>
                <a:lnTo>
                  <a:pt x="369564" y="191769"/>
                </a:lnTo>
                <a:lnTo>
                  <a:pt x="368679" y="173989"/>
                </a:lnTo>
                <a:lnTo>
                  <a:pt x="355752" y="123189"/>
                </a:lnTo>
                <a:lnTo>
                  <a:pt x="329283" y="78739"/>
                </a:lnTo>
                <a:lnTo>
                  <a:pt x="291675" y="44450"/>
                </a:lnTo>
                <a:lnTo>
                  <a:pt x="245352" y="22860"/>
                </a:lnTo>
                <a:lnTo>
                  <a:pt x="232629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469730" y="2642107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5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877791" y="2556451"/>
            <a:ext cx="0" cy="467359"/>
          </a:xfrm>
          <a:custGeom>
            <a:avLst/>
            <a:gdLst/>
            <a:ahLst/>
            <a:cxnLst/>
            <a:rect l="l" t="t" r="r" b="b"/>
            <a:pathLst>
              <a:path w="0" h="467360">
                <a:moveTo>
                  <a:pt x="0" y="0"/>
                </a:moveTo>
                <a:lnTo>
                  <a:pt x="1" y="467017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060671" y="2373570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6909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870461" y="2556451"/>
            <a:ext cx="0" cy="467359"/>
          </a:xfrm>
          <a:custGeom>
            <a:avLst/>
            <a:gdLst/>
            <a:ahLst/>
            <a:cxnLst/>
            <a:rect l="l" t="t" r="r" b="b"/>
            <a:pathLst>
              <a:path w="0" h="467360">
                <a:moveTo>
                  <a:pt x="0" y="0"/>
                </a:moveTo>
                <a:lnTo>
                  <a:pt x="1" y="467017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53341" y="2373571"/>
            <a:ext cx="384810" cy="334010"/>
          </a:xfrm>
          <a:custGeom>
            <a:avLst/>
            <a:gdLst/>
            <a:ahLst/>
            <a:cxnLst/>
            <a:rect l="l" t="t" r="r" b="b"/>
            <a:pathLst>
              <a:path w="384810" h="334010">
                <a:moveTo>
                  <a:pt x="0" y="0"/>
                </a:moveTo>
                <a:lnTo>
                  <a:pt x="384705" y="33390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53341" y="2966103"/>
            <a:ext cx="384810" cy="240665"/>
          </a:xfrm>
          <a:custGeom>
            <a:avLst/>
            <a:gdLst/>
            <a:ahLst/>
            <a:cxnLst/>
            <a:rect l="l" t="t" r="r" b="b"/>
            <a:pathLst>
              <a:path w="384810" h="240664">
                <a:moveTo>
                  <a:pt x="0" y="240244"/>
                </a:moveTo>
                <a:lnTo>
                  <a:pt x="384705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755139" y="2178811"/>
            <a:ext cx="1461135" cy="1594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00"/>
              </a:spcBef>
              <a:tabLst>
                <a:tab pos="1029969" algn="l"/>
              </a:tabLst>
            </a:pPr>
            <a:r>
              <a:rPr dirty="0" sz="2400" spc="-5">
                <a:latin typeface="Arial"/>
                <a:cs typeface="Arial"/>
              </a:rPr>
              <a:t>1	3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150">
              <a:latin typeface="Times New Roman"/>
              <a:cs typeface="Times New Roman"/>
            </a:endParaRPr>
          </a:p>
          <a:p>
            <a:pPr marL="37465">
              <a:lnSpc>
                <a:spcPct val="100000"/>
              </a:lnSpc>
              <a:spcBef>
                <a:spcPts val="5"/>
              </a:spcBef>
              <a:tabLst>
                <a:tab pos="1029969" algn="l"/>
              </a:tabLst>
            </a:pPr>
            <a:r>
              <a:rPr dirty="0" sz="2400" spc="-5">
                <a:latin typeface="Arial"/>
                <a:cs typeface="Arial"/>
              </a:rPr>
              <a:t>2	4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2000" spc="-75">
                <a:latin typeface="Arial"/>
                <a:cs typeface="Arial"/>
              </a:rPr>
              <a:t>BFS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 spc="-40">
                <a:latin typeface="Arial"/>
                <a:cs typeface="Arial"/>
              </a:rPr>
              <a:t>ordering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47</a:t>
            </a:fld>
          </a:p>
        </p:txBody>
      </p:sp>
      <p:sp>
        <p:nvSpPr>
          <p:cNvPr id="18" name="object 18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30886" rIns="0" bIns="0" rtlCol="0" vert="horz">
            <a:spAutoFit/>
          </a:bodyPr>
          <a:lstStyle/>
          <a:p>
            <a:pPr marL="342011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5" b="0">
                <a:solidFill>
                  <a:srgbClr val="C00000"/>
                </a:solidFill>
                <a:latin typeface="Arial"/>
                <a:cs typeface="Arial"/>
              </a:rPr>
              <a:t>BFS </a:t>
            </a:r>
            <a:r>
              <a:rPr dirty="0" sz="2400" b="0">
                <a:solidFill>
                  <a:srgbClr val="C00000"/>
                </a:solidFill>
                <a:latin typeface="Arial"/>
                <a:cs typeface="Arial"/>
              </a:rPr>
              <a:t>node ordering: </a:t>
            </a:r>
            <a:r>
              <a:rPr dirty="0" sz="2400" b="0">
                <a:solidFill>
                  <a:srgbClr val="000000"/>
                </a:solidFill>
                <a:latin typeface="Arial"/>
                <a:cs typeface="Arial"/>
              </a:rPr>
              <a:t>Node 5</a:t>
            </a:r>
            <a:r>
              <a:rPr dirty="0" sz="2400" spc="-135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 b="0">
                <a:solidFill>
                  <a:srgbClr val="000000"/>
                </a:solidFill>
                <a:latin typeface="Arial"/>
                <a:cs typeface="Arial"/>
              </a:rPr>
              <a:t>will  never connect </a:t>
            </a:r>
            <a:r>
              <a:rPr dirty="0" sz="2400" spc="-5" b="0">
                <a:solidFill>
                  <a:srgbClr val="000000"/>
                </a:solidFill>
                <a:latin typeface="Arial"/>
                <a:cs typeface="Arial"/>
              </a:rPr>
              <a:t>to </a:t>
            </a:r>
            <a:r>
              <a:rPr dirty="0" sz="2400" b="0">
                <a:solidFill>
                  <a:srgbClr val="000000"/>
                </a:solidFill>
                <a:latin typeface="Arial"/>
                <a:cs typeface="Arial"/>
              </a:rPr>
              <a:t>node</a:t>
            </a:r>
            <a:r>
              <a:rPr dirty="0" sz="2400" spc="-114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00" b="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  <a:p>
            <a:pPr marL="3420110" marR="7620">
              <a:lnSpc>
                <a:spcPct val="100800"/>
              </a:lnSpc>
            </a:pPr>
            <a:r>
              <a:rPr dirty="0" sz="2400" b="0">
                <a:solidFill>
                  <a:srgbClr val="C00000"/>
                </a:solidFill>
                <a:latin typeface="Arial"/>
                <a:cs typeface="Arial"/>
              </a:rPr>
              <a:t>(only need memory of 2</a:t>
            </a:r>
            <a:r>
              <a:rPr dirty="0" sz="2400" spc="-100" b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-5" b="0">
                <a:solidFill>
                  <a:srgbClr val="C00000"/>
                </a:solidFill>
                <a:latin typeface="Arial"/>
                <a:cs typeface="Arial"/>
              </a:rPr>
              <a:t>“steps”  rather than </a:t>
            </a:r>
            <a:r>
              <a:rPr dirty="0" sz="2400" b="0">
                <a:solidFill>
                  <a:srgbClr val="C00000"/>
                </a:solidFill>
                <a:latin typeface="Cambria Math"/>
                <a:cs typeface="Cambria Math"/>
              </a:rPr>
              <a:t>𝑛 − 1</a:t>
            </a:r>
            <a:r>
              <a:rPr dirty="0" sz="2400" spc="125" b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5" b="0">
                <a:solidFill>
                  <a:srgbClr val="C00000"/>
                </a:solidFill>
                <a:latin typeface="Arial"/>
                <a:cs typeface="Arial"/>
              </a:rPr>
              <a:t>steps)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702868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66428" y="2853898"/>
            <a:ext cx="7811143" cy="38404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329170" cy="1468120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>
                <a:solidFill>
                  <a:srgbClr val="C00000"/>
                </a:solidFill>
              </a:rPr>
              <a:t>BFS </a:t>
            </a:r>
            <a:r>
              <a:rPr dirty="0" sz="3200" spc="-10">
                <a:solidFill>
                  <a:srgbClr val="C00000"/>
                </a:solidFill>
              </a:rPr>
              <a:t>reduces </a:t>
            </a:r>
            <a:r>
              <a:rPr dirty="0" sz="3200" spc="-5">
                <a:solidFill>
                  <a:srgbClr val="C00000"/>
                </a:solidFill>
              </a:rPr>
              <a:t>the number </a:t>
            </a:r>
            <a:r>
              <a:rPr dirty="0" sz="3200">
                <a:solidFill>
                  <a:srgbClr val="C00000"/>
                </a:solidFill>
              </a:rPr>
              <a:t>of </a:t>
            </a:r>
            <a:r>
              <a:rPr dirty="0" sz="3200" spc="-25">
                <a:solidFill>
                  <a:srgbClr val="C00000"/>
                </a:solidFill>
              </a:rPr>
              <a:t>steps </a:t>
            </a:r>
            <a:r>
              <a:rPr dirty="0" sz="3200" spc="-20">
                <a:solidFill>
                  <a:srgbClr val="C00000"/>
                </a:solidFill>
              </a:rPr>
              <a:t>for </a:t>
            </a:r>
            <a:r>
              <a:rPr dirty="0" sz="3200" spc="-15">
                <a:solidFill>
                  <a:srgbClr val="C00000"/>
                </a:solidFill>
              </a:rPr>
              <a:t>edge  </a:t>
            </a:r>
            <a:r>
              <a:rPr dirty="0" sz="3200" spc="-20">
                <a:solidFill>
                  <a:srgbClr val="C00000"/>
                </a:solidFill>
              </a:rPr>
              <a:t>generation</a:t>
            </a:r>
            <a:endParaRPr sz="3200"/>
          </a:p>
          <a:p>
            <a:pPr marL="2673350">
              <a:lnSpc>
                <a:spcPct val="100000"/>
              </a:lnSpc>
              <a:spcBef>
                <a:spcPts val="725"/>
              </a:spcBef>
            </a:pPr>
            <a:r>
              <a:rPr dirty="0" sz="2400" spc="-45" b="0">
                <a:latin typeface="Arial"/>
                <a:cs typeface="Arial"/>
              </a:rPr>
              <a:t>Adjacency</a:t>
            </a:r>
            <a:r>
              <a:rPr dirty="0" sz="2400" spc="-20" b="0">
                <a:latin typeface="Arial"/>
                <a:cs typeface="Arial"/>
              </a:rPr>
              <a:t> </a:t>
            </a:r>
            <a:r>
              <a:rPr dirty="0" sz="2400" spc="-35" b="0">
                <a:latin typeface="Arial"/>
                <a:cs typeface="Arial"/>
              </a:rPr>
              <a:t>matrices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4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47</a:t>
            </a:fld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144511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597535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5">
                <a:solidFill>
                  <a:srgbClr val="0000FF"/>
                </a:solidFill>
              </a:rPr>
              <a:t>Task: </a:t>
            </a:r>
            <a:r>
              <a:rPr dirty="0" sz="3200" spc="-10">
                <a:solidFill>
                  <a:srgbClr val="0000FF"/>
                </a:solidFill>
              </a:rPr>
              <a:t>Compare two sets </a:t>
            </a:r>
            <a:r>
              <a:rPr dirty="0" sz="3200">
                <a:solidFill>
                  <a:srgbClr val="0000FF"/>
                </a:solidFill>
              </a:rPr>
              <a:t>of</a:t>
            </a:r>
            <a:r>
              <a:rPr dirty="0" sz="3200" spc="80">
                <a:solidFill>
                  <a:srgbClr val="0000FF"/>
                </a:solidFill>
              </a:rPr>
              <a:t> </a:t>
            </a:r>
            <a:r>
              <a:rPr dirty="0" sz="3200" spc="-20">
                <a:solidFill>
                  <a:srgbClr val="0000FF"/>
                </a:solidFill>
              </a:rPr>
              <a:t>graphs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618108" y="3787140"/>
            <a:ext cx="7098665" cy="2508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Goal: </a:t>
            </a:r>
            <a:r>
              <a:rPr dirty="0" sz="3200" spc="-10">
                <a:latin typeface="Calibri"/>
                <a:cs typeface="Calibri"/>
              </a:rPr>
              <a:t>Define </a:t>
            </a:r>
            <a:r>
              <a:rPr dirty="0" sz="3200" spc="-5">
                <a:latin typeface="Calibri"/>
                <a:cs typeface="Calibri"/>
              </a:rPr>
              <a:t>similarity metrics </a:t>
            </a:r>
            <a:r>
              <a:rPr dirty="0" sz="3200" spc="-25">
                <a:latin typeface="Calibri"/>
                <a:cs typeface="Calibri"/>
              </a:rPr>
              <a:t>for</a:t>
            </a:r>
            <a:r>
              <a:rPr dirty="0" sz="3200" spc="3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graphs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F0AD00"/>
              </a:buClr>
              <a:buFont typeface="Arial"/>
              <a:buChar char="▪"/>
            </a:pPr>
            <a:endParaRPr sz="335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Solution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b="1">
                <a:latin typeface="Calibri"/>
                <a:cs typeface="Calibri"/>
              </a:rPr>
              <a:t>(1) </a:t>
            </a:r>
            <a:r>
              <a:rPr dirty="0" sz="2800" spc="-5" b="1">
                <a:latin typeface="Calibri"/>
                <a:cs typeface="Calibri"/>
              </a:rPr>
              <a:t>Visual</a:t>
            </a:r>
            <a:r>
              <a:rPr dirty="0" sz="2800" spc="-45" b="1">
                <a:latin typeface="Calibri"/>
                <a:cs typeface="Calibri"/>
              </a:rPr>
              <a:t> </a:t>
            </a:r>
            <a:r>
              <a:rPr dirty="0" sz="2800" spc="-5" b="1">
                <a:latin typeface="Calibri"/>
                <a:cs typeface="Calibri"/>
              </a:rPr>
              <a:t>similarity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b="1">
                <a:latin typeface="Calibri"/>
                <a:cs typeface="Calibri"/>
              </a:rPr>
              <a:t>(2) </a:t>
            </a:r>
            <a:r>
              <a:rPr dirty="0" sz="2800" spc="-15" b="1">
                <a:latin typeface="Calibri"/>
                <a:cs typeface="Calibri"/>
              </a:rPr>
              <a:t>Graph statistics</a:t>
            </a:r>
            <a:r>
              <a:rPr dirty="0" sz="2800" spc="0" b="1">
                <a:latin typeface="Calibri"/>
                <a:cs typeface="Calibri"/>
              </a:rPr>
              <a:t> </a:t>
            </a:r>
            <a:r>
              <a:rPr dirty="0" sz="2800" spc="-5" b="1">
                <a:latin typeface="Calibri"/>
                <a:cs typeface="Calibri"/>
              </a:rPr>
              <a:t>similarity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46889" y="2358828"/>
            <a:ext cx="2847339" cy="7409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12481" y="2276475"/>
            <a:ext cx="3016250" cy="933450"/>
          </a:xfrm>
          <a:custGeom>
            <a:avLst/>
            <a:gdLst/>
            <a:ahLst/>
            <a:cxnLst/>
            <a:rect l="l" t="t" r="r" b="b"/>
            <a:pathLst>
              <a:path w="3016250" h="933450">
                <a:moveTo>
                  <a:pt x="2854321" y="0"/>
                </a:moveTo>
                <a:lnTo>
                  <a:pt x="144909" y="1270"/>
                </a:lnTo>
                <a:lnTo>
                  <a:pt x="98472" y="13970"/>
                </a:lnTo>
                <a:lnTo>
                  <a:pt x="71381" y="27939"/>
                </a:lnTo>
                <a:lnTo>
                  <a:pt x="71009" y="27939"/>
                </a:lnTo>
                <a:lnTo>
                  <a:pt x="47632" y="48260"/>
                </a:lnTo>
                <a:lnTo>
                  <a:pt x="47202" y="48260"/>
                </a:lnTo>
                <a:lnTo>
                  <a:pt x="27915" y="71120"/>
                </a:lnTo>
                <a:lnTo>
                  <a:pt x="27650" y="72389"/>
                </a:lnTo>
                <a:lnTo>
                  <a:pt x="19338" y="86360"/>
                </a:lnTo>
                <a:lnTo>
                  <a:pt x="12556" y="100329"/>
                </a:lnTo>
                <a:lnTo>
                  <a:pt x="7151" y="114300"/>
                </a:lnTo>
                <a:lnTo>
                  <a:pt x="3205" y="130810"/>
                </a:lnTo>
                <a:lnTo>
                  <a:pt x="798" y="146050"/>
                </a:lnTo>
                <a:lnTo>
                  <a:pt x="0" y="162560"/>
                </a:lnTo>
                <a:lnTo>
                  <a:pt x="12" y="772160"/>
                </a:lnTo>
                <a:lnTo>
                  <a:pt x="7432" y="820420"/>
                </a:lnTo>
                <a:lnTo>
                  <a:pt x="27649" y="862329"/>
                </a:lnTo>
                <a:lnTo>
                  <a:pt x="27915" y="863600"/>
                </a:lnTo>
                <a:lnTo>
                  <a:pt x="47202" y="886460"/>
                </a:lnTo>
                <a:lnTo>
                  <a:pt x="47632" y="886460"/>
                </a:lnTo>
                <a:lnTo>
                  <a:pt x="71009" y="906779"/>
                </a:lnTo>
                <a:lnTo>
                  <a:pt x="71381" y="906779"/>
                </a:lnTo>
                <a:lnTo>
                  <a:pt x="85150" y="914400"/>
                </a:lnTo>
                <a:lnTo>
                  <a:pt x="99332" y="922020"/>
                </a:lnTo>
                <a:lnTo>
                  <a:pt x="114236" y="927100"/>
                </a:lnTo>
                <a:lnTo>
                  <a:pt x="129776" y="930910"/>
                </a:lnTo>
                <a:lnTo>
                  <a:pt x="145865" y="933450"/>
                </a:lnTo>
                <a:lnTo>
                  <a:pt x="2871341" y="933450"/>
                </a:lnTo>
                <a:lnTo>
                  <a:pt x="2887407" y="930910"/>
                </a:lnTo>
                <a:lnTo>
                  <a:pt x="2902915" y="927100"/>
                </a:lnTo>
                <a:lnTo>
                  <a:pt x="2911832" y="923289"/>
                </a:lnTo>
                <a:lnTo>
                  <a:pt x="161928" y="923289"/>
                </a:lnTo>
                <a:lnTo>
                  <a:pt x="146442" y="922020"/>
                </a:lnTo>
                <a:lnTo>
                  <a:pt x="103261" y="910589"/>
                </a:lnTo>
                <a:lnTo>
                  <a:pt x="55516" y="878839"/>
                </a:lnTo>
                <a:lnTo>
                  <a:pt x="29547" y="843279"/>
                </a:lnTo>
                <a:lnTo>
                  <a:pt x="14466" y="802639"/>
                </a:lnTo>
                <a:lnTo>
                  <a:pt x="11427" y="772160"/>
                </a:lnTo>
                <a:lnTo>
                  <a:pt x="11429" y="162560"/>
                </a:lnTo>
                <a:lnTo>
                  <a:pt x="18221" y="118110"/>
                </a:lnTo>
                <a:lnTo>
                  <a:pt x="37110" y="78739"/>
                </a:lnTo>
                <a:lnTo>
                  <a:pt x="77824" y="38100"/>
                </a:lnTo>
                <a:lnTo>
                  <a:pt x="117263" y="19050"/>
                </a:lnTo>
                <a:lnTo>
                  <a:pt x="162024" y="11429"/>
                </a:lnTo>
                <a:lnTo>
                  <a:pt x="2913191" y="11429"/>
                </a:lnTo>
                <a:lnTo>
                  <a:pt x="2902014" y="7620"/>
                </a:lnTo>
                <a:lnTo>
                  <a:pt x="2886473" y="3810"/>
                </a:lnTo>
                <a:lnTo>
                  <a:pt x="2870383" y="1270"/>
                </a:lnTo>
                <a:lnTo>
                  <a:pt x="2854321" y="0"/>
                </a:lnTo>
                <a:close/>
              </a:path>
              <a:path w="3016250" h="933450">
                <a:moveTo>
                  <a:pt x="2913191" y="11429"/>
                </a:moveTo>
                <a:lnTo>
                  <a:pt x="2854321" y="11429"/>
                </a:lnTo>
                <a:lnTo>
                  <a:pt x="2869808" y="12700"/>
                </a:lnTo>
                <a:lnTo>
                  <a:pt x="2884748" y="15239"/>
                </a:lnTo>
                <a:lnTo>
                  <a:pt x="2926139" y="30479"/>
                </a:lnTo>
                <a:lnTo>
                  <a:pt x="2960733" y="55879"/>
                </a:lnTo>
                <a:lnTo>
                  <a:pt x="2986702" y="91439"/>
                </a:lnTo>
                <a:lnTo>
                  <a:pt x="3001784" y="132079"/>
                </a:lnTo>
                <a:lnTo>
                  <a:pt x="3004822" y="162560"/>
                </a:lnTo>
                <a:lnTo>
                  <a:pt x="3004819" y="772160"/>
                </a:lnTo>
                <a:lnTo>
                  <a:pt x="2998028" y="816610"/>
                </a:lnTo>
                <a:lnTo>
                  <a:pt x="2979140" y="855979"/>
                </a:lnTo>
                <a:lnTo>
                  <a:pt x="2938425" y="896620"/>
                </a:lnTo>
                <a:lnTo>
                  <a:pt x="2898986" y="915670"/>
                </a:lnTo>
                <a:lnTo>
                  <a:pt x="2854225" y="923289"/>
                </a:lnTo>
                <a:lnTo>
                  <a:pt x="2911832" y="923289"/>
                </a:lnTo>
                <a:lnTo>
                  <a:pt x="2917777" y="920750"/>
                </a:lnTo>
                <a:lnTo>
                  <a:pt x="2931911" y="914400"/>
                </a:lnTo>
                <a:lnTo>
                  <a:pt x="2944867" y="906779"/>
                </a:lnTo>
                <a:lnTo>
                  <a:pt x="2945241" y="906779"/>
                </a:lnTo>
                <a:lnTo>
                  <a:pt x="2968616" y="886460"/>
                </a:lnTo>
                <a:lnTo>
                  <a:pt x="2969047" y="886460"/>
                </a:lnTo>
                <a:lnTo>
                  <a:pt x="2988334" y="863600"/>
                </a:lnTo>
                <a:lnTo>
                  <a:pt x="2988600" y="862329"/>
                </a:lnTo>
                <a:lnTo>
                  <a:pt x="2996912" y="848360"/>
                </a:lnTo>
                <a:lnTo>
                  <a:pt x="3003693" y="834389"/>
                </a:lnTo>
                <a:lnTo>
                  <a:pt x="3009098" y="820420"/>
                </a:lnTo>
                <a:lnTo>
                  <a:pt x="3013045" y="803910"/>
                </a:lnTo>
                <a:lnTo>
                  <a:pt x="3015450" y="788670"/>
                </a:lnTo>
                <a:lnTo>
                  <a:pt x="3016249" y="772160"/>
                </a:lnTo>
                <a:lnTo>
                  <a:pt x="3016238" y="162560"/>
                </a:lnTo>
                <a:lnTo>
                  <a:pt x="3008817" y="114300"/>
                </a:lnTo>
                <a:lnTo>
                  <a:pt x="2988600" y="72389"/>
                </a:lnTo>
                <a:lnTo>
                  <a:pt x="2988334" y="71120"/>
                </a:lnTo>
                <a:lnTo>
                  <a:pt x="2969047" y="48260"/>
                </a:lnTo>
                <a:lnTo>
                  <a:pt x="2968616" y="48260"/>
                </a:lnTo>
                <a:lnTo>
                  <a:pt x="2945241" y="27939"/>
                </a:lnTo>
                <a:lnTo>
                  <a:pt x="2944867" y="27939"/>
                </a:lnTo>
                <a:lnTo>
                  <a:pt x="2931099" y="20320"/>
                </a:lnTo>
                <a:lnTo>
                  <a:pt x="2916917" y="12700"/>
                </a:lnTo>
                <a:lnTo>
                  <a:pt x="2913191" y="11429"/>
                </a:lnTo>
                <a:close/>
              </a:path>
              <a:path w="3016250" h="933450">
                <a:moveTo>
                  <a:pt x="2854321" y="15239"/>
                </a:moveTo>
                <a:lnTo>
                  <a:pt x="162216" y="15239"/>
                </a:lnTo>
                <a:lnTo>
                  <a:pt x="147208" y="16510"/>
                </a:lnTo>
                <a:lnTo>
                  <a:pt x="105086" y="26670"/>
                </a:lnTo>
                <a:lnTo>
                  <a:pt x="58222" y="58420"/>
                </a:lnTo>
                <a:lnTo>
                  <a:pt x="33068" y="92710"/>
                </a:lnTo>
                <a:lnTo>
                  <a:pt x="18270" y="132079"/>
                </a:lnTo>
                <a:lnTo>
                  <a:pt x="15232" y="772160"/>
                </a:lnTo>
                <a:lnTo>
                  <a:pt x="15961" y="787400"/>
                </a:lnTo>
                <a:lnTo>
                  <a:pt x="26650" y="829310"/>
                </a:lnTo>
                <a:lnTo>
                  <a:pt x="58222" y="876300"/>
                </a:lnTo>
                <a:lnTo>
                  <a:pt x="91764" y="900429"/>
                </a:lnTo>
                <a:lnTo>
                  <a:pt x="132076" y="915670"/>
                </a:lnTo>
                <a:lnTo>
                  <a:pt x="161928" y="919479"/>
                </a:lnTo>
                <a:lnTo>
                  <a:pt x="2854033" y="919479"/>
                </a:lnTo>
                <a:lnTo>
                  <a:pt x="2869041" y="918210"/>
                </a:lnTo>
                <a:lnTo>
                  <a:pt x="2883613" y="915670"/>
                </a:lnTo>
                <a:lnTo>
                  <a:pt x="2853840" y="915670"/>
                </a:lnTo>
                <a:lnTo>
                  <a:pt x="146826" y="914400"/>
                </a:lnTo>
                <a:lnTo>
                  <a:pt x="105880" y="904239"/>
                </a:lnTo>
                <a:lnTo>
                  <a:pt x="60929" y="873760"/>
                </a:lnTo>
                <a:lnTo>
                  <a:pt x="36059" y="839470"/>
                </a:lnTo>
                <a:lnTo>
                  <a:pt x="21846" y="800100"/>
                </a:lnTo>
                <a:lnTo>
                  <a:pt x="19037" y="772160"/>
                </a:lnTo>
                <a:lnTo>
                  <a:pt x="19050" y="162560"/>
                </a:lnTo>
                <a:lnTo>
                  <a:pt x="25601" y="119379"/>
                </a:lnTo>
                <a:lnTo>
                  <a:pt x="43337" y="82550"/>
                </a:lnTo>
                <a:lnTo>
                  <a:pt x="82250" y="44450"/>
                </a:lnTo>
                <a:lnTo>
                  <a:pt x="119882" y="25400"/>
                </a:lnTo>
                <a:lnTo>
                  <a:pt x="162408" y="19050"/>
                </a:lnTo>
                <a:lnTo>
                  <a:pt x="2884174" y="19050"/>
                </a:lnTo>
                <a:lnTo>
                  <a:pt x="2869615" y="16510"/>
                </a:lnTo>
                <a:lnTo>
                  <a:pt x="2854321" y="15239"/>
                </a:lnTo>
                <a:close/>
              </a:path>
              <a:path w="3016250" h="933450">
                <a:moveTo>
                  <a:pt x="2884174" y="19050"/>
                </a:moveTo>
                <a:lnTo>
                  <a:pt x="2854321" y="19050"/>
                </a:lnTo>
                <a:lnTo>
                  <a:pt x="2869423" y="20320"/>
                </a:lnTo>
                <a:lnTo>
                  <a:pt x="2883599" y="22860"/>
                </a:lnTo>
                <a:lnTo>
                  <a:pt x="2922832" y="36829"/>
                </a:lnTo>
                <a:lnTo>
                  <a:pt x="2955321" y="60960"/>
                </a:lnTo>
                <a:lnTo>
                  <a:pt x="2980190" y="95250"/>
                </a:lnTo>
                <a:lnTo>
                  <a:pt x="2994404" y="134620"/>
                </a:lnTo>
                <a:lnTo>
                  <a:pt x="2997212" y="162560"/>
                </a:lnTo>
                <a:lnTo>
                  <a:pt x="2997199" y="772160"/>
                </a:lnTo>
                <a:lnTo>
                  <a:pt x="2990648" y="815339"/>
                </a:lnTo>
                <a:lnTo>
                  <a:pt x="2972913" y="852170"/>
                </a:lnTo>
                <a:lnTo>
                  <a:pt x="2933999" y="890270"/>
                </a:lnTo>
                <a:lnTo>
                  <a:pt x="2896367" y="909320"/>
                </a:lnTo>
                <a:lnTo>
                  <a:pt x="2853840" y="915670"/>
                </a:lnTo>
                <a:lnTo>
                  <a:pt x="2883613" y="915670"/>
                </a:lnTo>
                <a:lnTo>
                  <a:pt x="2923999" y="901700"/>
                </a:lnTo>
                <a:lnTo>
                  <a:pt x="2958027" y="876300"/>
                </a:lnTo>
                <a:lnTo>
                  <a:pt x="2983182" y="842010"/>
                </a:lnTo>
                <a:lnTo>
                  <a:pt x="2997979" y="802639"/>
                </a:lnTo>
                <a:lnTo>
                  <a:pt x="3001017" y="162560"/>
                </a:lnTo>
                <a:lnTo>
                  <a:pt x="3000288" y="147320"/>
                </a:lnTo>
                <a:lnTo>
                  <a:pt x="2989599" y="105410"/>
                </a:lnTo>
                <a:lnTo>
                  <a:pt x="2958027" y="58420"/>
                </a:lnTo>
                <a:lnTo>
                  <a:pt x="2924485" y="34289"/>
                </a:lnTo>
                <a:lnTo>
                  <a:pt x="2898218" y="22860"/>
                </a:lnTo>
                <a:lnTo>
                  <a:pt x="2884174" y="19050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914391" y="2414436"/>
            <a:ext cx="2897292" cy="7177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804959" y="2276475"/>
            <a:ext cx="3016250" cy="933450"/>
          </a:xfrm>
          <a:custGeom>
            <a:avLst/>
            <a:gdLst/>
            <a:ahLst/>
            <a:cxnLst/>
            <a:rect l="l" t="t" r="r" b="b"/>
            <a:pathLst>
              <a:path w="3016250" h="933450">
                <a:moveTo>
                  <a:pt x="2854321" y="0"/>
                </a:moveTo>
                <a:lnTo>
                  <a:pt x="144909" y="1270"/>
                </a:lnTo>
                <a:lnTo>
                  <a:pt x="98471" y="13970"/>
                </a:lnTo>
                <a:lnTo>
                  <a:pt x="71381" y="27939"/>
                </a:lnTo>
                <a:lnTo>
                  <a:pt x="71009" y="27939"/>
                </a:lnTo>
                <a:lnTo>
                  <a:pt x="47632" y="48260"/>
                </a:lnTo>
                <a:lnTo>
                  <a:pt x="47202" y="48260"/>
                </a:lnTo>
                <a:lnTo>
                  <a:pt x="27914" y="71120"/>
                </a:lnTo>
                <a:lnTo>
                  <a:pt x="27650" y="72389"/>
                </a:lnTo>
                <a:lnTo>
                  <a:pt x="19338" y="86360"/>
                </a:lnTo>
                <a:lnTo>
                  <a:pt x="12556" y="100329"/>
                </a:lnTo>
                <a:lnTo>
                  <a:pt x="7151" y="114300"/>
                </a:lnTo>
                <a:lnTo>
                  <a:pt x="3205" y="130810"/>
                </a:lnTo>
                <a:lnTo>
                  <a:pt x="798" y="146050"/>
                </a:lnTo>
                <a:lnTo>
                  <a:pt x="0" y="162560"/>
                </a:lnTo>
                <a:lnTo>
                  <a:pt x="11" y="772160"/>
                </a:lnTo>
                <a:lnTo>
                  <a:pt x="7432" y="820420"/>
                </a:lnTo>
                <a:lnTo>
                  <a:pt x="27649" y="862329"/>
                </a:lnTo>
                <a:lnTo>
                  <a:pt x="27915" y="863600"/>
                </a:lnTo>
                <a:lnTo>
                  <a:pt x="47202" y="886460"/>
                </a:lnTo>
                <a:lnTo>
                  <a:pt x="47632" y="886460"/>
                </a:lnTo>
                <a:lnTo>
                  <a:pt x="71009" y="906779"/>
                </a:lnTo>
                <a:lnTo>
                  <a:pt x="71381" y="906779"/>
                </a:lnTo>
                <a:lnTo>
                  <a:pt x="85149" y="914400"/>
                </a:lnTo>
                <a:lnTo>
                  <a:pt x="99331" y="922020"/>
                </a:lnTo>
                <a:lnTo>
                  <a:pt x="114236" y="927100"/>
                </a:lnTo>
                <a:lnTo>
                  <a:pt x="129776" y="930910"/>
                </a:lnTo>
                <a:lnTo>
                  <a:pt x="145865" y="933450"/>
                </a:lnTo>
                <a:lnTo>
                  <a:pt x="2871340" y="933450"/>
                </a:lnTo>
                <a:lnTo>
                  <a:pt x="2887408" y="930910"/>
                </a:lnTo>
                <a:lnTo>
                  <a:pt x="2902915" y="927100"/>
                </a:lnTo>
                <a:lnTo>
                  <a:pt x="2911832" y="923289"/>
                </a:lnTo>
                <a:lnTo>
                  <a:pt x="161928" y="923289"/>
                </a:lnTo>
                <a:lnTo>
                  <a:pt x="146442" y="922020"/>
                </a:lnTo>
                <a:lnTo>
                  <a:pt x="103261" y="910589"/>
                </a:lnTo>
                <a:lnTo>
                  <a:pt x="55515" y="878839"/>
                </a:lnTo>
                <a:lnTo>
                  <a:pt x="29547" y="843279"/>
                </a:lnTo>
                <a:lnTo>
                  <a:pt x="14466" y="802639"/>
                </a:lnTo>
                <a:lnTo>
                  <a:pt x="11427" y="772160"/>
                </a:lnTo>
                <a:lnTo>
                  <a:pt x="11430" y="162560"/>
                </a:lnTo>
                <a:lnTo>
                  <a:pt x="18221" y="118110"/>
                </a:lnTo>
                <a:lnTo>
                  <a:pt x="37109" y="78739"/>
                </a:lnTo>
                <a:lnTo>
                  <a:pt x="77824" y="38100"/>
                </a:lnTo>
                <a:lnTo>
                  <a:pt x="117262" y="19050"/>
                </a:lnTo>
                <a:lnTo>
                  <a:pt x="162024" y="11429"/>
                </a:lnTo>
                <a:lnTo>
                  <a:pt x="2913191" y="11429"/>
                </a:lnTo>
                <a:lnTo>
                  <a:pt x="2902013" y="7620"/>
                </a:lnTo>
                <a:lnTo>
                  <a:pt x="2886472" y="3810"/>
                </a:lnTo>
                <a:lnTo>
                  <a:pt x="2870384" y="1270"/>
                </a:lnTo>
                <a:lnTo>
                  <a:pt x="2854321" y="0"/>
                </a:lnTo>
                <a:close/>
              </a:path>
              <a:path w="3016250" h="933450">
                <a:moveTo>
                  <a:pt x="2913191" y="11429"/>
                </a:moveTo>
                <a:lnTo>
                  <a:pt x="2854321" y="11429"/>
                </a:lnTo>
                <a:lnTo>
                  <a:pt x="2869807" y="12700"/>
                </a:lnTo>
                <a:lnTo>
                  <a:pt x="2884749" y="15239"/>
                </a:lnTo>
                <a:lnTo>
                  <a:pt x="2926138" y="30479"/>
                </a:lnTo>
                <a:lnTo>
                  <a:pt x="2960733" y="55879"/>
                </a:lnTo>
                <a:lnTo>
                  <a:pt x="2986702" y="91439"/>
                </a:lnTo>
                <a:lnTo>
                  <a:pt x="3001783" y="132079"/>
                </a:lnTo>
                <a:lnTo>
                  <a:pt x="3004822" y="162560"/>
                </a:lnTo>
                <a:lnTo>
                  <a:pt x="3004820" y="772160"/>
                </a:lnTo>
                <a:lnTo>
                  <a:pt x="2998028" y="816610"/>
                </a:lnTo>
                <a:lnTo>
                  <a:pt x="2979140" y="855979"/>
                </a:lnTo>
                <a:lnTo>
                  <a:pt x="2938424" y="896620"/>
                </a:lnTo>
                <a:lnTo>
                  <a:pt x="2898987" y="915670"/>
                </a:lnTo>
                <a:lnTo>
                  <a:pt x="2854224" y="923289"/>
                </a:lnTo>
                <a:lnTo>
                  <a:pt x="2911832" y="923289"/>
                </a:lnTo>
                <a:lnTo>
                  <a:pt x="2917776" y="920750"/>
                </a:lnTo>
                <a:lnTo>
                  <a:pt x="2931911" y="914400"/>
                </a:lnTo>
                <a:lnTo>
                  <a:pt x="2944868" y="906779"/>
                </a:lnTo>
                <a:lnTo>
                  <a:pt x="2945240" y="906779"/>
                </a:lnTo>
                <a:lnTo>
                  <a:pt x="2968617" y="886460"/>
                </a:lnTo>
                <a:lnTo>
                  <a:pt x="2969046" y="886460"/>
                </a:lnTo>
                <a:lnTo>
                  <a:pt x="2988335" y="863600"/>
                </a:lnTo>
                <a:lnTo>
                  <a:pt x="2988599" y="862329"/>
                </a:lnTo>
                <a:lnTo>
                  <a:pt x="2996911" y="848360"/>
                </a:lnTo>
                <a:lnTo>
                  <a:pt x="3003693" y="834389"/>
                </a:lnTo>
                <a:lnTo>
                  <a:pt x="3009098" y="820420"/>
                </a:lnTo>
                <a:lnTo>
                  <a:pt x="3013044" y="803910"/>
                </a:lnTo>
                <a:lnTo>
                  <a:pt x="3015451" y="788670"/>
                </a:lnTo>
                <a:lnTo>
                  <a:pt x="3016250" y="772160"/>
                </a:lnTo>
                <a:lnTo>
                  <a:pt x="3016237" y="162560"/>
                </a:lnTo>
                <a:lnTo>
                  <a:pt x="3008817" y="114300"/>
                </a:lnTo>
                <a:lnTo>
                  <a:pt x="2988600" y="72389"/>
                </a:lnTo>
                <a:lnTo>
                  <a:pt x="2988334" y="71120"/>
                </a:lnTo>
                <a:lnTo>
                  <a:pt x="2969047" y="48260"/>
                </a:lnTo>
                <a:lnTo>
                  <a:pt x="2968617" y="48260"/>
                </a:lnTo>
                <a:lnTo>
                  <a:pt x="2945240" y="27939"/>
                </a:lnTo>
                <a:lnTo>
                  <a:pt x="2944868" y="27939"/>
                </a:lnTo>
                <a:lnTo>
                  <a:pt x="2931099" y="20320"/>
                </a:lnTo>
                <a:lnTo>
                  <a:pt x="2916916" y="12700"/>
                </a:lnTo>
                <a:lnTo>
                  <a:pt x="2913191" y="11429"/>
                </a:lnTo>
                <a:close/>
              </a:path>
              <a:path w="3016250" h="933450">
                <a:moveTo>
                  <a:pt x="2854321" y="15239"/>
                </a:moveTo>
                <a:lnTo>
                  <a:pt x="162217" y="15239"/>
                </a:lnTo>
                <a:lnTo>
                  <a:pt x="147208" y="16510"/>
                </a:lnTo>
                <a:lnTo>
                  <a:pt x="105086" y="26670"/>
                </a:lnTo>
                <a:lnTo>
                  <a:pt x="58221" y="58420"/>
                </a:lnTo>
                <a:lnTo>
                  <a:pt x="33068" y="92710"/>
                </a:lnTo>
                <a:lnTo>
                  <a:pt x="18270" y="132079"/>
                </a:lnTo>
                <a:lnTo>
                  <a:pt x="15232" y="772160"/>
                </a:lnTo>
                <a:lnTo>
                  <a:pt x="15961" y="787400"/>
                </a:lnTo>
                <a:lnTo>
                  <a:pt x="26649" y="829310"/>
                </a:lnTo>
                <a:lnTo>
                  <a:pt x="58221" y="876300"/>
                </a:lnTo>
                <a:lnTo>
                  <a:pt x="91763" y="900429"/>
                </a:lnTo>
                <a:lnTo>
                  <a:pt x="132076" y="915670"/>
                </a:lnTo>
                <a:lnTo>
                  <a:pt x="161928" y="919479"/>
                </a:lnTo>
                <a:lnTo>
                  <a:pt x="2854032" y="919479"/>
                </a:lnTo>
                <a:lnTo>
                  <a:pt x="2869041" y="918210"/>
                </a:lnTo>
                <a:lnTo>
                  <a:pt x="2883612" y="915670"/>
                </a:lnTo>
                <a:lnTo>
                  <a:pt x="2853841" y="915670"/>
                </a:lnTo>
                <a:lnTo>
                  <a:pt x="146825" y="914400"/>
                </a:lnTo>
                <a:lnTo>
                  <a:pt x="105879" y="904239"/>
                </a:lnTo>
                <a:lnTo>
                  <a:pt x="60928" y="873760"/>
                </a:lnTo>
                <a:lnTo>
                  <a:pt x="36059" y="839470"/>
                </a:lnTo>
                <a:lnTo>
                  <a:pt x="21846" y="800100"/>
                </a:lnTo>
                <a:lnTo>
                  <a:pt x="19037" y="772160"/>
                </a:lnTo>
                <a:lnTo>
                  <a:pt x="19050" y="162560"/>
                </a:lnTo>
                <a:lnTo>
                  <a:pt x="25601" y="119379"/>
                </a:lnTo>
                <a:lnTo>
                  <a:pt x="43337" y="82550"/>
                </a:lnTo>
                <a:lnTo>
                  <a:pt x="82250" y="44450"/>
                </a:lnTo>
                <a:lnTo>
                  <a:pt x="119881" y="25400"/>
                </a:lnTo>
                <a:lnTo>
                  <a:pt x="162408" y="19050"/>
                </a:lnTo>
                <a:lnTo>
                  <a:pt x="2884173" y="19050"/>
                </a:lnTo>
                <a:lnTo>
                  <a:pt x="2869615" y="16510"/>
                </a:lnTo>
                <a:lnTo>
                  <a:pt x="2854321" y="15239"/>
                </a:lnTo>
                <a:close/>
              </a:path>
              <a:path w="3016250" h="933450">
                <a:moveTo>
                  <a:pt x="2884173" y="19050"/>
                </a:moveTo>
                <a:lnTo>
                  <a:pt x="2854321" y="19050"/>
                </a:lnTo>
                <a:lnTo>
                  <a:pt x="2869424" y="20320"/>
                </a:lnTo>
                <a:lnTo>
                  <a:pt x="2883598" y="22860"/>
                </a:lnTo>
                <a:lnTo>
                  <a:pt x="2922832" y="36829"/>
                </a:lnTo>
                <a:lnTo>
                  <a:pt x="2955320" y="60960"/>
                </a:lnTo>
                <a:lnTo>
                  <a:pt x="2980189" y="95250"/>
                </a:lnTo>
                <a:lnTo>
                  <a:pt x="2994403" y="134620"/>
                </a:lnTo>
                <a:lnTo>
                  <a:pt x="2997211" y="162560"/>
                </a:lnTo>
                <a:lnTo>
                  <a:pt x="2997200" y="772160"/>
                </a:lnTo>
                <a:lnTo>
                  <a:pt x="2990648" y="815339"/>
                </a:lnTo>
                <a:lnTo>
                  <a:pt x="2972912" y="852170"/>
                </a:lnTo>
                <a:lnTo>
                  <a:pt x="2933999" y="890270"/>
                </a:lnTo>
                <a:lnTo>
                  <a:pt x="2896368" y="909320"/>
                </a:lnTo>
                <a:lnTo>
                  <a:pt x="2853841" y="915670"/>
                </a:lnTo>
                <a:lnTo>
                  <a:pt x="2883612" y="915670"/>
                </a:lnTo>
                <a:lnTo>
                  <a:pt x="2923998" y="901700"/>
                </a:lnTo>
                <a:lnTo>
                  <a:pt x="2958026" y="876300"/>
                </a:lnTo>
                <a:lnTo>
                  <a:pt x="2983181" y="842010"/>
                </a:lnTo>
                <a:lnTo>
                  <a:pt x="2997978" y="802639"/>
                </a:lnTo>
                <a:lnTo>
                  <a:pt x="3001017" y="162560"/>
                </a:lnTo>
                <a:lnTo>
                  <a:pt x="3000288" y="147320"/>
                </a:lnTo>
                <a:lnTo>
                  <a:pt x="2989599" y="105410"/>
                </a:lnTo>
                <a:lnTo>
                  <a:pt x="2958026" y="58420"/>
                </a:lnTo>
                <a:lnTo>
                  <a:pt x="2924486" y="34289"/>
                </a:lnTo>
                <a:lnTo>
                  <a:pt x="2898218" y="22860"/>
                </a:lnTo>
                <a:lnTo>
                  <a:pt x="2884173" y="19050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932596" y="2264155"/>
            <a:ext cx="17081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How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 spc="-65">
                <a:latin typeface="Arial"/>
                <a:cs typeface="Arial"/>
              </a:rPr>
              <a:t>similar?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150664" y="2663836"/>
            <a:ext cx="1122680" cy="283845"/>
          </a:xfrm>
          <a:custGeom>
            <a:avLst/>
            <a:gdLst/>
            <a:ahLst/>
            <a:cxnLst/>
            <a:rect l="l" t="t" r="r" b="b"/>
            <a:pathLst>
              <a:path w="1122679" h="283844">
                <a:moveTo>
                  <a:pt x="141706" y="0"/>
                </a:moveTo>
                <a:lnTo>
                  <a:pt x="0" y="141706"/>
                </a:lnTo>
                <a:lnTo>
                  <a:pt x="141706" y="283411"/>
                </a:lnTo>
                <a:lnTo>
                  <a:pt x="141706" y="212558"/>
                </a:lnTo>
                <a:lnTo>
                  <a:pt x="1051661" y="212558"/>
                </a:lnTo>
                <a:lnTo>
                  <a:pt x="1122513" y="141706"/>
                </a:lnTo>
                <a:lnTo>
                  <a:pt x="1051660" y="70853"/>
                </a:lnTo>
                <a:lnTo>
                  <a:pt x="141706" y="70853"/>
                </a:lnTo>
                <a:lnTo>
                  <a:pt x="141706" y="0"/>
                </a:lnTo>
                <a:close/>
              </a:path>
              <a:path w="1122679" h="283844">
                <a:moveTo>
                  <a:pt x="1051661" y="212558"/>
                </a:moveTo>
                <a:lnTo>
                  <a:pt x="980808" y="212558"/>
                </a:lnTo>
                <a:lnTo>
                  <a:pt x="980808" y="283411"/>
                </a:lnTo>
                <a:lnTo>
                  <a:pt x="1051661" y="212558"/>
                </a:lnTo>
                <a:close/>
              </a:path>
              <a:path w="1122679" h="283844">
                <a:moveTo>
                  <a:pt x="980808" y="0"/>
                </a:moveTo>
                <a:lnTo>
                  <a:pt x="980808" y="70853"/>
                </a:lnTo>
                <a:lnTo>
                  <a:pt x="1051660" y="70853"/>
                </a:lnTo>
                <a:lnTo>
                  <a:pt x="98080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126664" y="2639942"/>
            <a:ext cx="1170940" cy="331470"/>
          </a:xfrm>
          <a:custGeom>
            <a:avLst/>
            <a:gdLst/>
            <a:ahLst/>
            <a:cxnLst/>
            <a:rect l="l" t="t" r="r" b="b"/>
            <a:pathLst>
              <a:path w="1170939" h="331469">
                <a:moveTo>
                  <a:pt x="167986" y="0"/>
                </a:moveTo>
                <a:lnTo>
                  <a:pt x="7029" y="148629"/>
                </a:lnTo>
                <a:lnTo>
                  <a:pt x="0" y="165598"/>
                </a:lnTo>
                <a:lnTo>
                  <a:pt x="1757" y="174630"/>
                </a:lnTo>
                <a:lnTo>
                  <a:pt x="148735" y="324275"/>
                </a:lnTo>
                <a:lnTo>
                  <a:pt x="167986" y="331197"/>
                </a:lnTo>
                <a:lnTo>
                  <a:pt x="174891" y="329478"/>
                </a:lnTo>
                <a:lnTo>
                  <a:pt x="180989" y="325811"/>
                </a:lnTo>
                <a:lnTo>
                  <a:pt x="185661" y="320639"/>
                </a:lnTo>
                <a:lnTo>
                  <a:pt x="188652" y="314342"/>
                </a:lnTo>
                <a:lnTo>
                  <a:pt x="189706" y="307305"/>
                </a:lnTo>
                <a:lnTo>
                  <a:pt x="189706" y="295716"/>
                </a:lnTo>
                <a:lnTo>
                  <a:pt x="160906" y="295716"/>
                </a:lnTo>
                <a:lnTo>
                  <a:pt x="30789" y="165598"/>
                </a:lnTo>
                <a:lnTo>
                  <a:pt x="160906" y="35481"/>
                </a:lnTo>
                <a:lnTo>
                  <a:pt x="189706" y="35481"/>
                </a:lnTo>
                <a:lnTo>
                  <a:pt x="189706" y="23893"/>
                </a:lnTo>
                <a:lnTo>
                  <a:pt x="188652" y="16855"/>
                </a:lnTo>
                <a:lnTo>
                  <a:pt x="185661" y="10559"/>
                </a:lnTo>
                <a:lnTo>
                  <a:pt x="180989" y="5386"/>
                </a:lnTo>
                <a:lnTo>
                  <a:pt x="174891" y="1719"/>
                </a:lnTo>
                <a:lnTo>
                  <a:pt x="167986" y="0"/>
                </a:lnTo>
                <a:close/>
              </a:path>
              <a:path w="1170939" h="331469">
                <a:moveTo>
                  <a:pt x="1009607" y="260451"/>
                </a:moveTo>
                <a:lnTo>
                  <a:pt x="980808" y="260451"/>
                </a:lnTo>
                <a:lnTo>
                  <a:pt x="980808" y="307305"/>
                </a:lnTo>
                <a:lnTo>
                  <a:pt x="1002529" y="331197"/>
                </a:lnTo>
                <a:lnTo>
                  <a:pt x="1009490" y="330844"/>
                </a:lnTo>
                <a:lnTo>
                  <a:pt x="1016057" y="328506"/>
                </a:lnTo>
                <a:lnTo>
                  <a:pt x="1021778" y="324275"/>
                </a:lnTo>
                <a:lnTo>
                  <a:pt x="1050336" y="295716"/>
                </a:lnTo>
                <a:lnTo>
                  <a:pt x="1009607" y="295716"/>
                </a:lnTo>
                <a:lnTo>
                  <a:pt x="1009607" y="260451"/>
                </a:lnTo>
                <a:close/>
              </a:path>
              <a:path w="1170939" h="331469">
                <a:moveTo>
                  <a:pt x="1007459" y="231651"/>
                </a:moveTo>
                <a:lnTo>
                  <a:pt x="163055" y="231651"/>
                </a:lnTo>
                <a:lnTo>
                  <a:pt x="160906" y="233800"/>
                </a:lnTo>
                <a:lnTo>
                  <a:pt x="160906" y="295716"/>
                </a:lnTo>
                <a:lnTo>
                  <a:pt x="189706" y="295716"/>
                </a:lnTo>
                <a:lnTo>
                  <a:pt x="189706" y="260451"/>
                </a:lnTo>
                <a:lnTo>
                  <a:pt x="1009607" y="260451"/>
                </a:lnTo>
                <a:lnTo>
                  <a:pt x="1009607" y="233800"/>
                </a:lnTo>
                <a:lnTo>
                  <a:pt x="1007459" y="231651"/>
                </a:lnTo>
                <a:close/>
              </a:path>
              <a:path w="1170939" h="331469">
                <a:moveTo>
                  <a:pt x="1050337" y="35481"/>
                </a:moveTo>
                <a:lnTo>
                  <a:pt x="1009607" y="35481"/>
                </a:lnTo>
                <a:lnTo>
                  <a:pt x="1139724" y="165600"/>
                </a:lnTo>
                <a:lnTo>
                  <a:pt x="1009607" y="295716"/>
                </a:lnTo>
                <a:lnTo>
                  <a:pt x="1050336" y="295716"/>
                </a:lnTo>
                <a:lnTo>
                  <a:pt x="1163483" y="182570"/>
                </a:lnTo>
                <a:lnTo>
                  <a:pt x="1168755" y="174630"/>
                </a:lnTo>
                <a:lnTo>
                  <a:pt x="1170513" y="165600"/>
                </a:lnTo>
                <a:lnTo>
                  <a:pt x="1168755" y="156568"/>
                </a:lnTo>
                <a:lnTo>
                  <a:pt x="1163483" y="148629"/>
                </a:lnTo>
                <a:lnTo>
                  <a:pt x="1050337" y="35481"/>
                </a:lnTo>
                <a:close/>
              </a:path>
              <a:path w="1170939" h="331469">
                <a:moveTo>
                  <a:pt x="151306" y="58657"/>
                </a:moveTo>
                <a:lnTo>
                  <a:pt x="44364" y="165600"/>
                </a:lnTo>
                <a:lnTo>
                  <a:pt x="151306" y="272540"/>
                </a:lnTo>
                <a:lnTo>
                  <a:pt x="151306" y="249364"/>
                </a:lnTo>
                <a:lnTo>
                  <a:pt x="141706" y="249364"/>
                </a:lnTo>
                <a:lnTo>
                  <a:pt x="57941" y="165598"/>
                </a:lnTo>
                <a:lnTo>
                  <a:pt x="141706" y="81834"/>
                </a:lnTo>
                <a:lnTo>
                  <a:pt x="151306" y="81834"/>
                </a:lnTo>
                <a:lnTo>
                  <a:pt x="151306" y="58657"/>
                </a:lnTo>
                <a:close/>
              </a:path>
              <a:path w="1170939" h="331469">
                <a:moveTo>
                  <a:pt x="1023511" y="222051"/>
                </a:moveTo>
                <a:lnTo>
                  <a:pt x="1012761" y="222051"/>
                </a:lnTo>
                <a:lnTo>
                  <a:pt x="1019207" y="228498"/>
                </a:lnTo>
                <a:lnTo>
                  <a:pt x="1019207" y="272540"/>
                </a:lnTo>
                <a:lnTo>
                  <a:pt x="1042384" y="249364"/>
                </a:lnTo>
                <a:lnTo>
                  <a:pt x="1028807" y="249364"/>
                </a:lnTo>
                <a:lnTo>
                  <a:pt x="1028807" y="236452"/>
                </a:lnTo>
                <a:lnTo>
                  <a:pt x="1026921" y="227110"/>
                </a:lnTo>
                <a:lnTo>
                  <a:pt x="1023511" y="222051"/>
                </a:lnTo>
                <a:close/>
              </a:path>
              <a:path w="1170939" h="331469">
                <a:moveTo>
                  <a:pt x="1004808" y="212451"/>
                </a:moveTo>
                <a:lnTo>
                  <a:pt x="165706" y="212451"/>
                </a:lnTo>
                <a:lnTo>
                  <a:pt x="156364" y="214337"/>
                </a:lnTo>
                <a:lnTo>
                  <a:pt x="148736" y="219481"/>
                </a:lnTo>
                <a:lnTo>
                  <a:pt x="143592" y="227110"/>
                </a:lnTo>
                <a:lnTo>
                  <a:pt x="141706" y="236452"/>
                </a:lnTo>
                <a:lnTo>
                  <a:pt x="141706" y="249364"/>
                </a:lnTo>
                <a:lnTo>
                  <a:pt x="151306" y="249364"/>
                </a:lnTo>
                <a:lnTo>
                  <a:pt x="151306" y="228498"/>
                </a:lnTo>
                <a:lnTo>
                  <a:pt x="157754" y="222051"/>
                </a:lnTo>
                <a:lnTo>
                  <a:pt x="1023511" y="222051"/>
                </a:lnTo>
                <a:lnTo>
                  <a:pt x="1021778" y="219481"/>
                </a:lnTo>
                <a:lnTo>
                  <a:pt x="1014150" y="214337"/>
                </a:lnTo>
                <a:lnTo>
                  <a:pt x="1004808" y="212451"/>
                </a:lnTo>
                <a:close/>
              </a:path>
              <a:path w="1170939" h="331469">
                <a:moveTo>
                  <a:pt x="1042383" y="81834"/>
                </a:moveTo>
                <a:lnTo>
                  <a:pt x="1028807" y="81834"/>
                </a:lnTo>
                <a:lnTo>
                  <a:pt x="1112570" y="165600"/>
                </a:lnTo>
                <a:lnTo>
                  <a:pt x="1028807" y="249364"/>
                </a:lnTo>
                <a:lnTo>
                  <a:pt x="1042384" y="249364"/>
                </a:lnTo>
                <a:lnTo>
                  <a:pt x="1126146" y="165598"/>
                </a:lnTo>
                <a:lnTo>
                  <a:pt x="1042383" y="81834"/>
                </a:lnTo>
                <a:close/>
              </a:path>
              <a:path w="1170939" h="331469">
                <a:moveTo>
                  <a:pt x="151306" y="81834"/>
                </a:moveTo>
                <a:lnTo>
                  <a:pt x="141706" y="81834"/>
                </a:lnTo>
                <a:lnTo>
                  <a:pt x="141706" y="94746"/>
                </a:lnTo>
                <a:lnTo>
                  <a:pt x="143592" y="104088"/>
                </a:lnTo>
                <a:lnTo>
                  <a:pt x="148736" y="111716"/>
                </a:lnTo>
                <a:lnTo>
                  <a:pt x="156364" y="116860"/>
                </a:lnTo>
                <a:lnTo>
                  <a:pt x="165706" y="118746"/>
                </a:lnTo>
                <a:lnTo>
                  <a:pt x="1004808" y="118746"/>
                </a:lnTo>
                <a:lnTo>
                  <a:pt x="1014150" y="116860"/>
                </a:lnTo>
                <a:lnTo>
                  <a:pt x="1021778" y="111716"/>
                </a:lnTo>
                <a:lnTo>
                  <a:pt x="1023511" y="109146"/>
                </a:lnTo>
                <a:lnTo>
                  <a:pt x="157754" y="109146"/>
                </a:lnTo>
                <a:lnTo>
                  <a:pt x="151306" y="102699"/>
                </a:lnTo>
                <a:lnTo>
                  <a:pt x="151306" y="81834"/>
                </a:lnTo>
                <a:close/>
              </a:path>
              <a:path w="1170939" h="331469">
                <a:moveTo>
                  <a:pt x="1019207" y="58658"/>
                </a:moveTo>
                <a:lnTo>
                  <a:pt x="1019207" y="102699"/>
                </a:lnTo>
                <a:lnTo>
                  <a:pt x="1012761" y="109146"/>
                </a:lnTo>
                <a:lnTo>
                  <a:pt x="1023511" y="109146"/>
                </a:lnTo>
                <a:lnTo>
                  <a:pt x="1026921" y="104088"/>
                </a:lnTo>
                <a:lnTo>
                  <a:pt x="1028807" y="94746"/>
                </a:lnTo>
                <a:lnTo>
                  <a:pt x="1028807" y="81834"/>
                </a:lnTo>
                <a:lnTo>
                  <a:pt x="1042383" y="81834"/>
                </a:lnTo>
                <a:lnTo>
                  <a:pt x="1019207" y="58658"/>
                </a:lnTo>
                <a:close/>
              </a:path>
              <a:path w="1170939" h="331469">
                <a:moveTo>
                  <a:pt x="189706" y="35481"/>
                </a:moveTo>
                <a:lnTo>
                  <a:pt x="160906" y="35481"/>
                </a:lnTo>
                <a:lnTo>
                  <a:pt x="160906" y="97397"/>
                </a:lnTo>
                <a:lnTo>
                  <a:pt x="163055" y="99546"/>
                </a:lnTo>
                <a:lnTo>
                  <a:pt x="1007459" y="99546"/>
                </a:lnTo>
                <a:lnTo>
                  <a:pt x="1009607" y="97397"/>
                </a:lnTo>
                <a:lnTo>
                  <a:pt x="1009607" y="70746"/>
                </a:lnTo>
                <a:lnTo>
                  <a:pt x="189706" y="70746"/>
                </a:lnTo>
                <a:lnTo>
                  <a:pt x="189706" y="35481"/>
                </a:lnTo>
                <a:close/>
              </a:path>
              <a:path w="1170939" h="331469">
                <a:moveTo>
                  <a:pt x="1002529" y="0"/>
                </a:moveTo>
                <a:lnTo>
                  <a:pt x="980808" y="23893"/>
                </a:lnTo>
                <a:lnTo>
                  <a:pt x="980808" y="70746"/>
                </a:lnTo>
                <a:lnTo>
                  <a:pt x="1009607" y="70746"/>
                </a:lnTo>
                <a:lnTo>
                  <a:pt x="1009607" y="35481"/>
                </a:lnTo>
                <a:lnTo>
                  <a:pt x="1050337" y="35481"/>
                </a:lnTo>
                <a:lnTo>
                  <a:pt x="1021779" y="6922"/>
                </a:lnTo>
                <a:lnTo>
                  <a:pt x="1016058" y="2691"/>
                </a:lnTo>
                <a:lnTo>
                  <a:pt x="1009490" y="353"/>
                </a:lnTo>
                <a:lnTo>
                  <a:pt x="1002529" y="0"/>
                </a:lnTo>
                <a:close/>
              </a:path>
            </a:pathLst>
          </a:custGeom>
          <a:solidFill>
            <a:srgbClr val="9019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5"/>
              </a:rPr>
              <a:t>http://cs224w.stanford.edu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47</a:t>
            </a:fld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468782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809480" y="1480985"/>
            <a:ext cx="5525037" cy="50291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733550" y="3257550"/>
            <a:ext cx="5620385" cy="1485900"/>
          </a:xfrm>
          <a:custGeom>
            <a:avLst/>
            <a:gdLst/>
            <a:ahLst/>
            <a:cxnLst/>
            <a:rect l="l" t="t" r="r" b="b"/>
            <a:pathLst>
              <a:path w="5620384" h="1485900">
                <a:moveTo>
                  <a:pt x="5600967" y="0"/>
                </a:moveTo>
                <a:lnTo>
                  <a:pt x="19050" y="0"/>
                </a:lnTo>
                <a:lnTo>
                  <a:pt x="11635" y="1497"/>
                </a:lnTo>
                <a:lnTo>
                  <a:pt x="5579" y="5579"/>
                </a:lnTo>
                <a:lnTo>
                  <a:pt x="1497" y="11635"/>
                </a:lnTo>
                <a:lnTo>
                  <a:pt x="0" y="19050"/>
                </a:lnTo>
                <a:lnTo>
                  <a:pt x="0" y="1466850"/>
                </a:lnTo>
                <a:lnTo>
                  <a:pt x="1497" y="1474264"/>
                </a:lnTo>
                <a:lnTo>
                  <a:pt x="5579" y="1480320"/>
                </a:lnTo>
                <a:lnTo>
                  <a:pt x="11635" y="1484402"/>
                </a:lnTo>
                <a:lnTo>
                  <a:pt x="19050" y="1485900"/>
                </a:lnTo>
                <a:lnTo>
                  <a:pt x="5600967" y="1485900"/>
                </a:lnTo>
                <a:lnTo>
                  <a:pt x="5608382" y="1484402"/>
                </a:lnTo>
                <a:lnTo>
                  <a:pt x="5614438" y="1480320"/>
                </a:lnTo>
                <a:lnTo>
                  <a:pt x="5618520" y="1474264"/>
                </a:lnTo>
                <a:lnTo>
                  <a:pt x="5620017" y="1466850"/>
                </a:lnTo>
                <a:lnTo>
                  <a:pt x="5620017" y="1463039"/>
                </a:lnTo>
                <a:lnTo>
                  <a:pt x="22860" y="1463039"/>
                </a:lnTo>
                <a:lnTo>
                  <a:pt x="22860" y="22860"/>
                </a:lnTo>
                <a:lnTo>
                  <a:pt x="5620017" y="22860"/>
                </a:lnTo>
                <a:lnTo>
                  <a:pt x="5620017" y="19050"/>
                </a:lnTo>
                <a:lnTo>
                  <a:pt x="5618520" y="11635"/>
                </a:lnTo>
                <a:lnTo>
                  <a:pt x="5614438" y="5579"/>
                </a:lnTo>
                <a:lnTo>
                  <a:pt x="5608382" y="1497"/>
                </a:lnTo>
                <a:lnTo>
                  <a:pt x="5600967" y="0"/>
                </a:lnTo>
                <a:close/>
              </a:path>
              <a:path w="5620384" h="1485900">
                <a:moveTo>
                  <a:pt x="5620017" y="22860"/>
                </a:moveTo>
                <a:lnTo>
                  <a:pt x="5597157" y="22860"/>
                </a:lnTo>
                <a:lnTo>
                  <a:pt x="5597157" y="1463039"/>
                </a:lnTo>
                <a:lnTo>
                  <a:pt x="5620017" y="1463039"/>
                </a:lnTo>
                <a:lnTo>
                  <a:pt x="5620017" y="22860"/>
                </a:lnTo>
                <a:close/>
              </a:path>
              <a:path w="5620384" h="1485900">
                <a:moveTo>
                  <a:pt x="5589537" y="30479"/>
                </a:moveTo>
                <a:lnTo>
                  <a:pt x="30480" y="30479"/>
                </a:lnTo>
                <a:lnTo>
                  <a:pt x="30480" y="1455420"/>
                </a:lnTo>
                <a:lnTo>
                  <a:pt x="5589537" y="1455420"/>
                </a:lnTo>
                <a:lnTo>
                  <a:pt x="5589537" y="1447800"/>
                </a:lnTo>
                <a:lnTo>
                  <a:pt x="38100" y="1447800"/>
                </a:lnTo>
                <a:lnTo>
                  <a:pt x="38100" y="38100"/>
                </a:lnTo>
                <a:lnTo>
                  <a:pt x="5589537" y="38100"/>
                </a:lnTo>
                <a:lnTo>
                  <a:pt x="5589537" y="30479"/>
                </a:lnTo>
                <a:close/>
              </a:path>
              <a:path w="5620384" h="1485900">
                <a:moveTo>
                  <a:pt x="5589537" y="38100"/>
                </a:moveTo>
                <a:lnTo>
                  <a:pt x="5581917" y="38100"/>
                </a:lnTo>
                <a:lnTo>
                  <a:pt x="5581917" y="1447800"/>
                </a:lnTo>
                <a:lnTo>
                  <a:pt x="5589537" y="1447800"/>
                </a:lnTo>
                <a:lnTo>
                  <a:pt x="5589537" y="3810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4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47</a:t>
            </a:fld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468782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447800" y="1219200"/>
            <a:ext cx="6120075" cy="50291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466188" y="2840428"/>
            <a:ext cx="6120765" cy="1485900"/>
          </a:xfrm>
          <a:custGeom>
            <a:avLst/>
            <a:gdLst/>
            <a:ahLst/>
            <a:cxnLst/>
            <a:rect l="l" t="t" r="r" b="b"/>
            <a:pathLst>
              <a:path w="6120765" h="1485900">
                <a:moveTo>
                  <a:pt x="6101687" y="0"/>
                </a:moveTo>
                <a:lnTo>
                  <a:pt x="19050" y="0"/>
                </a:lnTo>
                <a:lnTo>
                  <a:pt x="11634" y="1497"/>
                </a:lnTo>
                <a:lnTo>
                  <a:pt x="5579" y="5579"/>
                </a:lnTo>
                <a:lnTo>
                  <a:pt x="1496" y="11635"/>
                </a:lnTo>
                <a:lnTo>
                  <a:pt x="0" y="19050"/>
                </a:lnTo>
                <a:lnTo>
                  <a:pt x="0" y="1466850"/>
                </a:lnTo>
                <a:lnTo>
                  <a:pt x="1496" y="1474264"/>
                </a:lnTo>
                <a:lnTo>
                  <a:pt x="5579" y="1480320"/>
                </a:lnTo>
                <a:lnTo>
                  <a:pt x="11634" y="1484402"/>
                </a:lnTo>
                <a:lnTo>
                  <a:pt x="19050" y="1485900"/>
                </a:lnTo>
                <a:lnTo>
                  <a:pt x="6101687" y="1485900"/>
                </a:lnTo>
                <a:lnTo>
                  <a:pt x="6109102" y="1484402"/>
                </a:lnTo>
                <a:lnTo>
                  <a:pt x="6115157" y="1480320"/>
                </a:lnTo>
                <a:lnTo>
                  <a:pt x="6119240" y="1474264"/>
                </a:lnTo>
                <a:lnTo>
                  <a:pt x="6120737" y="1466850"/>
                </a:lnTo>
                <a:lnTo>
                  <a:pt x="6120737" y="1463039"/>
                </a:lnTo>
                <a:lnTo>
                  <a:pt x="22859" y="1463039"/>
                </a:lnTo>
                <a:lnTo>
                  <a:pt x="22859" y="22860"/>
                </a:lnTo>
                <a:lnTo>
                  <a:pt x="6120737" y="22860"/>
                </a:lnTo>
                <a:lnTo>
                  <a:pt x="6120737" y="19050"/>
                </a:lnTo>
                <a:lnTo>
                  <a:pt x="6119240" y="11635"/>
                </a:lnTo>
                <a:lnTo>
                  <a:pt x="6115157" y="5579"/>
                </a:lnTo>
                <a:lnTo>
                  <a:pt x="6109102" y="1497"/>
                </a:lnTo>
                <a:lnTo>
                  <a:pt x="6101687" y="0"/>
                </a:lnTo>
                <a:close/>
              </a:path>
              <a:path w="6120765" h="1485900">
                <a:moveTo>
                  <a:pt x="6120737" y="22860"/>
                </a:moveTo>
                <a:lnTo>
                  <a:pt x="6097877" y="22860"/>
                </a:lnTo>
                <a:lnTo>
                  <a:pt x="6097877" y="1463039"/>
                </a:lnTo>
                <a:lnTo>
                  <a:pt x="6120737" y="1463039"/>
                </a:lnTo>
                <a:lnTo>
                  <a:pt x="6120737" y="22860"/>
                </a:lnTo>
                <a:close/>
              </a:path>
              <a:path w="6120765" h="1485900">
                <a:moveTo>
                  <a:pt x="6090257" y="30479"/>
                </a:moveTo>
                <a:lnTo>
                  <a:pt x="30479" y="30479"/>
                </a:lnTo>
                <a:lnTo>
                  <a:pt x="30479" y="1455420"/>
                </a:lnTo>
                <a:lnTo>
                  <a:pt x="6090257" y="1455420"/>
                </a:lnTo>
                <a:lnTo>
                  <a:pt x="6090257" y="1447800"/>
                </a:lnTo>
                <a:lnTo>
                  <a:pt x="38100" y="1447800"/>
                </a:lnTo>
                <a:lnTo>
                  <a:pt x="38100" y="38100"/>
                </a:lnTo>
                <a:lnTo>
                  <a:pt x="6090257" y="38100"/>
                </a:lnTo>
                <a:lnTo>
                  <a:pt x="6090257" y="30479"/>
                </a:lnTo>
                <a:close/>
              </a:path>
              <a:path w="6120765" h="1485900">
                <a:moveTo>
                  <a:pt x="6090257" y="38100"/>
                </a:moveTo>
                <a:lnTo>
                  <a:pt x="6082637" y="38100"/>
                </a:lnTo>
                <a:lnTo>
                  <a:pt x="6082637" y="1447800"/>
                </a:lnTo>
                <a:lnTo>
                  <a:pt x="6090257" y="1447800"/>
                </a:lnTo>
                <a:lnTo>
                  <a:pt x="6090257" y="3810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4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47</a:t>
            </a:fld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697382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901940" cy="14916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/>
              <a:t>Can </a:t>
            </a:r>
            <a:r>
              <a:rPr dirty="0" sz="3200" spc="-15"/>
              <a:t>we </a:t>
            </a:r>
            <a:r>
              <a:rPr dirty="0" sz="3200" spc="-5"/>
              <a:t>do </a:t>
            </a:r>
            <a:r>
              <a:rPr dirty="0" sz="3200" spc="-15"/>
              <a:t>more rigorous</a:t>
            </a:r>
            <a:r>
              <a:rPr dirty="0" sz="3200" spc="30"/>
              <a:t> </a:t>
            </a:r>
            <a:r>
              <a:rPr dirty="0" sz="3200" spc="-5"/>
              <a:t>comparison?</a:t>
            </a:r>
            <a:endParaRPr sz="3200"/>
          </a:p>
          <a:p>
            <a:pPr marL="332740" marR="5080" indent="-320040">
              <a:lnSpc>
                <a:spcPts val="3910"/>
              </a:lnSpc>
              <a:spcBef>
                <a:spcPts val="4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solidFill>
                  <a:srgbClr val="C00000"/>
                </a:solidFill>
              </a:rPr>
              <a:t>Issue: </a:t>
            </a:r>
            <a:r>
              <a:rPr dirty="0" sz="3200" spc="-10" b="0">
                <a:latin typeface="Calibri"/>
                <a:cs typeface="Calibri"/>
              </a:rPr>
              <a:t>Direct comparison between </a:t>
            </a:r>
            <a:r>
              <a:rPr dirty="0" sz="3200" spc="-15" b="0">
                <a:latin typeface="Calibri"/>
                <a:cs typeface="Calibri"/>
              </a:rPr>
              <a:t>two graphs  </a:t>
            </a:r>
            <a:r>
              <a:rPr dirty="0" sz="3200" b="0">
                <a:latin typeface="Calibri"/>
                <a:cs typeface="Calibri"/>
              </a:rPr>
              <a:t>is </a:t>
            </a:r>
            <a:r>
              <a:rPr dirty="0" sz="3200" spc="-15" b="0">
                <a:latin typeface="Calibri"/>
                <a:cs typeface="Calibri"/>
              </a:rPr>
              <a:t>hard </a:t>
            </a:r>
            <a:r>
              <a:rPr dirty="0" sz="3200" spc="-5" b="0">
                <a:latin typeface="Calibri"/>
                <a:cs typeface="Calibri"/>
              </a:rPr>
              <a:t>(isomorphism </a:t>
            </a:r>
            <a:r>
              <a:rPr dirty="0" sz="3200" spc="-20" b="0">
                <a:latin typeface="Calibri"/>
                <a:cs typeface="Calibri"/>
              </a:rPr>
              <a:t>test </a:t>
            </a:r>
            <a:r>
              <a:rPr dirty="0" sz="3200" b="0">
                <a:latin typeface="Calibri"/>
                <a:cs typeface="Calibri"/>
              </a:rPr>
              <a:t>is</a:t>
            </a:r>
            <a:r>
              <a:rPr dirty="0" sz="3200" spc="25" b="0">
                <a:latin typeface="Calibri"/>
                <a:cs typeface="Calibri"/>
              </a:rPr>
              <a:t> </a:t>
            </a:r>
            <a:r>
              <a:rPr dirty="0" sz="3200" spc="-5" b="0">
                <a:latin typeface="Calibri"/>
                <a:cs typeface="Calibri"/>
              </a:rPr>
              <a:t>NP)!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673615" y="6699893"/>
            <a:ext cx="4027804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5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06997" y="6699893"/>
            <a:ext cx="1524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4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808732"/>
            <a:ext cx="6418580" cy="3509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Solution: </a:t>
            </a:r>
            <a:r>
              <a:rPr dirty="0" sz="3200" spc="-10">
                <a:latin typeface="Calibri"/>
                <a:cs typeface="Calibri"/>
              </a:rPr>
              <a:t>Compare </a:t>
            </a:r>
            <a:r>
              <a:rPr dirty="0" sz="3200" spc="-20" b="1">
                <a:latin typeface="Calibri"/>
                <a:cs typeface="Calibri"/>
              </a:rPr>
              <a:t>graph</a:t>
            </a:r>
            <a:r>
              <a:rPr dirty="0" sz="3200" spc="-10" b="1">
                <a:latin typeface="Calibri"/>
                <a:cs typeface="Calibri"/>
              </a:rPr>
              <a:t> </a:t>
            </a:r>
            <a:r>
              <a:rPr dirty="0" sz="3200" spc="-15" b="1">
                <a:latin typeface="Calibri"/>
                <a:cs typeface="Calibri"/>
              </a:rPr>
              <a:t>statistics</a:t>
            </a:r>
            <a:r>
              <a:rPr dirty="0" sz="3200" spc="-15">
                <a:latin typeface="Calibri"/>
                <a:cs typeface="Calibri"/>
              </a:rPr>
              <a:t>!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7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30">
                <a:latin typeface="Calibri"/>
                <a:cs typeface="Calibri"/>
              </a:rPr>
              <a:t>Typical </a:t>
            </a:r>
            <a:r>
              <a:rPr dirty="0" sz="3200" spc="-15">
                <a:latin typeface="Calibri"/>
                <a:cs typeface="Calibri"/>
              </a:rPr>
              <a:t>Graph</a:t>
            </a:r>
            <a:r>
              <a:rPr dirty="0" sz="3200" spc="5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Statistics: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3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Degree </a:t>
            </a:r>
            <a:r>
              <a:rPr dirty="0" sz="2800" spc="-5">
                <a:latin typeface="Calibri"/>
                <a:cs typeface="Calibri"/>
              </a:rPr>
              <a:t>distribution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(Deg.)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Clustering </a:t>
            </a:r>
            <a:r>
              <a:rPr dirty="0" sz="2800" spc="-15">
                <a:latin typeface="Calibri"/>
                <a:cs typeface="Calibri"/>
              </a:rPr>
              <a:t>coefficient </a:t>
            </a:r>
            <a:r>
              <a:rPr dirty="0" sz="2800" spc="-5">
                <a:latin typeface="Calibri"/>
                <a:cs typeface="Calibri"/>
              </a:rPr>
              <a:t>distribution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 spc="-70">
                <a:latin typeface="Calibri"/>
                <a:cs typeface="Calibri"/>
              </a:rPr>
              <a:t>(Clus.)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ts val="3329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Orbit </a:t>
            </a:r>
            <a:r>
              <a:rPr dirty="0" sz="2800" spc="-15">
                <a:latin typeface="Calibri"/>
                <a:cs typeface="Calibri"/>
              </a:rPr>
              <a:t>count </a:t>
            </a:r>
            <a:r>
              <a:rPr dirty="0" sz="2800" spc="-20">
                <a:latin typeface="Calibri"/>
                <a:cs typeface="Calibri"/>
              </a:rPr>
              <a:t>statistics</a:t>
            </a:r>
            <a:r>
              <a:rPr dirty="0" sz="2800" spc="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(Orbit)</a:t>
            </a:r>
            <a:endParaRPr sz="2800">
              <a:latin typeface="Calibri"/>
              <a:cs typeface="Calibri"/>
            </a:endParaRPr>
          </a:p>
          <a:p>
            <a:pPr marL="332740" marR="401955" indent="-320040">
              <a:lnSpc>
                <a:spcPts val="3790"/>
              </a:lnSpc>
              <a:spcBef>
                <a:spcPts val="13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latin typeface="Calibri"/>
                <a:cs typeface="Calibri"/>
              </a:rPr>
              <a:t>Note: </a:t>
            </a:r>
            <a:r>
              <a:rPr dirty="0" sz="3200" spc="-15">
                <a:latin typeface="Calibri"/>
                <a:cs typeface="Calibri"/>
              </a:rPr>
              <a:t>Each </a:t>
            </a:r>
            <a:r>
              <a:rPr dirty="0" sz="3200" spc="-20">
                <a:latin typeface="Calibri"/>
                <a:cs typeface="Calibri"/>
              </a:rPr>
              <a:t>statistic </a:t>
            </a:r>
            <a:r>
              <a:rPr dirty="0" sz="3200">
                <a:latin typeface="Calibri"/>
                <a:cs typeface="Calibri"/>
              </a:rPr>
              <a:t>is a </a:t>
            </a:r>
            <a:r>
              <a:rPr dirty="0" sz="3200" spc="-5">
                <a:latin typeface="Calibri"/>
                <a:cs typeface="Calibri"/>
              </a:rPr>
              <a:t>probability  distribution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697382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79907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solidFill>
                  <a:srgbClr val="C00000"/>
                </a:solidFill>
              </a:rPr>
              <a:t>Issue: </a:t>
            </a:r>
            <a:r>
              <a:rPr dirty="0" sz="3200" spc="-20" b="0">
                <a:latin typeface="Calibri"/>
                <a:cs typeface="Calibri"/>
              </a:rPr>
              <a:t>want </a:t>
            </a:r>
            <a:r>
              <a:rPr dirty="0" sz="3200" spc="-15" b="0">
                <a:latin typeface="Calibri"/>
                <a:cs typeface="Calibri"/>
              </a:rPr>
              <a:t>to compare </a:t>
            </a:r>
            <a:r>
              <a:rPr dirty="0" sz="3200" spc="-10" b="0">
                <a:solidFill>
                  <a:srgbClr val="C00000"/>
                </a:solidFill>
                <a:latin typeface="Calibri"/>
                <a:cs typeface="Calibri"/>
              </a:rPr>
              <a:t>sets </a:t>
            </a:r>
            <a:r>
              <a:rPr dirty="0" sz="3200" spc="-5" b="0">
                <a:latin typeface="Calibri"/>
                <a:cs typeface="Calibri"/>
              </a:rPr>
              <a:t>of </a:t>
            </a:r>
            <a:r>
              <a:rPr dirty="0" sz="3200" spc="-10" b="0">
                <a:latin typeface="Calibri"/>
                <a:cs typeface="Calibri"/>
              </a:rPr>
              <a:t>training </a:t>
            </a:r>
            <a:r>
              <a:rPr dirty="0" sz="3200" spc="-15" b="0">
                <a:latin typeface="Calibri"/>
                <a:cs typeface="Calibri"/>
              </a:rPr>
              <a:t>graph  statistics </a:t>
            </a:r>
            <a:r>
              <a:rPr dirty="0" sz="3200" b="0">
                <a:latin typeface="Calibri"/>
                <a:cs typeface="Calibri"/>
              </a:rPr>
              <a:t>and </a:t>
            </a:r>
            <a:r>
              <a:rPr dirty="0" sz="3200" spc="-20" b="0">
                <a:latin typeface="Calibri"/>
                <a:cs typeface="Calibri"/>
              </a:rPr>
              <a:t>generated </a:t>
            </a:r>
            <a:r>
              <a:rPr dirty="0" sz="3200" spc="-15" b="0">
                <a:latin typeface="Calibri"/>
                <a:cs typeface="Calibri"/>
              </a:rPr>
              <a:t>graph</a:t>
            </a:r>
            <a:r>
              <a:rPr dirty="0" sz="3200" spc="-20" b="0">
                <a:latin typeface="Calibri"/>
                <a:cs typeface="Calibri"/>
              </a:rPr>
              <a:t> </a:t>
            </a:r>
            <a:r>
              <a:rPr dirty="0" sz="3200" spc="-15" b="0">
                <a:latin typeface="Calibri"/>
                <a:cs typeface="Calibri"/>
              </a:rPr>
              <a:t>statistics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8843" y="2683681"/>
            <a:ext cx="2847339" cy="7409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94434" y="2601328"/>
            <a:ext cx="3016250" cy="933450"/>
          </a:xfrm>
          <a:custGeom>
            <a:avLst/>
            <a:gdLst/>
            <a:ahLst/>
            <a:cxnLst/>
            <a:rect l="l" t="t" r="r" b="b"/>
            <a:pathLst>
              <a:path w="3016250" h="933450">
                <a:moveTo>
                  <a:pt x="2854320" y="0"/>
                </a:moveTo>
                <a:lnTo>
                  <a:pt x="144909" y="1269"/>
                </a:lnTo>
                <a:lnTo>
                  <a:pt x="98472" y="13969"/>
                </a:lnTo>
                <a:lnTo>
                  <a:pt x="71381" y="27939"/>
                </a:lnTo>
                <a:lnTo>
                  <a:pt x="71009" y="27939"/>
                </a:lnTo>
                <a:lnTo>
                  <a:pt x="47632" y="48260"/>
                </a:lnTo>
                <a:lnTo>
                  <a:pt x="47202" y="48260"/>
                </a:lnTo>
                <a:lnTo>
                  <a:pt x="27915" y="71119"/>
                </a:lnTo>
                <a:lnTo>
                  <a:pt x="27650" y="72389"/>
                </a:lnTo>
                <a:lnTo>
                  <a:pt x="19338" y="86360"/>
                </a:lnTo>
                <a:lnTo>
                  <a:pt x="12556" y="100330"/>
                </a:lnTo>
                <a:lnTo>
                  <a:pt x="7151" y="114300"/>
                </a:lnTo>
                <a:lnTo>
                  <a:pt x="3205" y="130810"/>
                </a:lnTo>
                <a:lnTo>
                  <a:pt x="798" y="146050"/>
                </a:lnTo>
                <a:lnTo>
                  <a:pt x="0" y="162560"/>
                </a:lnTo>
                <a:lnTo>
                  <a:pt x="12" y="772160"/>
                </a:lnTo>
                <a:lnTo>
                  <a:pt x="7432" y="820420"/>
                </a:lnTo>
                <a:lnTo>
                  <a:pt x="27649" y="862329"/>
                </a:lnTo>
                <a:lnTo>
                  <a:pt x="27915" y="863600"/>
                </a:lnTo>
                <a:lnTo>
                  <a:pt x="47202" y="886460"/>
                </a:lnTo>
                <a:lnTo>
                  <a:pt x="47632" y="886460"/>
                </a:lnTo>
                <a:lnTo>
                  <a:pt x="71009" y="906779"/>
                </a:lnTo>
                <a:lnTo>
                  <a:pt x="71381" y="906779"/>
                </a:lnTo>
                <a:lnTo>
                  <a:pt x="85150" y="914400"/>
                </a:lnTo>
                <a:lnTo>
                  <a:pt x="99332" y="922020"/>
                </a:lnTo>
                <a:lnTo>
                  <a:pt x="114236" y="927100"/>
                </a:lnTo>
                <a:lnTo>
                  <a:pt x="129776" y="930910"/>
                </a:lnTo>
                <a:lnTo>
                  <a:pt x="145865" y="933450"/>
                </a:lnTo>
                <a:lnTo>
                  <a:pt x="2871341" y="933450"/>
                </a:lnTo>
                <a:lnTo>
                  <a:pt x="2887408" y="930910"/>
                </a:lnTo>
                <a:lnTo>
                  <a:pt x="2902914" y="927100"/>
                </a:lnTo>
                <a:lnTo>
                  <a:pt x="2911832" y="923289"/>
                </a:lnTo>
                <a:lnTo>
                  <a:pt x="2854225" y="923289"/>
                </a:lnTo>
                <a:lnTo>
                  <a:pt x="146442" y="922020"/>
                </a:lnTo>
                <a:lnTo>
                  <a:pt x="103261" y="910589"/>
                </a:lnTo>
                <a:lnTo>
                  <a:pt x="55516" y="878839"/>
                </a:lnTo>
                <a:lnTo>
                  <a:pt x="29547" y="843279"/>
                </a:lnTo>
                <a:lnTo>
                  <a:pt x="14466" y="802639"/>
                </a:lnTo>
                <a:lnTo>
                  <a:pt x="11427" y="772160"/>
                </a:lnTo>
                <a:lnTo>
                  <a:pt x="11429" y="162560"/>
                </a:lnTo>
                <a:lnTo>
                  <a:pt x="18221" y="118110"/>
                </a:lnTo>
                <a:lnTo>
                  <a:pt x="37109" y="78739"/>
                </a:lnTo>
                <a:lnTo>
                  <a:pt x="77824" y="38100"/>
                </a:lnTo>
                <a:lnTo>
                  <a:pt x="117263" y="19050"/>
                </a:lnTo>
                <a:lnTo>
                  <a:pt x="162024" y="11430"/>
                </a:lnTo>
                <a:lnTo>
                  <a:pt x="2913191" y="11430"/>
                </a:lnTo>
                <a:lnTo>
                  <a:pt x="2902013" y="7619"/>
                </a:lnTo>
                <a:lnTo>
                  <a:pt x="2886473" y="3810"/>
                </a:lnTo>
                <a:lnTo>
                  <a:pt x="2870383" y="1269"/>
                </a:lnTo>
                <a:lnTo>
                  <a:pt x="2854320" y="0"/>
                </a:lnTo>
                <a:close/>
              </a:path>
              <a:path w="3016250" h="933450">
                <a:moveTo>
                  <a:pt x="2913191" y="11430"/>
                </a:moveTo>
                <a:lnTo>
                  <a:pt x="2854320" y="11430"/>
                </a:lnTo>
                <a:lnTo>
                  <a:pt x="2869807" y="12700"/>
                </a:lnTo>
                <a:lnTo>
                  <a:pt x="2884748" y="15239"/>
                </a:lnTo>
                <a:lnTo>
                  <a:pt x="2926139" y="30480"/>
                </a:lnTo>
                <a:lnTo>
                  <a:pt x="2960734" y="55880"/>
                </a:lnTo>
                <a:lnTo>
                  <a:pt x="2986703" y="91439"/>
                </a:lnTo>
                <a:lnTo>
                  <a:pt x="3001783" y="132079"/>
                </a:lnTo>
                <a:lnTo>
                  <a:pt x="3004822" y="162560"/>
                </a:lnTo>
                <a:lnTo>
                  <a:pt x="3004819" y="772160"/>
                </a:lnTo>
                <a:lnTo>
                  <a:pt x="2998027" y="816610"/>
                </a:lnTo>
                <a:lnTo>
                  <a:pt x="2979140" y="855979"/>
                </a:lnTo>
                <a:lnTo>
                  <a:pt x="2938425" y="896620"/>
                </a:lnTo>
                <a:lnTo>
                  <a:pt x="2898986" y="915670"/>
                </a:lnTo>
                <a:lnTo>
                  <a:pt x="2854225" y="923289"/>
                </a:lnTo>
                <a:lnTo>
                  <a:pt x="2911832" y="923289"/>
                </a:lnTo>
                <a:lnTo>
                  <a:pt x="2917777" y="920750"/>
                </a:lnTo>
                <a:lnTo>
                  <a:pt x="2931911" y="914400"/>
                </a:lnTo>
                <a:lnTo>
                  <a:pt x="2944868" y="906779"/>
                </a:lnTo>
                <a:lnTo>
                  <a:pt x="2945240" y="906779"/>
                </a:lnTo>
                <a:lnTo>
                  <a:pt x="2968617" y="886460"/>
                </a:lnTo>
                <a:lnTo>
                  <a:pt x="2969047" y="886460"/>
                </a:lnTo>
                <a:lnTo>
                  <a:pt x="2988335" y="863600"/>
                </a:lnTo>
                <a:lnTo>
                  <a:pt x="2988599" y="862329"/>
                </a:lnTo>
                <a:lnTo>
                  <a:pt x="2996911" y="848360"/>
                </a:lnTo>
                <a:lnTo>
                  <a:pt x="3003693" y="834389"/>
                </a:lnTo>
                <a:lnTo>
                  <a:pt x="3009098" y="820420"/>
                </a:lnTo>
                <a:lnTo>
                  <a:pt x="3013044" y="803910"/>
                </a:lnTo>
                <a:lnTo>
                  <a:pt x="3015450" y="788670"/>
                </a:lnTo>
                <a:lnTo>
                  <a:pt x="3016249" y="772160"/>
                </a:lnTo>
                <a:lnTo>
                  <a:pt x="3016238" y="162560"/>
                </a:lnTo>
                <a:lnTo>
                  <a:pt x="3008817" y="114300"/>
                </a:lnTo>
                <a:lnTo>
                  <a:pt x="2988600" y="72389"/>
                </a:lnTo>
                <a:lnTo>
                  <a:pt x="2988333" y="71119"/>
                </a:lnTo>
                <a:lnTo>
                  <a:pt x="2969047" y="48260"/>
                </a:lnTo>
                <a:lnTo>
                  <a:pt x="2968617" y="48260"/>
                </a:lnTo>
                <a:lnTo>
                  <a:pt x="2945241" y="27939"/>
                </a:lnTo>
                <a:lnTo>
                  <a:pt x="2944868" y="27939"/>
                </a:lnTo>
                <a:lnTo>
                  <a:pt x="2931100" y="20319"/>
                </a:lnTo>
                <a:lnTo>
                  <a:pt x="2916917" y="12700"/>
                </a:lnTo>
                <a:lnTo>
                  <a:pt x="2913191" y="11430"/>
                </a:lnTo>
                <a:close/>
              </a:path>
              <a:path w="3016250" h="933450">
                <a:moveTo>
                  <a:pt x="2854320" y="15239"/>
                </a:moveTo>
                <a:lnTo>
                  <a:pt x="162216" y="15239"/>
                </a:lnTo>
                <a:lnTo>
                  <a:pt x="147208" y="16510"/>
                </a:lnTo>
                <a:lnTo>
                  <a:pt x="105086" y="26669"/>
                </a:lnTo>
                <a:lnTo>
                  <a:pt x="58222" y="58419"/>
                </a:lnTo>
                <a:lnTo>
                  <a:pt x="33068" y="92710"/>
                </a:lnTo>
                <a:lnTo>
                  <a:pt x="18270" y="132079"/>
                </a:lnTo>
                <a:lnTo>
                  <a:pt x="15232" y="772160"/>
                </a:lnTo>
                <a:lnTo>
                  <a:pt x="15961" y="787400"/>
                </a:lnTo>
                <a:lnTo>
                  <a:pt x="26650" y="829310"/>
                </a:lnTo>
                <a:lnTo>
                  <a:pt x="58222" y="876300"/>
                </a:lnTo>
                <a:lnTo>
                  <a:pt x="91764" y="900429"/>
                </a:lnTo>
                <a:lnTo>
                  <a:pt x="132076" y="915670"/>
                </a:lnTo>
                <a:lnTo>
                  <a:pt x="161928" y="919479"/>
                </a:lnTo>
                <a:lnTo>
                  <a:pt x="2854032" y="919479"/>
                </a:lnTo>
                <a:lnTo>
                  <a:pt x="2869041" y="918210"/>
                </a:lnTo>
                <a:lnTo>
                  <a:pt x="2883613" y="915670"/>
                </a:lnTo>
                <a:lnTo>
                  <a:pt x="2853840" y="915670"/>
                </a:lnTo>
                <a:lnTo>
                  <a:pt x="146826" y="914400"/>
                </a:lnTo>
                <a:lnTo>
                  <a:pt x="105880" y="904239"/>
                </a:lnTo>
                <a:lnTo>
                  <a:pt x="60929" y="873760"/>
                </a:lnTo>
                <a:lnTo>
                  <a:pt x="36059" y="839470"/>
                </a:lnTo>
                <a:lnTo>
                  <a:pt x="21846" y="800100"/>
                </a:lnTo>
                <a:lnTo>
                  <a:pt x="19037" y="772160"/>
                </a:lnTo>
                <a:lnTo>
                  <a:pt x="19050" y="162560"/>
                </a:lnTo>
                <a:lnTo>
                  <a:pt x="25601" y="119380"/>
                </a:lnTo>
                <a:lnTo>
                  <a:pt x="43337" y="82550"/>
                </a:lnTo>
                <a:lnTo>
                  <a:pt x="82250" y="44450"/>
                </a:lnTo>
                <a:lnTo>
                  <a:pt x="119882" y="25400"/>
                </a:lnTo>
                <a:lnTo>
                  <a:pt x="162408" y="19050"/>
                </a:lnTo>
                <a:lnTo>
                  <a:pt x="2884173" y="19050"/>
                </a:lnTo>
                <a:lnTo>
                  <a:pt x="2869615" y="16510"/>
                </a:lnTo>
                <a:lnTo>
                  <a:pt x="2854320" y="15239"/>
                </a:lnTo>
                <a:close/>
              </a:path>
              <a:path w="3016250" h="933450">
                <a:moveTo>
                  <a:pt x="2884173" y="19050"/>
                </a:moveTo>
                <a:lnTo>
                  <a:pt x="2854320" y="19050"/>
                </a:lnTo>
                <a:lnTo>
                  <a:pt x="2869423" y="20319"/>
                </a:lnTo>
                <a:lnTo>
                  <a:pt x="2883599" y="22860"/>
                </a:lnTo>
                <a:lnTo>
                  <a:pt x="2922832" y="36830"/>
                </a:lnTo>
                <a:lnTo>
                  <a:pt x="2955321" y="60960"/>
                </a:lnTo>
                <a:lnTo>
                  <a:pt x="2980190" y="95250"/>
                </a:lnTo>
                <a:lnTo>
                  <a:pt x="2994403" y="134620"/>
                </a:lnTo>
                <a:lnTo>
                  <a:pt x="2997212" y="162560"/>
                </a:lnTo>
                <a:lnTo>
                  <a:pt x="2997199" y="772160"/>
                </a:lnTo>
                <a:lnTo>
                  <a:pt x="2990647" y="815339"/>
                </a:lnTo>
                <a:lnTo>
                  <a:pt x="2972913" y="852170"/>
                </a:lnTo>
                <a:lnTo>
                  <a:pt x="2933999" y="890270"/>
                </a:lnTo>
                <a:lnTo>
                  <a:pt x="2896368" y="909320"/>
                </a:lnTo>
                <a:lnTo>
                  <a:pt x="2853840" y="915670"/>
                </a:lnTo>
                <a:lnTo>
                  <a:pt x="2883613" y="915670"/>
                </a:lnTo>
                <a:lnTo>
                  <a:pt x="2923998" y="901700"/>
                </a:lnTo>
                <a:lnTo>
                  <a:pt x="2958026" y="876300"/>
                </a:lnTo>
                <a:lnTo>
                  <a:pt x="2983181" y="842010"/>
                </a:lnTo>
                <a:lnTo>
                  <a:pt x="2997979" y="802639"/>
                </a:lnTo>
                <a:lnTo>
                  <a:pt x="3001017" y="162560"/>
                </a:lnTo>
                <a:lnTo>
                  <a:pt x="3000288" y="147320"/>
                </a:lnTo>
                <a:lnTo>
                  <a:pt x="2989600" y="105410"/>
                </a:lnTo>
                <a:lnTo>
                  <a:pt x="2958026" y="58419"/>
                </a:lnTo>
                <a:lnTo>
                  <a:pt x="2924485" y="34289"/>
                </a:lnTo>
                <a:lnTo>
                  <a:pt x="2898218" y="22860"/>
                </a:lnTo>
                <a:lnTo>
                  <a:pt x="2884173" y="19050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96344" y="2739289"/>
            <a:ext cx="2897291" cy="7177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786911" y="2601328"/>
            <a:ext cx="3016250" cy="933450"/>
          </a:xfrm>
          <a:custGeom>
            <a:avLst/>
            <a:gdLst/>
            <a:ahLst/>
            <a:cxnLst/>
            <a:rect l="l" t="t" r="r" b="b"/>
            <a:pathLst>
              <a:path w="3016250" h="933450">
                <a:moveTo>
                  <a:pt x="2854322" y="0"/>
                </a:moveTo>
                <a:lnTo>
                  <a:pt x="144909" y="1269"/>
                </a:lnTo>
                <a:lnTo>
                  <a:pt x="98473" y="13969"/>
                </a:lnTo>
                <a:lnTo>
                  <a:pt x="71381" y="27939"/>
                </a:lnTo>
                <a:lnTo>
                  <a:pt x="71009" y="27939"/>
                </a:lnTo>
                <a:lnTo>
                  <a:pt x="47632" y="48260"/>
                </a:lnTo>
                <a:lnTo>
                  <a:pt x="47203" y="48260"/>
                </a:lnTo>
                <a:lnTo>
                  <a:pt x="27915" y="71119"/>
                </a:lnTo>
                <a:lnTo>
                  <a:pt x="27650" y="72389"/>
                </a:lnTo>
                <a:lnTo>
                  <a:pt x="19338" y="86360"/>
                </a:lnTo>
                <a:lnTo>
                  <a:pt x="12557" y="100330"/>
                </a:lnTo>
                <a:lnTo>
                  <a:pt x="7152" y="114300"/>
                </a:lnTo>
                <a:lnTo>
                  <a:pt x="3205" y="130810"/>
                </a:lnTo>
                <a:lnTo>
                  <a:pt x="800" y="146050"/>
                </a:lnTo>
                <a:lnTo>
                  <a:pt x="0" y="162560"/>
                </a:lnTo>
                <a:lnTo>
                  <a:pt x="12" y="772160"/>
                </a:lnTo>
                <a:lnTo>
                  <a:pt x="7432" y="820420"/>
                </a:lnTo>
                <a:lnTo>
                  <a:pt x="27650" y="862329"/>
                </a:lnTo>
                <a:lnTo>
                  <a:pt x="27915" y="863600"/>
                </a:lnTo>
                <a:lnTo>
                  <a:pt x="47203" y="886460"/>
                </a:lnTo>
                <a:lnTo>
                  <a:pt x="47633" y="886460"/>
                </a:lnTo>
                <a:lnTo>
                  <a:pt x="71009" y="906779"/>
                </a:lnTo>
                <a:lnTo>
                  <a:pt x="71382" y="906779"/>
                </a:lnTo>
                <a:lnTo>
                  <a:pt x="85150" y="914400"/>
                </a:lnTo>
                <a:lnTo>
                  <a:pt x="99333" y="922020"/>
                </a:lnTo>
                <a:lnTo>
                  <a:pt x="114236" y="927100"/>
                </a:lnTo>
                <a:lnTo>
                  <a:pt x="129777" y="930910"/>
                </a:lnTo>
                <a:lnTo>
                  <a:pt x="145865" y="933450"/>
                </a:lnTo>
                <a:lnTo>
                  <a:pt x="2871341" y="933450"/>
                </a:lnTo>
                <a:lnTo>
                  <a:pt x="2887408" y="930910"/>
                </a:lnTo>
                <a:lnTo>
                  <a:pt x="2902916" y="927100"/>
                </a:lnTo>
                <a:lnTo>
                  <a:pt x="2911833" y="923289"/>
                </a:lnTo>
                <a:lnTo>
                  <a:pt x="2854225" y="923289"/>
                </a:lnTo>
                <a:lnTo>
                  <a:pt x="146442" y="922020"/>
                </a:lnTo>
                <a:lnTo>
                  <a:pt x="103261" y="910589"/>
                </a:lnTo>
                <a:lnTo>
                  <a:pt x="55516" y="878839"/>
                </a:lnTo>
                <a:lnTo>
                  <a:pt x="29547" y="843279"/>
                </a:lnTo>
                <a:lnTo>
                  <a:pt x="14466" y="802639"/>
                </a:lnTo>
                <a:lnTo>
                  <a:pt x="11428" y="772160"/>
                </a:lnTo>
                <a:lnTo>
                  <a:pt x="11429" y="162560"/>
                </a:lnTo>
                <a:lnTo>
                  <a:pt x="18221" y="118110"/>
                </a:lnTo>
                <a:lnTo>
                  <a:pt x="37110" y="78739"/>
                </a:lnTo>
                <a:lnTo>
                  <a:pt x="77825" y="38100"/>
                </a:lnTo>
                <a:lnTo>
                  <a:pt x="117264" y="19050"/>
                </a:lnTo>
                <a:lnTo>
                  <a:pt x="162025" y="11430"/>
                </a:lnTo>
                <a:lnTo>
                  <a:pt x="2913192" y="11430"/>
                </a:lnTo>
                <a:lnTo>
                  <a:pt x="2902014" y="7619"/>
                </a:lnTo>
                <a:lnTo>
                  <a:pt x="2886473" y="3810"/>
                </a:lnTo>
                <a:lnTo>
                  <a:pt x="2870384" y="1269"/>
                </a:lnTo>
                <a:lnTo>
                  <a:pt x="2854322" y="0"/>
                </a:lnTo>
                <a:close/>
              </a:path>
              <a:path w="3016250" h="933450">
                <a:moveTo>
                  <a:pt x="2913192" y="11430"/>
                </a:moveTo>
                <a:lnTo>
                  <a:pt x="2854322" y="11430"/>
                </a:lnTo>
                <a:lnTo>
                  <a:pt x="2869808" y="12700"/>
                </a:lnTo>
                <a:lnTo>
                  <a:pt x="2884749" y="15239"/>
                </a:lnTo>
                <a:lnTo>
                  <a:pt x="2926139" y="30480"/>
                </a:lnTo>
                <a:lnTo>
                  <a:pt x="2960734" y="55880"/>
                </a:lnTo>
                <a:lnTo>
                  <a:pt x="2986703" y="91439"/>
                </a:lnTo>
                <a:lnTo>
                  <a:pt x="3001784" y="132079"/>
                </a:lnTo>
                <a:lnTo>
                  <a:pt x="3004822" y="162560"/>
                </a:lnTo>
                <a:lnTo>
                  <a:pt x="3004819" y="772160"/>
                </a:lnTo>
                <a:lnTo>
                  <a:pt x="2998029" y="816610"/>
                </a:lnTo>
                <a:lnTo>
                  <a:pt x="2979140" y="855979"/>
                </a:lnTo>
                <a:lnTo>
                  <a:pt x="2938425" y="896620"/>
                </a:lnTo>
                <a:lnTo>
                  <a:pt x="2898987" y="915670"/>
                </a:lnTo>
                <a:lnTo>
                  <a:pt x="2854225" y="923289"/>
                </a:lnTo>
                <a:lnTo>
                  <a:pt x="2911833" y="923289"/>
                </a:lnTo>
                <a:lnTo>
                  <a:pt x="2917778" y="920750"/>
                </a:lnTo>
                <a:lnTo>
                  <a:pt x="2931911" y="914400"/>
                </a:lnTo>
                <a:lnTo>
                  <a:pt x="2944868" y="906779"/>
                </a:lnTo>
                <a:lnTo>
                  <a:pt x="2945241" y="906779"/>
                </a:lnTo>
                <a:lnTo>
                  <a:pt x="2968617" y="886460"/>
                </a:lnTo>
                <a:lnTo>
                  <a:pt x="2969047" y="886460"/>
                </a:lnTo>
                <a:lnTo>
                  <a:pt x="2988335" y="863600"/>
                </a:lnTo>
                <a:lnTo>
                  <a:pt x="2988600" y="862329"/>
                </a:lnTo>
                <a:lnTo>
                  <a:pt x="2996912" y="848360"/>
                </a:lnTo>
                <a:lnTo>
                  <a:pt x="3003693" y="834389"/>
                </a:lnTo>
                <a:lnTo>
                  <a:pt x="3009098" y="820420"/>
                </a:lnTo>
                <a:lnTo>
                  <a:pt x="3013045" y="803910"/>
                </a:lnTo>
                <a:lnTo>
                  <a:pt x="3015451" y="788670"/>
                </a:lnTo>
                <a:lnTo>
                  <a:pt x="3016249" y="772160"/>
                </a:lnTo>
                <a:lnTo>
                  <a:pt x="3016238" y="162560"/>
                </a:lnTo>
                <a:lnTo>
                  <a:pt x="3008817" y="114300"/>
                </a:lnTo>
                <a:lnTo>
                  <a:pt x="2988600" y="72389"/>
                </a:lnTo>
                <a:lnTo>
                  <a:pt x="2988335" y="71119"/>
                </a:lnTo>
                <a:lnTo>
                  <a:pt x="2969047" y="48260"/>
                </a:lnTo>
                <a:lnTo>
                  <a:pt x="2968617" y="48260"/>
                </a:lnTo>
                <a:lnTo>
                  <a:pt x="2945241" y="27939"/>
                </a:lnTo>
                <a:lnTo>
                  <a:pt x="2944868" y="27939"/>
                </a:lnTo>
                <a:lnTo>
                  <a:pt x="2931100" y="20319"/>
                </a:lnTo>
                <a:lnTo>
                  <a:pt x="2916918" y="12700"/>
                </a:lnTo>
                <a:lnTo>
                  <a:pt x="2913192" y="11430"/>
                </a:lnTo>
                <a:close/>
              </a:path>
              <a:path w="3016250" h="933450">
                <a:moveTo>
                  <a:pt x="2854322" y="15239"/>
                </a:moveTo>
                <a:lnTo>
                  <a:pt x="162217" y="15239"/>
                </a:lnTo>
                <a:lnTo>
                  <a:pt x="147209" y="16510"/>
                </a:lnTo>
                <a:lnTo>
                  <a:pt x="105087" y="26669"/>
                </a:lnTo>
                <a:lnTo>
                  <a:pt x="58223" y="58419"/>
                </a:lnTo>
                <a:lnTo>
                  <a:pt x="33068" y="92710"/>
                </a:lnTo>
                <a:lnTo>
                  <a:pt x="18271" y="132079"/>
                </a:lnTo>
                <a:lnTo>
                  <a:pt x="15233" y="772160"/>
                </a:lnTo>
                <a:lnTo>
                  <a:pt x="15961" y="787400"/>
                </a:lnTo>
                <a:lnTo>
                  <a:pt x="26650" y="829310"/>
                </a:lnTo>
                <a:lnTo>
                  <a:pt x="58223" y="876300"/>
                </a:lnTo>
                <a:lnTo>
                  <a:pt x="91765" y="900429"/>
                </a:lnTo>
                <a:lnTo>
                  <a:pt x="132076" y="915670"/>
                </a:lnTo>
                <a:lnTo>
                  <a:pt x="161928" y="919479"/>
                </a:lnTo>
                <a:lnTo>
                  <a:pt x="2854034" y="919479"/>
                </a:lnTo>
                <a:lnTo>
                  <a:pt x="2869041" y="918210"/>
                </a:lnTo>
                <a:lnTo>
                  <a:pt x="2883613" y="915670"/>
                </a:lnTo>
                <a:lnTo>
                  <a:pt x="2853841" y="915670"/>
                </a:lnTo>
                <a:lnTo>
                  <a:pt x="146827" y="914400"/>
                </a:lnTo>
                <a:lnTo>
                  <a:pt x="105881" y="904239"/>
                </a:lnTo>
                <a:lnTo>
                  <a:pt x="60929" y="873760"/>
                </a:lnTo>
                <a:lnTo>
                  <a:pt x="36060" y="839470"/>
                </a:lnTo>
                <a:lnTo>
                  <a:pt x="21846" y="800100"/>
                </a:lnTo>
                <a:lnTo>
                  <a:pt x="19038" y="772160"/>
                </a:lnTo>
                <a:lnTo>
                  <a:pt x="19050" y="162560"/>
                </a:lnTo>
                <a:lnTo>
                  <a:pt x="25601" y="119380"/>
                </a:lnTo>
                <a:lnTo>
                  <a:pt x="43337" y="82550"/>
                </a:lnTo>
                <a:lnTo>
                  <a:pt x="82251" y="44450"/>
                </a:lnTo>
                <a:lnTo>
                  <a:pt x="119882" y="25400"/>
                </a:lnTo>
                <a:lnTo>
                  <a:pt x="162408" y="19050"/>
                </a:lnTo>
                <a:lnTo>
                  <a:pt x="2884175" y="19050"/>
                </a:lnTo>
                <a:lnTo>
                  <a:pt x="2869615" y="16510"/>
                </a:lnTo>
                <a:lnTo>
                  <a:pt x="2854322" y="15239"/>
                </a:lnTo>
                <a:close/>
              </a:path>
              <a:path w="3016250" h="933450">
                <a:moveTo>
                  <a:pt x="2884175" y="19050"/>
                </a:moveTo>
                <a:lnTo>
                  <a:pt x="2854322" y="19050"/>
                </a:lnTo>
                <a:lnTo>
                  <a:pt x="2869424" y="20319"/>
                </a:lnTo>
                <a:lnTo>
                  <a:pt x="2883599" y="22860"/>
                </a:lnTo>
                <a:lnTo>
                  <a:pt x="2922832" y="36830"/>
                </a:lnTo>
                <a:lnTo>
                  <a:pt x="2955321" y="60960"/>
                </a:lnTo>
                <a:lnTo>
                  <a:pt x="2980190" y="95250"/>
                </a:lnTo>
                <a:lnTo>
                  <a:pt x="2994404" y="134620"/>
                </a:lnTo>
                <a:lnTo>
                  <a:pt x="2997212" y="162560"/>
                </a:lnTo>
                <a:lnTo>
                  <a:pt x="2997199" y="772160"/>
                </a:lnTo>
                <a:lnTo>
                  <a:pt x="2990649" y="815339"/>
                </a:lnTo>
                <a:lnTo>
                  <a:pt x="2972913" y="852170"/>
                </a:lnTo>
                <a:lnTo>
                  <a:pt x="2933999" y="890270"/>
                </a:lnTo>
                <a:lnTo>
                  <a:pt x="2896368" y="909320"/>
                </a:lnTo>
                <a:lnTo>
                  <a:pt x="2853841" y="915670"/>
                </a:lnTo>
                <a:lnTo>
                  <a:pt x="2883613" y="915670"/>
                </a:lnTo>
                <a:lnTo>
                  <a:pt x="2923999" y="901700"/>
                </a:lnTo>
                <a:lnTo>
                  <a:pt x="2958028" y="876300"/>
                </a:lnTo>
                <a:lnTo>
                  <a:pt x="2983183" y="842010"/>
                </a:lnTo>
                <a:lnTo>
                  <a:pt x="2997979" y="802639"/>
                </a:lnTo>
                <a:lnTo>
                  <a:pt x="3001017" y="162560"/>
                </a:lnTo>
                <a:lnTo>
                  <a:pt x="3000288" y="147320"/>
                </a:lnTo>
                <a:lnTo>
                  <a:pt x="2989600" y="105410"/>
                </a:lnTo>
                <a:lnTo>
                  <a:pt x="2958028" y="58419"/>
                </a:lnTo>
                <a:lnTo>
                  <a:pt x="2924486" y="34289"/>
                </a:lnTo>
                <a:lnTo>
                  <a:pt x="2898218" y="22860"/>
                </a:lnTo>
                <a:lnTo>
                  <a:pt x="2884175" y="19050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18108" y="2590292"/>
            <a:ext cx="8074025" cy="35706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26695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How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 spc="-65">
                <a:latin typeface="Arial"/>
                <a:cs typeface="Arial"/>
              </a:rPr>
              <a:t>similar?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850">
              <a:latin typeface="Times New Roman"/>
              <a:cs typeface="Times New Roman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Solution: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latin typeface="Calibri"/>
                <a:cs typeface="Calibri"/>
              </a:rPr>
              <a:t>Step </a:t>
            </a:r>
            <a:r>
              <a:rPr dirty="0" sz="3200" b="1">
                <a:latin typeface="Calibri"/>
                <a:cs typeface="Calibri"/>
              </a:rPr>
              <a:t>1: </a:t>
            </a:r>
            <a:r>
              <a:rPr dirty="0" sz="3200" spc="-5">
                <a:latin typeface="Calibri"/>
                <a:cs typeface="Calibri"/>
              </a:rPr>
              <a:t>How </a:t>
            </a:r>
            <a:r>
              <a:rPr dirty="0" sz="3200" spc="-15">
                <a:latin typeface="Calibri"/>
                <a:cs typeface="Calibri"/>
              </a:rPr>
              <a:t>to compare </a:t>
            </a:r>
            <a:r>
              <a:rPr dirty="0" sz="3200" spc="-10">
                <a:solidFill>
                  <a:srgbClr val="C00000"/>
                </a:solidFill>
                <a:latin typeface="Calibri"/>
                <a:cs typeface="Calibri"/>
              </a:rPr>
              <a:t>two </a:t>
            </a:r>
            <a:r>
              <a:rPr dirty="0" sz="3200" spc="-15">
                <a:solidFill>
                  <a:srgbClr val="C00000"/>
                </a:solidFill>
                <a:latin typeface="Calibri"/>
                <a:cs typeface="Calibri"/>
              </a:rPr>
              <a:t>graph</a:t>
            </a:r>
            <a:r>
              <a:rPr dirty="0" sz="3200" spc="5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20">
                <a:solidFill>
                  <a:srgbClr val="C00000"/>
                </a:solidFill>
                <a:latin typeface="Calibri"/>
                <a:cs typeface="Calibri"/>
              </a:rPr>
              <a:t>statistics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ts val="2840"/>
              </a:lnSpc>
              <a:spcBef>
                <a:spcPts val="65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10">
                <a:latin typeface="Calibri"/>
                <a:cs typeface="Calibri"/>
              </a:rPr>
              <a:t>Earth Mover Distance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(EMD)</a:t>
            </a:r>
            <a:endParaRPr sz="2400">
              <a:latin typeface="Calibri"/>
              <a:cs typeface="Calibri"/>
            </a:endParaRPr>
          </a:p>
          <a:p>
            <a:pPr marL="332740" indent="-320040">
              <a:lnSpc>
                <a:spcPts val="380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latin typeface="Calibri"/>
                <a:cs typeface="Calibri"/>
              </a:rPr>
              <a:t>Step </a:t>
            </a:r>
            <a:r>
              <a:rPr dirty="0" sz="3200" b="1">
                <a:latin typeface="Calibri"/>
                <a:cs typeface="Calibri"/>
              </a:rPr>
              <a:t>2: </a:t>
            </a:r>
            <a:r>
              <a:rPr dirty="0" sz="3200" spc="-5">
                <a:latin typeface="Calibri"/>
                <a:cs typeface="Calibri"/>
              </a:rPr>
              <a:t>How </a:t>
            </a:r>
            <a:r>
              <a:rPr dirty="0" sz="3200" spc="-15">
                <a:latin typeface="Calibri"/>
                <a:cs typeface="Calibri"/>
              </a:rPr>
              <a:t>to compare </a:t>
            </a:r>
            <a:r>
              <a:rPr dirty="0" sz="3200" spc="-10">
                <a:solidFill>
                  <a:srgbClr val="C00000"/>
                </a:solidFill>
                <a:latin typeface="Calibri"/>
                <a:cs typeface="Calibri"/>
              </a:rPr>
              <a:t>sets </a:t>
            </a:r>
            <a:r>
              <a:rPr dirty="0" sz="3200">
                <a:solidFill>
                  <a:srgbClr val="C00000"/>
                </a:solidFill>
                <a:latin typeface="Calibri"/>
                <a:cs typeface="Calibri"/>
              </a:rPr>
              <a:t>of </a:t>
            </a:r>
            <a:r>
              <a:rPr dirty="0" sz="3200" spc="-15">
                <a:solidFill>
                  <a:srgbClr val="C00000"/>
                </a:solidFill>
                <a:latin typeface="Calibri"/>
                <a:cs typeface="Calibri"/>
              </a:rPr>
              <a:t>graph</a:t>
            </a:r>
            <a:r>
              <a:rPr dirty="0" sz="3200" spc="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15">
                <a:solidFill>
                  <a:srgbClr val="C00000"/>
                </a:solidFill>
                <a:latin typeface="Calibri"/>
                <a:cs typeface="Calibri"/>
              </a:rPr>
              <a:t>statistics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8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10">
                <a:latin typeface="Calibri"/>
                <a:cs typeface="Calibri"/>
              </a:rPr>
              <a:t>Maximum </a:t>
            </a:r>
            <a:r>
              <a:rPr dirty="0" sz="2400" spc="-5">
                <a:latin typeface="Calibri"/>
                <a:cs typeface="Calibri"/>
              </a:rPr>
              <a:t>Mean </a:t>
            </a:r>
            <a:r>
              <a:rPr dirty="0" sz="2400" spc="-10">
                <a:latin typeface="Calibri"/>
                <a:cs typeface="Calibri"/>
              </a:rPr>
              <a:t>Discrepancy </a:t>
            </a:r>
            <a:r>
              <a:rPr dirty="0" sz="2400" spc="-5">
                <a:latin typeface="Calibri"/>
                <a:cs typeface="Calibri"/>
              </a:rPr>
              <a:t>(MMD) based on</a:t>
            </a:r>
            <a:r>
              <a:rPr dirty="0" sz="2400" spc="3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EMD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132618" y="2988688"/>
            <a:ext cx="1122680" cy="283845"/>
          </a:xfrm>
          <a:custGeom>
            <a:avLst/>
            <a:gdLst/>
            <a:ahLst/>
            <a:cxnLst/>
            <a:rect l="l" t="t" r="r" b="b"/>
            <a:pathLst>
              <a:path w="1122679" h="283845">
                <a:moveTo>
                  <a:pt x="141706" y="0"/>
                </a:moveTo>
                <a:lnTo>
                  <a:pt x="0" y="141706"/>
                </a:lnTo>
                <a:lnTo>
                  <a:pt x="141706" y="283411"/>
                </a:lnTo>
                <a:lnTo>
                  <a:pt x="141706" y="212558"/>
                </a:lnTo>
                <a:lnTo>
                  <a:pt x="1051660" y="212558"/>
                </a:lnTo>
                <a:lnTo>
                  <a:pt x="1122512" y="141706"/>
                </a:lnTo>
                <a:lnTo>
                  <a:pt x="1051660" y="70853"/>
                </a:lnTo>
                <a:lnTo>
                  <a:pt x="141706" y="70853"/>
                </a:lnTo>
                <a:lnTo>
                  <a:pt x="141706" y="0"/>
                </a:lnTo>
                <a:close/>
              </a:path>
              <a:path w="1122679" h="283845">
                <a:moveTo>
                  <a:pt x="1051660" y="212558"/>
                </a:moveTo>
                <a:lnTo>
                  <a:pt x="980808" y="212558"/>
                </a:lnTo>
                <a:lnTo>
                  <a:pt x="980808" y="283411"/>
                </a:lnTo>
                <a:lnTo>
                  <a:pt x="1051660" y="212558"/>
                </a:lnTo>
                <a:close/>
              </a:path>
              <a:path w="1122679" h="283845">
                <a:moveTo>
                  <a:pt x="980808" y="0"/>
                </a:moveTo>
                <a:lnTo>
                  <a:pt x="980808" y="70853"/>
                </a:lnTo>
                <a:lnTo>
                  <a:pt x="1051660" y="70853"/>
                </a:lnTo>
                <a:lnTo>
                  <a:pt x="98080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108617" y="2964796"/>
            <a:ext cx="1170940" cy="331470"/>
          </a:xfrm>
          <a:custGeom>
            <a:avLst/>
            <a:gdLst/>
            <a:ahLst/>
            <a:cxnLst/>
            <a:rect l="l" t="t" r="r" b="b"/>
            <a:pathLst>
              <a:path w="1170939" h="331470">
                <a:moveTo>
                  <a:pt x="167985" y="0"/>
                </a:moveTo>
                <a:lnTo>
                  <a:pt x="7029" y="148629"/>
                </a:lnTo>
                <a:lnTo>
                  <a:pt x="0" y="165599"/>
                </a:lnTo>
                <a:lnTo>
                  <a:pt x="1757" y="174630"/>
                </a:lnTo>
                <a:lnTo>
                  <a:pt x="148736" y="324275"/>
                </a:lnTo>
                <a:lnTo>
                  <a:pt x="167985" y="331197"/>
                </a:lnTo>
                <a:lnTo>
                  <a:pt x="174890" y="329478"/>
                </a:lnTo>
                <a:lnTo>
                  <a:pt x="180989" y="325811"/>
                </a:lnTo>
                <a:lnTo>
                  <a:pt x="185661" y="320638"/>
                </a:lnTo>
                <a:lnTo>
                  <a:pt x="188652" y="314342"/>
                </a:lnTo>
                <a:lnTo>
                  <a:pt x="189706" y="307304"/>
                </a:lnTo>
                <a:lnTo>
                  <a:pt x="189706" y="295716"/>
                </a:lnTo>
                <a:lnTo>
                  <a:pt x="160906" y="295716"/>
                </a:lnTo>
                <a:lnTo>
                  <a:pt x="30788" y="165598"/>
                </a:lnTo>
                <a:lnTo>
                  <a:pt x="160906" y="35481"/>
                </a:lnTo>
                <a:lnTo>
                  <a:pt x="189706" y="35481"/>
                </a:lnTo>
                <a:lnTo>
                  <a:pt x="189706" y="23892"/>
                </a:lnTo>
                <a:lnTo>
                  <a:pt x="188652" y="16855"/>
                </a:lnTo>
                <a:lnTo>
                  <a:pt x="185661" y="10558"/>
                </a:lnTo>
                <a:lnTo>
                  <a:pt x="180989" y="5386"/>
                </a:lnTo>
                <a:lnTo>
                  <a:pt x="174890" y="1719"/>
                </a:lnTo>
                <a:lnTo>
                  <a:pt x="167985" y="0"/>
                </a:lnTo>
                <a:close/>
              </a:path>
              <a:path w="1170939" h="331470">
                <a:moveTo>
                  <a:pt x="1009608" y="260451"/>
                </a:moveTo>
                <a:lnTo>
                  <a:pt x="980808" y="260451"/>
                </a:lnTo>
                <a:lnTo>
                  <a:pt x="980808" y="307304"/>
                </a:lnTo>
                <a:lnTo>
                  <a:pt x="1002528" y="331197"/>
                </a:lnTo>
                <a:lnTo>
                  <a:pt x="1009490" y="330844"/>
                </a:lnTo>
                <a:lnTo>
                  <a:pt x="1016057" y="328506"/>
                </a:lnTo>
                <a:lnTo>
                  <a:pt x="1021778" y="324275"/>
                </a:lnTo>
                <a:lnTo>
                  <a:pt x="1050336" y="295716"/>
                </a:lnTo>
                <a:lnTo>
                  <a:pt x="1009608" y="295716"/>
                </a:lnTo>
                <a:lnTo>
                  <a:pt x="1009608" y="260451"/>
                </a:lnTo>
                <a:close/>
              </a:path>
              <a:path w="1170939" h="331470">
                <a:moveTo>
                  <a:pt x="1007459" y="231651"/>
                </a:moveTo>
                <a:lnTo>
                  <a:pt x="163055" y="231651"/>
                </a:lnTo>
                <a:lnTo>
                  <a:pt x="160906" y="233800"/>
                </a:lnTo>
                <a:lnTo>
                  <a:pt x="160906" y="295716"/>
                </a:lnTo>
                <a:lnTo>
                  <a:pt x="189706" y="295716"/>
                </a:lnTo>
                <a:lnTo>
                  <a:pt x="189706" y="260451"/>
                </a:lnTo>
                <a:lnTo>
                  <a:pt x="1009608" y="260451"/>
                </a:lnTo>
                <a:lnTo>
                  <a:pt x="1009608" y="233800"/>
                </a:lnTo>
                <a:lnTo>
                  <a:pt x="1007459" y="231651"/>
                </a:lnTo>
                <a:close/>
              </a:path>
              <a:path w="1170939" h="331470">
                <a:moveTo>
                  <a:pt x="1050336" y="35481"/>
                </a:moveTo>
                <a:lnTo>
                  <a:pt x="1009608" y="35481"/>
                </a:lnTo>
                <a:lnTo>
                  <a:pt x="1139724" y="165599"/>
                </a:lnTo>
                <a:lnTo>
                  <a:pt x="1009608" y="295716"/>
                </a:lnTo>
                <a:lnTo>
                  <a:pt x="1050336" y="295716"/>
                </a:lnTo>
                <a:lnTo>
                  <a:pt x="1163483" y="182570"/>
                </a:lnTo>
                <a:lnTo>
                  <a:pt x="1168755" y="174630"/>
                </a:lnTo>
                <a:lnTo>
                  <a:pt x="1170513" y="165598"/>
                </a:lnTo>
                <a:lnTo>
                  <a:pt x="1168755" y="156568"/>
                </a:lnTo>
                <a:lnTo>
                  <a:pt x="1163483" y="148629"/>
                </a:lnTo>
                <a:lnTo>
                  <a:pt x="1050336" y="35481"/>
                </a:lnTo>
                <a:close/>
              </a:path>
              <a:path w="1170939" h="331470">
                <a:moveTo>
                  <a:pt x="151306" y="58657"/>
                </a:moveTo>
                <a:lnTo>
                  <a:pt x="44365" y="165599"/>
                </a:lnTo>
                <a:lnTo>
                  <a:pt x="151306" y="272540"/>
                </a:lnTo>
                <a:lnTo>
                  <a:pt x="151306" y="249364"/>
                </a:lnTo>
                <a:lnTo>
                  <a:pt x="141705" y="249363"/>
                </a:lnTo>
                <a:lnTo>
                  <a:pt x="57941" y="165598"/>
                </a:lnTo>
                <a:lnTo>
                  <a:pt x="141706" y="81833"/>
                </a:lnTo>
                <a:lnTo>
                  <a:pt x="151306" y="81833"/>
                </a:lnTo>
                <a:lnTo>
                  <a:pt x="151306" y="58657"/>
                </a:lnTo>
                <a:close/>
              </a:path>
              <a:path w="1170939" h="331470">
                <a:moveTo>
                  <a:pt x="1023511" y="222051"/>
                </a:moveTo>
                <a:lnTo>
                  <a:pt x="1012761" y="222051"/>
                </a:lnTo>
                <a:lnTo>
                  <a:pt x="1019208" y="228498"/>
                </a:lnTo>
                <a:lnTo>
                  <a:pt x="1019208" y="272540"/>
                </a:lnTo>
                <a:lnTo>
                  <a:pt x="1042385" y="249363"/>
                </a:lnTo>
                <a:lnTo>
                  <a:pt x="1028807" y="249363"/>
                </a:lnTo>
                <a:lnTo>
                  <a:pt x="1028807" y="236451"/>
                </a:lnTo>
                <a:lnTo>
                  <a:pt x="1026922" y="227109"/>
                </a:lnTo>
                <a:lnTo>
                  <a:pt x="1023511" y="222051"/>
                </a:lnTo>
                <a:close/>
              </a:path>
              <a:path w="1170939" h="331470">
                <a:moveTo>
                  <a:pt x="1004808" y="212451"/>
                </a:moveTo>
                <a:lnTo>
                  <a:pt x="165707" y="212451"/>
                </a:lnTo>
                <a:lnTo>
                  <a:pt x="156365" y="214337"/>
                </a:lnTo>
                <a:lnTo>
                  <a:pt x="148736" y="219481"/>
                </a:lnTo>
                <a:lnTo>
                  <a:pt x="143592" y="227109"/>
                </a:lnTo>
                <a:lnTo>
                  <a:pt x="141706" y="236451"/>
                </a:lnTo>
                <a:lnTo>
                  <a:pt x="141706" y="249364"/>
                </a:lnTo>
                <a:lnTo>
                  <a:pt x="151306" y="249364"/>
                </a:lnTo>
                <a:lnTo>
                  <a:pt x="151306" y="228498"/>
                </a:lnTo>
                <a:lnTo>
                  <a:pt x="157753" y="222051"/>
                </a:lnTo>
                <a:lnTo>
                  <a:pt x="1023511" y="222051"/>
                </a:lnTo>
                <a:lnTo>
                  <a:pt x="1021778" y="219481"/>
                </a:lnTo>
                <a:lnTo>
                  <a:pt x="1014150" y="214337"/>
                </a:lnTo>
                <a:lnTo>
                  <a:pt x="1004808" y="212451"/>
                </a:lnTo>
                <a:close/>
              </a:path>
              <a:path w="1170939" h="331470">
                <a:moveTo>
                  <a:pt x="1042385" y="81834"/>
                </a:moveTo>
                <a:lnTo>
                  <a:pt x="1028807" y="81834"/>
                </a:lnTo>
                <a:lnTo>
                  <a:pt x="1112571" y="165599"/>
                </a:lnTo>
                <a:lnTo>
                  <a:pt x="1028807" y="249363"/>
                </a:lnTo>
                <a:lnTo>
                  <a:pt x="1042385" y="249363"/>
                </a:lnTo>
                <a:lnTo>
                  <a:pt x="1126148" y="165598"/>
                </a:lnTo>
                <a:lnTo>
                  <a:pt x="1042385" y="81834"/>
                </a:lnTo>
                <a:close/>
              </a:path>
              <a:path w="1170939" h="331470">
                <a:moveTo>
                  <a:pt x="151306" y="81833"/>
                </a:moveTo>
                <a:lnTo>
                  <a:pt x="141706" y="81833"/>
                </a:lnTo>
                <a:lnTo>
                  <a:pt x="141706" y="94745"/>
                </a:lnTo>
                <a:lnTo>
                  <a:pt x="143592" y="104087"/>
                </a:lnTo>
                <a:lnTo>
                  <a:pt x="148736" y="111716"/>
                </a:lnTo>
                <a:lnTo>
                  <a:pt x="156365" y="116860"/>
                </a:lnTo>
                <a:lnTo>
                  <a:pt x="165707" y="118746"/>
                </a:lnTo>
                <a:lnTo>
                  <a:pt x="1004808" y="118746"/>
                </a:lnTo>
                <a:lnTo>
                  <a:pt x="1014150" y="116860"/>
                </a:lnTo>
                <a:lnTo>
                  <a:pt x="1021778" y="111716"/>
                </a:lnTo>
                <a:lnTo>
                  <a:pt x="1023511" y="109146"/>
                </a:lnTo>
                <a:lnTo>
                  <a:pt x="157753" y="109146"/>
                </a:lnTo>
                <a:lnTo>
                  <a:pt x="151306" y="102699"/>
                </a:lnTo>
                <a:lnTo>
                  <a:pt x="151306" y="81833"/>
                </a:lnTo>
                <a:close/>
              </a:path>
              <a:path w="1170939" h="331470">
                <a:moveTo>
                  <a:pt x="1019208" y="58657"/>
                </a:moveTo>
                <a:lnTo>
                  <a:pt x="1019208" y="102699"/>
                </a:lnTo>
                <a:lnTo>
                  <a:pt x="1012761" y="109146"/>
                </a:lnTo>
                <a:lnTo>
                  <a:pt x="1023511" y="109146"/>
                </a:lnTo>
                <a:lnTo>
                  <a:pt x="1026922" y="104087"/>
                </a:lnTo>
                <a:lnTo>
                  <a:pt x="1028807" y="94745"/>
                </a:lnTo>
                <a:lnTo>
                  <a:pt x="1028807" y="81834"/>
                </a:lnTo>
                <a:lnTo>
                  <a:pt x="1042385" y="81834"/>
                </a:lnTo>
                <a:lnTo>
                  <a:pt x="1019208" y="58657"/>
                </a:lnTo>
                <a:close/>
              </a:path>
              <a:path w="1170939" h="331470">
                <a:moveTo>
                  <a:pt x="189706" y="35481"/>
                </a:moveTo>
                <a:lnTo>
                  <a:pt x="160906" y="35481"/>
                </a:lnTo>
                <a:lnTo>
                  <a:pt x="160906" y="97397"/>
                </a:lnTo>
                <a:lnTo>
                  <a:pt x="163055" y="99546"/>
                </a:lnTo>
                <a:lnTo>
                  <a:pt x="1007459" y="99546"/>
                </a:lnTo>
                <a:lnTo>
                  <a:pt x="1009608" y="97397"/>
                </a:lnTo>
                <a:lnTo>
                  <a:pt x="1009608" y="70746"/>
                </a:lnTo>
                <a:lnTo>
                  <a:pt x="189706" y="70746"/>
                </a:lnTo>
                <a:lnTo>
                  <a:pt x="189706" y="35481"/>
                </a:lnTo>
                <a:close/>
              </a:path>
              <a:path w="1170939" h="331470">
                <a:moveTo>
                  <a:pt x="1002528" y="0"/>
                </a:moveTo>
                <a:lnTo>
                  <a:pt x="980808" y="23892"/>
                </a:lnTo>
                <a:lnTo>
                  <a:pt x="980808" y="70746"/>
                </a:lnTo>
                <a:lnTo>
                  <a:pt x="1009608" y="70746"/>
                </a:lnTo>
                <a:lnTo>
                  <a:pt x="1009608" y="35481"/>
                </a:lnTo>
                <a:lnTo>
                  <a:pt x="1050336" y="35481"/>
                </a:lnTo>
                <a:lnTo>
                  <a:pt x="1021778" y="6922"/>
                </a:lnTo>
                <a:lnTo>
                  <a:pt x="1016057" y="2691"/>
                </a:lnTo>
                <a:lnTo>
                  <a:pt x="1009490" y="353"/>
                </a:lnTo>
                <a:lnTo>
                  <a:pt x="1002528" y="0"/>
                </a:lnTo>
                <a:close/>
              </a:path>
            </a:pathLst>
          </a:custGeom>
          <a:solidFill>
            <a:srgbClr val="9019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673615" y="6699893"/>
            <a:ext cx="4027804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5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06997" y="6699893"/>
            <a:ext cx="1524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5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9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697382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563943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/>
              <a:t>Step </a:t>
            </a:r>
            <a:r>
              <a:rPr dirty="0" sz="2800"/>
              <a:t>1: </a:t>
            </a:r>
            <a:r>
              <a:rPr dirty="0" sz="2800" spc="-10"/>
              <a:t>Earth Mover Distance </a:t>
            </a:r>
            <a:r>
              <a:rPr dirty="0" sz="2800" spc="-5"/>
              <a:t>(EMD)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956563" y="1788667"/>
            <a:ext cx="7924165" cy="125984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2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400" spc="-10">
                <a:latin typeface="Calibri"/>
                <a:cs typeface="Calibri"/>
              </a:rPr>
              <a:t>Compare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similarity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between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r>
              <a:rPr dirty="0" sz="2400" spc="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distributions</a:t>
            </a:r>
            <a:endParaRPr sz="2400">
              <a:latin typeface="Calibri"/>
              <a:cs typeface="Calibri"/>
            </a:endParaRPr>
          </a:p>
          <a:p>
            <a:pPr marL="287020" marR="5080" indent="-274320">
              <a:lnSpc>
                <a:spcPct val="100800"/>
              </a:lnSpc>
              <a:spcBef>
                <a:spcPts val="5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400" spc="-10" b="1">
                <a:latin typeface="Calibri"/>
                <a:cs typeface="Calibri"/>
              </a:rPr>
              <a:t>Intuition: </a:t>
            </a:r>
            <a:r>
              <a:rPr dirty="0" sz="2400" spc="-10">
                <a:latin typeface="Calibri"/>
                <a:cs typeface="Calibri"/>
              </a:rPr>
              <a:t>Measure </a:t>
            </a:r>
            <a:r>
              <a:rPr dirty="0" sz="2400" spc="-5">
                <a:latin typeface="Calibri"/>
                <a:cs typeface="Calibri"/>
              </a:rPr>
              <a:t>the minimum </a:t>
            </a:r>
            <a:r>
              <a:rPr dirty="0" sz="2400" spc="-20">
                <a:latin typeface="Calibri"/>
                <a:cs typeface="Calibri"/>
              </a:rPr>
              <a:t>effort </a:t>
            </a:r>
            <a:r>
              <a:rPr dirty="0" sz="2400" spc="-10">
                <a:latin typeface="Calibri"/>
                <a:cs typeface="Calibri"/>
              </a:rPr>
              <a:t>that 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move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earth </a:t>
            </a:r>
            <a:r>
              <a:rPr dirty="0" sz="2400" spc="-135" b="1">
                <a:solidFill>
                  <a:srgbClr val="C00000"/>
                </a:solidFill>
                <a:latin typeface="Calibri"/>
                <a:cs typeface="Calibri"/>
              </a:rPr>
              <a:t>from 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one pile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24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other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58311" y="3611879"/>
            <a:ext cx="165100" cy="615950"/>
          </a:xfrm>
          <a:custGeom>
            <a:avLst/>
            <a:gdLst/>
            <a:ahLst/>
            <a:cxnLst/>
            <a:rect l="l" t="t" r="r" b="b"/>
            <a:pathLst>
              <a:path w="165100" h="615950">
                <a:moveTo>
                  <a:pt x="164591" y="0"/>
                </a:moveTo>
                <a:lnTo>
                  <a:pt x="0" y="0"/>
                </a:lnTo>
                <a:lnTo>
                  <a:pt x="0" y="615880"/>
                </a:lnTo>
                <a:lnTo>
                  <a:pt x="164591" y="615880"/>
                </a:lnTo>
                <a:lnTo>
                  <a:pt x="16459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453384" y="3712464"/>
            <a:ext cx="165100" cy="515620"/>
          </a:xfrm>
          <a:custGeom>
            <a:avLst/>
            <a:gdLst/>
            <a:ahLst/>
            <a:cxnLst/>
            <a:rect l="l" t="t" r="r" b="b"/>
            <a:pathLst>
              <a:path w="165100" h="515620">
                <a:moveTo>
                  <a:pt x="164591" y="0"/>
                </a:moveTo>
                <a:lnTo>
                  <a:pt x="0" y="0"/>
                </a:lnTo>
                <a:lnTo>
                  <a:pt x="0" y="515296"/>
                </a:lnTo>
                <a:lnTo>
                  <a:pt x="164591" y="515296"/>
                </a:lnTo>
                <a:lnTo>
                  <a:pt x="16459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651503" y="3877055"/>
            <a:ext cx="165100" cy="351155"/>
          </a:xfrm>
          <a:custGeom>
            <a:avLst/>
            <a:gdLst/>
            <a:ahLst/>
            <a:cxnLst/>
            <a:rect l="l" t="t" r="r" b="b"/>
            <a:pathLst>
              <a:path w="165100" h="351154">
                <a:moveTo>
                  <a:pt x="164592" y="0"/>
                </a:moveTo>
                <a:lnTo>
                  <a:pt x="0" y="0"/>
                </a:lnTo>
                <a:lnTo>
                  <a:pt x="0" y="350704"/>
                </a:lnTo>
                <a:lnTo>
                  <a:pt x="164592" y="350704"/>
                </a:lnTo>
                <a:lnTo>
                  <a:pt x="16459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849623" y="3651503"/>
            <a:ext cx="165100" cy="576580"/>
          </a:xfrm>
          <a:custGeom>
            <a:avLst/>
            <a:gdLst/>
            <a:ahLst/>
            <a:cxnLst/>
            <a:rect l="l" t="t" r="r" b="b"/>
            <a:pathLst>
              <a:path w="165100" h="576579">
                <a:moveTo>
                  <a:pt x="164591" y="0"/>
                </a:moveTo>
                <a:lnTo>
                  <a:pt x="0" y="0"/>
                </a:lnTo>
                <a:lnTo>
                  <a:pt x="0" y="576256"/>
                </a:lnTo>
                <a:lnTo>
                  <a:pt x="164591" y="576256"/>
                </a:lnTo>
                <a:lnTo>
                  <a:pt x="16459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46632" y="3447288"/>
            <a:ext cx="165100" cy="781050"/>
          </a:xfrm>
          <a:custGeom>
            <a:avLst/>
            <a:gdLst/>
            <a:ahLst/>
            <a:cxnLst/>
            <a:rect l="l" t="t" r="r" b="b"/>
            <a:pathLst>
              <a:path w="165100" h="781050">
                <a:moveTo>
                  <a:pt x="164592" y="0"/>
                </a:moveTo>
                <a:lnTo>
                  <a:pt x="0" y="0"/>
                </a:lnTo>
                <a:lnTo>
                  <a:pt x="0" y="780473"/>
                </a:lnTo>
                <a:lnTo>
                  <a:pt x="164592" y="780473"/>
                </a:lnTo>
                <a:lnTo>
                  <a:pt x="16459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444752" y="3883152"/>
            <a:ext cx="165100" cy="344805"/>
          </a:xfrm>
          <a:custGeom>
            <a:avLst/>
            <a:gdLst/>
            <a:ahLst/>
            <a:cxnLst/>
            <a:rect l="l" t="t" r="r" b="b"/>
            <a:pathLst>
              <a:path w="165100" h="344804">
                <a:moveTo>
                  <a:pt x="164591" y="0"/>
                </a:moveTo>
                <a:lnTo>
                  <a:pt x="0" y="0"/>
                </a:lnTo>
                <a:lnTo>
                  <a:pt x="0" y="344609"/>
                </a:lnTo>
                <a:lnTo>
                  <a:pt x="164591" y="344609"/>
                </a:lnTo>
                <a:lnTo>
                  <a:pt x="16459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642872" y="4072128"/>
            <a:ext cx="165100" cy="156210"/>
          </a:xfrm>
          <a:custGeom>
            <a:avLst/>
            <a:gdLst/>
            <a:ahLst/>
            <a:cxnLst/>
            <a:rect l="l" t="t" r="r" b="b"/>
            <a:pathLst>
              <a:path w="165100" h="156210">
                <a:moveTo>
                  <a:pt x="164591" y="0"/>
                </a:moveTo>
                <a:lnTo>
                  <a:pt x="0" y="0"/>
                </a:lnTo>
                <a:lnTo>
                  <a:pt x="0" y="155633"/>
                </a:lnTo>
                <a:lnTo>
                  <a:pt x="164591" y="155633"/>
                </a:lnTo>
                <a:lnTo>
                  <a:pt x="16459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840992" y="3947159"/>
            <a:ext cx="165100" cy="280670"/>
          </a:xfrm>
          <a:custGeom>
            <a:avLst/>
            <a:gdLst/>
            <a:ahLst/>
            <a:cxnLst/>
            <a:rect l="l" t="t" r="r" b="b"/>
            <a:pathLst>
              <a:path w="165100" h="280670">
                <a:moveTo>
                  <a:pt x="164591" y="0"/>
                </a:moveTo>
                <a:lnTo>
                  <a:pt x="0" y="0"/>
                </a:lnTo>
                <a:lnTo>
                  <a:pt x="0" y="280601"/>
                </a:lnTo>
                <a:lnTo>
                  <a:pt x="164591" y="280601"/>
                </a:lnTo>
                <a:lnTo>
                  <a:pt x="16459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372899" y="3960270"/>
            <a:ext cx="527050" cy="85725"/>
          </a:xfrm>
          <a:custGeom>
            <a:avLst/>
            <a:gdLst/>
            <a:ahLst/>
            <a:cxnLst/>
            <a:rect l="l" t="t" r="r" b="b"/>
            <a:pathLst>
              <a:path w="527050" h="85725">
                <a:moveTo>
                  <a:pt x="85725" y="0"/>
                </a:moveTo>
                <a:lnTo>
                  <a:pt x="0" y="42861"/>
                </a:lnTo>
                <a:lnTo>
                  <a:pt x="85725" y="85724"/>
                </a:lnTo>
                <a:lnTo>
                  <a:pt x="85725" y="57148"/>
                </a:lnTo>
                <a:lnTo>
                  <a:pt x="63546" y="57148"/>
                </a:lnTo>
                <a:lnTo>
                  <a:pt x="57150" y="50753"/>
                </a:lnTo>
                <a:lnTo>
                  <a:pt x="57150" y="34970"/>
                </a:lnTo>
                <a:lnTo>
                  <a:pt x="63546" y="28573"/>
                </a:lnTo>
                <a:lnTo>
                  <a:pt x="85725" y="28573"/>
                </a:lnTo>
                <a:lnTo>
                  <a:pt x="85725" y="0"/>
                </a:lnTo>
                <a:close/>
              </a:path>
              <a:path w="527050" h="85725">
                <a:moveTo>
                  <a:pt x="440984" y="57149"/>
                </a:moveTo>
                <a:lnTo>
                  <a:pt x="440984" y="85724"/>
                </a:lnTo>
                <a:lnTo>
                  <a:pt x="498134" y="57149"/>
                </a:lnTo>
                <a:lnTo>
                  <a:pt x="440984" y="57149"/>
                </a:lnTo>
                <a:close/>
              </a:path>
              <a:path w="527050" h="85725">
                <a:moveTo>
                  <a:pt x="440984" y="28574"/>
                </a:moveTo>
                <a:lnTo>
                  <a:pt x="440984" y="57149"/>
                </a:lnTo>
                <a:lnTo>
                  <a:pt x="463165" y="57148"/>
                </a:lnTo>
                <a:lnTo>
                  <a:pt x="469560" y="50753"/>
                </a:lnTo>
                <a:lnTo>
                  <a:pt x="469559" y="34970"/>
                </a:lnTo>
                <a:lnTo>
                  <a:pt x="463163" y="28574"/>
                </a:lnTo>
                <a:lnTo>
                  <a:pt x="440984" y="28574"/>
                </a:lnTo>
                <a:close/>
              </a:path>
              <a:path w="527050" h="85725">
                <a:moveTo>
                  <a:pt x="440984" y="0"/>
                </a:moveTo>
                <a:lnTo>
                  <a:pt x="440984" y="28574"/>
                </a:lnTo>
                <a:lnTo>
                  <a:pt x="455273" y="28574"/>
                </a:lnTo>
                <a:lnTo>
                  <a:pt x="463163" y="28574"/>
                </a:lnTo>
                <a:lnTo>
                  <a:pt x="469559" y="34970"/>
                </a:lnTo>
                <a:lnTo>
                  <a:pt x="469560" y="50753"/>
                </a:lnTo>
                <a:lnTo>
                  <a:pt x="463163" y="57149"/>
                </a:lnTo>
                <a:lnTo>
                  <a:pt x="498137" y="57148"/>
                </a:lnTo>
                <a:lnTo>
                  <a:pt x="526709" y="42862"/>
                </a:lnTo>
                <a:lnTo>
                  <a:pt x="440984" y="0"/>
                </a:lnTo>
                <a:close/>
              </a:path>
              <a:path w="527050" h="85725">
                <a:moveTo>
                  <a:pt x="85725" y="28573"/>
                </a:moveTo>
                <a:lnTo>
                  <a:pt x="85725" y="57148"/>
                </a:lnTo>
                <a:lnTo>
                  <a:pt x="440984" y="57149"/>
                </a:lnTo>
                <a:lnTo>
                  <a:pt x="440984" y="28574"/>
                </a:lnTo>
                <a:lnTo>
                  <a:pt x="85725" y="28573"/>
                </a:lnTo>
                <a:close/>
              </a:path>
              <a:path w="527050" h="85725">
                <a:moveTo>
                  <a:pt x="71437" y="28573"/>
                </a:moveTo>
                <a:lnTo>
                  <a:pt x="63545" y="28574"/>
                </a:lnTo>
                <a:lnTo>
                  <a:pt x="57150" y="34970"/>
                </a:lnTo>
                <a:lnTo>
                  <a:pt x="57150" y="50753"/>
                </a:lnTo>
                <a:lnTo>
                  <a:pt x="63546" y="57148"/>
                </a:lnTo>
                <a:lnTo>
                  <a:pt x="85725" y="57148"/>
                </a:lnTo>
                <a:lnTo>
                  <a:pt x="85725" y="28573"/>
                </a:lnTo>
                <a:lnTo>
                  <a:pt x="71437" y="28573"/>
                </a:lnTo>
                <a:close/>
              </a:path>
              <a:path w="527050" h="85725">
                <a:moveTo>
                  <a:pt x="85725" y="28573"/>
                </a:moveTo>
                <a:lnTo>
                  <a:pt x="71437" y="28573"/>
                </a:lnTo>
                <a:lnTo>
                  <a:pt x="85725" y="2857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114772" y="3593084"/>
            <a:ext cx="10210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C00000"/>
                </a:solidFill>
                <a:latin typeface="Corbel"/>
                <a:cs typeface="Corbel"/>
              </a:rPr>
              <a:t>High</a:t>
            </a:r>
            <a:r>
              <a:rPr dirty="0" sz="1800" spc="-80" b="1">
                <a:solidFill>
                  <a:srgbClr val="C00000"/>
                </a:solidFill>
                <a:latin typeface="Corbel"/>
                <a:cs typeface="Corbe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Corbel"/>
                <a:cs typeface="Corbel"/>
              </a:rPr>
              <a:t>EMD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035296" y="3456432"/>
            <a:ext cx="165100" cy="779145"/>
          </a:xfrm>
          <a:custGeom>
            <a:avLst/>
            <a:gdLst/>
            <a:ahLst/>
            <a:cxnLst/>
            <a:rect l="l" t="t" r="r" b="b"/>
            <a:pathLst>
              <a:path w="165100" h="779145">
                <a:moveTo>
                  <a:pt x="164591" y="0"/>
                </a:moveTo>
                <a:lnTo>
                  <a:pt x="0" y="0"/>
                </a:lnTo>
                <a:lnTo>
                  <a:pt x="0" y="779034"/>
                </a:lnTo>
                <a:lnTo>
                  <a:pt x="164591" y="779034"/>
                </a:lnTo>
                <a:lnTo>
                  <a:pt x="16459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233415" y="3892296"/>
            <a:ext cx="165100" cy="343535"/>
          </a:xfrm>
          <a:custGeom>
            <a:avLst/>
            <a:gdLst/>
            <a:ahLst/>
            <a:cxnLst/>
            <a:rect l="l" t="t" r="r" b="b"/>
            <a:pathLst>
              <a:path w="165100" h="343535">
                <a:moveTo>
                  <a:pt x="164592" y="0"/>
                </a:moveTo>
                <a:lnTo>
                  <a:pt x="0" y="0"/>
                </a:lnTo>
                <a:lnTo>
                  <a:pt x="0" y="343170"/>
                </a:lnTo>
                <a:lnTo>
                  <a:pt x="164592" y="343170"/>
                </a:lnTo>
                <a:lnTo>
                  <a:pt x="16459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431535" y="4078223"/>
            <a:ext cx="165100" cy="157480"/>
          </a:xfrm>
          <a:custGeom>
            <a:avLst/>
            <a:gdLst/>
            <a:ahLst/>
            <a:cxnLst/>
            <a:rect l="l" t="t" r="r" b="b"/>
            <a:pathLst>
              <a:path w="165100" h="157479">
                <a:moveTo>
                  <a:pt x="164591" y="0"/>
                </a:moveTo>
                <a:lnTo>
                  <a:pt x="0" y="0"/>
                </a:lnTo>
                <a:lnTo>
                  <a:pt x="0" y="157242"/>
                </a:lnTo>
                <a:lnTo>
                  <a:pt x="164591" y="157242"/>
                </a:lnTo>
                <a:lnTo>
                  <a:pt x="16459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626608" y="3953255"/>
            <a:ext cx="165100" cy="282575"/>
          </a:xfrm>
          <a:custGeom>
            <a:avLst/>
            <a:gdLst/>
            <a:ahLst/>
            <a:cxnLst/>
            <a:rect l="l" t="t" r="r" b="b"/>
            <a:pathLst>
              <a:path w="165100" h="282575">
                <a:moveTo>
                  <a:pt x="164591" y="0"/>
                </a:moveTo>
                <a:lnTo>
                  <a:pt x="0" y="0"/>
                </a:lnTo>
                <a:lnTo>
                  <a:pt x="0" y="282210"/>
                </a:lnTo>
                <a:lnTo>
                  <a:pt x="164591" y="282210"/>
                </a:lnTo>
                <a:lnTo>
                  <a:pt x="16459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160184" y="3967974"/>
            <a:ext cx="527050" cy="86360"/>
          </a:xfrm>
          <a:custGeom>
            <a:avLst/>
            <a:gdLst/>
            <a:ahLst/>
            <a:cxnLst/>
            <a:rect l="l" t="t" r="r" b="b"/>
            <a:pathLst>
              <a:path w="527050" h="86360">
                <a:moveTo>
                  <a:pt x="440985" y="57151"/>
                </a:moveTo>
                <a:lnTo>
                  <a:pt x="440985" y="85726"/>
                </a:lnTo>
                <a:lnTo>
                  <a:pt x="498135" y="57151"/>
                </a:lnTo>
                <a:lnTo>
                  <a:pt x="440985" y="57151"/>
                </a:lnTo>
                <a:close/>
              </a:path>
              <a:path w="527050" h="86360">
                <a:moveTo>
                  <a:pt x="85725" y="0"/>
                </a:moveTo>
                <a:lnTo>
                  <a:pt x="0" y="42862"/>
                </a:lnTo>
                <a:lnTo>
                  <a:pt x="85725" y="85725"/>
                </a:lnTo>
                <a:lnTo>
                  <a:pt x="85725" y="57150"/>
                </a:lnTo>
                <a:lnTo>
                  <a:pt x="63546" y="57150"/>
                </a:lnTo>
                <a:lnTo>
                  <a:pt x="57151" y="50754"/>
                </a:lnTo>
                <a:lnTo>
                  <a:pt x="57150" y="34971"/>
                </a:lnTo>
                <a:lnTo>
                  <a:pt x="63546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527050" h="86360">
                <a:moveTo>
                  <a:pt x="440985" y="28576"/>
                </a:moveTo>
                <a:lnTo>
                  <a:pt x="440985" y="57151"/>
                </a:lnTo>
                <a:lnTo>
                  <a:pt x="463165" y="57150"/>
                </a:lnTo>
                <a:lnTo>
                  <a:pt x="469560" y="50754"/>
                </a:lnTo>
                <a:lnTo>
                  <a:pt x="469559" y="34971"/>
                </a:lnTo>
                <a:lnTo>
                  <a:pt x="463163" y="28576"/>
                </a:lnTo>
                <a:lnTo>
                  <a:pt x="440985" y="28576"/>
                </a:lnTo>
                <a:close/>
              </a:path>
              <a:path w="527050" h="86360">
                <a:moveTo>
                  <a:pt x="440985" y="1"/>
                </a:moveTo>
                <a:lnTo>
                  <a:pt x="440985" y="28576"/>
                </a:lnTo>
                <a:lnTo>
                  <a:pt x="455273" y="28576"/>
                </a:lnTo>
                <a:lnTo>
                  <a:pt x="463163" y="28576"/>
                </a:lnTo>
                <a:lnTo>
                  <a:pt x="469559" y="34971"/>
                </a:lnTo>
                <a:lnTo>
                  <a:pt x="469560" y="50754"/>
                </a:lnTo>
                <a:lnTo>
                  <a:pt x="463163" y="57151"/>
                </a:lnTo>
                <a:lnTo>
                  <a:pt x="498138" y="57150"/>
                </a:lnTo>
                <a:lnTo>
                  <a:pt x="526710" y="42863"/>
                </a:lnTo>
                <a:lnTo>
                  <a:pt x="440985" y="1"/>
                </a:lnTo>
                <a:close/>
              </a:path>
              <a:path w="527050" h="86360">
                <a:moveTo>
                  <a:pt x="85725" y="28575"/>
                </a:moveTo>
                <a:lnTo>
                  <a:pt x="85725" y="57150"/>
                </a:lnTo>
                <a:lnTo>
                  <a:pt x="440985" y="57151"/>
                </a:lnTo>
                <a:lnTo>
                  <a:pt x="440985" y="28576"/>
                </a:lnTo>
                <a:lnTo>
                  <a:pt x="85725" y="28575"/>
                </a:lnTo>
                <a:close/>
              </a:path>
              <a:path w="527050" h="86360">
                <a:moveTo>
                  <a:pt x="71437" y="28575"/>
                </a:moveTo>
                <a:lnTo>
                  <a:pt x="63545" y="28576"/>
                </a:lnTo>
                <a:lnTo>
                  <a:pt x="57150" y="34971"/>
                </a:lnTo>
                <a:lnTo>
                  <a:pt x="57151" y="50754"/>
                </a:lnTo>
                <a:lnTo>
                  <a:pt x="63546" y="57150"/>
                </a:lnTo>
                <a:lnTo>
                  <a:pt x="85725" y="57150"/>
                </a:lnTo>
                <a:lnTo>
                  <a:pt x="85725" y="28575"/>
                </a:lnTo>
                <a:lnTo>
                  <a:pt x="71437" y="28575"/>
                </a:lnTo>
                <a:close/>
              </a:path>
              <a:path w="527050" h="86360">
                <a:moveTo>
                  <a:pt x="85725" y="28575"/>
                </a:moveTo>
                <a:lnTo>
                  <a:pt x="71437" y="28575"/>
                </a:lnTo>
                <a:lnTo>
                  <a:pt x="85725" y="28575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933052" y="3593084"/>
            <a:ext cx="9709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0070C0"/>
                </a:solidFill>
                <a:latin typeface="Corbel"/>
                <a:cs typeface="Corbel"/>
              </a:rPr>
              <a:t>Low</a:t>
            </a:r>
            <a:r>
              <a:rPr dirty="0" sz="1800" spc="-90" b="1">
                <a:solidFill>
                  <a:srgbClr val="0070C0"/>
                </a:solidFill>
                <a:latin typeface="Corbel"/>
                <a:cs typeface="Corbel"/>
              </a:rPr>
              <a:t> </a:t>
            </a:r>
            <a:r>
              <a:rPr dirty="0" sz="1800" b="1">
                <a:solidFill>
                  <a:srgbClr val="0070C0"/>
                </a:solidFill>
                <a:latin typeface="Corbel"/>
                <a:cs typeface="Corbel"/>
              </a:rPr>
              <a:t>EMD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101840" y="3380232"/>
            <a:ext cx="165100" cy="855344"/>
          </a:xfrm>
          <a:custGeom>
            <a:avLst/>
            <a:gdLst/>
            <a:ahLst/>
            <a:cxnLst/>
            <a:rect l="l" t="t" r="r" b="b"/>
            <a:pathLst>
              <a:path w="165100" h="855345">
                <a:moveTo>
                  <a:pt x="164591" y="0"/>
                </a:moveTo>
                <a:lnTo>
                  <a:pt x="0" y="0"/>
                </a:lnTo>
                <a:lnTo>
                  <a:pt x="0" y="855233"/>
                </a:lnTo>
                <a:lnTo>
                  <a:pt x="164591" y="855233"/>
                </a:lnTo>
                <a:lnTo>
                  <a:pt x="16459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299959" y="3806952"/>
            <a:ext cx="165100" cy="428625"/>
          </a:xfrm>
          <a:custGeom>
            <a:avLst/>
            <a:gdLst/>
            <a:ahLst/>
            <a:cxnLst/>
            <a:rect l="l" t="t" r="r" b="b"/>
            <a:pathLst>
              <a:path w="165100" h="428625">
                <a:moveTo>
                  <a:pt x="164592" y="0"/>
                </a:moveTo>
                <a:lnTo>
                  <a:pt x="0" y="0"/>
                </a:lnTo>
                <a:lnTo>
                  <a:pt x="0" y="428513"/>
                </a:lnTo>
                <a:lnTo>
                  <a:pt x="164592" y="428513"/>
                </a:lnTo>
                <a:lnTo>
                  <a:pt x="16459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498080" y="3913632"/>
            <a:ext cx="165100" cy="321945"/>
          </a:xfrm>
          <a:custGeom>
            <a:avLst/>
            <a:gdLst/>
            <a:ahLst/>
            <a:cxnLst/>
            <a:rect l="l" t="t" r="r" b="b"/>
            <a:pathLst>
              <a:path w="165100" h="321945">
                <a:moveTo>
                  <a:pt x="164592" y="0"/>
                </a:moveTo>
                <a:lnTo>
                  <a:pt x="0" y="0"/>
                </a:lnTo>
                <a:lnTo>
                  <a:pt x="0" y="321833"/>
                </a:lnTo>
                <a:lnTo>
                  <a:pt x="164592" y="321833"/>
                </a:lnTo>
                <a:lnTo>
                  <a:pt x="16459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693152" y="3700271"/>
            <a:ext cx="165100" cy="535305"/>
          </a:xfrm>
          <a:custGeom>
            <a:avLst/>
            <a:gdLst/>
            <a:ahLst/>
            <a:cxnLst/>
            <a:rect l="l" t="t" r="r" b="b"/>
            <a:pathLst>
              <a:path w="165100" h="535304">
                <a:moveTo>
                  <a:pt x="164592" y="0"/>
                </a:moveTo>
                <a:lnTo>
                  <a:pt x="0" y="0"/>
                </a:lnTo>
                <a:lnTo>
                  <a:pt x="0" y="535193"/>
                </a:lnTo>
                <a:lnTo>
                  <a:pt x="164592" y="535193"/>
                </a:lnTo>
                <a:lnTo>
                  <a:pt x="16459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939896" y="4282947"/>
            <a:ext cx="138620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latin typeface="Arial"/>
                <a:cs typeface="Arial"/>
              </a:rPr>
              <a:t>Degree dist.</a:t>
            </a:r>
            <a:r>
              <a:rPr dirty="0" sz="1600" spc="-12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A</a:t>
            </a:r>
            <a:endParaRPr sz="1600">
              <a:latin typeface="Arial"/>
              <a:cs typeface="Arial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673615" y="6699893"/>
            <a:ext cx="4027804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5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51</a:t>
            </a:fld>
          </a:p>
        </p:txBody>
      </p:sp>
      <p:sp>
        <p:nvSpPr>
          <p:cNvPr id="26" name="object 26"/>
          <p:cNvSpPr txBox="1"/>
          <p:nvPr/>
        </p:nvSpPr>
        <p:spPr>
          <a:xfrm>
            <a:off x="2907117" y="4276852"/>
            <a:ext cx="139382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latin typeface="Arial"/>
                <a:cs typeface="Arial"/>
              </a:rPr>
              <a:t>Degree dist.</a:t>
            </a:r>
            <a:r>
              <a:rPr dirty="0" sz="1600" spc="-6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B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838244" y="4267708"/>
            <a:ext cx="138620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latin typeface="Arial"/>
                <a:cs typeface="Arial"/>
              </a:rPr>
              <a:t>Degree dist.</a:t>
            </a:r>
            <a:r>
              <a:rPr dirty="0" sz="1600" spc="-12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A</a:t>
            </a:r>
            <a:endParaRPr sz="16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805466" y="4258564"/>
            <a:ext cx="139382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latin typeface="Arial"/>
                <a:cs typeface="Arial"/>
              </a:rPr>
              <a:t>Degree dist.</a:t>
            </a:r>
            <a:r>
              <a:rPr dirty="0" sz="1600" spc="-6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C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697382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689419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/>
              <a:t>Step </a:t>
            </a:r>
            <a:r>
              <a:rPr dirty="0" sz="2800"/>
              <a:t>2: </a:t>
            </a:r>
            <a:r>
              <a:rPr dirty="0" sz="2800" spc="-10"/>
              <a:t>Maximum </a:t>
            </a:r>
            <a:r>
              <a:rPr dirty="0" sz="2800"/>
              <a:t>Mean </a:t>
            </a:r>
            <a:r>
              <a:rPr dirty="0" sz="2800" spc="-5"/>
              <a:t>Discrepancy</a:t>
            </a:r>
            <a:r>
              <a:rPr dirty="0" sz="2800" spc="-10"/>
              <a:t> </a:t>
            </a:r>
            <a:r>
              <a:rPr dirty="0" sz="2800" spc="-5"/>
              <a:t>(MMD)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956563" y="1855723"/>
            <a:ext cx="7607934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87020" marR="5080" indent="-274320">
              <a:lnSpc>
                <a:spcPct val="100800"/>
              </a:lnSpc>
              <a:spcBef>
                <a:spcPts val="7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400" spc="-10">
                <a:latin typeface="Calibri"/>
                <a:cs typeface="Calibri"/>
              </a:rPr>
              <a:t>Compare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similarity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between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2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sets</a:t>
            </a:r>
            <a:r>
              <a:rPr dirty="0" sz="2400" spc="-5">
                <a:solidFill>
                  <a:srgbClr val="C00000"/>
                </a:solidFill>
                <a:latin typeface="Calibri"/>
                <a:cs typeface="Calibri"/>
              </a:rPr>
              <a:t>, based on the </a:t>
            </a:r>
            <a:r>
              <a:rPr dirty="0" sz="2400" spc="-55">
                <a:solidFill>
                  <a:srgbClr val="C00000"/>
                </a:solidFill>
                <a:latin typeface="Calibri"/>
                <a:cs typeface="Calibri"/>
              </a:rPr>
              <a:t>similarity  </a:t>
            </a:r>
            <a:r>
              <a:rPr dirty="0" sz="2400" spc="-10">
                <a:solidFill>
                  <a:srgbClr val="C00000"/>
                </a:solidFill>
                <a:latin typeface="Calibri"/>
                <a:cs typeface="Calibri"/>
              </a:rPr>
              <a:t>between </a:t>
            </a:r>
            <a:r>
              <a:rPr dirty="0" sz="2400" spc="-5">
                <a:solidFill>
                  <a:srgbClr val="C00000"/>
                </a:solidFill>
                <a:latin typeface="Calibri"/>
                <a:cs typeface="Calibri"/>
              </a:rPr>
              <a:t>set</a:t>
            </a:r>
            <a:r>
              <a:rPr dirty="0" sz="2400" spc="-5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5">
                <a:solidFill>
                  <a:srgbClr val="C00000"/>
                </a:solidFill>
                <a:latin typeface="Calibri"/>
                <a:cs typeface="Calibri"/>
              </a:rPr>
              <a:t>elements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95855" y="4971288"/>
            <a:ext cx="165100" cy="617855"/>
          </a:xfrm>
          <a:custGeom>
            <a:avLst/>
            <a:gdLst/>
            <a:ahLst/>
            <a:cxnLst/>
            <a:rect l="l" t="t" r="r" b="b"/>
            <a:pathLst>
              <a:path w="165100" h="617854">
                <a:moveTo>
                  <a:pt x="164592" y="0"/>
                </a:moveTo>
                <a:lnTo>
                  <a:pt x="0" y="0"/>
                </a:lnTo>
                <a:lnTo>
                  <a:pt x="0" y="617418"/>
                </a:lnTo>
                <a:lnTo>
                  <a:pt x="164592" y="617418"/>
                </a:lnTo>
                <a:lnTo>
                  <a:pt x="16459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093976" y="5074920"/>
            <a:ext cx="165100" cy="514350"/>
          </a:xfrm>
          <a:custGeom>
            <a:avLst/>
            <a:gdLst/>
            <a:ahLst/>
            <a:cxnLst/>
            <a:rect l="l" t="t" r="r" b="b"/>
            <a:pathLst>
              <a:path w="165100" h="514350">
                <a:moveTo>
                  <a:pt x="164592" y="0"/>
                </a:moveTo>
                <a:lnTo>
                  <a:pt x="0" y="0"/>
                </a:lnTo>
                <a:lnTo>
                  <a:pt x="0" y="513786"/>
                </a:lnTo>
                <a:lnTo>
                  <a:pt x="164592" y="513786"/>
                </a:lnTo>
                <a:lnTo>
                  <a:pt x="16459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289048" y="5239511"/>
            <a:ext cx="165100" cy="349250"/>
          </a:xfrm>
          <a:custGeom>
            <a:avLst/>
            <a:gdLst/>
            <a:ahLst/>
            <a:cxnLst/>
            <a:rect l="l" t="t" r="r" b="b"/>
            <a:pathLst>
              <a:path w="165100" h="349250">
                <a:moveTo>
                  <a:pt x="164591" y="0"/>
                </a:moveTo>
                <a:lnTo>
                  <a:pt x="0" y="0"/>
                </a:lnTo>
                <a:lnTo>
                  <a:pt x="0" y="349194"/>
                </a:lnTo>
                <a:lnTo>
                  <a:pt x="164591" y="349194"/>
                </a:lnTo>
                <a:lnTo>
                  <a:pt x="16459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487167" y="5013959"/>
            <a:ext cx="165100" cy="575310"/>
          </a:xfrm>
          <a:custGeom>
            <a:avLst/>
            <a:gdLst/>
            <a:ahLst/>
            <a:cxnLst/>
            <a:rect l="l" t="t" r="r" b="b"/>
            <a:pathLst>
              <a:path w="165100" h="575310">
                <a:moveTo>
                  <a:pt x="164592" y="0"/>
                </a:moveTo>
                <a:lnTo>
                  <a:pt x="0" y="0"/>
                </a:lnTo>
                <a:lnTo>
                  <a:pt x="0" y="574746"/>
                </a:lnTo>
                <a:lnTo>
                  <a:pt x="164592" y="574746"/>
                </a:lnTo>
                <a:lnTo>
                  <a:pt x="16459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71144" y="4800600"/>
            <a:ext cx="165100" cy="779780"/>
          </a:xfrm>
          <a:custGeom>
            <a:avLst/>
            <a:gdLst/>
            <a:ahLst/>
            <a:cxnLst/>
            <a:rect l="l" t="t" r="r" b="b"/>
            <a:pathLst>
              <a:path w="165100" h="779779">
                <a:moveTo>
                  <a:pt x="164592" y="0"/>
                </a:moveTo>
                <a:lnTo>
                  <a:pt x="0" y="0"/>
                </a:lnTo>
                <a:lnTo>
                  <a:pt x="0" y="779692"/>
                </a:lnTo>
                <a:lnTo>
                  <a:pt x="164592" y="779692"/>
                </a:lnTo>
                <a:lnTo>
                  <a:pt x="16459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69263" y="5236464"/>
            <a:ext cx="165100" cy="344170"/>
          </a:xfrm>
          <a:custGeom>
            <a:avLst/>
            <a:gdLst/>
            <a:ahLst/>
            <a:cxnLst/>
            <a:rect l="l" t="t" r="r" b="b"/>
            <a:pathLst>
              <a:path w="165100" h="344170">
                <a:moveTo>
                  <a:pt x="164592" y="0"/>
                </a:moveTo>
                <a:lnTo>
                  <a:pt x="0" y="0"/>
                </a:lnTo>
                <a:lnTo>
                  <a:pt x="0" y="343828"/>
                </a:lnTo>
                <a:lnTo>
                  <a:pt x="164592" y="343828"/>
                </a:lnTo>
                <a:lnTo>
                  <a:pt x="16459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167383" y="5425440"/>
            <a:ext cx="165100" cy="154940"/>
          </a:xfrm>
          <a:custGeom>
            <a:avLst/>
            <a:gdLst/>
            <a:ahLst/>
            <a:cxnLst/>
            <a:rect l="l" t="t" r="r" b="b"/>
            <a:pathLst>
              <a:path w="165100" h="154939">
                <a:moveTo>
                  <a:pt x="164591" y="0"/>
                </a:moveTo>
                <a:lnTo>
                  <a:pt x="0" y="0"/>
                </a:lnTo>
                <a:lnTo>
                  <a:pt x="0" y="154852"/>
                </a:lnTo>
                <a:lnTo>
                  <a:pt x="164591" y="154852"/>
                </a:lnTo>
                <a:lnTo>
                  <a:pt x="16459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365503" y="5300471"/>
            <a:ext cx="165100" cy="280035"/>
          </a:xfrm>
          <a:custGeom>
            <a:avLst/>
            <a:gdLst/>
            <a:ahLst/>
            <a:cxnLst/>
            <a:rect l="l" t="t" r="r" b="b"/>
            <a:pathLst>
              <a:path w="165100" h="280035">
                <a:moveTo>
                  <a:pt x="164592" y="0"/>
                </a:moveTo>
                <a:lnTo>
                  <a:pt x="0" y="0"/>
                </a:lnTo>
                <a:lnTo>
                  <a:pt x="0" y="279820"/>
                </a:lnTo>
                <a:lnTo>
                  <a:pt x="164592" y="279820"/>
                </a:lnTo>
                <a:lnTo>
                  <a:pt x="16459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020567" y="4742688"/>
            <a:ext cx="165100" cy="853440"/>
          </a:xfrm>
          <a:custGeom>
            <a:avLst/>
            <a:gdLst/>
            <a:ahLst/>
            <a:cxnLst/>
            <a:rect l="l" t="t" r="r" b="b"/>
            <a:pathLst>
              <a:path w="165100" h="853439">
                <a:moveTo>
                  <a:pt x="164592" y="0"/>
                </a:moveTo>
                <a:lnTo>
                  <a:pt x="0" y="0"/>
                </a:lnTo>
                <a:lnTo>
                  <a:pt x="0" y="853242"/>
                </a:lnTo>
                <a:lnTo>
                  <a:pt x="164592" y="853242"/>
                </a:lnTo>
                <a:lnTo>
                  <a:pt x="16459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215639" y="5169408"/>
            <a:ext cx="165100" cy="426720"/>
          </a:xfrm>
          <a:custGeom>
            <a:avLst/>
            <a:gdLst/>
            <a:ahLst/>
            <a:cxnLst/>
            <a:rect l="l" t="t" r="r" b="b"/>
            <a:pathLst>
              <a:path w="165100" h="426720">
                <a:moveTo>
                  <a:pt x="164592" y="0"/>
                </a:moveTo>
                <a:lnTo>
                  <a:pt x="0" y="0"/>
                </a:lnTo>
                <a:lnTo>
                  <a:pt x="0" y="426522"/>
                </a:lnTo>
                <a:lnTo>
                  <a:pt x="164592" y="426522"/>
                </a:lnTo>
                <a:lnTo>
                  <a:pt x="16459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413759" y="5276088"/>
            <a:ext cx="165100" cy="320040"/>
          </a:xfrm>
          <a:custGeom>
            <a:avLst/>
            <a:gdLst/>
            <a:ahLst/>
            <a:cxnLst/>
            <a:rect l="l" t="t" r="r" b="b"/>
            <a:pathLst>
              <a:path w="165100" h="320039">
                <a:moveTo>
                  <a:pt x="164591" y="0"/>
                </a:moveTo>
                <a:lnTo>
                  <a:pt x="0" y="0"/>
                </a:lnTo>
                <a:lnTo>
                  <a:pt x="0" y="319842"/>
                </a:lnTo>
                <a:lnTo>
                  <a:pt x="164591" y="319842"/>
                </a:lnTo>
                <a:lnTo>
                  <a:pt x="16459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611879" y="5062728"/>
            <a:ext cx="165100" cy="533400"/>
          </a:xfrm>
          <a:custGeom>
            <a:avLst/>
            <a:gdLst/>
            <a:ahLst/>
            <a:cxnLst/>
            <a:rect l="l" t="t" r="r" b="b"/>
            <a:pathLst>
              <a:path w="165100" h="533400">
                <a:moveTo>
                  <a:pt x="164592" y="0"/>
                </a:moveTo>
                <a:lnTo>
                  <a:pt x="0" y="0"/>
                </a:lnTo>
                <a:lnTo>
                  <a:pt x="0" y="533202"/>
                </a:lnTo>
                <a:lnTo>
                  <a:pt x="164592" y="533202"/>
                </a:lnTo>
                <a:lnTo>
                  <a:pt x="16459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259525" y="2891027"/>
            <a:ext cx="7512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{</a:t>
            </a:r>
            <a:r>
              <a:rPr dirty="0" sz="2000" spc="0">
                <a:latin typeface="Cambria Math"/>
                <a:cs typeface="Cambria Math"/>
              </a:rPr>
              <a:t>2</a:t>
            </a:r>
            <a:r>
              <a:rPr dirty="0" sz="2000">
                <a:latin typeface="Cambria Math"/>
                <a:cs typeface="Cambria Math"/>
              </a:rPr>
              <a:t>,</a:t>
            </a:r>
            <a:r>
              <a:rPr dirty="0" sz="2000" spc="0">
                <a:latin typeface="Cambria Math"/>
                <a:cs typeface="Cambria Math"/>
              </a:rPr>
              <a:t>3</a:t>
            </a:r>
            <a:r>
              <a:rPr dirty="0" sz="2000">
                <a:latin typeface="Cambria Math"/>
                <a:cs typeface="Cambria Math"/>
              </a:rPr>
              <a:t>,</a:t>
            </a:r>
            <a:r>
              <a:rPr dirty="0" sz="2000" spc="0">
                <a:latin typeface="Cambria Math"/>
                <a:cs typeface="Cambria Math"/>
              </a:rPr>
              <a:t>5</a:t>
            </a:r>
            <a:r>
              <a:rPr dirty="0" sz="2000">
                <a:latin typeface="Cambria Math"/>
                <a:cs typeface="Cambria Math"/>
              </a:rPr>
              <a:t>}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370816" y="3137837"/>
            <a:ext cx="527050" cy="85725"/>
          </a:xfrm>
          <a:custGeom>
            <a:avLst/>
            <a:gdLst/>
            <a:ahLst/>
            <a:cxnLst/>
            <a:rect l="l" t="t" r="r" b="b"/>
            <a:pathLst>
              <a:path w="527050" h="85725">
                <a:moveTo>
                  <a:pt x="440985" y="57151"/>
                </a:moveTo>
                <a:lnTo>
                  <a:pt x="440985" y="85726"/>
                </a:lnTo>
                <a:lnTo>
                  <a:pt x="498135" y="57151"/>
                </a:lnTo>
                <a:lnTo>
                  <a:pt x="440985" y="57151"/>
                </a:lnTo>
                <a:close/>
              </a:path>
              <a:path w="527050" h="85725">
                <a:moveTo>
                  <a:pt x="85725" y="0"/>
                </a:moveTo>
                <a:lnTo>
                  <a:pt x="0" y="42862"/>
                </a:lnTo>
                <a:lnTo>
                  <a:pt x="85725" y="85725"/>
                </a:lnTo>
                <a:lnTo>
                  <a:pt x="85725" y="57150"/>
                </a:lnTo>
                <a:lnTo>
                  <a:pt x="63546" y="57150"/>
                </a:lnTo>
                <a:lnTo>
                  <a:pt x="57151" y="50754"/>
                </a:lnTo>
                <a:lnTo>
                  <a:pt x="57150" y="34971"/>
                </a:lnTo>
                <a:lnTo>
                  <a:pt x="63546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527050" h="85725">
                <a:moveTo>
                  <a:pt x="440985" y="28576"/>
                </a:moveTo>
                <a:lnTo>
                  <a:pt x="440985" y="57151"/>
                </a:lnTo>
                <a:lnTo>
                  <a:pt x="463165" y="57150"/>
                </a:lnTo>
                <a:lnTo>
                  <a:pt x="469560" y="50754"/>
                </a:lnTo>
                <a:lnTo>
                  <a:pt x="469559" y="34971"/>
                </a:lnTo>
                <a:lnTo>
                  <a:pt x="463163" y="28576"/>
                </a:lnTo>
                <a:lnTo>
                  <a:pt x="440985" y="28576"/>
                </a:lnTo>
                <a:close/>
              </a:path>
              <a:path w="527050" h="85725">
                <a:moveTo>
                  <a:pt x="440985" y="1"/>
                </a:moveTo>
                <a:lnTo>
                  <a:pt x="440985" y="28576"/>
                </a:lnTo>
                <a:lnTo>
                  <a:pt x="455273" y="28576"/>
                </a:lnTo>
                <a:lnTo>
                  <a:pt x="463163" y="28576"/>
                </a:lnTo>
                <a:lnTo>
                  <a:pt x="469559" y="34971"/>
                </a:lnTo>
                <a:lnTo>
                  <a:pt x="469560" y="50754"/>
                </a:lnTo>
                <a:lnTo>
                  <a:pt x="463163" y="57151"/>
                </a:lnTo>
                <a:lnTo>
                  <a:pt x="498138" y="57150"/>
                </a:lnTo>
                <a:lnTo>
                  <a:pt x="526710" y="42863"/>
                </a:lnTo>
                <a:lnTo>
                  <a:pt x="440985" y="1"/>
                </a:lnTo>
                <a:close/>
              </a:path>
              <a:path w="527050" h="85725">
                <a:moveTo>
                  <a:pt x="85725" y="28575"/>
                </a:moveTo>
                <a:lnTo>
                  <a:pt x="85725" y="57150"/>
                </a:lnTo>
                <a:lnTo>
                  <a:pt x="440985" y="57151"/>
                </a:lnTo>
                <a:lnTo>
                  <a:pt x="440985" y="28576"/>
                </a:lnTo>
                <a:lnTo>
                  <a:pt x="85725" y="28575"/>
                </a:lnTo>
                <a:close/>
              </a:path>
              <a:path w="527050" h="85725">
                <a:moveTo>
                  <a:pt x="71437" y="28575"/>
                </a:moveTo>
                <a:lnTo>
                  <a:pt x="63545" y="28576"/>
                </a:lnTo>
                <a:lnTo>
                  <a:pt x="57150" y="34971"/>
                </a:lnTo>
                <a:lnTo>
                  <a:pt x="57151" y="50754"/>
                </a:lnTo>
                <a:lnTo>
                  <a:pt x="63546" y="57150"/>
                </a:lnTo>
                <a:lnTo>
                  <a:pt x="85725" y="57150"/>
                </a:lnTo>
                <a:lnTo>
                  <a:pt x="85725" y="28575"/>
                </a:lnTo>
                <a:lnTo>
                  <a:pt x="71437" y="28575"/>
                </a:lnTo>
                <a:close/>
              </a:path>
              <a:path w="527050" h="85725">
                <a:moveTo>
                  <a:pt x="85725" y="28575"/>
                </a:moveTo>
                <a:lnTo>
                  <a:pt x="71437" y="28575"/>
                </a:lnTo>
                <a:lnTo>
                  <a:pt x="85725" y="28575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5241819" y="2884932"/>
            <a:ext cx="268859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14400" algn="l"/>
              </a:tabLst>
            </a:pPr>
            <a:r>
              <a:rPr dirty="0" sz="2000">
                <a:latin typeface="Cambria Math"/>
                <a:cs typeface="Cambria Math"/>
              </a:rPr>
              <a:t>{2,3,5}	</a:t>
            </a:r>
            <a:r>
              <a:rPr dirty="0" baseline="35493" sz="2700" spc="-7" b="1">
                <a:solidFill>
                  <a:srgbClr val="0070C0"/>
                </a:solidFill>
                <a:latin typeface="Corbel"/>
                <a:cs typeface="Corbel"/>
              </a:rPr>
              <a:t>Low </a:t>
            </a:r>
            <a:r>
              <a:rPr dirty="0" baseline="35493" sz="2700" b="1">
                <a:solidFill>
                  <a:srgbClr val="0070C0"/>
                </a:solidFill>
                <a:latin typeface="Corbel"/>
                <a:cs typeface="Corbel"/>
              </a:rPr>
              <a:t>MMD</a:t>
            </a:r>
            <a:r>
              <a:rPr dirty="0" baseline="35493" sz="2700" spc="-322" b="1">
                <a:solidFill>
                  <a:srgbClr val="0070C0"/>
                </a:solidFill>
                <a:latin typeface="Corbel"/>
                <a:cs typeface="Corbel"/>
              </a:rPr>
              <a:t> </a:t>
            </a:r>
            <a:r>
              <a:rPr dirty="0" sz="2000">
                <a:latin typeface="Cambria Math"/>
                <a:cs typeface="Cambria Math"/>
              </a:rPr>
              <a:t>{5,4,2}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456850" y="3139099"/>
            <a:ext cx="527050" cy="85725"/>
          </a:xfrm>
          <a:custGeom>
            <a:avLst/>
            <a:gdLst/>
            <a:ahLst/>
            <a:cxnLst/>
            <a:rect l="l" t="t" r="r" b="b"/>
            <a:pathLst>
              <a:path w="527050" h="85725">
                <a:moveTo>
                  <a:pt x="440984" y="57151"/>
                </a:moveTo>
                <a:lnTo>
                  <a:pt x="440984" y="85726"/>
                </a:lnTo>
                <a:lnTo>
                  <a:pt x="498134" y="57151"/>
                </a:lnTo>
                <a:lnTo>
                  <a:pt x="440984" y="57151"/>
                </a:lnTo>
                <a:close/>
              </a:path>
              <a:path w="527050" h="85725">
                <a:moveTo>
                  <a:pt x="85725" y="0"/>
                </a:moveTo>
                <a:lnTo>
                  <a:pt x="0" y="42862"/>
                </a:lnTo>
                <a:lnTo>
                  <a:pt x="85723" y="85725"/>
                </a:lnTo>
                <a:lnTo>
                  <a:pt x="85724" y="57150"/>
                </a:lnTo>
                <a:lnTo>
                  <a:pt x="63545" y="57150"/>
                </a:lnTo>
                <a:lnTo>
                  <a:pt x="57151" y="50754"/>
                </a:lnTo>
                <a:lnTo>
                  <a:pt x="57150" y="34971"/>
                </a:lnTo>
                <a:lnTo>
                  <a:pt x="63545" y="28575"/>
                </a:lnTo>
                <a:lnTo>
                  <a:pt x="85724" y="28575"/>
                </a:lnTo>
                <a:lnTo>
                  <a:pt x="85725" y="0"/>
                </a:lnTo>
                <a:close/>
              </a:path>
              <a:path w="527050" h="85725">
                <a:moveTo>
                  <a:pt x="440984" y="28576"/>
                </a:moveTo>
                <a:lnTo>
                  <a:pt x="440984" y="57151"/>
                </a:lnTo>
                <a:lnTo>
                  <a:pt x="463163" y="57150"/>
                </a:lnTo>
                <a:lnTo>
                  <a:pt x="469559" y="50754"/>
                </a:lnTo>
                <a:lnTo>
                  <a:pt x="469559" y="34971"/>
                </a:lnTo>
                <a:lnTo>
                  <a:pt x="463162" y="28576"/>
                </a:lnTo>
                <a:lnTo>
                  <a:pt x="440984" y="28576"/>
                </a:lnTo>
                <a:close/>
              </a:path>
              <a:path w="527050" h="85725">
                <a:moveTo>
                  <a:pt x="440984" y="1"/>
                </a:moveTo>
                <a:lnTo>
                  <a:pt x="440984" y="28576"/>
                </a:lnTo>
                <a:lnTo>
                  <a:pt x="455272" y="28576"/>
                </a:lnTo>
                <a:lnTo>
                  <a:pt x="463162" y="28576"/>
                </a:lnTo>
                <a:lnTo>
                  <a:pt x="469559" y="34971"/>
                </a:lnTo>
                <a:lnTo>
                  <a:pt x="469559" y="50754"/>
                </a:lnTo>
                <a:lnTo>
                  <a:pt x="463162" y="57151"/>
                </a:lnTo>
                <a:lnTo>
                  <a:pt x="498137" y="57150"/>
                </a:lnTo>
                <a:lnTo>
                  <a:pt x="526709" y="42863"/>
                </a:lnTo>
                <a:lnTo>
                  <a:pt x="440984" y="1"/>
                </a:lnTo>
                <a:close/>
              </a:path>
              <a:path w="527050" h="85725">
                <a:moveTo>
                  <a:pt x="85724" y="28575"/>
                </a:moveTo>
                <a:lnTo>
                  <a:pt x="85724" y="57150"/>
                </a:lnTo>
                <a:lnTo>
                  <a:pt x="440984" y="57151"/>
                </a:lnTo>
                <a:lnTo>
                  <a:pt x="440984" y="28576"/>
                </a:lnTo>
                <a:lnTo>
                  <a:pt x="85724" y="28575"/>
                </a:lnTo>
                <a:close/>
              </a:path>
              <a:path w="527050" h="85725">
                <a:moveTo>
                  <a:pt x="71437" y="28575"/>
                </a:moveTo>
                <a:lnTo>
                  <a:pt x="63544" y="28576"/>
                </a:lnTo>
                <a:lnTo>
                  <a:pt x="57150" y="34971"/>
                </a:lnTo>
                <a:lnTo>
                  <a:pt x="57151" y="50754"/>
                </a:lnTo>
                <a:lnTo>
                  <a:pt x="63545" y="57150"/>
                </a:lnTo>
                <a:lnTo>
                  <a:pt x="85724" y="57150"/>
                </a:lnTo>
                <a:lnTo>
                  <a:pt x="85724" y="28575"/>
                </a:lnTo>
                <a:lnTo>
                  <a:pt x="71437" y="28575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198721" y="2747771"/>
            <a:ext cx="187198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C00000"/>
                </a:solidFill>
                <a:latin typeface="Corbel"/>
                <a:cs typeface="Corbel"/>
              </a:rPr>
              <a:t>High </a:t>
            </a:r>
            <a:r>
              <a:rPr dirty="0" sz="1800" b="1">
                <a:solidFill>
                  <a:srgbClr val="C00000"/>
                </a:solidFill>
                <a:latin typeface="Corbel"/>
                <a:cs typeface="Corbel"/>
              </a:rPr>
              <a:t>MMD</a:t>
            </a:r>
            <a:r>
              <a:rPr dirty="0" sz="1800" spc="30" b="1">
                <a:solidFill>
                  <a:srgbClr val="C00000"/>
                </a:solidFill>
                <a:latin typeface="Corbel"/>
                <a:cs typeface="Corbel"/>
              </a:rPr>
              <a:t> </a:t>
            </a:r>
            <a:r>
              <a:rPr dirty="0" baseline="-31944" sz="3000">
                <a:latin typeface="Cambria Math"/>
                <a:cs typeface="Cambria Math"/>
              </a:rPr>
              <a:t>{6,1,2}</a:t>
            </a:r>
            <a:endParaRPr baseline="-31944" sz="30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56563" y="3318764"/>
            <a:ext cx="7740015" cy="1049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0">
              <a:lnSpc>
                <a:spcPts val="2135"/>
              </a:lnSpc>
              <a:spcBef>
                <a:spcPts val="100"/>
              </a:spcBef>
            </a:pPr>
            <a:r>
              <a:rPr dirty="0" sz="1800" spc="-5" b="1">
                <a:latin typeface="Corbel"/>
                <a:cs typeface="Corbel"/>
              </a:rPr>
              <a:t>Similarity between set elements: </a:t>
            </a:r>
            <a:r>
              <a:rPr dirty="0" sz="1800" spc="-5" b="1">
                <a:solidFill>
                  <a:srgbClr val="C00000"/>
                </a:solidFill>
                <a:latin typeface="Corbel"/>
                <a:cs typeface="Corbel"/>
              </a:rPr>
              <a:t>L2</a:t>
            </a:r>
            <a:r>
              <a:rPr dirty="0" sz="1800" spc="50" b="1">
                <a:solidFill>
                  <a:srgbClr val="C00000"/>
                </a:solidFill>
                <a:latin typeface="Corbel"/>
                <a:cs typeface="Corbel"/>
              </a:rPr>
              <a:t> </a:t>
            </a:r>
            <a:r>
              <a:rPr dirty="0" sz="1800" spc="-5" b="1">
                <a:solidFill>
                  <a:srgbClr val="C00000"/>
                </a:solidFill>
                <a:latin typeface="Corbel"/>
                <a:cs typeface="Corbel"/>
              </a:rPr>
              <a:t>distance</a:t>
            </a:r>
            <a:endParaRPr sz="1800">
              <a:latin typeface="Corbel"/>
              <a:cs typeface="Corbel"/>
            </a:endParaRPr>
          </a:p>
          <a:p>
            <a:pPr algn="ctr" marL="173355">
              <a:lnSpc>
                <a:spcPts val="2135"/>
              </a:lnSpc>
            </a:pPr>
            <a:r>
              <a:rPr dirty="0" sz="1800" spc="-5">
                <a:latin typeface="Corbel"/>
                <a:cs typeface="Corbel"/>
              </a:rPr>
              <a:t>(Each element is </a:t>
            </a:r>
            <a:r>
              <a:rPr dirty="0" sz="1800">
                <a:latin typeface="Corbel"/>
                <a:cs typeface="Corbel"/>
              </a:rPr>
              <a:t>a</a:t>
            </a:r>
            <a:r>
              <a:rPr dirty="0" sz="1800" spc="-15">
                <a:latin typeface="Corbel"/>
                <a:cs typeface="Corbel"/>
              </a:rPr>
              <a:t> </a:t>
            </a:r>
            <a:r>
              <a:rPr dirty="0" sz="1800" spc="-5">
                <a:latin typeface="Corbel"/>
                <a:cs typeface="Corbel"/>
              </a:rPr>
              <a:t>scalar)</a:t>
            </a:r>
            <a:endParaRPr sz="1800">
              <a:latin typeface="Corbel"/>
              <a:cs typeface="Corbel"/>
            </a:endParaRPr>
          </a:p>
          <a:p>
            <a:pPr marL="287020" indent="-274320">
              <a:lnSpc>
                <a:spcPct val="100000"/>
              </a:lnSpc>
              <a:spcBef>
                <a:spcPts val="91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400" spc="-10" b="1">
                <a:latin typeface="Calibri"/>
                <a:cs typeface="Calibri"/>
              </a:rPr>
              <a:t>Recall: </a:t>
            </a:r>
            <a:r>
              <a:rPr dirty="0" sz="2400" spc="-45" b="1">
                <a:latin typeface="Calibri"/>
                <a:cs typeface="Calibri"/>
              </a:rPr>
              <a:t>We </a:t>
            </a:r>
            <a:r>
              <a:rPr dirty="0" sz="2400" spc="-10" b="1">
                <a:latin typeface="Calibri"/>
                <a:cs typeface="Calibri"/>
              </a:rPr>
              <a:t>compare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2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sets of 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graph statistics</a:t>
            </a:r>
            <a:r>
              <a:rPr dirty="0" sz="2400" spc="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30" b="1">
                <a:latin typeface="Calibri"/>
                <a:cs typeface="Calibri"/>
              </a:rPr>
              <a:t>(distributions)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452871" y="4913376"/>
            <a:ext cx="165100" cy="617220"/>
          </a:xfrm>
          <a:custGeom>
            <a:avLst/>
            <a:gdLst/>
            <a:ahLst/>
            <a:cxnLst/>
            <a:rect l="l" t="t" r="r" b="b"/>
            <a:pathLst>
              <a:path w="165100" h="617220">
                <a:moveTo>
                  <a:pt x="164591" y="0"/>
                </a:moveTo>
                <a:lnTo>
                  <a:pt x="0" y="0"/>
                </a:lnTo>
                <a:lnTo>
                  <a:pt x="0" y="616600"/>
                </a:lnTo>
                <a:lnTo>
                  <a:pt x="164591" y="616600"/>
                </a:lnTo>
                <a:lnTo>
                  <a:pt x="16459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650991" y="5017008"/>
            <a:ext cx="165100" cy="513080"/>
          </a:xfrm>
          <a:custGeom>
            <a:avLst/>
            <a:gdLst/>
            <a:ahLst/>
            <a:cxnLst/>
            <a:rect l="l" t="t" r="r" b="b"/>
            <a:pathLst>
              <a:path w="165100" h="513079">
                <a:moveTo>
                  <a:pt x="164592" y="0"/>
                </a:moveTo>
                <a:lnTo>
                  <a:pt x="0" y="0"/>
                </a:lnTo>
                <a:lnTo>
                  <a:pt x="0" y="512968"/>
                </a:lnTo>
                <a:lnTo>
                  <a:pt x="164592" y="512968"/>
                </a:lnTo>
                <a:lnTo>
                  <a:pt x="16459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849111" y="5181600"/>
            <a:ext cx="165100" cy="348615"/>
          </a:xfrm>
          <a:custGeom>
            <a:avLst/>
            <a:gdLst/>
            <a:ahLst/>
            <a:cxnLst/>
            <a:rect l="l" t="t" r="r" b="b"/>
            <a:pathLst>
              <a:path w="165100" h="348614">
                <a:moveTo>
                  <a:pt x="164591" y="0"/>
                </a:moveTo>
                <a:lnTo>
                  <a:pt x="0" y="0"/>
                </a:lnTo>
                <a:lnTo>
                  <a:pt x="0" y="348376"/>
                </a:lnTo>
                <a:lnTo>
                  <a:pt x="164591" y="348376"/>
                </a:lnTo>
                <a:lnTo>
                  <a:pt x="16459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047232" y="4953000"/>
            <a:ext cx="165100" cy="577215"/>
          </a:xfrm>
          <a:custGeom>
            <a:avLst/>
            <a:gdLst/>
            <a:ahLst/>
            <a:cxnLst/>
            <a:rect l="l" t="t" r="r" b="b"/>
            <a:pathLst>
              <a:path w="165100" h="577214">
                <a:moveTo>
                  <a:pt x="164591" y="0"/>
                </a:moveTo>
                <a:lnTo>
                  <a:pt x="0" y="0"/>
                </a:lnTo>
                <a:lnTo>
                  <a:pt x="0" y="576976"/>
                </a:lnTo>
                <a:lnTo>
                  <a:pt x="164591" y="576976"/>
                </a:lnTo>
                <a:lnTo>
                  <a:pt x="16459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522719" y="4742688"/>
            <a:ext cx="165100" cy="779780"/>
          </a:xfrm>
          <a:custGeom>
            <a:avLst/>
            <a:gdLst/>
            <a:ahLst/>
            <a:cxnLst/>
            <a:rect l="l" t="t" r="r" b="b"/>
            <a:pathLst>
              <a:path w="165100" h="779779">
                <a:moveTo>
                  <a:pt x="164591" y="0"/>
                </a:moveTo>
                <a:lnTo>
                  <a:pt x="0" y="0"/>
                </a:lnTo>
                <a:lnTo>
                  <a:pt x="0" y="779405"/>
                </a:lnTo>
                <a:lnTo>
                  <a:pt x="164591" y="779405"/>
                </a:lnTo>
                <a:lnTo>
                  <a:pt x="16459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720840" y="5178552"/>
            <a:ext cx="165100" cy="344170"/>
          </a:xfrm>
          <a:custGeom>
            <a:avLst/>
            <a:gdLst/>
            <a:ahLst/>
            <a:cxnLst/>
            <a:rect l="l" t="t" r="r" b="b"/>
            <a:pathLst>
              <a:path w="165100" h="344170">
                <a:moveTo>
                  <a:pt x="164591" y="0"/>
                </a:moveTo>
                <a:lnTo>
                  <a:pt x="0" y="0"/>
                </a:lnTo>
                <a:lnTo>
                  <a:pt x="0" y="343541"/>
                </a:lnTo>
                <a:lnTo>
                  <a:pt x="164591" y="343541"/>
                </a:lnTo>
                <a:lnTo>
                  <a:pt x="16459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918959" y="5367528"/>
            <a:ext cx="165100" cy="154940"/>
          </a:xfrm>
          <a:custGeom>
            <a:avLst/>
            <a:gdLst/>
            <a:ahLst/>
            <a:cxnLst/>
            <a:rect l="l" t="t" r="r" b="b"/>
            <a:pathLst>
              <a:path w="165100" h="154939">
                <a:moveTo>
                  <a:pt x="164592" y="0"/>
                </a:moveTo>
                <a:lnTo>
                  <a:pt x="0" y="0"/>
                </a:lnTo>
                <a:lnTo>
                  <a:pt x="0" y="154565"/>
                </a:lnTo>
                <a:lnTo>
                  <a:pt x="164592" y="154565"/>
                </a:lnTo>
                <a:lnTo>
                  <a:pt x="16459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114031" y="5242559"/>
            <a:ext cx="165100" cy="280035"/>
          </a:xfrm>
          <a:custGeom>
            <a:avLst/>
            <a:gdLst/>
            <a:ahLst/>
            <a:cxnLst/>
            <a:rect l="l" t="t" r="r" b="b"/>
            <a:pathLst>
              <a:path w="165100" h="280035">
                <a:moveTo>
                  <a:pt x="164592" y="0"/>
                </a:moveTo>
                <a:lnTo>
                  <a:pt x="0" y="0"/>
                </a:lnTo>
                <a:lnTo>
                  <a:pt x="0" y="279533"/>
                </a:lnTo>
                <a:lnTo>
                  <a:pt x="164592" y="279533"/>
                </a:lnTo>
                <a:lnTo>
                  <a:pt x="16459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592568" y="4675632"/>
            <a:ext cx="165100" cy="854710"/>
          </a:xfrm>
          <a:custGeom>
            <a:avLst/>
            <a:gdLst/>
            <a:ahLst/>
            <a:cxnLst/>
            <a:rect l="l" t="t" r="r" b="b"/>
            <a:pathLst>
              <a:path w="165100" h="854710">
                <a:moveTo>
                  <a:pt x="164591" y="0"/>
                </a:moveTo>
                <a:lnTo>
                  <a:pt x="0" y="0"/>
                </a:lnTo>
                <a:lnTo>
                  <a:pt x="0" y="854344"/>
                </a:lnTo>
                <a:lnTo>
                  <a:pt x="164591" y="854344"/>
                </a:lnTo>
                <a:lnTo>
                  <a:pt x="16459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787640" y="5102352"/>
            <a:ext cx="165100" cy="427990"/>
          </a:xfrm>
          <a:custGeom>
            <a:avLst/>
            <a:gdLst/>
            <a:ahLst/>
            <a:cxnLst/>
            <a:rect l="l" t="t" r="r" b="b"/>
            <a:pathLst>
              <a:path w="165100" h="427989">
                <a:moveTo>
                  <a:pt x="164591" y="0"/>
                </a:moveTo>
                <a:lnTo>
                  <a:pt x="0" y="0"/>
                </a:lnTo>
                <a:lnTo>
                  <a:pt x="0" y="427624"/>
                </a:lnTo>
                <a:lnTo>
                  <a:pt x="164591" y="427624"/>
                </a:lnTo>
                <a:lnTo>
                  <a:pt x="16459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985759" y="5209032"/>
            <a:ext cx="165100" cy="321310"/>
          </a:xfrm>
          <a:custGeom>
            <a:avLst/>
            <a:gdLst/>
            <a:ahLst/>
            <a:cxnLst/>
            <a:rect l="l" t="t" r="r" b="b"/>
            <a:pathLst>
              <a:path w="165100" h="321310">
                <a:moveTo>
                  <a:pt x="164592" y="0"/>
                </a:moveTo>
                <a:lnTo>
                  <a:pt x="0" y="0"/>
                </a:lnTo>
                <a:lnTo>
                  <a:pt x="0" y="320944"/>
                </a:lnTo>
                <a:lnTo>
                  <a:pt x="164592" y="320944"/>
                </a:lnTo>
                <a:lnTo>
                  <a:pt x="16459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8183880" y="4995671"/>
            <a:ext cx="165100" cy="534670"/>
          </a:xfrm>
          <a:custGeom>
            <a:avLst/>
            <a:gdLst/>
            <a:ahLst/>
            <a:cxnLst/>
            <a:rect l="l" t="t" r="r" b="b"/>
            <a:pathLst>
              <a:path w="165100" h="534670">
                <a:moveTo>
                  <a:pt x="164592" y="0"/>
                </a:moveTo>
                <a:lnTo>
                  <a:pt x="0" y="0"/>
                </a:lnTo>
                <a:lnTo>
                  <a:pt x="0" y="534304"/>
                </a:lnTo>
                <a:lnTo>
                  <a:pt x="164592" y="534304"/>
                </a:lnTo>
                <a:lnTo>
                  <a:pt x="16459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2968823" y="5894323"/>
            <a:ext cx="3799840" cy="565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125"/>
              </a:lnSpc>
              <a:spcBef>
                <a:spcPts val="100"/>
              </a:spcBef>
            </a:pPr>
            <a:r>
              <a:rPr dirty="0" sz="1800" spc="-5" b="1">
                <a:latin typeface="Corbel"/>
                <a:cs typeface="Corbel"/>
              </a:rPr>
              <a:t>Similarity between set elements:</a:t>
            </a:r>
            <a:r>
              <a:rPr dirty="0" sz="1800" spc="30" b="1">
                <a:latin typeface="Corbel"/>
                <a:cs typeface="Corbe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Corbel"/>
                <a:cs typeface="Corbel"/>
              </a:rPr>
              <a:t>EMD</a:t>
            </a:r>
            <a:endParaRPr sz="1800">
              <a:latin typeface="Corbel"/>
              <a:cs typeface="Corbel"/>
            </a:endParaRPr>
          </a:p>
          <a:p>
            <a:pPr algn="ctr" marL="38735">
              <a:lnSpc>
                <a:spcPts val="2125"/>
              </a:lnSpc>
            </a:pPr>
            <a:r>
              <a:rPr dirty="0" sz="1800" spc="-5">
                <a:latin typeface="Corbel"/>
                <a:cs typeface="Corbel"/>
              </a:rPr>
              <a:t>(Each element is </a:t>
            </a:r>
            <a:r>
              <a:rPr dirty="0" sz="1800">
                <a:latin typeface="Corbel"/>
                <a:cs typeface="Corbel"/>
              </a:rPr>
              <a:t>a</a:t>
            </a:r>
            <a:r>
              <a:rPr dirty="0" sz="1800" spc="25">
                <a:latin typeface="Corbel"/>
                <a:cs typeface="Corbel"/>
              </a:rPr>
              <a:t> </a:t>
            </a:r>
            <a:r>
              <a:rPr dirty="0" sz="1800" spc="-10">
                <a:latin typeface="Corbel"/>
                <a:cs typeface="Corbel"/>
              </a:rPr>
              <a:t>distribution)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83437" y="4955540"/>
            <a:ext cx="2025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Cambria Math"/>
                <a:cs typeface="Cambria Math"/>
              </a:rPr>
              <a:t>{</a:t>
            </a:r>
            <a:endParaRPr sz="36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861649" y="4955539"/>
            <a:ext cx="493204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63650" algn="l"/>
                <a:tab pos="4741545" algn="l"/>
              </a:tabLst>
            </a:pPr>
            <a:r>
              <a:rPr dirty="0" sz="3600">
                <a:latin typeface="Cambria Math"/>
                <a:cs typeface="Cambria Math"/>
              </a:rPr>
              <a:t>}	</a:t>
            </a:r>
            <a:r>
              <a:rPr dirty="0" sz="3600">
                <a:latin typeface="Cambria Math"/>
                <a:cs typeface="Cambria Math"/>
              </a:rPr>
              <a:t>{	}</a:t>
            </a:r>
            <a:endParaRPr sz="3600">
              <a:latin typeface="Cambria Math"/>
              <a:cs typeface="Cambria Math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364700" y="5315238"/>
            <a:ext cx="527050" cy="86360"/>
          </a:xfrm>
          <a:custGeom>
            <a:avLst/>
            <a:gdLst/>
            <a:ahLst/>
            <a:cxnLst/>
            <a:rect l="l" t="t" r="r" b="b"/>
            <a:pathLst>
              <a:path w="527050" h="86360">
                <a:moveTo>
                  <a:pt x="440984" y="57151"/>
                </a:moveTo>
                <a:lnTo>
                  <a:pt x="440984" y="85726"/>
                </a:lnTo>
                <a:lnTo>
                  <a:pt x="498134" y="57151"/>
                </a:lnTo>
                <a:lnTo>
                  <a:pt x="440984" y="57151"/>
                </a:lnTo>
                <a:close/>
              </a:path>
              <a:path w="527050" h="86360">
                <a:moveTo>
                  <a:pt x="85725" y="0"/>
                </a:moveTo>
                <a:lnTo>
                  <a:pt x="0" y="42862"/>
                </a:lnTo>
                <a:lnTo>
                  <a:pt x="85723" y="85725"/>
                </a:lnTo>
                <a:lnTo>
                  <a:pt x="85724" y="57150"/>
                </a:lnTo>
                <a:lnTo>
                  <a:pt x="63545" y="57150"/>
                </a:lnTo>
                <a:lnTo>
                  <a:pt x="57151" y="50754"/>
                </a:lnTo>
                <a:lnTo>
                  <a:pt x="57150" y="34971"/>
                </a:lnTo>
                <a:lnTo>
                  <a:pt x="63545" y="28575"/>
                </a:lnTo>
                <a:lnTo>
                  <a:pt x="85724" y="28575"/>
                </a:lnTo>
                <a:lnTo>
                  <a:pt x="85725" y="0"/>
                </a:lnTo>
                <a:close/>
              </a:path>
              <a:path w="527050" h="86360">
                <a:moveTo>
                  <a:pt x="440984" y="28576"/>
                </a:moveTo>
                <a:lnTo>
                  <a:pt x="440984" y="57151"/>
                </a:lnTo>
                <a:lnTo>
                  <a:pt x="463163" y="57150"/>
                </a:lnTo>
                <a:lnTo>
                  <a:pt x="469559" y="50754"/>
                </a:lnTo>
                <a:lnTo>
                  <a:pt x="469559" y="34971"/>
                </a:lnTo>
                <a:lnTo>
                  <a:pt x="463162" y="28576"/>
                </a:lnTo>
                <a:lnTo>
                  <a:pt x="440984" y="28576"/>
                </a:lnTo>
                <a:close/>
              </a:path>
              <a:path w="527050" h="86360">
                <a:moveTo>
                  <a:pt x="440984" y="1"/>
                </a:moveTo>
                <a:lnTo>
                  <a:pt x="440984" y="28576"/>
                </a:lnTo>
                <a:lnTo>
                  <a:pt x="455272" y="28576"/>
                </a:lnTo>
                <a:lnTo>
                  <a:pt x="463162" y="28576"/>
                </a:lnTo>
                <a:lnTo>
                  <a:pt x="469559" y="34971"/>
                </a:lnTo>
                <a:lnTo>
                  <a:pt x="469559" y="50754"/>
                </a:lnTo>
                <a:lnTo>
                  <a:pt x="463162" y="57151"/>
                </a:lnTo>
                <a:lnTo>
                  <a:pt x="498137" y="57150"/>
                </a:lnTo>
                <a:lnTo>
                  <a:pt x="526709" y="42863"/>
                </a:lnTo>
                <a:lnTo>
                  <a:pt x="440984" y="1"/>
                </a:lnTo>
                <a:close/>
              </a:path>
              <a:path w="527050" h="86360">
                <a:moveTo>
                  <a:pt x="85724" y="28575"/>
                </a:moveTo>
                <a:lnTo>
                  <a:pt x="85724" y="57150"/>
                </a:lnTo>
                <a:lnTo>
                  <a:pt x="440984" y="57151"/>
                </a:lnTo>
                <a:lnTo>
                  <a:pt x="440984" y="28576"/>
                </a:lnTo>
                <a:lnTo>
                  <a:pt x="85724" y="28575"/>
                </a:lnTo>
                <a:close/>
              </a:path>
              <a:path w="527050" h="86360">
                <a:moveTo>
                  <a:pt x="71437" y="28575"/>
                </a:moveTo>
                <a:lnTo>
                  <a:pt x="63544" y="28576"/>
                </a:lnTo>
                <a:lnTo>
                  <a:pt x="57150" y="34971"/>
                </a:lnTo>
                <a:lnTo>
                  <a:pt x="57151" y="50754"/>
                </a:lnTo>
                <a:lnTo>
                  <a:pt x="63545" y="57150"/>
                </a:lnTo>
                <a:lnTo>
                  <a:pt x="85724" y="57150"/>
                </a:lnTo>
                <a:lnTo>
                  <a:pt x="85724" y="28575"/>
                </a:lnTo>
                <a:lnTo>
                  <a:pt x="71437" y="28575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4361793" y="4928108"/>
            <a:ext cx="5613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C00000"/>
                </a:solidFill>
                <a:latin typeface="Corbel"/>
                <a:cs typeface="Corbel"/>
              </a:rPr>
              <a:t>MMD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2673615" y="6699893"/>
            <a:ext cx="4027804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5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51</a:t>
            </a:fld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697382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415988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0">
                <a:latin typeface="Calibri"/>
                <a:cs typeface="Calibri"/>
              </a:rPr>
              <a:t>Putting </a:t>
            </a:r>
            <a:r>
              <a:rPr dirty="0" sz="3200" b="0">
                <a:latin typeface="Calibri"/>
                <a:cs typeface="Calibri"/>
              </a:rPr>
              <a:t>things </a:t>
            </a:r>
            <a:r>
              <a:rPr dirty="0" sz="3200" spc="-15" b="0">
                <a:latin typeface="Calibri"/>
                <a:cs typeface="Calibri"/>
              </a:rPr>
              <a:t>together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14232" y="2219705"/>
            <a:ext cx="2847339" cy="7409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79825" y="2137352"/>
            <a:ext cx="3016250" cy="933450"/>
          </a:xfrm>
          <a:custGeom>
            <a:avLst/>
            <a:gdLst/>
            <a:ahLst/>
            <a:cxnLst/>
            <a:rect l="l" t="t" r="r" b="b"/>
            <a:pathLst>
              <a:path w="3016250" h="933450">
                <a:moveTo>
                  <a:pt x="2854320" y="0"/>
                </a:moveTo>
                <a:lnTo>
                  <a:pt x="144909" y="1269"/>
                </a:lnTo>
                <a:lnTo>
                  <a:pt x="98472" y="13969"/>
                </a:lnTo>
                <a:lnTo>
                  <a:pt x="71381" y="27939"/>
                </a:lnTo>
                <a:lnTo>
                  <a:pt x="71009" y="27939"/>
                </a:lnTo>
                <a:lnTo>
                  <a:pt x="47632" y="48260"/>
                </a:lnTo>
                <a:lnTo>
                  <a:pt x="47202" y="48260"/>
                </a:lnTo>
                <a:lnTo>
                  <a:pt x="27914" y="71119"/>
                </a:lnTo>
                <a:lnTo>
                  <a:pt x="27650" y="72389"/>
                </a:lnTo>
                <a:lnTo>
                  <a:pt x="19338" y="86360"/>
                </a:lnTo>
                <a:lnTo>
                  <a:pt x="12556" y="100330"/>
                </a:lnTo>
                <a:lnTo>
                  <a:pt x="7151" y="114300"/>
                </a:lnTo>
                <a:lnTo>
                  <a:pt x="3205" y="130810"/>
                </a:lnTo>
                <a:lnTo>
                  <a:pt x="798" y="146050"/>
                </a:lnTo>
                <a:lnTo>
                  <a:pt x="0" y="162560"/>
                </a:lnTo>
                <a:lnTo>
                  <a:pt x="12" y="772160"/>
                </a:lnTo>
                <a:lnTo>
                  <a:pt x="7432" y="820420"/>
                </a:lnTo>
                <a:lnTo>
                  <a:pt x="27649" y="862329"/>
                </a:lnTo>
                <a:lnTo>
                  <a:pt x="27915" y="863600"/>
                </a:lnTo>
                <a:lnTo>
                  <a:pt x="47202" y="886460"/>
                </a:lnTo>
                <a:lnTo>
                  <a:pt x="47632" y="886460"/>
                </a:lnTo>
                <a:lnTo>
                  <a:pt x="71009" y="906779"/>
                </a:lnTo>
                <a:lnTo>
                  <a:pt x="71381" y="906779"/>
                </a:lnTo>
                <a:lnTo>
                  <a:pt x="85150" y="914400"/>
                </a:lnTo>
                <a:lnTo>
                  <a:pt x="99332" y="922020"/>
                </a:lnTo>
                <a:lnTo>
                  <a:pt x="114236" y="927100"/>
                </a:lnTo>
                <a:lnTo>
                  <a:pt x="129776" y="930910"/>
                </a:lnTo>
                <a:lnTo>
                  <a:pt x="145865" y="933450"/>
                </a:lnTo>
                <a:lnTo>
                  <a:pt x="2871341" y="933450"/>
                </a:lnTo>
                <a:lnTo>
                  <a:pt x="2887408" y="930910"/>
                </a:lnTo>
                <a:lnTo>
                  <a:pt x="2902914" y="927100"/>
                </a:lnTo>
                <a:lnTo>
                  <a:pt x="2911832" y="923289"/>
                </a:lnTo>
                <a:lnTo>
                  <a:pt x="161928" y="923289"/>
                </a:lnTo>
                <a:lnTo>
                  <a:pt x="146442" y="922020"/>
                </a:lnTo>
                <a:lnTo>
                  <a:pt x="103260" y="910589"/>
                </a:lnTo>
                <a:lnTo>
                  <a:pt x="55516" y="878839"/>
                </a:lnTo>
                <a:lnTo>
                  <a:pt x="29547" y="843279"/>
                </a:lnTo>
                <a:lnTo>
                  <a:pt x="14466" y="802639"/>
                </a:lnTo>
                <a:lnTo>
                  <a:pt x="11427" y="772160"/>
                </a:lnTo>
                <a:lnTo>
                  <a:pt x="11429" y="162560"/>
                </a:lnTo>
                <a:lnTo>
                  <a:pt x="18221" y="118110"/>
                </a:lnTo>
                <a:lnTo>
                  <a:pt x="37109" y="78739"/>
                </a:lnTo>
                <a:lnTo>
                  <a:pt x="77824" y="38100"/>
                </a:lnTo>
                <a:lnTo>
                  <a:pt x="117263" y="19050"/>
                </a:lnTo>
                <a:lnTo>
                  <a:pt x="162024" y="11430"/>
                </a:lnTo>
                <a:lnTo>
                  <a:pt x="2913191" y="11430"/>
                </a:lnTo>
                <a:lnTo>
                  <a:pt x="2902013" y="7619"/>
                </a:lnTo>
                <a:lnTo>
                  <a:pt x="2886473" y="3810"/>
                </a:lnTo>
                <a:lnTo>
                  <a:pt x="2870383" y="1269"/>
                </a:lnTo>
                <a:lnTo>
                  <a:pt x="2854320" y="0"/>
                </a:lnTo>
                <a:close/>
              </a:path>
              <a:path w="3016250" h="933450">
                <a:moveTo>
                  <a:pt x="2913191" y="11430"/>
                </a:moveTo>
                <a:lnTo>
                  <a:pt x="2854320" y="11430"/>
                </a:lnTo>
                <a:lnTo>
                  <a:pt x="2869808" y="12700"/>
                </a:lnTo>
                <a:lnTo>
                  <a:pt x="2884748" y="15239"/>
                </a:lnTo>
                <a:lnTo>
                  <a:pt x="2926139" y="30480"/>
                </a:lnTo>
                <a:lnTo>
                  <a:pt x="2960734" y="55880"/>
                </a:lnTo>
                <a:lnTo>
                  <a:pt x="2986703" y="91439"/>
                </a:lnTo>
                <a:lnTo>
                  <a:pt x="3001783" y="132079"/>
                </a:lnTo>
                <a:lnTo>
                  <a:pt x="3004822" y="162560"/>
                </a:lnTo>
                <a:lnTo>
                  <a:pt x="3004819" y="772160"/>
                </a:lnTo>
                <a:lnTo>
                  <a:pt x="2998027" y="816610"/>
                </a:lnTo>
                <a:lnTo>
                  <a:pt x="2979140" y="855979"/>
                </a:lnTo>
                <a:lnTo>
                  <a:pt x="2938425" y="896620"/>
                </a:lnTo>
                <a:lnTo>
                  <a:pt x="2898986" y="915670"/>
                </a:lnTo>
                <a:lnTo>
                  <a:pt x="2854225" y="923289"/>
                </a:lnTo>
                <a:lnTo>
                  <a:pt x="2911832" y="923289"/>
                </a:lnTo>
                <a:lnTo>
                  <a:pt x="2917777" y="920750"/>
                </a:lnTo>
                <a:lnTo>
                  <a:pt x="2931911" y="914400"/>
                </a:lnTo>
                <a:lnTo>
                  <a:pt x="2944867" y="906779"/>
                </a:lnTo>
                <a:lnTo>
                  <a:pt x="2945240" y="906779"/>
                </a:lnTo>
                <a:lnTo>
                  <a:pt x="2968616" y="886460"/>
                </a:lnTo>
                <a:lnTo>
                  <a:pt x="2969047" y="886460"/>
                </a:lnTo>
                <a:lnTo>
                  <a:pt x="2988335" y="863600"/>
                </a:lnTo>
                <a:lnTo>
                  <a:pt x="2988600" y="862329"/>
                </a:lnTo>
                <a:lnTo>
                  <a:pt x="2996911" y="848360"/>
                </a:lnTo>
                <a:lnTo>
                  <a:pt x="3003693" y="834389"/>
                </a:lnTo>
                <a:lnTo>
                  <a:pt x="3009098" y="820420"/>
                </a:lnTo>
                <a:lnTo>
                  <a:pt x="3013044" y="803910"/>
                </a:lnTo>
                <a:lnTo>
                  <a:pt x="3015450" y="788670"/>
                </a:lnTo>
                <a:lnTo>
                  <a:pt x="3016249" y="772160"/>
                </a:lnTo>
                <a:lnTo>
                  <a:pt x="3016238" y="162560"/>
                </a:lnTo>
                <a:lnTo>
                  <a:pt x="3008817" y="114300"/>
                </a:lnTo>
                <a:lnTo>
                  <a:pt x="2988600" y="72389"/>
                </a:lnTo>
                <a:lnTo>
                  <a:pt x="2988335" y="71119"/>
                </a:lnTo>
                <a:lnTo>
                  <a:pt x="2969047" y="48260"/>
                </a:lnTo>
                <a:lnTo>
                  <a:pt x="2968616" y="48260"/>
                </a:lnTo>
                <a:lnTo>
                  <a:pt x="2945241" y="27939"/>
                </a:lnTo>
                <a:lnTo>
                  <a:pt x="2944867" y="27939"/>
                </a:lnTo>
                <a:lnTo>
                  <a:pt x="2931099" y="20319"/>
                </a:lnTo>
                <a:lnTo>
                  <a:pt x="2916917" y="12700"/>
                </a:lnTo>
                <a:lnTo>
                  <a:pt x="2913191" y="11430"/>
                </a:lnTo>
                <a:close/>
              </a:path>
              <a:path w="3016250" h="933450">
                <a:moveTo>
                  <a:pt x="2854320" y="15239"/>
                </a:moveTo>
                <a:lnTo>
                  <a:pt x="162216" y="15239"/>
                </a:lnTo>
                <a:lnTo>
                  <a:pt x="147208" y="16510"/>
                </a:lnTo>
                <a:lnTo>
                  <a:pt x="105086" y="26669"/>
                </a:lnTo>
                <a:lnTo>
                  <a:pt x="58222" y="58419"/>
                </a:lnTo>
                <a:lnTo>
                  <a:pt x="33068" y="92710"/>
                </a:lnTo>
                <a:lnTo>
                  <a:pt x="18270" y="132079"/>
                </a:lnTo>
                <a:lnTo>
                  <a:pt x="15232" y="772160"/>
                </a:lnTo>
                <a:lnTo>
                  <a:pt x="15961" y="787400"/>
                </a:lnTo>
                <a:lnTo>
                  <a:pt x="26650" y="829310"/>
                </a:lnTo>
                <a:lnTo>
                  <a:pt x="58222" y="876300"/>
                </a:lnTo>
                <a:lnTo>
                  <a:pt x="91764" y="900429"/>
                </a:lnTo>
                <a:lnTo>
                  <a:pt x="132076" y="915670"/>
                </a:lnTo>
                <a:lnTo>
                  <a:pt x="161928" y="919479"/>
                </a:lnTo>
                <a:lnTo>
                  <a:pt x="2854032" y="919479"/>
                </a:lnTo>
                <a:lnTo>
                  <a:pt x="2869041" y="918210"/>
                </a:lnTo>
                <a:lnTo>
                  <a:pt x="2883613" y="915670"/>
                </a:lnTo>
                <a:lnTo>
                  <a:pt x="2853840" y="915670"/>
                </a:lnTo>
                <a:lnTo>
                  <a:pt x="146826" y="914400"/>
                </a:lnTo>
                <a:lnTo>
                  <a:pt x="105880" y="904239"/>
                </a:lnTo>
                <a:lnTo>
                  <a:pt x="60929" y="873760"/>
                </a:lnTo>
                <a:lnTo>
                  <a:pt x="36059" y="839470"/>
                </a:lnTo>
                <a:lnTo>
                  <a:pt x="21846" y="800100"/>
                </a:lnTo>
                <a:lnTo>
                  <a:pt x="19037" y="772160"/>
                </a:lnTo>
                <a:lnTo>
                  <a:pt x="19050" y="162560"/>
                </a:lnTo>
                <a:lnTo>
                  <a:pt x="25601" y="119380"/>
                </a:lnTo>
                <a:lnTo>
                  <a:pt x="43337" y="82550"/>
                </a:lnTo>
                <a:lnTo>
                  <a:pt x="82250" y="44450"/>
                </a:lnTo>
                <a:lnTo>
                  <a:pt x="119882" y="25400"/>
                </a:lnTo>
                <a:lnTo>
                  <a:pt x="162408" y="19050"/>
                </a:lnTo>
                <a:lnTo>
                  <a:pt x="2884173" y="19050"/>
                </a:lnTo>
                <a:lnTo>
                  <a:pt x="2869615" y="16510"/>
                </a:lnTo>
                <a:lnTo>
                  <a:pt x="2854320" y="15239"/>
                </a:lnTo>
                <a:close/>
              </a:path>
              <a:path w="3016250" h="933450">
                <a:moveTo>
                  <a:pt x="2884173" y="19050"/>
                </a:moveTo>
                <a:lnTo>
                  <a:pt x="2854320" y="19050"/>
                </a:lnTo>
                <a:lnTo>
                  <a:pt x="2869423" y="20319"/>
                </a:lnTo>
                <a:lnTo>
                  <a:pt x="2883599" y="22860"/>
                </a:lnTo>
                <a:lnTo>
                  <a:pt x="2922832" y="36830"/>
                </a:lnTo>
                <a:lnTo>
                  <a:pt x="2955321" y="60960"/>
                </a:lnTo>
                <a:lnTo>
                  <a:pt x="2980190" y="95250"/>
                </a:lnTo>
                <a:lnTo>
                  <a:pt x="2994403" y="134620"/>
                </a:lnTo>
                <a:lnTo>
                  <a:pt x="2997212" y="162560"/>
                </a:lnTo>
                <a:lnTo>
                  <a:pt x="2997199" y="772160"/>
                </a:lnTo>
                <a:lnTo>
                  <a:pt x="2990647" y="815339"/>
                </a:lnTo>
                <a:lnTo>
                  <a:pt x="2972913" y="852170"/>
                </a:lnTo>
                <a:lnTo>
                  <a:pt x="2933999" y="890270"/>
                </a:lnTo>
                <a:lnTo>
                  <a:pt x="2896367" y="909320"/>
                </a:lnTo>
                <a:lnTo>
                  <a:pt x="2853840" y="915670"/>
                </a:lnTo>
                <a:lnTo>
                  <a:pt x="2883613" y="915670"/>
                </a:lnTo>
                <a:lnTo>
                  <a:pt x="2923998" y="901700"/>
                </a:lnTo>
                <a:lnTo>
                  <a:pt x="2958027" y="876300"/>
                </a:lnTo>
                <a:lnTo>
                  <a:pt x="2983181" y="842010"/>
                </a:lnTo>
                <a:lnTo>
                  <a:pt x="2997979" y="802639"/>
                </a:lnTo>
                <a:lnTo>
                  <a:pt x="3001017" y="162560"/>
                </a:lnTo>
                <a:lnTo>
                  <a:pt x="3000288" y="147320"/>
                </a:lnTo>
                <a:lnTo>
                  <a:pt x="2989599" y="105410"/>
                </a:lnTo>
                <a:lnTo>
                  <a:pt x="2958027" y="58419"/>
                </a:lnTo>
                <a:lnTo>
                  <a:pt x="2924485" y="34289"/>
                </a:lnTo>
                <a:lnTo>
                  <a:pt x="2898218" y="22860"/>
                </a:lnTo>
                <a:lnTo>
                  <a:pt x="2884173" y="19050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81734" y="2275314"/>
            <a:ext cx="2897291" cy="7177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772302" y="2137352"/>
            <a:ext cx="3016250" cy="933450"/>
          </a:xfrm>
          <a:custGeom>
            <a:avLst/>
            <a:gdLst/>
            <a:ahLst/>
            <a:cxnLst/>
            <a:rect l="l" t="t" r="r" b="b"/>
            <a:pathLst>
              <a:path w="3016250" h="933450">
                <a:moveTo>
                  <a:pt x="2854321" y="0"/>
                </a:moveTo>
                <a:lnTo>
                  <a:pt x="144908" y="1269"/>
                </a:lnTo>
                <a:lnTo>
                  <a:pt x="98471" y="13969"/>
                </a:lnTo>
                <a:lnTo>
                  <a:pt x="71381" y="27939"/>
                </a:lnTo>
                <a:lnTo>
                  <a:pt x="71009" y="27939"/>
                </a:lnTo>
                <a:lnTo>
                  <a:pt x="47632" y="48260"/>
                </a:lnTo>
                <a:lnTo>
                  <a:pt x="47202" y="48260"/>
                </a:lnTo>
                <a:lnTo>
                  <a:pt x="27914" y="71119"/>
                </a:lnTo>
                <a:lnTo>
                  <a:pt x="27649" y="72389"/>
                </a:lnTo>
                <a:lnTo>
                  <a:pt x="19338" y="86360"/>
                </a:lnTo>
                <a:lnTo>
                  <a:pt x="12556" y="100330"/>
                </a:lnTo>
                <a:lnTo>
                  <a:pt x="7151" y="114300"/>
                </a:lnTo>
                <a:lnTo>
                  <a:pt x="3205" y="130810"/>
                </a:lnTo>
                <a:lnTo>
                  <a:pt x="798" y="146050"/>
                </a:lnTo>
                <a:lnTo>
                  <a:pt x="0" y="162560"/>
                </a:lnTo>
                <a:lnTo>
                  <a:pt x="11" y="772160"/>
                </a:lnTo>
                <a:lnTo>
                  <a:pt x="7432" y="820420"/>
                </a:lnTo>
                <a:lnTo>
                  <a:pt x="27649" y="862329"/>
                </a:lnTo>
                <a:lnTo>
                  <a:pt x="27914" y="863600"/>
                </a:lnTo>
                <a:lnTo>
                  <a:pt x="47202" y="886460"/>
                </a:lnTo>
                <a:lnTo>
                  <a:pt x="47632" y="886460"/>
                </a:lnTo>
                <a:lnTo>
                  <a:pt x="71009" y="906779"/>
                </a:lnTo>
                <a:lnTo>
                  <a:pt x="71381" y="906779"/>
                </a:lnTo>
                <a:lnTo>
                  <a:pt x="85149" y="914400"/>
                </a:lnTo>
                <a:lnTo>
                  <a:pt x="99331" y="922020"/>
                </a:lnTo>
                <a:lnTo>
                  <a:pt x="114236" y="927100"/>
                </a:lnTo>
                <a:lnTo>
                  <a:pt x="129776" y="930910"/>
                </a:lnTo>
                <a:lnTo>
                  <a:pt x="145865" y="933450"/>
                </a:lnTo>
                <a:lnTo>
                  <a:pt x="2871340" y="933450"/>
                </a:lnTo>
                <a:lnTo>
                  <a:pt x="2887407" y="930910"/>
                </a:lnTo>
                <a:lnTo>
                  <a:pt x="2902915" y="927100"/>
                </a:lnTo>
                <a:lnTo>
                  <a:pt x="2911832" y="923289"/>
                </a:lnTo>
                <a:lnTo>
                  <a:pt x="161928" y="923289"/>
                </a:lnTo>
                <a:lnTo>
                  <a:pt x="146442" y="922020"/>
                </a:lnTo>
                <a:lnTo>
                  <a:pt x="103261" y="910589"/>
                </a:lnTo>
                <a:lnTo>
                  <a:pt x="55515" y="878839"/>
                </a:lnTo>
                <a:lnTo>
                  <a:pt x="29546" y="843279"/>
                </a:lnTo>
                <a:lnTo>
                  <a:pt x="14465" y="802639"/>
                </a:lnTo>
                <a:lnTo>
                  <a:pt x="11427" y="772160"/>
                </a:lnTo>
                <a:lnTo>
                  <a:pt x="11429" y="162560"/>
                </a:lnTo>
                <a:lnTo>
                  <a:pt x="18221" y="118110"/>
                </a:lnTo>
                <a:lnTo>
                  <a:pt x="37109" y="78739"/>
                </a:lnTo>
                <a:lnTo>
                  <a:pt x="77824" y="38100"/>
                </a:lnTo>
                <a:lnTo>
                  <a:pt x="117262" y="19050"/>
                </a:lnTo>
                <a:lnTo>
                  <a:pt x="162024" y="11430"/>
                </a:lnTo>
                <a:lnTo>
                  <a:pt x="2913191" y="11430"/>
                </a:lnTo>
                <a:lnTo>
                  <a:pt x="2902013" y="7619"/>
                </a:lnTo>
                <a:lnTo>
                  <a:pt x="2886472" y="3810"/>
                </a:lnTo>
                <a:lnTo>
                  <a:pt x="2870384" y="1269"/>
                </a:lnTo>
                <a:lnTo>
                  <a:pt x="2854321" y="0"/>
                </a:lnTo>
                <a:close/>
              </a:path>
              <a:path w="3016250" h="933450">
                <a:moveTo>
                  <a:pt x="2913191" y="11430"/>
                </a:moveTo>
                <a:lnTo>
                  <a:pt x="2854321" y="11430"/>
                </a:lnTo>
                <a:lnTo>
                  <a:pt x="2869807" y="12700"/>
                </a:lnTo>
                <a:lnTo>
                  <a:pt x="2884747" y="15239"/>
                </a:lnTo>
                <a:lnTo>
                  <a:pt x="2926138" y="30480"/>
                </a:lnTo>
                <a:lnTo>
                  <a:pt x="2960733" y="55880"/>
                </a:lnTo>
                <a:lnTo>
                  <a:pt x="2986702" y="91439"/>
                </a:lnTo>
                <a:lnTo>
                  <a:pt x="3001783" y="132079"/>
                </a:lnTo>
                <a:lnTo>
                  <a:pt x="3004822" y="162560"/>
                </a:lnTo>
                <a:lnTo>
                  <a:pt x="3004819" y="772160"/>
                </a:lnTo>
                <a:lnTo>
                  <a:pt x="2998028" y="816610"/>
                </a:lnTo>
                <a:lnTo>
                  <a:pt x="2979139" y="855979"/>
                </a:lnTo>
                <a:lnTo>
                  <a:pt x="2938424" y="896620"/>
                </a:lnTo>
                <a:lnTo>
                  <a:pt x="2898987" y="915670"/>
                </a:lnTo>
                <a:lnTo>
                  <a:pt x="2854224" y="923289"/>
                </a:lnTo>
                <a:lnTo>
                  <a:pt x="2911832" y="923289"/>
                </a:lnTo>
                <a:lnTo>
                  <a:pt x="2917776" y="920750"/>
                </a:lnTo>
                <a:lnTo>
                  <a:pt x="2931910" y="914400"/>
                </a:lnTo>
                <a:lnTo>
                  <a:pt x="2944868" y="906779"/>
                </a:lnTo>
                <a:lnTo>
                  <a:pt x="2945240" y="906779"/>
                </a:lnTo>
                <a:lnTo>
                  <a:pt x="2968617" y="886460"/>
                </a:lnTo>
                <a:lnTo>
                  <a:pt x="2969046" y="886460"/>
                </a:lnTo>
                <a:lnTo>
                  <a:pt x="2988335" y="863600"/>
                </a:lnTo>
                <a:lnTo>
                  <a:pt x="2988599" y="862329"/>
                </a:lnTo>
                <a:lnTo>
                  <a:pt x="2996911" y="848360"/>
                </a:lnTo>
                <a:lnTo>
                  <a:pt x="3003692" y="834389"/>
                </a:lnTo>
                <a:lnTo>
                  <a:pt x="3009097" y="820420"/>
                </a:lnTo>
                <a:lnTo>
                  <a:pt x="3013044" y="803910"/>
                </a:lnTo>
                <a:lnTo>
                  <a:pt x="3015451" y="788670"/>
                </a:lnTo>
                <a:lnTo>
                  <a:pt x="3016249" y="772160"/>
                </a:lnTo>
                <a:lnTo>
                  <a:pt x="3016237" y="162560"/>
                </a:lnTo>
                <a:lnTo>
                  <a:pt x="3008817" y="114300"/>
                </a:lnTo>
                <a:lnTo>
                  <a:pt x="2988599" y="72389"/>
                </a:lnTo>
                <a:lnTo>
                  <a:pt x="2988334" y="71119"/>
                </a:lnTo>
                <a:lnTo>
                  <a:pt x="2969047" y="48260"/>
                </a:lnTo>
                <a:lnTo>
                  <a:pt x="2968617" y="48260"/>
                </a:lnTo>
                <a:lnTo>
                  <a:pt x="2945240" y="27939"/>
                </a:lnTo>
                <a:lnTo>
                  <a:pt x="2944867" y="27939"/>
                </a:lnTo>
                <a:lnTo>
                  <a:pt x="2931099" y="20319"/>
                </a:lnTo>
                <a:lnTo>
                  <a:pt x="2916916" y="12700"/>
                </a:lnTo>
                <a:lnTo>
                  <a:pt x="2913191" y="11430"/>
                </a:lnTo>
                <a:close/>
              </a:path>
              <a:path w="3016250" h="933450">
                <a:moveTo>
                  <a:pt x="2854321" y="15239"/>
                </a:moveTo>
                <a:lnTo>
                  <a:pt x="162215" y="15239"/>
                </a:lnTo>
                <a:lnTo>
                  <a:pt x="147208" y="16510"/>
                </a:lnTo>
                <a:lnTo>
                  <a:pt x="105086" y="26669"/>
                </a:lnTo>
                <a:lnTo>
                  <a:pt x="58221" y="58419"/>
                </a:lnTo>
                <a:lnTo>
                  <a:pt x="33068" y="92710"/>
                </a:lnTo>
                <a:lnTo>
                  <a:pt x="18270" y="132079"/>
                </a:lnTo>
                <a:lnTo>
                  <a:pt x="15232" y="772160"/>
                </a:lnTo>
                <a:lnTo>
                  <a:pt x="15961" y="787400"/>
                </a:lnTo>
                <a:lnTo>
                  <a:pt x="26649" y="829310"/>
                </a:lnTo>
                <a:lnTo>
                  <a:pt x="58221" y="876300"/>
                </a:lnTo>
                <a:lnTo>
                  <a:pt x="91763" y="900429"/>
                </a:lnTo>
                <a:lnTo>
                  <a:pt x="132076" y="915670"/>
                </a:lnTo>
                <a:lnTo>
                  <a:pt x="161928" y="919479"/>
                </a:lnTo>
                <a:lnTo>
                  <a:pt x="2854032" y="919479"/>
                </a:lnTo>
                <a:lnTo>
                  <a:pt x="2869041" y="918210"/>
                </a:lnTo>
                <a:lnTo>
                  <a:pt x="2883612" y="915670"/>
                </a:lnTo>
                <a:lnTo>
                  <a:pt x="2853841" y="915670"/>
                </a:lnTo>
                <a:lnTo>
                  <a:pt x="146825" y="914400"/>
                </a:lnTo>
                <a:lnTo>
                  <a:pt x="105879" y="904239"/>
                </a:lnTo>
                <a:lnTo>
                  <a:pt x="60928" y="873760"/>
                </a:lnTo>
                <a:lnTo>
                  <a:pt x="36059" y="839470"/>
                </a:lnTo>
                <a:lnTo>
                  <a:pt x="21845" y="800100"/>
                </a:lnTo>
                <a:lnTo>
                  <a:pt x="19037" y="772160"/>
                </a:lnTo>
                <a:lnTo>
                  <a:pt x="19050" y="162560"/>
                </a:lnTo>
                <a:lnTo>
                  <a:pt x="25601" y="119380"/>
                </a:lnTo>
                <a:lnTo>
                  <a:pt x="43336" y="82550"/>
                </a:lnTo>
                <a:lnTo>
                  <a:pt x="82250" y="44450"/>
                </a:lnTo>
                <a:lnTo>
                  <a:pt x="119881" y="25400"/>
                </a:lnTo>
                <a:lnTo>
                  <a:pt x="162408" y="19050"/>
                </a:lnTo>
                <a:lnTo>
                  <a:pt x="2884173" y="19050"/>
                </a:lnTo>
                <a:lnTo>
                  <a:pt x="2869615" y="16510"/>
                </a:lnTo>
                <a:lnTo>
                  <a:pt x="2854321" y="15239"/>
                </a:lnTo>
                <a:close/>
              </a:path>
              <a:path w="3016250" h="933450">
                <a:moveTo>
                  <a:pt x="2884173" y="19050"/>
                </a:moveTo>
                <a:lnTo>
                  <a:pt x="2854321" y="19050"/>
                </a:lnTo>
                <a:lnTo>
                  <a:pt x="2869422" y="20319"/>
                </a:lnTo>
                <a:lnTo>
                  <a:pt x="2883598" y="22860"/>
                </a:lnTo>
                <a:lnTo>
                  <a:pt x="2922831" y="36830"/>
                </a:lnTo>
                <a:lnTo>
                  <a:pt x="2955320" y="60960"/>
                </a:lnTo>
                <a:lnTo>
                  <a:pt x="2980189" y="95250"/>
                </a:lnTo>
                <a:lnTo>
                  <a:pt x="2994403" y="134620"/>
                </a:lnTo>
                <a:lnTo>
                  <a:pt x="2997211" y="162560"/>
                </a:lnTo>
                <a:lnTo>
                  <a:pt x="2997199" y="772160"/>
                </a:lnTo>
                <a:lnTo>
                  <a:pt x="2990648" y="815339"/>
                </a:lnTo>
                <a:lnTo>
                  <a:pt x="2972912" y="852170"/>
                </a:lnTo>
                <a:lnTo>
                  <a:pt x="2933998" y="890270"/>
                </a:lnTo>
                <a:lnTo>
                  <a:pt x="2896367" y="909320"/>
                </a:lnTo>
                <a:lnTo>
                  <a:pt x="2853841" y="915670"/>
                </a:lnTo>
                <a:lnTo>
                  <a:pt x="2883612" y="915670"/>
                </a:lnTo>
                <a:lnTo>
                  <a:pt x="2923998" y="901700"/>
                </a:lnTo>
                <a:lnTo>
                  <a:pt x="2958026" y="876300"/>
                </a:lnTo>
                <a:lnTo>
                  <a:pt x="2983181" y="842010"/>
                </a:lnTo>
                <a:lnTo>
                  <a:pt x="2997978" y="802639"/>
                </a:lnTo>
                <a:lnTo>
                  <a:pt x="3001016" y="162560"/>
                </a:lnTo>
                <a:lnTo>
                  <a:pt x="3000288" y="147320"/>
                </a:lnTo>
                <a:lnTo>
                  <a:pt x="2989599" y="105410"/>
                </a:lnTo>
                <a:lnTo>
                  <a:pt x="2958026" y="58419"/>
                </a:lnTo>
                <a:lnTo>
                  <a:pt x="2924484" y="34289"/>
                </a:lnTo>
                <a:lnTo>
                  <a:pt x="2898217" y="22860"/>
                </a:lnTo>
                <a:lnTo>
                  <a:pt x="2884173" y="19050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79838" y="4633929"/>
            <a:ext cx="3016250" cy="1065530"/>
          </a:xfrm>
          <a:custGeom>
            <a:avLst/>
            <a:gdLst/>
            <a:ahLst/>
            <a:cxnLst/>
            <a:rect l="l" t="t" r="r" b="b"/>
            <a:pathLst>
              <a:path w="3016250" h="1065529">
                <a:moveTo>
                  <a:pt x="2850432" y="0"/>
                </a:moveTo>
                <a:lnTo>
                  <a:pt x="164836" y="0"/>
                </a:lnTo>
                <a:lnTo>
                  <a:pt x="128927" y="7619"/>
                </a:lnTo>
                <a:lnTo>
                  <a:pt x="80794" y="31750"/>
                </a:lnTo>
                <a:lnTo>
                  <a:pt x="41758" y="67310"/>
                </a:lnTo>
                <a:lnTo>
                  <a:pt x="14290" y="111760"/>
                </a:lnTo>
                <a:lnTo>
                  <a:pt x="901" y="165100"/>
                </a:lnTo>
                <a:lnTo>
                  <a:pt x="0" y="882649"/>
                </a:lnTo>
                <a:lnTo>
                  <a:pt x="998" y="901699"/>
                </a:lnTo>
                <a:lnTo>
                  <a:pt x="14653" y="953769"/>
                </a:lnTo>
                <a:lnTo>
                  <a:pt x="42337" y="999489"/>
                </a:lnTo>
                <a:lnTo>
                  <a:pt x="81552" y="1035049"/>
                </a:lnTo>
                <a:lnTo>
                  <a:pt x="129829" y="1057910"/>
                </a:lnTo>
                <a:lnTo>
                  <a:pt x="165793" y="1065530"/>
                </a:lnTo>
                <a:lnTo>
                  <a:pt x="2851389" y="1065530"/>
                </a:lnTo>
                <a:lnTo>
                  <a:pt x="2887297" y="1057910"/>
                </a:lnTo>
                <a:lnTo>
                  <a:pt x="2894058" y="1055370"/>
                </a:lnTo>
                <a:lnTo>
                  <a:pt x="2832002" y="1055370"/>
                </a:lnTo>
                <a:lnTo>
                  <a:pt x="166369" y="1054099"/>
                </a:lnTo>
                <a:lnTo>
                  <a:pt x="116813" y="1041399"/>
                </a:lnTo>
                <a:lnTo>
                  <a:pt x="74196" y="1014729"/>
                </a:lnTo>
                <a:lnTo>
                  <a:pt x="40859" y="977899"/>
                </a:lnTo>
                <a:lnTo>
                  <a:pt x="19152" y="933449"/>
                </a:lnTo>
                <a:lnTo>
                  <a:pt x="11478" y="882649"/>
                </a:lnTo>
                <a:lnTo>
                  <a:pt x="11482" y="182879"/>
                </a:lnTo>
                <a:lnTo>
                  <a:pt x="19208" y="132079"/>
                </a:lnTo>
                <a:lnTo>
                  <a:pt x="40962" y="86360"/>
                </a:lnTo>
                <a:lnTo>
                  <a:pt x="74337" y="50800"/>
                </a:lnTo>
                <a:lnTo>
                  <a:pt x="116985" y="24129"/>
                </a:lnTo>
                <a:lnTo>
                  <a:pt x="166560" y="11429"/>
                </a:lnTo>
                <a:lnTo>
                  <a:pt x="2896562" y="11429"/>
                </a:lnTo>
                <a:lnTo>
                  <a:pt x="2886395" y="7619"/>
                </a:lnTo>
                <a:lnTo>
                  <a:pt x="2868727" y="2539"/>
                </a:lnTo>
                <a:lnTo>
                  <a:pt x="2850432" y="0"/>
                </a:lnTo>
                <a:close/>
              </a:path>
              <a:path w="3016250" h="1065529">
                <a:moveTo>
                  <a:pt x="2896562" y="11429"/>
                </a:moveTo>
                <a:lnTo>
                  <a:pt x="2849856" y="11429"/>
                </a:lnTo>
                <a:lnTo>
                  <a:pt x="2867002" y="13969"/>
                </a:lnTo>
                <a:lnTo>
                  <a:pt x="2883549" y="19050"/>
                </a:lnTo>
                <a:lnTo>
                  <a:pt x="2928738" y="40639"/>
                </a:lnTo>
                <a:lnTo>
                  <a:pt x="2965430" y="73660"/>
                </a:lnTo>
                <a:lnTo>
                  <a:pt x="2991274" y="116839"/>
                </a:lnTo>
                <a:lnTo>
                  <a:pt x="3003927" y="166369"/>
                </a:lnTo>
                <a:lnTo>
                  <a:pt x="3004807" y="882649"/>
                </a:lnTo>
                <a:lnTo>
                  <a:pt x="3003908" y="899160"/>
                </a:lnTo>
                <a:lnTo>
                  <a:pt x="2991202" y="949960"/>
                </a:lnTo>
                <a:lnTo>
                  <a:pt x="2965314" y="991869"/>
                </a:lnTo>
                <a:lnTo>
                  <a:pt x="2928586" y="1024889"/>
                </a:lnTo>
                <a:lnTo>
                  <a:pt x="2883369" y="1046479"/>
                </a:lnTo>
                <a:lnTo>
                  <a:pt x="2832002" y="1055370"/>
                </a:lnTo>
                <a:lnTo>
                  <a:pt x="2894058" y="1055370"/>
                </a:lnTo>
                <a:lnTo>
                  <a:pt x="2935431" y="1035049"/>
                </a:lnTo>
                <a:lnTo>
                  <a:pt x="2974467" y="998219"/>
                </a:lnTo>
                <a:lnTo>
                  <a:pt x="3001935" y="953769"/>
                </a:lnTo>
                <a:lnTo>
                  <a:pt x="3015324" y="900429"/>
                </a:lnTo>
                <a:lnTo>
                  <a:pt x="3016237" y="882649"/>
                </a:lnTo>
                <a:lnTo>
                  <a:pt x="3016226" y="182879"/>
                </a:lnTo>
                <a:lnTo>
                  <a:pt x="3007807" y="128269"/>
                </a:lnTo>
                <a:lnTo>
                  <a:pt x="2984519" y="80010"/>
                </a:lnTo>
                <a:lnTo>
                  <a:pt x="2948873" y="40639"/>
                </a:lnTo>
                <a:lnTo>
                  <a:pt x="2903339" y="13969"/>
                </a:lnTo>
                <a:lnTo>
                  <a:pt x="2896562" y="11429"/>
                </a:lnTo>
                <a:close/>
              </a:path>
              <a:path w="3016250" h="1065529">
                <a:moveTo>
                  <a:pt x="2849664" y="15239"/>
                </a:moveTo>
                <a:lnTo>
                  <a:pt x="167135" y="15239"/>
                </a:lnTo>
                <a:lnTo>
                  <a:pt x="150359" y="17779"/>
                </a:lnTo>
                <a:lnTo>
                  <a:pt x="103862" y="35560"/>
                </a:lnTo>
                <a:lnTo>
                  <a:pt x="64885" y="63500"/>
                </a:lnTo>
                <a:lnTo>
                  <a:pt x="35736" y="102869"/>
                </a:lnTo>
                <a:lnTo>
                  <a:pt x="18710" y="149860"/>
                </a:lnTo>
                <a:lnTo>
                  <a:pt x="15280" y="882649"/>
                </a:lnTo>
                <a:lnTo>
                  <a:pt x="16063" y="899160"/>
                </a:lnTo>
                <a:lnTo>
                  <a:pt x="28383" y="947419"/>
                </a:lnTo>
                <a:lnTo>
                  <a:pt x="53615" y="989329"/>
                </a:lnTo>
                <a:lnTo>
                  <a:pt x="89465" y="1022349"/>
                </a:lnTo>
                <a:lnTo>
                  <a:pt x="133625" y="1042669"/>
                </a:lnTo>
                <a:lnTo>
                  <a:pt x="2831810" y="1051560"/>
                </a:lnTo>
                <a:lnTo>
                  <a:pt x="2849090" y="1050289"/>
                </a:lnTo>
                <a:lnTo>
                  <a:pt x="2865865" y="1047749"/>
                </a:lnTo>
                <a:lnTo>
                  <a:pt x="2831619" y="1047749"/>
                </a:lnTo>
                <a:lnTo>
                  <a:pt x="166753" y="1046479"/>
                </a:lnTo>
                <a:lnTo>
                  <a:pt x="119432" y="1033779"/>
                </a:lnTo>
                <a:lnTo>
                  <a:pt x="78760" y="1009649"/>
                </a:lnTo>
                <a:lnTo>
                  <a:pt x="46962" y="974089"/>
                </a:lnTo>
                <a:lnTo>
                  <a:pt x="26307" y="930910"/>
                </a:lnTo>
                <a:lnTo>
                  <a:pt x="19087" y="882649"/>
                </a:lnTo>
                <a:lnTo>
                  <a:pt x="19101" y="182879"/>
                </a:lnTo>
                <a:lnTo>
                  <a:pt x="26588" y="134619"/>
                </a:lnTo>
                <a:lnTo>
                  <a:pt x="47474" y="91439"/>
                </a:lnTo>
                <a:lnTo>
                  <a:pt x="79462" y="55879"/>
                </a:lnTo>
                <a:lnTo>
                  <a:pt x="120292" y="31750"/>
                </a:lnTo>
                <a:lnTo>
                  <a:pt x="167710" y="19050"/>
                </a:lnTo>
                <a:lnTo>
                  <a:pt x="2870470" y="19050"/>
                </a:lnTo>
                <a:lnTo>
                  <a:pt x="2866427" y="17779"/>
                </a:lnTo>
                <a:lnTo>
                  <a:pt x="2849664" y="15239"/>
                </a:lnTo>
                <a:close/>
              </a:path>
              <a:path w="3016250" h="1065529">
                <a:moveTo>
                  <a:pt x="2870470" y="19050"/>
                </a:moveTo>
                <a:lnTo>
                  <a:pt x="2849471" y="19050"/>
                </a:lnTo>
                <a:lnTo>
                  <a:pt x="2865853" y="21589"/>
                </a:lnTo>
                <a:lnTo>
                  <a:pt x="2881652" y="26669"/>
                </a:lnTo>
                <a:lnTo>
                  <a:pt x="2924781" y="46989"/>
                </a:lnTo>
                <a:lnTo>
                  <a:pt x="2959791" y="78739"/>
                </a:lnTo>
                <a:lnTo>
                  <a:pt x="2984409" y="119379"/>
                </a:lnTo>
                <a:lnTo>
                  <a:pt x="2996395" y="167639"/>
                </a:lnTo>
                <a:lnTo>
                  <a:pt x="2997187" y="882649"/>
                </a:lnTo>
                <a:lnTo>
                  <a:pt x="2996298" y="899160"/>
                </a:lnTo>
                <a:lnTo>
                  <a:pt x="2984045" y="946149"/>
                </a:lnTo>
                <a:lnTo>
                  <a:pt x="2959210" y="986789"/>
                </a:lnTo>
                <a:lnTo>
                  <a:pt x="2924023" y="1019810"/>
                </a:lnTo>
                <a:lnTo>
                  <a:pt x="2880750" y="1040129"/>
                </a:lnTo>
                <a:lnTo>
                  <a:pt x="2831619" y="1047749"/>
                </a:lnTo>
                <a:lnTo>
                  <a:pt x="2865865" y="1047749"/>
                </a:lnTo>
                <a:lnTo>
                  <a:pt x="2912363" y="1031239"/>
                </a:lnTo>
                <a:lnTo>
                  <a:pt x="2951340" y="1002029"/>
                </a:lnTo>
                <a:lnTo>
                  <a:pt x="2980488" y="962660"/>
                </a:lnTo>
                <a:lnTo>
                  <a:pt x="2997515" y="916939"/>
                </a:lnTo>
                <a:lnTo>
                  <a:pt x="3000997" y="882649"/>
                </a:lnTo>
                <a:lnTo>
                  <a:pt x="3000945" y="182879"/>
                </a:lnTo>
                <a:lnTo>
                  <a:pt x="2993495" y="133350"/>
                </a:lnTo>
                <a:lnTo>
                  <a:pt x="2972314" y="88900"/>
                </a:lnTo>
                <a:lnTo>
                  <a:pt x="2939746" y="53339"/>
                </a:lnTo>
                <a:lnTo>
                  <a:pt x="2898102" y="27939"/>
                </a:lnTo>
                <a:lnTo>
                  <a:pt x="2882600" y="22860"/>
                </a:lnTo>
                <a:lnTo>
                  <a:pt x="2870470" y="19050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05255" y="4943855"/>
            <a:ext cx="165100" cy="616585"/>
          </a:xfrm>
          <a:custGeom>
            <a:avLst/>
            <a:gdLst/>
            <a:ahLst/>
            <a:cxnLst/>
            <a:rect l="l" t="t" r="r" b="b"/>
            <a:pathLst>
              <a:path w="165100" h="616585">
                <a:moveTo>
                  <a:pt x="164591" y="0"/>
                </a:moveTo>
                <a:lnTo>
                  <a:pt x="0" y="0"/>
                </a:lnTo>
                <a:lnTo>
                  <a:pt x="0" y="616513"/>
                </a:lnTo>
                <a:lnTo>
                  <a:pt x="164591" y="616513"/>
                </a:lnTo>
                <a:lnTo>
                  <a:pt x="16459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103375" y="5047488"/>
            <a:ext cx="165100" cy="513080"/>
          </a:xfrm>
          <a:custGeom>
            <a:avLst/>
            <a:gdLst/>
            <a:ahLst/>
            <a:cxnLst/>
            <a:rect l="l" t="t" r="r" b="b"/>
            <a:pathLst>
              <a:path w="165100" h="513079">
                <a:moveTo>
                  <a:pt x="164592" y="0"/>
                </a:moveTo>
                <a:lnTo>
                  <a:pt x="0" y="0"/>
                </a:lnTo>
                <a:lnTo>
                  <a:pt x="0" y="512881"/>
                </a:lnTo>
                <a:lnTo>
                  <a:pt x="164592" y="512881"/>
                </a:lnTo>
                <a:lnTo>
                  <a:pt x="16459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301496" y="5212079"/>
            <a:ext cx="165100" cy="348615"/>
          </a:xfrm>
          <a:custGeom>
            <a:avLst/>
            <a:gdLst/>
            <a:ahLst/>
            <a:cxnLst/>
            <a:rect l="l" t="t" r="r" b="b"/>
            <a:pathLst>
              <a:path w="165100" h="348614">
                <a:moveTo>
                  <a:pt x="164591" y="0"/>
                </a:moveTo>
                <a:lnTo>
                  <a:pt x="0" y="0"/>
                </a:lnTo>
                <a:lnTo>
                  <a:pt x="0" y="348289"/>
                </a:lnTo>
                <a:lnTo>
                  <a:pt x="164591" y="348289"/>
                </a:lnTo>
                <a:lnTo>
                  <a:pt x="16459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499616" y="4983479"/>
            <a:ext cx="165100" cy="577215"/>
          </a:xfrm>
          <a:custGeom>
            <a:avLst/>
            <a:gdLst/>
            <a:ahLst/>
            <a:cxnLst/>
            <a:rect l="l" t="t" r="r" b="b"/>
            <a:pathLst>
              <a:path w="165100" h="577214">
                <a:moveTo>
                  <a:pt x="164591" y="0"/>
                </a:moveTo>
                <a:lnTo>
                  <a:pt x="0" y="0"/>
                </a:lnTo>
                <a:lnTo>
                  <a:pt x="0" y="576889"/>
                </a:lnTo>
                <a:lnTo>
                  <a:pt x="164591" y="576889"/>
                </a:lnTo>
                <a:lnTo>
                  <a:pt x="16459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850135" y="4791455"/>
            <a:ext cx="165100" cy="780415"/>
          </a:xfrm>
          <a:custGeom>
            <a:avLst/>
            <a:gdLst/>
            <a:ahLst/>
            <a:cxnLst/>
            <a:rect l="l" t="t" r="r" b="b"/>
            <a:pathLst>
              <a:path w="165100" h="780414">
                <a:moveTo>
                  <a:pt x="164591" y="0"/>
                </a:moveTo>
                <a:lnTo>
                  <a:pt x="0" y="0"/>
                </a:lnTo>
                <a:lnTo>
                  <a:pt x="0" y="779838"/>
                </a:lnTo>
                <a:lnTo>
                  <a:pt x="164591" y="779838"/>
                </a:lnTo>
                <a:lnTo>
                  <a:pt x="16459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048255" y="5227320"/>
            <a:ext cx="165100" cy="344170"/>
          </a:xfrm>
          <a:custGeom>
            <a:avLst/>
            <a:gdLst/>
            <a:ahLst/>
            <a:cxnLst/>
            <a:rect l="l" t="t" r="r" b="b"/>
            <a:pathLst>
              <a:path w="165100" h="344170">
                <a:moveTo>
                  <a:pt x="164592" y="0"/>
                </a:moveTo>
                <a:lnTo>
                  <a:pt x="0" y="0"/>
                </a:lnTo>
                <a:lnTo>
                  <a:pt x="0" y="343974"/>
                </a:lnTo>
                <a:lnTo>
                  <a:pt x="164592" y="343974"/>
                </a:lnTo>
                <a:lnTo>
                  <a:pt x="16459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246376" y="5416296"/>
            <a:ext cx="165100" cy="155575"/>
          </a:xfrm>
          <a:custGeom>
            <a:avLst/>
            <a:gdLst/>
            <a:ahLst/>
            <a:cxnLst/>
            <a:rect l="l" t="t" r="r" b="b"/>
            <a:pathLst>
              <a:path w="165100" h="155575">
                <a:moveTo>
                  <a:pt x="164592" y="0"/>
                </a:moveTo>
                <a:lnTo>
                  <a:pt x="0" y="0"/>
                </a:lnTo>
                <a:lnTo>
                  <a:pt x="0" y="154998"/>
                </a:lnTo>
                <a:lnTo>
                  <a:pt x="164592" y="154998"/>
                </a:lnTo>
                <a:lnTo>
                  <a:pt x="16459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444495" y="5291328"/>
            <a:ext cx="165100" cy="280035"/>
          </a:xfrm>
          <a:custGeom>
            <a:avLst/>
            <a:gdLst/>
            <a:ahLst/>
            <a:cxnLst/>
            <a:rect l="l" t="t" r="r" b="b"/>
            <a:pathLst>
              <a:path w="165100" h="280035">
                <a:moveTo>
                  <a:pt x="164592" y="0"/>
                </a:moveTo>
                <a:lnTo>
                  <a:pt x="0" y="0"/>
                </a:lnTo>
                <a:lnTo>
                  <a:pt x="0" y="279966"/>
                </a:lnTo>
                <a:lnTo>
                  <a:pt x="164592" y="279966"/>
                </a:lnTo>
                <a:lnTo>
                  <a:pt x="16459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773679" y="4721352"/>
            <a:ext cx="165100" cy="855980"/>
          </a:xfrm>
          <a:custGeom>
            <a:avLst/>
            <a:gdLst/>
            <a:ahLst/>
            <a:cxnLst/>
            <a:rect l="l" t="t" r="r" b="b"/>
            <a:pathLst>
              <a:path w="165100" h="855979">
                <a:moveTo>
                  <a:pt x="164592" y="0"/>
                </a:moveTo>
                <a:lnTo>
                  <a:pt x="0" y="0"/>
                </a:lnTo>
                <a:lnTo>
                  <a:pt x="0" y="855710"/>
                </a:lnTo>
                <a:lnTo>
                  <a:pt x="164592" y="855710"/>
                </a:lnTo>
                <a:lnTo>
                  <a:pt x="16459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971800" y="5151120"/>
            <a:ext cx="165100" cy="426084"/>
          </a:xfrm>
          <a:custGeom>
            <a:avLst/>
            <a:gdLst/>
            <a:ahLst/>
            <a:cxnLst/>
            <a:rect l="l" t="t" r="r" b="b"/>
            <a:pathLst>
              <a:path w="165100" h="426085">
                <a:moveTo>
                  <a:pt x="164592" y="0"/>
                </a:moveTo>
                <a:lnTo>
                  <a:pt x="0" y="0"/>
                </a:lnTo>
                <a:lnTo>
                  <a:pt x="0" y="425942"/>
                </a:lnTo>
                <a:lnTo>
                  <a:pt x="164592" y="425942"/>
                </a:lnTo>
                <a:lnTo>
                  <a:pt x="16459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166872" y="5257800"/>
            <a:ext cx="165100" cy="319405"/>
          </a:xfrm>
          <a:custGeom>
            <a:avLst/>
            <a:gdLst/>
            <a:ahLst/>
            <a:cxnLst/>
            <a:rect l="l" t="t" r="r" b="b"/>
            <a:pathLst>
              <a:path w="165100" h="319404">
                <a:moveTo>
                  <a:pt x="164591" y="0"/>
                </a:moveTo>
                <a:lnTo>
                  <a:pt x="0" y="0"/>
                </a:lnTo>
                <a:lnTo>
                  <a:pt x="0" y="319262"/>
                </a:lnTo>
                <a:lnTo>
                  <a:pt x="164591" y="319262"/>
                </a:lnTo>
                <a:lnTo>
                  <a:pt x="16459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364991" y="5044440"/>
            <a:ext cx="165100" cy="532765"/>
          </a:xfrm>
          <a:custGeom>
            <a:avLst/>
            <a:gdLst/>
            <a:ahLst/>
            <a:cxnLst/>
            <a:rect l="l" t="t" r="r" b="b"/>
            <a:pathLst>
              <a:path w="165100" h="532764">
                <a:moveTo>
                  <a:pt x="164592" y="0"/>
                </a:moveTo>
                <a:lnTo>
                  <a:pt x="0" y="0"/>
                </a:lnTo>
                <a:lnTo>
                  <a:pt x="0" y="532622"/>
                </a:lnTo>
                <a:lnTo>
                  <a:pt x="164592" y="532622"/>
                </a:lnTo>
                <a:lnTo>
                  <a:pt x="16459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952744" y="4730496"/>
            <a:ext cx="165100" cy="842644"/>
          </a:xfrm>
          <a:custGeom>
            <a:avLst/>
            <a:gdLst/>
            <a:ahLst/>
            <a:cxnLst/>
            <a:rect l="l" t="t" r="r" b="b"/>
            <a:pathLst>
              <a:path w="165100" h="842645">
                <a:moveTo>
                  <a:pt x="164591" y="0"/>
                </a:moveTo>
                <a:lnTo>
                  <a:pt x="0" y="0"/>
                </a:lnTo>
                <a:lnTo>
                  <a:pt x="0" y="842330"/>
                </a:lnTo>
                <a:lnTo>
                  <a:pt x="164591" y="842330"/>
                </a:lnTo>
                <a:lnTo>
                  <a:pt x="16459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150864" y="5236464"/>
            <a:ext cx="165100" cy="336550"/>
          </a:xfrm>
          <a:custGeom>
            <a:avLst/>
            <a:gdLst/>
            <a:ahLst/>
            <a:cxnLst/>
            <a:rect l="l" t="t" r="r" b="b"/>
            <a:pathLst>
              <a:path w="165100" h="336550">
                <a:moveTo>
                  <a:pt x="164591" y="0"/>
                </a:moveTo>
                <a:lnTo>
                  <a:pt x="0" y="0"/>
                </a:lnTo>
                <a:lnTo>
                  <a:pt x="0" y="336362"/>
                </a:lnTo>
                <a:lnTo>
                  <a:pt x="164591" y="336362"/>
                </a:lnTo>
                <a:lnTo>
                  <a:pt x="16459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345935" y="5352288"/>
            <a:ext cx="165100" cy="220979"/>
          </a:xfrm>
          <a:custGeom>
            <a:avLst/>
            <a:gdLst/>
            <a:ahLst/>
            <a:cxnLst/>
            <a:rect l="l" t="t" r="r" b="b"/>
            <a:pathLst>
              <a:path w="165100" h="220979">
                <a:moveTo>
                  <a:pt x="164591" y="0"/>
                </a:moveTo>
                <a:lnTo>
                  <a:pt x="0" y="0"/>
                </a:lnTo>
                <a:lnTo>
                  <a:pt x="0" y="220538"/>
                </a:lnTo>
                <a:lnTo>
                  <a:pt x="164591" y="220538"/>
                </a:lnTo>
                <a:lnTo>
                  <a:pt x="16459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544056" y="5285232"/>
            <a:ext cx="165100" cy="287655"/>
          </a:xfrm>
          <a:custGeom>
            <a:avLst/>
            <a:gdLst/>
            <a:ahLst/>
            <a:cxnLst/>
            <a:rect l="l" t="t" r="r" b="b"/>
            <a:pathLst>
              <a:path w="165100" h="287654">
                <a:moveTo>
                  <a:pt x="164592" y="0"/>
                </a:moveTo>
                <a:lnTo>
                  <a:pt x="0" y="0"/>
                </a:lnTo>
                <a:lnTo>
                  <a:pt x="0" y="287594"/>
                </a:lnTo>
                <a:lnTo>
                  <a:pt x="164592" y="287594"/>
                </a:lnTo>
                <a:lnTo>
                  <a:pt x="16459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943343" y="4806696"/>
            <a:ext cx="158750" cy="755015"/>
          </a:xfrm>
          <a:custGeom>
            <a:avLst/>
            <a:gdLst/>
            <a:ahLst/>
            <a:cxnLst/>
            <a:rect l="l" t="t" r="r" b="b"/>
            <a:pathLst>
              <a:path w="158750" h="755014">
                <a:moveTo>
                  <a:pt x="158496" y="0"/>
                </a:moveTo>
                <a:lnTo>
                  <a:pt x="0" y="0"/>
                </a:lnTo>
                <a:lnTo>
                  <a:pt x="0" y="754611"/>
                </a:lnTo>
                <a:lnTo>
                  <a:pt x="158496" y="754611"/>
                </a:lnTo>
                <a:lnTo>
                  <a:pt x="158496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135368" y="5023103"/>
            <a:ext cx="158750" cy="538480"/>
          </a:xfrm>
          <a:custGeom>
            <a:avLst/>
            <a:gdLst/>
            <a:ahLst/>
            <a:cxnLst/>
            <a:rect l="l" t="t" r="r" b="b"/>
            <a:pathLst>
              <a:path w="158750" h="538479">
                <a:moveTo>
                  <a:pt x="158496" y="0"/>
                </a:moveTo>
                <a:lnTo>
                  <a:pt x="0" y="0"/>
                </a:lnTo>
                <a:lnTo>
                  <a:pt x="0" y="538203"/>
                </a:lnTo>
                <a:lnTo>
                  <a:pt x="158496" y="538203"/>
                </a:lnTo>
                <a:lnTo>
                  <a:pt x="158496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324343" y="5236464"/>
            <a:ext cx="158750" cy="325120"/>
          </a:xfrm>
          <a:custGeom>
            <a:avLst/>
            <a:gdLst/>
            <a:ahLst/>
            <a:cxnLst/>
            <a:rect l="l" t="t" r="r" b="b"/>
            <a:pathLst>
              <a:path w="158750" h="325120">
                <a:moveTo>
                  <a:pt x="158496" y="0"/>
                </a:moveTo>
                <a:lnTo>
                  <a:pt x="0" y="0"/>
                </a:lnTo>
                <a:lnTo>
                  <a:pt x="0" y="324843"/>
                </a:lnTo>
                <a:lnTo>
                  <a:pt x="158496" y="324843"/>
                </a:lnTo>
                <a:lnTo>
                  <a:pt x="158496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516368" y="5023103"/>
            <a:ext cx="158750" cy="538480"/>
          </a:xfrm>
          <a:custGeom>
            <a:avLst/>
            <a:gdLst/>
            <a:ahLst/>
            <a:cxnLst/>
            <a:rect l="l" t="t" r="r" b="b"/>
            <a:pathLst>
              <a:path w="158750" h="538479">
                <a:moveTo>
                  <a:pt x="158496" y="0"/>
                </a:moveTo>
                <a:lnTo>
                  <a:pt x="0" y="0"/>
                </a:lnTo>
                <a:lnTo>
                  <a:pt x="0" y="538203"/>
                </a:lnTo>
                <a:lnTo>
                  <a:pt x="158496" y="538203"/>
                </a:lnTo>
                <a:lnTo>
                  <a:pt x="158496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912607" y="4901184"/>
            <a:ext cx="158750" cy="648970"/>
          </a:xfrm>
          <a:custGeom>
            <a:avLst/>
            <a:gdLst/>
            <a:ahLst/>
            <a:cxnLst/>
            <a:rect l="l" t="t" r="r" b="b"/>
            <a:pathLst>
              <a:path w="158750" h="648970">
                <a:moveTo>
                  <a:pt x="158496" y="0"/>
                </a:moveTo>
                <a:lnTo>
                  <a:pt x="0" y="0"/>
                </a:lnTo>
                <a:lnTo>
                  <a:pt x="0" y="648605"/>
                </a:lnTo>
                <a:lnTo>
                  <a:pt x="158496" y="648605"/>
                </a:lnTo>
                <a:lnTo>
                  <a:pt x="158496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101583" y="5233415"/>
            <a:ext cx="158750" cy="316865"/>
          </a:xfrm>
          <a:custGeom>
            <a:avLst/>
            <a:gdLst/>
            <a:ahLst/>
            <a:cxnLst/>
            <a:rect l="l" t="t" r="r" b="b"/>
            <a:pathLst>
              <a:path w="158750" h="316864">
                <a:moveTo>
                  <a:pt x="158496" y="0"/>
                </a:moveTo>
                <a:lnTo>
                  <a:pt x="0" y="0"/>
                </a:lnTo>
                <a:lnTo>
                  <a:pt x="0" y="316373"/>
                </a:lnTo>
                <a:lnTo>
                  <a:pt x="158496" y="316373"/>
                </a:lnTo>
                <a:lnTo>
                  <a:pt x="158496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8293607" y="5334000"/>
            <a:ext cx="158750" cy="215900"/>
          </a:xfrm>
          <a:custGeom>
            <a:avLst/>
            <a:gdLst/>
            <a:ahLst/>
            <a:cxnLst/>
            <a:rect l="l" t="t" r="r" b="b"/>
            <a:pathLst>
              <a:path w="158750" h="215900">
                <a:moveTo>
                  <a:pt x="158496" y="0"/>
                </a:moveTo>
                <a:lnTo>
                  <a:pt x="0" y="0"/>
                </a:lnTo>
                <a:lnTo>
                  <a:pt x="0" y="215789"/>
                </a:lnTo>
                <a:lnTo>
                  <a:pt x="158496" y="215789"/>
                </a:lnTo>
                <a:lnTo>
                  <a:pt x="158496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8482583" y="5291328"/>
            <a:ext cx="158750" cy="259079"/>
          </a:xfrm>
          <a:custGeom>
            <a:avLst/>
            <a:gdLst/>
            <a:ahLst/>
            <a:cxnLst/>
            <a:rect l="l" t="t" r="r" b="b"/>
            <a:pathLst>
              <a:path w="158750" h="259079">
                <a:moveTo>
                  <a:pt x="158496" y="0"/>
                </a:moveTo>
                <a:lnTo>
                  <a:pt x="0" y="0"/>
                </a:lnTo>
                <a:lnTo>
                  <a:pt x="0" y="258461"/>
                </a:lnTo>
                <a:lnTo>
                  <a:pt x="158496" y="258461"/>
                </a:lnTo>
                <a:lnTo>
                  <a:pt x="158496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772315" y="4633483"/>
            <a:ext cx="3016250" cy="1065530"/>
          </a:xfrm>
          <a:custGeom>
            <a:avLst/>
            <a:gdLst/>
            <a:ahLst/>
            <a:cxnLst/>
            <a:rect l="l" t="t" r="r" b="b"/>
            <a:pathLst>
              <a:path w="3016250" h="1065529">
                <a:moveTo>
                  <a:pt x="2832173" y="0"/>
                </a:moveTo>
                <a:lnTo>
                  <a:pt x="183570" y="0"/>
                </a:lnTo>
                <a:lnTo>
                  <a:pt x="164768" y="1269"/>
                </a:lnTo>
                <a:lnTo>
                  <a:pt x="111978" y="13969"/>
                </a:lnTo>
                <a:lnTo>
                  <a:pt x="66621" y="41910"/>
                </a:lnTo>
                <a:lnTo>
                  <a:pt x="31181" y="81279"/>
                </a:lnTo>
                <a:lnTo>
                  <a:pt x="8134" y="129539"/>
                </a:lnTo>
                <a:lnTo>
                  <a:pt x="48" y="182879"/>
                </a:lnTo>
                <a:lnTo>
                  <a:pt x="0" y="882649"/>
                </a:lnTo>
                <a:lnTo>
                  <a:pt x="998" y="901699"/>
                </a:lnTo>
                <a:lnTo>
                  <a:pt x="14648" y="953769"/>
                </a:lnTo>
                <a:lnTo>
                  <a:pt x="42320" y="999489"/>
                </a:lnTo>
                <a:lnTo>
                  <a:pt x="81520" y="1035049"/>
                </a:lnTo>
                <a:lnTo>
                  <a:pt x="129776" y="1057910"/>
                </a:lnTo>
                <a:lnTo>
                  <a:pt x="165724" y="1065530"/>
                </a:lnTo>
                <a:lnTo>
                  <a:pt x="2851456" y="1065530"/>
                </a:lnTo>
                <a:lnTo>
                  <a:pt x="2887350" y="1057910"/>
                </a:lnTo>
                <a:lnTo>
                  <a:pt x="2894108" y="1055370"/>
                </a:lnTo>
                <a:lnTo>
                  <a:pt x="184050" y="1055370"/>
                </a:lnTo>
                <a:lnTo>
                  <a:pt x="166301" y="1054099"/>
                </a:lnTo>
                <a:lnTo>
                  <a:pt x="116767" y="1041399"/>
                </a:lnTo>
                <a:lnTo>
                  <a:pt x="74169" y="1014729"/>
                </a:lnTo>
                <a:lnTo>
                  <a:pt x="40847" y="979169"/>
                </a:lnTo>
                <a:lnTo>
                  <a:pt x="19149" y="933449"/>
                </a:lnTo>
                <a:lnTo>
                  <a:pt x="11477" y="882649"/>
                </a:lnTo>
                <a:lnTo>
                  <a:pt x="11481" y="182879"/>
                </a:lnTo>
                <a:lnTo>
                  <a:pt x="19204" y="132079"/>
                </a:lnTo>
                <a:lnTo>
                  <a:pt x="40948" y="87629"/>
                </a:lnTo>
                <a:lnTo>
                  <a:pt x="74310" y="50800"/>
                </a:lnTo>
                <a:lnTo>
                  <a:pt x="116939" y="25400"/>
                </a:lnTo>
                <a:lnTo>
                  <a:pt x="166493" y="12700"/>
                </a:lnTo>
                <a:lnTo>
                  <a:pt x="184147" y="11429"/>
                </a:lnTo>
                <a:lnTo>
                  <a:pt x="2896611" y="11429"/>
                </a:lnTo>
                <a:lnTo>
                  <a:pt x="2886448" y="7619"/>
                </a:lnTo>
                <a:lnTo>
                  <a:pt x="2868786" y="3810"/>
                </a:lnTo>
                <a:lnTo>
                  <a:pt x="2850499" y="1269"/>
                </a:lnTo>
                <a:lnTo>
                  <a:pt x="2832173" y="0"/>
                </a:lnTo>
                <a:close/>
              </a:path>
              <a:path w="3016250" h="1065529">
                <a:moveTo>
                  <a:pt x="2896611" y="11429"/>
                </a:moveTo>
                <a:lnTo>
                  <a:pt x="2832173" y="11429"/>
                </a:lnTo>
                <a:lnTo>
                  <a:pt x="2849923" y="12700"/>
                </a:lnTo>
                <a:lnTo>
                  <a:pt x="2867061" y="15239"/>
                </a:lnTo>
                <a:lnTo>
                  <a:pt x="2914543" y="31750"/>
                </a:lnTo>
                <a:lnTo>
                  <a:pt x="2954310" y="62229"/>
                </a:lnTo>
                <a:lnTo>
                  <a:pt x="2984018" y="101600"/>
                </a:lnTo>
                <a:lnTo>
                  <a:pt x="3001321" y="149860"/>
                </a:lnTo>
                <a:lnTo>
                  <a:pt x="3004807" y="882649"/>
                </a:lnTo>
                <a:lnTo>
                  <a:pt x="3003909" y="900429"/>
                </a:lnTo>
                <a:lnTo>
                  <a:pt x="2991208" y="949960"/>
                </a:lnTo>
                <a:lnTo>
                  <a:pt x="2965330" y="991869"/>
                </a:lnTo>
                <a:lnTo>
                  <a:pt x="2928620" y="1024889"/>
                </a:lnTo>
                <a:lnTo>
                  <a:pt x="2883421" y="1046479"/>
                </a:lnTo>
                <a:lnTo>
                  <a:pt x="2832078" y="1055370"/>
                </a:lnTo>
                <a:lnTo>
                  <a:pt x="2894108" y="1055370"/>
                </a:lnTo>
                <a:lnTo>
                  <a:pt x="2935464" y="1035049"/>
                </a:lnTo>
                <a:lnTo>
                  <a:pt x="2974484" y="998219"/>
                </a:lnTo>
                <a:lnTo>
                  <a:pt x="3001940" y="953769"/>
                </a:lnTo>
                <a:lnTo>
                  <a:pt x="3015324" y="900429"/>
                </a:lnTo>
                <a:lnTo>
                  <a:pt x="3016237" y="882649"/>
                </a:lnTo>
                <a:lnTo>
                  <a:pt x="3016225" y="182879"/>
                </a:lnTo>
                <a:lnTo>
                  <a:pt x="3007810" y="128269"/>
                </a:lnTo>
                <a:lnTo>
                  <a:pt x="2984531" y="81279"/>
                </a:lnTo>
                <a:lnTo>
                  <a:pt x="2948900" y="41910"/>
                </a:lnTo>
                <a:lnTo>
                  <a:pt x="2903386" y="13969"/>
                </a:lnTo>
                <a:lnTo>
                  <a:pt x="2896611" y="11429"/>
                </a:lnTo>
                <a:close/>
              </a:path>
              <a:path w="3016250" h="1065529">
                <a:moveTo>
                  <a:pt x="2832173" y="15239"/>
                </a:moveTo>
                <a:lnTo>
                  <a:pt x="184339" y="15239"/>
                </a:lnTo>
                <a:lnTo>
                  <a:pt x="167067" y="16510"/>
                </a:lnTo>
                <a:lnTo>
                  <a:pt x="118592" y="27939"/>
                </a:lnTo>
                <a:lnTo>
                  <a:pt x="76871" y="53339"/>
                </a:lnTo>
                <a:lnTo>
                  <a:pt x="44204" y="88900"/>
                </a:lnTo>
                <a:lnTo>
                  <a:pt x="22894" y="133350"/>
                </a:lnTo>
                <a:lnTo>
                  <a:pt x="15291" y="182879"/>
                </a:lnTo>
                <a:lnTo>
                  <a:pt x="15281" y="882649"/>
                </a:lnTo>
                <a:lnTo>
                  <a:pt x="16062" y="899160"/>
                </a:lnTo>
                <a:lnTo>
                  <a:pt x="28378" y="947419"/>
                </a:lnTo>
                <a:lnTo>
                  <a:pt x="53597" y="989329"/>
                </a:lnTo>
                <a:lnTo>
                  <a:pt x="89432" y="1022349"/>
                </a:lnTo>
                <a:lnTo>
                  <a:pt x="133572" y="1042669"/>
                </a:lnTo>
                <a:lnTo>
                  <a:pt x="184050" y="1051560"/>
                </a:lnTo>
                <a:lnTo>
                  <a:pt x="2831885" y="1051560"/>
                </a:lnTo>
                <a:lnTo>
                  <a:pt x="2849157" y="1050289"/>
                </a:lnTo>
                <a:lnTo>
                  <a:pt x="2865926" y="1047749"/>
                </a:lnTo>
                <a:lnTo>
                  <a:pt x="2831693" y="1047749"/>
                </a:lnTo>
                <a:lnTo>
                  <a:pt x="166686" y="1046479"/>
                </a:lnTo>
                <a:lnTo>
                  <a:pt x="119386" y="1033779"/>
                </a:lnTo>
                <a:lnTo>
                  <a:pt x="78732" y="1009649"/>
                </a:lnTo>
                <a:lnTo>
                  <a:pt x="46949" y="974089"/>
                </a:lnTo>
                <a:lnTo>
                  <a:pt x="26304" y="930910"/>
                </a:lnTo>
                <a:lnTo>
                  <a:pt x="19087" y="882649"/>
                </a:lnTo>
                <a:lnTo>
                  <a:pt x="19100" y="182879"/>
                </a:lnTo>
                <a:lnTo>
                  <a:pt x="26584" y="134619"/>
                </a:lnTo>
                <a:lnTo>
                  <a:pt x="47461" y="91439"/>
                </a:lnTo>
                <a:lnTo>
                  <a:pt x="79434" y="55879"/>
                </a:lnTo>
                <a:lnTo>
                  <a:pt x="120246" y="31750"/>
                </a:lnTo>
                <a:lnTo>
                  <a:pt x="184531" y="19050"/>
                </a:lnTo>
                <a:lnTo>
                  <a:pt x="2866487" y="19050"/>
                </a:lnTo>
                <a:lnTo>
                  <a:pt x="2849731" y="16510"/>
                </a:lnTo>
                <a:lnTo>
                  <a:pt x="2832173" y="15239"/>
                </a:lnTo>
                <a:close/>
              </a:path>
              <a:path w="3016250" h="1065529">
                <a:moveTo>
                  <a:pt x="2866487" y="19050"/>
                </a:moveTo>
                <a:lnTo>
                  <a:pt x="2832173" y="19050"/>
                </a:lnTo>
                <a:lnTo>
                  <a:pt x="2849539" y="20319"/>
                </a:lnTo>
                <a:lnTo>
                  <a:pt x="2865912" y="22860"/>
                </a:lnTo>
                <a:lnTo>
                  <a:pt x="2911236" y="39369"/>
                </a:lnTo>
                <a:lnTo>
                  <a:pt x="2949185" y="67310"/>
                </a:lnTo>
                <a:lnTo>
                  <a:pt x="2977506" y="105410"/>
                </a:lnTo>
                <a:lnTo>
                  <a:pt x="2993941" y="151129"/>
                </a:lnTo>
                <a:lnTo>
                  <a:pt x="2997187" y="882649"/>
                </a:lnTo>
                <a:lnTo>
                  <a:pt x="2996298" y="899160"/>
                </a:lnTo>
                <a:lnTo>
                  <a:pt x="2984051" y="946149"/>
                </a:lnTo>
                <a:lnTo>
                  <a:pt x="2959228" y="986789"/>
                </a:lnTo>
                <a:lnTo>
                  <a:pt x="2924055" y="1019810"/>
                </a:lnTo>
                <a:lnTo>
                  <a:pt x="2880803" y="1040129"/>
                </a:lnTo>
                <a:lnTo>
                  <a:pt x="2831693" y="1047749"/>
                </a:lnTo>
                <a:lnTo>
                  <a:pt x="2865926" y="1047749"/>
                </a:lnTo>
                <a:lnTo>
                  <a:pt x="2912402" y="1031239"/>
                </a:lnTo>
                <a:lnTo>
                  <a:pt x="2951361" y="1002029"/>
                </a:lnTo>
                <a:lnTo>
                  <a:pt x="2980498" y="962660"/>
                </a:lnTo>
                <a:lnTo>
                  <a:pt x="2997517" y="916939"/>
                </a:lnTo>
                <a:lnTo>
                  <a:pt x="3000997" y="882649"/>
                </a:lnTo>
                <a:lnTo>
                  <a:pt x="3000944" y="182879"/>
                </a:lnTo>
                <a:lnTo>
                  <a:pt x="2993499" y="134619"/>
                </a:lnTo>
                <a:lnTo>
                  <a:pt x="2972327" y="90169"/>
                </a:lnTo>
                <a:lnTo>
                  <a:pt x="2939774" y="53339"/>
                </a:lnTo>
                <a:lnTo>
                  <a:pt x="2898147" y="27939"/>
                </a:lnTo>
                <a:lnTo>
                  <a:pt x="2882653" y="22860"/>
                </a:lnTo>
                <a:lnTo>
                  <a:pt x="2866487" y="19050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218127" y="5793205"/>
            <a:ext cx="1145540" cy="76200"/>
          </a:xfrm>
          <a:custGeom>
            <a:avLst/>
            <a:gdLst/>
            <a:ahLst/>
            <a:cxnLst/>
            <a:rect l="l" t="t" r="r" b="b"/>
            <a:pathLst>
              <a:path w="1145539" h="76200">
                <a:moveTo>
                  <a:pt x="1068915" y="41275"/>
                </a:moveTo>
                <a:lnTo>
                  <a:pt x="1068915" y="76200"/>
                </a:lnTo>
                <a:lnTo>
                  <a:pt x="1138766" y="41275"/>
                </a:lnTo>
                <a:lnTo>
                  <a:pt x="1068915" y="41275"/>
                </a:lnTo>
                <a:close/>
              </a:path>
              <a:path w="1145539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1275"/>
                </a:lnTo>
                <a:lnTo>
                  <a:pt x="61746" y="41275"/>
                </a:lnTo>
                <a:lnTo>
                  <a:pt x="60326" y="39854"/>
                </a:lnTo>
                <a:lnTo>
                  <a:pt x="60325" y="36346"/>
                </a:lnTo>
                <a:lnTo>
                  <a:pt x="61746" y="34925"/>
                </a:lnTo>
                <a:lnTo>
                  <a:pt x="76200" y="34925"/>
                </a:lnTo>
                <a:lnTo>
                  <a:pt x="76200" y="0"/>
                </a:lnTo>
                <a:close/>
              </a:path>
              <a:path w="1145539" h="76200">
                <a:moveTo>
                  <a:pt x="1068915" y="34925"/>
                </a:moveTo>
                <a:lnTo>
                  <a:pt x="1068915" y="41275"/>
                </a:lnTo>
                <a:lnTo>
                  <a:pt x="1083369" y="41275"/>
                </a:lnTo>
                <a:lnTo>
                  <a:pt x="1084790" y="39854"/>
                </a:lnTo>
                <a:lnTo>
                  <a:pt x="1084790" y="36346"/>
                </a:lnTo>
                <a:lnTo>
                  <a:pt x="1083368" y="34925"/>
                </a:lnTo>
                <a:lnTo>
                  <a:pt x="1068915" y="34925"/>
                </a:lnTo>
                <a:close/>
              </a:path>
              <a:path w="1145539" h="76200">
                <a:moveTo>
                  <a:pt x="1068915" y="0"/>
                </a:moveTo>
                <a:lnTo>
                  <a:pt x="1068915" y="34925"/>
                </a:lnTo>
                <a:lnTo>
                  <a:pt x="1081615" y="34925"/>
                </a:lnTo>
                <a:lnTo>
                  <a:pt x="1083368" y="34925"/>
                </a:lnTo>
                <a:lnTo>
                  <a:pt x="1084790" y="36346"/>
                </a:lnTo>
                <a:lnTo>
                  <a:pt x="1084790" y="39854"/>
                </a:lnTo>
                <a:lnTo>
                  <a:pt x="1083368" y="41275"/>
                </a:lnTo>
                <a:lnTo>
                  <a:pt x="1138767" y="41275"/>
                </a:lnTo>
                <a:lnTo>
                  <a:pt x="1145115" y="38101"/>
                </a:lnTo>
                <a:lnTo>
                  <a:pt x="1068915" y="0"/>
                </a:lnTo>
                <a:close/>
              </a:path>
              <a:path w="1145539" h="76200">
                <a:moveTo>
                  <a:pt x="76200" y="34925"/>
                </a:moveTo>
                <a:lnTo>
                  <a:pt x="76200" y="41275"/>
                </a:lnTo>
                <a:lnTo>
                  <a:pt x="1068915" y="41275"/>
                </a:lnTo>
                <a:lnTo>
                  <a:pt x="1068915" y="34925"/>
                </a:lnTo>
                <a:lnTo>
                  <a:pt x="76200" y="34925"/>
                </a:lnTo>
                <a:close/>
              </a:path>
              <a:path w="1145539" h="76200">
                <a:moveTo>
                  <a:pt x="63500" y="34925"/>
                </a:moveTo>
                <a:lnTo>
                  <a:pt x="61745" y="34925"/>
                </a:lnTo>
                <a:lnTo>
                  <a:pt x="60325" y="36346"/>
                </a:lnTo>
                <a:lnTo>
                  <a:pt x="60326" y="39854"/>
                </a:lnTo>
                <a:lnTo>
                  <a:pt x="61746" y="41275"/>
                </a:lnTo>
                <a:lnTo>
                  <a:pt x="76200" y="41275"/>
                </a:lnTo>
                <a:lnTo>
                  <a:pt x="76200" y="34925"/>
                </a:lnTo>
                <a:lnTo>
                  <a:pt x="63500" y="34925"/>
                </a:lnTo>
                <a:close/>
              </a:path>
              <a:path w="1145539" h="76200">
                <a:moveTo>
                  <a:pt x="76200" y="34925"/>
                </a:moveTo>
                <a:lnTo>
                  <a:pt x="63500" y="34925"/>
                </a:lnTo>
                <a:lnTo>
                  <a:pt x="76200" y="34925"/>
                </a:lnTo>
                <a:close/>
              </a:path>
            </a:pathLst>
          </a:custGeom>
          <a:solidFill>
            <a:srgbClr val="F0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054199" y="3350912"/>
            <a:ext cx="203200" cy="1002030"/>
          </a:xfrm>
          <a:custGeom>
            <a:avLst/>
            <a:gdLst/>
            <a:ahLst/>
            <a:cxnLst/>
            <a:rect l="l" t="t" r="r" b="b"/>
            <a:pathLst>
              <a:path w="203200" h="1002029">
                <a:moveTo>
                  <a:pt x="203200" y="900127"/>
                </a:moveTo>
                <a:lnTo>
                  <a:pt x="0" y="900127"/>
                </a:lnTo>
                <a:lnTo>
                  <a:pt x="101600" y="1001726"/>
                </a:lnTo>
                <a:lnTo>
                  <a:pt x="203200" y="900127"/>
                </a:lnTo>
                <a:close/>
              </a:path>
              <a:path w="203200" h="1002029">
                <a:moveTo>
                  <a:pt x="152400" y="0"/>
                </a:moveTo>
                <a:lnTo>
                  <a:pt x="50798" y="0"/>
                </a:lnTo>
                <a:lnTo>
                  <a:pt x="50798" y="900127"/>
                </a:lnTo>
                <a:lnTo>
                  <a:pt x="152400" y="900127"/>
                </a:lnTo>
                <a:lnTo>
                  <a:pt x="152400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178827" y="3316622"/>
            <a:ext cx="203200" cy="1002030"/>
          </a:xfrm>
          <a:custGeom>
            <a:avLst/>
            <a:gdLst/>
            <a:ahLst/>
            <a:cxnLst/>
            <a:rect l="l" t="t" r="r" b="b"/>
            <a:pathLst>
              <a:path w="203200" h="1002029">
                <a:moveTo>
                  <a:pt x="203200" y="900127"/>
                </a:moveTo>
                <a:lnTo>
                  <a:pt x="0" y="900127"/>
                </a:lnTo>
                <a:lnTo>
                  <a:pt x="101600" y="1001726"/>
                </a:lnTo>
                <a:lnTo>
                  <a:pt x="203200" y="900127"/>
                </a:lnTo>
                <a:close/>
              </a:path>
              <a:path w="203200" h="1002029">
                <a:moveTo>
                  <a:pt x="152400" y="0"/>
                </a:moveTo>
                <a:lnTo>
                  <a:pt x="50800" y="0"/>
                </a:lnTo>
                <a:lnTo>
                  <a:pt x="50800" y="900127"/>
                </a:lnTo>
                <a:lnTo>
                  <a:pt x="152400" y="900127"/>
                </a:lnTo>
                <a:lnTo>
                  <a:pt x="152400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2790510" y="5875020"/>
            <a:ext cx="452755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F0AD00"/>
                </a:solidFill>
                <a:latin typeface="Calibri"/>
                <a:cs typeface="Calibri"/>
              </a:rPr>
              <a:t>where </a:t>
            </a:r>
            <a:r>
              <a:rPr dirty="0" sz="2000" spc="-5" b="1">
                <a:solidFill>
                  <a:srgbClr val="F0AD00"/>
                </a:solidFill>
                <a:latin typeface="Calibri"/>
                <a:cs typeface="Calibri"/>
              </a:rPr>
              <a:t>similarity </a:t>
            </a:r>
            <a:r>
              <a:rPr dirty="0" sz="2000" spc="-10" b="1">
                <a:solidFill>
                  <a:srgbClr val="F0AD00"/>
                </a:solidFill>
                <a:latin typeface="Calibri"/>
                <a:cs typeface="Calibri"/>
              </a:rPr>
              <a:t>between </a:t>
            </a:r>
            <a:r>
              <a:rPr dirty="0" sz="2000" spc="-5" b="1">
                <a:solidFill>
                  <a:srgbClr val="F0AD00"/>
                </a:solidFill>
                <a:latin typeface="Calibri"/>
                <a:cs typeface="Calibri"/>
              </a:rPr>
              <a:t>set elements </a:t>
            </a:r>
            <a:r>
              <a:rPr dirty="0" sz="2000" spc="-10" b="1">
                <a:solidFill>
                  <a:srgbClr val="F0AD00"/>
                </a:solidFill>
                <a:latin typeface="Calibri"/>
                <a:cs typeface="Calibri"/>
              </a:rPr>
              <a:t>are  computed </a:t>
            </a:r>
            <a:r>
              <a:rPr dirty="0" sz="2000" spc="-5" b="1">
                <a:solidFill>
                  <a:srgbClr val="F0AD00"/>
                </a:solidFill>
                <a:latin typeface="Calibri"/>
                <a:cs typeface="Calibri"/>
              </a:rPr>
              <a:t>by EMD distribution</a:t>
            </a:r>
            <a:r>
              <a:rPr dirty="0" sz="2000" spc="-35" b="1">
                <a:solidFill>
                  <a:srgbClr val="F0AD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F0AD00"/>
                </a:solidFill>
                <a:latin typeface="Calibri"/>
                <a:cs typeface="Calibri"/>
              </a:rPr>
              <a:t>distance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486494" y="2099564"/>
            <a:ext cx="3083560" cy="2942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5575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Calibri"/>
                <a:cs typeface="Calibri"/>
              </a:rPr>
              <a:t>How</a:t>
            </a:r>
            <a:r>
              <a:rPr dirty="0" sz="2400" spc="-90" b="1">
                <a:latin typeface="Calibri"/>
                <a:cs typeface="Calibri"/>
              </a:rPr>
              <a:t> </a:t>
            </a:r>
            <a:r>
              <a:rPr dirty="0" sz="2400" spc="-5" b="1">
                <a:latin typeface="Calibri"/>
                <a:cs typeface="Calibri"/>
              </a:rPr>
              <a:t>similar?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300">
              <a:latin typeface="Times New Roman"/>
              <a:cs typeface="Times New Roman"/>
            </a:endParaRPr>
          </a:p>
          <a:p>
            <a:pPr marL="12700" marR="1113790">
              <a:lnSpc>
                <a:spcPct val="100800"/>
              </a:lnSpc>
            </a:pPr>
            <a:r>
              <a:rPr dirty="0" sz="2400" spc="-10" b="1">
                <a:solidFill>
                  <a:srgbClr val="0070C0"/>
                </a:solidFill>
                <a:latin typeface="Calibri"/>
                <a:cs typeface="Calibri"/>
              </a:rPr>
              <a:t>Compute</a:t>
            </a:r>
            <a:r>
              <a:rPr dirty="0" sz="2400" spc="-65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400" spc="-15" b="1">
                <a:solidFill>
                  <a:srgbClr val="0070C0"/>
                </a:solidFill>
                <a:latin typeface="Calibri"/>
                <a:cs typeface="Calibri"/>
              </a:rPr>
              <a:t>graph  statistics</a:t>
            </a:r>
            <a:endParaRPr sz="2400">
              <a:latin typeface="Calibri"/>
              <a:cs typeface="Calibri"/>
            </a:endParaRPr>
          </a:p>
          <a:p>
            <a:pPr marL="1358265" marR="94615" indent="-118110">
              <a:lnSpc>
                <a:spcPct val="100800"/>
              </a:lnSpc>
              <a:spcBef>
                <a:spcPts val="1295"/>
              </a:spcBef>
            </a:pP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Report</a:t>
            </a:r>
            <a:r>
              <a:rPr dirty="0" sz="2400" spc="-7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MMD:  set</a:t>
            </a:r>
            <a:r>
              <a:rPr dirty="0" sz="2400" spc="-8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distance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172931" y="2616292"/>
            <a:ext cx="1122680" cy="283845"/>
          </a:xfrm>
          <a:custGeom>
            <a:avLst/>
            <a:gdLst/>
            <a:ahLst/>
            <a:cxnLst/>
            <a:rect l="l" t="t" r="r" b="b"/>
            <a:pathLst>
              <a:path w="1122679" h="283844">
                <a:moveTo>
                  <a:pt x="141706" y="0"/>
                </a:moveTo>
                <a:lnTo>
                  <a:pt x="0" y="141706"/>
                </a:lnTo>
                <a:lnTo>
                  <a:pt x="141706" y="283411"/>
                </a:lnTo>
                <a:lnTo>
                  <a:pt x="141706" y="212558"/>
                </a:lnTo>
                <a:lnTo>
                  <a:pt x="1051661" y="212558"/>
                </a:lnTo>
                <a:lnTo>
                  <a:pt x="1122513" y="141706"/>
                </a:lnTo>
                <a:lnTo>
                  <a:pt x="1051660" y="70853"/>
                </a:lnTo>
                <a:lnTo>
                  <a:pt x="141706" y="70853"/>
                </a:lnTo>
                <a:lnTo>
                  <a:pt x="141706" y="0"/>
                </a:lnTo>
                <a:close/>
              </a:path>
              <a:path w="1122679" h="283844">
                <a:moveTo>
                  <a:pt x="1051661" y="212558"/>
                </a:moveTo>
                <a:lnTo>
                  <a:pt x="980808" y="212558"/>
                </a:lnTo>
                <a:lnTo>
                  <a:pt x="980808" y="283411"/>
                </a:lnTo>
                <a:lnTo>
                  <a:pt x="1051661" y="212558"/>
                </a:lnTo>
                <a:close/>
              </a:path>
              <a:path w="1122679" h="283844">
                <a:moveTo>
                  <a:pt x="980808" y="0"/>
                </a:moveTo>
                <a:lnTo>
                  <a:pt x="980808" y="70853"/>
                </a:lnTo>
                <a:lnTo>
                  <a:pt x="1051660" y="70853"/>
                </a:lnTo>
                <a:lnTo>
                  <a:pt x="98080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069326" y="5129780"/>
            <a:ext cx="1122680" cy="283845"/>
          </a:xfrm>
          <a:custGeom>
            <a:avLst/>
            <a:gdLst/>
            <a:ahLst/>
            <a:cxnLst/>
            <a:rect l="l" t="t" r="r" b="b"/>
            <a:pathLst>
              <a:path w="1122679" h="283845">
                <a:moveTo>
                  <a:pt x="141705" y="0"/>
                </a:moveTo>
                <a:lnTo>
                  <a:pt x="0" y="141706"/>
                </a:lnTo>
                <a:lnTo>
                  <a:pt x="141705" y="283411"/>
                </a:lnTo>
                <a:lnTo>
                  <a:pt x="141705" y="212558"/>
                </a:lnTo>
                <a:lnTo>
                  <a:pt x="1051660" y="212558"/>
                </a:lnTo>
                <a:lnTo>
                  <a:pt x="1122512" y="141706"/>
                </a:lnTo>
                <a:lnTo>
                  <a:pt x="1051659" y="70853"/>
                </a:lnTo>
                <a:lnTo>
                  <a:pt x="141705" y="70853"/>
                </a:lnTo>
                <a:lnTo>
                  <a:pt x="141705" y="0"/>
                </a:lnTo>
                <a:close/>
              </a:path>
              <a:path w="1122679" h="283845">
                <a:moveTo>
                  <a:pt x="1051660" y="212558"/>
                </a:moveTo>
                <a:lnTo>
                  <a:pt x="980807" y="212558"/>
                </a:lnTo>
                <a:lnTo>
                  <a:pt x="980807" y="283411"/>
                </a:lnTo>
                <a:lnTo>
                  <a:pt x="1051660" y="212558"/>
                </a:lnTo>
                <a:close/>
              </a:path>
              <a:path w="1122679" h="283845">
                <a:moveTo>
                  <a:pt x="980807" y="0"/>
                </a:moveTo>
                <a:lnTo>
                  <a:pt x="980807" y="70853"/>
                </a:lnTo>
                <a:lnTo>
                  <a:pt x="1051659" y="70853"/>
                </a:lnTo>
                <a:lnTo>
                  <a:pt x="98080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2673615" y="6699893"/>
            <a:ext cx="4027804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5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51</a:t>
            </a:fld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697382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177800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/>
              <a:t>E</a:t>
            </a:r>
            <a:r>
              <a:rPr dirty="0" sz="3200" spc="-45"/>
              <a:t>x</a:t>
            </a:r>
            <a:r>
              <a:rPr dirty="0" sz="3200" spc="-5"/>
              <a:t>amp</a:t>
            </a:r>
            <a:r>
              <a:rPr dirty="0" sz="3200"/>
              <a:t>le</a:t>
            </a:r>
            <a:endParaRPr sz="3200"/>
          </a:p>
        </p:txBody>
      </p:sp>
      <p:sp>
        <p:nvSpPr>
          <p:cNvPr id="4" name="object 4"/>
          <p:cNvSpPr/>
          <p:nvPr/>
        </p:nvSpPr>
        <p:spPr>
          <a:xfrm>
            <a:off x="814232" y="2219705"/>
            <a:ext cx="2847339" cy="7409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79825" y="2137352"/>
            <a:ext cx="3016250" cy="933450"/>
          </a:xfrm>
          <a:custGeom>
            <a:avLst/>
            <a:gdLst/>
            <a:ahLst/>
            <a:cxnLst/>
            <a:rect l="l" t="t" r="r" b="b"/>
            <a:pathLst>
              <a:path w="3016250" h="933450">
                <a:moveTo>
                  <a:pt x="2854320" y="0"/>
                </a:moveTo>
                <a:lnTo>
                  <a:pt x="144909" y="1269"/>
                </a:lnTo>
                <a:lnTo>
                  <a:pt x="98472" y="13969"/>
                </a:lnTo>
                <a:lnTo>
                  <a:pt x="71381" y="27939"/>
                </a:lnTo>
                <a:lnTo>
                  <a:pt x="71009" y="27939"/>
                </a:lnTo>
                <a:lnTo>
                  <a:pt x="47632" y="48260"/>
                </a:lnTo>
                <a:lnTo>
                  <a:pt x="47202" y="48260"/>
                </a:lnTo>
                <a:lnTo>
                  <a:pt x="27914" y="71119"/>
                </a:lnTo>
                <a:lnTo>
                  <a:pt x="27650" y="72389"/>
                </a:lnTo>
                <a:lnTo>
                  <a:pt x="19338" y="86360"/>
                </a:lnTo>
                <a:lnTo>
                  <a:pt x="12556" y="100330"/>
                </a:lnTo>
                <a:lnTo>
                  <a:pt x="7151" y="114300"/>
                </a:lnTo>
                <a:lnTo>
                  <a:pt x="3205" y="130810"/>
                </a:lnTo>
                <a:lnTo>
                  <a:pt x="798" y="146050"/>
                </a:lnTo>
                <a:lnTo>
                  <a:pt x="0" y="162560"/>
                </a:lnTo>
                <a:lnTo>
                  <a:pt x="12" y="772160"/>
                </a:lnTo>
                <a:lnTo>
                  <a:pt x="7432" y="820420"/>
                </a:lnTo>
                <a:lnTo>
                  <a:pt x="27649" y="862329"/>
                </a:lnTo>
                <a:lnTo>
                  <a:pt x="27915" y="863600"/>
                </a:lnTo>
                <a:lnTo>
                  <a:pt x="47202" y="886460"/>
                </a:lnTo>
                <a:lnTo>
                  <a:pt x="47632" y="886460"/>
                </a:lnTo>
                <a:lnTo>
                  <a:pt x="71009" y="906779"/>
                </a:lnTo>
                <a:lnTo>
                  <a:pt x="71381" y="906779"/>
                </a:lnTo>
                <a:lnTo>
                  <a:pt x="85150" y="914400"/>
                </a:lnTo>
                <a:lnTo>
                  <a:pt x="99332" y="922020"/>
                </a:lnTo>
                <a:lnTo>
                  <a:pt x="114236" y="927100"/>
                </a:lnTo>
                <a:lnTo>
                  <a:pt x="129776" y="930910"/>
                </a:lnTo>
                <a:lnTo>
                  <a:pt x="145865" y="933450"/>
                </a:lnTo>
                <a:lnTo>
                  <a:pt x="2871341" y="933450"/>
                </a:lnTo>
                <a:lnTo>
                  <a:pt x="2887408" y="930910"/>
                </a:lnTo>
                <a:lnTo>
                  <a:pt x="2902914" y="927100"/>
                </a:lnTo>
                <a:lnTo>
                  <a:pt x="2911832" y="923289"/>
                </a:lnTo>
                <a:lnTo>
                  <a:pt x="161928" y="923289"/>
                </a:lnTo>
                <a:lnTo>
                  <a:pt x="146442" y="922020"/>
                </a:lnTo>
                <a:lnTo>
                  <a:pt x="103260" y="910589"/>
                </a:lnTo>
                <a:lnTo>
                  <a:pt x="55516" y="878839"/>
                </a:lnTo>
                <a:lnTo>
                  <a:pt x="29547" y="843279"/>
                </a:lnTo>
                <a:lnTo>
                  <a:pt x="14466" y="802639"/>
                </a:lnTo>
                <a:lnTo>
                  <a:pt x="11427" y="772160"/>
                </a:lnTo>
                <a:lnTo>
                  <a:pt x="11429" y="162560"/>
                </a:lnTo>
                <a:lnTo>
                  <a:pt x="18221" y="118110"/>
                </a:lnTo>
                <a:lnTo>
                  <a:pt x="37109" y="78739"/>
                </a:lnTo>
                <a:lnTo>
                  <a:pt x="77824" y="38100"/>
                </a:lnTo>
                <a:lnTo>
                  <a:pt x="117263" y="19050"/>
                </a:lnTo>
                <a:lnTo>
                  <a:pt x="162024" y="11430"/>
                </a:lnTo>
                <a:lnTo>
                  <a:pt x="2913191" y="11430"/>
                </a:lnTo>
                <a:lnTo>
                  <a:pt x="2902013" y="7619"/>
                </a:lnTo>
                <a:lnTo>
                  <a:pt x="2886473" y="3810"/>
                </a:lnTo>
                <a:lnTo>
                  <a:pt x="2870383" y="1269"/>
                </a:lnTo>
                <a:lnTo>
                  <a:pt x="2854320" y="0"/>
                </a:lnTo>
                <a:close/>
              </a:path>
              <a:path w="3016250" h="933450">
                <a:moveTo>
                  <a:pt x="2913191" y="11430"/>
                </a:moveTo>
                <a:lnTo>
                  <a:pt x="2854320" y="11430"/>
                </a:lnTo>
                <a:lnTo>
                  <a:pt x="2869808" y="12700"/>
                </a:lnTo>
                <a:lnTo>
                  <a:pt x="2884748" y="15239"/>
                </a:lnTo>
                <a:lnTo>
                  <a:pt x="2926139" y="30480"/>
                </a:lnTo>
                <a:lnTo>
                  <a:pt x="2960734" y="55880"/>
                </a:lnTo>
                <a:lnTo>
                  <a:pt x="2986703" y="91439"/>
                </a:lnTo>
                <a:lnTo>
                  <a:pt x="3001783" y="132079"/>
                </a:lnTo>
                <a:lnTo>
                  <a:pt x="3004822" y="162560"/>
                </a:lnTo>
                <a:lnTo>
                  <a:pt x="3004819" y="772160"/>
                </a:lnTo>
                <a:lnTo>
                  <a:pt x="2998027" y="816610"/>
                </a:lnTo>
                <a:lnTo>
                  <a:pt x="2979140" y="855979"/>
                </a:lnTo>
                <a:lnTo>
                  <a:pt x="2938425" y="896620"/>
                </a:lnTo>
                <a:lnTo>
                  <a:pt x="2898986" y="915670"/>
                </a:lnTo>
                <a:lnTo>
                  <a:pt x="2854225" y="923289"/>
                </a:lnTo>
                <a:lnTo>
                  <a:pt x="2911832" y="923289"/>
                </a:lnTo>
                <a:lnTo>
                  <a:pt x="2917777" y="920750"/>
                </a:lnTo>
                <a:lnTo>
                  <a:pt x="2931911" y="914400"/>
                </a:lnTo>
                <a:lnTo>
                  <a:pt x="2944867" y="906779"/>
                </a:lnTo>
                <a:lnTo>
                  <a:pt x="2945240" y="906779"/>
                </a:lnTo>
                <a:lnTo>
                  <a:pt x="2968616" y="886460"/>
                </a:lnTo>
                <a:lnTo>
                  <a:pt x="2969047" y="886460"/>
                </a:lnTo>
                <a:lnTo>
                  <a:pt x="2988335" y="863600"/>
                </a:lnTo>
                <a:lnTo>
                  <a:pt x="2988600" y="862329"/>
                </a:lnTo>
                <a:lnTo>
                  <a:pt x="2996911" y="848360"/>
                </a:lnTo>
                <a:lnTo>
                  <a:pt x="3003693" y="834389"/>
                </a:lnTo>
                <a:lnTo>
                  <a:pt x="3009098" y="820420"/>
                </a:lnTo>
                <a:lnTo>
                  <a:pt x="3013044" y="803910"/>
                </a:lnTo>
                <a:lnTo>
                  <a:pt x="3015450" y="788670"/>
                </a:lnTo>
                <a:lnTo>
                  <a:pt x="3016249" y="772160"/>
                </a:lnTo>
                <a:lnTo>
                  <a:pt x="3016238" y="162560"/>
                </a:lnTo>
                <a:lnTo>
                  <a:pt x="3008817" y="114300"/>
                </a:lnTo>
                <a:lnTo>
                  <a:pt x="2988600" y="72389"/>
                </a:lnTo>
                <a:lnTo>
                  <a:pt x="2988335" y="71119"/>
                </a:lnTo>
                <a:lnTo>
                  <a:pt x="2969047" y="48260"/>
                </a:lnTo>
                <a:lnTo>
                  <a:pt x="2968616" y="48260"/>
                </a:lnTo>
                <a:lnTo>
                  <a:pt x="2945241" y="27939"/>
                </a:lnTo>
                <a:lnTo>
                  <a:pt x="2944867" y="27939"/>
                </a:lnTo>
                <a:lnTo>
                  <a:pt x="2931099" y="20319"/>
                </a:lnTo>
                <a:lnTo>
                  <a:pt x="2916917" y="12700"/>
                </a:lnTo>
                <a:lnTo>
                  <a:pt x="2913191" y="11430"/>
                </a:lnTo>
                <a:close/>
              </a:path>
              <a:path w="3016250" h="933450">
                <a:moveTo>
                  <a:pt x="2854320" y="15239"/>
                </a:moveTo>
                <a:lnTo>
                  <a:pt x="162216" y="15239"/>
                </a:lnTo>
                <a:lnTo>
                  <a:pt x="147208" y="16510"/>
                </a:lnTo>
                <a:lnTo>
                  <a:pt x="105086" y="26669"/>
                </a:lnTo>
                <a:lnTo>
                  <a:pt x="58222" y="58419"/>
                </a:lnTo>
                <a:lnTo>
                  <a:pt x="33068" y="92710"/>
                </a:lnTo>
                <a:lnTo>
                  <a:pt x="18270" y="132079"/>
                </a:lnTo>
                <a:lnTo>
                  <a:pt x="15232" y="772160"/>
                </a:lnTo>
                <a:lnTo>
                  <a:pt x="15961" y="787400"/>
                </a:lnTo>
                <a:lnTo>
                  <a:pt x="26650" y="829310"/>
                </a:lnTo>
                <a:lnTo>
                  <a:pt x="58222" y="876300"/>
                </a:lnTo>
                <a:lnTo>
                  <a:pt x="91764" y="900429"/>
                </a:lnTo>
                <a:lnTo>
                  <a:pt x="132076" y="915670"/>
                </a:lnTo>
                <a:lnTo>
                  <a:pt x="161928" y="919479"/>
                </a:lnTo>
                <a:lnTo>
                  <a:pt x="2854032" y="919479"/>
                </a:lnTo>
                <a:lnTo>
                  <a:pt x="2869041" y="918210"/>
                </a:lnTo>
                <a:lnTo>
                  <a:pt x="2883613" y="915670"/>
                </a:lnTo>
                <a:lnTo>
                  <a:pt x="2853840" y="915670"/>
                </a:lnTo>
                <a:lnTo>
                  <a:pt x="146826" y="914400"/>
                </a:lnTo>
                <a:lnTo>
                  <a:pt x="105880" y="904239"/>
                </a:lnTo>
                <a:lnTo>
                  <a:pt x="60929" y="873760"/>
                </a:lnTo>
                <a:lnTo>
                  <a:pt x="36059" y="839470"/>
                </a:lnTo>
                <a:lnTo>
                  <a:pt x="21846" y="800100"/>
                </a:lnTo>
                <a:lnTo>
                  <a:pt x="19037" y="772160"/>
                </a:lnTo>
                <a:lnTo>
                  <a:pt x="19050" y="162560"/>
                </a:lnTo>
                <a:lnTo>
                  <a:pt x="25601" y="119380"/>
                </a:lnTo>
                <a:lnTo>
                  <a:pt x="43337" y="82550"/>
                </a:lnTo>
                <a:lnTo>
                  <a:pt x="82250" y="44450"/>
                </a:lnTo>
                <a:lnTo>
                  <a:pt x="119882" y="25400"/>
                </a:lnTo>
                <a:lnTo>
                  <a:pt x="162408" y="19050"/>
                </a:lnTo>
                <a:lnTo>
                  <a:pt x="2884173" y="19050"/>
                </a:lnTo>
                <a:lnTo>
                  <a:pt x="2869615" y="16510"/>
                </a:lnTo>
                <a:lnTo>
                  <a:pt x="2854320" y="15239"/>
                </a:lnTo>
                <a:close/>
              </a:path>
              <a:path w="3016250" h="933450">
                <a:moveTo>
                  <a:pt x="2884173" y="19050"/>
                </a:moveTo>
                <a:lnTo>
                  <a:pt x="2854320" y="19050"/>
                </a:lnTo>
                <a:lnTo>
                  <a:pt x="2869423" y="20319"/>
                </a:lnTo>
                <a:lnTo>
                  <a:pt x="2883599" y="22860"/>
                </a:lnTo>
                <a:lnTo>
                  <a:pt x="2922832" y="36830"/>
                </a:lnTo>
                <a:lnTo>
                  <a:pt x="2955321" y="60960"/>
                </a:lnTo>
                <a:lnTo>
                  <a:pt x="2980190" y="95250"/>
                </a:lnTo>
                <a:lnTo>
                  <a:pt x="2994403" y="134620"/>
                </a:lnTo>
                <a:lnTo>
                  <a:pt x="2997212" y="162560"/>
                </a:lnTo>
                <a:lnTo>
                  <a:pt x="2997199" y="772160"/>
                </a:lnTo>
                <a:lnTo>
                  <a:pt x="2990647" y="815339"/>
                </a:lnTo>
                <a:lnTo>
                  <a:pt x="2972913" y="852170"/>
                </a:lnTo>
                <a:lnTo>
                  <a:pt x="2933999" y="890270"/>
                </a:lnTo>
                <a:lnTo>
                  <a:pt x="2896367" y="909320"/>
                </a:lnTo>
                <a:lnTo>
                  <a:pt x="2853840" y="915670"/>
                </a:lnTo>
                <a:lnTo>
                  <a:pt x="2883613" y="915670"/>
                </a:lnTo>
                <a:lnTo>
                  <a:pt x="2923998" y="901700"/>
                </a:lnTo>
                <a:lnTo>
                  <a:pt x="2958027" y="876300"/>
                </a:lnTo>
                <a:lnTo>
                  <a:pt x="2983181" y="842010"/>
                </a:lnTo>
                <a:lnTo>
                  <a:pt x="2997979" y="802639"/>
                </a:lnTo>
                <a:lnTo>
                  <a:pt x="3001017" y="162560"/>
                </a:lnTo>
                <a:lnTo>
                  <a:pt x="3000288" y="147320"/>
                </a:lnTo>
                <a:lnTo>
                  <a:pt x="2989599" y="105410"/>
                </a:lnTo>
                <a:lnTo>
                  <a:pt x="2958027" y="58419"/>
                </a:lnTo>
                <a:lnTo>
                  <a:pt x="2924485" y="34289"/>
                </a:lnTo>
                <a:lnTo>
                  <a:pt x="2898218" y="22860"/>
                </a:lnTo>
                <a:lnTo>
                  <a:pt x="2884173" y="19050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81734" y="2275314"/>
            <a:ext cx="2897291" cy="7177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772302" y="2137352"/>
            <a:ext cx="3016250" cy="933450"/>
          </a:xfrm>
          <a:custGeom>
            <a:avLst/>
            <a:gdLst/>
            <a:ahLst/>
            <a:cxnLst/>
            <a:rect l="l" t="t" r="r" b="b"/>
            <a:pathLst>
              <a:path w="3016250" h="933450">
                <a:moveTo>
                  <a:pt x="2854321" y="0"/>
                </a:moveTo>
                <a:lnTo>
                  <a:pt x="144908" y="1269"/>
                </a:lnTo>
                <a:lnTo>
                  <a:pt x="98471" y="13969"/>
                </a:lnTo>
                <a:lnTo>
                  <a:pt x="71381" y="27939"/>
                </a:lnTo>
                <a:lnTo>
                  <a:pt x="71009" y="27939"/>
                </a:lnTo>
                <a:lnTo>
                  <a:pt x="47632" y="48260"/>
                </a:lnTo>
                <a:lnTo>
                  <a:pt x="47202" y="48260"/>
                </a:lnTo>
                <a:lnTo>
                  <a:pt x="27914" y="71119"/>
                </a:lnTo>
                <a:lnTo>
                  <a:pt x="27649" y="72389"/>
                </a:lnTo>
                <a:lnTo>
                  <a:pt x="19338" y="86360"/>
                </a:lnTo>
                <a:lnTo>
                  <a:pt x="12556" y="100330"/>
                </a:lnTo>
                <a:lnTo>
                  <a:pt x="7151" y="114300"/>
                </a:lnTo>
                <a:lnTo>
                  <a:pt x="3205" y="130810"/>
                </a:lnTo>
                <a:lnTo>
                  <a:pt x="798" y="146050"/>
                </a:lnTo>
                <a:lnTo>
                  <a:pt x="0" y="162560"/>
                </a:lnTo>
                <a:lnTo>
                  <a:pt x="11" y="772160"/>
                </a:lnTo>
                <a:lnTo>
                  <a:pt x="7432" y="820420"/>
                </a:lnTo>
                <a:lnTo>
                  <a:pt x="27649" y="862329"/>
                </a:lnTo>
                <a:lnTo>
                  <a:pt x="27914" y="863600"/>
                </a:lnTo>
                <a:lnTo>
                  <a:pt x="47202" y="886460"/>
                </a:lnTo>
                <a:lnTo>
                  <a:pt x="47632" y="886460"/>
                </a:lnTo>
                <a:lnTo>
                  <a:pt x="71009" y="906779"/>
                </a:lnTo>
                <a:lnTo>
                  <a:pt x="71381" y="906779"/>
                </a:lnTo>
                <a:lnTo>
                  <a:pt x="85149" y="914400"/>
                </a:lnTo>
                <a:lnTo>
                  <a:pt x="99331" y="922020"/>
                </a:lnTo>
                <a:lnTo>
                  <a:pt x="114236" y="927100"/>
                </a:lnTo>
                <a:lnTo>
                  <a:pt x="129776" y="930910"/>
                </a:lnTo>
                <a:lnTo>
                  <a:pt x="145865" y="933450"/>
                </a:lnTo>
                <a:lnTo>
                  <a:pt x="2871340" y="933450"/>
                </a:lnTo>
                <a:lnTo>
                  <a:pt x="2887407" y="930910"/>
                </a:lnTo>
                <a:lnTo>
                  <a:pt x="2902915" y="927100"/>
                </a:lnTo>
                <a:lnTo>
                  <a:pt x="2911832" y="923289"/>
                </a:lnTo>
                <a:lnTo>
                  <a:pt x="161928" y="923289"/>
                </a:lnTo>
                <a:lnTo>
                  <a:pt x="146442" y="922020"/>
                </a:lnTo>
                <a:lnTo>
                  <a:pt x="103261" y="910589"/>
                </a:lnTo>
                <a:lnTo>
                  <a:pt x="55515" y="878839"/>
                </a:lnTo>
                <a:lnTo>
                  <a:pt x="29546" y="843279"/>
                </a:lnTo>
                <a:lnTo>
                  <a:pt x="14465" y="802639"/>
                </a:lnTo>
                <a:lnTo>
                  <a:pt x="11427" y="772160"/>
                </a:lnTo>
                <a:lnTo>
                  <a:pt x="11429" y="162560"/>
                </a:lnTo>
                <a:lnTo>
                  <a:pt x="18221" y="118110"/>
                </a:lnTo>
                <a:lnTo>
                  <a:pt x="37109" y="78739"/>
                </a:lnTo>
                <a:lnTo>
                  <a:pt x="77824" y="38100"/>
                </a:lnTo>
                <a:lnTo>
                  <a:pt x="117262" y="19050"/>
                </a:lnTo>
                <a:lnTo>
                  <a:pt x="162024" y="11430"/>
                </a:lnTo>
                <a:lnTo>
                  <a:pt x="2913191" y="11430"/>
                </a:lnTo>
                <a:lnTo>
                  <a:pt x="2902013" y="7619"/>
                </a:lnTo>
                <a:lnTo>
                  <a:pt x="2886472" y="3810"/>
                </a:lnTo>
                <a:lnTo>
                  <a:pt x="2870384" y="1269"/>
                </a:lnTo>
                <a:lnTo>
                  <a:pt x="2854321" y="0"/>
                </a:lnTo>
                <a:close/>
              </a:path>
              <a:path w="3016250" h="933450">
                <a:moveTo>
                  <a:pt x="2913191" y="11430"/>
                </a:moveTo>
                <a:lnTo>
                  <a:pt x="2854321" y="11430"/>
                </a:lnTo>
                <a:lnTo>
                  <a:pt x="2869807" y="12700"/>
                </a:lnTo>
                <a:lnTo>
                  <a:pt x="2884747" y="15239"/>
                </a:lnTo>
                <a:lnTo>
                  <a:pt x="2926138" y="30480"/>
                </a:lnTo>
                <a:lnTo>
                  <a:pt x="2960733" y="55880"/>
                </a:lnTo>
                <a:lnTo>
                  <a:pt x="2986702" y="91439"/>
                </a:lnTo>
                <a:lnTo>
                  <a:pt x="3001783" y="132079"/>
                </a:lnTo>
                <a:lnTo>
                  <a:pt x="3004822" y="162560"/>
                </a:lnTo>
                <a:lnTo>
                  <a:pt x="3004819" y="772160"/>
                </a:lnTo>
                <a:lnTo>
                  <a:pt x="2998028" y="816610"/>
                </a:lnTo>
                <a:lnTo>
                  <a:pt x="2979139" y="855979"/>
                </a:lnTo>
                <a:lnTo>
                  <a:pt x="2938424" y="896620"/>
                </a:lnTo>
                <a:lnTo>
                  <a:pt x="2898987" y="915670"/>
                </a:lnTo>
                <a:lnTo>
                  <a:pt x="2854224" y="923289"/>
                </a:lnTo>
                <a:lnTo>
                  <a:pt x="2911832" y="923289"/>
                </a:lnTo>
                <a:lnTo>
                  <a:pt x="2917776" y="920750"/>
                </a:lnTo>
                <a:lnTo>
                  <a:pt x="2931910" y="914400"/>
                </a:lnTo>
                <a:lnTo>
                  <a:pt x="2944868" y="906779"/>
                </a:lnTo>
                <a:lnTo>
                  <a:pt x="2945240" y="906779"/>
                </a:lnTo>
                <a:lnTo>
                  <a:pt x="2968617" y="886460"/>
                </a:lnTo>
                <a:lnTo>
                  <a:pt x="2969046" y="886460"/>
                </a:lnTo>
                <a:lnTo>
                  <a:pt x="2988335" y="863600"/>
                </a:lnTo>
                <a:lnTo>
                  <a:pt x="2988599" y="862329"/>
                </a:lnTo>
                <a:lnTo>
                  <a:pt x="2996911" y="848360"/>
                </a:lnTo>
                <a:lnTo>
                  <a:pt x="3003692" y="834389"/>
                </a:lnTo>
                <a:lnTo>
                  <a:pt x="3009097" y="820420"/>
                </a:lnTo>
                <a:lnTo>
                  <a:pt x="3013044" y="803910"/>
                </a:lnTo>
                <a:lnTo>
                  <a:pt x="3015451" y="788670"/>
                </a:lnTo>
                <a:lnTo>
                  <a:pt x="3016249" y="772160"/>
                </a:lnTo>
                <a:lnTo>
                  <a:pt x="3016237" y="162560"/>
                </a:lnTo>
                <a:lnTo>
                  <a:pt x="3008817" y="114300"/>
                </a:lnTo>
                <a:lnTo>
                  <a:pt x="2988599" y="72389"/>
                </a:lnTo>
                <a:lnTo>
                  <a:pt x="2988334" y="71119"/>
                </a:lnTo>
                <a:lnTo>
                  <a:pt x="2969047" y="48260"/>
                </a:lnTo>
                <a:lnTo>
                  <a:pt x="2968617" y="48260"/>
                </a:lnTo>
                <a:lnTo>
                  <a:pt x="2945240" y="27939"/>
                </a:lnTo>
                <a:lnTo>
                  <a:pt x="2944867" y="27939"/>
                </a:lnTo>
                <a:lnTo>
                  <a:pt x="2931099" y="20319"/>
                </a:lnTo>
                <a:lnTo>
                  <a:pt x="2916916" y="12700"/>
                </a:lnTo>
                <a:lnTo>
                  <a:pt x="2913191" y="11430"/>
                </a:lnTo>
                <a:close/>
              </a:path>
              <a:path w="3016250" h="933450">
                <a:moveTo>
                  <a:pt x="2854321" y="15239"/>
                </a:moveTo>
                <a:lnTo>
                  <a:pt x="162215" y="15239"/>
                </a:lnTo>
                <a:lnTo>
                  <a:pt x="147208" y="16510"/>
                </a:lnTo>
                <a:lnTo>
                  <a:pt x="105086" y="26669"/>
                </a:lnTo>
                <a:lnTo>
                  <a:pt x="58221" y="58419"/>
                </a:lnTo>
                <a:lnTo>
                  <a:pt x="33068" y="92710"/>
                </a:lnTo>
                <a:lnTo>
                  <a:pt x="18270" y="132079"/>
                </a:lnTo>
                <a:lnTo>
                  <a:pt x="15232" y="772160"/>
                </a:lnTo>
                <a:lnTo>
                  <a:pt x="15961" y="787400"/>
                </a:lnTo>
                <a:lnTo>
                  <a:pt x="26649" y="829310"/>
                </a:lnTo>
                <a:lnTo>
                  <a:pt x="58221" y="876300"/>
                </a:lnTo>
                <a:lnTo>
                  <a:pt x="91763" y="900429"/>
                </a:lnTo>
                <a:lnTo>
                  <a:pt x="132076" y="915670"/>
                </a:lnTo>
                <a:lnTo>
                  <a:pt x="161928" y="919479"/>
                </a:lnTo>
                <a:lnTo>
                  <a:pt x="2854032" y="919479"/>
                </a:lnTo>
                <a:lnTo>
                  <a:pt x="2869041" y="918210"/>
                </a:lnTo>
                <a:lnTo>
                  <a:pt x="2883612" y="915670"/>
                </a:lnTo>
                <a:lnTo>
                  <a:pt x="2853841" y="915670"/>
                </a:lnTo>
                <a:lnTo>
                  <a:pt x="146825" y="914400"/>
                </a:lnTo>
                <a:lnTo>
                  <a:pt x="105879" y="904239"/>
                </a:lnTo>
                <a:lnTo>
                  <a:pt x="60928" y="873760"/>
                </a:lnTo>
                <a:lnTo>
                  <a:pt x="36059" y="839470"/>
                </a:lnTo>
                <a:lnTo>
                  <a:pt x="21845" y="800100"/>
                </a:lnTo>
                <a:lnTo>
                  <a:pt x="19037" y="772160"/>
                </a:lnTo>
                <a:lnTo>
                  <a:pt x="19050" y="162560"/>
                </a:lnTo>
                <a:lnTo>
                  <a:pt x="25601" y="119380"/>
                </a:lnTo>
                <a:lnTo>
                  <a:pt x="43336" y="82550"/>
                </a:lnTo>
                <a:lnTo>
                  <a:pt x="82250" y="44450"/>
                </a:lnTo>
                <a:lnTo>
                  <a:pt x="119881" y="25400"/>
                </a:lnTo>
                <a:lnTo>
                  <a:pt x="162408" y="19050"/>
                </a:lnTo>
                <a:lnTo>
                  <a:pt x="2884173" y="19050"/>
                </a:lnTo>
                <a:lnTo>
                  <a:pt x="2869615" y="16510"/>
                </a:lnTo>
                <a:lnTo>
                  <a:pt x="2854321" y="15239"/>
                </a:lnTo>
                <a:close/>
              </a:path>
              <a:path w="3016250" h="933450">
                <a:moveTo>
                  <a:pt x="2884173" y="19050"/>
                </a:moveTo>
                <a:lnTo>
                  <a:pt x="2854321" y="19050"/>
                </a:lnTo>
                <a:lnTo>
                  <a:pt x="2869422" y="20319"/>
                </a:lnTo>
                <a:lnTo>
                  <a:pt x="2883598" y="22860"/>
                </a:lnTo>
                <a:lnTo>
                  <a:pt x="2922831" y="36830"/>
                </a:lnTo>
                <a:lnTo>
                  <a:pt x="2955320" y="60960"/>
                </a:lnTo>
                <a:lnTo>
                  <a:pt x="2980189" y="95250"/>
                </a:lnTo>
                <a:lnTo>
                  <a:pt x="2994403" y="134620"/>
                </a:lnTo>
                <a:lnTo>
                  <a:pt x="2997211" y="162560"/>
                </a:lnTo>
                <a:lnTo>
                  <a:pt x="2997199" y="772160"/>
                </a:lnTo>
                <a:lnTo>
                  <a:pt x="2990648" y="815339"/>
                </a:lnTo>
                <a:lnTo>
                  <a:pt x="2972912" y="852170"/>
                </a:lnTo>
                <a:lnTo>
                  <a:pt x="2933998" y="890270"/>
                </a:lnTo>
                <a:lnTo>
                  <a:pt x="2896367" y="909320"/>
                </a:lnTo>
                <a:lnTo>
                  <a:pt x="2853841" y="915670"/>
                </a:lnTo>
                <a:lnTo>
                  <a:pt x="2883612" y="915670"/>
                </a:lnTo>
                <a:lnTo>
                  <a:pt x="2923998" y="901700"/>
                </a:lnTo>
                <a:lnTo>
                  <a:pt x="2958026" y="876300"/>
                </a:lnTo>
                <a:lnTo>
                  <a:pt x="2983181" y="842010"/>
                </a:lnTo>
                <a:lnTo>
                  <a:pt x="2997978" y="802639"/>
                </a:lnTo>
                <a:lnTo>
                  <a:pt x="3001016" y="162560"/>
                </a:lnTo>
                <a:lnTo>
                  <a:pt x="3000288" y="147320"/>
                </a:lnTo>
                <a:lnTo>
                  <a:pt x="2989599" y="105410"/>
                </a:lnTo>
                <a:lnTo>
                  <a:pt x="2958026" y="58419"/>
                </a:lnTo>
                <a:lnTo>
                  <a:pt x="2924484" y="34289"/>
                </a:lnTo>
                <a:lnTo>
                  <a:pt x="2898217" y="22860"/>
                </a:lnTo>
                <a:lnTo>
                  <a:pt x="2884173" y="19050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79838" y="4633929"/>
            <a:ext cx="3016250" cy="1065530"/>
          </a:xfrm>
          <a:custGeom>
            <a:avLst/>
            <a:gdLst/>
            <a:ahLst/>
            <a:cxnLst/>
            <a:rect l="l" t="t" r="r" b="b"/>
            <a:pathLst>
              <a:path w="3016250" h="1065529">
                <a:moveTo>
                  <a:pt x="2850432" y="0"/>
                </a:moveTo>
                <a:lnTo>
                  <a:pt x="164836" y="0"/>
                </a:lnTo>
                <a:lnTo>
                  <a:pt x="128927" y="7619"/>
                </a:lnTo>
                <a:lnTo>
                  <a:pt x="80794" y="31750"/>
                </a:lnTo>
                <a:lnTo>
                  <a:pt x="41758" y="67310"/>
                </a:lnTo>
                <a:lnTo>
                  <a:pt x="14290" y="111760"/>
                </a:lnTo>
                <a:lnTo>
                  <a:pt x="901" y="165100"/>
                </a:lnTo>
                <a:lnTo>
                  <a:pt x="0" y="882649"/>
                </a:lnTo>
                <a:lnTo>
                  <a:pt x="998" y="901699"/>
                </a:lnTo>
                <a:lnTo>
                  <a:pt x="14653" y="953769"/>
                </a:lnTo>
                <a:lnTo>
                  <a:pt x="42337" y="999489"/>
                </a:lnTo>
                <a:lnTo>
                  <a:pt x="81552" y="1035049"/>
                </a:lnTo>
                <a:lnTo>
                  <a:pt x="129829" y="1057910"/>
                </a:lnTo>
                <a:lnTo>
                  <a:pt x="165793" y="1065530"/>
                </a:lnTo>
                <a:lnTo>
                  <a:pt x="2851389" y="1065530"/>
                </a:lnTo>
                <a:lnTo>
                  <a:pt x="2887297" y="1057910"/>
                </a:lnTo>
                <a:lnTo>
                  <a:pt x="2894058" y="1055370"/>
                </a:lnTo>
                <a:lnTo>
                  <a:pt x="2832002" y="1055370"/>
                </a:lnTo>
                <a:lnTo>
                  <a:pt x="166369" y="1054099"/>
                </a:lnTo>
                <a:lnTo>
                  <a:pt x="116813" y="1041399"/>
                </a:lnTo>
                <a:lnTo>
                  <a:pt x="74196" y="1014729"/>
                </a:lnTo>
                <a:lnTo>
                  <a:pt x="40859" y="977899"/>
                </a:lnTo>
                <a:lnTo>
                  <a:pt x="19152" y="933449"/>
                </a:lnTo>
                <a:lnTo>
                  <a:pt x="11478" y="882649"/>
                </a:lnTo>
                <a:lnTo>
                  <a:pt x="11482" y="182879"/>
                </a:lnTo>
                <a:lnTo>
                  <a:pt x="19208" y="132079"/>
                </a:lnTo>
                <a:lnTo>
                  <a:pt x="40962" y="86360"/>
                </a:lnTo>
                <a:lnTo>
                  <a:pt x="74337" y="50800"/>
                </a:lnTo>
                <a:lnTo>
                  <a:pt x="116985" y="24129"/>
                </a:lnTo>
                <a:lnTo>
                  <a:pt x="166560" y="11429"/>
                </a:lnTo>
                <a:lnTo>
                  <a:pt x="2896562" y="11429"/>
                </a:lnTo>
                <a:lnTo>
                  <a:pt x="2886395" y="7619"/>
                </a:lnTo>
                <a:lnTo>
                  <a:pt x="2868727" y="2539"/>
                </a:lnTo>
                <a:lnTo>
                  <a:pt x="2850432" y="0"/>
                </a:lnTo>
                <a:close/>
              </a:path>
              <a:path w="3016250" h="1065529">
                <a:moveTo>
                  <a:pt x="2896562" y="11429"/>
                </a:moveTo>
                <a:lnTo>
                  <a:pt x="2849856" y="11429"/>
                </a:lnTo>
                <a:lnTo>
                  <a:pt x="2867002" y="13969"/>
                </a:lnTo>
                <a:lnTo>
                  <a:pt x="2883549" y="19050"/>
                </a:lnTo>
                <a:lnTo>
                  <a:pt x="2928738" y="40639"/>
                </a:lnTo>
                <a:lnTo>
                  <a:pt x="2965430" y="73660"/>
                </a:lnTo>
                <a:lnTo>
                  <a:pt x="2991274" y="116839"/>
                </a:lnTo>
                <a:lnTo>
                  <a:pt x="3003927" y="166369"/>
                </a:lnTo>
                <a:lnTo>
                  <a:pt x="3004807" y="882649"/>
                </a:lnTo>
                <a:lnTo>
                  <a:pt x="3003908" y="899160"/>
                </a:lnTo>
                <a:lnTo>
                  <a:pt x="2991202" y="949960"/>
                </a:lnTo>
                <a:lnTo>
                  <a:pt x="2965314" y="991869"/>
                </a:lnTo>
                <a:lnTo>
                  <a:pt x="2928586" y="1024889"/>
                </a:lnTo>
                <a:lnTo>
                  <a:pt x="2883369" y="1046479"/>
                </a:lnTo>
                <a:lnTo>
                  <a:pt x="2832002" y="1055370"/>
                </a:lnTo>
                <a:lnTo>
                  <a:pt x="2894058" y="1055370"/>
                </a:lnTo>
                <a:lnTo>
                  <a:pt x="2935431" y="1035049"/>
                </a:lnTo>
                <a:lnTo>
                  <a:pt x="2974467" y="998219"/>
                </a:lnTo>
                <a:lnTo>
                  <a:pt x="3001935" y="953769"/>
                </a:lnTo>
                <a:lnTo>
                  <a:pt x="3015324" y="900429"/>
                </a:lnTo>
                <a:lnTo>
                  <a:pt x="3016237" y="882649"/>
                </a:lnTo>
                <a:lnTo>
                  <a:pt x="3016226" y="182879"/>
                </a:lnTo>
                <a:lnTo>
                  <a:pt x="3007807" y="128269"/>
                </a:lnTo>
                <a:lnTo>
                  <a:pt x="2984519" y="80010"/>
                </a:lnTo>
                <a:lnTo>
                  <a:pt x="2948873" y="40639"/>
                </a:lnTo>
                <a:lnTo>
                  <a:pt x="2903339" y="13969"/>
                </a:lnTo>
                <a:lnTo>
                  <a:pt x="2896562" y="11429"/>
                </a:lnTo>
                <a:close/>
              </a:path>
              <a:path w="3016250" h="1065529">
                <a:moveTo>
                  <a:pt x="2849664" y="15239"/>
                </a:moveTo>
                <a:lnTo>
                  <a:pt x="167135" y="15239"/>
                </a:lnTo>
                <a:lnTo>
                  <a:pt x="150359" y="17779"/>
                </a:lnTo>
                <a:lnTo>
                  <a:pt x="103862" y="35560"/>
                </a:lnTo>
                <a:lnTo>
                  <a:pt x="64885" y="63500"/>
                </a:lnTo>
                <a:lnTo>
                  <a:pt x="35736" y="102869"/>
                </a:lnTo>
                <a:lnTo>
                  <a:pt x="18710" y="149860"/>
                </a:lnTo>
                <a:lnTo>
                  <a:pt x="15280" y="882649"/>
                </a:lnTo>
                <a:lnTo>
                  <a:pt x="16063" y="899160"/>
                </a:lnTo>
                <a:lnTo>
                  <a:pt x="28383" y="947419"/>
                </a:lnTo>
                <a:lnTo>
                  <a:pt x="53615" y="989329"/>
                </a:lnTo>
                <a:lnTo>
                  <a:pt x="89465" y="1022349"/>
                </a:lnTo>
                <a:lnTo>
                  <a:pt x="133625" y="1042669"/>
                </a:lnTo>
                <a:lnTo>
                  <a:pt x="2831810" y="1051560"/>
                </a:lnTo>
                <a:lnTo>
                  <a:pt x="2849090" y="1050289"/>
                </a:lnTo>
                <a:lnTo>
                  <a:pt x="2865865" y="1047749"/>
                </a:lnTo>
                <a:lnTo>
                  <a:pt x="2831619" y="1047749"/>
                </a:lnTo>
                <a:lnTo>
                  <a:pt x="166753" y="1046479"/>
                </a:lnTo>
                <a:lnTo>
                  <a:pt x="119432" y="1033779"/>
                </a:lnTo>
                <a:lnTo>
                  <a:pt x="78760" y="1009649"/>
                </a:lnTo>
                <a:lnTo>
                  <a:pt x="46962" y="974089"/>
                </a:lnTo>
                <a:lnTo>
                  <a:pt x="26307" y="930910"/>
                </a:lnTo>
                <a:lnTo>
                  <a:pt x="19087" y="882649"/>
                </a:lnTo>
                <a:lnTo>
                  <a:pt x="19101" y="182879"/>
                </a:lnTo>
                <a:lnTo>
                  <a:pt x="26588" y="134619"/>
                </a:lnTo>
                <a:lnTo>
                  <a:pt x="47474" y="91439"/>
                </a:lnTo>
                <a:lnTo>
                  <a:pt x="79462" y="55879"/>
                </a:lnTo>
                <a:lnTo>
                  <a:pt x="120292" y="31750"/>
                </a:lnTo>
                <a:lnTo>
                  <a:pt x="167710" y="19050"/>
                </a:lnTo>
                <a:lnTo>
                  <a:pt x="2870470" y="19050"/>
                </a:lnTo>
                <a:lnTo>
                  <a:pt x="2866427" y="17779"/>
                </a:lnTo>
                <a:lnTo>
                  <a:pt x="2849664" y="15239"/>
                </a:lnTo>
                <a:close/>
              </a:path>
              <a:path w="3016250" h="1065529">
                <a:moveTo>
                  <a:pt x="2870470" y="19050"/>
                </a:moveTo>
                <a:lnTo>
                  <a:pt x="2849471" y="19050"/>
                </a:lnTo>
                <a:lnTo>
                  <a:pt x="2865853" y="21589"/>
                </a:lnTo>
                <a:lnTo>
                  <a:pt x="2881652" y="26669"/>
                </a:lnTo>
                <a:lnTo>
                  <a:pt x="2924781" y="46989"/>
                </a:lnTo>
                <a:lnTo>
                  <a:pt x="2959791" y="78739"/>
                </a:lnTo>
                <a:lnTo>
                  <a:pt x="2984409" y="119379"/>
                </a:lnTo>
                <a:lnTo>
                  <a:pt x="2996395" y="167639"/>
                </a:lnTo>
                <a:lnTo>
                  <a:pt x="2997187" y="882649"/>
                </a:lnTo>
                <a:lnTo>
                  <a:pt x="2996298" y="899160"/>
                </a:lnTo>
                <a:lnTo>
                  <a:pt x="2984045" y="946149"/>
                </a:lnTo>
                <a:lnTo>
                  <a:pt x="2959210" y="986789"/>
                </a:lnTo>
                <a:lnTo>
                  <a:pt x="2924023" y="1019810"/>
                </a:lnTo>
                <a:lnTo>
                  <a:pt x="2880750" y="1040129"/>
                </a:lnTo>
                <a:lnTo>
                  <a:pt x="2831619" y="1047749"/>
                </a:lnTo>
                <a:lnTo>
                  <a:pt x="2865865" y="1047749"/>
                </a:lnTo>
                <a:lnTo>
                  <a:pt x="2912363" y="1031239"/>
                </a:lnTo>
                <a:lnTo>
                  <a:pt x="2951340" y="1002029"/>
                </a:lnTo>
                <a:lnTo>
                  <a:pt x="2980488" y="962660"/>
                </a:lnTo>
                <a:lnTo>
                  <a:pt x="2997515" y="916939"/>
                </a:lnTo>
                <a:lnTo>
                  <a:pt x="3000997" y="882649"/>
                </a:lnTo>
                <a:lnTo>
                  <a:pt x="3000945" y="182879"/>
                </a:lnTo>
                <a:lnTo>
                  <a:pt x="2993495" y="133350"/>
                </a:lnTo>
                <a:lnTo>
                  <a:pt x="2972314" y="88900"/>
                </a:lnTo>
                <a:lnTo>
                  <a:pt x="2939746" y="53339"/>
                </a:lnTo>
                <a:lnTo>
                  <a:pt x="2898102" y="27939"/>
                </a:lnTo>
                <a:lnTo>
                  <a:pt x="2882600" y="22860"/>
                </a:lnTo>
                <a:lnTo>
                  <a:pt x="2870470" y="19050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05255" y="4943855"/>
            <a:ext cx="165100" cy="616585"/>
          </a:xfrm>
          <a:custGeom>
            <a:avLst/>
            <a:gdLst/>
            <a:ahLst/>
            <a:cxnLst/>
            <a:rect l="l" t="t" r="r" b="b"/>
            <a:pathLst>
              <a:path w="165100" h="616585">
                <a:moveTo>
                  <a:pt x="164591" y="0"/>
                </a:moveTo>
                <a:lnTo>
                  <a:pt x="0" y="0"/>
                </a:lnTo>
                <a:lnTo>
                  <a:pt x="0" y="616513"/>
                </a:lnTo>
                <a:lnTo>
                  <a:pt x="164591" y="616513"/>
                </a:lnTo>
                <a:lnTo>
                  <a:pt x="16459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103375" y="5047488"/>
            <a:ext cx="165100" cy="513080"/>
          </a:xfrm>
          <a:custGeom>
            <a:avLst/>
            <a:gdLst/>
            <a:ahLst/>
            <a:cxnLst/>
            <a:rect l="l" t="t" r="r" b="b"/>
            <a:pathLst>
              <a:path w="165100" h="513079">
                <a:moveTo>
                  <a:pt x="164592" y="0"/>
                </a:moveTo>
                <a:lnTo>
                  <a:pt x="0" y="0"/>
                </a:lnTo>
                <a:lnTo>
                  <a:pt x="0" y="512881"/>
                </a:lnTo>
                <a:lnTo>
                  <a:pt x="164592" y="512881"/>
                </a:lnTo>
                <a:lnTo>
                  <a:pt x="16459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301496" y="5212079"/>
            <a:ext cx="165100" cy="348615"/>
          </a:xfrm>
          <a:custGeom>
            <a:avLst/>
            <a:gdLst/>
            <a:ahLst/>
            <a:cxnLst/>
            <a:rect l="l" t="t" r="r" b="b"/>
            <a:pathLst>
              <a:path w="165100" h="348614">
                <a:moveTo>
                  <a:pt x="164591" y="0"/>
                </a:moveTo>
                <a:lnTo>
                  <a:pt x="0" y="0"/>
                </a:lnTo>
                <a:lnTo>
                  <a:pt x="0" y="348289"/>
                </a:lnTo>
                <a:lnTo>
                  <a:pt x="164591" y="348289"/>
                </a:lnTo>
                <a:lnTo>
                  <a:pt x="16459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499616" y="4983479"/>
            <a:ext cx="165100" cy="577215"/>
          </a:xfrm>
          <a:custGeom>
            <a:avLst/>
            <a:gdLst/>
            <a:ahLst/>
            <a:cxnLst/>
            <a:rect l="l" t="t" r="r" b="b"/>
            <a:pathLst>
              <a:path w="165100" h="577214">
                <a:moveTo>
                  <a:pt x="164591" y="0"/>
                </a:moveTo>
                <a:lnTo>
                  <a:pt x="0" y="0"/>
                </a:lnTo>
                <a:lnTo>
                  <a:pt x="0" y="576889"/>
                </a:lnTo>
                <a:lnTo>
                  <a:pt x="164591" y="576889"/>
                </a:lnTo>
                <a:lnTo>
                  <a:pt x="16459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850135" y="4791455"/>
            <a:ext cx="165100" cy="780415"/>
          </a:xfrm>
          <a:custGeom>
            <a:avLst/>
            <a:gdLst/>
            <a:ahLst/>
            <a:cxnLst/>
            <a:rect l="l" t="t" r="r" b="b"/>
            <a:pathLst>
              <a:path w="165100" h="780414">
                <a:moveTo>
                  <a:pt x="164591" y="0"/>
                </a:moveTo>
                <a:lnTo>
                  <a:pt x="0" y="0"/>
                </a:lnTo>
                <a:lnTo>
                  <a:pt x="0" y="779838"/>
                </a:lnTo>
                <a:lnTo>
                  <a:pt x="164591" y="779838"/>
                </a:lnTo>
                <a:lnTo>
                  <a:pt x="16459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048255" y="5227320"/>
            <a:ext cx="165100" cy="344170"/>
          </a:xfrm>
          <a:custGeom>
            <a:avLst/>
            <a:gdLst/>
            <a:ahLst/>
            <a:cxnLst/>
            <a:rect l="l" t="t" r="r" b="b"/>
            <a:pathLst>
              <a:path w="165100" h="344170">
                <a:moveTo>
                  <a:pt x="164592" y="0"/>
                </a:moveTo>
                <a:lnTo>
                  <a:pt x="0" y="0"/>
                </a:lnTo>
                <a:lnTo>
                  <a:pt x="0" y="343974"/>
                </a:lnTo>
                <a:lnTo>
                  <a:pt x="164592" y="343974"/>
                </a:lnTo>
                <a:lnTo>
                  <a:pt x="16459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246376" y="5416296"/>
            <a:ext cx="165100" cy="155575"/>
          </a:xfrm>
          <a:custGeom>
            <a:avLst/>
            <a:gdLst/>
            <a:ahLst/>
            <a:cxnLst/>
            <a:rect l="l" t="t" r="r" b="b"/>
            <a:pathLst>
              <a:path w="165100" h="155575">
                <a:moveTo>
                  <a:pt x="164592" y="0"/>
                </a:moveTo>
                <a:lnTo>
                  <a:pt x="0" y="0"/>
                </a:lnTo>
                <a:lnTo>
                  <a:pt x="0" y="154998"/>
                </a:lnTo>
                <a:lnTo>
                  <a:pt x="164592" y="154998"/>
                </a:lnTo>
                <a:lnTo>
                  <a:pt x="16459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444495" y="5291328"/>
            <a:ext cx="165100" cy="280035"/>
          </a:xfrm>
          <a:custGeom>
            <a:avLst/>
            <a:gdLst/>
            <a:ahLst/>
            <a:cxnLst/>
            <a:rect l="l" t="t" r="r" b="b"/>
            <a:pathLst>
              <a:path w="165100" h="280035">
                <a:moveTo>
                  <a:pt x="164592" y="0"/>
                </a:moveTo>
                <a:lnTo>
                  <a:pt x="0" y="0"/>
                </a:lnTo>
                <a:lnTo>
                  <a:pt x="0" y="279966"/>
                </a:lnTo>
                <a:lnTo>
                  <a:pt x="164592" y="279966"/>
                </a:lnTo>
                <a:lnTo>
                  <a:pt x="16459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773679" y="4721352"/>
            <a:ext cx="165100" cy="855980"/>
          </a:xfrm>
          <a:custGeom>
            <a:avLst/>
            <a:gdLst/>
            <a:ahLst/>
            <a:cxnLst/>
            <a:rect l="l" t="t" r="r" b="b"/>
            <a:pathLst>
              <a:path w="165100" h="855979">
                <a:moveTo>
                  <a:pt x="164592" y="0"/>
                </a:moveTo>
                <a:lnTo>
                  <a:pt x="0" y="0"/>
                </a:lnTo>
                <a:lnTo>
                  <a:pt x="0" y="855710"/>
                </a:lnTo>
                <a:lnTo>
                  <a:pt x="164592" y="855710"/>
                </a:lnTo>
                <a:lnTo>
                  <a:pt x="16459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971800" y="5151120"/>
            <a:ext cx="165100" cy="426084"/>
          </a:xfrm>
          <a:custGeom>
            <a:avLst/>
            <a:gdLst/>
            <a:ahLst/>
            <a:cxnLst/>
            <a:rect l="l" t="t" r="r" b="b"/>
            <a:pathLst>
              <a:path w="165100" h="426085">
                <a:moveTo>
                  <a:pt x="164592" y="0"/>
                </a:moveTo>
                <a:lnTo>
                  <a:pt x="0" y="0"/>
                </a:lnTo>
                <a:lnTo>
                  <a:pt x="0" y="425942"/>
                </a:lnTo>
                <a:lnTo>
                  <a:pt x="164592" y="425942"/>
                </a:lnTo>
                <a:lnTo>
                  <a:pt x="16459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166872" y="5257800"/>
            <a:ext cx="165100" cy="319405"/>
          </a:xfrm>
          <a:custGeom>
            <a:avLst/>
            <a:gdLst/>
            <a:ahLst/>
            <a:cxnLst/>
            <a:rect l="l" t="t" r="r" b="b"/>
            <a:pathLst>
              <a:path w="165100" h="319404">
                <a:moveTo>
                  <a:pt x="164591" y="0"/>
                </a:moveTo>
                <a:lnTo>
                  <a:pt x="0" y="0"/>
                </a:lnTo>
                <a:lnTo>
                  <a:pt x="0" y="319262"/>
                </a:lnTo>
                <a:lnTo>
                  <a:pt x="164591" y="319262"/>
                </a:lnTo>
                <a:lnTo>
                  <a:pt x="16459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364991" y="5044440"/>
            <a:ext cx="165100" cy="532765"/>
          </a:xfrm>
          <a:custGeom>
            <a:avLst/>
            <a:gdLst/>
            <a:ahLst/>
            <a:cxnLst/>
            <a:rect l="l" t="t" r="r" b="b"/>
            <a:pathLst>
              <a:path w="165100" h="532764">
                <a:moveTo>
                  <a:pt x="164592" y="0"/>
                </a:moveTo>
                <a:lnTo>
                  <a:pt x="0" y="0"/>
                </a:lnTo>
                <a:lnTo>
                  <a:pt x="0" y="532622"/>
                </a:lnTo>
                <a:lnTo>
                  <a:pt x="164592" y="532622"/>
                </a:lnTo>
                <a:lnTo>
                  <a:pt x="16459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952744" y="4730496"/>
            <a:ext cx="165100" cy="842644"/>
          </a:xfrm>
          <a:custGeom>
            <a:avLst/>
            <a:gdLst/>
            <a:ahLst/>
            <a:cxnLst/>
            <a:rect l="l" t="t" r="r" b="b"/>
            <a:pathLst>
              <a:path w="165100" h="842645">
                <a:moveTo>
                  <a:pt x="164591" y="0"/>
                </a:moveTo>
                <a:lnTo>
                  <a:pt x="0" y="0"/>
                </a:lnTo>
                <a:lnTo>
                  <a:pt x="0" y="842330"/>
                </a:lnTo>
                <a:lnTo>
                  <a:pt x="164591" y="842330"/>
                </a:lnTo>
                <a:lnTo>
                  <a:pt x="16459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150864" y="5236464"/>
            <a:ext cx="165100" cy="336550"/>
          </a:xfrm>
          <a:custGeom>
            <a:avLst/>
            <a:gdLst/>
            <a:ahLst/>
            <a:cxnLst/>
            <a:rect l="l" t="t" r="r" b="b"/>
            <a:pathLst>
              <a:path w="165100" h="336550">
                <a:moveTo>
                  <a:pt x="164591" y="0"/>
                </a:moveTo>
                <a:lnTo>
                  <a:pt x="0" y="0"/>
                </a:lnTo>
                <a:lnTo>
                  <a:pt x="0" y="336362"/>
                </a:lnTo>
                <a:lnTo>
                  <a:pt x="164591" y="336362"/>
                </a:lnTo>
                <a:lnTo>
                  <a:pt x="16459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345935" y="5352288"/>
            <a:ext cx="165100" cy="220979"/>
          </a:xfrm>
          <a:custGeom>
            <a:avLst/>
            <a:gdLst/>
            <a:ahLst/>
            <a:cxnLst/>
            <a:rect l="l" t="t" r="r" b="b"/>
            <a:pathLst>
              <a:path w="165100" h="220979">
                <a:moveTo>
                  <a:pt x="164591" y="0"/>
                </a:moveTo>
                <a:lnTo>
                  <a:pt x="0" y="0"/>
                </a:lnTo>
                <a:lnTo>
                  <a:pt x="0" y="220538"/>
                </a:lnTo>
                <a:lnTo>
                  <a:pt x="164591" y="220538"/>
                </a:lnTo>
                <a:lnTo>
                  <a:pt x="16459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544056" y="5285232"/>
            <a:ext cx="165100" cy="287655"/>
          </a:xfrm>
          <a:custGeom>
            <a:avLst/>
            <a:gdLst/>
            <a:ahLst/>
            <a:cxnLst/>
            <a:rect l="l" t="t" r="r" b="b"/>
            <a:pathLst>
              <a:path w="165100" h="287654">
                <a:moveTo>
                  <a:pt x="164592" y="0"/>
                </a:moveTo>
                <a:lnTo>
                  <a:pt x="0" y="0"/>
                </a:lnTo>
                <a:lnTo>
                  <a:pt x="0" y="287594"/>
                </a:lnTo>
                <a:lnTo>
                  <a:pt x="164592" y="287594"/>
                </a:lnTo>
                <a:lnTo>
                  <a:pt x="16459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943343" y="4806696"/>
            <a:ext cx="158750" cy="755015"/>
          </a:xfrm>
          <a:custGeom>
            <a:avLst/>
            <a:gdLst/>
            <a:ahLst/>
            <a:cxnLst/>
            <a:rect l="l" t="t" r="r" b="b"/>
            <a:pathLst>
              <a:path w="158750" h="755014">
                <a:moveTo>
                  <a:pt x="158496" y="0"/>
                </a:moveTo>
                <a:lnTo>
                  <a:pt x="0" y="0"/>
                </a:lnTo>
                <a:lnTo>
                  <a:pt x="0" y="754611"/>
                </a:lnTo>
                <a:lnTo>
                  <a:pt x="158496" y="754611"/>
                </a:lnTo>
                <a:lnTo>
                  <a:pt x="158496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135368" y="5023103"/>
            <a:ext cx="158750" cy="538480"/>
          </a:xfrm>
          <a:custGeom>
            <a:avLst/>
            <a:gdLst/>
            <a:ahLst/>
            <a:cxnLst/>
            <a:rect l="l" t="t" r="r" b="b"/>
            <a:pathLst>
              <a:path w="158750" h="538479">
                <a:moveTo>
                  <a:pt x="158496" y="0"/>
                </a:moveTo>
                <a:lnTo>
                  <a:pt x="0" y="0"/>
                </a:lnTo>
                <a:lnTo>
                  <a:pt x="0" y="538203"/>
                </a:lnTo>
                <a:lnTo>
                  <a:pt x="158496" y="538203"/>
                </a:lnTo>
                <a:lnTo>
                  <a:pt x="158496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324343" y="5236464"/>
            <a:ext cx="158750" cy="325120"/>
          </a:xfrm>
          <a:custGeom>
            <a:avLst/>
            <a:gdLst/>
            <a:ahLst/>
            <a:cxnLst/>
            <a:rect l="l" t="t" r="r" b="b"/>
            <a:pathLst>
              <a:path w="158750" h="325120">
                <a:moveTo>
                  <a:pt x="158496" y="0"/>
                </a:moveTo>
                <a:lnTo>
                  <a:pt x="0" y="0"/>
                </a:lnTo>
                <a:lnTo>
                  <a:pt x="0" y="324843"/>
                </a:lnTo>
                <a:lnTo>
                  <a:pt x="158496" y="324843"/>
                </a:lnTo>
                <a:lnTo>
                  <a:pt x="158496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516368" y="5023103"/>
            <a:ext cx="158750" cy="538480"/>
          </a:xfrm>
          <a:custGeom>
            <a:avLst/>
            <a:gdLst/>
            <a:ahLst/>
            <a:cxnLst/>
            <a:rect l="l" t="t" r="r" b="b"/>
            <a:pathLst>
              <a:path w="158750" h="538479">
                <a:moveTo>
                  <a:pt x="158496" y="0"/>
                </a:moveTo>
                <a:lnTo>
                  <a:pt x="0" y="0"/>
                </a:lnTo>
                <a:lnTo>
                  <a:pt x="0" y="538203"/>
                </a:lnTo>
                <a:lnTo>
                  <a:pt x="158496" y="538203"/>
                </a:lnTo>
                <a:lnTo>
                  <a:pt x="158496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912607" y="4901184"/>
            <a:ext cx="158750" cy="648970"/>
          </a:xfrm>
          <a:custGeom>
            <a:avLst/>
            <a:gdLst/>
            <a:ahLst/>
            <a:cxnLst/>
            <a:rect l="l" t="t" r="r" b="b"/>
            <a:pathLst>
              <a:path w="158750" h="648970">
                <a:moveTo>
                  <a:pt x="158496" y="0"/>
                </a:moveTo>
                <a:lnTo>
                  <a:pt x="0" y="0"/>
                </a:lnTo>
                <a:lnTo>
                  <a:pt x="0" y="648605"/>
                </a:lnTo>
                <a:lnTo>
                  <a:pt x="158496" y="648605"/>
                </a:lnTo>
                <a:lnTo>
                  <a:pt x="158496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101583" y="5233415"/>
            <a:ext cx="158750" cy="316865"/>
          </a:xfrm>
          <a:custGeom>
            <a:avLst/>
            <a:gdLst/>
            <a:ahLst/>
            <a:cxnLst/>
            <a:rect l="l" t="t" r="r" b="b"/>
            <a:pathLst>
              <a:path w="158750" h="316864">
                <a:moveTo>
                  <a:pt x="158496" y="0"/>
                </a:moveTo>
                <a:lnTo>
                  <a:pt x="0" y="0"/>
                </a:lnTo>
                <a:lnTo>
                  <a:pt x="0" y="316373"/>
                </a:lnTo>
                <a:lnTo>
                  <a:pt x="158496" y="316373"/>
                </a:lnTo>
                <a:lnTo>
                  <a:pt x="158496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8293607" y="5334000"/>
            <a:ext cx="158750" cy="215900"/>
          </a:xfrm>
          <a:custGeom>
            <a:avLst/>
            <a:gdLst/>
            <a:ahLst/>
            <a:cxnLst/>
            <a:rect l="l" t="t" r="r" b="b"/>
            <a:pathLst>
              <a:path w="158750" h="215900">
                <a:moveTo>
                  <a:pt x="158496" y="0"/>
                </a:moveTo>
                <a:lnTo>
                  <a:pt x="0" y="0"/>
                </a:lnTo>
                <a:lnTo>
                  <a:pt x="0" y="215789"/>
                </a:lnTo>
                <a:lnTo>
                  <a:pt x="158496" y="215789"/>
                </a:lnTo>
                <a:lnTo>
                  <a:pt x="158496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8482583" y="5291328"/>
            <a:ext cx="158750" cy="259079"/>
          </a:xfrm>
          <a:custGeom>
            <a:avLst/>
            <a:gdLst/>
            <a:ahLst/>
            <a:cxnLst/>
            <a:rect l="l" t="t" r="r" b="b"/>
            <a:pathLst>
              <a:path w="158750" h="259079">
                <a:moveTo>
                  <a:pt x="158496" y="0"/>
                </a:moveTo>
                <a:lnTo>
                  <a:pt x="0" y="0"/>
                </a:lnTo>
                <a:lnTo>
                  <a:pt x="0" y="258461"/>
                </a:lnTo>
                <a:lnTo>
                  <a:pt x="158496" y="258461"/>
                </a:lnTo>
                <a:lnTo>
                  <a:pt x="158496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772315" y="4633483"/>
            <a:ext cx="3016250" cy="1065530"/>
          </a:xfrm>
          <a:custGeom>
            <a:avLst/>
            <a:gdLst/>
            <a:ahLst/>
            <a:cxnLst/>
            <a:rect l="l" t="t" r="r" b="b"/>
            <a:pathLst>
              <a:path w="3016250" h="1065529">
                <a:moveTo>
                  <a:pt x="2832173" y="0"/>
                </a:moveTo>
                <a:lnTo>
                  <a:pt x="183570" y="0"/>
                </a:lnTo>
                <a:lnTo>
                  <a:pt x="164768" y="1269"/>
                </a:lnTo>
                <a:lnTo>
                  <a:pt x="111978" y="13969"/>
                </a:lnTo>
                <a:lnTo>
                  <a:pt x="66621" y="41910"/>
                </a:lnTo>
                <a:lnTo>
                  <a:pt x="31181" y="81279"/>
                </a:lnTo>
                <a:lnTo>
                  <a:pt x="8134" y="129539"/>
                </a:lnTo>
                <a:lnTo>
                  <a:pt x="48" y="182879"/>
                </a:lnTo>
                <a:lnTo>
                  <a:pt x="0" y="882649"/>
                </a:lnTo>
                <a:lnTo>
                  <a:pt x="998" y="901699"/>
                </a:lnTo>
                <a:lnTo>
                  <a:pt x="14648" y="953769"/>
                </a:lnTo>
                <a:lnTo>
                  <a:pt x="42320" y="999489"/>
                </a:lnTo>
                <a:lnTo>
                  <a:pt x="81520" y="1035049"/>
                </a:lnTo>
                <a:lnTo>
                  <a:pt x="129776" y="1057910"/>
                </a:lnTo>
                <a:lnTo>
                  <a:pt x="165724" y="1065530"/>
                </a:lnTo>
                <a:lnTo>
                  <a:pt x="2851456" y="1065530"/>
                </a:lnTo>
                <a:lnTo>
                  <a:pt x="2887350" y="1057910"/>
                </a:lnTo>
                <a:lnTo>
                  <a:pt x="2894108" y="1055370"/>
                </a:lnTo>
                <a:lnTo>
                  <a:pt x="184050" y="1055370"/>
                </a:lnTo>
                <a:lnTo>
                  <a:pt x="166301" y="1054099"/>
                </a:lnTo>
                <a:lnTo>
                  <a:pt x="116767" y="1041399"/>
                </a:lnTo>
                <a:lnTo>
                  <a:pt x="74169" y="1014729"/>
                </a:lnTo>
                <a:lnTo>
                  <a:pt x="40847" y="979169"/>
                </a:lnTo>
                <a:lnTo>
                  <a:pt x="19149" y="933449"/>
                </a:lnTo>
                <a:lnTo>
                  <a:pt x="11477" y="882649"/>
                </a:lnTo>
                <a:lnTo>
                  <a:pt x="11481" y="182879"/>
                </a:lnTo>
                <a:lnTo>
                  <a:pt x="19204" y="132079"/>
                </a:lnTo>
                <a:lnTo>
                  <a:pt x="40948" y="87629"/>
                </a:lnTo>
                <a:lnTo>
                  <a:pt x="74310" y="50800"/>
                </a:lnTo>
                <a:lnTo>
                  <a:pt x="116939" y="25400"/>
                </a:lnTo>
                <a:lnTo>
                  <a:pt x="166493" y="12700"/>
                </a:lnTo>
                <a:lnTo>
                  <a:pt x="184147" y="11429"/>
                </a:lnTo>
                <a:lnTo>
                  <a:pt x="2896611" y="11429"/>
                </a:lnTo>
                <a:lnTo>
                  <a:pt x="2886448" y="7619"/>
                </a:lnTo>
                <a:lnTo>
                  <a:pt x="2868786" y="3810"/>
                </a:lnTo>
                <a:lnTo>
                  <a:pt x="2850499" y="1269"/>
                </a:lnTo>
                <a:lnTo>
                  <a:pt x="2832173" y="0"/>
                </a:lnTo>
                <a:close/>
              </a:path>
              <a:path w="3016250" h="1065529">
                <a:moveTo>
                  <a:pt x="2896611" y="11429"/>
                </a:moveTo>
                <a:lnTo>
                  <a:pt x="2832173" y="11429"/>
                </a:lnTo>
                <a:lnTo>
                  <a:pt x="2849923" y="12700"/>
                </a:lnTo>
                <a:lnTo>
                  <a:pt x="2867061" y="15239"/>
                </a:lnTo>
                <a:lnTo>
                  <a:pt x="2914543" y="31750"/>
                </a:lnTo>
                <a:lnTo>
                  <a:pt x="2954310" y="62229"/>
                </a:lnTo>
                <a:lnTo>
                  <a:pt x="2984018" y="101600"/>
                </a:lnTo>
                <a:lnTo>
                  <a:pt x="3001321" y="149860"/>
                </a:lnTo>
                <a:lnTo>
                  <a:pt x="3004807" y="882649"/>
                </a:lnTo>
                <a:lnTo>
                  <a:pt x="3003909" y="900429"/>
                </a:lnTo>
                <a:lnTo>
                  <a:pt x="2991208" y="949960"/>
                </a:lnTo>
                <a:lnTo>
                  <a:pt x="2965330" y="991869"/>
                </a:lnTo>
                <a:lnTo>
                  <a:pt x="2928620" y="1024889"/>
                </a:lnTo>
                <a:lnTo>
                  <a:pt x="2883421" y="1046479"/>
                </a:lnTo>
                <a:lnTo>
                  <a:pt x="2832078" y="1055370"/>
                </a:lnTo>
                <a:lnTo>
                  <a:pt x="2894108" y="1055370"/>
                </a:lnTo>
                <a:lnTo>
                  <a:pt x="2935464" y="1035049"/>
                </a:lnTo>
                <a:lnTo>
                  <a:pt x="2974484" y="998219"/>
                </a:lnTo>
                <a:lnTo>
                  <a:pt x="3001940" y="953769"/>
                </a:lnTo>
                <a:lnTo>
                  <a:pt x="3015324" y="900429"/>
                </a:lnTo>
                <a:lnTo>
                  <a:pt x="3016237" y="882649"/>
                </a:lnTo>
                <a:lnTo>
                  <a:pt x="3016225" y="182879"/>
                </a:lnTo>
                <a:lnTo>
                  <a:pt x="3007810" y="128269"/>
                </a:lnTo>
                <a:lnTo>
                  <a:pt x="2984531" y="81279"/>
                </a:lnTo>
                <a:lnTo>
                  <a:pt x="2948900" y="41910"/>
                </a:lnTo>
                <a:lnTo>
                  <a:pt x="2903386" y="13969"/>
                </a:lnTo>
                <a:lnTo>
                  <a:pt x="2896611" y="11429"/>
                </a:lnTo>
                <a:close/>
              </a:path>
              <a:path w="3016250" h="1065529">
                <a:moveTo>
                  <a:pt x="2832173" y="15239"/>
                </a:moveTo>
                <a:lnTo>
                  <a:pt x="184339" y="15239"/>
                </a:lnTo>
                <a:lnTo>
                  <a:pt x="167067" y="16510"/>
                </a:lnTo>
                <a:lnTo>
                  <a:pt x="118592" y="27939"/>
                </a:lnTo>
                <a:lnTo>
                  <a:pt x="76871" y="53339"/>
                </a:lnTo>
                <a:lnTo>
                  <a:pt x="44204" y="88900"/>
                </a:lnTo>
                <a:lnTo>
                  <a:pt x="22894" y="133350"/>
                </a:lnTo>
                <a:lnTo>
                  <a:pt x="15291" y="182879"/>
                </a:lnTo>
                <a:lnTo>
                  <a:pt x="15281" y="882649"/>
                </a:lnTo>
                <a:lnTo>
                  <a:pt x="16062" y="899160"/>
                </a:lnTo>
                <a:lnTo>
                  <a:pt x="28378" y="947419"/>
                </a:lnTo>
                <a:lnTo>
                  <a:pt x="53597" y="989329"/>
                </a:lnTo>
                <a:lnTo>
                  <a:pt x="89432" y="1022349"/>
                </a:lnTo>
                <a:lnTo>
                  <a:pt x="133572" y="1042669"/>
                </a:lnTo>
                <a:lnTo>
                  <a:pt x="184050" y="1051560"/>
                </a:lnTo>
                <a:lnTo>
                  <a:pt x="2831885" y="1051560"/>
                </a:lnTo>
                <a:lnTo>
                  <a:pt x="2849157" y="1050289"/>
                </a:lnTo>
                <a:lnTo>
                  <a:pt x="2865926" y="1047749"/>
                </a:lnTo>
                <a:lnTo>
                  <a:pt x="2831693" y="1047749"/>
                </a:lnTo>
                <a:lnTo>
                  <a:pt x="166686" y="1046479"/>
                </a:lnTo>
                <a:lnTo>
                  <a:pt x="119386" y="1033779"/>
                </a:lnTo>
                <a:lnTo>
                  <a:pt x="78732" y="1009649"/>
                </a:lnTo>
                <a:lnTo>
                  <a:pt x="46949" y="974089"/>
                </a:lnTo>
                <a:lnTo>
                  <a:pt x="26304" y="930910"/>
                </a:lnTo>
                <a:lnTo>
                  <a:pt x="19087" y="882649"/>
                </a:lnTo>
                <a:lnTo>
                  <a:pt x="19100" y="182879"/>
                </a:lnTo>
                <a:lnTo>
                  <a:pt x="26584" y="134619"/>
                </a:lnTo>
                <a:lnTo>
                  <a:pt x="47461" y="91439"/>
                </a:lnTo>
                <a:lnTo>
                  <a:pt x="79434" y="55879"/>
                </a:lnTo>
                <a:lnTo>
                  <a:pt x="120246" y="31750"/>
                </a:lnTo>
                <a:lnTo>
                  <a:pt x="184531" y="19050"/>
                </a:lnTo>
                <a:lnTo>
                  <a:pt x="2866487" y="19050"/>
                </a:lnTo>
                <a:lnTo>
                  <a:pt x="2849731" y="16510"/>
                </a:lnTo>
                <a:lnTo>
                  <a:pt x="2832173" y="15239"/>
                </a:lnTo>
                <a:close/>
              </a:path>
              <a:path w="3016250" h="1065529">
                <a:moveTo>
                  <a:pt x="2866487" y="19050"/>
                </a:moveTo>
                <a:lnTo>
                  <a:pt x="2832173" y="19050"/>
                </a:lnTo>
                <a:lnTo>
                  <a:pt x="2849539" y="20319"/>
                </a:lnTo>
                <a:lnTo>
                  <a:pt x="2865912" y="22860"/>
                </a:lnTo>
                <a:lnTo>
                  <a:pt x="2911236" y="39369"/>
                </a:lnTo>
                <a:lnTo>
                  <a:pt x="2949185" y="67310"/>
                </a:lnTo>
                <a:lnTo>
                  <a:pt x="2977506" y="105410"/>
                </a:lnTo>
                <a:lnTo>
                  <a:pt x="2993941" y="151129"/>
                </a:lnTo>
                <a:lnTo>
                  <a:pt x="2997187" y="882649"/>
                </a:lnTo>
                <a:lnTo>
                  <a:pt x="2996298" y="899160"/>
                </a:lnTo>
                <a:lnTo>
                  <a:pt x="2984051" y="946149"/>
                </a:lnTo>
                <a:lnTo>
                  <a:pt x="2959228" y="986789"/>
                </a:lnTo>
                <a:lnTo>
                  <a:pt x="2924055" y="1019810"/>
                </a:lnTo>
                <a:lnTo>
                  <a:pt x="2880803" y="1040129"/>
                </a:lnTo>
                <a:lnTo>
                  <a:pt x="2831693" y="1047749"/>
                </a:lnTo>
                <a:lnTo>
                  <a:pt x="2865926" y="1047749"/>
                </a:lnTo>
                <a:lnTo>
                  <a:pt x="2912402" y="1031239"/>
                </a:lnTo>
                <a:lnTo>
                  <a:pt x="2951361" y="1002029"/>
                </a:lnTo>
                <a:lnTo>
                  <a:pt x="2980498" y="962660"/>
                </a:lnTo>
                <a:lnTo>
                  <a:pt x="2997517" y="916939"/>
                </a:lnTo>
                <a:lnTo>
                  <a:pt x="3000997" y="882649"/>
                </a:lnTo>
                <a:lnTo>
                  <a:pt x="3000944" y="182879"/>
                </a:lnTo>
                <a:lnTo>
                  <a:pt x="2993499" y="134619"/>
                </a:lnTo>
                <a:lnTo>
                  <a:pt x="2972327" y="90169"/>
                </a:lnTo>
                <a:lnTo>
                  <a:pt x="2939774" y="53339"/>
                </a:lnTo>
                <a:lnTo>
                  <a:pt x="2898147" y="27939"/>
                </a:lnTo>
                <a:lnTo>
                  <a:pt x="2882653" y="22860"/>
                </a:lnTo>
                <a:lnTo>
                  <a:pt x="2866487" y="19050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054199" y="3350912"/>
            <a:ext cx="203200" cy="1002030"/>
          </a:xfrm>
          <a:custGeom>
            <a:avLst/>
            <a:gdLst/>
            <a:ahLst/>
            <a:cxnLst/>
            <a:rect l="l" t="t" r="r" b="b"/>
            <a:pathLst>
              <a:path w="203200" h="1002029">
                <a:moveTo>
                  <a:pt x="203200" y="900127"/>
                </a:moveTo>
                <a:lnTo>
                  <a:pt x="0" y="900127"/>
                </a:lnTo>
                <a:lnTo>
                  <a:pt x="101600" y="1001726"/>
                </a:lnTo>
                <a:lnTo>
                  <a:pt x="203200" y="900127"/>
                </a:lnTo>
                <a:close/>
              </a:path>
              <a:path w="203200" h="1002029">
                <a:moveTo>
                  <a:pt x="152400" y="0"/>
                </a:moveTo>
                <a:lnTo>
                  <a:pt x="50798" y="0"/>
                </a:lnTo>
                <a:lnTo>
                  <a:pt x="50798" y="900127"/>
                </a:lnTo>
                <a:lnTo>
                  <a:pt x="152400" y="900127"/>
                </a:lnTo>
                <a:lnTo>
                  <a:pt x="152400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178827" y="3316622"/>
            <a:ext cx="203200" cy="1002030"/>
          </a:xfrm>
          <a:custGeom>
            <a:avLst/>
            <a:gdLst/>
            <a:ahLst/>
            <a:cxnLst/>
            <a:rect l="l" t="t" r="r" b="b"/>
            <a:pathLst>
              <a:path w="203200" h="1002029">
                <a:moveTo>
                  <a:pt x="203200" y="900127"/>
                </a:moveTo>
                <a:lnTo>
                  <a:pt x="0" y="900127"/>
                </a:lnTo>
                <a:lnTo>
                  <a:pt x="101600" y="1001726"/>
                </a:lnTo>
                <a:lnTo>
                  <a:pt x="203200" y="900127"/>
                </a:lnTo>
                <a:close/>
              </a:path>
              <a:path w="203200" h="1002029">
                <a:moveTo>
                  <a:pt x="152400" y="0"/>
                </a:moveTo>
                <a:lnTo>
                  <a:pt x="50800" y="0"/>
                </a:lnTo>
                <a:lnTo>
                  <a:pt x="50800" y="900127"/>
                </a:lnTo>
                <a:lnTo>
                  <a:pt x="152400" y="900127"/>
                </a:lnTo>
                <a:lnTo>
                  <a:pt x="152400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2440445" y="2099564"/>
            <a:ext cx="3129280" cy="2942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7193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Calibri"/>
                <a:cs typeface="Calibri"/>
              </a:rPr>
              <a:t>How</a:t>
            </a:r>
            <a:r>
              <a:rPr dirty="0" sz="2400" spc="-90" b="1">
                <a:latin typeface="Calibri"/>
                <a:cs typeface="Calibri"/>
              </a:rPr>
              <a:t> </a:t>
            </a:r>
            <a:r>
              <a:rPr dirty="0" sz="2400" spc="-5" b="1">
                <a:latin typeface="Calibri"/>
                <a:cs typeface="Calibri"/>
              </a:rPr>
              <a:t>similar?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 marL="12700" marR="1055370">
              <a:lnSpc>
                <a:spcPct val="100800"/>
              </a:lnSpc>
              <a:spcBef>
                <a:spcPts val="2400"/>
              </a:spcBef>
            </a:pPr>
            <a:r>
              <a:rPr dirty="0" sz="2400" spc="-10">
                <a:solidFill>
                  <a:srgbClr val="0070C0"/>
                </a:solidFill>
                <a:latin typeface="Calibri"/>
                <a:cs typeface="Calibri"/>
              </a:rPr>
              <a:t>Compute</a:t>
            </a:r>
            <a:r>
              <a:rPr dirty="0" sz="2400" spc="-75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0070C0"/>
                </a:solidFill>
                <a:latin typeface="Calibri"/>
                <a:cs typeface="Calibri"/>
              </a:rPr>
              <a:t>cluster  coefficient  </a:t>
            </a:r>
            <a:r>
              <a:rPr dirty="0" sz="2400" spc="-5">
                <a:solidFill>
                  <a:srgbClr val="0070C0"/>
                </a:solidFill>
                <a:latin typeface="Calibri"/>
                <a:cs typeface="Calibri"/>
              </a:rPr>
              <a:t>distribution</a:t>
            </a:r>
            <a:endParaRPr sz="2400">
              <a:latin typeface="Calibri"/>
              <a:cs typeface="Calibri"/>
            </a:endParaRPr>
          </a:p>
          <a:p>
            <a:pPr algn="ctr" marL="1183640">
              <a:lnSpc>
                <a:spcPts val="2735"/>
              </a:lnSpc>
            </a:pP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Report</a:t>
            </a:r>
            <a:r>
              <a:rPr dirty="0" sz="2400" spc="-7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MMD:</a:t>
            </a:r>
            <a:endParaRPr sz="2400">
              <a:latin typeface="Calibri"/>
              <a:cs typeface="Calibri"/>
            </a:endParaRPr>
          </a:p>
          <a:p>
            <a:pPr algn="ctr" marL="1183640">
              <a:lnSpc>
                <a:spcPct val="100000"/>
              </a:lnSpc>
              <a:spcBef>
                <a:spcPts val="25"/>
              </a:spcBef>
            </a:pP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set</a:t>
            </a:r>
            <a:r>
              <a:rPr dirty="0" sz="2400" spc="-8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distance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172931" y="2616292"/>
            <a:ext cx="1122680" cy="283845"/>
          </a:xfrm>
          <a:custGeom>
            <a:avLst/>
            <a:gdLst/>
            <a:ahLst/>
            <a:cxnLst/>
            <a:rect l="l" t="t" r="r" b="b"/>
            <a:pathLst>
              <a:path w="1122679" h="283844">
                <a:moveTo>
                  <a:pt x="141706" y="0"/>
                </a:moveTo>
                <a:lnTo>
                  <a:pt x="0" y="141706"/>
                </a:lnTo>
                <a:lnTo>
                  <a:pt x="141706" y="283411"/>
                </a:lnTo>
                <a:lnTo>
                  <a:pt x="141706" y="212558"/>
                </a:lnTo>
                <a:lnTo>
                  <a:pt x="1051661" y="212558"/>
                </a:lnTo>
                <a:lnTo>
                  <a:pt x="1122513" y="141706"/>
                </a:lnTo>
                <a:lnTo>
                  <a:pt x="1051660" y="70853"/>
                </a:lnTo>
                <a:lnTo>
                  <a:pt x="141706" y="70853"/>
                </a:lnTo>
                <a:lnTo>
                  <a:pt x="141706" y="0"/>
                </a:lnTo>
                <a:close/>
              </a:path>
              <a:path w="1122679" h="283844">
                <a:moveTo>
                  <a:pt x="1051661" y="212558"/>
                </a:moveTo>
                <a:lnTo>
                  <a:pt x="980808" y="212558"/>
                </a:lnTo>
                <a:lnTo>
                  <a:pt x="980808" y="283411"/>
                </a:lnTo>
                <a:lnTo>
                  <a:pt x="1051661" y="212558"/>
                </a:lnTo>
                <a:close/>
              </a:path>
              <a:path w="1122679" h="283844">
                <a:moveTo>
                  <a:pt x="980808" y="0"/>
                </a:moveTo>
                <a:lnTo>
                  <a:pt x="980808" y="70853"/>
                </a:lnTo>
                <a:lnTo>
                  <a:pt x="1051660" y="70853"/>
                </a:lnTo>
                <a:lnTo>
                  <a:pt x="98080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069326" y="5129780"/>
            <a:ext cx="1122680" cy="283845"/>
          </a:xfrm>
          <a:custGeom>
            <a:avLst/>
            <a:gdLst/>
            <a:ahLst/>
            <a:cxnLst/>
            <a:rect l="l" t="t" r="r" b="b"/>
            <a:pathLst>
              <a:path w="1122679" h="283845">
                <a:moveTo>
                  <a:pt x="141705" y="0"/>
                </a:moveTo>
                <a:lnTo>
                  <a:pt x="0" y="141706"/>
                </a:lnTo>
                <a:lnTo>
                  <a:pt x="141705" y="283411"/>
                </a:lnTo>
                <a:lnTo>
                  <a:pt x="141705" y="212558"/>
                </a:lnTo>
                <a:lnTo>
                  <a:pt x="1051660" y="212558"/>
                </a:lnTo>
                <a:lnTo>
                  <a:pt x="1122512" y="141706"/>
                </a:lnTo>
                <a:lnTo>
                  <a:pt x="1051659" y="70853"/>
                </a:lnTo>
                <a:lnTo>
                  <a:pt x="141705" y="70853"/>
                </a:lnTo>
                <a:lnTo>
                  <a:pt x="141705" y="0"/>
                </a:lnTo>
                <a:close/>
              </a:path>
              <a:path w="1122679" h="283845">
                <a:moveTo>
                  <a:pt x="1051660" y="212558"/>
                </a:moveTo>
                <a:lnTo>
                  <a:pt x="980807" y="212558"/>
                </a:lnTo>
                <a:lnTo>
                  <a:pt x="980807" y="283411"/>
                </a:lnTo>
                <a:lnTo>
                  <a:pt x="1051660" y="212558"/>
                </a:lnTo>
                <a:close/>
              </a:path>
              <a:path w="1122679" h="283845">
                <a:moveTo>
                  <a:pt x="980807" y="0"/>
                </a:moveTo>
                <a:lnTo>
                  <a:pt x="980807" y="70853"/>
                </a:lnTo>
                <a:lnTo>
                  <a:pt x="1051659" y="70853"/>
                </a:lnTo>
                <a:lnTo>
                  <a:pt x="98080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1864080" y="5840509"/>
          <a:ext cx="6115050" cy="7543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30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0AD00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8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Erdos-Renyi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0AD00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8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Kronecker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0AD00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GraphRNN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0AD00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800" b="1">
                          <a:latin typeface="Calibri"/>
                          <a:cs typeface="Calibri"/>
                        </a:rPr>
                        <a:t>MMD</a:t>
                      </a:r>
                      <a:r>
                        <a:rPr dirty="0" sz="1800" spc="-7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5" b="1">
                          <a:latin typeface="Calibri"/>
                          <a:cs typeface="Calibri"/>
                        </a:rPr>
                        <a:t>score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9E3CB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800" spc="-5">
                          <a:latin typeface="Calibri"/>
                          <a:cs typeface="Calibri"/>
                        </a:rPr>
                        <a:t>1.24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9E3CB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800" spc="-5">
                          <a:latin typeface="Calibri"/>
                          <a:cs typeface="Calibri"/>
                        </a:rPr>
                        <a:t>1.67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9E3CB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800" spc="-5" b="1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0.002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63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9E3CB"/>
                    </a:solidFill>
                  </a:tcPr>
                </a:tc>
              </a:tr>
            </a:tbl>
          </a:graphicData>
        </a:graphic>
      </p:graphicFrame>
      <p:sp>
        <p:nvSpPr>
          <p:cNvPr id="40" name="object 4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2673615" y="6699893"/>
            <a:ext cx="4027804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5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>
                <a:solidFill>
                  <a:srgbClr val="3F3F3F"/>
                </a:solidFill>
              </a:rPr>
              <a:t>51</a:t>
            </a:fld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77240" y="2810255"/>
            <a:ext cx="6726935" cy="18867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687019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348740"/>
            <a:ext cx="7099300" cy="149161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85"/>
              </a:spcBef>
            </a:pPr>
            <a:r>
              <a:rPr dirty="0" sz="3200" spc="-10" b="1">
                <a:latin typeface="Calibri"/>
                <a:cs typeface="Calibri"/>
              </a:rPr>
              <a:t>Question: </a:t>
            </a:r>
            <a:r>
              <a:rPr dirty="0" sz="3200">
                <a:latin typeface="Calibri"/>
                <a:cs typeface="Calibri"/>
              </a:rPr>
              <a:t>Can </a:t>
            </a:r>
            <a:r>
              <a:rPr dirty="0" sz="3200" spc="-15">
                <a:latin typeface="Calibri"/>
                <a:cs typeface="Calibri"/>
              </a:rPr>
              <a:t>we </a:t>
            </a:r>
            <a:r>
              <a:rPr dirty="0" sz="3200" spc="-5">
                <a:latin typeface="Calibri"/>
                <a:cs typeface="Calibri"/>
              </a:rPr>
              <a:t>learn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5">
                <a:latin typeface="Calibri"/>
                <a:cs typeface="Calibri"/>
              </a:rPr>
              <a:t>model </a:t>
            </a:r>
            <a:r>
              <a:rPr dirty="0" sz="3200" spc="-10">
                <a:latin typeface="Calibri"/>
                <a:cs typeface="Calibri"/>
              </a:rPr>
              <a:t>that </a:t>
            </a:r>
            <a:r>
              <a:rPr dirty="0" sz="3200" spc="-15">
                <a:latin typeface="Calibri"/>
                <a:cs typeface="Calibri"/>
              </a:rPr>
              <a:t>can  </a:t>
            </a:r>
            <a:r>
              <a:rPr dirty="0" sz="3200" spc="-25">
                <a:latin typeface="Calibri"/>
                <a:cs typeface="Calibri"/>
              </a:rPr>
              <a:t>generate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valid </a:t>
            </a:r>
            <a:r>
              <a:rPr dirty="0" sz="3200">
                <a:latin typeface="Calibri"/>
                <a:cs typeface="Calibri"/>
              </a:rPr>
              <a:t>and </a:t>
            </a:r>
            <a:r>
              <a:rPr dirty="0" sz="3200" spc="-10" b="1">
                <a:solidFill>
                  <a:srgbClr val="E88651"/>
                </a:solidFill>
                <a:latin typeface="Calibri"/>
                <a:cs typeface="Calibri"/>
              </a:rPr>
              <a:t>realistic </a:t>
            </a:r>
            <a:r>
              <a:rPr dirty="0" sz="3200" spc="-5">
                <a:latin typeface="Calibri"/>
                <a:cs typeface="Calibri"/>
              </a:rPr>
              <a:t>molecules with  </a:t>
            </a:r>
            <a:r>
              <a:rPr dirty="0" sz="3200" spc="-10" b="1">
                <a:solidFill>
                  <a:srgbClr val="60B5CC"/>
                </a:solidFill>
                <a:latin typeface="Calibri"/>
                <a:cs typeface="Calibri"/>
              </a:rPr>
              <a:t>optimized </a:t>
            </a:r>
            <a:r>
              <a:rPr dirty="0" sz="3200" spc="-10">
                <a:latin typeface="Calibri"/>
                <a:cs typeface="Calibri"/>
              </a:rPr>
              <a:t>property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scores?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76600" y="3270584"/>
            <a:ext cx="1664622" cy="1553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63900" y="3257884"/>
            <a:ext cx="1690370" cy="1579880"/>
          </a:xfrm>
          <a:custGeom>
            <a:avLst/>
            <a:gdLst/>
            <a:ahLst/>
            <a:cxnLst/>
            <a:rect l="l" t="t" r="r" b="b"/>
            <a:pathLst>
              <a:path w="1690370" h="1579879">
                <a:moveTo>
                  <a:pt x="0" y="0"/>
                </a:moveTo>
                <a:lnTo>
                  <a:pt x="1690022" y="0"/>
                </a:lnTo>
                <a:lnTo>
                  <a:pt x="1690022" y="1579302"/>
                </a:lnTo>
                <a:lnTo>
                  <a:pt x="0" y="1579302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61073" y="3413935"/>
            <a:ext cx="1267460" cy="1267460"/>
          </a:xfrm>
          <a:custGeom>
            <a:avLst/>
            <a:gdLst/>
            <a:ahLst/>
            <a:cxnLst/>
            <a:rect l="l" t="t" r="r" b="b"/>
            <a:pathLst>
              <a:path w="1267460" h="1267460">
                <a:moveTo>
                  <a:pt x="1243199" y="0"/>
                </a:moveTo>
                <a:lnTo>
                  <a:pt x="23999" y="0"/>
                </a:lnTo>
                <a:lnTo>
                  <a:pt x="14658" y="1885"/>
                </a:lnTo>
                <a:lnTo>
                  <a:pt x="7029" y="7028"/>
                </a:lnTo>
                <a:lnTo>
                  <a:pt x="1886" y="14657"/>
                </a:lnTo>
                <a:lnTo>
                  <a:pt x="0" y="23999"/>
                </a:lnTo>
                <a:lnTo>
                  <a:pt x="0" y="1243199"/>
                </a:lnTo>
                <a:lnTo>
                  <a:pt x="1886" y="1252541"/>
                </a:lnTo>
                <a:lnTo>
                  <a:pt x="7029" y="1260170"/>
                </a:lnTo>
                <a:lnTo>
                  <a:pt x="14658" y="1265313"/>
                </a:lnTo>
                <a:lnTo>
                  <a:pt x="23999" y="1267199"/>
                </a:lnTo>
                <a:lnTo>
                  <a:pt x="1243199" y="1267199"/>
                </a:lnTo>
                <a:lnTo>
                  <a:pt x="1252541" y="1265313"/>
                </a:lnTo>
                <a:lnTo>
                  <a:pt x="1260170" y="1260170"/>
                </a:lnTo>
                <a:lnTo>
                  <a:pt x="1265313" y="1252541"/>
                </a:lnTo>
                <a:lnTo>
                  <a:pt x="1267200" y="1243199"/>
                </a:lnTo>
                <a:lnTo>
                  <a:pt x="1267200" y="1238399"/>
                </a:lnTo>
                <a:lnTo>
                  <a:pt x="28800" y="1238399"/>
                </a:lnTo>
                <a:lnTo>
                  <a:pt x="28800" y="28799"/>
                </a:lnTo>
                <a:lnTo>
                  <a:pt x="1267200" y="28799"/>
                </a:lnTo>
                <a:lnTo>
                  <a:pt x="1267200" y="23999"/>
                </a:lnTo>
                <a:lnTo>
                  <a:pt x="1265313" y="14657"/>
                </a:lnTo>
                <a:lnTo>
                  <a:pt x="1260170" y="7028"/>
                </a:lnTo>
                <a:lnTo>
                  <a:pt x="1252541" y="1885"/>
                </a:lnTo>
                <a:lnTo>
                  <a:pt x="1243199" y="0"/>
                </a:lnTo>
                <a:close/>
              </a:path>
              <a:path w="1267460" h="1267460">
                <a:moveTo>
                  <a:pt x="1267200" y="28799"/>
                </a:moveTo>
                <a:lnTo>
                  <a:pt x="1238400" y="28799"/>
                </a:lnTo>
                <a:lnTo>
                  <a:pt x="1238400" y="1238399"/>
                </a:lnTo>
                <a:lnTo>
                  <a:pt x="1267200" y="1238399"/>
                </a:lnTo>
                <a:lnTo>
                  <a:pt x="1267200" y="28799"/>
                </a:lnTo>
                <a:close/>
              </a:path>
              <a:path w="1267460" h="1267460">
                <a:moveTo>
                  <a:pt x="1228800" y="38399"/>
                </a:moveTo>
                <a:lnTo>
                  <a:pt x="38399" y="38399"/>
                </a:lnTo>
                <a:lnTo>
                  <a:pt x="38399" y="1228799"/>
                </a:lnTo>
                <a:lnTo>
                  <a:pt x="1228800" y="1228799"/>
                </a:lnTo>
                <a:lnTo>
                  <a:pt x="1228800" y="1219199"/>
                </a:lnTo>
                <a:lnTo>
                  <a:pt x="48000" y="1219199"/>
                </a:lnTo>
                <a:lnTo>
                  <a:pt x="48000" y="47999"/>
                </a:lnTo>
                <a:lnTo>
                  <a:pt x="1228800" y="47999"/>
                </a:lnTo>
                <a:lnTo>
                  <a:pt x="1228800" y="38399"/>
                </a:lnTo>
                <a:close/>
              </a:path>
              <a:path w="1267460" h="1267460">
                <a:moveTo>
                  <a:pt x="1228800" y="47999"/>
                </a:moveTo>
                <a:lnTo>
                  <a:pt x="1219200" y="47999"/>
                </a:lnTo>
                <a:lnTo>
                  <a:pt x="1219200" y="1219199"/>
                </a:lnTo>
                <a:lnTo>
                  <a:pt x="1228800" y="1219199"/>
                </a:lnTo>
                <a:lnTo>
                  <a:pt x="1228800" y="47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85073" y="3437934"/>
            <a:ext cx="1219200" cy="1219200"/>
          </a:xfrm>
          <a:prstGeom prst="rect">
            <a:avLst/>
          </a:prstGeom>
          <a:solidFill>
            <a:srgbClr val="FFD25D"/>
          </a:solidFill>
        </p:spPr>
        <p:txBody>
          <a:bodyPr wrap="square" lIns="0" tIns="57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2800">
              <a:latin typeface="Times New Roman"/>
              <a:cs typeface="Times New Roman"/>
            </a:endParaRPr>
          </a:p>
          <a:p>
            <a:pPr marL="193675">
              <a:lnSpc>
                <a:spcPct val="100000"/>
              </a:lnSpc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986399" y="3413935"/>
            <a:ext cx="1724660" cy="1267460"/>
          </a:xfrm>
          <a:custGeom>
            <a:avLst/>
            <a:gdLst/>
            <a:ahLst/>
            <a:cxnLst/>
            <a:rect l="l" t="t" r="r" b="b"/>
            <a:pathLst>
              <a:path w="1724659" h="1267460">
                <a:moveTo>
                  <a:pt x="1700400" y="0"/>
                </a:moveTo>
                <a:lnTo>
                  <a:pt x="24000" y="0"/>
                </a:lnTo>
                <a:lnTo>
                  <a:pt x="14658" y="1885"/>
                </a:lnTo>
                <a:lnTo>
                  <a:pt x="7029" y="7028"/>
                </a:lnTo>
                <a:lnTo>
                  <a:pt x="1886" y="14657"/>
                </a:lnTo>
                <a:lnTo>
                  <a:pt x="0" y="23999"/>
                </a:lnTo>
                <a:lnTo>
                  <a:pt x="0" y="1243199"/>
                </a:lnTo>
                <a:lnTo>
                  <a:pt x="1886" y="1252541"/>
                </a:lnTo>
                <a:lnTo>
                  <a:pt x="7029" y="1260170"/>
                </a:lnTo>
                <a:lnTo>
                  <a:pt x="14658" y="1265313"/>
                </a:lnTo>
                <a:lnTo>
                  <a:pt x="24000" y="1267199"/>
                </a:lnTo>
                <a:lnTo>
                  <a:pt x="1700400" y="1267199"/>
                </a:lnTo>
                <a:lnTo>
                  <a:pt x="1709742" y="1265313"/>
                </a:lnTo>
                <a:lnTo>
                  <a:pt x="1717370" y="1260170"/>
                </a:lnTo>
                <a:lnTo>
                  <a:pt x="1722513" y="1252541"/>
                </a:lnTo>
                <a:lnTo>
                  <a:pt x="1724399" y="1243199"/>
                </a:lnTo>
                <a:lnTo>
                  <a:pt x="1724399" y="1238399"/>
                </a:lnTo>
                <a:lnTo>
                  <a:pt x="28799" y="1238399"/>
                </a:lnTo>
                <a:lnTo>
                  <a:pt x="28799" y="28799"/>
                </a:lnTo>
                <a:lnTo>
                  <a:pt x="1724399" y="28799"/>
                </a:lnTo>
                <a:lnTo>
                  <a:pt x="1724399" y="23999"/>
                </a:lnTo>
                <a:lnTo>
                  <a:pt x="1722513" y="14657"/>
                </a:lnTo>
                <a:lnTo>
                  <a:pt x="1717370" y="7028"/>
                </a:lnTo>
                <a:lnTo>
                  <a:pt x="1709742" y="1885"/>
                </a:lnTo>
                <a:lnTo>
                  <a:pt x="1700400" y="0"/>
                </a:lnTo>
                <a:close/>
              </a:path>
              <a:path w="1724659" h="1267460">
                <a:moveTo>
                  <a:pt x="1724399" y="28799"/>
                </a:moveTo>
                <a:lnTo>
                  <a:pt x="1695599" y="28799"/>
                </a:lnTo>
                <a:lnTo>
                  <a:pt x="1695599" y="1238399"/>
                </a:lnTo>
                <a:lnTo>
                  <a:pt x="1724399" y="1238399"/>
                </a:lnTo>
                <a:lnTo>
                  <a:pt x="1724399" y="28799"/>
                </a:lnTo>
                <a:close/>
              </a:path>
              <a:path w="1724659" h="1267460">
                <a:moveTo>
                  <a:pt x="1685999" y="38399"/>
                </a:moveTo>
                <a:lnTo>
                  <a:pt x="38399" y="38399"/>
                </a:lnTo>
                <a:lnTo>
                  <a:pt x="38399" y="1228799"/>
                </a:lnTo>
                <a:lnTo>
                  <a:pt x="1685999" y="1228799"/>
                </a:lnTo>
                <a:lnTo>
                  <a:pt x="1685999" y="1219199"/>
                </a:lnTo>
                <a:lnTo>
                  <a:pt x="48000" y="1219199"/>
                </a:lnTo>
                <a:lnTo>
                  <a:pt x="48000" y="47999"/>
                </a:lnTo>
                <a:lnTo>
                  <a:pt x="1685999" y="47999"/>
                </a:lnTo>
                <a:lnTo>
                  <a:pt x="1685999" y="38399"/>
                </a:lnTo>
                <a:close/>
              </a:path>
              <a:path w="1724659" h="1267460">
                <a:moveTo>
                  <a:pt x="1685999" y="47999"/>
                </a:moveTo>
                <a:lnTo>
                  <a:pt x="1676400" y="47999"/>
                </a:lnTo>
                <a:lnTo>
                  <a:pt x="1676400" y="1219199"/>
                </a:lnTo>
                <a:lnTo>
                  <a:pt x="1685999" y="1219199"/>
                </a:lnTo>
                <a:lnTo>
                  <a:pt x="1685999" y="47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010400" y="3437934"/>
            <a:ext cx="1676400" cy="1219200"/>
          </a:xfrm>
          <a:prstGeom prst="rect">
            <a:avLst/>
          </a:prstGeom>
          <a:solidFill>
            <a:srgbClr val="60B5CC"/>
          </a:solidFill>
        </p:spPr>
        <p:txBody>
          <a:bodyPr wrap="square" lIns="0" tIns="57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2800">
              <a:latin typeface="Times New Roman"/>
              <a:cs typeface="Times New Roman"/>
            </a:endParaRPr>
          </a:p>
          <a:p>
            <a:pPr marL="261620">
              <a:lnSpc>
                <a:spcPct val="100000"/>
              </a:lnSpc>
            </a:pP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Property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93791" y="3440684"/>
            <a:ext cx="8782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"/>
                <a:cs typeface="Arial"/>
              </a:rPr>
              <a:t>output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65591" y="3468115"/>
            <a:ext cx="186308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5">
                <a:latin typeface="Arial"/>
                <a:cs typeface="Arial"/>
              </a:rPr>
              <a:t>that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 spc="-40">
                <a:latin typeface="Arial"/>
                <a:cs typeface="Arial"/>
              </a:rPr>
              <a:t>optimizes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891573" y="4009435"/>
            <a:ext cx="1385570" cy="76200"/>
          </a:xfrm>
          <a:custGeom>
            <a:avLst/>
            <a:gdLst/>
            <a:ahLst/>
            <a:cxnLst/>
            <a:rect l="l" t="t" r="r" b="b"/>
            <a:pathLst>
              <a:path w="1385570" h="76200">
                <a:moveTo>
                  <a:pt x="1308826" y="50799"/>
                </a:moveTo>
                <a:lnTo>
                  <a:pt x="1308826" y="76200"/>
                </a:lnTo>
                <a:lnTo>
                  <a:pt x="1359626" y="50800"/>
                </a:lnTo>
                <a:lnTo>
                  <a:pt x="1308826" y="50799"/>
                </a:lnTo>
                <a:close/>
              </a:path>
              <a:path w="1385570" h="76200">
                <a:moveTo>
                  <a:pt x="1308826" y="25399"/>
                </a:moveTo>
                <a:lnTo>
                  <a:pt x="1308826" y="50799"/>
                </a:lnTo>
                <a:lnTo>
                  <a:pt x="1328541" y="50798"/>
                </a:lnTo>
                <a:lnTo>
                  <a:pt x="1334226" y="45114"/>
                </a:lnTo>
                <a:lnTo>
                  <a:pt x="1334225" y="31084"/>
                </a:lnTo>
                <a:lnTo>
                  <a:pt x="1328540" y="25400"/>
                </a:lnTo>
                <a:lnTo>
                  <a:pt x="1308826" y="25399"/>
                </a:lnTo>
                <a:close/>
              </a:path>
              <a:path w="1385570" h="76200">
                <a:moveTo>
                  <a:pt x="1308826" y="0"/>
                </a:moveTo>
                <a:lnTo>
                  <a:pt x="1308826" y="25399"/>
                </a:lnTo>
                <a:lnTo>
                  <a:pt x="1321526" y="25400"/>
                </a:lnTo>
                <a:lnTo>
                  <a:pt x="1328540" y="25400"/>
                </a:lnTo>
                <a:lnTo>
                  <a:pt x="1334225" y="31084"/>
                </a:lnTo>
                <a:lnTo>
                  <a:pt x="1334226" y="45114"/>
                </a:lnTo>
                <a:lnTo>
                  <a:pt x="1328540" y="50800"/>
                </a:lnTo>
                <a:lnTo>
                  <a:pt x="1359628" y="50798"/>
                </a:lnTo>
                <a:lnTo>
                  <a:pt x="1385026" y="38100"/>
                </a:lnTo>
                <a:lnTo>
                  <a:pt x="1308826" y="0"/>
                </a:lnTo>
                <a:close/>
              </a:path>
              <a:path w="1385570" h="76200">
                <a:moveTo>
                  <a:pt x="12700" y="25398"/>
                </a:moveTo>
                <a:lnTo>
                  <a:pt x="5685" y="25400"/>
                </a:lnTo>
                <a:lnTo>
                  <a:pt x="0" y="31084"/>
                </a:lnTo>
                <a:lnTo>
                  <a:pt x="1" y="45114"/>
                </a:lnTo>
                <a:lnTo>
                  <a:pt x="5687" y="50798"/>
                </a:lnTo>
                <a:lnTo>
                  <a:pt x="1308826" y="50799"/>
                </a:lnTo>
                <a:lnTo>
                  <a:pt x="1308826" y="25399"/>
                </a:lnTo>
                <a:lnTo>
                  <a:pt x="12700" y="25398"/>
                </a:lnTo>
                <a:close/>
              </a:path>
            </a:pathLst>
          </a:custGeom>
          <a:solidFill>
            <a:srgbClr val="F0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262923" y="4638084"/>
            <a:ext cx="6605270" cy="584200"/>
          </a:xfrm>
          <a:custGeom>
            <a:avLst/>
            <a:gdLst/>
            <a:ahLst/>
            <a:cxnLst/>
            <a:rect l="l" t="t" r="r" b="b"/>
            <a:pathLst>
              <a:path w="6605270" h="584200">
                <a:moveTo>
                  <a:pt x="45114" y="76200"/>
                </a:moveTo>
                <a:lnTo>
                  <a:pt x="31085" y="76200"/>
                </a:lnTo>
                <a:lnTo>
                  <a:pt x="25399" y="81887"/>
                </a:lnTo>
                <a:lnTo>
                  <a:pt x="25399" y="578514"/>
                </a:lnTo>
                <a:lnTo>
                  <a:pt x="31085" y="584200"/>
                </a:lnTo>
                <a:lnTo>
                  <a:pt x="6599040" y="584200"/>
                </a:lnTo>
                <a:lnTo>
                  <a:pt x="6604726" y="578514"/>
                </a:lnTo>
                <a:lnTo>
                  <a:pt x="6604726" y="571500"/>
                </a:lnTo>
                <a:lnTo>
                  <a:pt x="50799" y="571500"/>
                </a:lnTo>
                <a:lnTo>
                  <a:pt x="38099" y="558800"/>
                </a:lnTo>
                <a:lnTo>
                  <a:pt x="50799" y="558800"/>
                </a:lnTo>
                <a:lnTo>
                  <a:pt x="50799" y="81887"/>
                </a:lnTo>
                <a:lnTo>
                  <a:pt x="45114" y="76200"/>
                </a:lnTo>
                <a:close/>
              </a:path>
              <a:path w="6605270" h="584200">
                <a:moveTo>
                  <a:pt x="50799" y="558800"/>
                </a:moveTo>
                <a:lnTo>
                  <a:pt x="38099" y="558800"/>
                </a:lnTo>
                <a:lnTo>
                  <a:pt x="50799" y="571500"/>
                </a:lnTo>
                <a:lnTo>
                  <a:pt x="50799" y="558800"/>
                </a:lnTo>
                <a:close/>
              </a:path>
              <a:path w="6605270" h="584200">
                <a:moveTo>
                  <a:pt x="6579326" y="558800"/>
                </a:moveTo>
                <a:lnTo>
                  <a:pt x="50799" y="558800"/>
                </a:lnTo>
                <a:lnTo>
                  <a:pt x="50799" y="571500"/>
                </a:lnTo>
                <a:lnTo>
                  <a:pt x="6579326" y="571500"/>
                </a:lnTo>
                <a:lnTo>
                  <a:pt x="6579326" y="558800"/>
                </a:lnTo>
                <a:close/>
              </a:path>
              <a:path w="6605270" h="584200">
                <a:moveTo>
                  <a:pt x="6599040" y="0"/>
                </a:moveTo>
                <a:lnTo>
                  <a:pt x="6585012" y="0"/>
                </a:lnTo>
                <a:lnTo>
                  <a:pt x="6579326" y="5687"/>
                </a:lnTo>
                <a:lnTo>
                  <a:pt x="6579326" y="571500"/>
                </a:lnTo>
                <a:lnTo>
                  <a:pt x="6592026" y="558800"/>
                </a:lnTo>
                <a:lnTo>
                  <a:pt x="6604726" y="558800"/>
                </a:lnTo>
                <a:lnTo>
                  <a:pt x="6604726" y="5687"/>
                </a:lnTo>
                <a:lnTo>
                  <a:pt x="6599040" y="0"/>
                </a:lnTo>
                <a:close/>
              </a:path>
              <a:path w="6605270" h="584200">
                <a:moveTo>
                  <a:pt x="6604726" y="558800"/>
                </a:moveTo>
                <a:lnTo>
                  <a:pt x="6592026" y="558800"/>
                </a:lnTo>
                <a:lnTo>
                  <a:pt x="6579326" y="571500"/>
                </a:lnTo>
                <a:lnTo>
                  <a:pt x="6604726" y="571500"/>
                </a:lnTo>
                <a:lnTo>
                  <a:pt x="6604726" y="558800"/>
                </a:lnTo>
                <a:close/>
              </a:path>
              <a:path w="6605270" h="584200">
                <a:moveTo>
                  <a:pt x="38099" y="25400"/>
                </a:moveTo>
                <a:lnTo>
                  <a:pt x="0" y="101600"/>
                </a:lnTo>
                <a:lnTo>
                  <a:pt x="25399" y="101600"/>
                </a:lnTo>
                <a:lnTo>
                  <a:pt x="25399" y="81887"/>
                </a:lnTo>
                <a:lnTo>
                  <a:pt x="31085" y="76200"/>
                </a:lnTo>
                <a:lnTo>
                  <a:pt x="63499" y="76200"/>
                </a:lnTo>
                <a:lnTo>
                  <a:pt x="38099" y="25400"/>
                </a:lnTo>
                <a:close/>
              </a:path>
              <a:path w="6605270" h="584200">
                <a:moveTo>
                  <a:pt x="63499" y="76200"/>
                </a:moveTo>
                <a:lnTo>
                  <a:pt x="45114" y="76200"/>
                </a:lnTo>
                <a:lnTo>
                  <a:pt x="50799" y="81887"/>
                </a:lnTo>
                <a:lnTo>
                  <a:pt x="50799" y="101600"/>
                </a:lnTo>
                <a:lnTo>
                  <a:pt x="76199" y="101600"/>
                </a:lnTo>
                <a:lnTo>
                  <a:pt x="63499" y="76200"/>
                </a:lnTo>
                <a:close/>
              </a:path>
            </a:pathLst>
          </a:custGeom>
          <a:solidFill>
            <a:srgbClr val="F0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928522" y="4009435"/>
            <a:ext cx="2082164" cy="76200"/>
          </a:xfrm>
          <a:custGeom>
            <a:avLst/>
            <a:gdLst/>
            <a:ahLst/>
            <a:cxnLst/>
            <a:rect l="l" t="t" r="r" b="b"/>
            <a:pathLst>
              <a:path w="2082165" h="76200">
                <a:moveTo>
                  <a:pt x="2005677" y="50799"/>
                </a:moveTo>
                <a:lnTo>
                  <a:pt x="2005677" y="76200"/>
                </a:lnTo>
                <a:lnTo>
                  <a:pt x="2056477" y="50800"/>
                </a:lnTo>
                <a:lnTo>
                  <a:pt x="2005677" y="50799"/>
                </a:lnTo>
                <a:close/>
              </a:path>
              <a:path w="2082165" h="76200">
                <a:moveTo>
                  <a:pt x="2005677" y="25399"/>
                </a:moveTo>
                <a:lnTo>
                  <a:pt x="2005677" y="50799"/>
                </a:lnTo>
                <a:lnTo>
                  <a:pt x="2025393" y="50798"/>
                </a:lnTo>
                <a:lnTo>
                  <a:pt x="2031077" y="45114"/>
                </a:lnTo>
                <a:lnTo>
                  <a:pt x="2031076" y="31084"/>
                </a:lnTo>
                <a:lnTo>
                  <a:pt x="2025392" y="25400"/>
                </a:lnTo>
                <a:lnTo>
                  <a:pt x="2005677" y="25399"/>
                </a:lnTo>
                <a:close/>
              </a:path>
              <a:path w="2082165" h="76200">
                <a:moveTo>
                  <a:pt x="2005677" y="0"/>
                </a:moveTo>
                <a:lnTo>
                  <a:pt x="2005677" y="25399"/>
                </a:lnTo>
                <a:lnTo>
                  <a:pt x="2018377" y="25400"/>
                </a:lnTo>
                <a:lnTo>
                  <a:pt x="2025392" y="25400"/>
                </a:lnTo>
                <a:lnTo>
                  <a:pt x="2031076" y="31084"/>
                </a:lnTo>
                <a:lnTo>
                  <a:pt x="2031077" y="45114"/>
                </a:lnTo>
                <a:lnTo>
                  <a:pt x="2025392" y="50800"/>
                </a:lnTo>
                <a:lnTo>
                  <a:pt x="2056480" y="50798"/>
                </a:lnTo>
                <a:lnTo>
                  <a:pt x="2081877" y="38100"/>
                </a:lnTo>
                <a:lnTo>
                  <a:pt x="2005677" y="0"/>
                </a:lnTo>
                <a:close/>
              </a:path>
              <a:path w="2082165" h="76200">
                <a:moveTo>
                  <a:pt x="12700" y="25398"/>
                </a:moveTo>
                <a:lnTo>
                  <a:pt x="5684" y="25400"/>
                </a:lnTo>
                <a:lnTo>
                  <a:pt x="0" y="31084"/>
                </a:lnTo>
                <a:lnTo>
                  <a:pt x="1" y="45114"/>
                </a:lnTo>
                <a:lnTo>
                  <a:pt x="5685" y="50798"/>
                </a:lnTo>
                <a:lnTo>
                  <a:pt x="2005677" y="50799"/>
                </a:lnTo>
                <a:lnTo>
                  <a:pt x="2005677" y="25399"/>
                </a:lnTo>
                <a:lnTo>
                  <a:pt x="12700" y="25398"/>
                </a:lnTo>
                <a:close/>
              </a:path>
            </a:pathLst>
          </a:custGeom>
          <a:solidFill>
            <a:srgbClr val="F0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898124" y="5251196"/>
            <a:ext cx="371982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Arial"/>
                <a:cs typeface="Arial"/>
              </a:rPr>
              <a:t>e.g.,</a:t>
            </a:r>
            <a:r>
              <a:rPr dirty="0" sz="2400" spc="-10">
                <a:latin typeface="Arial"/>
                <a:cs typeface="Arial"/>
              </a:rPr>
              <a:t> </a:t>
            </a:r>
            <a:r>
              <a:rPr dirty="0" sz="2400">
                <a:latin typeface="Consolas"/>
                <a:cs typeface="Consolas"/>
              </a:rPr>
              <a:t>drug_likeness=0.95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4"/>
              </a:rPr>
              <a:t>http://cs224w.stanford.edu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3F3F3F"/>
                </a:solidFill>
              </a:rPr>
              <a:t>57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5812447" y="0"/>
            <a:ext cx="321945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0">
                <a:solidFill>
                  <a:srgbClr val="FFFFFF"/>
                </a:solidFill>
                <a:latin typeface="Corbel"/>
                <a:cs typeface="Corbel"/>
              </a:rPr>
              <a:t>[You </a:t>
            </a:r>
            <a:r>
              <a:rPr dirty="0" sz="2400" b="0">
                <a:solidFill>
                  <a:srgbClr val="FFFFFF"/>
                </a:solidFill>
                <a:latin typeface="Corbel"/>
                <a:cs typeface="Corbel"/>
              </a:rPr>
              <a:t>et </a:t>
            </a:r>
            <a:r>
              <a:rPr dirty="0" sz="2400" spc="-5" b="0">
                <a:solidFill>
                  <a:srgbClr val="FFFFFF"/>
                </a:solidFill>
                <a:latin typeface="Corbel"/>
                <a:cs typeface="Corbel"/>
              </a:rPr>
              <a:t>al., NeurIPS</a:t>
            </a:r>
            <a:r>
              <a:rPr dirty="0" sz="2400" b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15" b="0">
                <a:solidFill>
                  <a:srgbClr val="FFFFFF"/>
                </a:solidFill>
                <a:latin typeface="Corbel"/>
                <a:cs typeface="Corbel"/>
              </a:rPr>
              <a:t>2018]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3540" y="6204203"/>
            <a:ext cx="8339455" cy="443230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>
              <a:lnSpc>
                <a:spcPts val="1610"/>
              </a:lnSpc>
              <a:spcBef>
                <a:spcPts val="210"/>
              </a:spcBef>
            </a:pPr>
            <a:r>
              <a:rPr dirty="0" sz="1400" spc="-10" u="sng">
                <a:solidFill>
                  <a:srgbClr val="168BBA"/>
                </a:solidFill>
                <a:latin typeface="Verdana"/>
                <a:cs typeface="Verdana"/>
              </a:rPr>
              <a:t>Graph </a:t>
            </a:r>
            <a:r>
              <a:rPr dirty="0" sz="1400" spc="-5" u="sng">
                <a:solidFill>
                  <a:srgbClr val="168BBA"/>
                </a:solidFill>
                <a:latin typeface="Verdana"/>
                <a:cs typeface="Verdana"/>
              </a:rPr>
              <a:t>Convolutional </a:t>
            </a:r>
            <a:r>
              <a:rPr dirty="0" sz="1400" spc="-10" u="sng">
                <a:solidFill>
                  <a:srgbClr val="168BBA"/>
                </a:solidFill>
                <a:latin typeface="Verdana"/>
                <a:cs typeface="Verdana"/>
              </a:rPr>
              <a:t>Policy </a:t>
            </a:r>
            <a:r>
              <a:rPr dirty="0" sz="1400" spc="-5" u="sng">
                <a:solidFill>
                  <a:srgbClr val="168BBA"/>
                </a:solidFill>
                <a:latin typeface="Verdana"/>
                <a:cs typeface="Verdana"/>
              </a:rPr>
              <a:t>Network for Goal-Directed Molecular </a:t>
            </a:r>
            <a:r>
              <a:rPr dirty="0" sz="1400" spc="-10" u="sng">
                <a:solidFill>
                  <a:srgbClr val="168BBA"/>
                </a:solidFill>
                <a:latin typeface="Verdana"/>
                <a:cs typeface="Verdana"/>
              </a:rPr>
              <a:t>Graph </a:t>
            </a:r>
            <a:r>
              <a:rPr dirty="0" sz="1400" spc="-5" u="sng">
                <a:solidFill>
                  <a:srgbClr val="168BBA"/>
                </a:solidFill>
                <a:latin typeface="Verdana"/>
                <a:cs typeface="Verdana"/>
              </a:rPr>
              <a:t>Generation</a:t>
            </a:r>
            <a:r>
              <a:rPr dirty="0" sz="1400" spc="-5">
                <a:latin typeface="Verdana"/>
                <a:cs typeface="Verdana"/>
              </a:rPr>
              <a:t>. </a:t>
            </a:r>
            <a:r>
              <a:rPr dirty="0" sz="1400" spc="-10">
                <a:latin typeface="Verdana"/>
                <a:cs typeface="Verdana"/>
              </a:rPr>
              <a:t>J. </a:t>
            </a:r>
            <a:r>
              <a:rPr dirty="0" sz="1400" spc="-25">
                <a:latin typeface="Verdana"/>
                <a:cs typeface="Verdana"/>
              </a:rPr>
              <a:t>You, </a:t>
            </a:r>
            <a:r>
              <a:rPr dirty="0" sz="1400" spc="-10">
                <a:latin typeface="Verdana"/>
                <a:cs typeface="Verdana"/>
              </a:rPr>
              <a:t>B.  </a:t>
            </a:r>
            <a:r>
              <a:rPr dirty="0" sz="1400" spc="-5">
                <a:latin typeface="Verdana"/>
                <a:cs typeface="Verdana"/>
              </a:rPr>
              <a:t>Liu, </a:t>
            </a:r>
            <a:r>
              <a:rPr dirty="0" sz="1400">
                <a:latin typeface="Verdana"/>
                <a:cs typeface="Verdana"/>
              </a:rPr>
              <a:t>R. Ying, </a:t>
            </a:r>
            <a:r>
              <a:rPr dirty="0" sz="1400" spc="-100">
                <a:latin typeface="Verdana"/>
                <a:cs typeface="Verdana"/>
              </a:rPr>
              <a:t>V. </a:t>
            </a:r>
            <a:r>
              <a:rPr dirty="0" sz="1400" spc="-10">
                <a:latin typeface="Verdana"/>
                <a:cs typeface="Verdana"/>
              </a:rPr>
              <a:t>Pande, J. Leskovec. </a:t>
            </a:r>
            <a:r>
              <a:rPr dirty="0" sz="1400" spc="-5" i="1">
                <a:latin typeface="Verdana"/>
                <a:cs typeface="Verdana"/>
              </a:rPr>
              <a:t>Neural Information Processing Systems (NeurIPS)</a:t>
            </a:r>
            <a:r>
              <a:rPr dirty="0" sz="1400" spc="-5">
                <a:latin typeface="Verdana"/>
                <a:cs typeface="Verdana"/>
              </a:rPr>
              <a:t>,</a:t>
            </a:r>
            <a:r>
              <a:rPr dirty="0" sz="1400" spc="240">
                <a:latin typeface="Verdana"/>
                <a:cs typeface="Verdana"/>
              </a:rPr>
              <a:t> </a:t>
            </a:r>
            <a:r>
              <a:rPr dirty="0" sz="1400" spc="-5">
                <a:latin typeface="Verdana"/>
                <a:cs typeface="Verdana"/>
              </a:rPr>
              <a:t>2018.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786688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"/>
              <a:t>Generating graphs</a:t>
            </a:r>
            <a:r>
              <a:rPr dirty="0" spc="-60"/>
              <a:t> </a:t>
            </a:r>
            <a:r>
              <a:rPr dirty="0" spc="-10"/>
              <a:t>that: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3F3F3F"/>
                </a:solidFill>
              </a:rPr>
              <a:t>58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128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955"/>
              </a:spcBef>
              <a:buClr>
                <a:srgbClr val="F0AD00"/>
              </a:buClr>
              <a:buSzPct val="80555"/>
              <a:buFont typeface="Arial"/>
              <a:buChar char="▪"/>
              <a:tabLst>
                <a:tab pos="332740" algn="l"/>
              </a:tabLst>
            </a:pPr>
            <a:r>
              <a:rPr dirty="0" spc="-15"/>
              <a:t>Optimize </a:t>
            </a:r>
            <a:r>
              <a:rPr dirty="0"/>
              <a:t>a </a:t>
            </a:r>
            <a:r>
              <a:rPr dirty="0" spc="-10"/>
              <a:t>given </a:t>
            </a:r>
            <a:r>
              <a:rPr dirty="0" spc="-5"/>
              <a:t>objective </a:t>
            </a:r>
            <a:r>
              <a:rPr dirty="0" spc="-5" b="0">
                <a:latin typeface="Calibri"/>
                <a:cs typeface="Calibri"/>
              </a:rPr>
              <a:t>(High</a:t>
            </a:r>
            <a:r>
              <a:rPr dirty="0" spc="-15" b="0">
                <a:latin typeface="Calibri"/>
                <a:cs typeface="Calibri"/>
              </a:rPr>
              <a:t> scores)</a:t>
            </a:r>
          </a:p>
          <a:p>
            <a:pPr lvl="1" marL="625475" indent="-274320">
              <a:lnSpc>
                <a:spcPts val="3820"/>
              </a:lnSpc>
              <a:spcBef>
                <a:spcPts val="760"/>
              </a:spcBef>
              <a:buFont typeface="Malgun Gothic"/>
              <a:buChar char="▪"/>
              <a:tabLst>
                <a:tab pos="625475" algn="l"/>
              </a:tabLst>
            </a:pPr>
            <a:r>
              <a:rPr dirty="0" sz="3200" spc="0">
                <a:solidFill>
                  <a:srgbClr val="60B5CC"/>
                </a:solidFill>
                <a:latin typeface="Calibri"/>
                <a:cs typeface="Calibri"/>
              </a:rPr>
              <a:t>e.g.,</a:t>
            </a:r>
            <a:r>
              <a:rPr dirty="0" sz="3200" spc="-20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3200" spc="-15">
                <a:solidFill>
                  <a:srgbClr val="60B5CC"/>
                </a:solidFill>
                <a:latin typeface="Calibri"/>
                <a:cs typeface="Calibri"/>
              </a:rPr>
              <a:t>drug-likeness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4300"/>
              </a:lnSpc>
              <a:buClr>
                <a:srgbClr val="F0AD00"/>
              </a:buClr>
              <a:buSzPct val="80555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C00000"/>
                </a:solidFill>
              </a:rPr>
              <a:t>Obey </a:t>
            </a:r>
            <a:r>
              <a:rPr dirty="0" spc="-5">
                <a:solidFill>
                  <a:srgbClr val="C00000"/>
                </a:solidFill>
              </a:rPr>
              <a:t>underlying rules</a:t>
            </a:r>
            <a:r>
              <a:rPr dirty="0">
                <a:solidFill>
                  <a:srgbClr val="C00000"/>
                </a:solidFill>
              </a:rPr>
              <a:t> </a:t>
            </a:r>
            <a:r>
              <a:rPr dirty="0" spc="-35" b="0">
                <a:solidFill>
                  <a:srgbClr val="C00000"/>
                </a:solidFill>
                <a:latin typeface="Calibri"/>
                <a:cs typeface="Calibri"/>
              </a:rPr>
              <a:t>(Valid)</a:t>
            </a:r>
          </a:p>
          <a:p>
            <a:pPr lvl="1" marL="625475" indent="-274320">
              <a:lnSpc>
                <a:spcPts val="3820"/>
              </a:lnSpc>
              <a:spcBef>
                <a:spcPts val="78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3200" spc="0">
                <a:solidFill>
                  <a:srgbClr val="C00000"/>
                </a:solidFill>
                <a:latin typeface="Calibri"/>
                <a:cs typeface="Calibri"/>
              </a:rPr>
              <a:t>e.g., </a:t>
            </a:r>
            <a:r>
              <a:rPr dirty="0" sz="3200" spc="-5">
                <a:solidFill>
                  <a:srgbClr val="C00000"/>
                </a:solidFill>
                <a:latin typeface="Calibri"/>
                <a:cs typeface="Calibri"/>
              </a:rPr>
              <a:t>chemical </a:t>
            </a:r>
            <a:r>
              <a:rPr dirty="0" sz="3200" spc="-10">
                <a:solidFill>
                  <a:srgbClr val="C00000"/>
                </a:solidFill>
                <a:latin typeface="Calibri"/>
                <a:cs typeface="Calibri"/>
              </a:rPr>
              <a:t>validity</a:t>
            </a:r>
            <a:r>
              <a:rPr dirty="0" sz="3200" spc="-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5">
                <a:solidFill>
                  <a:srgbClr val="C00000"/>
                </a:solidFill>
                <a:latin typeface="Calibri"/>
                <a:cs typeface="Calibri"/>
              </a:rPr>
              <a:t>rules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4300"/>
              </a:lnSpc>
              <a:buClr>
                <a:srgbClr val="F0AD00"/>
              </a:buClr>
              <a:buSzPct val="80555"/>
              <a:buFont typeface="Arial"/>
              <a:buChar char="▪"/>
              <a:tabLst>
                <a:tab pos="332740" algn="l"/>
              </a:tabLst>
            </a:pPr>
            <a:r>
              <a:rPr dirty="0" spc="-20">
                <a:solidFill>
                  <a:srgbClr val="E88651"/>
                </a:solidFill>
              </a:rPr>
              <a:t>Are </a:t>
            </a:r>
            <a:r>
              <a:rPr dirty="0" spc="-5">
                <a:solidFill>
                  <a:srgbClr val="E88651"/>
                </a:solidFill>
              </a:rPr>
              <a:t>learned </a:t>
            </a:r>
            <a:r>
              <a:rPr dirty="0" spc="-15">
                <a:solidFill>
                  <a:srgbClr val="E88651"/>
                </a:solidFill>
              </a:rPr>
              <a:t>from </a:t>
            </a:r>
            <a:r>
              <a:rPr dirty="0" spc="-20">
                <a:solidFill>
                  <a:srgbClr val="E88651"/>
                </a:solidFill>
              </a:rPr>
              <a:t>examples</a:t>
            </a:r>
            <a:r>
              <a:rPr dirty="0" spc="15">
                <a:solidFill>
                  <a:srgbClr val="E88651"/>
                </a:solidFill>
              </a:rPr>
              <a:t> </a:t>
            </a:r>
            <a:r>
              <a:rPr dirty="0" spc="-15" b="0">
                <a:solidFill>
                  <a:srgbClr val="E88651"/>
                </a:solidFill>
                <a:latin typeface="Calibri"/>
                <a:cs typeface="Calibri"/>
              </a:rPr>
              <a:t>(Realistic)</a:t>
            </a:r>
          </a:p>
          <a:p>
            <a:pPr lvl="1" marL="625475" indent="-274320">
              <a:lnSpc>
                <a:spcPct val="100000"/>
              </a:lnSpc>
              <a:spcBef>
                <a:spcPts val="78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3200" spc="-10">
                <a:solidFill>
                  <a:srgbClr val="E88651"/>
                </a:solidFill>
                <a:latin typeface="Calibri"/>
                <a:cs typeface="Calibri"/>
              </a:rPr>
              <a:t>Imitating </a:t>
            </a:r>
            <a:r>
              <a:rPr dirty="0" sz="3200">
                <a:solidFill>
                  <a:srgbClr val="E88651"/>
                </a:solidFill>
                <a:latin typeface="Calibri"/>
                <a:cs typeface="Calibri"/>
              </a:rPr>
              <a:t>a </a:t>
            </a:r>
            <a:r>
              <a:rPr dirty="0" sz="3200" spc="-5">
                <a:solidFill>
                  <a:srgbClr val="E88651"/>
                </a:solidFill>
                <a:latin typeface="Calibri"/>
                <a:cs typeface="Calibri"/>
              </a:rPr>
              <a:t>molecule </a:t>
            </a:r>
            <a:r>
              <a:rPr dirty="0" sz="3200" spc="-15">
                <a:solidFill>
                  <a:srgbClr val="E88651"/>
                </a:solidFill>
                <a:latin typeface="Calibri"/>
                <a:cs typeface="Calibri"/>
              </a:rPr>
              <a:t>graph</a:t>
            </a:r>
            <a:r>
              <a:rPr dirty="0" sz="3200" spc="10">
                <a:solidFill>
                  <a:srgbClr val="E88651"/>
                </a:solidFill>
                <a:latin typeface="Calibri"/>
                <a:cs typeface="Calibri"/>
              </a:rPr>
              <a:t> </a:t>
            </a:r>
            <a:r>
              <a:rPr dirty="0" sz="3200" spc="-15">
                <a:solidFill>
                  <a:srgbClr val="E88651"/>
                </a:solidFill>
                <a:latin typeface="Calibri"/>
                <a:cs typeface="Calibri"/>
              </a:rPr>
              <a:t>dataset</a:t>
            </a:r>
            <a:endParaRPr sz="3200">
              <a:latin typeface="Calibri"/>
              <a:cs typeface="Calibri"/>
            </a:endParaRPr>
          </a:p>
          <a:p>
            <a:pPr lvl="2" marL="890905" indent="-228600">
              <a:lnSpc>
                <a:spcPct val="100000"/>
              </a:lnSpc>
              <a:spcBef>
                <a:spcPts val="755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800" spc="-55">
                <a:solidFill>
                  <a:srgbClr val="E88651"/>
                </a:solidFill>
                <a:latin typeface="Calibri"/>
                <a:cs typeface="Calibri"/>
              </a:rPr>
              <a:t>We </a:t>
            </a:r>
            <a:r>
              <a:rPr dirty="0" sz="2800" spc="-25">
                <a:solidFill>
                  <a:srgbClr val="E88651"/>
                </a:solidFill>
                <a:latin typeface="Calibri"/>
                <a:cs typeface="Calibri"/>
              </a:rPr>
              <a:t>have </a:t>
            </a:r>
            <a:r>
              <a:rPr dirty="0" sz="2800" spc="-10">
                <a:solidFill>
                  <a:srgbClr val="E88651"/>
                </a:solidFill>
                <a:latin typeface="Calibri"/>
                <a:cs typeface="Calibri"/>
              </a:rPr>
              <a:t>just </a:t>
            </a:r>
            <a:r>
              <a:rPr dirty="0" sz="2800" spc="-20">
                <a:solidFill>
                  <a:srgbClr val="E88651"/>
                </a:solidFill>
                <a:latin typeface="Calibri"/>
                <a:cs typeface="Calibri"/>
              </a:rPr>
              <a:t>covered </a:t>
            </a:r>
            <a:r>
              <a:rPr dirty="0" sz="2800" spc="-5">
                <a:solidFill>
                  <a:srgbClr val="E88651"/>
                </a:solidFill>
                <a:latin typeface="Calibri"/>
                <a:cs typeface="Calibri"/>
              </a:rPr>
              <a:t>this</a:t>
            </a:r>
            <a:r>
              <a:rPr dirty="0" sz="2800" spc="65">
                <a:solidFill>
                  <a:srgbClr val="E88651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E88651"/>
                </a:solidFill>
                <a:latin typeface="Calibri"/>
                <a:cs typeface="Calibri"/>
              </a:rPr>
              <a:t>part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3566160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"/>
              <a:t>Generating graphs</a:t>
            </a:r>
            <a:r>
              <a:rPr dirty="0" spc="-60"/>
              <a:t> </a:t>
            </a:r>
            <a:r>
              <a:rPr dirty="0" spc="-10"/>
              <a:t>that: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3F3F3F"/>
                </a:solidFill>
              </a:rPr>
              <a:t>59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128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955"/>
              </a:spcBef>
              <a:buClr>
                <a:srgbClr val="F0AD00"/>
              </a:buClr>
              <a:buSzPct val="80555"/>
              <a:buFont typeface="Arial"/>
              <a:buChar char="▪"/>
              <a:tabLst>
                <a:tab pos="332740" algn="l"/>
              </a:tabLst>
            </a:pPr>
            <a:r>
              <a:rPr dirty="0" spc="-15"/>
              <a:t>Optimize </a:t>
            </a:r>
            <a:r>
              <a:rPr dirty="0"/>
              <a:t>a </a:t>
            </a:r>
            <a:r>
              <a:rPr dirty="0" spc="-10"/>
              <a:t>given </a:t>
            </a:r>
            <a:r>
              <a:rPr dirty="0" spc="-5"/>
              <a:t>objective </a:t>
            </a:r>
            <a:r>
              <a:rPr dirty="0" spc="-5" b="0">
                <a:latin typeface="Calibri"/>
                <a:cs typeface="Calibri"/>
              </a:rPr>
              <a:t>(High</a:t>
            </a:r>
            <a:r>
              <a:rPr dirty="0" spc="-15" b="0">
                <a:latin typeface="Calibri"/>
                <a:cs typeface="Calibri"/>
              </a:rPr>
              <a:t> scores)</a:t>
            </a:r>
          </a:p>
          <a:p>
            <a:pPr lvl="1" marL="625475" indent="-274320">
              <a:lnSpc>
                <a:spcPts val="3820"/>
              </a:lnSpc>
              <a:spcBef>
                <a:spcPts val="760"/>
              </a:spcBef>
              <a:buFont typeface="Malgun Gothic"/>
              <a:buChar char="▪"/>
              <a:tabLst>
                <a:tab pos="625475" algn="l"/>
              </a:tabLst>
            </a:pPr>
            <a:r>
              <a:rPr dirty="0" sz="3200" spc="0">
                <a:solidFill>
                  <a:srgbClr val="60B5CC"/>
                </a:solidFill>
                <a:latin typeface="Calibri"/>
                <a:cs typeface="Calibri"/>
              </a:rPr>
              <a:t>e.g.,</a:t>
            </a:r>
            <a:r>
              <a:rPr dirty="0" sz="3200" spc="-20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3200" spc="-15">
                <a:solidFill>
                  <a:srgbClr val="60B5CC"/>
                </a:solidFill>
                <a:latin typeface="Calibri"/>
                <a:cs typeface="Calibri"/>
              </a:rPr>
              <a:t>drug-likeness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4300"/>
              </a:lnSpc>
              <a:buClr>
                <a:srgbClr val="F0AD00"/>
              </a:buClr>
              <a:buSzPct val="80555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C00000"/>
                </a:solidFill>
              </a:rPr>
              <a:t>Obey </a:t>
            </a:r>
            <a:r>
              <a:rPr dirty="0" spc="-5">
                <a:solidFill>
                  <a:srgbClr val="C00000"/>
                </a:solidFill>
              </a:rPr>
              <a:t>underlying rules</a:t>
            </a:r>
            <a:r>
              <a:rPr dirty="0">
                <a:solidFill>
                  <a:srgbClr val="C00000"/>
                </a:solidFill>
              </a:rPr>
              <a:t> </a:t>
            </a:r>
            <a:r>
              <a:rPr dirty="0" spc="-35" b="0">
                <a:solidFill>
                  <a:srgbClr val="C00000"/>
                </a:solidFill>
                <a:latin typeface="Calibri"/>
                <a:cs typeface="Calibri"/>
              </a:rPr>
              <a:t>(Valid)</a:t>
            </a:r>
          </a:p>
          <a:p>
            <a:pPr lvl="1" marL="625475" indent="-274320">
              <a:lnSpc>
                <a:spcPct val="100000"/>
              </a:lnSpc>
              <a:spcBef>
                <a:spcPts val="78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3200" spc="0">
                <a:solidFill>
                  <a:srgbClr val="C00000"/>
                </a:solidFill>
                <a:latin typeface="Calibri"/>
                <a:cs typeface="Calibri"/>
              </a:rPr>
              <a:t>e.g., </a:t>
            </a:r>
            <a:r>
              <a:rPr dirty="0" sz="3200" spc="-5">
                <a:solidFill>
                  <a:srgbClr val="C00000"/>
                </a:solidFill>
                <a:latin typeface="Calibri"/>
                <a:cs typeface="Calibri"/>
              </a:rPr>
              <a:t>chemical </a:t>
            </a:r>
            <a:r>
              <a:rPr dirty="0" sz="3200" spc="-10">
                <a:solidFill>
                  <a:srgbClr val="C00000"/>
                </a:solidFill>
                <a:latin typeface="Calibri"/>
                <a:cs typeface="Calibri"/>
              </a:rPr>
              <a:t>validity</a:t>
            </a:r>
            <a:r>
              <a:rPr dirty="0" sz="3200" spc="-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5">
                <a:solidFill>
                  <a:srgbClr val="C00000"/>
                </a:solidFill>
                <a:latin typeface="Calibri"/>
                <a:cs typeface="Calibri"/>
              </a:rPr>
              <a:t>rules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0808" y="4252501"/>
            <a:ext cx="7593330" cy="16617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4150"/>
              </a:lnSpc>
            </a:pPr>
            <a:r>
              <a:rPr dirty="0" sz="2900" spc="575">
                <a:solidFill>
                  <a:srgbClr val="F0AD00"/>
                </a:solidFill>
                <a:latin typeface="Arial"/>
                <a:cs typeface="Arial"/>
              </a:rPr>
              <a:t>▪</a:t>
            </a:r>
            <a:r>
              <a:rPr dirty="0" sz="2900" spc="-35">
                <a:solidFill>
                  <a:srgbClr val="F0AD00"/>
                </a:solidFill>
                <a:latin typeface="Arial"/>
                <a:cs typeface="Arial"/>
              </a:rPr>
              <a:t> </a:t>
            </a:r>
            <a:r>
              <a:rPr dirty="0" sz="3600" spc="-20" b="1">
                <a:latin typeface="Calibri"/>
                <a:cs typeface="Calibri"/>
              </a:rPr>
              <a:t>Are </a:t>
            </a:r>
            <a:r>
              <a:rPr dirty="0" sz="3600" spc="-5" b="1">
                <a:latin typeface="Calibri"/>
                <a:cs typeface="Calibri"/>
              </a:rPr>
              <a:t>learned </a:t>
            </a:r>
            <a:r>
              <a:rPr dirty="0" sz="3600" spc="-15" b="1">
                <a:latin typeface="Calibri"/>
                <a:cs typeface="Calibri"/>
              </a:rPr>
              <a:t>from </a:t>
            </a:r>
            <a:r>
              <a:rPr dirty="0" sz="3600" spc="-20" b="1">
                <a:latin typeface="Calibri"/>
                <a:cs typeface="Calibri"/>
              </a:rPr>
              <a:t>examples </a:t>
            </a:r>
            <a:r>
              <a:rPr dirty="0" sz="3600" spc="-15">
                <a:latin typeface="Calibri"/>
                <a:cs typeface="Calibri"/>
              </a:rPr>
              <a:t>(Realistic)</a:t>
            </a:r>
            <a:endParaRPr sz="3600">
              <a:latin typeface="Calibri"/>
              <a:cs typeface="Calibri"/>
            </a:endParaRPr>
          </a:p>
          <a:p>
            <a:pPr marL="337820">
              <a:lnSpc>
                <a:spcPct val="100000"/>
              </a:lnSpc>
              <a:spcBef>
                <a:spcPts val="785"/>
              </a:spcBef>
            </a:pPr>
            <a:r>
              <a:rPr dirty="0" sz="3200" spc="-994">
                <a:solidFill>
                  <a:srgbClr val="60B5CC"/>
                </a:solidFill>
                <a:latin typeface="Malgun Gothic"/>
                <a:cs typeface="Malgun Gothic"/>
              </a:rPr>
              <a:t>▪      </a:t>
            </a:r>
            <a:r>
              <a:rPr dirty="0" sz="3200" spc="-10">
                <a:latin typeface="Calibri"/>
                <a:cs typeface="Calibri"/>
              </a:rPr>
              <a:t>Imitating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5">
                <a:latin typeface="Calibri"/>
                <a:cs typeface="Calibri"/>
              </a:rPr>
              <a:t>molecule </a:t>
            </a:r>
            <a:r>
              <a:rPr dirty="0" sz="3200" spc="-15">
                <a:latin typeface="Calibri"/>
                <a:cs typeface="Calibri"/>
              </a:rPr>
              <a:t>graph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dataset</a:t>
            </a:r>
            <a:endParaRPr sz="3200">
              <a:latin typeface="Calibri"/>
              <a:cs typeface="Calibri"/>
            </a:endParaRPr>
          </a:p>
          <a:p>
            <a:pPr marL="648970">
              <a:lnSpc>
                <a:spcPct val="100000"/>
              </a:lnSpc>
              <a:spcBef>
                <a:spcPts val="760"/>
              </a:spcBef>
            </a:pPr>
            <a:r>
              <a:rPr dirty="0" sz="2800" spc="-869">
                <a:solidFill>
                  <a:srgbClr val="E66C7D"/>
                </a:solidFill>
                <a:latin typeface="Malgun Gothic"/>
                <a:cs typeface="Malgun Gothic"/>
              </a:rPr>
              <a:t>▪     </a:t>
            </a:r>
            <a:r>
              <a:rPr dirty="0" sz="2800" spc="-20">
                <a:latin typeface="Calibri"/>
                <a:cs typeface="Calibri"/>
              </a:rPr>
              <a:t>Covered </a:t>
            </a:r>
            <a:r>
              <a:rPr dirty="0" sz="2800" spc="-5">
                <a:latin typeface="Calibri"/>
                <a:cs typeface="Calibri"/>
              </a:rPr>
              <a:t>this part when </a:t>
            </a:r>
            <a:r>
              <a:rPr dirty="0" sz="2800" spc="-10">
                <a:latin typeface="Calibri"/>
                <a:cs typeface="Calibri"/>
              </a:rPr>
              <a:t>introducing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 spc="-90">
                <a:latin typeface="Calibri"/>
                <a:cs typeface="Calibri"/>
              </a:rPr>
              <a:t>GraphRNN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3806" y="4289257"/>
            <a:ext cx="8554720" cy="1893570"/>
          </a:xfrm>
          <a:prstGeom prst="rect">
            <a:avLst/>
          </a:prstGeom>
          <a:solidFill>
            <a:srgbClr val="92D050"/>
          </a:solidFill>
        </p:spPr>
        <p:txBody>
          <a:bodyPr wrap="square" lIns="0" tIns="18224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1435"/>
              </a:spcBef>
            </a:pPr>
            <a:r>
              <a:rPr dirty="0" sz="3600" spc="-5" b="1">
                <a:solidFill>
                  <a:srgbClr val="FFFFFF"/>
                </a:solidFill>
                <a:latin typeface="Corbel"/>
                <a:cs typeface="Corbel"/>
              </a:rPr>
              <a:t>Including </a:t>
            </a:r>
            <a:r>
              <a:rPr dirty="0" sz="3600" spc="-30" b="1">
                <a:solidFill>
                  <a:srgbClr val="FFFFFF"/>
                </a:solidFill>
                <a:latin typeface="Corbel"/>
                <a:cs typeface="Corbel"/>
              </a:rPr>
              <a:t>“Black-box” </a:t>
            </a:r>
            <a:r>
              <a:rPr dirty="0" sz="3600" b="1">
                <a:solidFill>
                  <a:srgbClr val="FFFFFF"/>
                </a:solidFill>
                <a:latin typeface="Corbel"/>
                <a:cs typeface="Corbel"/>
              </a:rPr>
              <a:t>in</a:t>
            </a:r>
            <a:r>
              <a:rPr dirty="0" sz="3600" spc="-5" b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b="1">
                <a:solidFill>
                  <a:srgbClr val="FFFFFF"/>
                </a:solidFill>
                <a:latin typeface="Corbel"/>
                <a:cs typeface="Corbel"/>
              </a:rPr>
              <a:t>ML:</a:t>
            </a:r>
            <a:endParaRPr sz="3600">
              <a:latin typeface="Corbel"/>
              <a:cs typeface="Corbel"/>
            </a:endParaRPr>
          </a:p>
          <a:p>
            <a:pPr marL="90805" marR="236854">
              <a:lnSpc>
                <a:spcPct val="100699"/>
              </a:lnSpc>
              <a:spcBef>
                <a:spcPts val="560"/>
              </a:spcBef>
            </a:pPr>
            <a:r>
              <a:rPr dirty="0" sz="2800" spc="-5" b="1">
                <a:solidFill>
                  <a:srgbClr val="FFFFFF"/>
                </a:solidFill>
                <a:latin typeface="Corbel"/>
                <a:cs typeface="Corbel"/>
              </a:rPr>
              <a:t>Objectives </a:t>
            </a:r>
            <a:r>
              <a:rPr dirty="0" sz="2800" spc="-15" b="1">
                <a:solidFill>
                  <a:srgbClr val="FFFFFF"/>
                </a:solidFill>
                <a:latin typeface="Corbel"/>
                <a:cs typeface="Corbel"/>
              </a:rPr>
              <a:t>like </a:t>
            </a:r>
            <a:r>
              <a:rPr dirty="0" sz="2800" spc="-10" b="1">
                <a:solidFill>
                  <a:srgbClr val="FFFFFF"/>
                </a:solidFill>
                <a:latin typeface="Corbel"/>
                <a:cs typeface="Corbel"/>
              </a:rPr>
              <a:t>drug-likeness </a:t>
            </a:r>
            <a:r>
              <a:rPr dirty="0" sz="2800" spc="-5" b="1">
                <a:solidFill>
                  <a:srgbClr val="FFFFFF"/>
                </a:solidFill>
                <a:latin typeface="Corbel"/>
                <a:cs typeface="Corbel"/>
              </a:rPr>
              <a:t>are governed </a:t>
            </a:r>
            <a:r>
              <a:rPr dirty="0" sz="2800" b="1">
                <a:solidFill>
                  <a:srgbClr val="FFFFFF"/>
                </a:solidFill>
                <a:latin typeface="Corbel"/>
                <a:cs typeface="Corbel"/>
              </a:rPr>
              <a:t>by </a:t>
            </a:r>
            <a:r>
              <a:rPr dirty="0" sz="2800" spc="-5" b="1">
                <a:solidFill>
                  <a:srgbClr val="FFFFFF"/>
                </a:solidFill>
                <a:latin typeface="Corbel"/>
                <a:cs typeface="Corbel"/>
              </a:rPr>
              <a:t>physical  </a:t>
            </a:r>
            <a:r>
              <a:rPr dirty="0" sz="2800" spc="-25" b="1">
                <a:solidFill>
                  <a:srgbClr val="FFFFFF"/>
                </a:solidFill>
                <a:latin typeface="Corbel"/>
                <a:cs typeface="Corbel"/>
              </a:rPr>
              <a:t>law, </a:t>
            </a:r>
            <a:r>
              <a:rPr dirty="0" sz="2800" spc="-5" b="1">
                <a:solidFill>
                  <a:srgbClr val="FFFFFF"/>
                </a:solidFill>
                <a:latin typeface="Corbel"/>
                <a:cs typeface="Corbel"/>
              </a:rPr>
              <a:t>which are assumed </a:t>
            </a:r>
            <a:r>
              <a:rPr dirty="0" sz="2800" b="1">
                <a:solidFill>
                  <a:srgbClr val="FFFFFF"/>
                </a:solidFill>
                <a:latin typeface="Corbel"/>
                <a:cs typeface="Corbel"/>
              </a:rPr>
              <a:t>to be </a:t>
            </a:r>
            <a:r>
              <a:rPr dirty="0" sz="2800" spc="-5" b="1">
                <a:solidFill>
                  <a:srgbClr val="FFFFFF"/>
                </a:solidFill>
                <a:latin typeface="Corbel"/>
                <a:cs typeface="Corbel"/>
              </a:rPr>
              <a:t>unknown </a:t>
            </a:r>
            <a:r>
              <a:rPr dirty="0" sz="2800" b="1">
                <a:solidFill>
                  <a:srgbClr val="FFFFFF"/>
                </a:solidFill>
                <a:latin typeface="Corbel"/>
                <a:cs typeface="Corbel"/>
              </a:rPr>
              <a:t>to</a:t>
            </a:r>
            <a:r>
              <a:rPr dirty="0" sz="2800" spc="10" b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Corbel"/>
                <a:cs typeface="Corbel"/>
              </a:rPr>
              <a:t>us!</a:t>
            </a:r>
            <a:endParaRPr sz="28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7251192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726680" cy="1973580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32740" marR="5080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b="0">
                <a:latin typeface="Calibri"/>
                <a:cs typeface="Calibri"/>
              </a:rPr>
              <a:t>A ML </a:t>
            </a:r>
            <a:r>
              <a:rPr dirty="0" sz="3200" spc="-15" b="0">
                <a:latin typeface="Calibri"/>
                <a:cs typeface="Calibri"/>
              </a:rPr>
              <a:t>agent </a:t>
            </a:r>
            <a:r>
              <a:rPr dirty="0" sz="3200" spc="-5">
                <a:solidFill>
                  <a:srgbClr val="C00000"/>
                </a:solidFill>
              </a:rPr>
              <a:t>observes </a:t>
            </a:r>
            <a:r>
              <a:rPr dirty="0" sz="3200" b="0">
                <a:latin typeface="Calibri"/>
                <a:cs typeface="Calibri"/>
              </a:rPr>
              <a:t>the </a:t>
            </a:r>
            <a:r>
              <a:rPr dirty="0" sz="3200" spc="-15" b="0">
                <a:latin typeface="Calibri"/>
                <a:cs typeface="Calibri"/>
              </a:rPr>
              <a:t>environment, </a:t>
            </a:r>
            <a:r>
              <a:rPr dirty="0" sz="3200" spc="-35" b="0">
                <a:latin typeface="Calibri"/>
                <a:cs typeface="Calibri"/>
              </a:rPr>
              <a:t>takes  </a:t>
            </a:r>
            <a:r>
              <a:rPr dirty="0" sz="3200" b="0">
                <a:latin typeface="Calibri"/>
                <a:cs typeface="Calibri"/>
              </a:rPr>
              <a:t>an </a:t>
            </a:r>
            <a:r>
              <a:rPr dirty="0" sz="3200" spc="-5">
                <a:solidFill>
                  <a:srgbClr val="C00000"/>
                </a:solidFill>
              </a:rPr>
              <a:t>action </a:t>
            </a:r>
            <a:r>
              <a:rPr dirty="0" sz="3200" spc="-15" b="0">
                <a:latin typeface="Calibri"/>
                <a:cs typeface="Calibri"/>
              </a:rPr>
              <a:t>to </a:t>
            </a:r>
            <a:r>
              <a:rPr dirty="0" sz="3200" spc="-20" b="0">
                <a:latin typeface="Calibri"/>
                <a:cs typeface="Calibri"/>
              </a:rPr>
              <a:t>interact </a:t>
            </a:r>
            <a:r>
              <a:rPr dirty="0" sz="3200" spc="-5" b="0">
                <a:latin typeface="Calibri"/>
                <a:cs typeface="Calibri"/>
              </a:rPr>
              <a:t>with </a:t>
            </a:r>
            <a:r>
              <a:rPr dirty="0" sz="3200" b="0">
                <a:latin typeface="Calibri"/>
                <a:cs typeface="Calibri"/>
              </a:rPr>
              <a:t>the </a:t>
            </a:r>
            <a:r>
              <a:rPr dirty="0" sz="3200" spc="-15" b="0">
                <a:latin typeface="Calibri"/>
                <a:cs typeface="Calibri"/>
              </a:rPr>
              <a:t>environment,  </a:t>
            </a:r>
            <a:r>
              <a:rPr dirty="0" sz="3200" b="0">
                <a:latin typeface="Calibri"/>
                <a:cs typeface="Calibri"/>
              </a:rPr>
              <a:t>and </a:t>
            </a:r>
            <a:r>
              <a:rPr dirty="0" sz="3200" spc="-15" b="0">
                <a:latin typeface="Calibri"/>
                <a:cs typeface="Calibri"/>
              </a:rPr>
              <a:t>receives </a:t>
            </a:r>
            <a:r>
              <a:rPr dirty="0" sz="3200" spc="-5" b="0">
                <a:latin typeface="Calibri"/>
                <a:cs typeface="Calibri"/>
              </a:rPr>
              <a:t>positive </a:t>
            </a:r>
            <a:r>
              <a:rPr dirty="0" sz="3200" b="0">
                <a:latin typeface="Calibri"/>
                <a:cs typeface="Calibri"/>
              </a:rPr>
              <a:t>or </a:t>
            </a:r>
            <a:r>
              <a:rPr dirty="0" sz="3200" spc="-15" b="0">
                <a:latin typeface="Calibri"/>
                <a:cs typeface="Calibri"/>
              </a:rPr>
              <a:t>negative</a:t>
            </a:r>
            <a:r>
              <a:rPr dirty="0" sz="3200" spc="-35" b="0">
                <a:latin typeface="Calibri"/>
                <a:cs typeface="Calibri"/>
              </a:rPr>
              <a:t> </a:t>
            </a:r>
            <a:r>
              <a:rPr dirty="0" sz="3200" spc="-25">
                <a:solidFill>
                  <a:srgbClr val="C00000"/>
                </a:solidFill>
              </a:rPr>
              <a:t>reward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79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b="0">
                <a:latin typeface="Calibri"/>
                <a:cs typeface="Calibri"/>
              </a:rPr>
              <a:t>The </a:t>
            </a:r>
            <a:r>
              <a:rPr dirty="0" sz="3200" spc="-15" b="0">
                <a:latin typeface="Calibri"/>
                <a:cs typeface="Calibri"/>
              </a:rPr>
              <a:t>agent </a:t>
            </a:r>
            <a:r>
              <a:rPr dirty="0" sz="3200" spc="-5" b="0">
                <a:latin typeface="Calibri"/>
                <a:cs typeface="Calibri"/>
              </a:rPr>
              <a:t>then </a:t>
            </a:r>
            <a:r>
              <a:rPr dirty="0" sz="3200" spc="-5">
                <a:solidFill>
                  <a:srgbClr val="C00000"/>
                </a:solidFill>
              </a:rPr>
              <a:t>learns </a:t>
            </a:r>
            <a:r>
              <a:rPr dirty="0" sz="3200" spc="-15">
                <a:solidFill>
                  <a:srgbClr val="C00000"/>
                </a:solidFill>
              </a:rPr>
              <a:t>from </a:t>
            </a:r>
            <a:r>
              <a:rPr dirty="0" sz="3200" spc="-5">
                <a:solidFill>
                  <a:srgbClr val="C00000"/>
                </a:solidFill>
              </a:rPr>
              <a:t>this</a:t>
            </a:r>
            <a:r>
              <a:rPr dirty="0" sz="3200" spc="15">
                <a:solidFill>
                  <a:srgbClr val="C00000"/>
                </a:solidFill>
              </a:rPr>
              <a:t> </a:t>
            </a:r>
            <a:r>
              <a:rPr dirty="0" sz="3200">
                <a:solidFill>
                  <a:srgbClr val="C00000"/>
                </a:solidFill>
              </a:rPr>
              <a:t>loop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16124" y="4490961"/>
            <a:ext cx="2486660" cy="810260"/>
          </a:xfrm>
          <a:custGeom>
            <a:avLst/>
            <a:gdLst/>
            <a:ahLst/>
            <a:cxnLst/>
            <a:rect l="l" t="t" r="r" b="b"/>
            <a:pathLst>
              <a:path w="2486660" h="810260">
                <a:moveTo>
                  <a:pt x="2462399" y="0"/>
                </a:moveTo>
                <a:lnTo>
                  <a:pt x="23999" y="0"/>
                </a:lnTo>
                <a:lnTo>
                  <a:pt x="14657" y="1885"/>
                </a:lnTo>
                <a:lnTo>
                  <a:pt x="7029" y="7028"/>
                </a:lnTo>
                <a:lnTo>
                  <a:pt x="1886" y="14657"/>
                </a:lnTo>
                <a:lnTo>
                  <a:pt x="0" y="23999"/>
                </a:lnTo>
                <a:lnTo>
                  <a:pt x="0" y="785999"/>
                </a:lnTo>
                <a:lnTo>
                  <a:pt x="1886" y="795341"/>
                </a:lnTo>
                <a:lnTo>
                  <a:pt x="7029" y="802970"/>
                </a:lnTo>
                <a:lnTo>
                  <a:pt x="14657" y="808113"/>
                </a:lnTo>
                <a:lnTo>
                  <a:pt x="23999" y="809999"/>
                </a:lnTo>
                <a:lnTo>
                  <a:pt x="2462399" y="809999"/>
                </a:lnTo>
                <a:lnTo>
                  <a:pt x="2471741" y="808113"/>
                </a:lnTo>
                <a:lnTo>
                  <a:pt x="2479370" y="802970"/>
                </a:lnTo>
                <a:lnTo>
                  <a:pt x="2484513" y="795341"/>
                </a:lnTo>
                <a:lnTo>
                  <a:pt x="2486399" y="785999"/>
                </a:lnTo>
                <a:lnTo>
                  <a:pt x="2486399" y="781199"/>
                </a:lnTo>
                <a:lnTo>
                  <a:pt x="28799" y="781199"/>
                </a:lnTo>
                <a:lnTo>
                  <a:pt x="28799" y="28799"/>
                </a:lnTo>
                <a:lnTo>
                  <a:pt x="2486399" y="28799"/>
                </a:lnTo>
                <a:lnTo>
                  <a:pt x="2486399" y="23999"/>
                </a:lnTo>
                <a:lnTo>
                  <a:pt x="2484513" y="14657"/>
                </a:lnTo>
                <a:lnTo>
                  <a:pt x="2479370" y="7028"/>
                </a:lnTo>
                <a:lnTo>
                  <a:pt x="2471741" y="1885"/>
                </a:lnTo>
                <a:lnTo>
                  <a:pt x="2462399" y="0"/>
                </a:lnTo>
                <a:close/>
              </a:path>
              <a:path w="2486660" h="810260">
                <a:moveTo>
                  <a:pt x="2486399" y="28799"/>
                </a:moveTo>
                <a:lnTo>
                  <a:pt x="2457599" y="28799"/>
                </a:lnTo>
                <a:lnTo>
                  <a:pt x="2457599" y="781199"/>
                </a:lnTo>
                <a:lnTo>
                  <a:pt x="2486399" y="781199"/>
                </a:lnTo>
                <a:lnTo>
                  <a:pt x="2486399" y="28799"/>
                </a:lnTo>
                <a:close/>
              </a:path>
              <a:path w="2486660" h="810260">
                <a:moveTo>
                  <a:pt x="2447999" y="38399"/>
                </a:moveTo>
                <a:lnTo>
                  <a:pt x="38399" y="38399"/>
                </a:lnTo>
                <a:lnTo>
                  <a:pt x="38399" y="771599"/>
                </a:lnTo>
                <a:lnTo>
                  <a:pt x="2447999" y="771599"/>
                </a:lnTo>
                <a:lnTo>
                  <a:pt x="2447999" y="761999"/>
                </a:lnTo>
                <a:lnTo>
                  <a:pt x="47999" y="761999"/>
                </a:lnTo>
                <a:lnTo>
                  <a:pt x="47999" y="47999"/>
                </a:lnTo>
                <a:lnTo>
                  <a:pt x="2447999" y="47999"/>
                </a:lnTo>
                <a:lnTo>
                  <a:pt x="2447999" y="38399"/>
                </a:lnTo>
                <a:close/>
              </a:path>
              <a:path w="2486660" h="810260">
                <a:moveTo>
                  <a:pt x="2447999" y="47999"/>
                </a:moveTo>
                <a:lnTo>
                  <a:pt x="2438400" y="47999"/>
                </a:lnTo>
                <a:lnTo>
                  <a:pt x="2438400" y="761999"/>
                </a:lnTo>
                <a:lnTo>
                  <a:pt x="2447999" y="761999"/>
                </a:lnTo>
                <a:lnTo>
                  <a:pt x="2447999" y="47999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18108" y="3305555"/>
            <a:ext cx="7978775" cy="179260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30" b="1">
                <a:latin typeface="Calibri"/>
                <a:cs typeface="Calibri"/>
              </a:rPr>
              <a:t>Key </a:t>
            </a:r>
            <a:r>
              <a:rPr dirty="0" sz="3200" spc="-5" b="1">
                <a:latin typeface="Calibri"/>
                <a:cs typeface="Calibri"/>
              </a:rPr>
              <a:t>idea</a:t>
            </a:r>
            <a:r>
              <a:rPr dirty="0" sz="3200" spc="-5">
                <a:latin typeface="Calibri"/>
                <a:cs typeface="Calibri"/>
              </a:rPr>
              <a:t>: </a:t>
            </a:r>
            <a:r>
              <a:rPr dirty="0" sz="3200" spc="-15">
                <a:latin typeface="Calibri"/>
                <a:cs typeface="Calibri"/>
              </a:rPr>
              <a:t>Agent </a:t>
            </a:r>
            <a:r>
              <a:rPr dirty="0" sz="3200" spc="-10">
                <a:latin typeface="Calibri"/>
                <a:cs typeface="Calibri"/>
              </a:rPr>
              <a:t>can directly </a:t>
            </a:r>
            <a:r>
              <a:rPr dirty="0" sz="3200" spc="-5">
                <a:latin typeface="Calibri"/>
                <a:cs typeface="Calibri"/>
              </a:rPr>
              <a:t>learn </a:t>
            </a:r>
            <a:r>
              <a:rPr dirty="0" sz="3200" spc="-15">
                <a:latin typeface="Calibri"/>
                <a:cs typeface="Calibri"/>
              </a:rPr>
              <a:t>from  environment, </a:t>
            </a:r>
            <a:r>
              <a:rPr dirty="0" sz="3200" spc="-5">
                <a:latin typeface="Calibri"/>
                <a:cs typeface="Calibri"/>
              </a:rPr>
              <a:t>which </a:t>
            </a:r>
            <a:r>
              <a:rPr dirty="0" sz="3200">
                <a:latin typeface="Calibri"/>
                <a:cs typeface="Calibri"/>
              </a:rPr>
              <a:t>is a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blackbox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3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agent</a:t>
            </a:r>
            <a:endParaRPr sz="3200">
              <a:latin typeface="Calibri"/>
              <a:cs typeface="Calibri"/>
            </a:endParaRPr>
          </a:p>
          <a:p>
            <a:pPr algn="ctr" marR="488315">
              <a:lnSpc>
                <a:spcPct val="100000"/>
              </a:lnSpc>
              <a:spcBef>
                <a:spcPts val="2800"/>
              </a:spcBef>
            </a:pPr>
            <a:r>
              <a:rPr dirty="0" sz="2800" spc="-5" b="1">
                <a:latin typeface="Corbel"/>
                <a:cs typeface="Corbel"/>
              </a:rPr>
              <a:t>ML</a:t>
            </a:r>
            <a:r>
              <a:rPr dirty="0" sz="2800" spc="-220" b="1">
                <a:latin typeface="Corbel"/>
                <a:cs typeface="Corbel"/>
              </a:rPr>
              <a:t> </a:t>
            </a:r>
            <a:r>
              <a:rPr dirty="0" sz="2800" spc="-5" b="1">
                <a:latin typeface="Corbel"/>
                <a:cs typeface="Corbel"/>
              </a:rPr>
              <a:t>Agent</a:t>
            </a:r>
            <a:endParaRPr sz="2800">
              <a:latin typeface="Corbel"/>
              <a:cs typeface="Corbe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83669" y="4876948"/>
            <a:ext cx="779795" cy="1397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91884" y="5278628"/>
            <a:ext cx="89026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Corbel"/>
                <a:cs typeface="Corbel"/>
              </a:rPr>
              <a:t>A</a:t>
            </a:r>
            <a:r>
              <a:rPr dirty="0" sz="2400" b="1">
                <a:latin typeface="Corbel"/>
                <a:cs typeface="Corbel"/>
              </a:rPr>
              <a:t>cti</a:t>
            </a:r>
            <a:r>
              <a:rPr dirty="0" sz="2400" spc="-5" b="1">
                <a:latin typeface="Corbel"/>
                <a:cs typeface="Corbel"/>
              </a:rPr>
              <a:t>o</a:t>
            </a:r>
            <a:r>
              <a:rPr dirty="0" sz="2400" b="1">
                <a:latin typeface="Corbel"/>
                <a:cs typeface="Corbel"/>
              </a:rPr>
              <a:t>n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6124" y="5767199"/>
            <a:ext cx="2486660" cy="810260"/>
          </a:xfrm>
          <a:custGeom>
            <a:avLst/>
            <a:gdLst/>
            <a:ahLst/>
            <a:cxnLst/>
            <a:rect l="l" t="t" r="r" b="b"/>
            <a:pathLst>
              <a:path w="2486660" h="810259">
                <a:moveTo>
                  <a:pt x="2462399" y="0"/>
                </a:moveTo>
                <a:lnTo>
                  <a:pt x="23999" y="0"/>
                </a:lnTo>
                <a:lnTo>
                  <a:pt x="14657" y="1886"/>
                </a:lnTo>
                <a:lnTo>
                  <a:pt x="7029" y="7029"/>
                </a:lnTo>
                <a:lnTo>
                  <a:pt x="1886" y="14658"/>
                </a:lnTo>
                <a:lnTo>
                  <a:pt x="0" y="23999"/>
                </a:lnTo>
                <a:lnTo>
                  <a:pt x="0" y="785999"/>
                </a:lnTo>
                <a:lnTo>
                  <a:pt x="1886" y="795341"/>
                </a:lnTo>
                <a:lnTo>
                  <a:pt x="7029" y="802970"/>
                </a:lnTo>
                <a:lnTo>
                  <a:pt x="14657" y="808113"/>
                </a:lnTo>
                <a:lnTo>
                  <a:pt x="23999" y="809999"/>
                </a:lnTo>
                <a:lnTo>
                  <a:pt x="2462399" y="809999"/>
                </a:lnTo>
                <a:lnTo>
                  <a:pt x="2471741" y="808113"/>
                </a:lnTo>
                <a:lnTo>
                  <a:pt x="2479370" y="802970"/>
                </a:lnTo>
                <a:lnTo>
                  <a:pt x="2484513" y="795341"/>
                </a:lnTo>
                <a:lnTo>
                  <a:pt x="2486399" y="785999"/>
                </a:lnTo>
                <a:lnTo>
                  <a:pt x="2486399" y="781199"/>
                </a:lnTo>
                <a:lnTo>
                  <a:pt x="28799" y="781199"/>
                </a:lnTo>
                <a:lnTo>
                  <a:pt x="28799" y="28799"/>
                </a:lnTo>
                <a:lnTo>
                  <a:pt x="2486399" y="28799"/>
                </a:lnTo>
                <a:lnTo>
                  <a:pt x="2486399" y="23999"/>
                </a:lnTo>
                <a:lnTo>
                  <a:pt x="2484513" y="14658"/>
                </a:lnTo>
                <a:lnTo>
                  <a:pt x="2479370" y="7029"/>
                </a:lnTo>
                <a:lnTo>
                  <a:pt x="2471741" y="1886"/>
                </a:lnTo>
                <a:lnTo>
                  <a:pt x="2462399" y="0"/>
                </a:lnTo>
                <a:close/>
              </a:path>
              <a:path w="2486660" h="810259">
                <a:moveTo>
                  <a:pt x="2486399" y="28799"/>
                </a:moveTo>
                <a:lnTo>
                  <a:pt x="2457599" y="28799"/>
                </a:lnTo>
                <a:lnTo>
                  <a:pt x="2457599" y="781199"/>
                </a:lnTo>
                <a:lnTo>
                  <a:pt x="2486399" y="781199"/>
                </a:lnTo>
                <a:lnTo>
                  <a:pt x="2486399" y="28799"/>
                </a:lnTo>
                <a:close/>
              </a:path>
              <a:path w="2486660" h="810259">
                <a:moveTo>
                  <a:pt x="2447999" y="38399"/>
                </a:moveTo>
                <a:lnTo>
                  <a:pt x="38399" y="38399"/>
                </a:lnTo>
                <a:lnTo>
                  <a:pt x="38399" y="771599"/>
                </a:lnTo>
                <a:lnTo>
                  <a:pt x="2447999" y="771599"/>
                </a:lnTo>
                <a:lnTo>
                  <a:pt x="2447999" y="761999"/>
                </a:lnTo>
                <a:lnTo>
                  <a:pt x="47999" y="761999"/>
                </a:lnTo>
                <a:lnTo>
                  <a:pt x="47999" y="47999"/>
                </a:lnTo>
                <a:lnTo>
                  <a:pt x="2447999" y="47999"/>
                </a:lnTo>
                <a:lnTo>
                  <a:pt x="2447999" y="38399"/>
                </a:lnTo>
                <a:close/>
              </a:path>
              <a:path w="2486660" h="810259">
                <a:moveTo>
                  <a:pt x="2447999" y="47999"/>
                </a:moveTo>
                <a:lnTo>
                  <a:pt x="2438400" y="47999"/>
                </a:lnTo>
                <a:lnTo>
                  <a:pt x="2438400" y="761999"/>
                </a:lnTo>
                <a:lnTo>
                  <a:pt x="2447999" y="761999"/>
                </a:lnTo>
                <a:lnTo>
                  <a:pt x="2447999" y="47999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348085" y="5919723"/>
            <a:ext cx="202311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 b="1">
                <a:latin typeface="Corbel"/>
                <a:cs typeface="Corbel"/>
              </a:rPr>
              <a:t>Environment</a:t>
            </a:r>
            <a:endParaRPr sz="2800">
              <a:latin typeface="Corbel"/>
              <a:cs typeface="Corbe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855182" y="4859462"/>
            <a:ext cx="779795" cy="13970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952008" y="5092700"/>
            <a:ext cx="1743075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b="1">
                <a:latin typeface="Corbel"/>
                <a:cs typeface="Corbel"/>
              </a:rPr>
              <a:t>Ob</a:t>
            </a:r>
            <a:r>
              <a:rPr dirty="0" sz="2400" spc="-10" b="1">
                <a:latin typeface="Corbel"/>
                <a:cs typeface="Corbel"/>
              </a:rPr>
              <a:t>se</a:t>
            </a:r>
            <a:r>
              <a:rPr dirty="0" sz="2400" spc="-5" b="1">
                <a:latin typeface="Corbel"/>
                <a:cs typeface="Corbel"/>
              </a:rPr>
              <a:t>rv</a:t>
            </a:r>
            <a:r>
              <a:rPr dirty="0" sz="2400" b="1">
                <a:latin typeface="Corbel"/>
                <a:cs typeface="Corbel"/>
              </a:rPr>
              <a:t>ati</a:t>
            </a:r>
            <a:r>
              <a:rPr dirty="0" sz="2400" spc="-5" b="1">
                <a:latin typeface="Corbel"/>
                <a:cs typeface="Corbel"/>
              </a:rPr>
              <a:t>o</a:t>
            </a:r>
            <a:r>
              <a:rPr dirty="0" sz="2400" spc="0" b="1">
                <a:latin typeface="Corbel"/>
                <a:cs typeface="Corbel"/>
              </a:rPr>
              <a:t>n</a:t>
            </a:r>
            <a:r>
              <a:rPr dirty="0" sz="2400" b="1">
                <a:latin typeface="Corbel"/>
                <a:cs typeface="Corbel"/>
              </a:rPr>
              <a:t>,  </a:t>
            </a:r>
            <a:r>
              <a:rPr dirty="0" sz="2400" spc="-10" b="1">
                <a:latin typeface="Corbel"/>
                <a:cs typeface="Corbel"/>
              </a:rPr>
              <a:t>Reward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5"/>
              </a:rPr>
              <a:t>http://cs224w.stanford.edu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60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3770376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9363" y="1348740"/>
            <a:ext cx="8082915" cy="4411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815"/>
              </a:lnSpc>
              <a:spcBef>
                <a:spcPts val="100"/>
              </a:spcBef>
            </a:pPr>
            <a:r>
              <a:rPr dirty="0" sz="3200" spc="-20" b="1">
                <a:latin typeface="Calibri"/>
                <a:cs typeface="Calibri"/>
              </a:rPr>
              <a:t>Graph </a:t>
            </a:r>
            <a:r>
              <a:rPr dirty="0" sz="3200" spc="-10" b="1">
                <a:latin typeface="Calibri"/>
                <a:cs typeface="Calibri"/>
              </a:rPr>
              <a:t>Convolutional Policy Network</a:t>
            </a:r>
            <a:r>
              <a:rPr dirty="0" sz="3200" spc="10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(GCPN)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ts val="3815"/>
              </a:lnSpc>
            </a:pPr>
            <a:r>
              <a:rPr dirty="0" sz="3200" spc="-5">
                <a:latin typeface="Calibri"/>
                <a:cs typeface="Calibri"/>
              </a:rPr>
              <a:t>combines </a:t>
            </a:r>
            <a:r>
              <a:rPr dirty="0" sz="3200" spc="-15">
                <a:solidFill>
                  <a:srgbClr val="C00000"/>
                </a:solidFill>
                <a:latin typeface="Calibri"/>
                <a:cs typeface="Calibri"/>
              </a:rPr>
              <a:t>graph </a:t>
            </a:r>
            <a:r>
              <a:rPr dirty="0" sz="3200" spc="-20">
                <a:solidFill>
                  <a:srgbClr val="C00000"/>
                </a:solidFill>
                <a:latin typeface="Calibri"/>
                <a:cs typeface="Calibri"/>
              </a:rPr>
              <a:t>representation </a:t>
            </a:r>
            <a:r>
              <a:rPr dirty="0" sz="3200">
                <a:latin typeface="Calibri"/>
                <a:cs typeface="Calibri"/>
              </a:rPr>
              <a:t>+</a:t>
            </a:r>
            <a:r>
              <a:rPr dirty="0" sz="3200" spc="40"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C00000"/>
                </a:solidFill>
                <a:latin typeface="Calibri"/>
                <a:cs typeface="Calibri"/>
              </a:rPr>
              <a:t>RL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ts val="3815"/>
              </a:lnSpc>
              <a:spcBef>
                <a:spcPts val="70"/>
              </a:spcBef>
            </a:pPr>
            <a:r>
              <a:rPr dirty="0" sz="3200" spc="-30" b="1">
                <a:latin typeface="Calibri"/>
                <a:cs typeface="Calibri"/>
              </a:rPr>
              <a:t>Key </a:t>
            </a:r>
            <a:r>
              <a:rPr dirty="0" sz="3200" spc="-10" b="1">
                <a:latin typeface="Calibri"/>
                <a:cs typeface="Calibri"/>
              </a:rPr>
              <a:t>component </a:t>
            </a:r>
            <a:r>
              <a:rPr dirty="0" sz="3200" b="1">
                <a:latin typeface="Calibri"/>
                <a:cs typeface="Calibri"/>
              </a:rPr>
              <a:t>of</a:t>
            </a:r>
            <a:r>
              <a:rPr dirty="0" sz="3200" spc="-30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GCPN:</a:t>
            </a:r>
            <a:endParaRPr sz="3200">
              <a:latin typeface="Calibri"/>
              <a:cs typeface="Calibri"/>
            </a:endParaRPr>
          </a:p>
          <a:p>
            <a:pPr marL="451484" marR="1345565" indent="-320040">
              <a:lnSpc>
                <a:spcPts val="3910"/>
              </a:lnSpc>
              <a:spcBef>
                <a:spcPts val="4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451484" algn="l"/>
              </a:tabLst>
            </a:pPr>
            <a:r>
              <a:rPr dirty="0" sz="3200" spc="-15">
                <a:solidFill>
                  <a:srgbClr val="C00000"/>
                </a:solidFill>
                <a:latin typeface="Calibri"/>
                <a:cs typeface="Calibri"/>
              </a:rPr>
              <a:t>Graph Neural </a:t>
            </a:r>
            <a:r>
              <a:rPr dirty="0" sz="3200" spc="-10">
                <a:solidFill>
                  <a:srgbClr val="C00000"/>
                </a:solidFill>
                <a:latin typeface="Calibri"/>
                <a:cs typeface="Calibri"/>
              </a:rPr>
              <a:t>Network </a:t>
            </a:r>
            <a:r>
              <a:rPr dirty="0" sz="3200" spc="-15">
                <a:latin typeface="Calibri"/>
                <a:cs typeface="Calibri"/>
              </a:rPr>
              <a:t>captures graph  structural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information</a:t>
            </a:r>
            <a:endParaRPr sz="3200">
              <a:latin typeface="Calibri"/>
              <a:cs typeface="Calibri"/>
            </a:endParaRPr>
          </a:p>
          <a:p>
            <a:pPr marL="451484" indent="-320040">
              <a:lnSpc>
                <a:spcPts val="362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451484" algn="l"/>
              </a:tabLst>
            </a:pPr>
            <a:r>
              <a:rPr dirty="0" sz="3200" spc="-20">
                <a:solidFill>
                  <a:srgbClr val="60B5CC"/>
                </a:solidFill>
                <a:latin typeface="Calibri"/>
                <a:cs typeface="Calibri"/>
              </a:rPr>
              <a:t>Reinforcement </a:t>
            </a:r>
            <a:r>
              <a:rPr dirty="0" sz="3200" spc="-5">
                <a:solidFill>
                  <a:srgbClr val="60B5CC"/>
                </a:solidFill>
                <a:latin typeface="Calibri"/>
                <a:cs typeface="Calibri"/>
              </a:rPr>
              <a:t>learning </a:t>
            </a:r>
            <a:r>
              <a:rPr dirty="0" sz="3200" spc="-5">
                <a:latin typeface="Calibri"/>
                <a:cs typeface="Calibri"/>
              </a:rPr>
              <a:t>guides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3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generation</a:t>
            </a:r>
            <a:endParaRPr sz="3200">
              <a:latin typeface="Calibri"/>
              <a:cs typeface="Calibri"/>
            </a:endParaRPr>
          </a:p>
          <a:p>
            <a:pPr algn="ctr" marR="2118995">
              <a:lnSpc>
                <a:spcPts val="3815"/>
              </a:lnSpc>
            </a:pPr>
            <a:r>
              <a:rPr dirty="0" sz="3200" spc="-20">
                <a:latin typeface="Calibri"/>
                <a:cs typeface="Calibri"/>
              </a:rPr>
              <a:t>towards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desired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objectives</a:t>
            </a:r>
            <a:endParaRPr sz="3200">
              <a:latin typeface="Calibri"/>
              <a:cs typeface="Calibri"/>
            </a:endParaRPr>
          </a:p>
          <a:p>
            <a:pPr marL="451484" marR="5080" indent="-320040">
              <a:lnSpc>
                <a:spcPts val="3790"/>
              </a:lnSpc>
              <a:spcBef>
                <a:spcPts val="24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451484" algn="l"/>
              </a:tabLst>
            </a:pPr>
            <a:r>
              <a:rPr dirty="0" sz="3200">
                <a:solidFill>
                  <a:srgbClr val="6BB76D"/>
                </a:solidFill>
                <a:latin typeface="Calibri"/>
                <a:cs typeface="Calibri"/>
              </a:rPr>
              <a:t>Supervised </a:t>
            </a:r>
            <a:r>
              <a:rPr dirty="0" sz="3200" spc="-10">
                <a:solidFill>
                  <a:srgbClr val="6BB76D"/>
                </a:solidFill>
                <a:latin typeface="Calibri"/>
                <a:cs typeface="Calibri"/>
              </a:rPr>
              <a:t>training </a:t>
            </a:r>
            <a:r>
              <a:rPr dirty="0" sz="3200" spc="-15">
                <a:latin typeface="Calibri"/>
                <a:cs typeface="Calibri"/>
              </a:rPr>
              <a:t>imitates </a:t>
            </a:r>
            <a:r>
              <a:rPr dirty="0" sz="3200" spc="-20">
                <a:latin typeface="Calibri"/>
                <a:cs typeface="Calibri"/>
              </a:rPr>
              <a:t>examples </a:t>
            </a:r>
            <a:r>
              <a:rPr dirty="0" sz="3200">
                <a:latin typeface="Calibri"/>
                <a:cs typeface="Calibri"/>
              </a:rPr>
              <a:t>in </a:t>
            </a:r>
            <a:r>
              <a:rPr dirty="0" sz="3200" spc="-10">
                <a:latin typeface="Calibri"/>
                <a:cs typeface="Calibri"/>
              </a:rPr>
              <a:t>given  </a:t>
            </a:r>
            <a:r>
              <a:rPr dirty="0" sz="3200" spc="-15">
                <a:latin typeface="Calibri"/>
                <a:cs typeface="Calibri"/>
              </a:rPr>
              <a:t>datasets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>
                <a:solidFill>
                  <a:srgbClr val="3F3F3F"/>
                </a:solidFill>
              </a:rPr>
              <a:t>Jure Leskovec, Stanford </a:t>
            </a:r>
            <a:r>
              <a:rPr dirty="0" spc="-10">
                <a:solidFill>
                  <a:srgbClr val="3F3F3F"/>
                </a:solidFill>
              </a:rPr>
              <a:t>CS224W: </a:t>
            </a:r>
            <a:r>
              <a:rPr dirty="0" spc="-5">
                <a:solidFill>
                  <a:srgbClr val="3F3F3F"/>
                </a:solidFill>
              </a:rPr>
              <a:t>Machine Learning with Graphs,</a:t>
            </a:r>
            <a:r>
              <a:rPr dirty="0" spc="65">
                <a:solidFill>
                  <a:srgbClr val="3F3F3F"/>
                </a:solidFill>
              </a:rPr>
              <a:t> </a:t>
            </a:r>
            <a:r>
              <a:rPr dirty="0" spc="-5">
                <a:solidFill>
                  <a:srgbClr val="3F3F3F"/>
                </a:solidFill>
                <a:hlinkClick r:id="rId3"/>
              </a:rPr>
              <a:t>http://cs224w.stanford.edu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61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485546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47827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/>
              <a:t>Commonality </a:t>
            </a:r>
            <a:r>
              <a:rPr dirty="0" sz="3200"/>
              <a:t>of </a:t>
            </a:r>
            <a:r>
              <a:rPr dirty="0" sz="3200" spc="-5"/>
              <a:t>GCPN </a:t>
            </a:r>
            <a:r>
              <a:rPr dirty="0" sz="3200"/>
              <a:t>&amp;</a:t>
            </a:r>
            <a:r>
              <a:rPr dirty="0" sz="3200" spc="5"/>
              <a:t> </a:t>
            </a:r>
            <a:r>
              <a:rPr dirty="0" sz="3200" spc="-15"/>
              <a:t>GraphRNN:</a:t>
            </a:r>
            <a:endParaRPr sz="3200"/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673615" y="6699893"/>
            <a:ext cx="4027804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5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3F3F3F"/>
                </a:solidFill>
              </a:rPr>
              <a:t>62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1826259"/>
            <a:ext cx="7959725" cy="431927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20">
                <a:latin typeface="Calibri"/>
                <a:cs typeface="Calibri"/>
              </a:rPr>
              <a:t>Generate </a:t>
            </a:r>
            <a:r>
              <a:rPr dirty="0" sz="2800" spc="-15">
                <a:latin typeface="Calibri"/>
                <a:cs typeface="Calibri"/>
              </a:rPr>
              <a:t>graphs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sequentially</a:t>
            </a:r>
            <a:endParaRPr sz="2800">
              <a:latin typeface="Calibri"/>
              <a:cs typeface="Calibri"/>
            </a:endParaRPr>
          </a:p>
          <a:p>
            <a:pPr marL="625475" indent="-274320">
              <a:lnSpc>
                <a:spcPts val="3329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20">
                <a:latin typeface="Calibri"/>
                <a:cs typeface="Calibri"/>
              </a:rPr>
              <a:t>Imitate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0">
                <a:latin typeface="Calibri"/>
                <a:cs typeface="Calibri"/>
              </a:rPr>
              <a:t>given </a:t>
            </a:r>
            <a:r>
              <a:rPr dirty="0" sz="2800" spc="-15">
                <a:latin typeface="Calibri"/>
                <a:cs typeface="Calibri"/>
              </a:rPr>
              <a:t>graph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dataset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81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Main</a:t>
            </a:r>
            <a:r>
              <a:rPr dirty="0" sz="3200" spc="-35" b="1">
                <a:latin typeface="Calibri"/>
                <a:cs typeface="Calibri"/>
              </a:rPr>
              <a:t> </a:t>
            </a:r>
            <a:r>
              <a:rPr dirty="0" sz="3200" spc="-15" b="1">
                <a:latin typeface="Calibri"/>
                <a:cs typeface="Calibri"/>
              </a:rPr>
              <a:t>Differences: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GCPN uses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GNN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10">
                <a:latin typeface="Calibri"/>
                <a:cs typeface="Calibri"/>
              </a:rPr>
              <a:t>predict </a:t>
            </a:r>
            <a:r>
              <a:rPr dirty="0" sz="2800">
                <a:latin typeface="Calibri"/>
                <a:cs typeface="Calibri"/>
              </a:rPr>
              <a:t>the </a:t>
            </a:r>
            <a:r>
              <a:rPr dirty="0" sz="2800" spc="-15">
                <a:latin typeface="Calibri"/>
                <a:cs typeface="Calibri"/>
              </a:rPr>
              <a:t>generation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action</a:t>
            </a:r>
            <a:endParaRPr sz="2800">
              <a:latin typeface="Calibri"/>
              <a:cs typeface="Calibri"/>
            </a:endParaRPr>
          </a:p>
          <a:p>
            <a:pPr lvl="2" marL="890905" indent="-228600">
              <a:lnSpc>
                <a:spcPct val="100000"/>
              </a:lnSpc>
              <a:spcBef>
                <a:spcPts val="640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-10" b="1">
                <a:latin typeface="Calibri"/>
                <a:cs typeface="Calibri"/>
              </a:rPr>
              <a:t>Pros: </a:t>
            </a:r>
            <a:r>
              <a:rPr dirty="0" sz="2400" spc="-5">
                <a:solidFill>
                  <a:srgbClr val="C00000"/>
                </a:solidFill>
                <a:latin typeface="Calibri"/>
                <a:cs typeface="Calibri"/>
              </a:rPr>
              <a:t>GNN is </a:t>
            </a:r>
            <a:r>
              <a:rPr dirty="0" sz="2400" spc="-15">
                <a:solidFill>
                  <a:srgbClr val="C00000"/>
                </a:solidFill>
                <a:latin typeface="Calibri"/>
                <a:cs typeface="Calibri"/>
              </a:rPr>
              <a:t>more </a:t>
            </a:r>
            <a:r>
              <a:rPr dirty="0" sz="2400" spc="-10">
                <a:solidFill>
                  <a:srgbClr val="C00000"/>
                </a:solidFill>
                <a:latin typeface="Calibri"/>
                <a:cs typeface="Calibri"/>
              </a:rPr>
              <a:t>expressive </a:t>
            </a:r>
            <a:r>
              <a:rPr dirty="0" sz="2400" spc="-5">
                <a:solidFill>
                  <a:srgbClr val="C00000"/>
                </a:solidFill>
                <a:latin typeface="Calibri"/>
                <a:cs typeface="Calibri"/>
              </a:rPr>
              <a:t>than</a:t>
            </a:r>
            <a:r>
              <a:rPr dirty="0" sz="2400" spc="-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5">
                <a:solidFill>
                  <a:srgbClr val="C00000"/>
                </a:solidFill>
                <a:latin typeface="Calibri"/>
                <a:cs typeface="Calibri"/>
              </a:rPr>
              <a:t>RNN</a:t>
            </a:r>
            <a:endParaRPr sz="2400">
              <a:latin typeface="Calibri"/>
              <a:cs typeface="Calibri"/>
            </a:endParaRPr>
          </a:p>
          <a:p>
            <a:pPr lvl="2" marL="890905" indent="-228600">
              <a:lnSpc>
                <a:spcPct val="100000"/>
              </a:lnSpc>
              <a:spcBef>
                <a:spcPts val="600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-5" b="1">
                <a:latin typeface="Calibri"/>
                <a:cs typeface="Calibri"/>
              </a:rPr>
              <a:t>Cons: </a:t>
            </a:r>
            <a:r>
              <a:rPr dirty="0" sz="2400" spc="-5">
                <a:solidFill>
                  <a:srgbClr val="0070C0"/>
                </a:solidFill>
                <a:latin typeface="Calibri"/>
                <a:cs typeface="Calibri"/>
              </a:rPr>
              <a:t>GNN </a:t>
            </a:r>
            <a:r>
              <a:rPr dirty="0" sz="2400" spc="-25">
                <a:solidFill>
                  <a:srgbClr val="0070C0"/>
                </a:solidFill>
                <a:latin typeface="Calibri"/>
                <a:cs typeface="Calibri"/>
              </a:rPr>
              <a:t>takes </a:t>
            </a:r>
            <a:r>
              <a:rPr dirty="0" sz="2400" spc="-10">
                <a:solidFill>
                  <a:srgbClr val="0070C0"/>
                </a:solidFill>
                <a:latin typeface="Calibri"/>
                <a:cs typeface="Calibri"/>
              </a:rPr>
              <a:t>longer </a:t>
            </a:r>
            <a:r>
              <a:rPr dirty="0" sz="2400" spc="-5">
                <a:solidFill>
                  <a:srgbClr val="0070C0"/>
                </a:solidFill>
                <a:latin typeface="Calibri"/>
                <a:cs typeface="Calibri"/>
              </a:rPr>
              <a:t>time </a:t>
            </a:r>
            <a:r>
              <a:rPr dirty="0" sz="2400" spc="-15">
                <a:solidFill>
                  <a:srgbClr val="0070C0"/>
                </a:solidFill>
                <a:latin typeface="Calibri"/>
                <a:cs typeface="Calibri"/>
              </a:rPr>
              <a:t>to </a:t>
            </a:r>
            <a:r>
              <a:rPr dirty="0" sz="2400" spc="-10">
                <a:solidFill>
                  <a:srgbClr val="0070C0"/>
                </a:solidFill>
                <a:latin typeface="Calibri"/>
                <a:cs typeface="Calibri"/>
              </a:rPr>
              <a:t>compute </a:t>
            </a:r>
            <a:r>
              <a:rPr dirty="0" sz="2400" spc="-5">
                <a:solidFill>
                  <a:srgbClr val="0070C0"/>
                </a:solidFill>
                <a:latin typeface="Calibri"/>
                <a:cs typeface="Calibri"/>
              </a:rPr>
              <a:t>than</a:t>
            </a:r>
            <a:r>
              <a:rPr dirty="0" sz="2400" spc="3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400" spc="-5">
                <a:solidFill>
                  <a:srgbClr val="0070C0"/>
                </a:solidFill>
                <a:latin typeface="Calibri"/>
                <a:cs typeface="Calibri"/>
              </a:rPr>
              <a:t>RNN</a:t>
            </a:r>
            <a:endParaRPr sz="2400">
              <a:latin typeface="Calibri"/>
              <a:cs typeface="Calibri"/>
            </a:endParaRPr>
          </a:p>
          <a:p>
            <a:pPr lvl="1" marL="625475" marR="5080" indent="-274320">
              <a:lnSpc>
                <a:spcPts val="3290"/>
              </a:lnSpc>
              <a:spcBef>
                <a:spcPts val="8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GCPN further uses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RL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10">
                <a:latin typeface="Calibri"/>
                <a:cs typeface="Calibri"/>
              </a:rPr>
              <a:t>direct </a:t>
            </a:r>
            <a:r>
              <a:rPr dirty="0" sz="2800" spc="-15">
                <a:latin typeface="Calibri"/>
                <a:cs typeface="Calibri"/>
              </a:rPr>
              <a:t>graph generation </a:t>
            </a:r>
            <a:r>
              <a:rPr dirty="0" sz="2800" spc="-615">
                <a:latin typeface="Calibri"/>
                <a:cs typeface="Calibri"/>
              </a:rPr>
              <a:t>to  </a:t>
            </a:r>
            <a:r>
              <a:rPr dirty="0" sz="2800" spc="-5">
                <a:latin typeface="Calibri"/>
                <a:cs typeface="Calibri"/>
              </a:rPr>
              <a:t>our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goals</a:t>
            </a:r>
            <a:endParaRPr sz="2800">
              <a:latin typeface="Calibri"/>
              <a:cs typeface="Calibri"/>
            </a:endParaRPr>
          </a:p>
          <a:p>
            <a:pPr lvl="2" marL="890905" indent="-228600">
              <a:lnSpc>
                <a:spcPct val="100000"/>
              </a:lnSpc>
              <a:spcBef>
                <a:spcPts val="540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-5">
                <a:latin typeface="Calibri"/>
                <a:cs typeface="Calibri"/>
              </a:rPr>
              <a:t>RL </a:t>
            </a:r>
            <a:r>
              <a:rPr dirty="0" sz="2400">
                <a:latin typeface="Calibri"/>
                <a:cs typeface="Calibri"/>
              </a:rPr>
              <a:t>enables </a:t>
            </a:r>
            <a:r>
              <a:rPr dirty="0" sz="2400" spc="-10">
                <a:latin typeface="Calibri"/>
                <a:cs typeface="Calibri"/>
              </a:rPr>
              <a:t>goal-directed </a:t>
            </a:r>
            <a:r>
              <a:rPr dirty="0" sz="2400" spc="-15">
                <a:latin typeface="Calibri"/>
                <a:cs typeface="Calibri"/>
              </a:rPr>
              <a:t>graph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generation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485546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1739" y="1251204"/>
            <a:ext cx="510730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/>
              <a:t>Sequential </a:t>
            </a:r>
            <a:r>
              <a:rPr dirty="0" sz="3200" spc="-20"/>
              <a:t>graph</a:t>
            </a:r>
            <a:r>
              <a:rPr dirty="0" sz="3200" spc="-15"/>
              <a:t> </a:t>
            </a:r>
            <a:r>
              <a:rPr dirty="0" sz="3200" spc="-20"/>
              <a:t>generation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621739" y="1747011"/>
            <a:ext cx="830199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 b="1">
                <a:latin typeface="Calibri"/>
                <a:cs typeface="Calibri"/>
              </a:rPr>
              <a:t>GraphRNN</a:t>
            </a:r>
            <a:r>
              <a:rPr dirty="0" sz="2800" spc="-10">
                <a:latin typeface="Calibri"/>
                <a:cs typeface="Calibri"/>
              </a:rPr>
              <a:t>: predict </a:t>
            </a:r>
            <a:r>
              <a:rPr dirty="0" sz="2800" spc="-5">
                <a:latin typeface="Calibri"/>
                <a:cs typeface="Calibri"/>
              </a:rPr>
              <a:t>action based on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RNN hidden</a:t>
            </a:r>
            <a:r>
              <a:rPr dirty="0" sz="2800" spc="55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800" spc="-20" b="1">
                <a:solidFill>
                  <a:srgbClr val="0070C0"/>
                </a:solidFill>
                <a:latin typeface="Calibri"/>
                <a:cs typeface="Calibri"/>
              </a:rPr>
              <a:t>states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69930" y="2643577"/>
            <a:ext cx="762000" cy="629920"/>
          </a:xfrm>
          <a:prstGeom prst="rect">
            <a:avLst/>
          </a:prstGeom>
          <a:solidFill>
            <a:srgbClr val="F0AD00"/>
          </a:solidFill>
          <a:ln w="48000">
            <a:solidFill>
              <a:srgbClr val="B07E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4775" indent="-36195">
              <a:lnSpc>
                <a:spcPts val="2195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Node</a:t>
            </a:r>
            <a:endParaRPr sz="2000">
              <a:latin typeface="Corbel"/>
              <a:cs typeface="Corbel"/>
            </a:endParaRPr>
          </a:p>
          <a:p>
            <a:pPr marL="104775">
              <a:lnSpc>
                <a:spcPts val="2385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52331" y="2889789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114301" y="0"/>
                </a:moveTo>
                <a:lnTo>
                  <a:pt x="114301" y="34289"/>
                </a:lnTo>
                <a:lnTo>
                  <a:pt x="0" y="34289"/>
                </a:lnTo>
                <a:lnTo>
                  <a:pt x="0" y="102869"/>
                </a:lnTo>
                <a:lnTo>
                  <a:pt x="114301" y="102869"/>
                </a:lnTo>
                <a:lnTo>
                  <a:pt x="114301" y="137158"/>
                </a:lnTo>
                <a:lnTo>
                  <a:pt x="182879" y="68579"/>
                </a:lnTo>
                <a:lnTo>
                  <a:pt x="11430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352331" y="2889789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0" y="34289"/>
                </a:moveTo>
                <a:lnTo>
                  <a:pt x="114300" y="34289"/>
                </a:lnTo>
                <a:lnTo>
                  <a:pt x="114300" y="0"/>
                </a:lnTo>
                <a:lnTo>
                  <a:pt x="182880" y="68579"/>
                </a:lnTo>
                <a:lnTo>
                  <a:pt x="114300" y="137159"/>
                </a:lnTo>
                <a:lnTo>
                  <a:pt x="114300" y="102869"/>
                </a:lnTo>
                <a:lnTo>
                  <a:pt x="0" y="102869"/>
                </a:lnTo>
                <a:lnTo>
                  <a:pt x="0" y="34289"/>
                </a:lnTo>
                <a:close/>
              </a:path>
            </a:pathLst>
          </a:custGeom>
          <a:ln w="381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701650" y="2643576"/>
            <a:ext cx="762000" cy="629920"/>
          </a:xfrm>
          <a:prstGeom prst="rect">
            <a:avLst/>
          </a:prstGeom>
          <a:solidFill>
            <a:srgbClr val="60B5CC"/>
          </a:solidFill>
          <a:ln w="48000">
            <a:solidFill>
              <a:srgbClr val="24617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4775" indent="-17780">
              <a:lnSpc>
                <a:spcPts val="2195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Edge</a:t>
            </a:r>
            <a:endParaRPr sz="2000">
              <a:latin typeface="Corbel"/>
              <a:cs typeface="Corbel"/>
            </a:endParaRPr>
          </a:p>
          <a:p>
            <a:pPr marL="104775">
              <a:lnSpc>
                <a:spcPts val="2385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624871" y="2889789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114301" y="0"/>
                </a:moveTo>
                <a:lnTo>
                  <a:pt x="114301" y="34289"/>
                </a:lnTo>
                <a:lnTo>
                  <a:pt x="0" y="34289"/>
                </a:lnTo>
                <a:lnTo>
                  <a:pt x="0" y="102869"/>
                </a:lnTo>
                <a:lnTo>
                  <a:pt x="114301" y="102869"/>
                </a:lnTo>
                <a:lnTo>
                  <a:pt x="114301" y="137158"/>
                </a:lnTo>
                <a:lnTo>
                  <a:pt x="182880" y="68579"/>
                </a:lnTo>
                <a:lnTo>
                  <a:pt x="114301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624871" y="2889789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0" y="34289"/>
                </a:moveTo>
                <a:lnTo>
                  <a:pt x="114300" y="34289"/>
                </a:lnTo>
                <a:lnTo>
                  <a:pt x="114300" y="0"/>
                </a:lnTo>
                <a:lnTo>
                  <a:pt x="182880" y="68579"/>
                </a:lnTo>
                <a:lnTo>
                  <a:pt x="114300" y="137159"/>
                </a:lnTo>
                <a:lnTo>
                  <a:pt x="114300" y="102869"/>
                </a:lnTo>
                <a:lnTo>
                  <a:pt x="0" y="102869"/>
                </a:lnTo>
                <a:lnTo>
                  <a:pt x="0" y="3428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933368" y="2643574"/>
            <a:ext cx="762000" cy="629920"/>
          </a:xfrm>
          <a:prstGeom prst="rect">
            <a:avLst/>
          </a:prstGeom>
          <a:solidFill>
            <a:srgbClr val="60B5CC"/>
          </a:solidFill>
          <a:ln w="48000">
            <a:solidFill>
              <a:srgbClr val="24617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4775" indent="-17780">
              <a:lnSpc>
                <a:spcPts val="2195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Edge</a:t>
            </a:r>
            <a:endParaRPr sz="2000">
              <a:latin typeface="Corbel"/>
              <a:cs typeface="Corbel"/>
            </a:endParaRPr>
          </a:p>
          <a:p>
            <a:pPr marL="104775">
              <a:lnSpc>
                <a:spcPts val="2385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829235" y="2889789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114300" y="0"/>
                </a:moveTo>
                <a:lnTo>
                  <a:pt x="114300" y="34289"/>
                </a:lnTo>
                <a:lnTo>
                  <a:pt x="0" y="34289"/>
                </a:lnTo>
                <a:lnTo>
                  <a:pt x="0" y="102869"/>
                </a:lnTo>
                <a:lnTo>
                  <a:pt x="114300" y="102869"/>
                </a:lnTo>
                <a:lnTo>
                  <a:pt x="114300" y="137158"/>
                </a:lnTo>
                <a:lnTo>
                  <a:pt x="182880" y="68579"/>
                </a:lnTo>
                <a:lnTo>
                  <a:pt x="114300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829235" y="2889789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0" y="34289"/>
                </a:moveTo>
                <a:lnTo>
                  <a:pt x="114300" y="34289"/>
                </a:lnTo>
                <a:lnTo>
                  <a:pt x="114300" y="0"/>
                </a:lnTo>
                <a:lnTo>
                  <a:pt x="182880" y="68579"/>
                </a:lnTo>
                <a:lnTo>
                  <a:pt x="114300" y="137159"/>
                </a:lnTo>
                <a:lnTo>
                  <a:pt x="114300" y="102869"/>
                </a:lnTo>
                <a:lnTo>
                  <a:pt x="0" y="102869"/>
                </a:lnTo>
                <a:lnTo>
                  <a:pt x="0" y="3428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137732" y="2643574"/>
            <a:ext cx="762000" cy="629920"/>
          </a:xfrm>
          <a:prstGeom prst="rect">
            <a:avLst/>
          </a:prstGeom>
          <a:solidFill>
            <a:srgbClr val="60B5CC"/>
          </a:solidFill>
          <a:ln w="48000">
            <a:solidFill>
              <a:srgbClr val="24617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04775" indent="-17780">
              <a:lnSpc>
                <a:spcPts val="2195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Edge</a:t>
            </a:r>
            <a:endParaRPr sz="2000">
              <a:latin typeface="Corbel"/>
              <a:cs typeface="Corbel"/>
            </a:endParaRPr>
          </a:p>
          <a:p>
            <a:pPr marL="104775">
              <a:lnSpc>
                <a:spcPts val="2385"/>
              </a:lnSpc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RNN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06450" y="2241267"/>
            <a:ext cx="2616200" cy="2946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1243965" algn="l"/>
                <a:tab pos="2475865" algn="l"/>
              </a:tabLst>
            </a:pPr>
            <a:r>
              <a:rPr dirty="0" sz="1750" spc="25">
                <a:solidFill>
                  <a:srgbClr val="C00000"/>
                </a:solidFill>
                <a:latin typeface="Arial"/>
                <a:cs typeface="Arial"/>
              </a:rPr>
              <a:t>0</a:t>
            </a:r>
            <a:r>
              <a:rPr dirty="0" sz="1750" spc="25">
                <a:solidFill>
                  <a:srgbClr val="C00000"/>
                </a:solidFill>
                <a:latin typeface="Arial"/>
                <a:cs typeface="Arial"/>
              </a:rPr>
              <a:t>	</a:t>
            </a:r>
            <a:r>
              <a:rPr dirty="0" sz="1750" spc="25">
                <a:solidFill>
                  <a:srgbClr val="C00000"/>
                </a:solidFill>
                <a:latin typeface="Arial"/>
                <a:cs typeface="Arial"/>
              </a:rPr>
              <a:t>1</a:t>
            </a:r>
            <a:r>
              <a:rPr dirty="0" sz="1750" spc="25">
                <a:solidFill>
                  <a:srgbClr val="C00000"/>
                </a:solidFill>
                <a:latin typeface="Arial"/>
                <a:cs typeface="Arial"/>
              </a:rPr>
              <a:t>	</a:t>
            </a:r>
            <a:r>
              <a:rPr dirty="0" sz="1750" spc="25">
                <a:solidFill>
                  <a:srgbClr val="C00000"/>
                </a:solidFill>
                <a:latin typeface="Arial"/>
                <a:cs typeface="Arial"/>
              </a:rPr>
              <a:t>1</a:t>
            </a:r>
            <a:endParaRPr sz="175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153268" y="245883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347"/>
                </a:moveTo>
                <a:lnTo>
                  <a:pt x="7766" y="104193"/>
                </a:lnTo>
                <a:lnTo>
                  <a:pt x="29394" y="62373"/>
                </a:lnTo>
                <a:lnTo>
                  <a:pt x="62373" y="29394"/>
                </a:lnTo>
                <a:lnTo>
                  <a:pt x="104193" y="7766"/>
                </a:lnTo>
                <a:lnTo>
                  <a:pt x="152347" y="0"/>
                </a:lnTo>
                <a:lnTo>
                  <a:pt x="200501" y="7766"/>
                </a:lnTo>
                <a:lnTo>
                  <a:pt x="242321" y="29394"/>
                </a:lnTo>
                <a:lnTo>
                  <a:pt x="275300" y="62373"/>
                </a:lnTo>
                <a:lnTo>
                  <a:pt x="296928" y="104193"/>
                </a:lnTo>
                <a:lnTo>
                  <a:pt x="304695" y="152347"/>
                </a:lnTo>
                <a:lnTo>
                  <a:pt x="296928" y="200501"/>
                </a:lnTo>
                <a:lnTo>
                  <a:pt x="275300" y="242321"/>
                </a:lnTo>
                <a:lnTo>
                  <a:pt x="242321" y="275300"/>
                </a:lnTo>
                <a:lnTo>
                  <a:pt x="200501" y="296928"/>
                </a:lnTo>
                <a:lnTo>
                  <a:pt x="152347" y="304695"/>
                </a:lnTo>
                <a:lnTo>
                  <a:pt x="104193" y="296928"/>
                </a:lnTo>
                <a:lnTo>
                  <a:pt x="62373" y="275300"/>
                </a:lnTo>
                <a:lnTo>
                  <a:pt x="29394" y="242321"/>
                </a:lnTo>
                <a:lnTo>
                  <a:pt x="7766" y="200501"/>
                </a:lnTo>
                <a:lnTo>
                  <a:pt x="0" y="1523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153268" y="315258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347"/>
                </a:moveTo>
                <a:lnTo>
                  <a:pt x="7766" y="104193"/>
                </a:lnTo>
                <a:lnTo>
                  <a:pt x="29394" y="62373"/>
                </a:lnTo>
                <a:lnTo>
                  <a:pt x="62373" y="29394"/>
                </a:lnTo>
                <a:lnTo>
                  <a:pt x="104193" y="7766"/>
                </a:lnTo>
                <a:lnTo>
                  <a:pt x="152347" y="0"/>
                </a:lnTo>
                <a:lnTo>
                  <a:pt x="200501" y="7766"/>
                </a:lnTo>
                <a:lnTo>
                  <a:pt x="242321" y="29394"/>
                </a:lnTo>
                <a:lnTo>
                  <a:pt x="275300" y="62373"/>
                </a:lnTo>
                <a:lnTo>
                  <a:pt x="296928" y="104193"/>
                </a:lnTo>
                <a:lnTo>
                  <a:pt x="304695" y="152347"/>
                </a:lnTo>
                <a:lnTo>
                  <a:pt x="296928" y="200501"/>
                </a:lnTo>
                <a:lnTo>
                  <a:pt x="275300" y="242321"/>
                </a:lnTo>
                <a:lnTo>
                  <a:pt x="242321" y="275300"/>
                </a:lnTo>
                <a:lnTo>
                  <a:pt x="200501" y="296928"/>
                </a:lnTo>
                <a:lnTo>
                  <a:pt x="152347" y="304695"/>
                </a:lnTo>
                <a:lnTo>
                  <a:pt x="104193" y="296928"/>
                </a:lnTo>
                <a:lnTo>
                  <a:pt x="62373" y="275300"/>
                </a:lnTo>
                <a:lnTo>
                  <a:pt x="29394" y="242321"/>
                </a:lnTo>
                <a:lnTo>
                  <a:pt x="7766" y="200501"/>
                </a:lnTo>
                <a:lnTo>
                  <a:pt x="0" y="1523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980209" y="315258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347"/>
                </a:moveTo>
                <a:lnTo>
                  <a:pt x="7766" y="104193"/>
                </a:lnTo>
                <a:lnTo>
                  <a:pt x="29394" y="62373"/>
                </a:lnTo>
                <a:lnTo>
                  <a:pt x="62373" y="29394"/>
                </a:lnTo>
                <a:lnTo>
                  <a:pt x="104193" y="7766"/>
                </a:lnTo>
                <a:lnTo>
                  <a:pt x="152347" y="0"/>
                </a:lnTo>
                <a:lnTo>
                  <a:pt x="200501" y="7766"/>
                </a:lnTo>
                <a:lnTo>
                  <a:pt x="242321" y="29394"/>
                </a:lnTo>
                <a:lnTo>
                  <a:pt x="275300" y="62373"/>
                </a:lnTo>
                <a:lnTo>
                  <a:pt x="296928" y="104193"/>
                </a:lnTo>
                <a:lnTo>
                  <a:pt x="304695" y="152347"/>
                </a:lnTo>
                <a:lnTo>
                  <a:pt x="296928" y="200501"/>
                </a:lnTo>
                <a:lnTo>
                  <a:pt x="275300" y="242321"/>
                </a:lnTo>
                <a:lnTo>
                  <a:pt x="242321" y="275300"/>
                </a:lnTo>
                <a:lnTo>
                  <a:pt x="200501" y="296928"/>
                </a:lnTo>
                <a:lnTo>
                  <a:pt x="152347" y="304695"/>
                </a:lnTo>
                <a:lnTo>
                  <a:pt x="104193" y="296928"/>
                </a:lnTo>
                <a:lnTo>
                  <a:pt x="62373" y="275300"/>
                </a:lnTo>
                <a:lnTo>
                  <a:pt x="29394" y="242321"/>
                </a:lnTo>
                <a:lnTo>
                  <a:pt x="7766" y="200501"/>
                </a:lnTo>
                <a:lnTo>
                  <a:pt x="0" y="152347"/>
                </a:lnTo>
                <a:close/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457964" y="3301765"/>
            <a:ext cx="522605" cy="0"/>
          </a:xfrm>
          <a:custGeom>
            <a:avLst/>
            <a:gdLst/>
            <a:ahLst/>
            <a:cxnLst/>
            <a:rect l="l" t="t" r="r" b="b"/>
            <a:pathLst>
              <a:path w="522604" h="0">
                <a:moveTo>
                  <a:pt x="0" y="0"/>
                </a:moveTo>
                <a:lnTo>
                  <a:pt x="522245" y="1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970696" y="2449325"/>
            <a:ext cx="323850" cy="323850"/>
          </a:xfrm>
          <a:custGeom>
            <a:avLst/>
            <a:gdLst/>
            <a:ahLst/>
            <a:cxnLst/>
            <a:rect l="l" t="t" r="r" b="b"/>
            <a:pathLst>
              <a:path w="323850" h="323850">
                <a:moveTo>
                  <a:pt x="161380" y="0"/>
                </a:moveTo>
                <a:lnTo>
                  <a:pt x="113284" y="7418"/>
                </a:lnTo>
                <a:lnTo>
                  <a:pt x="71346" y="27628"/>
                </a:lnTo>
                <a:lnTo>
                  <a:pt x="27894" y="70972"/>
                </a:lnTo>
                <a:lnTo>
                  <a:pt x="7137" y="114185"/>
                </a:lnTo>
                <a:lnTo>
                  <a:pt x="0" y="162341"/>
                </a:lnTo>
                <a:lnTo>
                  <a:pt x="883" y="178874"/>
                </a:lnTo>
                <a:lnTo>
                  <a:pt x="12904" y="225295"/>
                </a:lnTo>
                <a:lnTo>
                  <a:pt x="47174" y="276117"/>
                </a:lnTo>
                <a:lnTo>
                  <a:pt x="85109" y="304401"/>
                </a:lnTo>
                <a:lnTo>
                  <a:pt x="129720" y="320528"/>
                </a:lnTo>
                <a:lnTo>
                  <a:pt x="162341" y="323720"/>
                </a:lnTo>
                <a:lnTo>
                  <a:pt x="178874" y="322837"/>
                </a:lnTo>
                <a:lnTo>
                  <a:pt x="194936" y="320338"/>
                </a:lnTo>
                <a:lnTo>
                  <a:pt x="210437" y="316303"/>
                </a:lnTo>
                <a:lnTo>
                  <a:pt x="221264" y="312305"/>
                </a:lnTo>
                <a:lnTo>
                  <a:pt x="161764" y="312305"/>
                </a:lnTo>
                <a:lnTo>
                  <a:pt x="146380" y="311519"/>
                </a:lnTo>
                <a:lnTo>
                  <a:pt x="103215" y="300446"/>
                </a:lnTo>
                <a:lnTo>
                  <a:pt x="55488" y="268232"/>
                </a:lnTo>
                <a:lnTo>
                  <a:pt x="29528" y="233489"/>
                </a:lnTo>
                <a:lnTo>
                  <a:pt x="14501" y="192276"/>
                </a:lnTo>
                <a:lnTo>
                  <a:pt x="11435" y="161380"/>
                </a:lnTo>
                <a:lnTo>
                  <a:pt x="12202" y="146380"/>
                </a:lnTo>
                <a:lnTo>
                  <a:pt x="23274" y="103215"/>
                </a:lnTo>
                <a:lnTo>
                  <a:pt x="55488" y="55487"/>
                </a:lnTo>
                <a:lnTo>
                  <a:pt x="90232" y="29528"/>
                </a:lnTo>
                <a:lnTo>
                  <a:pt x="131631" y="14452"/>
                </a:lnTo>
                <a:lnTo>
                  <a:pt x="161956" y="11416"/>
                </a:lnTo>
                <a:lnTo>
                  <a:pt x="221335" y="11416"/>
                </a:lnTo>
                <a:lnTo>
                  <a:pt x="209536" y="7137"/>
                </a:lnTo>
                <a:lnTo>
                  <a:pt x="194001" y="3192"/>
                </a:lnTo>
                <a:lnTo>
                  <a:pt x="177918" y="786"/>
                </a:lnTo>
                <a:lnTo>
                  <a:pt x="161380" y="0"/>
                </a:lnTo>
                <a:close/>
              </a:path>
              <a:path w="323850" h="323850">
                <a:moveTo>
                  <a:pt x="221335" y="11416"/>
                </a:moveTo>
                <a:lnTo>
                  <a:pt x="161956" y="11416"/>
                </a:lnTo>
                <a:lnTo>
                  <a:pt x="177341" y="12202"/>
                </a:lnTo>
                <a:lnTo>
                  <a:pt x="192276" y="14491"/>
                </a:lnTo>
                <a:lnTo>
                  <a:pt x="233652" y="29616"/>
                </a:lnTo>
                <a:lnTo>
                  <a:pt x="268234" y="55487"/>
                </a:lnTo>
                <a:lnTo>
                  <a:pt x="294192" y="90232"/>
                </a:lnTo>
                <a:lnTo>
                  <a:pt x="309219" y="131445"/>
                </a:lnTo>
                <a:lnTo>
                  <a:pt x="312286" y="162341"/>
                </a:lnTo>
                <a:lnTo>
                  <a:pt x="311539" y="176956"/>
                </a:lnTo>
                <a:lnTo>
                  <a:pt x="300447" y="220506"/>
                </a:lnTo>
                <a:lnTo>
                  <a:pt x="268234" y="268232"/>
                </a:lnTo>
                <a:lnTo>
                  <a:pt x="233489" y="294192"/>
                </a:lnTo>
                <a:lnTo>
                  <a:pt x="192090" y="309267"/>
                </a:lnTo>
                <a:lnTo>
                  <a:pt x="161764" y="312305"/>
                </a:lnTo>
                <a:lnTo>
                  <a:pt x="221264" y="312305"/>
                </a:lnTo>
                <a:lnTo>
                  <a:pt x="276117" y="276547"/>
                </a:lnTo>
                <a:lnTo>
                  <a:pt x="304402" y="238612"/>
                </a:lnTo>
                <a:lnTo>
                  <a:pt x="320528" y="194001"/>
                </a:lnTo>
                <a:lnTo>
                  <a:pt x="323721" y="161380"/>
                </a:lnTo>
                <a:lnTo>
                  <a:pt x="322837" y="144847"/>
                </a:lnTo>
                <a:lnTo>
                  <a:pt x="310817" y="98426"/>
                </a:lnTo>
                <a:lnTo>
                  <a:pt x="276547" y="47604"/>
                </a:lnTo>
                <a:lnTo>
                  <a:pt x="238612" y="19319"/>
                </a:lnTo>
                <a:lnTo>
                  <a:pt x="224435" y="12539"/>
                </a:lnTo>
                <a:lnTo>
                  <a:pt x="221335" y="11416"/>
                </a:lnTo>
                <a:close/>
              </a:path>
              <a:path w="323850" h="323850">
                <a:moveTo>
                  <a:pt x="162149" y="15220"/>
                </a:moveTo>
                <a:lnTo>
                  <a:pt x="118521" y="21729"/>
                </a:lnTo>
                <a:lnTo>
                  <a:pt x="80001" y="40201"/>
                </a:lnTo>
                <a:lnTo>
                  <a:pt x="40201" y="80001"/>
                </a:lnTo>
                <a:lnTo>
                  <a:pt x="21897" y="117980"/>
                </a:lnTo>
                <a:lnTo>
                  <a:pt x="15231" y="161380"/>
                </a:lnTo>
                <a:lnTo>
                  <a:pt x="15258" y="162341"/>
                </a:lnTo>
                <a:lnTo>
                  <a:pt x="21729" y="205200"/>
                </a:lnTo>
                <a:lnTo>
                  <a:pt x="40201" y="243720"/>
                </a:lnTo>
                <a:lnTo>
                  <a:pt x="80001" y="283518"/>
                </a:lnTo>
                <a:lnTo>
                  <a:pt x="117980" y="301824"/>
                </a:lnTo>
                <a:lnTo>
                  <a:pt x="161573" y="308500"/>
                </a:lnTo>
                <a:lnTo>
                  <a:pt x="176575" y="307771"/>
                </a:lnTo>
                <a:lnTo>
                  <a:pt x="191176" y="305569"/>
                </a:lnTo>
                <a:lnTo>
                  <a:pt x="194606" y="304694"/>
                </a:lnTo>
                <a:lnTo>
                  <a:pt x="161380" y="304694"/>
                </a:lnTo>
                <a:lnTo>
                  <a:pt x="146765" y="303908"/>
                </a:lnTo>
                <a:lnTo>
                  <a:pt x="105834" y="293291"/>
                </a:lnTo>
                <a:lnTo>
                  <a:pt x="60901" y="262820"/>
                </a:lnTo>
                <a:lnTo>
                  <a:pt x="36041" y="229533"/>
                </a:lnTo>
                <a:lnTo>
                  <a:pt x="21833" y="190191"/>
                </a:lnTo>
                <a:lnTo>
                  <a:pt x="19025" y="161380"/>
                </a:lnTo>
                <a:lnTo>
                  <a:pt x="19761" y="147721"/>
                </a:lnTo>
                <a:lnTo>
                  <a:pt x="30430" y="105834"/>
                </a:lnTo>
                <a:lnTo>
                  <a:pt x="60901" y="60900"/>
                </a:lnTo>
                <a:lnTo>
                  <a:pt x="94188" y="36041"/>
                </a:lnTo>
                <a:lnTo>
                  <a:pt x="133529" y="21832"/>
                </a:lnTo>
                <a:lnTo>
                  <a:pt x="162341" y="19025"/>
                </a:lnTo>
                <a:lnTo>
                  <a:pt x="194666" y="19025"/>
                </a:lnTo>
                <a:lnTo>
                  <a:pt x="191702" y="18257"/>
                </a:lnTo>
                <a:lnTo>
                  <a:pt x="177149" y="16007"/>
                </a:lnTo>
                <a:lnTo>
                  <a:pt x="162149" y="15220"/>
                </a:lnTo>
                <a:close/>
              </a:path>
              <a:path w="323850" h="323850">
                <a:moveTo>
                  <a:pt x="194666" y="19025"/>
                </a:moveTo>
                <a:lnTo>
                  <a:pt x="162341" y="19025"/>
                </a:lnTo>
                <a:lnTo>
                  <a:pt x="176956" y="19812"/>
                </a:lnTo>
                <a:lnTo>
                  <a:pt x="191127" y="22024"/>
                </a:lnTo>
                <a:lnTo>
                  <a:pt x="230344" y="36482"/>
                </a:lnTo>
                <a:lnTo>
                  <a:pt x="262821" y="60900"/>
                </a:lnTo>
                <a:lnTo>
                  <a:pt x="287680" y="94188"/>
                </a:lnTo>
                <a:lnTo>
                  <a:pt x="301887" y="133529"/>
                </a:lnTo>
                <a:lnTo>
                  <a:pt x="304695" y="162341"/>
                </a:lnTo>
                <a:lnTo>
                  <a:pt x="303959" y="176000"/>
                </a:lnTo>
                <a:lnTo>
                  <a:pt x="293291" y="217887"/>
                </a:lnTo>
                <a:lnTo>
                  <a:pt x="262821" y="262820"/>
                </a:lnTo>
                <a:lnTo>
                  <a:pt x="229533" y="287680"/>
                </a:lnTo>
                <a:lnTo>
                  <a:pt x="190192" y="301887"/>
                </a:lnTo>
                <a:lnTo>
                  <a:pt x="161380" y="304694"/>
                </a:lnTo>
                <a:lnTo>
                  <a:pt x="194606" y="304694"/>
                </a:lnTo>
                <a:lnTo>
                  <a:pt x="231512" y="290936"/>
                </a:lnTo>
                <a:lnTo>
                  <a:pt x="265527" y="265526"/>
                </a:lnTo>
                <a:lnTo>
                  <a:pt x="290672" y="231998"/>
                </a:lnTo>
                <a:lnTo>
                  <a:pt x="305464" y="191701"/>
                </a:lnTo>
                <a:lnTo>
                  <a:pt x="308490" y="162341"/>
                </a:lnTo>
                <a:lnTo>
                  <a:pt x="308463" y="161380"/>
                </a:lnTo>
                <a:lnTo>
                  <a:pt x="301992" y="118521"/>
                </a:lnTo>
                <a:lnTo>
                  <a:pt x="283519" y="80001"/>
                </a:lnTo>
                <a:lnTo>
                  <a:pt x="243720" y="40201"/>
                </a:lnTo>
                <a:lnTo>
                  <a:pt x="205741" y="21897"/>
                </a:lnTo>
                <a:lnTo>
                  <a:pt x="194666" y="190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8049214" y="2446020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305616" y="2763535"/>
            <a:ext cx="0" cy="389255"/>
          </a:xfrm>
          <a:custGeom>
            <a:avLst/>
            <a:gdLst/>
            <a:ahLst/>
            <a:cxnLst/>
            <a:rect l="l" t="t" r="r" b="b"/>
            <a:pathLst>
              <a:path w="0" h="389255">
                <a:moveTo>
                  <a:pt x="0" y="0"/>
                </a:moveTo>
                <a:lnTo>
                  <a:pt x="1" y="389047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457964" y="2611187"/>
            <a:ext cx="522605" cy="0"/>
          </a:xfrm>
          <a:custGeom>
            <a:avLst/>
            <a:gdLst/>
            <a:ahLst/>
            <a:cxnLst/>
            <a:rect l="l" t="t" r="r" b="b"/>
            <a:pathLst>
              <a:path w="522604" h="0">
                <a:moveTo>
                  <a:pt x="0" y="0"/>
                </a:moveTo>
                <a:lnTo>
                  <a:pt x="522245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8132557" y="2763535"/>
            <a:ext cx="0" cy="389255"/>
          </a:xfrm>
          <a:custGeom>
            <a:avLst/>
            <a:gdLst/>
            <a:ahLst/>
            <a:cxnLst/>
            <a:rect l="l" t="t" r="r" b="b"/>
            <a:pathLst>
              <a:path w="0" h="389255">
                <a:moveTo>
                  <a:pt x="0" y="0"/>
                </a:moveTo>
                <a:lnTo>
                  <a:pt x="1" y="389047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78468" y="245883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347"/>
                </a:moveTo>
                <a:lnTo>
                  <a:pt x="7766" y="104193"/>
                </a:lnTo>
                <a:lnTo>
                  <a:pt x="29394" y="62373"/>
                </a:lnTo>
                <a:lnTo>
                  <a:pt x="62373" y="29394"/>
                </a:lnTo>
                <a:lnTo>
                  <a:pt x="104193" y="7766"/>
                </a:lnTo>
                <a:lnTo>
                  <a:pt x="152347" y="0"/>
                </a:lnTo>
                <a:lnTo>
                  <a:pt x="200501" y="7766"/>
                </a:lnTo>
                <a:lnTo>
                  <a:pt x="242321" y="29394"/>
                </a:lnTo>
                <a:lnTo>
                  <a:pt x="275300" y="62373"/>
                </a:lnTo>
                <a:lnTo>
                  <a:pt x="296928" y="104193"/>
                </a:lnTo>
                <a:lnTo>
                  <a:pt x="304695" y="152347"/>
                </a:lnTo>
                <a:lnTo>
                  <a:pt x="296928" y="200501"/>
                </a:lnTo>
                <a:lnTo>
                  <a:pt x="275300" y="242321"/>
                </a:lnTo>
                <a:lnTo>
                  <a:pt x="242321" y="275300"/>
                </a:lnTo>
                <a:lnTo>
                  <a:pt x="200501" y="296928"/>
                </a:lnTo>
                <a:lnTo>
                  <a:pt x="152347" y="304695"/>
                </a:lnTo>
                <a:lnTo>
                  <a:pt x="104193" y="296928"/>
                </a:lnTo>
                <a:lnTo>
                  <a:pt x="62373" y="275300"/>
                </a:lnTo>
                <a:lnTo>
                  <a:pt x="29394" y="242321"/>
                </a:lnTo>
                <a:lnTo>
                  <a:pt x="7766" y="200501"/>
                </a:lnTo>
                <a:lnTo>
                  <a:pt x="0" y="1523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878468" y="315258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347"/>
                </a:moveTo>
                <a:lnTo>
                  <a:pt x="7766" y="104193"/>
                </a:lnTo>
                <a:lnTo>
                  <a:pt x="29394" y="62373"/>
                </a:lnTo>
                <a:lnTo>
                  <a:pt x="62373" y="29394"/>
                </a:lnTo>
                <a:lnTo>
                  <a:pt x="104193" y="7766"/>
                </a:lnTo>
                <a:lnTo>
                  <a:pt x="152347" y="0"/>
                </a:lnTo>
                <a:lnTo>
                  <a:pt x="200501" y="7766"/>
                </a:lnTo>
                <a:lnTo>
                  <a:pt x="242321" y="29394"/>
                </a:lnTo>
                <a:lnTo>
                  <a:pt x="275300" y="62373"/>
                </a:lnTo>
                <a:lnTo>
                  <a:pt x="296928" y="104193"/>
                </a:lnTo>
                <a:lnTo>
                  <a:pt x="304695" y="152347"/>
                </a:lnTo>
                <a:lnTo>
                  <a:pt x="296928" y="200501"/>
                </a:lnTo>
                <a:lnTo>
                  <a:pt x="275300" y="242321"/>
                </a:lnTo>
                <a:lnTo>
                  <a:pt x="242321" y="275300"/>
                </a:lnTo>
                <a:lnTo>
                  <a:pt x="200501" y="296928"/>
                </a:lnTo>
                <a:lnTo>
                  <a:pt x="152347" y="304695"/>
                </a:lnTo>
                <a:lnTo>
                  <a:pt x="104193" y="296928"/>
                </a:lnTo>
                <a:lnTo>
                  <a:pt x="62373" y="275300"/>
                </a:lnTo>
                <a:lnTo>
                  <a:pt x="29394" y="242321"/>
                </a:lnTo>
                <a:lnTo>
                  <a:pt x="7766" y="200501"/>
                </a:lnTo>
                <a:lnTo>
                  <a:pt x="0" y="1523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947472" y="3140964"/>
            <a:ext cx="726884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87135" algn="l"/>
                <a:tab pos="7113905" algn="l"/>
              </a:tabLst>
            </a:pPr>
            <a:r>
              <a:rPr dirty="0" sz="2000" spc="-5">
                <a:latin typeface="Arial"/>
                <a:cs typeface="Arial"/>
              </a:rPr>
              <a:t>2</a:t>
            </a:r>
            <a:r>
              <a:rPr dirty="0" sz="2000" spc="-5">
                <a:latin typeface="Arial"/>
                <a:cs typeface="Arial"/>
              </a:rPr>
              <a:t>	</a:t>
            </a:r>
            <a:r>
              <a:rPr dirty="0" sz="2000" spc="-5">
                <a:latin typeface="Arial"/>
                <a:cs typeface="Arial"/>
              </a:rPr>
              <a:t>2</a:t>
            </a:r>
            <a:r>
              <a:rPr dirty="0" sz="2000" spc="-5">
                <a:latin typeface="Arial"/>
                <a:cs typeface="Arial"/>
              </a:rPr>
              <a:t>	</a:t>
            </a:r>
            <a:r>
              <a:rPr dirty="0" sz="2000" spc="-5">
                <a:solidFill>
                  <a:srgbClr val="C00000"/>
                </a:solidFill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695897" y="2449325"/>
            <a:ext cx="323850" cy="323850"/>
          </a:xfrm>
          <a:custGeom>
            <a:avLst/>
            <a:gdLst/>
            <a:ahLst/>
            <a:cxnLst/>
            <a:rect l="l" t="t" r="r" b="b"/>
            <a:pathLst>
              <a:path w="323850" h="323850">
                <a:moveTo>
                  <a:pt x="161380" y="0"/>
                </a:moveTo>
                <a:lnTo>
                  <a:pt x="113282" y="7418"/>
                </a:lnTo>
                <a:lnTo>
                  <a:pt x="71344" y="27628"/>
                </a:lnTo>
                <a:lnTo>
                  <a:pt x="27893" y="70972"/>
                </a:lnTo>
                <a:lnTo>
                  <a:pt x="7137" y="114185"/>
                </a:lnTo>
                <a:lnTo>
                  <a:pt x="0" y="162341"/>
                </a:lnTo>
                <a:lnTo>
                  <a:pt x="883" y="178874"/>
                </a:lnTo>
                <a:lnTo>
                  <a:pt x="12904" y="225295"/>
                </a:lnTo>
                <a:lnTo>
                  <a:pt x="47174" y="276117"/>
                </a:lnTo>
                <a:lnTo>
                  <a:pt x="85109" y="304401"/>
                </a:lnTo>
                <a:lnTo>
                  <a:pt x="129720" y="320528"/>
                </a:lnTo>
                <a:lnTo>
                  <a:pt x="162340" y="323720"/>
                </a:lnTo>
                <a:lnTo>
                  <a:pt x="178874" y="322837"/>
                </a:lnTo>
                <a:lnTo>
                  <a:pt x="194936" y="320338"/>
                </a:lnTo>
                <a:lnTo>
                  <a:pt x="210437" y="316303"/>
                </a:lnTo>
                <a:lnTo>
                  <a:pt x="221263" y="312305"/>
                </a:lnTo>
                <a:lnTo>
                  <a:pt x="161763" y="312305"/>
                </a:lnTo>
                <a:lnTo>
                  <a:pt x="146380" y="311519"/>
                </a:lnTo>
                <a:lnTo>
                  <a:pt x="103214" y="300446"/>
                </a:lnTo>
                <a:lnTo>
                  <a:pt x="55487" y="268232"/>
                </a:lnTo>
                <a:lnTo>
                  <a:pt x="29528" y="233489"/>
                </a:lnTo>
                <a:lnTo>
                  <a:pt x="14500" y="192276"/>
                </a:lnTo>
                <a:lnTo>
                  <a:pt x="11435" y="161380"/>
                </a:lnTo>
                <a:lnTo>
                  <a:pt x="12202" y="146380"/>
                </a:lnTo>
                <a:lnTo>
                  <a:pt x="23274" y="103215"/>
                </a:lnTo>
                <a:lnTo>
                  <a:pt x="55487" y="55487"/>
                </a:lnTo>
                <a:lnTo>
                  <a:pt x="90232" y="29528"/>
                </a:lnTo>
                <a:lnTo>
                  <a:pt x="131631" y="14452"/>
                </a:lnTo>
                <a:lnTo>
                  <a:pt x="161956" y="11416"/>
                </a:lnTo>
                <a:lnTo>
                  <a:pt x="221334" y="11416"/>
                </a:lnTo>
                <a:lnTo>
                  <a:pt x="209536" y="7137"/>
                </a:lnTo>
                <a:lnTo>
                  <a:pt x="194000" y="3192"/>
                </a:lnTo>
                <a:lnTo>
                  <a:pt x="177916" y="786"/>
                </a:lnTo>
                <a:lnTo>
                  <a:pt x="161380" y="0"/>
                </a:lnTo>
                <a:close/>
              </a:path>
              <a:path w="323850" h="323850">
                <a:moveTo>
                  <a:pt x="221334" y="11416"/>
                </a:moveTo>
                <a:lnTo>
                  <a:pt x="161956" y="11416"/>
                </a:lnTo>
                <a:lnTo>
                  <a:pt x="177341" y="12202"/>
                </a:lnTo>
                <a:lnTo>
                  <a:pt x="192276" y="14491"/>
                </a:lnTo>
                <a:lnTo>
                  <a:pt x="233652" y="29616"/>
                </a:lnTo>
                <a:lnTo>
                  <a:pt x="268232" y="55487"/>
                </a:lnTo>
                <a:lnTo>
                  <a:pt x="294191" y="90232"/>
                </a:lnTo>
                <a:lnTo>
                  <a:pt x="309219" y="131445"/>
                </a:lnTo>
                <a:lnTo>
                  <a:pt x="312286" y="162341"/>
                </a:lnTo>
                <a:lnTo>
                  <a:pt x="311537" y="176956"/>
                </a:lnTo>
                <a:lnTo>
                  <a:pt x="300446" y="220506"/>
                </a:lnTo>
                <a:lnTo>
                  <a:pt x="268232" y="268232"/>
                </a:lnTo>
                <a:lnTo>
                  <a:pt x="233489" y="294192"/>
                </a:lnTo>
                <a:lnTo>
                  <a:pt x="192088" y="309267"/>
                </a:lnTo>
                <a:lnTo>
                  <a:pt x="161763" y="312305"/>
                </a:lnTo>
                <a:lnTo>
                  <a:pt x="221263" y="312305"/>
                </a:lnTo>
                <a:lnTo>
                  <a:pt x="276117" y="276547"/>
                </a:lnTo>
                <a:lnTo>
                  <a:pt x="304401" y="238612"/>
                </a:lnTo>
                <a:lnTo>
                  <a:pt x="320528" y="194001"/>
                </a:lnTo>
                <a:lnTo>
                  <a:pt x="323720" y="161380"/>
                </a:lnTo>
                <a:lnTo>
                  <a:pt x="322837" y="144847"/>
                </a:lnTo>
                <a:lnTo>
                  <a:pt x="310817" y="98426"/>
                </a:lnTo>
                <a:lnTo>
                  <a:pt x="276547" y="47604"/>
                </a:lnTo>
                <a:lnTo>
                  <a:pt x="238611" y="19319"/>
                </a:lnTo>
                <a:lnTo>
                  <a:pt x="224434" y="12539"/>
                </a:lnTo>
                <a:lnTo>
                  <a:pt x="221334" y="11416"/>
                </a:lnTo>
                <a:close/>
              </a:path>
              <a:path w="323850" h="323850">
                <a:moveTo>
                  <a:pt x="162148" y="15220"/>
                </a:moveTo>
                <a:lnTo>
                  <a:pt x="118521" y="21729"/>
                </a:lnTo>
                <a:lnTo>
                  <a:pt x="80001" y="40201"/>
                </a:lnTo>
                <a:lnTo>
                  <a:pt x="40201" y="80001"/>
                </a:lnTo>
                <a:lnTo>
                  <a:pt x="21897" y="117980"/>
                </a:lnTo>
                <a:lnTo>
                  <a:pt x="15231" y="161380"/>
                </a:lnTo>
                <a:lnTo>
                  <a:pt x="15258" y="162341"/>
                </a:lnTo>
                <a:lnTo>
                  <a:pt x="21728" y="205200"/>
                </a:lnTo>
                <a:lnTo>
                  <a:pt x="40201" y="243720"/>
                </a:lnTo>
                <a:lnTo>
                  <a:pt x="80001" y="283518"/>
                </a:lnTo>
                <a:lnTo>
                  <a:pt x="117980" y="301824"/>
                </a:lnTo>
                <a:lnTo>
                  <a:pt x="161571" y="308500"/>
                </a:lnTo>
                <a:lnTo>
                  <a:pt x="176574" y="307771"/>
                </a:lnTo>
                <a:lnTo>
                  <a:pt x="191174" y="305569"/>
                </a:lnTo>
                <a:lnTo>
                  <a:pt x="194605" y="304694"/>
                </a:lnTo>
                <a:lnTo>
                  <a:pt x="161380" y="304694"/>
                </a:lnTo>
                <a:lnTo>
                  <a:pt x="146763" y="303908"/>
                </a:lnTo>
                <a:lnTo>
                  <a:pt x="105834" y="293291"/>
                </a:lnTo>
                <a:lnTo>
                  <a:pt x="60900" y="262820"/>
                </a:lnTo>
                <a:lnTo>
                  <a:pt x="36041" y="229533"/>
                </a:lnTo>
                <a:lnTo>
                  <a:pt x="21832" y="190191"/>
                </a:lnTo>
                <a:lnTo>
                  <a:pt x="19025" y="161380"/>
                </a:lnTo>
                <a:lnTo>
                  <a:pt x="19760" y="147721"/>
                </a:lnTo>
                <a:lnTo>
                  <a:pt x="30429" y="105834"/>
                </a:lnTo>
                <a:lnTo>
                  <a:pt x="60900" y="60900"/>
                </a:lnTo>
                <a:lnTo>
                  <a:pt x="94188" y="36041"/>
                </a:lnTo>
                <a:lnTo>
                  <a:pt x="133529" y="21832"/>
                </a:lnTo>
                <a:lnTo>
                  <a:pt x="162340" y="19025"/>
                </a:lnTo>
                <a:lnTo>
                  <a:pt x="194665" y="19025"/>
                </a:lnTo>
                <a:lnTo>
                  <a:pt x="191701" y="18257"/>
                </a:lnTo>
                <a:lnTo>
                  <a:pt x="177148" y="16007"/>
                </a:lnTo>
                <a:lnTo>
                  <a:pt x="162148" y="15220"/>
                </a:lnTo>
                <a:close/>
              </a:path>
              <a:path w="323850" h="323850">
                <a:moveTo>
                  <a:pt x="194665" y="19025"/>
                </a:moveTo>
                <a:lnTo>
                  <a:pt x="162340" y="19025"/>
                </a:lnTo>
                <a:lnTo>
                  <a:pt x="176956" y="19812"/>
                </a:lnTo>
                <a:lnTo>
                  <a:pt x="191126" y="22024"/>
                </a:lnTo>
                <a:lnTo>
                  <a:pt x="230344" y="36482"/>
                </a:lnTo>
                <a:lnTo>
                  <a:pt x="262820" y="60900"/>
                </a:lnTo>
                <a:lnTo>
                  <a:pt x="287680" y="94188"/>
                </a:lnTo>
                <a:lnTo>
                  <a:pt x="301887" y="133529"/>
                </a:lnTo>
                <a:lnTo>
                  <a:pt x="304694" y="162341"/>
                </a:lnTo>
                <a:lnTo>
                  <a:pt x="303959" y="176000"/>
                </a:lnTo>
                <a:lnTo>
                  <a:pt x="293291" y="217887"/>
                </a:lnTo>
                <a:lnTo>
                  <a:pt x="262820" y="262820"/>
                </a:lnTo>
                <a:lnTo>
                  <a:pt x="229532" y="287680"/>
                </a:lnTo>
                <a:lnTo>
                  <a:pt x="190191" y="301887"/>
                </a:lnTo>
                <a:lnTo>
                  <a:pt x="161380" y="304694"/>
                </a:lnTo>
                <a:lnTo>
                  <a:pt x="194605" y="304694"/>
                </a:lnTo>
                <a:lnTo>
                  <a:pt x="231510" y="290936"/>
                </a:lnTo>
                <a:lnTo>
                  <a:pt x="265526" y="265526"/>
                </a:lnTo>
                <a:lnTo>
                  <a:pt x="290671" y="231998"/>
                </a:lnTo>
                <a:lnTo>
                  <a:pt x="305462" y="191701"/>
                </a:lnTo>
                <a:lnTo>
                  <a:pt x="308490" y="162341"/>
                </a:lnTo>
                <a:lnTo>
                  <a:pt x="308463" y="161380"/>
                </a:lnTo>
                <a:lnTo>
                  <a:pt x="301992" y="118521"/>
                </a:lnTo>
                <a:lnTo>
                  <a:pt x="283518" y="80001"/>
                </a:lnTo>
                <a:lnTo>
                  <a:pt x="243719" y="40201"/>
                </a:lnTo>
                <a:lnTo>
                  <a:pt x="205741" y="21897"/>
                </a:lnTo>
                <a:lnTo>
                  <a:pt x="194665" y="190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947472" y="2446020"/>
            <a:ext cx="644144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9469" algn="l"/>
                <a:tab pos="6287135" algn="l"/>
              </a:tabLst>
            </a:pPr>
            <a:r>
              <a:rPr dirty="0" sz="2000" spc="-5">
                <a:latin typeface="Arial"/>
                <a:cs typeface="Arial"/>
              </a:rPr>
              <a:t>1</a:t>
            </a:r>
            <a:r>
              <a:rPr dirty="0" sz="2000" spc="-5">
                <a:latin typeface="Arial"/>
                <a:cs typeface="Arial"/>
              </a:rPr>
              <a:t>	</a:t>
            </a:r>
            <a:r>
              <a:rPr dirty="0" sz="2000" spc="-5">
                <a:latin typeface="Arial"/>
                <a:cs typeface="Arial"/>
              </a:rPr>
              <a:t>3</a:t>
            </a:r>
            <a:r>
              <a:rPr dirty="0" sz="2000" spc="-5">
                <a:latin typeface="Arial"/>
                <a:cs typeface="Arial"/>
              </a:rPr>
              <a:t>	</a:t>
            </a:r>
            <a:r>
              <a:rPr dirty="0" sz="2000" spc="-5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030816" y="2763535"/>
            <a:ext cx="0" cy="389255"/>
          </a:xfrm>
          <a:custGeom>
            <a:avLst/>
            <a:gdLst/>
            <a:ahLst/>
            <a:cxnLst/>
            <a:rect l="l" t="t" r="r" b="b"/>
            <a:pathLst>
              <a:path w="0" h="389255">
                <a:moveTo>
                  <a:pt x="0" y="0"/>
                </a:moveTo>
                <a:lnTo>
                  <a:pt x="1" y="389047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183164" y="2611187"/>
            <a:ext cx="522605" cy="0"/>
          </a:xfrm>
          <a:custGeom>
            <a:avLst/>
            <a:gdLst/>
            <a:ahLst/>
            <a:cxnLst/>
            <a:rect l="l" t="t" r="r" b="b"/>
            <a:pathLst>
              <a:path w="522605" h="0">
                <a:moveTo>
                  <a:pt x="0" y="0"/>
                </a:moveTo>
                <a:lnTo>
                  <a:pt x="522245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621739" y="3384296"/>
            <a:ext cx="8254365" cy="948690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1330960">
              <a:lnSpc>
                <a:spcPct val="100000"/>
              </a:lnSpc>
              <a:spcBef>
                <a:spcPts val="780"/>
              </a:spcBef>
            </a:pPr>
            <a:r>
              <a:rPr dirty="0" sz="1800" spc="-5" b="1">
                <a:solidFill>
                  <a:srgbClr val="0070C0"/>
                </a:solidFill>
                <a:latin typeface="Corbel"/>
                <a:cs typeface="Corbel"/>
              </a:rPr>
              <a:t>RNN hidden state captures </a:t>
            </a:r>
            <a:r>
              <a:rPr dirty="0" sz="1800" b="1">
                <a:solidFill>
                  <a:srgbClr val="0070C0"/>
                </a:solidFill>
                <a:latin typeface="Corbel"/>
                <a:cs typeface="Corbel"/>
              </a:rPr>
              <a:t>the </a:t>
            </a:r>
            <a:r>
              <a:rPr dirty="0" sz="1800" spc="-5" b="1">
                <a:solidFill>
                  <a:srgbClr val="0070C0"/>
                </a:solidFill>
                <a:latin typeface="Corbel"/>
                <a:cs typeface="Corbel"/>
              </a:rPr>
              <a:t>generated graph </a:t>
            </a:r>
            <a:r>
              <a:rPr dirty="0" sz="1800" b="1">
                <a:solidFill>
                  <a:srgbClr val="0070C0"/>
                </a:solidFill>
                <a:latin typeface="Corbel"/>
                <a:cs typeface="Corbel"/>
              </a:rPr>
              <a:t>so</a:t>
            </a:r>
            <a:r>
              <a:rPr dirty="0" sz="1800" spc="50" b="1">
                <a:solidFill>
                  <a:srgbClr val="0070C0"/>
                </a:solidFill>
                <a:latin typeface="Corbel"/>
                <a:cs typeface="Corbel"/>
              </a:rPr>
              <a:t> </a:t>
            </a:r>
            <a:r>
              <a:rPr dirty="0" sz="1800" spc="-5" b="1">
                <a:solidFill>
                  <a:srgbClr val="0070C0"/>
                </a:solidFill>
                <a:latin typeface="Corbel"/>
                <a:cs typeface="Corbel"/>
              </a:rPr>
              <a:t>far</a:t>
            </a:r>
            <a:endParaRPr sz="1800">
              <a:latin typeface="Corbel"/>
              <a:cs typeface="Corbel"/>
            </a:endParaRPr>
          </a:p>
          <a:p>
            <a:pPr marL="332740" indent="-320040">
              <a:lnSpc>
                <a:spcPct val="100000"/>
              </a:lnSpc>
              <a:spcBef>
                <a:spcPts val="106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 b="1">
                <a:latin typeface="Calibri"/>
                <a:cs typeface="Calibri"/>
              </a:rPr>
              <a:t>GCPN: </a:t>
            </a:r>
            <a:r>
              <a:rPr dirty="0" sz="2800" spc="-10">
                <a:latin typeface="Calibri"/>
                <a:cs typeface="Calibri"/>
              </a:rPr>
              <a:t>predict </a:t>
            </a:r>
            <a:r>
              <a:rPr dirty="0" sz="2800" spc="-5">
                <a:latin typeface="Calibri"/>
                <a:cs typeface="Calibri"/>
              </a:rPr>
              <a:t>action based on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GNN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node</a:t>
            </a:r>
            <a:r>
              <a:rPr dirty="0" sz="2800" spc="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embeddings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937797" y="5012950"/>
            <a:ext cx="762000" cy="629920"/>
          </a:xfrm>
          <a:prstGeom prst="rect">
            <a:avLst/>
          </a:prstGeom>
          <a:solidFill>
            <a:srgbClr val="F0AD00"/>
          </a:solidFill>
          <a:ln w="48000">
            <a:solidFill>
              <a:srgbClr val="B07E00"/>
            </a:solidFill>
          </a:ln>
        </p:spPr>
        <p:txBody>
          <a:bodyPr wrap="square" lIns="0" tIns="12509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985"/>
              </a:spcBef>
            </a:pP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GNN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602572" y="5268283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80" h="137160">
                <a:moveTo>
                  <a:pt x="114300" y="0"/>
                </a:moveTo>
                <a:lnTo>
                  <a:pt x="114300" y="34289"/>
                </a:lnTo>
                <a:lnTo>
                  <a:pt x="0" y="34289"/>
                </a:lnTo>
                <a:lnTo>
                  <a:pt x="0" y="102868"/>
                </a:lnTo>
                <a:lnTo>
                  <a:pt x="114300" y="102868"/>
                </a:lnTo>
                <a:lnTo>
                  <a:pt x="114300" y="137158"/>
                </a:lnTo>
                <a:lnTo>
                  <a:pt x="182880" y="68579"/>
                </a:lnTo>
                <a:lnTo>
                  <a:pt x="11430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602572" y="5268283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80" h="137160">
                <a:moveTo>
                  <a:pt x="0" y="34289"/>
                </a:moveTo>
                <a:lnTo>
                  <a:pt x="114300" y="34289"/>
                </a:lnTo>
                <a:lnTo>
                  <a:pt x="114300" y="0"/>
                </a:lnTo>
                <a:lnTo>
                  <a:pt x="182880" y="68579"/>
                </a:lnTo>
                <a:lnTo>
                  <a:pt x="114300" y="137159"/>
                </a:lnTo>
                <a:lnTo>
                  <a:pt x="114300" y="102869"/>
                </a:lnTo>
                <a:lnTo>
                  <a:pt x="0" y="102869"/>
                </a:lnTo>
                <a:lnTo>
                  <a:pt x="0" y="34289"/>
                </a:lnTo>
                <a:close/>
              </a:path>
            </a:pathLst>
          </a:custGeom>
          <a:ln w="381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871748" y="5268283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80" h="137160">
                <a:moveTo>
                  <a:pt x="114300" y="0"/>
                </a:moveTo>
                <a:lnTo>
                  <a:pt x="114300" y="34289"/>
                </a:lnTo>
                <a:lnTo>
                  <a:pt x="0" y="34289"/>
                </a:lnTo>
                <a:lnTo>
                  <a:pt x="0" y="102868"/>
                </a:lnTo>
                <a:lnTo>
                  <a:pt x="114300" y="102868"/>
                </a:lnTo>
                <a:lnTo>
                  <a:pt x="114300" y="137158"/>
                </a:lnTo>
                <a:lnTo>
                  <a:pt x="182879" y="68579"/>
                </a:lnTo>
                <a:lnTo>
                  <a:pt x="11430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871748" y="5268283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80" h="137160">
                <a:moveTo>
                  <a:pt x="0" y="34289"/>
                </a:moveTo>
                <a:lnTo>
                  <a:pt x="114300" y="34289"/>
                </a:lnTo>
                <a:lnTo>
                  <a:pt x="114300" y="0"/>
                </a:lnTo>
                <a:lnTo>
                  <a:pt x="182880" y="68579"/>
                </a:lnTo>
                <a:lnTo>
                  <a:pt x="114300" y="137159"/>
                </a:lnTo>
                <a:lnTo>
                  <a:pt x="114300" y="102869"/>
                </a:lnTo>
                <a:lnTo>
                  <a:pt x="0" y="102869"/>
                </a:lnTo>
                <a:lnTo>
                  <a:pt x="0" y="34289"/>
                </a:lnTo>
                <a:close/>
              </a:path>
            </a:pathLst>
          </a:custGeom>
          <a:ln w="381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67429" y="483764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347"/>
                </a:moveTo>
                <a:lnTo>
                  <a:pt x="7766" y="104193"/>
                </a:lnTo>
                <a:lnTo>
                  <a:pt x="29394" y="62373"/>
                </a:lnTo>
                <a:lnTo>
                  <a:pt x="62373" y="29394"/>
                </a:lnTo>
                <a:lnTo>
                  <a:pt x="104193" y="7766"/>
                </a:lnTo>
                <a:lnTo>
                  <a:pt x="152347" y="0"/>
                </a:lnTo>
                <a:lnTo>
                  <a:pt x="200501" y="7766"/>
                </a:lnTo>
                <a:lnTo>
                  <a:pt x="242321" y="29394"/>
                </a:lnTo>
                <a:lnTo>
                  <a:pt x="275300" y="62373"/>
                </a:lnTo>
                <a:lnTo>
                  <a:pt x="296928" y="104193"/>
                </a:lnTo>
                <a:lnTo>
                  <a:pt x="304695" y="152347"/>
                </a:lnTo>
                <a:lnTo>
                  <a:pt x="296928" y="200501"/>
                </a:lnTo>
                <a:lnTo>
                  <a:pt x="275300" y="242321"/>
                </a:lnTo>
                <a:lnTo>
                  <a:pt x="242321" y="275300"/>
                </a:lnTo>
                <a:lnTo>
                  <a:pt x="200501" y="296928"/>
                </a:lnTo>
                <a:lnTo>
                  <a:pt x="152347" y="304695"/>
                </a:lnTo>
                <a:lnTo>
                  <a:pt x="104193" y="296928"/>
                </a:lnTo>
                <a:lnTo>
                  <a:pt x="62373" y="275300"/>
                </a:lnTo>
                <a:lnTo>
                  <a:pt x="29394" y="242321"/>
                </a:lnTo>
                <a:lnTo>
                  <a:pt x="7766" y="200501"/>
                </a:lnTo>
                <a:lnTo>
                  <a:pt x="0" y="1523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436433" y="4823459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67429" y="553138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347"/>
                </a:moveTo>
                <a:lnTo>
                  <a:pt x="7766" y="104193"/>
                </a:lnTo>
                <a:lnTo>
                  <a:pt x="29394" y="62373"/>
                </a:lnTo>
                <a:lnTo>
                  <a:pt x="62373" y="29394"/>
                </a:lnTo>
                <a:lnTo>
                  <a:pt x="104193" y="7766"/>
                </a:lnTo>
                <a:lnTo>
                  <a:pt x="152347" y="0"/>
                </a:lnTo>
                <a:lnTo>
                  <a:pt x="200501" y="7766"/>
                </a:lnTo>
                <a:lnTo>
                  <a:pt x="242321" y="29394"/>
                </a:lnTo>
                <a:lnTo>
                  <a:pt x="275300" y="62373"/>
                </a:lnTo>
                <a:lnTo>
                  <a:pt x="296928" y="104193"/>
                </a:lnTo>
                <a:lnTo>
                  <a:pt x="304695" y="152347"/>
                </a:lnTo>
                <a:lnTo>
                  <a:pt x="296928" y="200501"/>
                </a:lnTo>
                <a:lnTo>
                  <a:pt x="275300" y="242321"/>
                </a:lnTo>
                <a:lnTo>
                  <a:pt x="242321" y="275300"/>
                </a:lnTo>
                <a:lnTo>
                  <a:pt x="200501" y="296928"/>
                </a:lnTo>
                <a:lnTo>
                  <a:pt x="152347" y="304695"/>
                </a:lnTo>
                <a:lnTo>
                  <a:pt x="104193" y="296928"/>
                </a:lnTo>
                <a:lnTo>
                  <a:pt x="62373" y="275300"/>
                </a:lnTo>
                <a:lnTo>
                  <a:pt x="29394" y="242321"/>
                </a:lnTo>
                <a:lnTo>
                  <a:pt x="7766" y="200501"/>
                </a:lnTo>
                <a:lnTo>
                  <a:pt x="0" y="1523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436433" y="5518403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194370" y="553138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347"/>
                </a:moveTo>
                <a:lnTo>
                  <a:pt x="7766" y="104193"/>
                </a:lnTo>
                <a:lnTo>
                  <a:pt x="29394" y="62373"/>
                </a:lnTo>
                <a:lnTo>
                  <a:pt x="62373" y="29394"/>
                </a:lnTo>
                <a:lnTo>
                  <a:pt x="104193" y="7766"/>
                </a:lnTo>
                <a:lnTo>
                  <a:pt x="152347" y="0"/>
                </a:lnTo>
                <a:lnTo>
                  <a:pt x="200501" y="7766"/>
                </a:lnTo>
                <a:lnTo>
                  <a:pt x="242321" y="29394"/>
                </a:lnTo>
                <a:lnTo>
                  <a:pt x="275300" y="62373"/>
                </a:lnTo>
                <a:lnTo>
                  <a:pt x="296928" y="104193"/>
                </a:lnTo>
                <a:lnTo>
                  <a:pt x="304695" y="152347"/>
                </a:lnTo>
                <a:lnTo>
                  <a:pt x="296928" y="200501"/>
                </a:lnTo>
                <a:lnTo>
                  <a:pt x="275300" y="242321"/>
                </a:lnTo>
                <a:lnTo>
                  <a:pt x="242321" y="275300"/>
                </a:lnTo>
                <a:lnTo>
                  <a:pt x="200501" y="296928"/>
                </a:lnTo>
                <a:lnTo>
                  <a:pt x="152347" y="304695"/>
                </a:lnTo>
                <a:lnTo>
                  <a:pt x="104193" y="296928"/>
                </a:lnTo>
                <a:lnTo>
                  <a:pt x="62373" y="275300"/>
                </a:lnTo>
                <a:lnTo>
                  <a:pt x="29394" y="242321"/>
                </a:lnTo>
                <a:lnTo>
                  <a:pt x="7766" y="200501"/>
                </a:lnTo>
                <a:lnTo>
                  <a:pt x="0" y="152347"/>
                </a:lnTo>
                <a:close/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1263374" y="5518403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solidFill>
                  <a:srgbClr val="C00000"/>
                </a:solidFill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184858" y="4828130"/>
            <a:ext cx="323850" cy="323850"/>
          </a:xfrm>
          <a:custGeom>
            <a:avLst/>
            <a:gdLst/>
            <a:ahLst/>
            <a:cxnLst/>
            <a:rect l="l" t="t" r="r" b="b"/>
            <a:pathLst>
              <a:path w="323850" h="323850">
                <a:moveTo>
                  <a:pt x="161380" y="0"/>
                </a:moveTo>
                <a:lnTo>
                  <a:pt x="113282" y="7416"/>
                </a:lnTo>
                <a:lnTo>
                  <a:pt x="71345" y="27628"/>
                </a:lnTo>
                <a:lnTo>
                  <a:pt x="27893" y="70972"/>
                </a:lnTo>
                <a:lnTo>
                  <a:pt x="7137" y="114184"/>
                </a:lnTo>
                <a:lnTo>
                  <a:pt x="0" y="162340"/>
                </a:lnTo>
                <a:lnTo>
                  <a:pt x="883" y="178874"/>
                </a:lnTo>
                <a:lnTo>
                  <a:pt x="12903" y="225294"/>
                </a:lnTo>
                <a:lnTo>
                  <a:pt x="47175" y="276117"/>
                </a:lnTo>
                <a:lnTo>
                  <a:pt x="85108" y="304401"/>
                </a:lnTo>
                <a:lnTo>
                  <a:pt x="129720" y="320528"/>
                </a:lnTo>
                <a:lnTo>
                  <a:pt x="162340" y="323720"/>
                </a:lnTo>
                <a:lnTo>
                  <a:pt x="178874" y="322837"/>
                </a:lnTo>
                <a:lnTo>
                  <a:pt x="194935" y="320337"/>
                </a:lnTo>
                <a:lnTo>
                  <a:pt x="210437" y="316303"/>
                </a:lnTo>
                <a:lnTo>
                  <a:pt x="221264" y="312305"/>
                </a:lnTo>
                <a:lnTo>
                  <a:pt x="161764" y="312305"/>
                </a:lnTo>
                <a:lnTo>
                  <a:pt x="146380" y="311518"/>
                </a:lnTo>
                <a:lnTo>
                  <a:pt x="103214" y="300446"/>
                </a:lnTo>
                <a:lnTo>
                  <a:pt x="55487" y="268232"/>
                </a:lnTo>
                <a:lnTo>
                  <a:pt x="29528" y="233489"/>
                </a:lnTo>
                <a:lnTo>
                  <a:pt x="14501" y="192276"/>
                </a:lnTo>
                <a:lnTo>
                  <a:pt x="11435" y="161380"/>
                </a:lnTo>
                <a:lnTo>
                  <a:pt x="12202" y="146380"/>
                </a:lnTo>
                <a:lnTo>
                  <a:pt x="23274" y="103214"/>
                </a:lnTo>
                <a:lnTo>
                  <a:pt x="55487" y="55487"/>
                </a:lnTo>
                <a:lnTo>
                  <a:pt x="90232" y="29528"/>
                </a:lnTo>
                <a:lnTo>
                  <a:pt x="131631" y="14452"/>
                </a:lnTo>
                <a:lnTo>
                  <a:pt x="161956" y="11416"/>
                </a:lnTo>
                <a:lnTo>
                  <a:pt x="221334" y="11416"/>
                </a:lnTo>
                <a:lnTo>
                  <a:pt x="209535" y="7137"/>
                </a:lnTo>
                <a:lnTo>
                  <a:pt x="194001" y="3191"/>
                </a:lnTo>
                <a:lnTo>
                  <a:pt x="177917" y="786"/>
                </a:lnTo>
                <a:lnTo>
                  <a:pt x="161380" y="0"/>
                </a:lnTo>
                <a:close/>
              </a:path>
              <a:path w="323850" h="323850">
                <a:moveTo>
                  <a:pt x="221334" y="11416"/>
                </a:moveTo>
                <a:lnTo>
                  <a:pt x="161956" y="11416"/>
                </a:lnTo>
                <a:lnTo>
                  <a:pt x="177341" y="12202"/>
                </a:lnTo>
                <a:lnTo>
                  <a:pt x="192276" y="14490"/>
                </a:lnTo>
                <a:lnTo>
                  <a:pt x="233651" y="29616"/>
                </a:lnTo>
                <a:lnTo>
                  <a:pt x="268232" y="55487"/>
                </a:lnTo>
                <a:lnTo>
                  <a:pt x="294192" y="90232"/>
                </a:lnTo>
                <a:lnTo>
                  <a:pt x="309219" y="131444"/>
                </a:lnTo>
                <a:lnTo>
                  <a:pt x="312285" y="162340"/>
                </a:lnTo>
                <a:lnTo>
                  <a:pt x="311537" y="176956"/>
                </a:lnTo>
                <a:lnTo>
                  <a:pt x="300446" y="220506"/>
                </a:lnTo>
                <a:lnTo>
                  <a:pt x="268232" y="268232"/>
                </a:lnTo>
                <a:lnTo>
                  <a:pt x="233489" y="294191"/>
                </a:lnTo>
                <a:lnTo>
                  <a:pt x="192089" y="309267"/>
                </a:lnTo>
                <a:lnTo>
                  <a:pt x="161764" y="312305"/>
                </a:lnTo>
                <a:lnTo>
                  <a:pt x="221264" y="312305"/>
                </a:lnTo>
                <a:lnTo>
                  <a:pt x="276116" y="276546"/>
                </a:lnTo>
                <a:lnTo>
                  <a:pt x="304401" y="238612"/>
                </a:lnTo>
                <a:lnTo>
                  <a:pt x="320528" y="194001"/>
                </a:lnTo>
                <a:lnTo>
                  <a:pt x="323720" y="161380"/>
                </a:lnTo>
                <a:lnTo>
                  <a:pt x="322837" y="144847"/>
                </a:lnTo>
                <a:lnTo>
                  <a:pt x="310817" y="98426"/>
                </a:lnTo>
                <a:lnTo>
                  <a:pt x="276546" y="47603"/>
                </a:lnTo>
                <a:lnTo>
                  <a:pt x="238612" y="19319"/>
                </a:lnTo>
                <a:lnTo>
                  <a:pt x="224434" y="12539"/>
                </a:lnTo>
                <a:lnTo>
                  <a:pt x="221334" y="11416"/>
                </a:lnTo>
                <a:close/>
              </a:path>
              <a:path w="323850" h="323850">
                <a:moveTo>
                  <a:pt x="162148" y="15220"/>
                </a:moveTo>
                <a:lnTo>
                  <a:pt x="118521" y="21728"/>
                </a:lnTo>
                <a:lnTo>
                  <a:pt x="80000" y="40201"/>
                </a:lnTo>
                <a:lnTo>
                  <a:pt x="40201" y="80001"/>
                </a:lnTo>
                <a:lnTo>
                  <a:pt x="21897" y="117980"/>
                </a:lnTo>
                <a:lnTo>
                  <a:pt x="15230" y="161380"/>
                </a:lnTo>
                <a:lnTo>
                  <a:pt x="15257" y="162340"/>
                </a:lnTo>
                <a:lnTo>
                  <a:pt x="21728" y="205198"/>
                </a:lnTo>
                <a:lnTo>
                  <a:pt x="40201" y="243719"/>
                </a:lnTo>
                <a:lnTo>
                  <a:pt x="80000" y="283518"/>
                </a:lnTo>
                <a:lnTo>
                  <a:pt x="117980" y="301823"/>
                </a:lnTo>
                <a:lnTo>
                  <a:pt x="161571" y="308500"/>
                </a:lnTo>
                <a:lnTo>
                  <a:pt x="176574" y="307771"/>
                </a:lnTo>
                <a:lnTo>
                  <a:pt x="191169" y="305569"/>
                </a:lnTo>
                <a:lnTo>
                  <a:pt x="194601" y="304694"/>
                </a:lnTo>
                <a:lnTo>
                  <a:pt x="161380" y="304694"/>
                </a:lnTo>
                <a:lnTo>
                  <a:pt x="146763" y="303908"/>
                </a:lnTo>
                <a:lnTo>
                  <a:pt x="105834" y="293291"/>
                </a:lnTo>
                <a:lnTo>
                  <a:pt x="60900" y="262820"/>
                </a:lnTo>
                <a:lnTo>
                  <a:pt x="36040" y="229532"/>
                </a:lnTo>
                <a:lnTo>
                  <a:pt x="21832" y="190191"/>
                </a:lnTo>
                <a:lnTo>
                  <a:pt x="19025" y="161380"/>
                </a:lnTo>
                <a:lnTo>
                  <a:pt x="19760" y="147721"/>
                </a:lnTo>
                <a:lnTo>
                  <a:pt x="30429" y="105834"/>
                </a:lnTo>
                <a:lnTo>
                  <a:pt x="60900" y="60900"/>
                </a:lnTo>
                <a:lnTo>
                  <a:pt x="94188" y="36041"/>
                </a:lnTo>
                <a:lnTo>
                  <a:pt x="133528" y="21832"/>
                </a:lnTo>
                <a:lnTo>
                  <a:pt x="162340" y="19025"/>
                </a:lnTo>
                <a:lnTo>
                  <a:pt x="194665" y="19025"/>
                </a:lnTo>
                <a:lnTo>
                  <a:pt x="191701" y="18257"/>
                </a:lnTo>
                <a:lnTo>
                  <a:pt x="177148" y="16007"/>
                </a:lnTo>
                <a:lnTo>
                  <a:pt x="162148" y="15220"/>
                </a:lnTo>
                <a:close/>
              </a:path>
              <a:path w="323850" h="323850">
                <a:moveTo>
                  <a:pt x="194665" y="19025"/>
                </a:moveTo>
                <a:lnTo>
                  <a:pt x="162340" y="19025"/>
                </a:lnTo>
                <a:lnTo>
                  <a:pt x="176956" y="19812"/>
                </a:lnTo>
                <a:lnTo>
                  <a:pt x="191127" y="22024"/>
                </a:lnTo>
                <a:lnTo>
                  <a:pt x="230344" y="36482"/>
                </a:lnTo>
                <a:lnTo>
                  <a:pt x="262820" y="60900"/>
                </a:lnTo>
                <a:lnTo>
                  <a:pt x="287680" y="94188"/>
                </a:lnTo>
                <a:lnTo>
                  <a:pt x="301887" y="133529"/>
                </a:lnTo>
                <a:lnTo>
                  <a:pt x="304694" y="162340"/>
                </a:lnTo>
                <a:lnTo>
                  <a:pt x="303959" y="176000"/>
                </a:lnTo>
                <a:lnTo>
                  <a:pt x="293291" y="217887"/>
                </a:lnTo>
                <a:lnTo>
                  <a:pt x="262820" y="262820"/>
                </a:lnTo>
                <a:lnTo>
                  <a:pt x="229533" y="287680"/>
                </a:lnTo>
                <a:lnTo>
                  <a:pt x="190191" y="301887"/>
                </a:lnTo>
                <a:lnTo>
                  <a:pt x="161380" y="304694"/>
                </a:lnTo>
                <a:lnTo>
                  <a:pt x="194601" y="304694"/>
                </a:lnTo>
                <a:lnTo>
                  <a:pt x="231510" y="290936"/>
                </a:lnTo>
                <a:lnTo>
                  <a:pt x="265526" y="265526"/>
                </a:lnTo>
                <a:lnTo>
                  <a:pt x="290671" y="231998"/>
                </a:lnTo>
                <a:lnTo>
                  <a:pt x="305462" y="191701"/>
                </a:lnTo>
                <a:lnTo>
                  <a:pt x="308490" y="162340"/>
                </a:lnTo>
                <a:lnTo>
                  <a:pt x="308463" y="161380"/>
                </a:lnTo>
                <a:lnTo>
                  <a:pt x="301991" y="118521"/>
                </a:lnTo>
                <a:lnTo>
                  <a:pt x="283518" y="80001"/>
                </a:lnTo>
                <a:lnTo>
                  <a:pt x="243720" y="40201"/>
                </a:lnTo>
                <a:lnTo>
                  <a:pt x="205741" y="21897"/>
                </a:lnTo>
                <a:lnTo>
                  <a:pt x="194665" y="190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1263374" y="4823459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519777" y="5142339"/>
            <a:ext cx="0" cy="389255"/>
          </a:xfrm>
          <a:custGeom>
            <a:avLst/>
            <a:gdLst/>
            <a:ahLst/>
            <a:cxnLst/>
            <a:rect l="l" t="t" r="r" b="b"/>
            <a:pathLst>
              <a:path w="0" h="389254">
                <a:moveTo>
                  <a:pt x="0" y="0"/>
                </a:moveTo>
                <a:lnTo>
                  <a:pt x="1" y="389047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72125" y="4989991"/>
            <a:ext cx="522605" cy="0"/>
          </a:xfrm>
          <a:custGeom>
            <a:avLst/>
            <a:gdLst/>
            <a:ahLst/>
            <a:cxnLst/>
            <a:rect l="l" t="t" r="r" b="b"/>
            <a:pathLst>
              <a:path w="522605" h="0">
                <a:moveTo>
                  <a:pt x="0" y="0"/>
                </a:moveTo>
                <a:lnTo>
                  <a:pt x="522245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207630" y="483764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347"/>
                </a:moveTo>
                <a:lnTo>
                  <a:pt x="7766" y="104193"/>
                </a:lnTo>
                <a:lnTo>
                  <a:pt x="29394" y="62373"/>
                </a:lnTo>
                <a:lnTo>
                  <a:pt x="62373" y="29394"/>
                </a:lnTo>
                <a:lnTo>
                  <a:pt x="104193" y="7766"/>
                </a:lnTo>
                <a:lnTo>
                  <a:pt x="152347" y="0"/>
                </a:lnTo>
                <a:lnTo>
                  <a:pt x="200501" y="7766"/>
                </a:lnTo>
                <a:lnTo>
                  <a:pt x="242321" y="29394"/>
                </a:lnTo>
                <a:lnTo>
                  <a:pt x="275300" y="62373"/>
                </a:lnTo>
                <a:lnTo>
                  <a:pt x="296928" y="104193"/>
                </a:lnTo>
                <a:lnTo>
                  <a:pt x="304695" y="152347"/>
                </a:lnTo>
                <a:lnTo>
                  <a:pt x="296928" y="200501"/>
                </a:lnTo>
                <a:lnTo>
                  <a:pt x="275300" y="242321"/>
                </a:lnTo>
                <a:lnTo>
                  <a:pt x="242321" y="275300"/>
                </a:lnTo>
                <a:lnTo>
                  <a:pt x="200501" y="296928"/>
                </a:lnTo>
                <a:lnTo>
                  <a:pt x="152347" y="304695"/>
                </a:lnTo>
                <a:lnTo>
                  <a:pt x="104193" y="296928"/>
                </a:lnTo>
                <a:lnTo>
                  <a:pt x="62373" y="275300"/>
                </a:lnTo>
                <a:lnTo>
                  <a:pt x="29394" y="242321"/>
                </a:lnTo>
                <a:lnTo>
                  <a:pt x="7766" y="200501"/>
                </a:lnTo>
                <a:lnTo>
                  <a:pt x="0" y="1523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3276632" y="4823459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3207630" y="553138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347"/>
                </a:moveTo>
                <a:lnTo>
                  <a:pt x="7766" y="104193"/>
                </a:lnTo>
                <a:lnTo>
                  <a:pt x="29394" y="62373"/>
                </a:lnTo>
                <a:lnTo>
                  <a:pt x="62373" y="29394"/>
                </a:lnTo>
                <a:lnTo>
                  <a:pt x="104193" y="7766"/>
                </a:lnTo>
                <a:lnTo>
                  <a:pt x="152347" y="0"/>
                </a:lnTo>
                <a:lnTo>
                  <a:pt x="200501" y="7766"/>
                </a:lnTo>
                <a:lnTo>
                  <a:pt x="242321" y="29394"/>
                </a:lnTo>
                <a:lnTo>
                  <a:pt x="275300" y="62373"/>
                </a:lnTo>
                <a:lnTo>
                  <a:pt x="296928" y="104193"/>
                </a:lnTo>
                <a:lnTo>
                  <a:pt x="304695" y="152347"/>
                </a:lnTo>
                <a:lnTo>
                  <a:pt x="296928" y="200501"/>
                </a:lnTo>
                <a:lnTo>
                  <a:pt x="275300" y="242321"/>
                </a:lnTo>
                <a:lnTo>
                  <a:pt x="242321" y="275300"/>
                </a:lnTo>
                <a:lnTo>
                  <a:pt x="200501" y="296928"/>
                </a:lnTo>
                <a:lnTo>
                  <a:pt x="152347" y="304695"/>
                </a:lnTo>
                <a:lnTo>
                  <a:pt x="104193" y="296928"/>
                </a:lnTo>
                <a:lnTo>
                  <a:pt x="62373" y="275300"/>
                </a:lnTo>
                <a:lnTo>
                  <a:pt x="29394" y="242321"/>
                </a:lnTo>
                <a:lnTo>
                  <a:pt x="7766" y="200501"/>
                </a:lnTo>
                <a:lnTo>
                  <a:pt x="0" y="1523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034570" y="553138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347"/>
                </a:moveTo>
                <a:lnTo>
                  <a:pt x="7766" y="104193"/>
                </a:lnTo>
                <a:lnTo>
                  <a:pt x="29394" y="62373"/>
                </a:lnTo>
                <a:lnTo>
                  <a:pt x="62373" y="29394"/>
                </a:lnTo>
                <a:lnTo>
                  <a:pt x="104193" y="7766"/>
                </a:lnTo>
                <a:lnTo>
                  <a:pt x="152347" y="0"/>
                </a:lnTo>
                <a:lnTo>
                  <a:pt x="200501" y="7766"/>
                </a:lnTo>
                <a:lnTo>
                  <a:pt x="242321" y="29394"/>
                </a:lnTo>
                <a:lnTo>
                  <a:pt x="275300" y="62373"/>
                </a:lnTo>
                <a:lnTo>
                  <a:pt x="296928" y="104193"/>
                </a:lnTo>
                <a:lnTo>
                  <a:pt x="304695" y="152347"/>
                </a:lnTo>
                <a:lnTo>
                  <a:pt x="296928" y="200501"/>
                </a:lnTo>
                <a:lnTo>
                  <a:pt x="275300" y="242321"/>
                </a:lnTo>
                <a:lnTo>
                  <a:pt x="242321" y="275300"/>
                </a:lnTo>
                <a:lnTo>
                  <a:pt x="200501" y="296928"/>
                </a:lnTo>
                <a:lnTo>
                  <a:pt x="152347" y="304695"/>
                </a:lnTo>
                <a:lnTo>
                  <a:pt x="104193" y="296928"/>
                </a:lnTo>
                <a:lnTo>
                  <a:pt x="62373" y="275300"/>
                </a:lnTo>
                <a:lnTo>
                  <a:pt x="29394" y="242321"/>
                </a:lnTo>
                <a:lnTo>
                  <a:pt x="7766" y="200501"/>
                </a:lnTo>
                <a:lnTo>
                  <a:pt x="0" y="152347"/>
                </a:lnTo>
                <a:close/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025057" y="4828130"/>
            <a:ext cx="323850" cy="323850"/>
          </a:xfrm>
          <a:custGeom>
            <a:avLst/>
            <a:gdLst/>
            <a:ahLst/>
            <a:cxnLst/>
            <a:rect l="l" t="t" r="r" b="b"/>
            <a:pathLst>
              <a:path w="323850" h="323850">
                <a:moveTo>
                  <a:pt x="161380" y="0"/>
                </a:moveTo>
                <a:lnTo>
                  <a:pt x="113282" y="7416"/>
                </a:lnTo>
                <a:lnTo>
                  <a:pt x="71344" y="27628"/>
                </a:lnTo>
                <a:lnTo>
                  <a:pt x="27893" y="70972"/>
                </a:lnTo>
                <a:lnTo>
                  <a:pt x="7137" y="114184"/>
                </a:lnTo>
                <a:lnTo>
                  <a:pt x="0" y="162340"/>
                </a:lnTo>
                <a:lnTo>
                  <a:pt x="883" y="178874"/>
                </a:lnTo>
                <a:lnTo>
                  <a:pt x="12903" y="225294"/>
                </a:lnTo>
                <a:lnTo>
                  <a:pt x="47175" y="276117"/>
                </a:lnTo>
                <a:lnTo>
                  <a:pt x="85109" y="304401"/>
                </a:lnTo>
                <a:lnTo>
                  <a:pt x="129720" y="320528"/>
                </a:lnTo>
                <a:lnTo>
                  <a:pt x="162340" y="323720"/>
                </a:lnTo>
                <a:lnTo>
                  <a:pt x="178874" y="322837"/>
                </a:lnTo>
                <a:lnTo>
                  <a:pt x="194936" y="320337"/>
                </a:lnTo>
                <a:lnTo>
                  <a:pt x="210437" y="316303"/>
                </a:lnTo>
                <a:lnTo>
                  <a:pt x="221263" y="312305"/>
                </a:lnTo>
                <a:lnTo>
                  <a:pt x="161763" y="312305"/>
                </a:lnTo>
                <a:lnTo>
                  <a:pt x="146380" y="311518"/>
                </a:lnTo>
                <a:lnTo>
                  <a:pt x="103214" y="300446"/>
                </a:lnTo>
                <a:lnTo>
                  <a:pt x="55487" y="268232"/>
                </a:lnTo>
                <a:lnTo>
                  <a:pt x="29528" y="233489"/>
                </a:lnTo>
                <a:lnTo>
                  <a:pt x="14500" y="192276"/>
                </a:lnTo>
                <a:lnTo>
                  <a:pt x="11434" y="161380"/>
                </a:lnTo>
                <a:lnTo>
                  <a:pt x="12202" y="146380"/>
                </a:lnTo>
                <a:lnTo>
                  <a:pt x="23274" y="103214"/>
                </a:lnTo>
                <a:lnTo>
                  <a:pt x="55487" y="55487"/>
                </a:lnTo>
                <a:lnTo>
                  <a:pt x="90230" y="29528"/>
                </a:lnTo>
                <a:lnTo>
                  <a:pt x="131631" y="14452"/>
                </a:lnTo>
                <a:lnTo>
                  <a:pt x="161956" y="11416"/>
                </a:lnTo>
                <a:lnTo>
                  <a:pt x="221334" y="11416"/>
                </a:lnTo>
                <a:lnTo>
                  <a:pt x="209536" y="7137"/>
                </a:lnTo>
                <a:lnTo>
                  <a:pt x="194000" y="3191"/>
                </a:lnTo>
                <a:lnTo>
                  <a:pt x="177916" y="786"/>
                </a:lnTo>
                <a:lnTo>
                  <a:pt x="161380" y="0"/>
                </a:lnTo>
                <a:close/>
              </a:path>
              <a:path w="323850" h="323850">
                <a:moveTo>
                  <a:pt x="221334" y="11416"/>
                </a:moveTo>
                <a:lnTo>
                  <a:pt x="161956" y="11416"/>
                </a:lnTo>
                <a:lnTo>
                  <a:pt x="177340" y="12202"/>
                </a:lnTo>
                <a:lnTo>
                  <a:pt x="192276" y="14490"/>
                </a:lnTo>
                <a:lnTo>
                  <a:pt x="233650" y="29616"/>
                </a:lnTo>
                <a:lnTo>
                  <a:pt x="268232" y="55487"/>
                </a:lnTo>
                <a:lnTo>
                  <a:pt x="294191" y="90232"/>
                </a:lnTo>
                <a:lnTo>
                  <a:pt x="309219" y="131444"/>
                </a:lnTo>
                <a:lnTo>
                  <a:pt x="312286" y="162340"/>
                </a:lnTo>
                <a:lnTo>
                  <a:pt x="311537" y="176956"/>
                </a:lnTo>
                <a:lnTo>
                  <a:pt x="300446" y="220506"/>
                </a:lnTo>
                <a:lnTo>
                  <a:pt x="268232" y="268232"/>
                </a:lnTo>
                <a:lnTo>
                  <a:pt x="233489" y="294191"/>
                </a:lnTo>
                <a:lnTo>
                  <a:pt x="192088" y="309267"/>
                </a:lnTo>
                <a:lnTo>
                  <a:pt x="161763" y="312305"/>
                </a:lnTo>
                <a:lnTo>
                  <a:pt x="221263" y="312305"/>
                </a:lnTo>
                <a:lnTo>
                  <a:pt x="276117" y="276546"/>
                </a:lnTo>
                <a:lnTo>
                  <a:pt x="304401" y="238612"/>
                </a:lnTo>
                <a:lnTo>
                  <a:pt x="320528" y="194001"/>
                </a:lnTo>
                <a:lnTo>
                  <a:pt x="323720" y="161380"/>
                </a:lnTo>
                <a:lnTo>
                  <a:pt x="322836" y="144847"/>
                </a:lnTo>
                <a:lnTo>
                  <a:pt x="310817" y="98426"/>
                </a:lnTo>
                <a:lnTo>
                  <a:pt x="276546" y="47603"/>
                </a:lnTo>
                <a:lnTo>
                  <a:pt x="238611" y="19319"/>
                </a:lnTo>
                <a:lnTo>
                  <a:pt x="224434" y="12539"/>
                </a:lnTo>
                <a:lnTo>
                  <a:pt x="221334" y="11416"/>
                </a:lnTo>
                <a:close/>
              </a:path>
              <a:path w="323850" h="323850">
                <a:moveTo>
                  <a:pt x="162148" y="15220"/>
                </a:moveTo>
                <a:lnTo>
                  <a:pt x="118521" y="21728"/>
                </a:lnTo>
                <a:lnTo>
                  <a:pt x="80001" y="40201"/>
                </a:lnTo>
                <a:lnTo>
                  <a:pt x="40201" y="80001"/>
                </a:lnTo>
                <a:lnTo>
                  <a:pt x="21897" y="117980"/>
                </a:lnTo>
                <a:lnTo>
                  <a:pt x="15231" y="161380"/>
                </a:lnTo>
                <a:lnTo>
                  <a:pt x="15258" y="162340"/>
                </a:lnTo>
                <a:lnTo>
                  <a:pt x="21728" y="205198"/>
                </a:lnTo>
                <a:lnTo>
                  <a:pt x="40201" y="243719"/>
                </a:lnTo>
                <a:lnTo>
                  <a:pt x="80001" y="283518"/>
                </a:lnTo>
                <a:lnTo>
                  <a:pt x="117980" y="301823"/>
                </a:lnTo>
                <a:lnTo>
                  <a:pt x="161571" y="308500"/>
                </a:lnTo>
                <a:lnTo>
                  <a:pt x="176574" y="307771"/>
                </a:lnTo>
                <a:lnTo>
                  <a:pt x="191169" y="305569"/>
                </a:lnTo>
                <a:lnTo>
                  <a:pt x="194601" y="304694"/>
                </a:lnTo>
                <a:lnTo>
                  <a:pt x="161380" y="304694"/>
                </a:lnTo>
                <a:lnTo>
                  <a:pt x="146763" y="303908"/>
                </a:lnTo>
                <a:lnTo>
                  <a:pt x="105832" y="293291"/>
                </a:lnTo>
                <a:lnTo>
                  <a:pt x="60900" y="262820"/>
                </a:lnTo>
                <a:lnTo>
                  <a:pt x="36041" y="229532"/>
                </a:lnTo>
                <a:lnTo>
                  <a:pt x="21832" y="190191"/>
                </a:lnTo>
                <a:lnTo>
                  <a:pt x="19025" y="161380"/>
                </a:lnTo>
                <a:lnTo>
                  <a:pt x="19760" y="147721"/>
                </a:lnTo>
                <a:lnTo>
                  <a:pt x="30429" y="105834"/>
                </a:lnTo>
                <a:lnTo>
                  <a:pt x="60900" y="60900"/>
                </a:lnTo>
                <a:lnTo>
                  <a:pt x="94188" y="36041"/>
                </a:lnTo>
                <a:lnTo>
                  <a:pt x="133529" y="21832"/>
                </a:lnTo>
                <a:lnTo>
                  <a:pt x="162340" y="19025"/>
                </a:lnTo>
                <a:lnTo>
                  <a:pt x="194664" y="19025"/>
                </a:lnTo>
                <a:lnTo>
                  <a:pt x="191701" y="18257"/>
                </a:lnTo>
                <a:lnTo>
                  <a:pt x="177148" y="16007"/>
                </a:lnTo>
                <a:lnTo>
                  <a:pt x="162148" y="15220"/>
                </a:lnTo>
                <a:close/>
              </a:path>
              <a:path w="323850" h="323850">
                <a:moveTo>
                  <a:pt x="194664" y="19025"/>
                </a:moveTo>
                <a:lnTo>
                  <a:pt x="162340" y="19025"/>
                </a:lnTo>
                <a:lnTo>
                  <a:pt x="176956" y="19812"/>
                </a:lnTo>
                <a:lnTo>
                  <a:pt x="191126" y="22024"/>
                </a:lnTo>
                <a:lnTo>
                  <a:pt x="230343" y="36482"/>
                </a:lnTo>
                <a:lnTo>
                  <a:pt x="262820" y="60900"/>
                </a:lnTo>
                <a:lnTo>
                  <a:pt x="287679" y="94188"/>
                </a:lnTo>
                <a:lnTo>
                  <a:pt x="301887" y="133529"/>
                </a:lnTo>
                <a:lnTo>
                  <a:pt x="304694" y="162340"/>
                </a:lnTo>
                <a:lnTo>
                  <a:pt x="303959" y="176000"/>
                </a:lnTo>
                <a:lnTo>
                  <a:pt x="293291" y="217887"/>
                </a:lnTo>
                <a:lnTo>
                  <a:pt x="262820" y="262820"/>
                </a:lnTo>
                <a:lnTo>
                  <a:pt x="229532" y="287680"/>
                </a:lnTo>
                <a:lnTo>
                  <a:pt x="190191" y="301887"/>
                </a:lnTo>
                <a:lnTo>
                  <a:pt x="161380" y="304694"/>
                </a:lnTo>
                <a:lnTo>
                  <a:pt x="194601" y="304694"/>
                </a:lnTo>
                <a:lnTo>
                  <a:pt x="231510" y="290936"/>
                </a:lnTo>
                <a:lnTo>
                  <a:pt x="265526" y="265526"/>
                </a:lnTo>
                <a:lnTo>
                  <a:pt x="290671" y="231998"/>
                </a:lnTo>
                <a:lnTo>
                  <a:pt x="305462" y="191701"/>
                </a:lnTo>
                <a:lnTo>
                  <a:pt x="308489" y="162340"/>
                </a:lnTo>
                <a:lnTo>
                  <a:pt x="308462" y="161380"/>
                </a:lnTo>
                <a:lnTo>
                  <a:pt x="301992" y="118521"/>
                </a:lnTo>
                <a:lnTo>
                  <a:pt x="283518" y="80001"/>
                </a:lnTo>
                <a:lnTo>
                  <a:pt x="243719" y="40201"/>
                </a:lnTo>
                <a:lnTo>
                  <a:pt x="205739" y="21897"/>
                </a:lnTo>
                <a:lnTo>
                  <a:pt x="194664" y="190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4103574" y="4823459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3359977" y="5142339"/>
            <a:ext cx="0" cy="389255"/>
          </a:xfrm>
          <a:custGeom>
            <a:avLst/>
            <a:gdLst/>
            <a:ahLst/>
            <a:cxnLst/>
            <a:rect l="l" t="t" r="r" b="b"/>
            <a:pathLst>
              <a:path w="0" h="389254">
                <a:moveTo>
                  <a:pt x="0" y="0"/>
                </a:moveTo>
                <a:lnTo>
                  <a:pt x="1" y="389047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512324" y="4989991"/>
            <a:ext cx="522605" cy="0"/>
          </a:xfrm>
          <a:custGeom>
            <a:avLst/>
            <a:gdLst/>
            <a:ahLst/>
            <a:cxnLst/>
            <a:rect l="l" t="t" r="r" b="b"/>
            <a:pathLst>
              <a:path w="522604" h="0">
                <a:moveTo>
                  <a:pt x="0" y="0"/>
                </a:moveTo>
                <a:lnTo>
                  <a:pt x="522245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016526" y="4581545"/>
            <a:ext cx="385445" cy="132715"/>
          </a:xfrm>
          <a:custGeom>
            <a:avLst/>
            <a:gdLst/>
            <a:ahLst/>
            <a:cxnLst/>
            <a:rect l="l" t="t" r="r" b="b"/>
            <a:pathLst>
              <a:path w="385445" h="132714">
                <a:moveTo>
                  <a:pt x="0" y="0"/>
                </a:moveTo>
                <a:lnTo>
                  <a:pt x="385423" y="0"/>
                </a:lnTo>
                <a:lnTo>
                  <a:pt x="385423" y="132647"/>
                </a:lnTo>
                <a:lnTo>
                  <a:pt x="0" y="132647"/>
                </a:lnTo>
                <a:lnTo>
                  <a:pt x="0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016526" y="4581545"/>
            <a:ext cx="385445" cy="132715"/>
          </a:xfrm>
          <a:custGeom>
            <a:avLst/>
            <a:gdLst/>
            <a:ahLst/>
            <a:cxnLst/>
            <a:rect l="l" t="t" r="r" b="b"/>
            <a:pathLst>
              <a:path w="385445" h="132714">
                <a:moveTo>
                  <a:pt x="0" y="0"/>
                </a:moveTo>
                <a:lnTo>
                  <a:pt x="385423" y="0"/>
                </a:lnTo>
                <a:lnTo>
                  <a:pt x="385423" y="132647"/>
                </a:lnTo>
                <a:lnTo>
                  <a:pt x="0" y="132647"/>
                </a:lnTo>
                <a:lnTo>
                  <a:pt x="0" y="0"/>
                </a:lnTo>
                <a:close/>
              </a:path>
            </a:pathLst>
          </a:custGeom>
          <a:ln w="480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170229" y="4583395"/>
            <a:ext cx="385445" cy="132715"/>
          </a:xfrm>
          <a:custGeom>
            <a:avLst/>
            <a:gdLst/>
            <a:ahLst/>
            <a:cxnLst/>
            <a:rect l="l" t="t" r="r" b="b"/>
            <a:pathLst>
              <a:path w="385445" h="132714">
                <a:moveTo>
                  <a:pt x="0" y="0"/>
                </a:moveTo>
                <a:lnTo>
                  <a:pt x="385423" y="0"/>
                </a:lnTo>
                <a:lnTo>
                  <a:pt x="385423" y="132647"/>
                </a:lnTo>
                <a:lnTo>
                  <a:pt x="0" y="132647"/>
                </a:lnTo>
                <a:lnTo>
                  <a:pt x="0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3170229" y="4583395"/>
            <a:ext cx="385445" cy="132715"/>
          </a:xfrm>
          <a:custGeom>
            <a:avLst/>
            <a:gdLst/>
            <a:ahLst/>
            <a:cxnLst/>
            <a:rect l="l" t="t" r="r" b="b"/>
            <a:pathLst>
              <a:path w="385445" h="132714">
                <a:moveTo>
                  <a:pt x="0" y="0"/>
                </a:moveTo>
                <a:lnTo>
                  <a:pt x="385423" y="0"/>
                </a:lnTo>
                <a:lnTo>
                  <a:pt x="385423" y="132647"/>
                </a:lnTo>
                <a:lnTo>
                  <a:pt x="0" y="132647"/>
                </a:lnTo>
                <a:lnTo>
                  <a:pt x="0" y="0"/>
                </a:lnTo>
                <a:close/>
              </a:path>
            </a:pathLst>
          </a:custGeom>
          <a:ln w="480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3170229" y="5933497"/>
            <a:ext cx="385445" cy="132715"/>
          </a:xfrm>
          <a:custGeom>
            <a:avLst/>
            <a:gdLst/>
            <a:ahLst/>
            <a:cxnLst/>
            <a:rect l="l" t="t" r="r" b="b"/>
            <a:pathLst>
              <a:path w="385445" h="132714">
                <a:moveTo>
                  <a:pt x="0" y="0"/>
                </a:moveTo>
                <a:lnTo>
                  <a:pt x="385423" y="0"/>
                </a:lnTo>
                <a:lnTo>
                  <a:pt x="385423" y="132647"/>
                </a:lnTo>
                <a:lnTo>
                  <a:pt x="0" y="132647"/>
                </a:lnTo>
                <a:lnTo>
                  <a:pt x="0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3170229" y="5933497"/>
            <a:ext cx="385445" cy="132715"/>
          </a:xfrm>
          <a:custGeom>
            <a:avLst/>
            <a:gdLst/>
            <a:ahLst/>
            <a:cxnLst/>
            <a:rect l="l" t="t" r="r" b="b"/>
            <a:pathLst>
              <a:path w="385445" h="132714">
                <a:moveTo>
                  <a:pt x="0" y="0"/>
                </a:moveTo>
                <a:lnTo>
                  <a:pt x="385423" y="0"/>
                </a:lnTo>
                <a:lnTo>
                  <a:pt x="385423" y="132647"/>
                </a:lnTo>
                <a:lnTo>
                  <a:pt x="0" y="132647"/>
                </a:lnTo>
                <a:lnTo>
                  <a:pt x="0" y="0"/>
                </a:lnTo>
                <a:close/>
              </a:path>
            </a:pathLst>
          </a:custGeom>
          <a:ln w="480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007952" y="5933499"/>
            <a:ext cx="385445" cy="132715"/>
          </a:xfrm>
          <a:custGeom>
            <a:avLst/>
            <a:gdLst/>
            <a:ahLst/>
            <a:cxnLst/>
            <a:rect l="l" t="t" r="r" b="b"/>
            <a:pathLst>
              <a:path w="385445" h="132714">
                <a:moveTo>
                  <a:pt x="0" y="0"/>
                </a:moveTo>
                <a:lnTo>
                  <a:pt x="385422" y="0"/>
                </a:lnTo>
                <a:lnTo>
                  <a:pt x="385422" y="132646"/>
                </a:lnTo>
                <a:lnTo>
                  <a:pt x="0" y="132646"/>
                </a:lnTo>
                <a:lnTo>
                  <a:pt x="0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4007952" y="5933499"/>
            <a:ext cx="385445" cy="132715"/>
          </a:xfrm>
          <a:custGeom>
            <a:avLst/>
            <a:gdLst/>
            <a:ahLst/>
            <a:cxnLst/>
            <a:rect l="l" t="t" r="r" b="b"/>
            <a:pathLst>
              <a:path w="385445" h="132714">
                <a:moveTo>
                  <a:pt x="0" y="0"/>
                </a:moveTo>
                <a:lnTo>
                  <a:pt x="385423" y="0"/>
                </a:lnTo>
                <a:lnTo>
                  <a:pt x="385423" y="132647"/>
                </a:lnTo>
                <a:lnTo>
                  <a:pt x="0" y="132647"/>
                </a:lnTo>
                <a:lnTo>
                  <a:pt x="0" y="0"/>
                </a:lnTo>
                <a:close/>
              </a:path>
            </a:pathLst>
          </a:custGeom>
          <a:ln w="480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4716966" y="6065011"/>
            <a:ext cx="2367915" cy="56832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dirty="0" sz="1800" spc="-5" b="1">
                <a:solidFill>
                  <a:srgbClr val="C00000"/>
                </a:solidFill>
                <a:latin typeface="Corbel"/>
                <a:cs typeface="Corbel"/>
              </a:rPr>
              <a:t>Predict potential links  using node</a:t>
            </a:r>
            <a:r>
              <a:rPr dirty="0" sz="1800" spc="-35" b="1">
                <a:solidFill>
                  <a:srgbClr val="C00000"/>
                </a:solidFill>
                <a:latin typeface="Corbel"/>
                <a:cs typeface="Corbel"/>
              </a:rPr>
              <a:t> </a:t>
            </a:r>
            <a:r>
              <a:rPr dirty="0" sz="1800" spc="-5" b="1">
                <a:solidFill>
                  <a:srgbClr val="C00000"/>
                </a:solidFill>
                <a:latin typeface="Corbel"/>
                <a:cs typeface="Corbel"/>
              </a:rPr>
              <a:t>embeddings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920033" y="5518403"/>
            <a:ext cx="1350645" cy="1139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8935">
              <a:lnSpc>
                <a:spcPct val="100000"/>
              </a:lnSpc>
              <a:spcBef>
                <a:spcPts val="100"/>
              </a:spcBef>
              <a:tabLst>
                <a:tab pos="1195705" algn="l"/>
              </a:tabLst>
            </a:pPr>
            <a:r>
              <a:rPr dirty="0" sz="2000" spc="-5">
                <a:latin typeface="Arial"/>
                <a:cs typeface="Arial"/>
              </a:rPr>
              <a:t>2</a:t>
            </a:r>
            <a:r>
              <a:rPr dirty="0" sz="2000" spc="-5">
                <a:latin typeface="Arial"/>
                <a:cs typeface="Arial"/>
              </a:rPr>
              <a:t>	</a:t>
            </a:r>
            <a:r>
              <a:rPr dirty="0" sz="2000" spc="-5">
                <a:solidFill>
                  <a:srgbClr val="C00000"/>
                </a:solidFill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50">
              <a:latin typeface="Times New Roman"/>
              <a:cs typeface="Times New Roman"/>
            </a:endParaRPr>
          </a:p>
          <a:p>
            <a:pPr marL="12700" marR="111125">
              <a:lnSpc>
                <a:spcPts val="2090"/>
              </a:lnSpc>
            </a:pPr>
            <a:r>
              <a:rPr dirty="0" sz="1800" spc="-5" b="1">
                <a:solidFill>
                  <a:srgbClr val="0070C0"/>
                </a:solidFill>
                <a:latin typeface="Corbel"/>
                <a:cs typeface="Corbel"/>
              </a:rPr>
              <a:t>Node  </a:t>
            </a:r>
            <a:r>
              <a:rPr dirty="0" sz="1800" b="1">
                <a:solidFill>
                  <a:srgbClr val="0070C0"/>
                </a:solidFill>
                <a:latin typeface="Corbel"/>
                <a:cs typeface="Corbel"/>
              </a:rPr>
              <a:t>em</a:t>
            </a:r>
            <a:r>
              <a:rPr dirty="0" sz="1800" spc="-5" b="1">
                <a:solidFill>
                  <a:srgbClr val="0070C0"/>
                </a:solidFill>
                <a:latin typeface="Corbel"/>
                <a:cs typeface="Corbel"/>
              </a:rPr>
              <a:t>b</a:t>
            </a:r>
            <a:r>
              <a:rPr dirty="0" sz="1800" b="1">
                <a:solidFill>
                  <a:srgbClr val="0070C0"/>
                </a:solidFill>
                <a:latin typeface="Corbel"/>
                <a:cs typeface="Corbel"/>
              </a:rPr>
              <a:t>e</a:t>
            </a:r>
            <a:r>
              <a:rPr dirty="0" sz="1800" spc="-5" b="1">
                <a:solidFill>
                  <a:srgbClr val="0070C0"/>
                </a:solidFill>
                <a:latin typeface="Corbel"/>
                <a:cs typeface="Corbel"/>
              </a:rPr>
              <a:t>dd</a:t>
            </a:r>
            <a:r>
              <a:rPr dirty="0" sz="1800" b="1">
                <a:solidFill>
                  <a:srgbClr val="0070C0"/>
                </a:solidFill>
                <a:latin typeface="Corbel"/>
                <a:cs typeface="Corbel"/>
              </a:rPr>
              <a:t>in</a:t>
            </a:r>
            <a:r>
              <a:rPr dirty="0" sz="1800" spc="-5" b="1">
                <a:solidFill>
                  <a:srgbClr val="0070C0"/>
                </a:solidFill>
                <a:latin typeface="Corbel"/>
                <a:cs typeface="Corbel"/>
              </a:rPr>
              <a:t>g</a:t>
            </a:r>
            <a:r>
              <a:rPr dirty="0" sz="1800" b="1">
                <a:solidFill>
                  <a:srgbClr val="0070C0"/>
                </a:solidFill>
                <a:latin typeface="Corbel"/>
                <a:cs typeface="Corbel"/>
              </a:rPr>
              <a:t>s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4563682" y="5279549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114301" y="0"/>
                </a:moveTo>
                <a:lnTo>
                  <a:pt x="114301" y="34289"/>
                </a:lnTo>
                <a:lnTo>
                  <a:pt x="0" y="34289"/>
                </a:lnTo>
                <a:lnTo>
                  <a:pt x="0" y="102869"/>
                </a:lnTo>
                <a:lnTo>
                  <a:pt x="114301" y="102869"/>
                </a:lnTo>
                <a:lnTo>
                  <a:pt x="114301" y="137158"/>
                </a:lnTo>
                <a:lnTo>
                  <a:pt x="182879" y="68579"/>
                </a:lnTo>
                <a:lnTo>
                  <a:pt x="114301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4563682" y="5279549"/>
            <a:ext cx="182880" cy="137160"/>
          </a:xfrm>
          <a:custGeom>
            <a:avLst/>
            <a:gdLst/>
            <a:ahLst/>
            <a:cxnLst/>
            <a:rect l="l" t="t" r="r" b="b"/>
            <a:pathLst>
              <a:path w="182879" h="137160">
                <a:moveTo>
                  <a:pt x="0" y="34289"/>
                </a:moveTo>
                <a:lnTo>
                  <a:pt x="114300" y="34289"/>
                </a:lnTo>
                <a:lnTo>
                  <a:pt x="114300" y="0"/>
                </a:lnTo>
                <a:lnTo>
                  <a:pt x="182880" y="68579"/>
                </a:lnTo>
                <a:lnTo>
                  <a:pt x="114300" y="137159"/>
                </a:lnTo>
                <a:lnTo>
                  <a:pt x="114300" y="102869"/>
                </a:lnTo>
                <a:lnTo>
                  <a:pt x="0" y="102869"/>
                </a:lnTo>
                <a:lnTo>
                  <a:pt x="0" y="34289"/>
                </a:lnTo>
                <a:close/>
              </a:path>
            </a:pathLst>
          </a:custGeom>
          <a:ln w="38100">
            <a:solidFill>
              <a:srgbClr val="2461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5140453" y="485036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347"/>
                </a:moveTo>
                <a:lnTo>
                  <a:pt x="7766" y="104193"/>
                </a:lnTo>
                <a:lnTo>
                  <a:pt x="29394" y="62373"/>
                </a:lnTo>
                <a:lnTo>
                  <a:pt x="62373" y="29394"/>
                </a:lnTo>
                <a:lnTo>
                  <a:pt x="104193" y="7766"/>
                </a:lnTo>
                <a:lnTo>
                  <a:pt x="152347" y="0"/>
                </a:lnTo>
                <a:lnTo>
                  <a:pt x="200501" y="7766"/>
                </a:lnTo>
                <a:lnTo>
                  <a:pt x="242321" y="29394"/>
                </a:lnTo>
                <a:lnTo>
                  <a:pt x="275300" y="62373"/>
                </a:lnTo>
                <a:lnTo>
                  <a:pt x="296928" y="104193"/>
                </a:lnTo>
                <a:lnTo>
                  <a:pt x="304695" y="152347"/>
                </a:lnTo>
                <a:lnTo>
                  <a:pt x="296928" y="200501"/>
                </a:lnTo>
                <a:lnTo>
                  <a:pt x="275300" y="242321"/>
                </a:lnTo>
                <a:lnTo>
                  <a:pt x="242321" y="275300"/>
                </a:lnTo>
                <a:lnTo>
                  <a:pt x="200501" y="296928"/>
                </a:lnTo>
                <a:lnTo>
                  <a:pt x="152347" y="304695"/>
                </a:lnTo>
                <a:lnTo>
                  <a:pt x="104193" y="296928"/>
                </a:lnTo>
                <a:lnTo>
                  <a:pt x="62373" y="275300"/>
                </a:lnTo>
                <a:lnTo>
                  <a:pt x="29394" y="242321"/>
                </a:lnTo>
                <a:lnTo>
                  <a:pt x="7766" y="200501"/>
                </a:lnTo>
                <a:lnTo>
                  <a:pt x="0" y="1523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5209457" y="4838700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5140453" y="554411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347"/>
                </a:moveTo>
                <a:lnTo>
                  <a:pt x="7766" y="104193"/>
                </a:lnTo>
                <a:lnTo>
                  <a:pt x="29394" y="62373"/>
                </a:lnTo>
                <a:lnTo>
                  <a:pt x="62373" y="29394"/>
                </a:lnTo>
                <a:lnTo>
                  <a:pt x="104193" y="7766"/>
                </a:lnTo>
                <a:lnTo>
                  <a:pt x="152347" y="0"/>
                </a:lnTo>
                <a:lnTo>
                  <a:pt x="200501" y="7766"/>
                </a:lnTo>
                <a:lnTo>
                  <a:pt x="242321" y="29394"/>
                </a:lnTo>
                <a:lnTo>
                  <a:pt x="275300" y="62373"/>
                </a:lnTo>
                <a:lnTo>
                  <a:pt x="296928" y="104193"/>
                </a:lnTo>
                <a:lnTo>
                  <a:pt x="304695" y="152347"/>
                </a:lnTo>
                <a:lnTo>
                  <a:pt x="296928" y="200501"/>
                </a:lnTo>
                <a:lnTo>
                  <a:pt x="275300" y="242321"/>
                </a:lnTo>
                <a:lnTo>
                  <a:pt x="242321" y="275300"/>
                </a:lnTo>
                <a:lnTo>
                  <a:pt x="200501" y="296928"/>
                </a:lnTo>
                <a:lnTo>
                  <a:pt x="152347" y="304695"/>
                </a:lnTo>
                <a:lnTo>
                  <a:pt x="104193" y="296928"/>
                </a:lnTo>
                <a:lnTo>
                  <a:pt x="62373" y="275300"/>
                </a:lnTo>
                <a:lnTo>
                  <a:pt x="29394" y="242321"/>
                </a:lnTo>
                <a:lnTo>
                  <a:pt x="7766" y="200501"/>
                </a:lnTo>
                <a:lnTo>
                  <a:pt x="0" y="15234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5967394" y="554411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347"/>
                </a:moveTo>
                <a:lnTo>
                  <a:pt x="7766" y="104193"/>
                </a:lnTo>
                <a:lnTo>
                  <a:pt x="29394" y="62373"/>
                </a:lnTo>
                <a:lnTo>
                  <a:pt x="62373" y="29394"/>
                </a:lnTo>
                <a:lnTo>
                  <a:pt x="104193" y="7766"/>
                </a:lnTo>
                <a:lnTo>
                  <a:pt x="152347" y="0"/>
                </a:lnTo>
                <a:lnTo>
                  <a:pt x="200501" y="7766"/>
                </a:lnTo>
                <a:lnTo>
                  <a:pt x="242321" y="29394"/>
                </a:lnTo>
                <a:lnTo>
                  <a:pt x="275300" y="62373"/>
                </a:lnTo>
                <a:lnTo>
                  <a:pt x="296928" y="104193"/>
                </a:lnTo>
                <a:lnTo>
                  <a:pt x="304695" y="152347"/>
                </a:lnTo>
                <a:lnTo>
                  <a:pt x="296928" y="200501"/>
                </a:lnTo>
                <a:lnTo>
                  <a:pt x="275300" y="242321"/>
                </a:lnTo>
                <a:lnTo>
                  <a:pt x="242321" y="275300"/>
                </a:lnTo>
                <a:lnTo>
                  <a:pt x="200501" y="296928"/>
                </a:lnTo>
                <a:lnTo>
                  <a:pt x="152347" y="304695"/>
                </a:lnTo>
                <a:lnTo>
                  <a:pt x="104193" y="296928"/>
                </a:lnTo>
                <a:lnTo>
                  <a:pt x="62373" y="275300"/>
                </a:lnTo>
                <a:lnTo>
                  <a:pt x="29394" y="242321"/>
                </a:lnTo>
                <a:lnTo>
                  <a:pt x="7766" y="200501"/>
                </a:lnTo>
                <a:lnTo>
                  <a:pt x="0" y="152347"/>
                </a:lnTo>
                <a:close/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5209457" y="5530596"/>
            <a:ext cx="99377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9469" algn="l"/>
              </a:tabLst>
            </a:pPr>
            <a:r>
              <a:rPr dirty="0" sz="2000" spc="-5">
                <a:latin typeface="Arial"/>
                <a:cs typeface="Arial"/>
              </a:rPr>
              <a:t>2</a:t>
            </a:r>
            <a:r>
              <a:rPr dirty="0" sz="2000" spc="-5">
                <a:latin typeface="Arial"/>
                <a:cs typeface="Arial"/>
              </a:rPr>
              <a:t>	</a:t>
            </a:r>
            <a:r>
              <a:rPr dirty="0" sz="2000" spc="-5">
                <a:solidFill>
                  <a:srgbClr val="C00000"/>
                </a:solidFill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5445149" y="5693293"/>
            <a:ext cx="522605" cy="0"/>
          </a:xfrm>
          <a:custGeom>
            <a:avLst/>
            <a:gdLst/>
            <a:ahLst/>
            <a:cxnLst/>
            <a:rect l="l" t="t" r="r" b="b"/>
            <a:pathLst>
              <a:path w="522604" h="0">
                <a:moveTo>
                  <a:pt x="0" y="0"/>
                </a:moveTo>
                <a:lnTo>
                  <a:pt x="522245" y="1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5957882" y="4840855"/>
            <a:ext cx="323850" cy="323850"/>
          </a:xfrm>
          <a:custGeom>
            <a:avLst/>
            <a:gdLst/>
            <a:ahLst/>
            <a:cxnLst/>
            <a:rect l="l" t="t" r="r" b="b"/>
            <a:pathLst>
              <a:path w="323850" h="323850">
                <a:moveTo>
                  <a:pt x="161380" y="0"/>
                </a:moveTo>
                <a:lnTo>
                  <a:pt x="113282" y="7416"/>
                </a:lnTo>
                <a:lnTo>
                  <a:pt x="71344" y="27628"/>
                </a:lnTo>
                <a:lnTo>
                  <a:pt x="27893" y="70972"/>
                </a:lnTo>
                <a:lnTo>
                  <a:pt x="7137" y="114184"/>
                </a:lnTo>
                <a:lnTo>
                  <a:pt x="0" y="162340"/>
                </a:lnTo>
                <a:lnTo>
                  <a:pt x="882" y="178874"/>
                </a:lnTo>
                <a:lnTo>
                  <a:pt x="12903" y="225294"/>
                </a:lnTo>
                <a:lnTo>
                  <a:pt x="47174" y="276117"/>
                </a:lnTo>
                <a:lnTo>
                  <a:pt x="85107" y="304401"/>
                </a:lnTo>
                <a:lnTo>
                  <a:pt x="129719" y="320528"/>
                </a:lnTo>
                <a:lnTo>
                  <a:pt x="162340" y="323720"/>
                </a:lnTo>
                <a:lnTo>
                  <a:pt x="178873" y="322837"/>
                </a:lnTo>
                <a:lnTo>
                  <a:pt x="194934" y="320337"/>
                </a:lnTo>
                <a:lnTo>
                  <a:pt x="210437" y="316303"/>
                </a:lnTo>
                <a:lnTo>
                  <a:pt x="221263" y="312305"/>
                </a:lnTo>
                <a:lnTo>
                  <a:pt x="161763" y="312305"/>
                </a:lnTo>
                <a:lnTo>
                  <a:pt x="146378" y="311518"/>
                </a:lnTo>
                <a:lnTo>
                  <a:pt x="103214" y="300446"/>
                </a:lnTo>
                <a:lnTo>
                  <a:pt x="55487" y="268232"/>
                </a:lnTo>
                <a:lnTo>
                  <a:pt x="29527" y="233489"/>
                </a:lnTo>
                <a:lnTo>
                  <a:pt x="14500" y="192276"/>
                </a:lnTo>
                <a:lnTo>
                  <a:pt x="11434" y="161380"/>
                </a:lnTo>
                <a:lnTo>
                  <a:pt x="12202" y="146380"/>
                </a:lnTo>
                <a:lnTo>
                  <a:pt x="23274" y="103214"/>
                </a:lnTo>
                <a:lnTo>
                  <a:pt x="55487" y="55487"/>
                </a:lnTo>
                <a:lnTo>
                  <a:pt x="90230" y="29528"/>
                </a:lnTo>
                <a:lnTo>
                  <a:pt x="131630" y="14452"/>
                </a:lnTo>
                <a:lnTo>
                  <a:pt x="161955" y="11416"/>
                </a:lnTo>
                <a:lnTo>
                  <a:pt x="221334" y="11416"/>
                </a:lnTo>
                <a:lnTo>
                  <a:pt x="209536" y="7137"/>
                </a:lnTo>
                <a:lnTo>
                  <a:pt x="194000" y="3191"/>
                </a:lnTo>
                <a:lnTo>
                  <a:pt x="177916" y="786"/>
                </a:lnTo>
                <a:lnTo>
                  <a:pt x="161380" y="0"/>
                </a:lnTo>
                <a:close/>
              </a:path>
              <a:path w="323850" h="323850">
                <a:moveTo>
                  <a:pt x="221334" y="11416"/>
                </a:moveTo>
                <a:lnTo>
                  <a:pt x="161955" y="11416"/>
                </a:lnTo>
                <a:lnTo>
                  <a:pt x="177340" y="12202"/>
                </a:lnTo>
                <a:lnTo>
                  <a:pt x="192275" y="14490"/>
                </a:lnTo>
                <a:lnTo>
                  <a:pt x="233650" y="29616"/>
                </a:lnTo>
                <a:lnTo>
                  <a:pt x="268232" y="55487"/>
                </a:lnTo>
                <a:lnTo>
                  <a:pt x="294191" y="90230"/>
                </a:lnTo>
                <a:lnTo>
                  <a:pt x="309219" y="131444"/>
                </a:lnTo>
                <a:lnTo>
                  <a:pt x="312284" y="162340"/>
                </a:lnTo>
                <a:lnTo>
                  <a:pt x="311537" y="176956"/>
                </a:lnTo>
                <a:lnTo>
                  <a:pt x="300446" y="220506"/>
                </a:lnTo>
                <a:lnTo>
                  <a:pt x="268232" y="268232"/>
                </a:lnTo>
                <a:lnTo>
                  <a:pt x="233488" y="294191"/>
                </a:lnTo>
                <a:lnTo>
                  <a:pt x="192088" y="309267"/>
                </a:lnTo>
                <a:lnTo>
                  <a:pt x="161763" y="312305"/>
                </a:lnTo>
                <a:lnTo>
                  <a:pt x="221263" y="312305"/>
                </a:lnTo>
                <a:lnTo>
                  <a:pt x="276115" y="276546"/>
                </a:lnTo>
                <a:lnTo>
                  <a:pt x="304401" y="238611"/>
                </a:lnTo>
                <a:lnTo>
                  <a:pt x="320527" y="194000"/>
                </a:lnTo>
                <a:lnTo>
                  <a:pt x="323720" y="161380"/>
                </a:lnTo>
                <a:lnTo>
                  <a:pt x="322836" y="144846"/>
                </a:lnTo>
                <a:lnTo>
                  <a:pt x="310815" y="98426"/>
                </a:lnTo>
                <a:lnTo>
                  <a:pt x="276545" y="47603"/>
                </a:lnTo>
                <a:lnTo>
                  <a:pt x="238611" y="19319"/>
                </a:lnTo>
                <a:lnTo>
                  <a:pt x="224434" y="12539"/>
                </a:lnTo>
                <a:lnTo>
                  <a:pt x="221334" y="11416"/>
                </a:lnTo>
                <a:close/>
              </a:path>
              <a:path w="323850" h="323850">
                <a:moveTo>
                  <a:pt x="162148" y="15220"/>
                </a:moveTo>
                <a:lnTo>
                  <a:pt x="118520" y="21728"/>
                </a:lnTo>
                <a:lnTo>
                  <a:pt x="79999" y="40201"/>
                </a:lnTo>
                <a:lnTo>
                  <a:pt x="40201" y="80001"/>
                </a:lnTo>
                <a:lnTo>
                  <a:pt x="21896" y="117980"/>
                </a:lnTo>
                <a:lnTo>
                  <a:pt x="15229" y="161380"/>
                </a:lnTo>
                <a:lnTo>
                  <a:pt x="15257" y="162340"/>
                </a:lnTo>
                <a:lnTo>
                  <a:pt x="21728" y="205198"/>
                </a:lnTo>
                <a:lnTo>
                  <a:pt x="40201" y="243719"/>
                </a:lnTo>
                <a:lnTo>
                  <a:pt x="79999" y="283518"/>
                </a:lnTo>
                <a:lnTo>
                  <a:pt x="117979" y="301823"/>
                </a:lnTo>
                <a:lnTo>
                  <a:pt x="161571" y="308499"/>
                </a:lnTo>
                <a:lnTo>
                  <a:pt x="176574" y="307771"/>
                </a:lnTo>
                <a:lnTo>
                  <a:pt x="191169" y="305569"/>
                </a:lnTo>
                <a:lnTo>
                  <a:pt x="194601" y="304694"/>
                </a:lnTo>
                <a:lnTo>
                  <a:pt x="161380" y="304694"/>
                </a:lnTo>
                <a:lnTo>
                  <a:pt x="146763" y="303908"/>
                </a:lnTo>
                <a:lnTo>
                  <a:pt x="105832" y="293291"/>
                </a:lnTo>
                <a:lnTo>
                  <a:pt x="60900" y="262820"/>
                </a:lnTo>
                <a:lnTo>
                  <a:pt x="36040" y="229532"/>
                </a:lnTo>
                <a:lnTo>
                  <a:pt x="21832" y="190191"/>
                </a:lnTo>
                <a:lnTo>
                  <a:pt x="19025" y="161380"/>
                </a:lnTo>
                <a:lnTo>
                  <a:pt x="19760" y="147721"/>
                </a:lnTo>
                <a:lnTo>
                  <a:pt x="30429" y="105834"/>
                </a:lnTo>
                <a:lnTo>
                  <a:pt x="60900" y="60900"/>
                </a:lnTo>
                <a:lnTo>
                  <a:pt x="94187" y="36041"/>
                </a:lnTo>
                <a:lnTo>
                  <a:pt x="133529" y="21832"/>
                </a:lnTo>
                <a:lnTo>
                  <a:pt x="162340" y="19025"/>
                </a:lnTo>
                <a:lnTo>
                  <a:pt x="194664" y="19025"/>
                </a:lnTo>
                <a:lnTo>
                  <a:pt x="191701" y="18257"/>
                </a:lnTo>
                <a:lnTo>
                  <a:pt x="177148" y="16007"/>
                </a:lnTo>
                <a:lnTo>
                  <a:pt x="162148" y="15220"/>
                </a:lnTo>
                <a:close/>
              </a:path>
              <a:path w="323850" h="323850">
                <a:moveTo>
                  <a:pt x="194664" y="19025"/>
                </a:moveTo>
                <a:lnTo>
                  <a:pt x="162340" y="19025"/>
                </a:lnTo>
                <a:lnTo>
                  <a:pt x="176956" y="19811"/>
                </a:lnTo>
                <a:lnTo>
                  <a:pt x="191126" y="22024"/>
                </a:lnTo>
                <a:lnTo>
                  <a:pt x="230343" y="36482"/>
                </a:lnTo>
                <a:lnTo>
                  <a:pt x="262820" y="60900"/>
                </a:lnTo>
                <a:lnTo>
                  <a:pt x="287679" y="94188"/>
                </a:lnTo>
                <a:lnTo>
                  <a:pt x="301887" y="133529"/>
                </a:lnTo>
                <a:lnTo>
                  <a:pt x="304694" y="162340"/>
                </a:lnTo>
                <a:lnTo>
                  <a:pt x="303959" y="176000"/>
                </a:lnTo>
                <a:lnTo>
                  <a:pt x="293289" y="217887"/>
                </a:lnTo>
                <a:lnTo>
                  <a:pt x="262820" y="262820"/>
                </a:lnTo>
                <a:lnTo>
                  <a:pt x="229532" y="287680"/>
                </a:lnTo>
                <a:lnTo>
                  <a:pt x="190191" y="301887"/>
                </a:lnTo>
                <a:lnTo>
                  <a:pt x="161380" y="304694"/>
                </a:lnTo>
                <a:lnTo>
                  <a:pt x="194601" y="304694"/>
                </a:lnTo>
                <a:lnTo>
                  <a:pt x="231510" y="290935"/>
                </a:lnTo>
                <a:lnTo>
                  <a:pt x="265526" y="265526"/>
                </a:lnTo>
                <a:lnTo>
                  <a:pt x="290671" y="231998"/>
                </a:lnTo>
                <a:lnTo>
                  <a:pt x="305462" y="191701"/>
                </a:lnTo>
                <a:lnTo>
                  <a:pt x="308489" y="162340"/>
                </a:lnTo>
                <a:lnTo>
                  <a:pt x="308462" y="161380"/>
                </a:lnTo>
                <a:lnTo>
                  <a:pt x="301990" y="118521"/>
                </a:lnTo>
                <a:lnTo>
                  <a:pt x="283518" y="80001"/>
                </a:lnTo>
                <a:lnTo>
                  <a:pt x="243719" y="40201"/>
                </a:lnTo>
                <a:lnTo>
                  <a:pt x="205739" y="21897"/>
                </a:lnTo>
                <a:lnTo>
                  <a:pt x="194664" y="190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6036398" y="4838700"/>
            <a:ext cx="167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5292802" y="5155063"/>
            <a:ext cx="0" cy="389255"/>
          </a:xfrm>
          <a:custGeom>
            <a:avLst/>
            <a:gdLst/>
            <a:ahLst/>
            <a:cxnLst/>
            <a:rect l="l" t="t" r="r" b="b"/>
            <a:pathLst>
              <a:path w="0" h="389254">
                <a:moveTo>
                  <a:pt x="0" y="0"/>
                </a:moveTo>
                <a:lnTo>
                  <a:pt x="1" y="389047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5445149" y="5002715"/>
            <a:ext cx="522605" cy="0"/>
          </a:xfrm>
          <a:custGeom>
            <a:avLst/>
            <a:gdLst/>
            <a:ahLst/>
            <a:cxnLst/>
            <a:rect l="l" t="t" r="r" b="b"/>
            <a:pathLst>
              <a:path w="522604" h="0">
                <a:moveTo>
                  <a:pt x="0" y="0"/>
                </a:moveTo>
                <a:lnTo>
                  <a:pt x="522245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6119742" y="5155063"/>
            <a:ext cx="0" cy="389255"/>
          </a:xfrm>
          <a:custGeom>
            <a:avLst/>
            <a:gdLst/>
            <a:ahLst/>
            <a:cxnLst/>
            <a:rect l="l" t="t" r="r" b="b"/>
            <a:pathLst>
              <a:path w="0" h="389254">
                <a:moveTo>
                  <a:pt x="0" y="0"/>
                </a:moveTo>
                <a:lnTo>
                  <a:pt x="1" y="389047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 txBox="1"/>
          <p:nvPr/>
        </p:nvSpPr>
        <p:spPr>
          <a:xfrm>
            <a:off x="6618206" y="4681220"/>
            <a:ext cx="1635125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dirty="0" sz="1800" spc="-15" b="1">
                <a:latin typeface="Corbel"/>
                <a:cs typeface="Corbel"/>
              </a:rPr>
              <a:t>Recall </a:t>
            </a:r>
            <a:r>
              <a:rPr dirty="0" sz="1800" b="1">
                <a:latin typeface="Corbel"/>
                <a:cs typeface="Corbel"/>
              </a:rPr>
              <a:t>the </a:t>
            </a:r>
            <a:r>
              <a:rPr dirty="0" sz="1800" spc="-5" b="1">
                <a:latin typeface="Corbel"/>
                <a:cs typeface="Corbel"/>
              </a:rPr>
              <a:t>link  prediction</a:t>
            </a:r>
            <a:r>
              <a:rPr dirty="0" sz="1800" spc="-50" b="1">
                <a:latin typeface="Corbel"/>
                <a:cs typeface="Corbel"/>
              </a:rPr>
              <a:t> </a:t>
            </a:r>
            <a:r>
              <a:rPr dirty="0" sz="1800" spc="-5" b="1">
                <a:latin typeface="Corbel"/>
                <a:cs typeface="Corbel"/>
              </a:rPr>
              <a:t>head: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7782257" y="5293293"/>
            <a:ext cx="203835" cy="153035"/>
          </a:xfrm>
          <a:custGeom>
            <a:avLst/>
            <a:gdLst/>
            <a:ahLst/>
            <a:cxnLst/>
            <a:rect l="l" t="t" r="r" b="b"/>
            <a:pathLst>
              <a:path w="203834" h="153035">
                <a:moveTo>
                  <a:pt x="154939" y="0"/>
                </a:moveTo>
                <a:lnTo>
                  <a:pt x="152763" y="6207"/>
                </a:lnTo>
                <a:lnTo>
                  <a:pt x="161616" y="10049"/>
                </a:lnTo>
                <a:lnTo>
                  <a:pt x="169229" y="15368"/>
                </a:lnTo>
                <a:lnTo>
                  <a:pt x="187508" y="50758"/>
                </a:lnTo>
                <a:lnTo>
                  <a:pt x="189765" y="75698"/>
                </a:lnTo>
                <a:lnTo>
                  <a:pt x="189199" y="89186"/>
                </a:lnTo>
                <a:lnTo>
                  <a:pt x="175565" y="130607"/>
                </a:lnTo>
                <a:lnTo>
                  <a:pt x="153005" y="146720"/>
                </a:lnTo>
                <a:lnTo>
                  <a:pt x="154939" y="152927"/>
                </a:lnTo>
                <a:lnTo>
                  <a:pt x="191136" y="126203"/>
                </a:lnTo>
                <a:lnTo>
                  <a:pt x="203713" y="76504"/>
                </a:lnTo>
                <a:lnTo>
                  <a:pt x="202924" y="62485"/>
                </a:lnTo>
                <a:lnTo>
                  <a:pt x="184105" y="17405"/>
                </a:lnTo>
                <a:lnTo>
                  <a:pt x="166027" y="4003"/>
                </a:lnTo>
                <a:lnTo>
                  <a:pt x="154939" y="0"/>
                </a:lnTo>
                <a:close/>
              </a:path>
              <a:path w="203834" h="153035">
                <a:moveTo>
                  <a:pt x="48771" y="0"/>
                </a:moveTo>
                <a:lnTo>
                  <a:pt x="12616" y="26804"/>
                </a:lnTo>
                <a:lnTo>
                  <a:pt x="0" y="76504"/>
                </a:lnTo>
                <a:lnTo>
                  <a:pt x="786" y="90554"/>
                </a:lnTo>
                <a:lnTo>
                  <a:pt x="19554" y="135567"/>
                </a:lnTo>
                <a:lnTo>
                  <a:pt x="48771" y="152927"/>
                </a:lnTo>
                <a:lnTo>
                  <a:pt x="50707" y="146720"/>
                </a:lnTo>
                <a:lnTo>
                  <a:pt x="41992" y="142860"/>
                </a:lnTo>
                <a:lnTo>
                  <a:pt x="34472" y="137489"/>
                </a:lnTo>
                <a:lnTo>
                  <a:pt x="16214" y="101434"/>
                </a:lnTo>
                <a:lnTo>
                  <a:pt x="13947" y="75698"/>
                </a:lnTo>
                <a:lnTo>
                  <a:pt x="14513" y="62651"/>
                </a:lnTo>
                <a:lnTo>
                  <a:pt x="28162" y="22162"/>
                </a:lnTo>
                <a:lnTo>
                  <a:pt x="50948" y="6207"/>
                </a:lnTo>
                <a:lnTo>
                  <a:pt x="487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8250633" y="5293293"/>
            <a:ext cx="203835" cy="153035"/>
          </a:xfrm>
          <a:custGeom>
            <a:avLst/>
            <a:gdLst/>
            <a:ahLst/>
            <a:cxnLst/>
            <a:rect l="l" t="t" r="r" b="b"/>
            <a:pathLst>
              <a:path w="203834" h="153035">
                <a:moveTo>
                  <a:pt x="154939" y="0"/>
                </a:moveTo>
                <a:lnTo>
                  <a:pt x="152763" y="6207"/>
                </a:lnTo>
                <a:lnTo>
                  <a:pt x="161616" y="10049"/>
                </a:lnTo>
                <a:lnTo>
                  <a:pt x="169229" y="15368"/>
                </a:lnTo>
                <a:lnTo>
                  <a:pt x="187508" y="50758"/>
                </a:lnTo>
                <a:lnTo>
                  <a:pt x="189765" y="75698"/>
                </a:lnTo>
                <a:lnTo>
                  <a:pt x="189199" y="89186"/>
                </a:lnTo>
                <a:lnTo>
                  <a:pt x="175565" y="130607"/>
                </a:lnTo>
                <a:lnTo>
                  <a:pt x="153005" y="146720"/>
                </a:lnTo>
                <a:lnTo>
                  <a:pt x="154939" y="152927"/>
                </a:lnTo>
                <a:lnTo>
                  <a:pt x="191136" y="126203"/>
                </a:lnTo>
                <a:lnTo>
                  <a:pt x="203713" y="76504"/>
                </a:lnTo>
                <a:lnTo>
                  <a:pt x="202924" y="62485"/>
                </a:lnTo>
                <a:lnTo>
                  <a:pt x="184105" y="17405"/>
                </a:lnTo>
                <a:lnTo>
                  <a:pt x="166027" y="4003"/>
                </a:lnTo>
                <a:lnTo>
                  <a:pt x="154939" y="0"/>
                </a:lnTo>
                <a:close/>
              </a:path>
              <a:path w="203834" h="153035">
                <a:moveTo>
                  <a:pt x="48771" y="0"/>
                </a:moveTo>
                <a:lnTo>
                  <a:pt x="12616" y="26804"/>
                </a:lnTo>
                <a:lnTo>
                  <a:pt x="0" y="76504"/>
                </a:lnTo>
                <a:lnTo>
                  <a:pt x="786" y="90554"/>
                </a:lnTo>
                <a:lnTo>
                  <a:pt x="19554" y="135567"/>
                </a:lnTo>
                <a:lnTo>
                  <a:pt x="48771" y="152927"/>
                </a:lnTo>
                <a:lnTo>
                  <a:pt x="50707" y="146720"/>
                </a:lnTo>
                <a:lnTo>
                  <a:pt x="41993" y="142860"/>
                </a:lnTo>
                <a:lnTo>
                  <a:pt x="34473" y="137489"/>
                </a:lnTo>
                <a:lnTo>
                  <a:pt x="16214" y="101434"/>
                </a:lnTo>
                <a:lnTo>
                  <a:pt x="13947" y="75698"/>
                </a:lnTo>
                <a:lnTo>
                  <a:pt x="14513" y="62651"/>
                </a:lnTo>
                <a:lnTo>
                  <a:pt x="28162" y="22162"/>
                </a:lnTo>
                <a:lnTo>
                  <a:pt x="50948" y="6207"/>
                </a:lnTo>
                <a:lnTo>
                  <a:pt x="487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6618206" y="5290820"/>
            <a:ext cx="2146300" cy="342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545"/>
              </a:lnSpc>
              <a:spcBef>
                <a:spcPts val="100"/>
              </a:spcBef>
            </a:pPr>
            <a:r>
              <a:rPr dirty="0" sz="1800" spc="60">
                <a:latin typeface="Cambria Math"/>
                <a:cs typeface="Cambria Math"/>
              </a:rPr>
              <a:t>Head</a:t>
            </a:r>
            <a:r>
              <a:rPr dirty="0" baseline="-14957" sz="1950" spc="89">
                <a:latin typeface="Cambria Math"/>
                <a:cs typeface="Cambria Math"/>
              </a:rPr>
              <a:t>!"#$</a:t>
            </a:r>
            <a:r>
              <a:rPr dirty="0" sz="1800" spc="60">
                <a:latin typeface="Cambria Math"/>
                <a:cs typeface="Cambria Math"/>
              </a:rPr>
              <a:t>(𝐡 </a:t>
            </a:r>
            <a:r>
              <a:rPr dirty="0" baseline="38461" sz="1950" spc="-277">
                <a:latin typeface="Cambria Math"/>
                <a:cs typeface="Cambria Math"/>
              </a:rPr>
              <a:t>&amp;     </a:t>
            </a:r>
            <a:r>
              <a:rPr dirty="0" sz="1800">
                <a:latin typeface="Cambria Math"/>
                <a:cs typeface="Cambria Math"/>
              </a:rPr>
              <a:t>, 𝐡  </a:t>
            </a:r>
            <a:r>
              <a:rPr dirty="0" baseline="38461" sz="1950" spc="-277">
                <a:latin typeface="Cambria Math"/>
                <a:cs typeface="Cambria Math"/>
              </a:rPr>
              <a:t>&amp;</a:t>
            </a:r>
            <a:r>
              <a:rPr dirty="0" baseline="38461" sz="1950" spc="-217">
                <a:latin typeface="Cambria Math"/>
                <a:cs typeface="Cambria Math"/>
              </a:rPr>
              <a:t> </a:t>
            </a:r>
            <a:r>
              <a:rPr dirty="0" sz="1800" spc="-5">
                <a:latin typeface="Cambria Math"/>
                <a:cs typeface="Cambria Math"/>
              </a:rPr>
              <a:t>)</a:t>
            </a:r>
            <a:r>
              <a:rPr dirty="0" sz="1800" spc="-5">
                <a:latin typeface="Corbel"/>
                <a:cs typeface="Corbel"/>
              </a:rPr>
              <a:t>:=</a:t>
            </a:r>
            <a:endParaRPr sz="1800">
              <a:latin typeface="Corbel"/>
              <a:cs typeface="Corbel"/>
            </a:endParaRPr>
          </a:p>
          <a:p>
            <a:pPr marL="1149350">
              <a:lnSpc>
                <a:spcPts val="944"/>
              </a:lnSpc>
              <a:tabLst>
                <a:tab pos="1617345" algn="l"/>
              </a:tabLst>
            </a:pPr>
            <a:r>
              <a:rPr dirty="0" sz="1300" spc="-315">
                <a:latin typeface="Cambria Math"/>
                <a:cs typeface="Cambria Math"/>
              </a:rPr>
              <a:t>%	</a:t>
            </a:r>
            <a:r>
              <a:rPr dirty="0" sz="1300" spc="425">
                <a:latin typeface="Cambria Math"/>
                <a:cs typeface="Cambria Math"/>
              </a:rPr>
              <a:t>'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8271017" y="5648894"/>
            <a:ext cx="203835" cy="153035"/>
          </a:xfrm>
          <a:custGeom>
            <a:avLst/>
            <a:gdLst/>
            <a:ahLst/>
            <a:cxnLst/>
            <a:rect l="l" t="t" r="r" b="b"/>
            <a:pathLst>
              <a:path w="203834" h="153035">
                <a:moveTo>
                  <a:pt x="154939" y="0"/>
                </a:moveTo>
                <a:lnTo>
                  <a:pt x="152763" y="6207"/>
                </a:lnTo>
                <a:lnTo>
                  <a:pt x="161616" y="10049"/>
                </a:lnTo>
                <a:lnTo>
                  <a:pt x="169229" y="15367"/>
                </a:lnTo>
                <a:lnTo>
                  <a:pt x="187508" y="50757"/>
                </a:lnTo>
                <a:lnTo>
                  <a:pt x="189765" y="75697"/>
                </a:lnTo>
                <a:lnTo>
                  <a:pt x="189199" y="89185"/>
                </a:lnTo>
                <a:lnTo>
                  <a:pt x="175565" y="130606"/>
                </a:lnTo>
                <a:lnTo>
                  <a:pt x="153005" y="146719"/>
                </a:lnTo>
                <a:lnTo>
                  <a:pt x="154939" y="152927"/>
                </a:lnTo>
                <a:lnTo>
                  <a:pt x="191136" y="126203"/>
                </a:lnTo>
                <a:lnTo>
                  <a:pt x="203713" y="76503"/>
                </a:lnTo>
                <a:lnTo>
                  <a:pt x="202924" y="62484"/>
                </a:lnTo>
                <a:lnTo>
                  <a:pt x="184105" y="17405"/>
                </a:lnTo>
                <a:lnTo>
                  <a:pt x="166027" y="4003"/>
                </a:lnTo>
                <a:lnTo>
                  <a:pt x="154939" y="0"/>
                </a:lnTo>
                <a:close/>
              </a:path>
              <a:path w="203834" h="153035">
                <a:moveTo>
                  <a:pt x="48771" y="0"/>
                </a:moveTo>
                <a:lnTo>
                  <a:pt x="12616" y="26804"/>
                </a:lnTo>
                <a:lnTo>
                  <a:pt x="0" y="76503"/>
                </a:lnTo>
                <a:lnTo>
                  <a:pt x="786" y="90553"/>
                </a:lnTo>
                <a:lnTo>
                  <a:pt x="19554" y="135567"/>
                </a:lnTo>
                <a:lnTo>
                  <a:pt x="48771" y="152927"/>
                </a:lnTo>
                <a:lnTo>
                  <a:pt x="50707" y="146719"/>
                </a:lnTo>
                <a:lnTo>
                  <a:pt x="41992" y="142860"/>
                </a:lnTo>
                <a:lnTo>
                  <a:pt x="34472" y="137489"/>
                </a:lnTo>
                <a:lnTo>
                  <a:pt x="16214" y="101434"/>
                </a:lnTo>
                <a:lnTo>
                  <a:pt x="13947" y="75697"/>
                </a:lnTo>
                <a:lnTo>
                  <a:pt x="14513" y="62650"/>
                </a:lnTo>
                <a:lnTo>
                  <a:pt x="28162" y="22161"/>
                </a:lnTo>
                <a:lnTo>
                  <a:pt x="50948" y="6207"/>
                </a:lnTo>
                <a:lnTo>
                  <a:pt x="487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8739392" y="5648894"/>
            <a:ext cx="203835" cy="153035"/>
          </a:xfrm>
          <a:custGeom>
            <a:avLst/>
            <a:gdLst/>
            <a:ahLst/>
            <a:cxnLst/>
            <a:rect l="l" t="t" r="r" b="b"/>
            <a:pathLst>
              <a:path w="203834" h="153035">
                <a:moveTo>
                  <a:pt x="154939" y="0"/>
                </a:moveTo>
                <a:lnTo>
                  <a:pt x="152763" y="6207"/>
                </a:lnTo>
                <a:lnTo>
                  <a:pt x="161616" y="10049"/>
                </a:lnTo>
                <a:lnTo>
                  <a:pt x="169229" y="15367"/>
                </a:lnTo>
                <a:lnTo>
                  <a:pt x="187508" y="50757"/>
                </a:lnTo>
                <a:lnTo>
                  <a:pt x="189765" y="75697"/>
                </a:lnTo>
                <a:lnTo>
                  <a:pt x="189199" y="89185"/>
                </a:lnTo>
                <a:lnTo>
                  <a:pt x="175565" y="130606"/>
                </a:lnTo>
                <a:lnTo>
                  <a:pt x="153005" y="146719"/>
                </a:lnTo>
                <a:lnTo>
                  <a:pt x="154939" y="152927"/>
                </a:lnTo>
                <a:lnTo>
                  <a:pt x="191136" y="126203"/>
                </a:lnTo>
                <a:lnTo>
                  <a:pt x="203713" y="76503"/>
                </a:lnTo>
                <a:lnTo>
                  <a:pt x="202924" y="62484"/>
                </a:lnTo>
                <a:lnTo>
                  <a:pt x="184105" y="17405"/>
                </a:lnTo>
                <a:lnTo>
                  <a:pt x="166027" y="4003"/>
                </a:lnTo>
                <a:lnTo>
                  <a:pt x="154939" y="0"/>
                </a:lnTo>
                <a:close/>
              </a:path>
              <a:path w="203834" h="153035">
                <a:moveTo>
                  <a:pt x="48771" y="0"/>
                </a:moveTo>
                <a:lnTo>
                  <a:pt x="12616" y="26804"/>
                </a:lnTo>
                <a:lnTo>
                  <a:pt x="0" y="76503"/>
                </a:lnTo>
                <a:lnTo>
                  <a:pt x="786" y="90553"/>
                </a:lnTo>
                <a:lnTo>
                  <a:pt x="19554" y="135567"/>
                </a:lnTo>
                <a:lnTo>
                  <a:pt x="48771" y="152927"/>
                </a:lnTo>
                <a:lnTo>
                  <a:pt x="50707" y="146719"/>
                </a:lnTo>
                <a:lnTo>
                  <a:pt x="41992" y="142860"/>
                </a:lnTo>
                <a:lnTo>
                  <a:pt x="34472" y="137489"/>
                </a:lnTo>
                <a:lnTo>
                  <a:pt x="16213" y="101434"/>
                </a:lnTo>
                <a:lnTo>
                  <a:pt x="13945" y="75697"/>
                </a:lnTo>
                <a:lnTo>
                  <a:pt x="14512" y="62650"/>
                </a:lnTo>
                <a:lnTo>
                  <a:pt x="28162" y="22161"/>
                </a:lnTo>
                <a:lnTo>
                  <a:pt x="50948" y="6207"/>
                </a:lnTo>
                <a:lnTo>
                  <a:pt x="487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 txBox="1"/>
          <p:nvPr/>
        </p:nvSpPr>
        <p:spPr>
          <a:xfrm>
            <a:off x="6618206" y="5647435"/>
            <a:ext cx="2552700" cy="342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545"/>
              </a:lnSpc>
              <a:spcBef>
                <a:spcPts val="100"/>
              </a:spcBef>
            </a:pPr>
            <a:r>
              <a:rPr dirty="0" sz="1800" spc="-5">
                <a:latin typeface="Cambria Math"/>
                <a:cs typeface="Cambria Math"/>
              </a:rPr>
              <a:t>Linear(Concat(𝐡 </a:t>
            </a:r>
            <a:r>
              <a:rPr dirty="0" baseline="38461" sz="1950" spc="-277">
                <a:latin typeface="Cambria Math"/>
                <a:cs typeface="Cambria Math"/>
              </a:rPr>
              <a:t>&amp;     </a:t>
            </a:r>
            <a:r>
              <a:rPr dirty="0" sz="1800">
                <a:latin typeface="Cambria Math"/>
                <a:cs typeface="Cambria Math"/>
              </a:rPr>
              <a:t>, 𝐡</a:t>
            </a:r>
            <a:r>
              <a:rPr dirty="0" sz="1800" spc="60">
                <a:latin typeface="Cambria Math"/>
                <a:cs typeface="Cambria Math"/>
              </a:rPr>
              <a:t> </a:t>
            </a:r>
            <a:r>
              <a:rPr dirty="0" baseline="38461" sz="1950" spc="-277">
                <a:latin typeface="Cambria Math"/>
                <a:cs typeface="Cambria Math"/>
              </a:rPr>
              <a:t>&amp;     </a:t>
            </a:r>
            <a:r>
              <a:rPr dirty="0" sz="1800">
                <a:latin typeface="Cambria Math"/>
                <a:cs typeface="Cambria Math"/>
              </a:rPr>
              <a:t>))</a:t>
            </a:r>
            <a:endParaRPr sz="1800">
              <a:latin typeface="Cambria Math"/>
              <a:cs typeface="Cambria Math"/>
            </a:endParaRPr>
          </a:p>
          <a:p>
            <a:pPr marL="1638300">
              <a:lnSpc>
                <a:spcPts val="944"/>
              </a:lnSpc>
              <a:tabLst>
                <a:tab pos="2106295" algn="l"/>
              </a:tabLst>
            </a:pPr>
            <a:r>
              <a:rPr dirty="0" sz="1300" spc="-315">
                <a:latin typeface="Cambria Math"/>
                <a:cs typeface="Cambria Math"/>
              </a:rPr>
              <a:t>%	</a:t>
            </a:r>
            <a:r>
              <a:rPr dirty="0" sz="1300" spc="425">
                <a:latin typeface="Cambria Math"/>
                <a:cs typeface="Cambria Math"/>
              </a:rPr>
              <a:t>'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86" name="object 8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87" name="object 87"/>
          <p:cNvSpPr txBox="1"/>
          <p:nvPr/>
        </p:nvSpPr>
        <p:spPr>
          <a:xfrm>
            <a:off x="2673615" y="6699893"/>
            <a:ext cx="4027804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5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8" name="object 8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r>
              <a:rPr dirty="0">
                <a:solidFill>
                  <a:srgbClr val="3F3F3F"/>
                </a:solidFill>
              </a:rPr>
              <a:t>63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1375"/>
            <a:ext cx="4471416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41908" y="3168396"/>
            <a:ext cx="8399780" cy="2961005"/>
          </a:xfrm>
          <a:prstGeom prst="rect">
            <a:avLst/>
          </a:prstGeom>
        </p:spPr>
        <p:txBody>
          <a:bodyPr wrap="square" lIns="0" tIns="26225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20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(a) </a:t>
            </a:r>
            <a:r>
              <a:rPr dirty="0" sz="3200" spc="-5">
                <a:latin typeface="Calibri"/>
                <a:cs typeface="Calibri"/>
              </a:rPr>
              <a:t>Insert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nodes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1964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(b,c) </a:t>
            </a:r>
            <a:r>
              <a:rPr dirty="0" sz="3200" spc="-5">
                <a:latin typeface="Calibri"/>
                <a:cs typeface="Calibri"/>
              </a:rPr>
              <a:t>Use GNN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 spc="-10">
                <a:latin typeface="Calibri"/>
                <a:cs typeface="Calibri"/>
              </a:rPr>
              <a:t>predict </a:t>
            </a:r>
            <a:r>
              <a:rPr dirty="0" sz="3200" spc="-5">
                <a:latin typeface="Calibri"/>
                <a:cs typeface="Calibri"/>
              </a:rPr>
              <a:t>which nodes </a:t>
            </a:r>
            <a:r>
              <a:rPr dirty="0" sz="3200" spc="-15">
                <a:latin typeface="Calibri"/>
                <a:cs typeface="Calibri"/>
              </a:rPr>
              <a:t>to</a:t>
            </a:r>
            <a:r>
              <a:rPr dirty="0" sz="3200" spc="8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connect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184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(d) </a:t>
            </a:r>
            <a:r>
              <a:rPr dirty="0" sz="3200" spc="-90">
                <a:latin typeface="Calibri"/>
                <a:cs typeface="Calibri"/>
              </a:rPr>
              <a:t>Take </a:t>
            </a:r>
            <a:r>
              <a:rPr dirty="0" sz="3200" spc="-5">
                <a:latin typeface="Calibri"/>
                <a:cs typeface="Calibri"/>
              </a:rPr>
              <a:t>action (check </a:t>
            </a:r>
            <a:r>
              <a:rPr dirty="0" sz="3200" spc="-10">
                <a:latin typeface="Calibri"/>
                <a:cs typeface="Calibri"/>
              </a:rPr>
              <a:t>chemical</a:t>
            </a:r>
            <a:r>
              <a:rPr dirty="0" sz="3200" spc="10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validity)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19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b="1">
                <a:latin typeface="Calibri"/>
                <a:cs typeface="Calibri"/>
              </a:rPr>
              <a:t>(e, </a:t>
            </a:r>
            <a:r>
              <a:rPr dirty="0" sz="3200" spc="15" b="1">
                <a:latin typeface="Calibri"/>
                <a:cs typeface="Calibri"/>
              </a:rPr>
              <a:t>f) </a:t>
            </a:r>
            <a:r>
              <a:rPr dirty="0" sz="3200" spc="-10">
                <a:latin typeface="Calibri"/>
                <a:cs typeface="Calibri"/>
              </a:rPr>
              <a:t>Compute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 spc="-30">
                <a:latin typeface="Calibri"/>
                <a:cs typeface="Calibri"/>
              </a:rPr>
              <a:t>reward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545863"/>
            <a:ext cx="9144000" cy="17307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r>
              <a:rPr dirty="0"/>
              <a:t>64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946392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2985516"/>
            <a:ext cx="673036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>
                <a:solidFill>
                  <a:srgbClr val="C00000"/>
                </a:solidFill>
              </a:rPr>
              <a:t>Step </a:t>
            </a:r>
            <a:r>
              <a:rPr dirty="0" sz="3200" spc="-25">
                <a:solidFill>
                  <a:srgbClr val="C00000"/>
                </a:solidFill>
              </a:rPr>
              <a:t>reward: </a:t>
            </a:r>
            <a:r>
              <a:rPr dirty="0" sz="3200" spc="-5" b="0">
                <a:solidFill>
                  <a:srgbClr val="C00000"/>
                </a:solidFill>
                <a:latin typeface="Calibri"/>
                <a:cs typeface="Calibri"/>
              </a:rPr>
              <a:t>Learn </a:t>
            </a:r>
            <a:r>
              <a:rPr dirty="0" sz="3200" spc="-15" b="0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dirty="0" sz="3200" spc="-40" b="0">
                <a:solidFill>
                  <a:srgbClr val="C00000"/>
                </a:solidFill>
                <a:latin typeface="Calibri"/>
                <a:cs typeface="Calibri"/>
              </a:rPr>
              <a:t>take </a:t>
            </a:r>
            <a:r>
              <a:rPr dirty="0" sz="3200" spc="-10" b="0">
                <a:solidFill>
                  <a:srgbClr val="C00000"/>
                </a:solidFill>
                <a:latin typeface="Calibri"/>
                <a:cs typeface="Calibri"/>
              </a:rPr>
              <a:t>valid</a:t>
            </a:r>
            <a:r>
              <a:rPr dirty="0" sz="3200" spc="100" b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5" b="0">
                <a:solidFill>
                  <a:srgbClr val="C00000"/>
                </a:solidFill>
                <a:latin typeface="Calibri"/>
                <a:cs typeface="Calibri"/>
              </a:rPr>
              <a:t>action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9363" y="3563620"/>
            <a:ext cx="7982584" cy="3044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44220" marR="5080" indent="-274320">
              <a:lnSpc>
                <a:spcPct val="11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744220" algn="l"/>
              </a:tabLst>
            </a:pPr>
            <a:r>
              <a:rPr dirty="0" sz="2800" spc="-35">
                <a:solidFill>
                  <a:srgbClr val="C00000"/>
                </a:solidFill>
                <a:latin typeface="Calibri"/>
                <a:cs typeface="Calibri"/>
              </a:rPr>
              <a:t>At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each </a:t>
            </a: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step,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assign small 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positive </a:t>
            </a:r>
            <a:r>
              <a:rPr dirty="0" sz="2800" spc="-25">
                <a:solidFill>
                  <a:srgbClr val="C00000"/>
                </a:solidFill>
                <a:latin typeface="Calibri"/>
                <a:cs typeface="Calibri"/>
              </a:rPr>
              <a:t>reward for </a:t>
            </a:r>
            <a:r>
              <a:rPr dirty="0" sz="2800" spc="-130">
                <a:solidFill>
                  <a:srgbClr val="C00000"/>
                </a:solidFill>
                <a:latin typeface="Calibri"/>
                <a:cs typeface="Calibri"/>
              </a:rPr>
              <a:t>valid 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action</a:t>
            </a:r>
            <a:endParaRPr sz="2800">
              <a:latin typeface="Calibri"/>
              <a:cs typeface="Calibri"/>
            </a:endParaRPr>
          </a:p>
          <a:p>
            <a:pPr marL="451484" indent="-320040">
              <a:lnSpc>
                <a:spcPct val="100000"/>
              </a:lnSpc>
              <a:spcBef>
                <a:spcPts val="34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451484" algn="l"/>
              </a:tabLst>
            </a:pPr>
            <a:r>
              <a:rPr dirty="0" sz="3200" spc="-5" b="1">
                <a:solidFill>
                  <a:srgbClr val="0070C0"/>
                </a:solidFill>
                <a:latin typeface="Calibri"/>
                <a:cs typeface="Calibri"/>
              </a:rPr>
              <a:t>Final </a:t>
            </a:r>
            <a:r>
              <a:rPr dirty="0" sz="3200" spc="-25" b="1">
                <a:solidFill>
                  <a:srgbClr val="0070C0"/>
                </a:solidFill>
                <a:latin typeface="Calibri"/>
                <a:cs typeface="Calibri"/>
              </a:rPr>
              <a:t>reward: </a:t>
            </a:r>
            <a:r>
              <a:rPr dirty="0" sz="3200" spc="-15">
                <a:solidFill>
                  <a:srgbClr val="0070C0"/>
                </a:solidFill>
                <a:latin typeface="Calibri"/>
                <a:cs typeface="Calibri"/>
              </a:rPr>
              <a:t>Optimize </a:t>
            </a:r>
            <a:r>
              <a:rPr dirty="0" sz="3200" spc="-10">
                <a:solidFill>
                  <a:srgbClr val="0070C0"/>
                </a:solidFill>
                <a:latin typeface="Calibri"/>
                <a:cs typeface="Calibri"/>
              </a:rPr>
              <a:t>desired</a:t>
            </a:r>
            <a:r>
              <a:rPr dirty="0" sz="3200" spc="5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0070C0"/>
                </a:solidFill>
                <a:latin typeface="Calibri"/>
                <a:cs typeface="Calibri"/>
              </a:rPr>
              <a:t>properties</a:t>
            </a:r>
            <a:endParaRPr sz="3200">
              <a:latin typeface="Calibri"/>
              <a:cs typeface="Calibri"/>
            </a:endParaRPr>
          </a:p>
          <a:p>
            <a:pPr lvl="1" marL="744220" marR="10795" indent="-274320">
              <a:lnSpc>
                <a:spcPct val="110000"/>
              </a:lnSpc>
              <a:spcBef>
                <a:spcPts val="735"/>
              </a:spcBef>
              <a:buClr>
                <a:srgbClr val="60B5CC"/>
              </a:buClr>
              <a:buFont typeface="Malgun Gothic"/>
              <a:buChar char="▪"/>
              <a:tabLst>
                <a:tab pos="744220" algn="l"/>
              </a:tabLst>
            </a:pPr>
            <a:r>
              <a:rPr dirty="0" sz="2800" spc="-35">
                <a:solidFill>
                  <a:srgbClr val="0070C0"/>
                </a:solidFill>
                <a:latin typeface="Calibri"/>
                <a:cs typeface="Calibri"/>
              </a:rPr>
              <a:t>At </a:t>
            </a:r>
            <a:r>
              <a:rPr dirty="0" sz="2800" spc="-5">
                <a:solidFill>
                  <a:srgbClr val="0070C0"/>
                </a:solidFill>
                <a:latin typeface="Calibri"/>
                <a:cs typeface="Calibri"/>
              </a:rPr>
              <a:t>the end, assign </a:t>
            </a:r>
            <a:r>
              <a:rPr dirty="0" sz="2800" spc="-10">
                <a:solidFill>
                  <a:srgbClr val="0070C0"/>
                </a:solidFill>
                <a:latin typeface="Calibri"/>
                <a:cs typeface="Calibri"/>
              </a:rPr>
              <a:t>positive </a:t>
            </a:r>
            <a:r>
              <a:rPr dirty="0" sz="2800" spc="-25">
                <a:solidFill>
                  <a:srgbClr val="0070C0"/>
                </a:solidFill>
                <a:latin typeface="Calibri"/>
                <a:cs typeface="Calibri"/>
              </a:rPr>
              <a:t>reward for </a:t>
            </a:r>
            <a:r>
              <a:rPr dirty="0" sz="2800" spc="-5">
                <a:solidFill>
                  <a:srgbClr val="0070C0"/>
                </a:solidFill>
                <a:latin typeface="Calibri"/>
                <a:cs typeface="Calibri"/>
              </a:rPr>
              <a:t>high </a:t>
            </a:r>
            <a:r>
              <a:rPr dirty="0" sz="2800" spc="-90">
                <a:solidFill>
                  <a:srgbClr val="0070C0"/>
                </a:solidFill>
                <a:latin typeface="Calibri"/>
                <a:cs typeface="Calibri"/>
              </a:rPr>
              <a:t>desired  </a:t>
            </a:r>
            <a:r>
              <a:rPr dirty="0" sz="2800" spc="-10">
                <a:solidFill>
                  <a:srgbClr val="0070C0"/>
                </a:solidFill>
                <a:latin typeface="Calibri"/>
                <a:cs typeface="Calibri"/>
              </a:rPr>
              <a:t>property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z="3200" spc="-25" b="1">
                <a:latin typeface="Calibri"/>
                <a:cs typeface="Calibri"/>
              </a:rPr>
              <a:t>Reward </a:t>
            </a:r>
            <a:r>
              <a:rPr dirty="0" sz="3200">
                <a:latin typeface="Calibri"/>
                <a:cs typeface="Calibri"/>
              </a:rPr>
              <a:t>= </a:t>
            </a:r>
            <a:r>
              <a:rPr dirty="0" sz="3200" spc="-5" b="1">
                <a:solidFill>
                  <a:srgbClr val="0070C0"/>
                </a:solidFill>
                <a:latin typeface="Calibri"/>
                <a:cs typeface="Calibri"/>
              </a:rPr>
              <a:t>Final </a:t>
            </a:r>
            <a:r>
              <a:rPr dirty="0" sz="3200" spc="-25" b="1">
                <a:solidFill>
                  <a:srgbClr val="0070C0"/>
                </a:solidFill>
                <a:latin typeface="Calibri"/>
                <a:cs typeface="Calibri"/>
              </a:rPr>
              <a:t>reward </a:t>
            </a:r>
            <a:r>
              <a:rPr dirty="0" sz="3200">
                <a:latin typeface="Calibri"/>
                <a:cs typeface="Calibri"/>
              </a:rPr>
              <a:t>+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Step</a:t>
            </a:r>
            <a:r>
              <a:rPr dirty="0" sz="3200" spc="-25" b="1">
                <a:solidFill>
                  <a:srgbClr val="C00000"/>
                </a:solidFill>
                <a:latin typeface="Calibri"/>
                <a:cs typeface="Calibri"/>
              </a:rPr>
              <a:t> reward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072310"/>
            <a:ext cx="9144000" cy="17307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757799" y="1042799"/>
            <a:ext cx="2334260" cy="1666875"/>
          </a:xfrm>
          <a:custGeom>
            <a:avLst/>
            <a:gdLst/>
            <a:ahLst/>
            <a:cxnLst/>
            <a:rect l="l" t="t" r="r" b="b"/>
            <a:pathLst>
              <a:path w="2334259" h="1666875">
                <a:moveTo>
                  <a:pt x="2310000" y="0"/>
                </a:moveTo>
                <a:lnTo>
                  <a:pt x="24000" y="0"/>
                </a:lnTo>
                <a:lnTo>
                  <a:pt x="14658" y="1886"/>
                </a:lnTo>
                <a:lnTo>
                  <a:pt x="7029" y="7029"/>
                </a:lnTo>
                <a:lnTo>
                  <a:pt x="1886" y="14658"/>
                </a:lnTo>
                <a:lnTo>
                  <a:pt x="0" y="24000"/>
                </a:lnTo>
                <a:lnTo>
                  <a:pt x="0" y="1642292"/>
                </a:lnTo>
                <a:lnTo>
                  <a:pt x="1886" y="1651634"/>
                </a:lnTo>
                <a:lnTo>
                  <a:pt x="7029" y="1659263"/>
                </a:lnTo>
                <a:lnTo>
                  <a:pt x="14658" y="1664407"/>
                </a:lnTo>
                <a:lnTo>
                  <a:pt x="24000" y="1666293"/>
                </a:lnTo>
                <a:lnTo>
                  <a:pt x="2310000" y="1666293"/>
                </a:lnTo>
                <a:lnTo>
                  <a:pt x="2319342" y="1664407"/>
                </a:lnTo>
                <a:lnTo>
                  <a:pt x="2326970" y="1659263"/>
                </a:lnTo>
                <a:lnTo>
                  <a:pt x="2332113" y="1651634"/>
                </a:lnTo>
                <a:lnTo>
                  <a:pt x="2333999" y="1642292"/>
                </a:lnTo>
                <a:lnTo>
                  <a:pt x="2333999" y="1637493"/>
                </a:lnTo>
                <a:lnTo>
                  <a:pt x="28799" y="1637493"/>
                </a:lnTo>
                <a:lnTo>
                  <a:pt x="28799" y="28801"/>
                </a:lnTo>
                <a:lnTo>
                  <a:pt x="2333999" y="28801"/>
                </a:lnTo>
                <a:lnTo>
                  <a:pt x="2333999" y="24000"/>
                </a:lnTo>
                <a:lnTo>
                  <a:pt x="2332113" y="14658"/>
                </a:lnTo>
                <a:lnTo>
                  <a:pt x="2326970" y="7029"/>
                </a:lnTo>
                <a:lnTo>
                  <a:pt x="2319342" y="1886"/>
                </a:lnTo>
                <a:lnTo>
                  <a:pt x="2310000" y="0"/>
                </a:lnTo>
                <a:close/>
              </a:path>
              <a:path w="2334259" h="1666875">
                <a:moveTo>
                  <a:pt x="2333999" y="28801"/>
                </a:moveTo>
                <a:lnTo>
                  <a:pt x="2305199" y="28801"/>
                </a:lnTo>
                <a:lnTo>
                  <a:pt x="2305199" y="1637493"/>
                </a:lnTo>
                <a:lnTo>
                  <a:pt x="2333999" y="1637493"/>
                </a:lnTo>
                <a:lnTo>
                  <a:pt x="2333999" y="28801"/>
                </a:lnTo>
                <a:close/>
              </a:path>
              <a:path w="2334259" h="1666875">
                <a:moveTo>
                  <a:pt x="2295599" y="38400"/>
                </a:moveTo>
                <a:lnTo>
                  <a:pt x="38399" y="38400"/>
                </a:lnTo>
                <a:lnTo>
                  <a:pt x="38399" y="1627893"/>
                </a:lnTo>
                <a:lnTo>
                  <a:pt x="2295599" y="1627893"/>
                </a:lnTo>
                <a:lnTo>
                  <a:pt x="2295599" y="1618293"/>
                </a:lnTo>
                <a:lnTo>
                  <a:pt x="48000" y="1618293"/>
                </a:lnTo>
                <a:lnTo>
                  <a:pt x="48000" y="48000"/>
                </a:lnTo>
                <a:lnTo>
                  <a:pt x="2295599" y="48000"/>
                </a:lnTo>
                <a:lnTo>
                  <a:pt x="2295599" y="38400"/>
                </a:lnTo>
                <a:close/>
              </a:path>
              <a:path w="2334259" h="1666875">
                <a:moveTo>
                  <a:pt x="2295599" y="48000"/>
                </a:moveTo>
                <a:lnTo>
                  <a:pt x="2286000" y="48000"/>
                </a:lnTo>
                <a:lnTo>
                  <a:pt x="2286000" y="1618293"/>
                </a:lnTo>
                <a:lnTo>
                  <a:pt x="2295599" y="1618293"/>
                </a:lnTo>
                <a:lnTo>
                  <a:pt x="2295599" y="4800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r>
              <a:rPr dirty="0"/>
              <a:t>65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373880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3050539"/>
            <a:ext cx="7776209" cy="17265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445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40" b="1">
                <a:latin typeface="Calibri"/>
                <a:cs typeface="Calibri"/>
              </a:rPr>
              <a:t>Two</a:t>
            </a:r>
            <a:r>
              <a:rPr dirty="0" sz="3000" spc="-90" b="1">
                <a:latin typeface="Calibri"/>
                <a:cs typeface="Calibri"/>
              </a:rPr>
              <a:t> </a:t>
            </a:r>
            <a:r>
              <a:rPr dirty="0" sz="3000" spc="-5" b="1">
                <a:latin typeface="Calibri"/>
                <a:cs typeface="Calibri"/>
              </a:rPr>
              <a:t>parts:</a:t>
            </a:r>
            <a:endParaRPr sz="3000">
              <a:latin typeface="Calibri"/>
              <a:cs typeface="Calibri"/>
            </a:endParaRPr>
          </a:p>
          <a:p>
            <a:pPr marL="332740" marR="5080" indent="-320040">
              <a:lnSpc>
                <a:spcPct val="90300"/>
              </a:lnSpc>
              <a:spcBef>
                <a:spcPts val="19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b="1">
                <a:latin typeface="Calibri"/>
                <a:cs typeface="Calibri"/>
              </a:rPr>
              <a:t>(1) Supervised </a:t>
            </a:r>
            <a:r>
              <a:rPr dirty="0" sz="3000" spc="-15" b="1">
                <a:latin typeface="Calibri"/>
                <a:cs typeface="Calibri"/>
              </a:rPr>
              <a:t>training: </a:t>
            </a:r>
            <a:r>
              <a:rPr dirty="0" sz="3000" spc="-55">
                <a:latin typeface="Calibri"/>
                <a:cs typeface="Calibri"/>
              </a:rPr>
              <a:t>Train </a:t>
            </a:r>
            <a:r>
              <a:rPr dirty="0" sz="3000" spc="-5">
                <a:latin typeface="Calibri"/>
                <a:cs typeface="Calibri"/>
              </a:rPr>
              <a:t>policy </a:t>
            </a:r>
            <a:r>
              <a:rPr dirty="0" sz="3000" spc="-10">
                <a:latin typeface="Calibri"/>
                <a:cs typeface="Calibri"/>
              </a:rPr>
              <a:t>by </a:t>
            </a:r>
            <a:r>
              <a:rPr dirty="0" sz="3000" spc="-15">
                <a:solidFill>
                  <a:srgbClr val="C00000"/>
                </a:solidFill>
                <a:latin typeface="Calibri"/>
                <a:cs typeface="Calibri"/>
              </a:rPr>
              <a:t>imitating  </a:t>
            </a:r>
            <a:r>
              <a:rPr dirty="0" sz="3000" spc="-5">
                <a:solidFill>
                  <a:srgbClr val="C00000"/>
                </a:solidFill>
                <a:latin typeface="Calibri"/>
                <a:cs typeface="Calibri"/>
              </a:rPr>
              <a:t>the action </a:t>
            </a:r>
            <a:r>
              <a:rPr dirty="0" sz="3000" spc="-10">
                <a:latin typeface="Calibri"/>
                <a:cs typeface="Calibri"/>
              </a:rPr>
              <a:t>given by </a:t>
            </a:r>
            <a:r>
              <a:rPr dirty="0" sz="3000" spc="-15">
                <a:latin typeface="Calibri"/>
                <a:cs typeface="Calibri"/>
              </a:rPr>
              <a:t>real </a:t>
            </a:r>
            <a:r>
              <a:rPr dirty="0" sz="3000" spc="-10">
                <a:latin typeface="Calibri"/>
                <a:cs typeface="Calibri"/>
              </a:rPr>
              <a:t>observed graphs. </a:t>
            </a:r>
            <a:r>
              <a:rPr dirty="0" sz="3000">
                <a:latin typeface="Calibri"/>
                <a:cs typeface="Calibri"/>
              </a:rPr>
              <a:t>Use </a:t>
            </a:r>
            <a:r>
              <a:rPr dirty="0" sz="300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000" spc="-15">
                <a:solidFill>
                  <a:srgbClr val="C00000"/>
                </a:solidFill>
                <a:latin typeface="Calibri"/>
                <a:cs typeface="Calibri"/>
              </a:rPr>
              <a:t>gradient</a:t>
            </a:r>
            <a:r>
              <a:rPr dirty="0" sz="3000" spc="-15">
                <a:latin typeface="Calibri"/>
                <a:cs typeface="Calibri"/>
              </a:rPr>
              <a:t>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4789932"/>
            <a:ext cx="7750809" cy="1680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ts val="291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0">
                <a:latin typeface="Calibri"/>
                <a:cs typeface="Calibri"/>
              </a:rPr>
              <a:t>We </a:t>
            </a:r>
            <a:r>
              <a:rPr dirty="0" sz="2600" spc="-20">
                <a:latin typeface="Calibri"/>
                <a:cs typeface="Calibri"/>
              </a:rPr>
              <a:t>have covered </a:t>
            </a:r>
            <a:r>
              <a:rPr dirty="0" sz="2600" spc="-5">
                <a:latin typeface="Calibri"/>
                <a:cs typeface="Calibri"/>
              </a:rPr>
              <a:t>this idea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GraphRNN</a:t>
            </a:r>
            <a:endParaRPr sz="2600">
              <a:latin typeface="Calibri"/>
              <a:cs typeface="Calibri"/>
            </a:endParaRPr>
          </a:p>
          <a:p>
            <a:pPr marL="332740" indent="-320040">
              <a:lnSpc>
                <a:spcPts val="3245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b="1">
                <a:latin typeface="Calibri"/>
                <a:cs typeface="Calibri"/>
              </a:rPr>
              <a:t>(2) </a:t>
            </a:r>
            <a:r>
              <a:rPr dirty="0" sz="3000" spc="-5" b="1">
                <a:latin typeface="Calibri"/>
                <a:cs typeface="Calibri"/>
              </a:rPr>
              <a:t>RL </a:t>
            </a:r>
            <a:r>
              <a:rPr dirty="0" sz="3000" spc="-15" b="1">
                <a:latin typeface="Calibri"/>
                <a:cs typeface="Calibri"/>
              </a:rPr>
              <a:t>training: </a:t>
            </a:r>
            <a:r>
              <a:rPr dirty="0" sz="3000" spc="-55">
                <a:latin typeface="Calibri"/>
                <a:cs typeface="Calibri"/>
              </a:rPr>
              <a:t>Train </a:t>
            </a:r>
            <a:r>
              <a:rPr dirty="0" sz="3000" spc="-5">
                <a:latin typeface="Calibri"/>
                <a:cs typeface="Calibri"/>
              </a:rPr>
              <a:t>policy </a:t>
            </a:r>
            <a:r>
              <a:rPr dirty="0" sz="3000" spc="-20">
                <a:latin typeface="Calibri"/>
                <a:cs typeface="Calibri"/>
              </a:rPr>
              <a:t>to </a:t>
            </a:r>
            <a:r>
              <a:rPr dirty="0" sz="3000" spc="-15">
                <a:solidFill>
                  <a:srgbClr val="0070C0"/>
                </a:solidFill>
                <a:latin typeface="Calibri"/>
                <a:cs typeface="Calibri"/>
              </a:rPr>
              <a:t>optimize</a:t>
            </a:r>
            <a:r>
              <a:rPr dirty="0" sz="3000" spc="85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3000" spc="-20">
                <a:solidFill>
                  <a:srgbClr val="0070C0"/>
                </a:solidFill>
                <a:latin typeface="Calibri"/>
                <a:cs typeface="Calibri"/>
              </a:rPr>
              <a:t>rewards</a:t>
            </a:r>
            <a:r>
              <a:rPr dirty="0" sz="3000" spc="-20">
                <a:latin typeface="Calibri"/>
                <a:cs typeface="Calibri"/>
              </a:rPr>
              <a:t>.</a:t>
            </a:r>
            <a:endParaRPr sz="3000">
              <a:latin typeface="Calibri"/>
              <a:cs typeface="Calibri"/>
            </a:endParaRPr>
          </a:p>
          <a:p>
            <a:pPr marL="332740">
              <a:lnSpc>
                <a:spcPts val="3454"/>
              </a:lnSpc>
            </a:pPr>
            <a:r>
              <a:rPr dirty="0" sz="3000">
                <a:latin typeface="Calibri"/>
                <a:cs typeface="Calibri"/>
              </a:rPr>
              <a:t>Use </a:t>
            </a:r>
            <a:r>
              <a:rPr dirty="0" sz="3000" spc="-20">
                <a:latin typeface="Calibri"/>
                <a:cs typeface="Calibri"/>
              </a:rPr>
              <a:t>standard </a:t>
            </a:r>
            <a:r>
              <a:rPr dirty="0" sz="3000" spc="-5">
                <a:solidFill>
                  <a:srgbClr val="0070C0"/>
                </a:solidFill>
                <a:latin typeface="Calibri"/>
                <a:cs typeface="Calibri"/>
              </a:rPr>
              <a:t>policy </a:t>
            </a:r>
            <a:r>
              <a:rPr dirty="0" sz="3000" spc="-15">
                <a:solidFill>
                  <a:srgbClr val="0070C0"/>
                </a:solidFill>
                <a:latin typeface="Calibri"/>
                <a:cs typeface="Calibri"/>
              </a:rPr>
              <a:t>gradient</a:t>
            </a:r>
            <a:r>
              <a:rPr dirty="0" sz="3000" spc="-1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algorithm</a:t>
            </a:r>
            <a:endParaRPr sz="30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30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35">
                <a:latin typeface="Calibri"/>
                <a:cs typeface="Calibri"/>
              </a:rPr>
              <a:t>Refer </a:t>
            </a:r>
            <a:r>
              <a:rPr dirty="0" sz="2600" spc="-15">
                <a:latin typeface="Calibri"/>
                <a:cs typeface="Calibri"/>
              </a:rPr>
              <a:t>to </a:t>
            </a:r>
            <a:r>
              <a:rPr dirty="0" sz="2600" spc="-20">
                <a:latin typeface="Calibri"/>
                <a:cs typeface="Calibri"/>
              </a:rPr>
              <a:t>any </a:t>
            </a:r>
            <a:r>
              <a:rPr dirty="0" sz="2600">
                <a:latin typeface="Calibri"/>
                <a:cs typeface="Calibri"/>
              </a:rPr>
              <a:t>RL </a:t>
            </a:r>
            <a:r>
              <a:rPr dirty="0" sz="2600" spc="-15">
                <a:latin typeface="Calibri"/>
                <a:cs typeface="Calibri"/>
              </a:rPr>
              <a:t>course, </a:t>
            </a:r>
            <a:r>
              <a:rPr dirty="0" sz="2600">
                <a:latin typeface="Calibri"/>
                <a:cs typeface="Calibri"/>
              </a:rPr>
              <a:t>e.g.,</a:t>
            </a:r>
            <a:r>
              <a:rPr dirty="0" sz="2600" spc="50">
                <a:latin typeface="Calibri"/>
                <a:cs typeface="Calibri"/>
              </a:rPr>
              <a:t> </a:t>
            </a:r>
            <a:r>
              <a:rPr dirty="0" sz="2600" spc="-5">
                <a:latin typeface="Calibri"/>
                <a:cs typeface="Calibri"/>
              </a:rPr>
              <a:t>CS234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469663"/>
            <a:ext cx="9144000" cy="17307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r>
              <a:rPr dirty="0"/>
              <a:t>66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354787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57875" y="4181693"/>
            <a:ext cx="680085" cy="426084"/>
          </a:xfrm>
          <a:prstGeom prst="rect">
            <a:avLst/>
          </a:prstGeom>
          <a:solidFill>
            <a:srgbClr val="C00000"/>
          </a:solidFill>
        </p:spPr>
        <p:txBody>
          <a:bodyPr wrap="square" lIns="0" tIns="7366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580"/>
              </a:spcBef>
            </a:pPr>
            <a:r>
              <a:rPr dirty="0" sz="1650" spc="5">
                <a:solidFill>
                  <a:srgbClr val="FFFFFF"/>
                </a:solidFill>
                <a:latin typeface="Calibri"/>
                <a:cs typeface="Calibri"/>
              </a:rPr>
              <a:t>GCPN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38958" y="5038757"/>
            <a:ext cx="124460" cy="130175"/>
          </a:xfrm>
          <a:custGeom>
            <a:avLst/>
            <a:gdLst/>
            <a:ahLst/>
            <a:cxnLst/>
            <a:rect l="l" t="t" r="r" b="b"/>
            <a:pathLst>
              <a:path w="124460" h="130175">
                <a:moveTo>
                  <a:pt x="0" y="65018"/>
                </a:moveTo>
                <a:lnTo>
                  <a:pt x="4877" y="39710"/>
                </a:lnTo>
                <a:lnTo>
                  <a:pt x="18177" y="19043"/>
                </a:lnTo>
                <a:lnTo>
                  <a:pt x="37905" y="5109"/>
                </a:lnTo>
                <a:lnTo>
                  <a:pt x="62063" y="0"/>
                </a:lnTo>
                <a:lnTo>
                  <a:pt x="86221" y="5109"/>
                </a:lnTo>
                <a:lnTo>
                  <a:pt x="105948" y="19043"/>
                </a:lnTo>
                <a:lnTo>
                  <a:pt x="119249" y="39710"/>
                </a:lnTo>
                <a:lnTo>
                  <a:pt x="124126" y="65018"/>
                </a:lnTo>
                <a:lnTo>
                  <a:pt x="119249" y="90326"/>
                </a:lnTo>
                <a:lnTo>
                  <a:pt x="105948" y="110993"/>
                </a:lnTo>
                <a:lnTo>
                  <a:pt x="86221" y="124928"/>
                </a:lnTo>
                <a:lnTo>
                  <a:pt x="62063" y="130037"/>
                </a:lnTo>
                <a:lnTo>
                  <a:pt x="37905" y="124928"/>
                </a:lnTo>
                <a:lnTo>
                  <a:pt x="18177" y="110993"/>
                </a:lnTo>
                <a:lnTo>
                  <a:pt x="4877" y="90326"/>
                </a:lnTo>
                <a:lnTo>
                  <a:pt x="0" y="65018"/>
                </a:lnTo>
                <a:close/>
              </a:path>
            </a:pathLst>
          </a:custGeom>
          <a:ln w="118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359579" y="5020147"/>
            <a:ext cx="82550" cy="153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15">
                <a:latin typeface="Calibri"/>
                <a:cs typeface="Calibri"/>
              </a:rPr>
              <a:t>C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64052" y="5038757"/>
            <a:ext cx="124460" cy="130175"/>
          </a:xfrm>
          <a:custGeom>
            <a:avLst/>
            <a:gdLst/>
            <a:ahLst/>
            <a:cxnLst/>
            <a:rect l="l" t="t" r="r" b="b"/>
            <a:pathLst>
              <a:path w="124460" h="130175">
                <a:moveTo>
                  <a:pt x="0" y="65018"/>
                </a:moveTo>
                <a:lnTo>
                  <a:pt x="4877" y="39710"/>
                </a:lnTo>
                <a:lnTo>
                  <a:pt x="18177" y="19043"/>
                </a:lnTo>
                <a:lnTo>
                  <a:pt x="37905" y="5109"/>
                </a:lnTo>
                <a:lnTo>
                  <a:pt x="62063" y="0"/>
                </a:lnTo>
                <a:lnTo>
                  <a:pt x="86221" y="5109"/>
                </a:lnTo>
                <a:lnTo>
                  <a:pt x="105948" y="19043"/>
                </a:lnTo>
                <a:lnTo>
                  <a:pt x="119249" y="39710"/>
                </a:lnTo>
                <a:lnTo>
                  <a:pt x="124126" y="65018"/>
                </a:lnTo>
                <a:lnTo>
                  <a:pt x="119249" y="90326"/>
                </a:lnTo>
                <a:lnTo>
                  <a:pt x="105948" y="110993"/>
                </a:lnTo>
                <a:lnTo>
                  <a:pt x="86221" y="124928"/>
                </a:lnTo>
                <a:lnTo>
                  <a:pt x="62063" y="130037"/>
                </a:lnTo>
                <a:lnTo>
                  <a:pt x="37905" y="124928"/>
                </a:lnTo>
                <a:lnTo>
                  <a:pt x="18177" y="110993"/>
                </a:lnTo>
                <a:lnTo>
                  <a:pt x="4877" y="90326"/>
                </a:lnTo>
                <a:lnTo>
                  <a:pt x="0" y="65018"/>
                </a:lnTo>
                <a:close/>
              </a:path>
            </a:pathLst>
          </a:custGeom>
          <a:ln w="118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829554" y="5304744"/>
            <a:ext cx="124460" cy="130175"/>
          </a:xfrm>
          <a:custGeom>
            <a:avLst/>
            <a:gdLst/>
            <a:ahLst/>
            <a:cxnLst/>
            <a:rect l="l" t="t" r="r" b="b"/>
            <a:pathLst>
              <a:path w="124460" h="130175">
                <a:moveTo>
                  <a:pt x="0" y="65018"/>
                </a:moveTo>
                <a:lnTo>
                  <a:pt x="4877" y="39710"/>
                </a:lnTo>
                <a:lnTo>
                  <a:pt x="18177" y="19043"/>
                </a:lnTo>
                <a:lnTo>
                  <a:pt x="37905" y="5109"/>
                </a:lnTo>
                <a:lnTo>
                  <a:pt x="62063" y="0"/>
                </a:lnTo>
                <a:lnTo>
                  <a:pt x="86221" y="5109"/>
                </a:lnTo>
                <a:lnTo>
                  <a:pt x="105948" y="19043"/>
                </a:lnTo>
                <a:lnTo>
                  <a:pt x="119249" y="39710"/>
                </a:lnTo>
                <a:lnTo>
                  <a:pt x="124126" y="65018"/>
                </a:lnTo>
                <a:lnTo>
                  <a:pt x="119249" y="90326"/>
                </a:lnTo>
                <a:lnTo>
                  <a:pt x="105948" y="110993"/>
                </a:lnTo>
                <a:lnTo>
                  <a:pt x="86221" y="124928"/>
                </a:lnTo>
                <a:lnTo>
                  <a:pt x="62063" y="130037"/>
                </a:lnTo>
                <a:lnTo>
                  <a:pt x="37905" y="124928"/>
                </a:lnTo>
                <a:lnTo>
                  <a:pt x="18177" y="110993"/>
                </a:lnTo>
                <a:lnTo>
                  <a:pt x="4877" y="90326"/>
                </a:lnTo>
                <a:lnTo>
                  <a:pt x="0" y="65018"/>
                </a:lnTo>
                <a:close/>
              </a:path>
            </a:pathLst>
          </a:custGeom>
          <a:ln w="118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843926" y="5286132"/>
            <a:ext cx="94615" cy="153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15">
                <a:latin typeface="Calibri"/>
                <a:cs typeface="Calibri"/>
              </a:rPr>
              <a:t>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69963" y="5558907"/>
            <a:ext cx="124460" cy="124460"/>
          </a:xfrm>
          <a:custGeom>
            <a:avLst/>
            <a:gdLst/>
            <a:ahLst/>
            <a:cxnLst/>
            <a:rect l="l" t="t" r="r" b="b"/>
            <a:pathLst>
              <a:path w="124460" h="124460">
                <a:moveTo>
                  <a:pt x="0" y="62063"/>
                </a:moveTo>
                <a:lnTo>
                  <a:pt x="4877" y="37905"/>
                </a:lnTo>
                <a:lnTo>
                  <a:pt x="18177" y="18177"/>
                </a:lnTo>
                <a:lnTo>
                  <a:pt x="37905" y="4877"/>
                </a:lnTo>
                <a:lnTo>
                  <a:pt x="62063" y="0"/>
                </a:lnTo>
                <a:lnTo>
                  <a:pt x="86221" y="4877"/>
                </a:lnTo>
                <a:lnTo>
                  <a:pt x="105948" y="18177"/>
                </a:lnTo>
                <a:lnTo>
                  <a:pt x="119249" y="37905"/>
                </a:lnTo>
                <a:lnTo>
                  <a:pt x="124126" y="62063"/>
                </a:lnTo>
                <a:lnTo>
                  <a:pt x="119249" y="86221"/>
                </a:lnTo>
                <a:lnTo>
                  <a:pt x="105948" y="105948"/>
                </a:lnTo>
                <a:lnTo>
                  <a:pt x="86221" y="119249"/>
                </a:lnTo>
                <a:lnTo>
                  <a:pt x="62063" y="124126"/>
                </a:lnTo>
                <a:lnTo>
                  <a:pt x="37905" y="119249"/>
                </a:lnTo>
                <a:lnTo>
                  <a:pt x="18177" y="105948"/>
                </a:lnTo>
                <a:lnTo>
                  <a:pt x="4877" y="86221"/>
                </a:lnTo>
                <a:lnTo>
                  <a:pt x="0" y="62063"/>
                </a:lnTo>
                <a:close/>
              </a:path>
            </a:pathLst>
          </a:custGeom>
          <a:ln w="118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690818" y="5540297"/>
            <a:ext cx="82550" cy="153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15">
                <a:latin typeface="Calibri"/>
                <a:cs typeface="Calibri"/>
              </a:rPr>
              <a:t>C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338958" y="5558907"/>
            <a:ext cx="130175" cy="124460"/>
          </a:xfrm>
          <a:custGeom>
            <a:avLst/>
            <a:gdLst/>
            <a:ahLst/>
            <a:cxnLst/>
            <a:rect l="l" t="t" r="r" b="b"/>
            <a:pathLst>
              <a:path w="130175" h="124460">
                <a:moveTo>
                  <a:pt x="0" y="62063"/>
                </a:moveTo>
                <a:lnTo>
                  <a:pt x="5109" y="37905"/>
                </a:lnTo>
                <a:lnTo>
                  <a:pt x="19043" y="18177"/>
                </a:lnTo>
                <a:lnTo>
                  <a:pt x="39710" y="4877"/>
                </a:lnTo>
                <a:lnTo>
                  <a:pt x="65018" y="0"/>
                </a:lnTo>
                <a:lnTo>
                  <a:pt x="90326" y="4877"/>
                </a:lnTo>
                <a:lnTo>
                  <a:pt x="110993" y="18177"/>
                </a:lnTo>
                <a:lnTo>
                  <a:pt x="124927" y="37905"/>
                </a:lnTo>
                <a:lnTo>
                  <a:pt x="130037" y="62063"/>
                </a:lnTo>
                <a:lnTo>
                  <a:pt x="124927" y="86221"/>
                </a:lnTo>
                <a:lnTo>
                  <a:pt x="110993" y="105948"/>
                </a:lnTo>
                <a:lnTo>
                  <a:pt x="90326" y="119249"/>
                </a:lnTo>
                <a:lnTo>
                  <a:pt x="65018" y="124126"/>
                </a:lnTo>
                <a:lnTo>
                  <a:pt x="39710" y="119249"/>
                </a:lnTo>
                <a:lnTo>
                  <a:pt x="19043" y="105948"/>
                </a:lnTo>
                <a:lnTo>
                  <a:pt x="5109" y="86221"/>
                </a:lnTo>
                <a:lnTo>
                  <a:pt x="0" y="62063"/>
                </a:lnTo>
                <a:close/>
              </a:path>
            </a:pathLst>
          </a:custGeom>
          <a:ln w="118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364016" y="5540297"/>
            <a:ext cx="82550" cy="153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15">
                <a:latin typeface="Calibri"/>
                <a:cs typeface="Calibri"/>
              </a:rPr>
              <a:t>C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161634" y="5304744"/>
            <a:ext cx="124460" cy="130175"/>
          </a:xfrm>
          <a:custGeom>
            <a:avLst/>
            <a:gdLst/>
            <a:ahLst/>
            <a:cxnLst/>
            <a:rect l="l" t="t" r="r" b="b"/>
            <a:pathLst>
              <a:path w="124460" h="130175">
                <a:moveTo>
                  <a:pt x="0" y="65018"/>
                </a:moveTo>
                <a:lnTo>
                  <a:pt x="4877" y="39710"/>
                </a:lnTo>
                <a:lnTo>
                  <a:pt x="18177" y="19043"/>
                </a:lnTo>
                <a:lnTo>
                  <a:pt x="37905" y="5109"/>
                </a:lnTo>
                <a:lnTo>
                  <a:pt x="62063" y="0"/>
                </a:lnTo>
                <a:lnTo>
                  <a:pt x="86221" y="5109"/>
                </a:lnTo>
                <a:lnTo>
                  <a:pt x="105948" y="19043"/>
                </a:lnTo>
                <a:lnTo>
                  <a:pt x="119249" y="39710"/>
                </a:lnTo>
                <a:lnTo>
                  <a:pt x="124126" y="65018"/>
                </a:lnTo>
                <a:lnTo>
                  <a:pt x="119249" y="90326"/>
                </a:lnTo>
                <a:lnTo>
                  <a:pt x="105948" y="110993"/>
                </a:lnTo>
                <a:lnTo>
                  <a:pt x="86221" y="124928"/>
                </a:lnTo>
                <a:lnTo>
                  <a:pt x="62063" y="130037"/>
                </a:lnTo>
                <a:lnTo>
                  <a:pt x="37905" y="124928"/>
                </a:lnTo>
                <a:lnTo>
                  <a:pt x="18177" y="110993"/>
                </a:lnTo>
                <a:lnTo>
                  <a:pt x="4877" y="90326"/>
                </a:lnTo>
                <a:lnTo>
                  <a:pt x="0" y="65018"/>
                </a:lnTo>
                <a:close/>
              </a:path>
            </a:pathLst>
          </a:custGeom>
          <a:ln w="118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182995" y="5286132"/>
            <a:ext cx="82550" cy="153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15">
                <a:latin typeface="Calibri"/>
                <a:cs typeface="Calibri"/>
              </a:rPr>
              <a:t>C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477862" y="5617031"/>
            <a:ext cx="191770" cy="0"/>
          </a:xfrm>
          <a:custGeom>
            <a:avLst/>
            <a:gdLst/>
            <a:ahLst/>
            <a:cxnLst/>
            <a:rect l="l" t="t" r="r" b="b"/>
            <a:pathLst>
              <a:path w="191770" h="0">
                <a:moveTo>
                  <a:pt x="0" y="0"/>
                </a:moveTo>
                <a:lnTo>
                  <a:pt x="191509" y="0"/>
                </a:lnTo>
              </a:path>
            </a:pathLst>
          </a:custGeom>
          <a:ln w="98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477862" y="5636734"/>
            <a:ext cx="191770" cy="0"/>
          </a:xfrm>
          <a:custGeom>
            <a:avLst/>
            <a:gdLst/>
            <a:ahLst/>
            <a:cxnLst/>
            <a:rect l="l" t="t" r="r" b="b"/>
            <a:pathLst>
              <a:path w="191770" h="0">
                <a:moveTo>
                  <a:pt x="0" y="0"/>
                </a:moveTo>
                <a:lnTo>
                  <a:pt x="191509" y="0"/>
                </a:lnTo>
              </a:path>
            </a:pathLst>
          </a:custGeom>
          <a:ln w="985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248473" y="5144117"/>
            <a:ext cx="119380" cy="179705"/>
          </a:xfrm>
          <a:custGeom>
            <a:avLst/>
            <a:gdLst/>
            <a:ahLst/>
            <a:cxnLst/>
            <a:rect l="l" t="t" r="r" b="b"/>
            <a:pathLst>
              <a:path w="119379" h="179704">
                <a:moveTo>
                  <a:pt x="111112" y="8867"/>
                </a:moveTo>
                <a:lnTo>
                  <a:pt x="15356" y="174718"/>
                </a:lnTo>
                <a:lnTo>
                  <a:pt x="23035" y="179151"/>
                </a:lnTo>
                <a:lnTo>
                  <a:pt x="118789" y="13299"/>
                </a:lnTo>
                <a:lnTo>
                  <a:pt x="111112" y="8867"/>
                </a:lnTo>
                <a:close/>
              </a:path>
              <a:path w="119379" h="179704">
                <a:moveTo>
                  <a:pt x="95755" y="0"/>
                </a:moveTo>
                <a:lnTo>
                  <a:pt x="0" y="165851"/>
                </a:lnTo>
                <a:lnTo>
                  <a:pt x="7678" y="170285"/>
                </a:lnTo>
                <a:lnTo>
                  <a:pt x="103433" y="4433"/>
                </a:lnTo>
                <a:lnTo>
                  <a:pt x="957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755274" y="5144118"/>
            <a:ext cx="119380" cy="179705"/>
          </a:xfrm>
          <a:custGeom>
            <a:avLst/>
            <a:gdLst/>
            <a:ahLst/>
            <a:cxnLst/>
            <a:rect l="l" t="t" r="r" b="b"/>
            <a:pathLst>
              <a:path w="119379" h="179704">
                <a:moveTo>
                  <a:pt x="7678" y="8865"/>
                </a:moveTo>
                <a:lnTo>
                  <a:pt x="0" y="13298"/>
                </a:lnTo>
                <a:lnTo>
                  <a:pt x="95754" y="179151"/>
                </a:lnTo>
                <a:lnTo>
                  <a:pt x="103432" y="174717"/>
                </a:lnTo>
                <a:lnTo>
                  <a:pt x="7678" y="8865"/>
                </a:lnTo>
                <a:close/>
              </a:path>
              <a:path w="119379" h="179704">
                <a:moveTo>
                  <a:pt x="23035" y="0"/>
                </a:moveTo>
                <a:lnTo>
                  <a:pt x="15356" y="4432"/>
                </a:lnTo>
                <a:lnTo>
                  <a:pt x="111111" y="170285"/>
                </a:lnTo>
                <a:lnTo>
                  <a:pt x="118789" y="165851"/>
                </a:lnTo>
                <a:lnTo>
                  <a:pt x="230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254911" y="5426552"/>
            <a:ext cx="95885" cy="166370"/>
          </a:xfrm>
          <a:custGeom>
            <a:avLst/>
            <a:gdLst/>
            <a:ahLst/>
            <a:cxnLst/>
            <a:rect l="l" t="t" r="r" b="b"/>
            <a:pathLst>
              <a:path w="95885" h="166370">
                <a:moveTo>
                  <a:pt x="0" y="0"/>
                </a:moveTo>
                <a:lnTo>
                  <a:pt x="95754" y="165852"/>
                </a:lnTo>
              </a:path>
            </a:pathLst>
          </a:custGeom>
          <a:ln w="88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794320" y="5430818"/>
            <a:ext cx="95885" cy="166370"/>
          </a:xfrm>
          <a:custGeom>
            <a:avLst/>
            <a:gdLst/>
            <a:ahLst/>
            <a:cxnLst/>
            <a:rect l="l" t="t" r="r" b="b"/>
            <a:pathLst>
              <a:path w="95885" h="166370">
                <a:moveTo>
                  <a:pt x="0" y="165852"/>
                </a:moveTo>
                <a:lnTo>
                  <a:pt x="95755" y="0"/>
                </a:lnTo>
              </a:path>
            </a:pathLst>
          </a:custGeom>
          <a:ln w="88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459858" y="4973740"/>
            <a:ext cx="354965" cy="171450"/>
          </a:xfrm>
          <a:custGeom>
            <a:avLst/>
            <a:gdLst/>
            <a:ahLst/>
            <a:cxnLst/>
            <a:rect l="l" t="t" r="r" b="b"/>
            <a:pathLst>
              <a:path w="354965" h="171450">
                <a:moveTo>
                  <a:pt x="0" y="0"/>
                </a:moveTo>
                <a:lnTo>
                  <a:pt x="354647" y="0"/>
                </a:lnTo>
                <a:lnTo>
                  <a:pt x="354647" y="171413"/>
                </a:lnTo>
                <a:lnTo>
                  <a:pt x="0" y="171413"/>
                </a:lnTo>
                <a:lnTo>
                  <a:pt x="0" y="0"/>
                </a:lnTo>
                <a:close/>
              </a:path>
            </a:pathLst>
          </a:custGeom>
          <a:ln w="118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459858" y="5151064"/>
            <a:ext cx="354965" cy="165735"/>
          </a:xfrm>
          <a:custGeom>
            <a:avLst/>
            <a:gdLst/>
            <a:ahLst/>
            <a:cxnLst/>
            <a:rect l="l" t="t" r="r" b="b"/>
            <a:pathLst>
              <a:path w="354965" h="165735">
                <a:moveTo>
                  <a:pt x="0" y="0"/>
                </a:moveTo>
                <a:lnTo>
                  <a:pt x="354647" y="0"/>
                </a:lnTo>
                <a:lnTo>
                  <a:pt x="354647" y="165502"/>
                </a:lnTo>
                <a:lnTo>
                  <a:pt x="0" y="165502"/>
                </a:lnTo>
                <a:lnTo>
                  <a:pt x="0" y="0"/>
                </a:lnTo>
                <a:close/>
              </a:path>
            </a:pathLst>
          </a:custGeom>
          <a:ln w="118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6517059" y="4937395"/>
            <a:ext cx="236220" cy="395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455"/>
              </a:lnSpc>
              <a:spcBef>
                <a:spcPts val="100"/>
              </a:spcBef>
            </a:pPr>
            <a:r>
              <a:rPr dirty="0" sz="1300">
                <a:latin typeface="Calibri"/>
                <a:cs typeface="Calibri"/>
              </a:rPr>
              <a:t>0.1</a:t>
            </a:r>
            <a:endParaRPr sz="1300">
              <a:latin typeface="Calibri"/>
              <a:cs typeface="Calibri"/>
            </a:endParaRPr>
          </a:p>
          <a:p>
            <a:pPr marL="75565">
              <a:lnSpc>
                <a:spcPts val="1455"/>
              </a:lnSpc>
            </a:pPr>
            <a:r>
              <a:rPr dirty="0" sz="1300">
                <a:latin typeface="Calibri"/>
                <a:cs typeface="Calibri"/>
              </a:rPr>
              <a:t>1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891638" y="4913752"/>
            <a:ext cx="855344" cy="43116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 marR="5080">
              <a:lnSpc>
                <a:spcPct val="104400"/>
              </a:lnSpc>
              <a:spcBef>
                <a:spcPts val="35"/>
              </a:spcBef>
            </a:pPr>
            <a:r>
              <a:rPr dirty="0" sz="1300" spc="-5">
                <a:latin typeface="Calibri"/>
                <a:cs typeface="Calibri"/>
              </a:rPr>
              <a:t>Step </a:t>
            </a:r>
            <a:r>
              <a:rPr dirty="0" sz="1300" spc="-15">
                <a:latin typeface="Calibri"/>
                <a:cs typeface="Calibri"/>
              </a:rPr>
              <a:t>reward  </a:t>
            </a:r>
            <a:r>
              <a:rPr dirty="0" sz="1300" spc="-5">
                <a:latin typeface="Calibri"/>
                <a:cs typeface="Calibri"/>
              </a:rPr>
              <a:t>Final</a:t>
            </a:r>
            <a:r>
              <a:rPr dirty="0" sz="1300" spc="-55">
                <a:latin typeface="Calibri"/>
                <a:cs typeface="Calibri"/>
              </a:rPr>
              <a:t> </a:t>
            </a:r>
            <a:r>
              <a:rPr dirty="0" sz="1300" spc="-15">
                <a:latin typeface="Calibri"/>
                <a:cs typeface="Calibri"/>
              </a:rPr>
              <a:t>reward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10263" y="4961918"/>
            <a:ext cx="1076325" cy="367030"/>
          </a:xfrm>
          <a:prstGeom prst="rect">
            <a:avLst/>
          </a:prstGeom>
          <a:solidFill>
            <a:srgbClr val="A6A6A6"/>
          </a:solidFill>
        </p:spPr>
        <p:txBody>
          <a:bodyPr wrap="square" lIns="0" tIns="64135" rIns="0" bIns="0" rtlCol="0" vert="horz">
            <a:spAutoFit/>
          </a:bodyPr>
          <a:lstStyle/>
          <a:p>
            <a:pPr marL="43180">
              <a:lnSpc>
                <a:spcPct val="100000"/>
              </a:lnSpc>
              <a:spcBef>
                <a:spcPts val="505"/>
              </a:spcBef>
            </a:pPr>
            <a:r>
              <a:rPr dirty="0" sz="1450" spc="5">
                <a:solidFill>
                  <a:srgbClr val="FFFFFF"/>
                </a:solidFill>
                <a:latin typeface="Calibri"/>
                <a:cs typeface="Calibri"/>
              </a:rPr>
              <a:t>Environment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 rot="1920000">
            <a:off x="1896445" y="4857578"/>
            <a:ext cx="95117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05"/>
              </a:lnSpc>
            </a:pPr>
            <a:r>
              <a:rPr dirty="0" baseline="2136" sz="1950">
                <a:latin typeface="Calibri"/>
                <a:cs typeface="Calibri"/>
              </a:rPr>
              <a:t>Run </a:t>
            </a:r>
            <a:r>
              <a:rPr dirty="0" baseline="2136" sz="1950" spc="-22">
                <a:latin typeface="Calibri"/>
                <a:cs typeface="Calibri"/>
              </a:rPr>
              <a:t>un</a:t>
            </a:r>
            <a:r>
              <a:rPr dirty="0" sz="1300" spc="-15">
                <a:latin typeface="Calibri"/>
                <a:cs typeface="Calibri"/>
              </a:rPr>
              <a:t>til</a:t>
            </a:r>
            <a:r>
              <a:rPr dirty="0" sz="1300" spc="-90">
                <a:latin typeface="Calibri"/>
                <a:cs typeface="Calibri"/>
              </a:rPr>
              <a:t> </a:t>
            </a:r>
            <a:r>
              <a:rPr dirty="0" sz="1300" spc="-20">
                <a:latin typeface="Calibri"/>
                <a:cs typeface="Calibri"/>
              </a:rPr>
              <a:t>stop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 rot="20220000">
            <a:off x="1919711" y="3738069"/>
            <a:ext cx="900571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05"/>
              </a:lnSpc>
            </a:pPr>
            <a:r>
              <a:rPr dirty="0" sz="1300">
                <a:latin typeface="Calibri"/>
                <a:cs typeface="Calibri"/>
              </a:rPr>
              <a:t>Run </a:t>
            </a:r>
            <a:r>
              <a:rPr dirty="0" baseline="2136" sz="1950" spc="-15">
                <a:latin typeface="Calibri"/>
                <a:cs typeface="Calibri"/>
              </a:rPr>
              <a:t>one</a:t>
            </a:r>
            <a:r>
              <a:rPr dirty="0" baseline="2136" sz="1950" spc="-202">
                <a:latin typeface="Calibri"/>
                <a:cs typeface="Calibri"/>
              </a:rPr>
              <a:t> </a:t>
            </a:r>
            <a:r>
              <a:rPr dirty="0" baseline="4273" sz="1950" spc="-44">
                <a:latin typeface="Calibri"/>
                <a:cs typeface="Calibri"/>
              </a:rPr>
              <a:t>step</a:t>
            </a:r>
            <a:endParaRPr baseline="4273" sz="195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793014" y="2899050"/>
            <a:ext cx="414020" cy="171450"/>
          </a:xfrm>
          <a:custGeom>
            <a:avLst/>
            <a:gdLst/>
            <a:ahLst/>
            <a:cxnLst/>
            <a:rect l="l" t="t" r="r" b="b"/>
            <a:pathLst>
              <a:path w="414020" h="171450">
                <a:moveTo>
                  <a:pt x="0" y="0"/>
                </a:moveTo>
                <a:lnTo>
                  <a:pt x="413755" y="0"/>
                </a:lnTo>
                <a:lnTo>
                  <a:pt x="413755" y="171413"/>
                </a:lnTo>
                <a:lnTo>
                  <a:pt x="0" y="171413"/>
                </a:lnTo>
                <a:lnTo>
                  <a:pt x="0" y="0"/>
                </a:lnTo>
                <a:close/>
              </a:path>
            </a:pathLst>
          </a:custGeom>
          <a:ln w="118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4880567" y="2862706"/>
            <a:ext cx="23622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latin typeface="Calibri"/>
                <a:cs typeface="Calibri"/>
              </a:rPr>
              <a:t>0.6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310026" y="2856796"/>
            <a:ext cx="124269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latin typeface="Calibri"/>
                <a:cs typeface="Calibri"/>
              </a:rPr>
              <a:t>Cross entropy</a:t>
            </a:r>
            <a:r>
              <a:rPr dirty="0" sz="1300" spc="-25">
                <a:latin typeface="Calibri"/>
                <a:cs typeface="Calibri"/>
              </a:rPr>
              <a:t> </a:t>
            </a:r>
            <a:r>
              <a:rPr dirty="0" sz="1300" spc="-5">
                <a:latin typeface="Calibri"/>
                <a:cs typeface="Calibri"/>
              </a:rPr>
              <a:t>loss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465237" y="4607271"/>
            <a:ext cx="5173980" cy="1200150"/>
          </a:xfrm>
          <a:custGeom>
            <a:avLst/>
            <a:gdLst/>
            <a:ahLst/>
            <a:cxnLst/>
            <a:rect l="l" t="t" r="r" b="b"/>
            <a:pathLst>
              <a:path w="5173980" h="1200150">
                <a:moveTo>
                  <a:pt x="35464" y="53196"/>
                </a:moveTo>
                <a:lnTo>
                  <a:pt x="23642" y="53196"/>
                </a:lnTo>
                <a:lnTo>
                  <a:pt x="23642" y="1199731"/>
                </a:lnTo>
                <a:lnTo>
                  <a:pt x="5173422" y="1199731"/>
                </a:lnTo>
                <a:lnTo>
                  <a:pt x="5173422" y="1193820"/>
                </a:lnTo>
                <a:lnTo>
                  <a:pt x="35464" y="1193820"/>
                </a:lnTo>
                <a:lnTo>
                  <a:pt x="29554" y="1187909"/>
                </a:lnTo>
                <a:lnTo>
                  <a:pt x="35464" y="1187909"/>
                </a:lnTo>
                <a:lnTo>
                  <a:pt x="35464" y="53196"/>
                </a:lnTo>
                <a:close/>
              </a:path>
              <a:path w="5173980" h="1200150">
                <a:moveTo>
                  <a:pt x="35464" y="1187909"/>
                </a:moveTo>
                <a:lnTo>
                  <a:pt x="29554" y="1187909"/>
                </a:lnTo>
                <a:lnTo>
                  <a:pt x="35464" y="1193820"/>
                </a:lnTo>
                <a:lnTo>
                  <a:pt x="35464" y="1187909"/>
                </a:lnTo>
                <a:close/>
              </a:path>
              <a:path w="5173980" h="1200150">
                <a:moveTo>
                  <a:pt x="5161601" y="1187909"/>
                </a:moveTo>
                <a:lnTo>
                  <a:pt x="35464" y="1187909"/>
                </a:lnTo>
                <a:lnTo>
                  <a:pt x="35464" y="1193820"/>
                </a:lnTo>
                <a:lnTo>
                  <a:pt x="5161601" y="1193820"/>
                </a:lnTo>
                <a:lnTo>
                  <a:pt x="5161601" y="1187909"/>
                </a:lnTo>
                <a:close/>
              </a:path>
              <a:path w="5173980" h="1200150">
                <a:moveTo>
                  <a:pt x="5173422" y="713742"/>
                </a:moveTo>
                <a:lnTo>
                  <a:pt x="5161601" y="713742"/>
                </a:lnTo>
                <a:lnTo>
                  <a:pt x="5161601" y="1193820"/>
                </a:lnTo>
                <a:lnTo>
                  <a:pt x="5167511" y="1187909"/>
                </a:lnTo>
                <a:lnTo>
                  <a:pt x="5173422" y="1187909"/>
                </a:lnTo>
                <a:lnTo>
                  <a:pt x="5173422" y="713742"/>
                </a:lnTo>
                <a:close/>
              </a:path>
              <a:path w="5173980" h="1200150">
                <a:moveTo>
                  <a:pt x="5173422" y="1187909"/>
                </a:moveTo>
                <a:lnTo>
                  <a:pt x="5167511" y="1187909"/>
                </a:lnTo>
                <a:lnTo>
                  <a:pt x="5161601" y="1193820"/>
                </a:lnTo>
                <a:lnTo>
                  <a:pt x="5173422" y="1193820"/>
                </a:lnTo>
                <a:lnTo>
                  <a:pt x="5173422" y="1187909"/>
                </a:lnTo>
                <a:close/>
              </a:path>
              <a:path w="5173980" h="1200150">
                <a:moveTo>
                  <a:pt x="29554" y="0"/>
                </a:moveTo>
                <a:lnTo>
                  <a:pt x="0" y="59107"/>
                </a:lnTo>
                <a:lnTo>
                  <a:pt x="23642" y="59107"/>
                </a:lnTo>
                <a:lnTo>
                  <a:pt x="23642" y="53196"/>
                </a:lnTo>
                <a:lnTo>
                  <a:pt x="56151" y="53196"/>
                </a:lnTo>
                <a:lnTo>
                  <a:pt x="29554" y="0"/>
                </a:lnTo>
                <a:close/>
              </a:path>
              <a:path w="5173980" h="1200150">
                <a:moveTo>
                  <a:pt x="56151" y="53196"/>
                </a:moveTo>
                <a:lnTo>
                  <a:pt x="35464" y="53196"/>
                </a:lnTo>
                <a:lnTo>
                  <a:pt x="35464" y="59107"/>
                </a:lnTo>
                <a:lnTo>
                  <a:pt x="59107" y="59107"/>
                </a:lnTo>
                <a:lnTo>
                  <a:pt x="56151" y="53196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3232419" y="4618213"/>
            <a:ext cx="73533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latin typeface="Calibri"/>
                <a:cs typeface="Calibri"/>
              </a:rPr>
              <a:t>Generated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456296" y="4815895"/>
            <a:ext cx="402590" cy="35750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  <a:tabLst>
                <a:tab pos="203835" algn="l"/>
              </a:tabLst>
            </a:pPr>
            <a:r>
              <a:rPr dirty="0" sz="900" spc="0" u="sng">
                <a:latin typeface="Times New Roman"/>
                <a:cs typeface="Times New Roman"/>
              </a:rPr>
              <a:t> </a:t>
            </a:r>
            <a:r>
              <a:rPr dirty="0" sz="900" spc="0" u="sng">
                <a:latin typeface="Times New Roman"/>
                <a:cs typeface="Times New Roman"/>
              </a:rPr>
              <a:t>	</a:t>
            </a:r>
            <a:r>
              <a:rPr dirty="0" sz="900" spc="0">
                <a:latin typeface="Times New Roman"/>
                <a:cs typeface="Times New Roman"/>
              </a:rPr>
              <a:t>   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 spc="-229">
                <a:latin typeface="Cambria Math"/>
                <a:cs typeface="Cambria Math"/>
              </a:rPr>
              <a:t>%</a:t>
            </a:r>
            <a:endParaRPr sz="900">
              <a:latin typeface="Cambria Math"/>
              <a:cs typeface="Cambria Math"/>
            </a:endParaRPr>
          </a:p>
          <a:p>
            <a:pPr marL="235585">
              <a:lnSpc>
                <a:spcPct val="100000"/>
              </a:lnSpc>
              <a:spcBef>
                <a:spcPts val="275"/>
              </a:spcBef>
            </a:pPr>
            <a:r>
              <a:rPr dirty="0" sz="800" spc="15">
                <a:latin typeface="Calibri"/>
                <a:cs typeface="Calibri"/>
              </a:rPr>
              <a:t>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232419" y="4765982"/>
            <a:ext cx="61976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latin typeface="Calibri"/>
                <a:cs typeface="Calibri"/>
              </a:rPr>
              <a:t>graph</a:t>
            </a:r>
            <a:r>
              <a:rPr dirty="0" sz="1300" spc="-75">
                <a:latin typeface="Calibri"/>
                <a:cs typeface="Calibri"/>
              </a:rPr>
              <a:t> </a:t>
            </a:r>
            <a:r>
              <a:rPr dirty="0" sz="1300" spc="260">
                <a:latin typeface="Cambria Math"/>
                <a:cs typeface="Cambria Math"/>
              </a:rPr>
              <a:t>!</a:t>
            </a:r>
            <a:r>
              <a:rPr dirty="0" baseline="30864" sz="1350" spc="390">
                <a:latin typeface="Cambria Math"/>
                <a:cs typeface="Cambria Math"/>
              </a:rPr>
              <a:t>∗</a:t>
            </a:r>
            <a:endParaRPr baseline="30864" sz="135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267092" y="1834228"/>
            <a:ext cx="31178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5">
                <a:solidFill>
                  <a:srgbClr val="A6A6A6"/>
                </a:solidFill>
                <a:latin typeface="Calibri"/>
                <a:cs typeface="Calibri"/>
              </a:rPr>
              <a:t>R</a:t>
            </a:r>
            <a:r>
              <a:rPr dirty="0" sz="1300" spc="-5">
                <a:solidFill>
                  <a:srgbClr val="A6A6A6"/>
                </a:solidFill>
                <a:latin typeface="Calibri"/>
                <a:cs typeface="Calibri"/>
              </a:rPr>
              <a:t>ea</a:t>
            </a:r>
            <a:r>
              <a:rPr dirty="0" sz="1300">
                <a:solidFill>
                  <a:srgbClr val="A6A6A6"/>
                </a:solidFill>
                <a:latin typeface="Calibri"/>
                <a:cs typeface="Calibri"/>
              </a:rPr>
              <a:t>l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267092" y="1981998"/>
            <a:ext cx="76073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A6A6A6"/>
                </a:solidFill>
                <a:latin typeface="Calibri"/>
                <a:cs typeface="Calibri"/>
              </a:rPr>
              <a:t>graph</a:t>
            </a:r>
            <a:r>
              <a:rPr dirty="0" sz="1300" spc="-7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dirty="0" sz="1300" spc="175">
                <a:solidFill>
                  <a:srgbClr val="A6A6A6"/>
                </a:solidFill>
                <a:latin typeface="Cambria Math"/>
                <a:cs typeface="Cambria Math"/>
              </a:rPr>
              <a:t>!</a:t>
            </a:r>
            <a:r>
              <a:rPr dirty="0" baseline="-18518" sz="1350" spc="262">
                <a:solidFill>
                  <a:srgbClr val="A6A6A6"/>
                </a:solidFill>
                <a:latin typeface="Cambria Math"/>
                <a:cs typeface="Cambria Math"/>
              </a:rPr>
              <a:t>"#$</a:t>
            </a:r>
            <a:endParaRPr baseline="-18518" sz="135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804295" y="1964266"/>
            <a:ext cx="82550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5">
                <a:solidFill>
                  <a:srgbClr val="A6A6A6"/>
                </a:solidFill>
                <a:latin typeface="Cambria Math"/>
                <a:cs typeface="Cambria Math"/>
              </a:rPr>
              <a:t>∗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465237" y="1742155"/>
            <a:ext cx="3536950" cy="2439035"/>
          </a:xfrm>
          <a:custGeom>
            <a:avLst/>
            <a:gdLst/>
            <a:ahLst/>
            <a:cxnLst/>
            <a:rect l="l" t="t" r="r" b="b"/>
            <a:pathLst>
              <a:path w="3536950" h="2439035">
                <a:moveTo>
                  <a:pt x="23642" y="2379794"/>
                </a:moveTo>
                <a:lnTo>
                  <a:pt x="0" y="2379794"/>
                </a:lnTo>
                <a:lnTo>
                  <a:pt x="29554" y="2438902"/>
                </a:lnTo>
                <a:lnTo>
                  <a:pt x="56151" y="2385705"/>
                </a:lnTo>
                <a:lnTo>
                  <a:pt x="23642" y="2385705"/>
                </a:lnTo>
                <a:lnTo>
                  <a:pt x="23642" y="2379794"/>
                </a:lnTo>
                <a:close/>
              </a:path>
              <a:path w="3536950" h="2439035">
                <a:moveTo>
                  <a:pt x="3536936" y="0"/>
                </a:moveTo>
                <a:lnTo>
                  <a:pt x="23642" y="0"/>
                </a:lnTo>
                <a:lnTo>
                  <a:pt x="23642" y="2385705"/>
                </a:lnTo>
                <a:lnTo>
                  <a:pt x="35464" y="2385705"/>
                </a:lnTo>
                <a:lnTo>
                  <a:pt x="35464" y="11821"/>
                </a:lnTo>
                <a:lnTo>
                  <a:pt x="29554" y="11821"/>
                </a:lnTo>
                <a:lnTo>
                  <a:pt x="35464" y="5910"/>
                </a:lnTo>
                <a:lnTo>
                  <a:pt x="3536936" y="5910"/>
                </a:lnTo>
                <a:lnTo>
                  <a:pt x="3536936" y="0"/>
                </a:lnTo>
                <a:close/>
              </a:path>
              <a:path w="3536950" h="2439035">
                <a:moveTo>
                  <a:pt x="59107" y="2379794"/>
                </a:moveTo>
                <a:lnTo>
                  <a:pt x="35464" y="2379794"/>
                </a:lnTo>
                <a:lnTo>
                  <a:pt x="35464" y="2385705"/>
                </a:lnTo>
                <a:lnTo>
                  <a:pt x="56151" y="2385705"/>
                </a:lnTo>
                <a:lnTo>
                  <a:pt x="59107" y="2379794"/>
                </a:lnTo>
                <a:close/>
              </a:path>
              <a:path w="3536950" h="2439035">
                <a:moveTo>
                  <a:pt x="3525114" y="5910"/>
                </a:moveTo>
                <a:lnTo>
                  <a:pt x="3525114" y="1156895"/>
                </a:lnTo>
                <a:lnTo>
                  <a:pt x="3536936" y="1156895"/>
                </a:lnTo>
                <a:lnTo>
                  <a:pt x="3536936" y="11821"/>
                </a:lnTo>
                <a:lnTo>
                  <a:pt x="3531025" y="11821"/>
                </a:lnTo>
                <a:lnTo>
                  <a:pt x="3525114" y="5910"/>
                </a:lnTo>
                <a:close/>
              </a:path>
              <a:path w="3536950" h="2439035">
                <a:moveTo>
                  <a:pt x="35464" y="5910"/>
                </a:moveTo>
                <a:lnTo>
                  <a:pt x="29554" y="11821"/>
                </a:lnTo>
                <a:lnTo>
                  <a:pt x="35464" y="11821"/>
                </a:lnTo>
                <a:lnTo>
                  <a:pt x="35464" y="5910"/>
                </a:lnTo>
                <a:close/>
              </a:path>
              <a:path w="3536950" h="2439035">
                <a:moveTo>
                  <a:pt x="3525114" y="5910"/>
                </a:moveTo>
                <a:lnTo>
                  <a:pt x="35464" y="5910"/>
                </a:lnTo>
                <a:lnTo>
                  <a:pt x="35464" y="11821"/>
                </a:lnTo>
                <a:lnTo>
                  <a:pt x="3525114" y="11821"/>
                </a:lnTo>
                <a:lnTo>
                  <a:pt x="3525114" y="5910"/>
                </a:lnTo>
                <a:close/>
              </a:path>
              <a:path w="3536950" h="2439035">
                <a:moveTo>
                  <a:pt x="3536936" y="5910"/>
                </a:moveTo>
                <a:lnTo>
                  <a:pt x="3525114" y="5910"/>
                </a:lnTo>
                <a:lnTo>
                  <a:pt x="3531025" y="11821"/>
                </a:lnTo>
                <a:lnTo>
                  <a:pt x="3536936" y="11821"/>
                </a:lnTo>
                <a:lnTo>
                  <a:pt x="3536936" y="591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2712445" y="5877212"/>
            <a:ext cx="1155700" cy="252729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450" spc="0">
                <a:solidFill>
                  <a:srgbClr val="4472C4"/>
                </a:solidFill>
                <a:latin typeface="Calibri"/>
                <a:cs typeface="Calibri"/>
              </a:rPr>
              <a:t>Policy</a:t>
            </a:r>
            <a:r>
              <a:rPr dirty="0" sz="1450" spc="-3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dirty="0" sz="1450" spc="0">
                <a:solidFill>
                  <a:srgbClr val="4472C4"/>
                </a:solidFill>
                <a:latin typeface="Calibri"/>
                <a:cs typeface="Calibri"/>
              </a:rPr>
              <a:t>gradient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78617" y="4364928"/>
            <a:ext cx="541020" cy="59690"/>
          </a:xfrm>
          <a:custGeom>
            <a:avLst/>
            <a:gdLst/>
            <a:ahLst/>
            <a:cxnLst/>
            <a:rect l="l" t="t" r="r" b="b"/>
            <a:pathLst>
              <a:path w="541019" h="59689">
                <a:moveTo>
                  <a:pt x="481321" y="35464"/>
                </a:moveTo>
                <a:lnTo>
                  <a:pt x="481321" y="59107"/>
                </a:lnTo>
                <a:lnTo>
                  <a:pt x="528606" y="35464"/>
                </a:lnTo>
                <a:lnTo>
                  <a:pt x="481321" y="35464"/>
                </a:lnTo>
                <a:close/>
              </a:path>
              <a:path w="541019" h="59689">
                <a:moveTo>
                  <a:pt x="481321" y="0"/>
                </a:moveTo>
                <a:lnTo>
                  <a:pt x="481321" y="35464"/>
                </a:lnTo>
                <a:lnTo>
                  <a:pt x="487232" y="35464"/>
                </a:lnTo>
                <a:lnTo>
                  <a:pt x="487232" y="23642"/>
                </a:lnTo>
                <a:lnTo>
                  <a:pt x="528608" y="23642"/>
                </a:lnTo>
                <a:lnTo>
                  <a:pt x="481321" y="0"/>
                </a:lnTo>
                <a:close/>
              </a:path>
              <a:path w="541019" h="59689">
                <a:moveTo>
                  <a:pt x="528608" y="23642"/>
                </a:moveTo>
                <a:lnTo>
                  <a:pt x="487232" y="23642"/>
                </a:lnTo>
                <a:lnTo>
                  <a:pt x="487232" y="35464"/>
                </a:lnTo>
                <a:lnTo>
                  <a:pt x="528608" y="35463"/>
                </a:lnTo>
                <a:lnTo>
                  <a:pt x="540429" y="29552"/>
                </a:lnTo>
                <a:lnTo>
                  <a:pt x="528608" y="23642"/>
                </a:lnTo>
                <a:close/>
              </a:path>
              <a:path w="541019" h="59689">
                <a:moveTo>
                  <a:pt x="481321" y="23642"/>
                </a:moveTo>
                <a:lnTo>
                  <a:pt x="0" y="23642"/>
                </a:lnTo>
                <a:lnTo>
                  <a:pt x="0" y="35463"/>
                </a:lnTo>
                <a:lnTo>
                  <a:pt x="481321" y="35464"/>
                </a:lnTo>
                <a:lnTo>
                  <a:pt x="481321" y="236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900118" y="3707268"/>
            <a:ext cx="1149985" cy="547370"/>
          </a:xfrm>
          <a:custGeom>
            <a:avLst/>
            <a:gdLst/>
            <a:ahLst/>
            <a:cxnLst/>
            <a:rect l="l" t="t" r="r" b="b"/>
            <a:pathLst>
              <a:path w="1149985" h="547370">
                <a:moveTo>
                  <a:pt x="1093769" y="21391"/>
                </a:moveTo>
                <a:lnTo>
                  <a:pt x="0" y="536338"/>
                </a:lnTo>
                <a:lnTo>
                  <a:pt x="5035" y="547034"/>
                </a:lnTo>
                <a:lnTo>
                  <a:pt x="1098805" y="32086"/>
                </a:lnTo>
                <a:lnTo>
                  <a:pt x="1093769" y="21391"/>
                </a:lnTo>
                <a:close/>
              </a:path>
              <a:path w="1149985" h="547370">
                <a:moveTo>
                  <a:pt x="1136129" y="18873"/>
                </a:moveTo>
                <a:lnTo>
                  <a:pt x="1099117" y="18873"/>
                </a:lnTo>
                <a:lnTo>
                  <a:pt x="1104151" y="29569"/>
                </a:lnTo>
                <a:lnTo>
                  <a:pt x="1098805" y="32086"/>
                </a:lnTo>
                <a:lnTo>
                  <a:pt x="1108876" y="53477"/>
                </a:lnTo>
                <a:lnTo>
                  <a:pt x="1136129" y="18873"/>
                </a:lnTo>
                <a:close/>
              </a:path>
              <a:path w="1149985" h="547370">
                <a:moveTo>
                  <a:pt x="1099117" y="18873"/>
                </a:moveTo>
                <a:lnTo>
                  <a:pt x="1093769" y="21391"/>
                </a:lnTo>
                <a:lnTo>
                  <a:pt x="1098805" y="32086"/>
                </a:lnTo>
                <a:lnTo>
                  <a:pt x="1104151" y="29569"/>
                </a:lnTo>
                <a:lnTo>
                  <a:pt x="1099117" y="18873"/>
                </a:lnTo>
                <a:close/>
              </a:path>
              <a:path w="1149985" h="547370">
                <a:moveTo>
                  <a:pt x="1083698" y="0"/>
                </a:moveTo>
                <a:lnTo>
                  <a:pt x="1093769" y="21391"/>
                </a:lnTo>
                <a:lnTo>
                  <a:pt x="1099117" y="18873"/>
                </a:lnTo>
                <a:lnTo>
                  <a:pt x="1136129" y="18873"/>
                </a:lnTo>
                <a:lnTo>
                  <a:pt x="1149765" y="1560"/>
                </a:lnTo>
                <a:lnTo>
                  <a:pt x="10836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899347" y="4442767"/>
            <a:ext cx="1150620" cy="772795"/>
          </a:xfrm>
          <a:custGeom>
            <a:avLst/>
            <a:gdLst/>
            <a:ahLst/>
            <a:cxnLst/>
            <a:rect l="l" t="t" r="r" b="b"/>
            <a:pathLst>
              <a:path w="1150620" h="772795">
                <a:moveTo>
                  <a:pt x="1097612" y="744693"/>
                </a:moveTo>
                <a:lnTo>
                  <a:pt x="1084459" y="764339"/>
                </a:lnTo>
                <a:lnTo>
                  <a:pt x="1150016" y="772665"/>
                </a:lnTo>
                <a:lnTo>
                  <a:pt x="1135976" y="747981"/>
                </a:lnTo>
                <a:lnTo>
                  <a:pt x="1102523" y="747981"/>
                </a:lnTo>
                <a:lnTo>
                  <a:pt x="1097612" y="744693"/>
                </a:lnTo>
                <a:close/>
              </a:path>
              <a:path w="1150620" h="772795">
                <a:moveTo>
                  <a:pt x="1104189" y="734869"/>
                </a:moveTo>
                <a:lnTo>
                  <a:pt x="1097612" y="744693"/>
                </a:lnTo>
                <a:lnTo>
                  <a:pt x="1102523" y="747981"/>
                </a:lnTo>
                <a:lnTo>
                  <a:pt x="1109101" y="738158"/>
                </a:lnTo>
                <a:lnTo>
                  <a:pt x="1104189" y="734869"/>
                </a:lnTo>
                <a:close/>
              </a:path>
              <a:path w="1150620" h="772795">
                <a:moveTo>
                  <a:pt x="1117343" y="715223"/>
                </a:moveTo>
                <a:lnTo>
                  <a:pt x="1104189" y="734869"/>
                </a:lnTo>
                <a:lnTo>
                  <a:pt x="1109101" y="738158"/>
                </a:lnTo>
                <a:lnTo>
                  <a:pt x="1102523" y="747981"/>
                </a:lnTo>
                <a:lnTo>
                  <a:pt x="1135976" y="747981"/>
                </a:lnTo>
                <a:lnTo>
                  <a:pt x="1117343" y="715223"/>
                </a:lnTo>
                <a:close/>
              </a:path>
              <a:path w="1150620" h="772795">
                <a:moveTo>
                  <a:pt x="6576" y="0"/>
                </a:moveTo>
                <a:lnTo>
                  <a:pt x="0" y="9823"/>
                </a:lnTo>
                <a:lnTo>
                  <a:pt x="1097612" y="744693"/>
                </a:lnTo>
                <a:lnTo>
                  <a:pt x="1104189" y="734869"/>
                </a:lnTo>
                <a:lnTo>
                  <a:pt x="65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386245" y="3413290"/>
            <a:ext cx="130175" cy="124460"/>
          </a:xfrm>
          <a:custGeom>
            <a:avLst/>
            <a:gdLst/>
            <a:ahLst/>
            <a:cxnLst/>
            <a:rect l="l" t="t" r="r" b="b"/>
            <a:pathLst>
              <a:path w="130175" h="124460">
                <a:moveTo>
                  <a:pt x="0" y="62063"/>
                </a:moveTo>
                <a:lnTo>
                  <a:pt x="5109" y="37905"/>
                </a:lnTo>
                <a:lnTo>
                  <a:pt x="19043" y="18177"/>
                </a:lnTo>
                <a:lnTo>
                  <a:pt x="39710" y="4877"/>
                </a:lnTo>
                <a:lnTo>
                  <a:pt x="65018" y="0"/>
                </a:lnTo>
                <a:lnTo>
                  <a:pt x="90326" y="4877"/>
                </a:lnTo>
                <a:lnTo>
                  <a:pt x="110993" y="18177"/>
                </a:lnTo>
                <a:lnTo>
                  <a:pt x="124927" y="37905"/>
                </a:lnTo>
                <a:lnTo>
                  <a:pt x="130037" y="62063"/>
                </a:lnTo>
                <a:lnTo>
                  <a:pt x="124927" y="86221"/>
                </a:lnTo>
                <a:lnTo>
                  <a:pt x="110993" y="105948"/>
                </a:lnTo>
                <a:lnTo>
                  <a:pt x="90326" y="119249"/>
                </a:lnTo>
                <a:lnTo>
                  <a:pt x="65018" y="124126"/>
                </a:lnTo>
                <a:lnTo>
                  <a:pt x="39710" y="119249"/>
                </a:lnTo>
                <a:lnTo>
                  <a:pt x="19043" y="105948"/>
                </a:lnTo>
                <a:lnTo>
                  <a:pt x="5109" y="86221"/>
                </a:lnTo>
                <a:lnTo>
                  <a:pt x="0" y="62063"/>
                </a:lnTo>
                <a:close/>
              </a:path>
            </a:pathLst>
          </a:custGeom>
          <a:ln w="118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711338" y="3413290"/>
            <a:ext cx="130175" cy="124460"/>
          </a:xfrm>
          <a:custGeom>
            <a:avLst/>
            <a:gdLst/>
            <a:ahLst/>
            <a:cxnLst/>
            <a:rect l="l" t="t" r="r" b="b"/>
            <a:pathLst>
              <a:path w="130175" h="124460">
                <a:moveTo>
                  <a:pt x="0" y="62063"/>
                </a:moveTo>
                <a:lnTo>
                  <a:pt x="5109" y="37905"/>
                </a:lnTo>
                <a:lnTo>
                  <a:pt x="19043" y="18177"/>
                </a:lnTo>
                <a:lnTo>
                  <a:pt x="39710" y="4877"/>
                </a:lnTo>
                <a:lnTo>
                  <a:pt x="65018" y="0"/>
                </a:lnTo>
                <a:lnTo>
                  <a:pt x="90326" y="4877"/>
                </a:lnTo>
                <a:lnTo>
                  <a:pt x="110993" y="18177"/>
                </a:lnTo>
                <a:lnTo>
                  <a:pt x="124927" y="37905"/>
                </a:lnTo>
                <a:lnTo>
                  <a:pt x="130037" y="62063"/>
                </a:lnTo>
                <a:lnTo>
                  <a:pt x="124927" y="86221"/>
                </a:lnTo>
                <a:lnTo>
                  <a:pt x="110993" y="105948"/>
                </a:lnTo>
                <a:lnTo>
                  <a:pt x="90326" y="119249"/>
                </a:lnTo>
                <a:lnTo>
                  <a:pt x="65018" y="124126"/>
                </a:lnTo>
                <a:lnTo>
                  <a:pt x="39710" y="119249"/>
                </a:lnTo>
                <a:lnTo>
                  <a:pt x="19043" y="105948"/>
                </a:lnTo>
                <a:lnTo>
                  <a:pt x="5109" y="86221"/>
                </a:lnTo>
                <a:lnTo>
                  <a:pt x="0" y="62063"/>
                </a:lnTo>
                <a:close/>
              </a:path>
            </a:pathLst>
          </a:custGeom>
          <a:ln w="118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3262669" y="3028209"/>
            <a:ext cx="760730" cy="52006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algn="ctr" marL="12700" marR="5080" indent="-25400">
              <a:lnSpc>
                <a:spcPct val="74600"/>
              </a:lnSpc>
              <a:spcBef>
                <a:spcPts val="500"/>
              </a:spcBef>
            </a:pPr>
            <a:r>
              <a:rPr dirty="0" sz="1300" spc="-10">
                <a:latin typeface="Calibri"/>
                <a:cs typeface="Calibri"/>
              </a:rPr>
              <a:t>Generated  graph</a:t>
            </a:r>
            <a:r>
              <a:rPr dirty="0" sz="1300" spc="-70">
                <a:latin typeface="Calibri"/>
                <a:cs typeface="Calibri"/>
              </a:rPr>
              <a:t> </a:t>
            </a:r>
            <a:r>
              <a:rPr dirty="0" sz="1300" spc="175">
                <a:latin typeface="Cambria Math"/>
                <a:cs typeface="Cambria Math"/>
              </a:rPr>
              <a:t>!</a:t>
            </a:r>
            <a:r>
              <a:rPr dirty="0" baseline="-15432" sz="1350" spc="262">
                <a:latin typeface="Cambria Math"/>
                <a:cs typeface="Cambria Math"/>
              </a:rPr>
              <a:t>"#$</a:t>
            </a:r>
            <a:endParaRPr baseline="-15432" sz="1350">
              <a:latin typeface="Cambria Math"/>
              <a:cs typeface="Cambria Math"/>
            </a:endParaRPr>
          </a:p>
          <a:p>
            <a:pPr algn="ctr" marR="41275">
              <a:lnSpc>
                <a:spcPct val="100000"/>
              </a:lnSpc>
              <a:spcBef>
                <a:spcPts val="195"/>
              </a:spcBef>
              <a:tabLst>
                <a:tab pos="319405" algn="l"/>
              </a:tabLst>
            </a:pPr>
            <a:r>
              <a:rPr dirty="0" sz="800" spc="15">
                <a:latin typeface="Calibri"/>
                <a:cs typeface="Calibri"/>
              </a:rPr>
              <a:t>C	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3392156" y="3927529"/>
            <a:ext cx="130175" cy="130175"/>
          </a:xfrm>
          <a:custGeom>
            <a:avLst/>
            <a:gdLst/>
            <a:ahLst/>
            <a:cxnLst/>
            <a:rect l="l" t="t" r="r" b="b"/>
            <a:pathLst>
              <a:path w="130175" h="130175">
                <a:moveTo>
                  <a:pt x="0" y="65018"/>
                </a:moveTo>
                <a:lnTo>
                  <a:pt x="5109" y="39710"/>
                </a:lnTo>
                <a:lnTo>
                  <a:pt x="19043" y="19043"/>
                </a:lnTo>
                <a:lnTo>
                  <a:pt x="39710" y="5109"/>
                </a:lnTo>
                <a:lnTo>
                  <a:pt x="65018" y="0"/>
                </a:lnTo>
                <a:lnTo>
                  <a:pt x="90326" y="5109"/>
                </a:lnTo>
                <a:lnTo>
                  <a:pt x="110993" y="19043"/>
                </a:lnTo>
                <a:lnTo>
                  <a:pt x="124927" y="39710"/>
                </a:lnTo>
                <a:lnTo>
                  <a:pt x="130037" y="65018"/>
                </a:lnTo>
                <a:lnTo>
                  <a:pt x="124927" y="90326"/>
                </a:lnTo>
                <a:lnTo>
                  <a:pt x="110993" y="110993"/>
                </a:lnTo>
                <a:lnTo>
                  <a:pt x="90326" y="124928"/>
                </a:lnTo>
                <a:lnTo>
                  <a:pt x="65018" y="130037"/>
                </a:lnTo>
                <a:lnTo>
                  <a:pt x="39710" y="124928"/>
                </a:lnTo>
                <a:lnTo>
                  <a:pt x="19043" y="110993"/>
                </a:lnTo>
                <a:lnTo>
                  <a:pt x="5109" y="90326"/>
                </a:lnTo>
                <a:lnTo>
                  <a:pt x="0" y="65018"/>
                </a:lnTo>
                <a:close/>
              </a:path>
            </a:pathLst>
          </a:custGeom>
          <a:ln w="118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3415715" y="3908917"/>
            <a:ext cx="82550" cy="153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15">
                <a:latin typeface="Calibri"/>
                <a:cs typeface="Calibri"/>
              </a:rPr>
              <a:t>C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3214832" y="3673364"/>
            <a:ext cx="124460" cy="130175"/>
          </a:xfrm>
          <a:custGeom>
            <a:avLst/>
            <a:gdLst/>
            <a:ahLst/>
            <a:cxnLst/>
            <a:rect l="l" t="t" r="r" b="b"/>
            <a:pathLst>
              <a:path w="124460" h="130175">
                <a:moveTo>
                  <a:pt x="0" y="65018"/>
                </a:moveTo>
                <a:lnTo>
                  <a:pt x="4877" y="39710"/>
                </a:lnTo>
                <a:lnTo>
                  <a:pt x="18177" y="19043"/>
                </a:lnTo>
                <a:lnTo>
                  <a:pt x="37905" y="5109"/>
                </a:lnTo>
                <a:lnTo>
                  <a:pt x="62063" y="0"/>
                </a:lnTo>
                <a:lnTo>
                  <a:pt x="86221" y="5109"/>
                </a:lnTo>
                <a:lnTo>
                  <a:pt x="105948" y="19043"/>
                </a:lnTo>
                <a:lnTo>
                  <a:pt x="119249" y="39710"/>
                </a:lnTo>
                <a:lnTo>
                  <a:pt x="124126" y="65018"/>
                </a:lnTo>
                <a:lnTo>
                  <a:pt x="119249" y="90326"/>
                </a:lnTo>
                <a:lnTo>
                  <a:pt x="105948" y="110993"/>
                </a:lnTo>
                <a:lnTo>
                  <a:pt x="86221" y="124928"/>
                </a:lnTo>
                <a:lnTo>
                  <a:pt x="62063" y="130037"/>
                </a:lnTo>
                <a:lnTo>
                  <a:pt x="37905" y="124928"/>
                </a:lnTo>
                <a:lnTo>
                  <a:pt x="18177" y="110993"/>
                </a:lnTo>
                <a:lnTo>
                  <a:pt x="4877" y="90326"/>
                </a:lnTo>
                <a:lnTo>
                  <a:pt x="0" y="65018"/>
                </a:lnTo>
                <a:close/>
              </a:path>
            </a:pathLst>
          </a:custGeom>
          <a:ln w="118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3234697" y="3654754"/>
            <a:ext cx="82550" cy="153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15">
                <a:latin typeface="Calibri"/>
                <a:cs typeface="Calibri"/>
              </a:rPr>
              <a:t>C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3522193" y="3478309"/>
            <a:ext cx="191770" cy="0"/>
          </a:xfrm>
          <a:custGeom>
            <a:avLst/>
            <a:gdLst/>
            <a:ahLst/>
            <a:cxnLst/>
            <a:rect l="l" t="t" r="r" b="b"/>
            <a:pathLst>
              <a:path w="191770" h="0">
                <a:moveTo>
                  <a:pt x="0" y="0"/>
                </a:moveTo>
                <a:lnTo>
                  <a:pt x="191509" y="0"/>
                </a:lnTo>
              </a:path>
            </a:pathLst>
          </a:custGeom>
          <a:ln w="118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300173" y="3514940"/>
            <a:ext cx="119380" cy="179705"/>
          </a:xfrm>
          <a:custGeom>
            <a:avLst/>
            <a:gdLst/>
            <a:ahLst/>
            <a:cxnLst/>
            <a:rect l="l" t="t" r="r" b="b"/>
            <a:pathLst>
              <a:path w="119379" h="179704">
                <a:moveTo>
                  <a:pt x="111112" y="8867"/>
                </a:moveTo>
                <a:lnTo>
                  <a:pt x="15356" y="174717"/>
                </a:lnTo>
                <a:lnTo>
                  <a:pt x="23033" y="179151"/>
                </a:lnTo>
                <a:lnTo>
                  <a:pt x="118789" y="13299"/>
                </a:lnTo>
                <a:lnTo>
                  <a:pt x="111112" y="8867"/>
                </a:lnTo>
                <a:close/>
              </a:path>
              <a:path w="119379" h="179704">
                <a:moveTo>
                  <a:pt x="95755" y="0"/>
                </a:moveTo>
                <a:lnTo>
                  <a:pt x="0" y="165851"/>
                </a:lnTo>
                <a:lnTo>
                  <a:pt x="7678" y="170285"/>
                </a:lnTo>
                <a:lnTo>
                  <a:pt x="103432" y="4433"/>
                </a:lnTo>
                <a:lnTo>
                  <a:pt x="957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306611" y="3797376"/>
            <a:ext cx="95885" cy="166370"/>
          </a:xfrm>
          <a:custGeom>
            <a:avLst/>
            <a:gdLst/>
            <a:ahLst/>
            <a:cxnLst/>
            <a:rect l="l" t="t" r="r" b="b"/>
            <a:pathLst>
              <a:path w="95885" h="166370">
                <a:moveTo>
                  <a:pt x="0" y="0"/>
                </a:moveTo>
                <a:lnTo>
                  <a:pt x="95754" y="165852"/>
                </a:lnTo>
              </a:path>
            </a:pathLst>
          </a:custGeom>
          <a:ln w="88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48096" y="4087120"/>
            <a:ext cx="130175" cy="130175"/>
          </a:xfrm>
          <a:custGeom>
            <a:avLst/>
            <a:gdLst/>
            <a:ahLst/>
            <a:cxnLst/>
            <a:rect l="l" t="t" r="r" b="b"/>
            <a:pathLst>
              <a:path w="130175" h="130175">
                <a:moveTo>
                  <a:pt x="0" y="65018"/>
                </a:moveTo>
                <a:lnTo>
                  <a:pt x="5109" y="39710"/>
                </a:lnTo>
                <a:lnTo>
                  <a:pt x="19043" y="19043"/>
                </a:lnTo>
                <a:lnTo>
                  <a:pt x="39710" y="5109"/>
                </a:lnTo>
                <a:lnTo>
                  <a:pt x="65018" y="0"/>
                </a:lnTo>
                <a:lnTo>
                  <a:pt x="90326" y="5109"/>
                </a:lnTo>
                <a:lnTo>
                  <a:pt x="110993" y="19043"/>
                </a:lnTo>
                <a:lnTo>
                  <a:pt x="124927" y="39710"/>
                </a:lnTo>
                <a:lnTo>
                  <a:pt x="130037" y="65018"/>
                </a:lnTo>
                <a:lnTo>
                  <a:pt x="124927" y="90326"/>
                </a:lnTo>
                <a:lnTo>
                  <a:pt x="110993" y="110993"/>
                </a:lnTo>
                <a:lnTo>
                  <a:pt x="90326" y="124928"/>
                </a:lnTo>
                <a:lnTo>
                  <a:pt x="65018" y="130037"/>
                </a:lnTo>
                <a:lnTo>
                  <a:pt x="39710" y="124928"/>
                </a:lnTo>
                <a:lnTo>
                  <a:pt x="19043" y="110993"/>
                </a:lnTo>
                <a:lnTo>
                  <a:pt x="5109" y="90326"/>
                </a:lnTo>
                <a:lnTo>
                  <a:pt x="0" y="65018"/>
                </a:lnTo>
                <a:close/>
              </a:path>
            </a:pathLst>
          </a:custGeom>
          <a:ln w="118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165050" y="3719772"/>
            <a:ext cx="626745" cy="5022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latin typeface="Calibri"/>
                <a:cs typeface="Calibri"/>
              </a:rPr>
              <a:t>Graph</a:t>
            </a:r>
            <a:r>
              <a:rPr dirty="0" sz="1300" spc="-75">
                <a:latin typeface="Calibri"/>
                <a:cs typeface="Calibri"/>
              </a:rPr>
              <a:t> </a:t>
            </a:r>
            <a:r>
              <a:rPr dirty="0" sz="1300" spc="225">
                <a:latin typeface="Cambria Math"/>
                <a:cs typeface="Cambria Math"/>
              </a:rPr>
              <a:t>!</a:t>
            </a:r>
            <a:r>
              <a:rPr dirty="0" baseline="-18518" sz="1350" spc="337">
                <a:latin typeface="Cambria Math"/>
                <a:cs typeface="Cambria Math"/>
              </a:rPr>
              <a:t>"</a:t>
            </a:r>
            <a:endParaRPr baseline="-18518" sz="1350">
              <a:latin typeface="Cambria Math"/>
              <a:cs typeface="Cambria Math"/>
            </a:endParaRPr>
          </a:p>
          <a:p>
            <a:pPr algn="ctr" marR="125095">
              <a:lnSpc>
                <a:spcPct val="100000"/>
              </a:lnSpc>
              <a:spcBef>
                <a:spcPts val="1215"/>
              </a:spcBef>
            </a:pPr>
            <a:r>
              <a:rPr dirty="0" sz="800" spc="15">
                <a:latin typeface="Calibri"/>
                <a:cs typeface="Calibri"/>
              </a:rPr>
              <a:t>C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354007" y="4607270"/>
            <a:ext cx="124460" cy="124460"/>
          </a:xfrm>
          <a:custGeom>
            <a:avLst/>
            <a:gdLst/>
            <a:ahLst/>
            <a:cxnLst/>
            <a:rect l="l" t="t" r="r" b="b"/>
            <a:pathLst>
              <a:path w="124459" h="124460">
                <a:moveTo>
                  <a:pt x="0" y="62063"/>
                </a:moveTo>
                <a:lnTo>
                  <a:pt x="4877" y="37905"/>
                </a:lnTo>
                <a:lnTo>
                  <a:pt x="18177" y="18177"/>
                </a:lnTo>
                <a:lnTo>
                  <a:pt x="37905" y="4877"/>
                </a:lnTo>
                <a:lnTo>
                  <a:pt x="62063" y="0"/>
                </a:lnTo>
                <a:lnTo>
                  <a:pt x="86221" y="4877"/>
                </a:lnTo>
                <a:lnTo>
                  <a:pt x="105948" y="18177"/>
                </a:lnTo>
                <a:lnTo>
                  <a:pt x="119249" y="37905"/>
                </a:lnTo>
                <a:lnTo>
                  <a:pt x="124126" y="62063"/>
                </a:lnTo>
                <a:lnTo>
                  <a:pt x="119249" y="86221"/>
                </a:lnTo>
                <a:lnTo>
                  <a:pt x="105948" y="105948"/>
                </a:lnTo>
                <a:lnTo>
                  <a:pt x="86221" y="119249"/>
                </a:lnTo>
                <a:lnTo>
                  <a:pt x="62063" y="124126"/>
                </a:lnTo>
                <a:lnTo>
                  <a:pt x="37905" y="119249"/>
                </a:lnTo>
                <a:lnTo>
                  <a:pt x="18177" y="105948"/>
                </a:lnTo>
                <a:lnTo>
                  <a:pt x="4877" y="86221"/>
                </a:lnTo>
                <a:lnTo>
                  <a:pt x="0" y="62063"/>
                </a:lnTo>
                <a:close/>
              </a:path>
            </a:pathLst>
          </a:custGeom>
          <a:ln w="118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375049" y="4588658"/>
            <a:ext cx="82550" cy="153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15">
                <a:latin typeface="Calibri"/>
                <a:cs typeface="Calibri"/>
              </a:rPr>
              <a:t>C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170772" y="4353106"/>
            <a:ext cx="130175" cy="124460"/>
          </a:xfrm>
          <a:custGeom>
            <a:avLst/>
            <a:gdLst/>
            <a:ahLst/>
            <a:cxnLst/>
            <a:rect l="l" t="t" r="r" b="b"/>
            <a:pathLst>
              <a:path w="130175" h="124460">
                <a:moveTo>
                  <a:pt x="0" y="62063"/>
                </a:moveTo>
                <a:lnTo>
                  <a:pt x="5109" y="37905"/>
                </a:lnTo>
                <a:lnTo>
                  <a:pt x="19043" y="18177"/>
                </a:lnTo>
                <a:lnTo>
                  <a:pt x="39710" y="4877"/>
                </a:lnTo>
                <a:lnTo>
                  <a:pt x="65018" y="0"/>
                </a:lnTo>
                <a:lnTo>
                  <a:pt x="90326" y="4877"/>
                </a:lnTo>
                <a:lnTo>
                  <a:pt x="110993" y="18177"/>
                </a:lnTo>
                <a:lnTo>
                  <a:pt x="124927" y="37905"/>
                </a:lnTo>
                <a:lnTo>
                  <a:pt x="130037" y="62063"/>
                </a:lnTo>
                <a:lnTo>
                  <a:pt x="124927" y="86221"/>
                </a:lnTo>
                <a:lnTo>
                  <a:pt x="110993" y="105948"/>
                </a:lnTo>
                <a:lnTo>
                  <a:pt x="90326" y="119249"/>
                </a:lnTo>
                <a:lnTo>
                  <a:pt x="65018" y="124126"/>
                </a:lnTo>
                <a:lnTo>
                  <a:pt x="39710" y="119249"/>
                </a:lnTo>
                <a:lnTo>
                  <a:pt x="19043" y="105948"/>
                </a:lnTo>
                <a:lnTo>
                  <a:pt x="5109" y="86221"/>
                </a:lnTo>
                <a:lnTo>
                  <a:pt x="0" y="62063"/>
                </a:lnTo>
                <a:close/>
              </a:path>
            </a:pathLst>
          </a:custGeom>
          <a:ln w="118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194029" y="4334494"/>
            <a:ext cx="82550" cy="153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15">
                <a:latin typeface="Calibri"/>
                <a:cs typeface="Calibri"/>
              </a:rPr>
              <a:t>C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259506" y="4191312"/>
            <a:ext cx="119380" cy="179705"/>
          </a:xfrm>
          <a:custGeom>
            <a:avLst/>
            <a:gdLst/>
            <a:ahLst/>
            <a:cxnLst/>
            <a:rect l="l" t="t" r="r" b="b"/>
            <a:pathLst>
              <a:path w="119379" h="179704">
                <a:moveTo>
                  <a:pt x="111111" y="8865"/>
                </a:moveTo>
                <a:lnTo>
                  <a:pt x="15356" y="174717"/>
                </a:lnTo>
                <a:lnTo>
                  <a:pt x="23035" y="179151"/>
                </a:lnTo>
                <a:lnTo>
                  <a:pt x="118790" y="13298"/>
                </a:lnTo>
                <a:lnTo>
                  <a:pt x="111111" y="8865"/>
                </a:lnTo>
                <a:close/>
              </a:path>
              <a:path w="119379" h="179704">
                <a:moveTo>
                  <a:pt x="95755" y="0"/>
                </a:moveTo>
                <a:lnTo>
                  <a:pt x="0" y="165851"/>
                </a:lnTo>
                <a:lnTo>
                  <a:pt x="7678" y="170284"/>
                </a:lnTo>
                <a:lnTo>
                  <a:pt x="103433" y="4432"/>
                </a:lnTo>
                <a:lnTo>
                  <a:pt x="957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65944" y="4473746"/>
            <a:ext cx="95885" cy="166370"/>
          </a:xfrm>
          <a:custGeom>
            <a:avLst/>
            <a:gdLst/>
            <a:ahLst/>
            <a:cxnLst/>
            <a:rect l="l" t="t" r="r" b="b"/>
            <a:pathLst>
              <a:path w="95885" h="166370">
                <a:moveTo>
                  <a:pt x="0" y="0"/>
                </a:moveTo>
                <a:lnTo>
                  <a:pt x="95754" y="165852"/>
                </a:lnTo>
              </a:path>
            </a:pathLst>
          </a:custGeom>
          <a:ln w="88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3386245" y="2231130"/>
            <a:ext cx="130175" cy="130175"/>
          </a:xfrm>
          <a:custGeom>
            <a:avLst/>
            <a:gdLst/>
            <a:ahLst/>
            <a:cxnLst/>
            <a:rect l="l" t="t" r="r" b="b"/>
            <a:pathLst>
              <a:path w="130175" h="130175">
                <a:moveTo>
                  <a:pt x="0" y="65018"/>
                </a:moveTo>
                <a:lnTo>
                  <a:pt x="5109" y="39710"/>
                </a:lnTo>
                <a:lnTo>
                  <a:pt x="19043" y="19043"/>
                </a:lnTo>
                <a:lnTo>
                  <a:pt x="39710" y="5109"/>
                </a:lnTo>
                <a:lnTo>
                  <a:pt x="65018" y="0"/>
                </a:lnTo>
                <a:lnTo>
                  <a:pt x="90326" y="5109"/>
                </a:lnTo>
                <a:lnTo>
                  <a:pt x="110993" y="19043"/>
                </a:lnTo>
                <a:lnTo>
                  <a:pt x="124927" y="39710"/>
                </a:lnTo>
                <a:lnTo>
                  <a:pt x="130037" y="65018"/>
                </a:lnTo>
                <a:lnTo>
                  <a:pt x="124927" y="90326"/>
                </a:lnTo>
                <a:lnTo>
                  <a:pt x="110993" y="110993"/>
                </a:lnTo>
                <a:lnTo>
                  <a:pt x="90326" y="124928"/>
                </a:lnTo>
                <a:lnTo>
                  <a:pt x="65018" y="130037"/>
                </a:lnTo>
                <a:lnTo>
                  <a:pt x="39710" y="124928"/>
                </a:lnTo>
                <a:lnTo>
                  <a:pt x="19043" y="110993"/>
                </a:lnTo>
                <a:lnTo>
                  <a:pt x="5109" y="90326"/>
                </a:lnTo>
                <a:lnTo>
                  <a:pt x="0" y="65018"/>
                </a:lnTo>
                <a:close/>
              </a:path>
            </a:pathLst>
          </a:custGeom>
          <a:ln w="11821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3711338" y="2231130"/>
            <a:ext cx="130175" cy="130175"/>
          </a:xfrm>
          <a:custGeom>
            <a:avLst/>
            <a:gdLst/>
            <a:ahLst/>
            <a:cxnLst/>
            <a:rect l="l" t="t" r="r" b="b"/>
            <a:pathLst>
              <a:path w="130175" h="130175">
                <a:moveTo>
                  <a:pt x="0" y="65018"/>
                </a:moveTo>
                <a:lnTo>
                  <a:pt x="5109" y="39710"/>
                </a:lnTo>
                <a:lnTo>
                  <a:pt x="19043" y="19043"/>
                </a:lnTo>
                <a:lnTo>
                  <a:pt x="39710" y="5109"/>
                </a:lnTo>
                <a:lnTo>
                  <a:pt x="65018" y="0"/>
                </a:lnTo>
                <a:lnTo>
                  <a:pt x="90326" y="5109"/>
                </a:lnTo>
                <a:lnTo>
                  <a:pt x="110993" y="19043"/>
                </a:lnTo>
                <a:lnTo>
                  <a:pt x="124927" y="39710"/>
                </a:lnTo>
                <a:lnTo>
                  <a:pt x="130037" y="65018"/>
                </a:lnTo>
                <a:lnTo>
                  <a:pt x="124927" y="90326"/>
                </a:lnTo>
                <a:lnTo>
                  <a:pt x="110993" y="110993"/>
                </a:lnTo>
                <a:lnTo>
                  <a:pt x="90326" y="124928"/>
                </a:lnTo>
                <a:lnTo>
                  <a:pt x="65018" y="130037"/>
                </a:lnTo>
                <a:lnTo>
                  <a:pt x="39710" y="124928"/>
                </a:lnTo>
                <a:lnTo>
                  <a:pt x="19043" y="110993"/>
                </a:lnTo>
                <a:lnTo>
                  <a:pt x="5109" y="90326"/>
                </a:lnTo>
                <a:lnTo>
                  <a:pt x="0" y="65018"/>
                </a:lnTo>
                <a:close/>
              </a:path>
            </a:pathLst>
          </a:custGeom>
          <a:ln w="11821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3411279" y="2212519"/>
            <a:ext cx="408305" cy="153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37820" algn="l"/>
              </a:tabLst>
            </a:pPr>
            <a:r>
              <a:rPr dirty="0" sz="800" spc="15">
                <a:solidFill>
                  <a:srgbClr val="A6A6A6"/>
                </a:solidFill>
                <a:latin typeface="Calibri"/>
                <a:cs typeface="Calibri"/>
              </a:rPr>
              <a:t>C</a:t>
            </a:r>
            <a:r>
              <a:rPr dirty="0" sz="800" spc="15">
                <a:solidFill>
                  <a:srgbClr val="A6A6A6"/>
                </a:solidFill>
                <a:latin typeface="Calibri"/>
                <a:cs typeface="Calibri"/>
              </a:rPr>
              <a:t>	</a:t>
            </a:r>
            <a:r>
              <a:rPr dirty="0" sz="800" spc="15">
                <a:solidFill>
                  <a:srgbClr val="A6A6A6"/>
                </a:solidFill>
                <a:latin typeface="Calibri"/>
                <a:cs typeface="Calibri"/>
              </a:rPr>
              <a:t>C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3392156" y="2751281"/>
            <a:ext cx="130175" cy="124460"/>
          </a:xfrm>
          <a:custGeom>
            <a:avLst/>
            <a:gdLst/>
            <a:ahLst/>
            <a:cxnLst/>
            <a:rect l="l" t="t" r="r" b="b"/>
            <a:pathLst>
              <a:path w="130175" h="124460">
                <a:moveTo>
                  <a:pt x="0" y="62063"/>
                </a:moveTo>
                <a:lnTo>
                  <a:pt x="5109" y="37905"/>
                </a:lnTo>
                <a:lnTo>
                  <a:pt x="19043" y="18177"/>
                </a:lnTo>
                <a:lnTo>
                  <a:pt x="39710" y="4877"/>
                </a:lnTo>
                <a:lnTo>
                  <a:pt x="65018" y="0"/>
                </a:lnTo>
                <a:lnTo>
                  <a:pt x="90326" y="4877"/>
                </a:lnTo>
                <a:lnTo>
                  <a:pt x="110993" y="18177"/>
                </a:lnTo>
                <a:lnTo>
                  <a:pt x="124927" y="37905"/>
                </a:lnTo>
                <a:lnTo>
                  <a:pt x="130037" y="62063"/>
                </a:lnTo>
                <a:lnTo>
                  <a:pt x="124927" y="86221"/>
                </a:lnTo>
                <a:lnTo>
                  <a:pt x="110993" y="105948"/>
                </a:lnTo>
                <a:lnTo>
                  <a:pt x="90326" y="119249"/>
                </a:lnTo>
                <a:lnTo>
                  <a:pt x="65018" y="124126"/>
                </a:lnTo>
                <a:lnTo>
                  <a:pt x="39710" y="119249"/>
                </a:lnTo>
                <a:lnTo>
                  <a:pt x="19043" y="105948"/>
                </a:lnTo>
                <a:lnTo>
                  <a:pt x="5109" y="86221"/>
                </a:lnTo>
                <a:lnTo>
                  <a:pt x="0" y="62063"/>
                </a:lnTo>
                <a:close/>
              </a:path>
            </a:pathLst>
          </a:custGeom>
          <a:ln w="11821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3415715" y="2732669"/>
            <a:ext cx="82550" cy="153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15">
                <a:solidFill>
                  <a:srgbClr val="A6A6A6"/>
                </a:solidFill>
                <a:latin typeface="Calibri"/>
                <a:cs typeface="Calibri"/>
              </a:rPr>
              <a:t>C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3214832" y="2497117"/>
            <a:ext cx="124460" cy="124460"/>
          </a:xfrm>
          <a:custGeom>
            <a:avLst/>
            <a:gdLst/>
            <a:ahLst/>
            <a:cxnLst/>
            <a:rect l="l" t="t" r="r" b="b"/>
            <a:pathLst>
              <a:path w="124460" h="124460">
                <a:moveTo>
                  <a:pt x="0" y="62063"/>
                </a:moveTo>
                <a:lnTo>
                  <a:pt x="4877" y="37905"/>
                </a:lnTo>
                <a:lnTo>
                  <a:pt x="18177" y="18177"/>
                </a:lnTo>
                <a:lnTo>
                  <a:pt x="37905" y="4877"/>
                </a:lnTo>
                <a:lnTo>
                  <a:pt x="62063" y="0"/>
                </a:lnTo>
                <a:lnTo>
                  <a:pt x="86221" y="4877"/>
                </a:lnTo>
                <a:lnTo>
                  <a:pt x="105948" y="18177"/>
                </a:lnTo>
                <a:lnTo>
                  <a:pt x="119249" y="37905"/>
                </a:lnTo>
                <a:lnTo>
                  <a:pt x="124126" y="62063"/>
                </a:lnTo>
                <a:lnTo>
                  <a:pt x="119249" y="86221"/>
                </a:lnTo>
                <a:lnTo>
                  <a:pt x="105948" y="105948"/>
                </a:lnTo>
                <a:lnTo>
                  <a:pt x="86221" y="119249"/>
                </a:lnTo>
                <a:lnTo>
                  <a:pt x="62063" y="124126"/>
                </a:lnTo>
                <a:lnTo>
                  <a:pt x="37905" y="119249"/>
                </a:lnTo>
                <a:lnTo>
                  <a:pt x="18177" y="105948"/>
                </a:lnTo>
                <a:lnTo>
                  <a:pt x="4877" y="86221"/>
                </a:lnTo>
                <a:lnTo>
                  <a:pt x="0" y="62063"/>
                </a:lnTo>
                <a:close/>
              </a:path>
            </a:pathLst>
          </a:custGeom>
          <a:ln w="11821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3234697" y="2478505"/>
            <a:ext cx="82550" cy="153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15">
                <a:solidFill>
                  <a:srgbClr val="A6A6A6"/>
                </a:solidFill>
                <a:latin typeface="Calibri"/>
                <a:cs typeface="Calibri"/>
              </a:rPr>
              <a:t>C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3522193" y="2296149"/>
            <a:ext cx="191770" cy="0"/>
          </a:xfrm>
          <a:custGeom>
            <a:avLst/>
            <a:gdLst/>
            <a:ahLst/>
            <a:cxnLst/>
            <a:rect l="l" t="t" r="r" b="b"/>
            <a:pathLst>
              <a:path w="191770" h="0">
                <a:moveTo>
                  <a:pt x="0" y="0"/>
                </a:moveTo>
                <a:lnTo>
                  <a:pt x="191509" y="0"/>
                </a:lnTo>
              </a:path>
            </a:pathLst>
          </a:custGeom>
          <a:ln w="11821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300173" y="2335823"/>
            <a:ext cx="119380" cy="179705"/>
          </a:xfrm>
          <a:custGeom>
            <a:avLst/>
            <a:gdLst/>
            <a:ahLst/>
            <a:cxnLst/>
            <a:rect l="l" t="t" r="r" b="b"/>
            <a:pathLst>
              <a:path w="119379" h="179705">
                <a:moveTo>
                  <a:pt x="111112" y="8865"/>
                </a:moveTo>
                <a:lnTo>
                  <a:pt x="15356" y="174718"/>
                </a:lnTo>
                <a:lnTo>
                  <a:pt x="23033" y="179151"/>
                </a:lnTo>
                <a:lnTo>
                  <a:pt x="118789" y="13299"/>
                </a:lnTo>
                <a:lnTo>
                  <a:pt x="111112" y="8865"/>
                </a:lnTo>
                <a:close/>
              </a:path>
              <a:path w="119379" h="179705">
                <a:moveTo>
                  <a:pt x="95755" y="0"/>
                </a:moveTo>
                <a:lnTo>
                  <a:pt x="0" y="165851"/>
                </a:lnTo>
                <a:lnTo>
                  <a:pt x="7678" y="170285"/>
                </a:lnTo>
                <a:lnTo>
                  <a:pt x="103432" y="4433"/>
                </a:lnTo>
                <a:lnTo>
                  <a:pt x="95755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3306611" y="2618257"/>
            <a:ext cx="95885" cy="166370"/>
          </a:xfrm>
          <a:custGeom>
            <a:avLst/>
            <a:gdLst/>
            <a:ahLst/>
            <a:cxnLst/>
            <a:rect l="l" t="t" r="r" b="b"/>
            <a:pathLst>
              <a:path w="95885" h="166369">
                <a:moveTo>
                  <a:pt x="0" y="0"/>
                </a:moveTo>
                <a:lnTo>
                  <a:pt x="95754" y="165852"/>
                </a:lnTo>
              </a:path>
            </a:pathLst>
          </a:custGeom>
          <a:ln w="8866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2600109" y="2526671"/>
            <a:ext cx="410845" cy="59690"/>
          </a:xfrm>
          <a:custGeom>
            <a:avLst/>
            <a:gdLst/>
            <a:ahLst/>
            <a:cxnLst/>
            <a:rect l="l" t="t" r="r" b="b"/>
            <a:pathLst>
              <a:path w="410844" h="59689">
                <a:moveTo>
                  <a:pt x="351106" y="35464"/>
                </a:moveTo>
                <a:lnTo>
                  <a:pt x="351106" y="59108"/>
                </a:lnTo>
                <a:lnTo>
                  <a:pt x="398392" y="35464"/>
                </a:lnTo>
                <a:lnTo>
                  <a:pt x="351106" y="35464"/>
                </a:lnTo>
                <a:close/>
              </a:path>
              <a:path w="410844" h="59689">
                <a:moveTo>
                  <a:pt x="351106" y="23643"/>
                </a:moveTo>
                <a:lnTo>
                  <a:pt x="351106" y="35464"/>
                </a:lnTo>
                <a:lnTo>
                  <a:pt x="357017" y="35464"/>
                </a:lnTo>
                <a:lnTo>
                  <a:pt x="357017" y="23643"/>
                </a:lnTo>
                <a:lnTo>
                  <a:pt x="351106" y="23643"/>
                </a:lnTo>
                <a:close/>
              </a:path>
              <a:path w="410844" h="59689">
                <a:moveTo>
                  <a:pt x="351106" y="0"/>
                </a:moveTo>
                <a:lnTo>
                  <a:pt x="351106" y="23643"/>
                </a:lnTo>
                <a:lnTo>
                  <a:pt x="357017" y="23643"/>
                </a:lnTo>
                <a:lnTo>
                  <a:pt x="357017" y="35464"/>
                </a:lnTo>
                <a:lnTo>
                  <a:pt x="398395" y="35463"/>
                </a:lnTo>
                <a:lnTo>
                  <a:pt x="410213" y="29554"/>
                </a:lnTo>
                <a:lnTo>
                  <a:pt x="351106" y="0"/>
                </a:lnTo>
                <a:close/>
              </a:path>
              <a:path w="410844" h="59689">
                <a:moveTo>
                  <a:pt x="0" y="23642"/>
                </a:moveTo>
                <a:lnTo>
                  <a:pt x="0" y="35463"/>
                </a:lnTo>
                <a:lnTo>
                  <a:pt x="351106" y="35464"/>
                </a:lnTo>
                <a:lnTo>
                  <a:pt x="351106" y="23643"/>
                </a:lnTo>
                <a:lnTo>
                  <a:pt x="0" y="23642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1683936" y="2296149"/>
            <a:ext cx="839469" cy="502920"/>
          </a:xfrm>
          <a:prstGeom prst="rect">
            <a:avLst/>
          </a:prstGeom>
          <a:solidFill>
            <a:srgbClr val="A6A6A6"/>
          </a:solidFill>
        </p:spPr>
        <p:txBody>
          <a:bodyPr wrap="square" lIns="0" tIns="13335" rIns="0" bIns="0" rtlCol="0" vert="horz">
            <a:spAutoFit/>
          </a:bodyPr>
          <a:lstStyle/>
          <a:p>
            <a:pPr marL="134620" marR="125730" indent="48895">
              <a:lnSpc>
                <a:spcPct val="101600"/>
              </a:lnSpc>
              <a:spcBef>
                <a:spcPts val="105"/>
              </a:spcBef>
            </a:pPr>
            <a:r>
              <a:rPr dirty="0" sz="1450" spc="10">
                <a:solidFill>
                  <a:srgbClr val="FFFFFF"/>
                </a:solidFill>
                <a:latin typeface="Calibri"/>
                <a:cs typeface="Calibri"/>
              </a:rPr>
              <a:t>Query  </a:t>
            </a:r>
            <a:r>
              <a:rPr dirty="0" sz="1450" spc="15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dirty="0" sz="145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450" spc="-1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1450" spc="1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450" spc="5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dirty="0" sz="145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1450" spc="5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3949998" y="3058642"/>
            <a:ext cx="695960" cy="556260"/>
          </a:xfrm>
          <a:custGeom>
            <a:avLst/>
            <a:gdLst/>
            <a:ahLst/>
            <a:cxnLst/>
            <a:rect l="l" t="t" r="r" b="b"/>
            <a:pathLst>
              <a:path w="695960" h="556260">
                <a:moveTo>
                  <a:pt x="645927" y="32207"/>
                </a:moveTo>
                <a:lnTo>
                  <a:pt x="0" y="546795"/>
                </a:lnTo>
                <a:lnTo>
                  <a:pt x="7365" y="556042"/>
                </a:lnTo>
                <a:lnTo>
                  <a:pt x="653293" y="41453"/>
                </a:lnTo>
                <a:lnTo>
                  <a:pt x="645927" y="32207"/>
                </a:lnTo>
                <a:close/>
              </a:path>
              <a:path w="695960" h="556260">
                <a:moveTo>
                  <a:pt x="682605" y="28525"/>
                </a:moveTo>
                <a:lnTo>
                  <a:pt x="650548" y="28525"/>
                </a:lnTo>
                <a:lnTo>
                  <a:pt x="657915" y="37771"/>
                </a:lnTo>
                <a:lnTo>
                  <a:pt x="653293" y="41453"/>
                </a:lnTo>
                <a:lnTo>
                  <a:pt x="668025" y="59945"/>
                </a:lnTo>
                <a:lnTo>
                  <a:pt x="682605" y="28525"/>
                </a:lnTo>
                <a:close/>
              </a:path>
              <a:path w="695960" h="556260">
                <a:moveTo>
                  <a:pt x="650548" y="28525"/>
                </a:moveTo>
                <a:lnTo>
                  <a:pt x="645927" y="32207"/>
                </a:lnTo>
                <a:lnTo>
                  <a:pt x="653293" y="41453"/>
                </a:lnTo>
                <a:lnTo>
                  <a:pt x="657915" y="37771"/>
                </a:lnTo>
                <a:lnTo>
                  <a:pt x="650548" y="28525"/>
                </a:lnTo>
                <a:close/>
              </a:path>
              <a:path w="695960" h="556260">
                <a:moveTo>
                  <a:pt x="695841" y="0"/>
                </a:moveTo>
                <a:lnTo>
                  <a:pt x="631195" y="13714"/>
                </a:lnTo>
                <a:lnTo>
                  <a:pt x="645927" y="32207"/>
                </a:lnTo>
                <a:lnTo>
                  <a:pt x="650548" y="28525"/>
                </a:lnTo>
                <a:lnTo>
                  <a:pt x="682605" y="28525"/>
                </a:lnTo>
                <a:lnTo>
                  <a:pt x="6958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4030521" y="5139242"/>
            <a:ext cx="548640" cy="59690"/>
          </a:xfrm>
          <a:custGeom>
            <a:avLst/>
            <a:gdLst/>
            <a:ahLst/>
            <a:cxnLst/>
            <a:rect l="l" t="t" r="r" b="b"/>
            <a:pathLst>
              <a:path w="548639" h="59689">
                <a:moveTo>
                  <a:pt x="489078" y="35464"/>
                </a:moveTo>
                <a:lnTo>
                  <a:pt x="489078" y="59107"/>
                </a:lnTo>
                <a:lnTo>
                  <a:pt x="536363" y="35464"/>
                </a:lnTo>
                <a:lnTo>
                  <a:pt x="489078" y="35464"/>
                </a:lnTo>
                <a:close/>
              </a:path>
              <a:path w="548639" h="59689">
                <a:moveTo>
                  <a:pt x="489078" y="0"/>
                </a:moveTo>
                <a:lnTo>
                  <a:pt x="489078" y="35464"/>
                </a:lnTo>
                <a:lnTo>
                  <a:pt x="494988" y="35464"/>
                </a:lnTo>
                <a:lnTo>
                  <a:pt x="494988" y="23642"/>
                </a:lnTo>
                <a:lnTo>
                  <a:pt x="536361" y="23642"/>
                </a:lnTo>
                <a:lnTo>
                  <a:pt x="489078" y="0"/>
                </a:lnTo>
                <a:close/>
              </a:path>
              <a:path w="548639" h="59689">
                <a:moveTo>
                  <a:pt x="536361" y="23642"/>
                </a:moveTo>
                <a:lnTo>
                  <a:pt x="494988" y="23642"/>
                </a:lnTo>
                <a:lnTo>
                  <a:pt x="494988" y="35464"/>
                </a:lnTo>
                <a:lnTo>
                  <a:pt x="536366" y="35463"/>
                </a:lnTo>
                <a:lnTo>
                  <a:pt x="548185" y="29554"/>
                </a:lnTo>
                <a:lnTo>
                  <a:pt x="536361" y="23642"/>
                </a:lnTo>
                <a:close/>
              </a:path>
              <a:path w="548639" h="59689">
                <a:moveTo>
                  <a:pt x="489078" y="23642"/>
                </a:moveTo>
                <a:lnTo>
                  <a:pt x="0" y="23642"/>
                </a:lnTo>
                <a:lnTo>
                  <a:pt x="0" y="35463"/>
                </a:lnTo>
                <a:lnTo>
                  <a:pt x="489078" y="35464"/>
                </a:lnTo>
                <a:lnTo>
                  <a:pt x="489078" y="236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5839224" y="5121509"/>
            <a:ext cx="517525" cy="59690"/>
          </a:xfrm>
          <a:custGeom>
            <a:avLst/>
            <a:gdLst/>
            <a:ahLst/>
            <a:cxnLst/>
            <a:rect l="l" t="t" r="r" b="b"/>
            <a:pathLst>
              <a:path w="517525" h="59689">
                <a:moveTo>
                  <a:pt x="457950" y="23643"/>
                </a:moveTo>
                <a:lnTo>
                  <a:pt x="457950" y="59108"/>
                </a:lnTo>
                <a:lnTo>
                  <a:pt x="505237" y="35464"/>
                </a:lnTo>
                <a:lnTo>
                  <a:pt x="463861" y="35464"/>
                </a:lnTo>
                <a:lnTo>
                  <a:pt x="463861" y="23643"/>
                </a:lnTo>
                <a:lnTo>
                  <a:pt x="457950" y="23643"/>
                </a:lnTo>
                <a:close/>
              </a:path>
              <a:path w="517525" h="59689">
                <a:moveTo>
                  <a:pt x="0" y="23642"/>
                </a:moveTo>
                <a:lnTo>
                  <a:pt x="0" y="35464"/>
                </a:lnTo>
                <a:lnTo>
                  <a:pt x="457950" y="35464"/>
                </a:lnTo>
                <a:lnTo>
                  <a:pt x="457950" y="23643"/>
                </a:lnTo>
                <a:lnTo>
                  <a:pt x="0" y="23642"/>
                </a:lnTo>
                <a:close/>
              </a:path>
              <a:path w="517525" h="59689">
                <a:moveTo>
                  <a:pt x="457950" y="0"/>
                </a:moveTo>
                <a:lnTo>
                  <a:pt x="457950" y="23643"/>
                </a:lnTo>
                <a:lnTo>
                  <a:pt x="463861" y="23643"/>
                </a:lnTo>
                <a:lnTo>
                  <a:pt x="463861" y="35464"/>
                </a:lnTo>
                <a:lnTo>
                  <a:pt x="505237" y="35464"/>
                </a:lnTo>
                <a:lnTo>
                  <a:pt x="517058" y="29554"/>
                </a:lnTo>
                <a:lnTo>
                  <a:pt x="4579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 txBox="1"/>
          <p:nvPr/>
        </p:nvSpPr>
        <p:spPr>
          <a:xfrm>
            <a:off x="2814172" y="1450026"/>
            <a:ext cx="696595" cy="252729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450" spc="15">
                <a:solidFill>
                  <a:srgbClr val="C00000"/>
                </a:solidFill>
                <a:latin typeface="Calibri"/>
                <a:cs typeface="Calibri"/>
              </a:rPr>
              <a:t>G</a:t>
            </a:r>
            <a:r>
              <a:rPr dirty="0" sz="1450" spc="-25">
                <a:solidFill>
                  <a:srgbClr val="C00000"/>
                </a:solidFill>
                <a:latin typeface="Calibri"/>
                <a:cs typeface="Calibri"/>
              </a:rPr>
              <a:t>r</a:t>
            </a:r>
            <a:r>
              <a:rPr dirty="0" sz="1450" spc="10">
                <a:solidFill>
                  <a:srgbClr val="C00000"/>
                </a:solidFill>
                <a:latin typeface="Calibri"/>
                <a:cs typeface="Calibri"/>
              </a:rPr>
              <a:t>adi</a:t>
            </a:r>
            <a:r>
              <a:rPr dirty="0" sz="1450" spc="5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dirty="0" sz="1450" spc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dirty="0" sz="1450" spc="5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3927534" y="2550869"/>
            <a:ext cx="722630" cy="343535"/>
          </a:xfrm>
          <a:custGeom>
            <a:avLst/>
            <a:gdLst/>
            <a:ahLst/>
            <a:cxnLst/>
            <a:rect l="l" t="t" r="r" b="b"/>
            <a:pathLst>
              <a:path w="722629" h="343535">
                <a:moveTo>
                  <a:pt x="666001" y="322070"/>
                </a:moveTo>
                <a:lnTo>
                  <a:pt x="655989" y="343488"/>
                </a:lnTo>
                <a:lnTo>
                  <a:pt x="722049" y="341748"/>
                </a:lnTo>
                <a:lnTo>
                  <a:pt x="708448" y="324573"/>
                </a:lnTo>
                <a:lnTo>
                  <a:pt x="671356" y="324573"/>
                </a:lnTo>
                <a:lnTo>
                  <a:pt x="666001" y="322070"/>
                </a:lnTo>
                <a:close/>
              </a:path>
              <a:path w="722629" h="343535">
                <a:moveTo>
                  <a:pt x="671008" y="311360"/>
                </a:moveTo>
                <a:lnTo>
                  <a:pt x="666001" y="322070"/>
                </a:lnTo>
                <a:lnTo>
                  <a:pt x="671356" y="324573"/>
                </a:lnTo>
                <a:lnTo>
                  <a:pt x="676362" y="313863"/>
                </a:lnTo>
                <a:lnTo>
                  <a:pt x="671008" y="311360"/>
                </a:lnTo>
                <a:close/>
              </a:path>
              <a:path w="722629" h="343535">
                <a:moveTo>
                  <a:pt x="681020" y="289942"/>
                </a:moveTo>
                <a:lnTo>
                  <a:pt x="671008" y="311360"/>
                </a:lnTo>
                <a:lnTo>
                  <a:pt x="676362" y="313863"/>
                </a:lnTo>
                <a:lnTo>
                  <a:pt x="671356" y="324573"/>
                </a:lnTo>
                <a:lnTo>
                  <a:pt x="708448" y="324573"/>
                </a:lnTo>
                <a:lnTo>
                  <a:pt x="681020" y="289942"/>
                </a:lnTo>
                <a:close/>
              </a:path>
              <a:path w="722629" h="343535">
                <a:moveTo>
                  <a:pt x="5006" y="0"/>
                </a:moveTo>
                <a:lnTo>
                  <a:pt x="0" y="10708"/>
                </a:lnTo>
                <a:lnTo>
                  <a:pt x="666001" y="322070"/>
                </a:lnTo>
                <a:lnTo>
                  <a:pt x="671008" y="311360"/>
                </a:lnTo>
                <a:lnTo>
                  <a:pt x="5006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 txBox="1"/>
          <p:nvPr/>
        </p:nvSpPr>
        <p:spPr>
          <a:xfrm>
            <a:off x="8148704" y="2531702"/>
            <a:ext cx="869950" cy="4775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110"/>
              </a:spcBef>
            </a:pPr>
            <a:r>
              <a:rPr dirty="0" sz="1450" spc="10">
                <a:latin typeface="Calibri"/>
                <a:cs typeface="Calibri"/>
              </a:rPr>
              <a:t>Sup</a:t>
            </a:r>
            <a:r>
              <a:rPr dirty="0" sz="1450" spc="5">
                <a:latin typeface="Calibri"/>
                <a:cs typeface="Calibri"/>
              </a:rPr>
              <a:t>e</a:t>
            </a:r>
            <a:r>
              <a:rPr dirty="0" sz="1450" spc="15">
                <a:latin typeface="Calibri"/>
                <a:cs typeface="Calibri"/>
              </a:rPr>
              <a:t>r</a:t>
            </a:r>
            <a:r>
              <a:rPr dirty="0" sz="1450" spc="5">
                <a:latin typeface="Calibri"/>
                <a:cs typeface="Calibri"/>
              </a:rPr>
              <a:t>vi</a:t>
            </a:r>
            <a:r>
              <a:rPr dirty="0" sz="1450" spc="5">
                <a:latin typeface="Calibri"/>
                <a:cs typeface="Calibri"/>
              </a:rPr>
              <a:t>se</a:t>
            </a:r>
            <a:r>
              <a:rPr dirty="0" sz="1450" spc="5">
                <a:latin typeface="Calibri"/>
                <a:cs typeface="Calibri"/>
              </a:rPr>
              <a:t>d  </a:t>
            </a:r>
            <a:r>
              <a:rPr dirty="0" sz="1450" spc="-5">
                <a:latin typeface="Calibri"/>
                <a:cs typeface="Calibri"/>
              </a:rPr>
              <a:t>Training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8232011" y="4807358"/>
            <a:ext cx="634365" cy="47752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450" spc="10">
                <a:latin typeface="Calibri"/>
                <a:cs typeface="Calibri"/>
              </a:rPr>
              <a:t>RL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450" spc="-5">
                <a:latin typeface="Calibri"/>
                <a:cs typeface="Calibri"/>
              </a:rPr>
              <a:t>Training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7769099" y="1690292"/>
            <a:ext cx="254635" cy="2128520"/>
          </a:xfrm>
          <a:custGeom>
            <a:avLst/>
            <a:gdLst/>
            <a:ahLst/>
            <a:cxnLst/>
            <a:rect l="l" t="t" r="r" b="b"/>
            <a:pathLst>
              <a:path w="254634" h="2128520">
                <a:moveTo>
                  <a:pt x="0" y="0"/>
                </a:moveTo>
                <a:lnTo>
                  <a:pt x="49466" y="1664"/>
                </a:lnTo>
                <a:lnTo>
                  <a:pt x="89860" y="6203"/>
                </a:lnTo>
                <a:lnTo>
                  <a:pt x="117095" y="12935"/>
                </a:lnTo>
                <a:lnTo>
                  <a:pt x="127082" y="21178"/>
                </a:lnTo>
                <a:lnTo>
                  <a:pt x="127082" y="1042764"/>
                </a:lnTo>
                <a:lnTo>
                  <a:pt x="137068" y="1051008"/>
                </a:lnTo>
                <a:lnTo>
                  <a:pt x="164303" y="1057740"/>
                </a:lnTo>
                <a:lnTo>
                  <a:pt x="204698" y="1062278"/>
                </a:lnTo>
                <a:lnTo>
                  <a:pt x="254164" y="1063943"/>
                </a:lnTo>
                <a:lnTo>
                  <a:pt x="204698" y="1065607"/>
                </a:lnTo>
                <a:lnTo>
                  <a:pt x="164303" y="1070146"/>
                </a:lnTo>
                <a:lnTo>
                  <a:pt x="137068" y="1076878"/>
                </a:lnTo>
                <a:lnTo>
                  <a:pt x="127082" y="1085122"/>
                </a:lnTo>
                <a:lnTo>
                  <a:pt x="127082" y="2106707"/>
                </a:lnTo>
                <a:lnTo>
                  <a:pt x="117095" y="2114951"/>
                </a:lnTo>
                <a:lnTo>
                  <a:pt x="89860" y="2121683"/>
                </a:lnTo>
                <a:lnTo>
                  <a:pt x="49466" y="2126222"/>
                </a:lnTo>
                <a:lnTo>
                  <a:pt x="0" y="2127886"/>
                </a:lnTo>
              </a:path>
            </a:pathLst>
          </a:custGeom>
          <a:ln w="59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7769099" y="4220113"/>
            <a:ext cx="254635" cy="1702435"/>
          </a:xfrm>
          <a:custGeom>
            <a:avLst/>
            <a:gdLst/>
            <a:ahLst/>
            <a:cxnLst/>
            <a:rect l="l" t="t" r="r" b="b"/>
            <a:pathLst>
              <a:path w="254634" h="1702435">
                <a:moveTo>
                  <a:pt x="0" y="0"/>
                </a:moveTo>
                <a:lnTo>
                  <a:pt x="49466" y="1664"/>
                </a:lnTo>
                <a:lnTo>
                  <a:pt x="89861" y="6203"/>
                </a:lnTo>
                <a:lnTo>
                  <a:pt x="117096" y="12935"/>
                </a:lnTo>
                <a:lnTo>
                  <a:pt x="127083" y="21180"/>
                </a:lnTo>
                <a:lnTo>
                  <a:pt x="127083" y="829974"/>
                </a:lnTo>
                <a:lnTo>
                  <a:pt x="137069" y="838218"/>
                </a:lnTo>
                <a:lnTo>
                  <a:pt x="164304" y="844951"/>
                </a:lnTo>
                <a:lnTo>
                  <a:pt x="204699" y="849490"/>
                </a:lnTo>
                <a:lnTo>
                  <a:pt x="254166" y="851154"/>
                </a:lnTo>
                <a:lnTo>
                  <a:pt x="204699" y="852819"/>
                </a:lnTo>
                <a:lnTo>
                  <a:pt x="164304" y="857358"/>
                </a:lnTo>
                <a:lnTo>
                  <a:pt x="137069" y="864090"/>
                </a:lnTo>
                <a:lnTo>
                  <a:pt x="127083" y="872334"/>
                </a:lnTo>
                <a:lnTo>
                  <a:pt x="127083" y="1681129"/>
                </a:lnTo>
                <a:lnTo>
                  <a:pt x="117096" y="1689373"/>
                </a:lnTo>
                <a:lnTo>
                  <a:pt x="89861" y="1696105"/>
                </a:lnTo>
                <a:lnTo>
                  <a:pt x="49466" y="1700644"/>
                </a:lnTo>
                <a:lnTo>
                  <a:pt x="0" y="1702309"/>
                </a:lnTo>
              </a:path>
            </a:pathLst>
          </a:custGeom>
          <a:ln w="59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83" name="object 8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84" name="object 8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r>
              <a:rPr dirty="0"/>
              <a:t>67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4651248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9363" y="1348740"/>
            <a:ext cx="7481570" cy="1491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815"/>
              </a:lnSpc>
              <a:spcBef>
                <a:spcPts val="100"/>
              </a:spcBef>
            </a:pPr>
            <a:r>
              <a:rPr dirty="0" sz="3200" spc="-35" b="1">
                <a:latin typeface="Arial"/>
                <a:cs typeface="Arial"/>
              </a:rPr>
              <a:t>Visualization </a:t>
            </a:r>
            <a:r>
              <a:rPr dirty="0" sz="3200" spc="-5" b="1">
                <a:latin typeface="Arial"/>
                <a:cs typeface="Arial"/>
              </a:rPr>
              <a:t>of </a:t>
            </a:r>
            <a:r>
              <a:rPr dirty="0" sz="3200" spc="5" b="1">
                <a:latin typeface="Arial"/>
                <a:cs typeface="Arial"/>
              </a:rPr>
              <a:t>GCPN</a:t>
            </a:r>
            <a:r>
              <a:rPr dirty="0" sz="3200" spc="-10" b="1">
                <a:latin typeface="Arial"/>
                <a:cs typeface="Arial"/>
              </a:rPr>
              <a:t> </a:t>
            </a:r>
            <a:r>
              <a:rPr dirty="0" sz="3200" spc="-40" b="1">
                <a:latin typeface="Arial"/>
                <a:cs typeface="Arial"/>
              </a:rPr>
              <a:t>graphs:</a:t>
            </a:r>
            <a:endParaRPr sz="3200">
              <a:latin typeface="Arial"/>
              <a:cs typeface="Arial"/>
            </a:endParaRPr>
          </a:p>
          <a:p>
            <a:pPr marL="469900" marR="5080" indent="-457200">
              <a:lnSpc>
                <a:spcPts val="3910"/>
              </a:lnSpc>
              <a:spcBef>
                <a:spcPts val="4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469265" algn="l"/>
                <a:tab pos="469900" algn="l"/>
              </a:tabLst>
            </a:pPr>
            <a:r>
              <a:rPr dirty="0" sz="3200" spc="-10">
                <a:solidFill>
                  <a:srgbClr val="C00000"/>
                </a:solidFill>
                <a:latin typeface="Calibri"/>
                <a:cs typeface="Calibri"/>
              </a:rPr>
              <a:t>Property optimization </a:t>
            </a:r>
            <a:r>
              <a:rPr dirty="0" sz="3200" spc="-20">
                <a:latin typeface="Calibri"/>
                <a:cs typeface="Calibri"/>
              </a:rPr>
              <a:t>Generate </a:t>
            </a:r>
            <a:r>
              <a:rPr dirty="0" sz="3200" spc="-5">
                <a:latin typeface="Calibri"/>
                <a:cs typeface="Calibri"/>
              </a:rPr>
              <a:t>molecules  with </a:t>
            </a:r>
            <a:r>
              <a:rPr dirty="0" sz="3200">
                <a:latin typeface="Calibri"/>
                <a:cs typeface="Calibri"/>
              </a:rPr>
              <a:t>high </a:t>
            </a:r>
            <a:r>
              <a:rPr dirty="0" sz="3200" spc="-5">
                <a:latin typeface="Calibri"/>
                <a:cs typeface="Calibri"/>
              </a:rPr>
              <a:t>specified </a:t>
            </a:r>
            <a:r>
              <a:rPr dirty="0" sz="3200" spc="-10">
                <a:latin typeface="Calibri"/>
                <a:cs typeface="Calibri"/>
              </a:rPr>
              <a:t>property</a:t>
            </a:r>
            <a:r>
              <a:rPr dirty="0" sz="3200" spc="2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score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7200" y="2870922"/>
            <a:ext cx="8229600" cy="38346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826000" y="3022055"/>
            <a:ext cx="0" cy="3657600"/>
          </a:xfrm>
          <a:custGeom>
            <a:avLst/>
            <a:gdLst/>
            <a:ahLst/>
            <a:cxnLst/>
            <a:rect l="l" t="t" r="r" b="b"/>
            <a:pathLst>
              <a:path w="0" h="3657600">
                <a:moveTo>
                  <a:pt x="0" y="0"/>
                </a:moveTo>
                <a:lnTo>
                  <a:pt x="1" y="365760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3/2/21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r>
              <a:rPr dirty="0"/>
              <a:t>68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4651248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9363" y="1360932"/>
            <a:ext cx="582422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35">
                <a:latin typeface="Arial"/>
                <a:cs typeface="Arial"/>
              </a:rPr>
              <a:t>Visualization </a:t>
            </a:r>
            <a:r>
              <a:rPr dirty="0" sz="3200" spc="-5">
                <a:latin typeface="Arial"/>
                <a:cs typeface="Arial"/>
              </a:rPr>
              <a:t>of </a:t>
            </a:r>
            <a:r>
              <a:rPr dirty="0" sz="3200" spc="5">
                <a:latin typeface="Arial"/>
                <a:cs typeface="Arial"/>
              </a:rPr>
              <a:t>GCPN</a:t>
            </a:r>
            <a:r>
              <a:rPr dirty="0" sz="3200" spc="-10">
                <a:latin typeface="Arial"/>
                <a:cs typeface="Arial"/>
              </a:rPr>
              <a:t> </a:t>
            </a:r>
            <a:r>
              <a:rPr dirty="0" sz="3200" spc="-40">
                <a:latin typeface="Arial"/>
                <a:cs typeface="Arial"/>
              </a:rPr>
              <a:t>graphs: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86315" y="6712593"/>
            <a:ext cx="4318000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35"/>
              </a:lnSpc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6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3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19697" y="6694423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69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22400" y="3437910"/>
            <a:ext cx="2133600" cy="295442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99363" y="1844547"/>
            <a:ext cx="7958455" cy="153924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584200" marR="5080" indent="-571500">
              <a:lnSpc>
                <a:spcPts val="3290"/>
              </a:lnSpc>
              <a:spcBef>
                <a:spcPts val="265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583565" algn="l"/>
                <a:tab pos="584200" algn="l"/>
              </a:tabLst>
            </a:pP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Constrained optimization: </a:t>
            </a:r>
            <a:r>
              <a:rPr dirty="0" sz="2800" spc="-15">
                <a:latin typeface="Calibri"/>
                <a:cs typeface="Calibri"/>
              </a:rPr>
              <a:t>Edit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0">
                <a:latin typeface="Calibri"/>
                <a:cs typeface="Calibri"/>
              </a:rPr>
              <a:t>given </a:t>
            </a:r>
            <a:r>
              <a:rPr dirty="0" sz="2800" spc="-5">
                <a:latin typeface="Calibri"/>
                <a:cs typeface="Calibri"/>
              </a:rPr>
              <a:t>molecule </a:t>
            </a:r>
            <a:r>
              <a:rPr dirty="0" sz="2800" spc="-25">
                <a:latin typeface="Calibri"/>
                <a:cs typeface="Calibri"/>
              </a:rPr>
              <a:t>for 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35">
                <a:latin typeface="Calibri"/>
                <a:cs typeface="Calibri"/>
              </a:rPr>
              <a:t>few </a:t>
            </a:r>
            <a:r>
              <a:rPr dirty="0" sz="2800" spc="-20">
                <a:latin typeface="Calibri"/>
                <a:cs typeface="Calibri"/>
              </a:rPr>
              <a:t>steps </a:t>
            </a:r>
            <a:r>
              <a:rPr dirty="0" sz="2800" spc="-15">
                <a:latin typeface="Calibri"/>
                <a:cs typeface="Calibri"/>
              </a:rPr>
              <a:t>to achieve </a:t>
            </a:r>
            <a:r>
              <a:rPr dirty="0" sz="2800" spc="-5">
                <a:latin typeface="Calibri"/>
                <a:cs typeface="Calibri"/>
              </a:rPr>
              <a:t>higher </a:t>
            </a:r>
            <a:r>
              <a:rPr dirty="0" sz="2800" spc="-10">
                <a:latin typeface="Calibri"/>
                <a:cs typeface="Calibri"/>
              </a:rPr>
              <a:t>property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score</a:t>
            </a:r>
            <a:endParaRPr sz="2800">
              <a:latin typeface="Calibri"/>
              <a:cs typeface="Calibri"/>
            </a:endParaRPr>
          </a:p>
          <a:p>
            <a:pPr marL="1191895">
              <a:lnSpc>
                <a:spcPct val="100000"/>
              </a:lnSpc>
              <a:spcBef>
                <a:spcPts val="2290"/>
              </a:spcBef>
              <a:tabLst>
                <a:tab pos="4697095" algn="l"/>
              </a:tabLst>
            </a:pPr>
            <a:r>
              <a:rPr dirty="0" sz="2400" spc="-40">
                <a:solidFill>
                  <a:srgbClr val="C00000"/>
                </a:solidFill>
                <a:latin typeface="Arial"/>
                <a:cs typeface="Arial"/>
              </a:rPr>
              <a:t>Starting</a:t>
            </a:r>
            <a:r>
              <a:rPr dirty="0" sz="2400" spc="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-30">
                <a:solidFill>
                  <a:srgbClr val="C00000"/>
                </a:solidFill>
                <a:latin typeface="Arial"/>
                <a:cs typeface="Arial"/>
              </a:rPr>
              <a:t>structure	</a:t>
            </a:r>
            <a:r>
              <a:rPr dirty="0" baseline="1157" sz="3600" spc="-104">
                <a:solidFill>
                  <a:srgbClr val="C00000"/>
                </a:solidFill>
                <a:latin typeface="Arial"/>
                <a:cs typeface="Arial"/>
              </a:rPr>
              <a:t>Finished</a:t>
            </a:r>
            <a:r>
              <a:rPr dirty="0" baseline="1157" sz="3600" spc="-127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baseline="1157" sz="3600" spc="-44">
                <a:solidFill>
                  <a:srgbClr val="C00000"/>
                </a:solidFill>
                <a:latin typeface="Arial"/>
                <a:cs typeface="Arial"/>
              </a:rPr>
              <a:t>structure</a:t>
            </a:r>
            <a:endParaRPr baseline="1157" sz="3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410200" y="3357265"/>
            <a:ext cx="2438400" cy="311973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057400" y="6353015"/>
            <a:ext cx="5029198" cy="5049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919847" y="4449870"/>
            <a:ext cx="957580" cy="503555"/>
          </a:xfrm>
          <a:custGeom>
            <a:avLst/>
            <a:gdLst/>
            <a:ahLst/>
            <a:cxnLst/>
            <a:rect l="l" t="t" r="r" b="b"/>
            <a:pathLst>
              <a:path w="957579" h="503554">
                <a:moveTo>
                  <a:pt x="705388" y="0"/>
                </a:moveTo>
                <a:lnTo>
                  <a:pt x="705388" y="125782"/>
                </a:lnTo>
                <a:lnTo>
                  <a:pt x="0" y="125782"/>
                </a:lnTo>
                <a:lnTo>
                  <a:pt x="0" y="377347"/>
                </a:lnTo>
                <a:lnTo>
                  <a:pt x="705388" y="377347"/>
                </a:lnTo>
                <a:lnTo>
                  <a:pt x="705388" y="503129"/>
                </a:lnTo>
                <a:lnTo>
                  <a:pt x="956952" y="251565"/>
                </a:lnTo>
                <a:lnTo>
                  <a:pt x="70538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895847" y="4391929"/>
            <a:ext cx="1015365" cy="619125"/>
          </a:xfrm>
          <a:custGeom>
            <a:avLst/>
            <a:gdLst/>
            <a:ahLst/>
            <a:cxnLst/>
            <a:rect l="l" t="t" r="r" b="b"/>
            <a:pathLst>
              <a:path w="1015364" h="619125">
                <a:moveTo>
                  <a:pt x="705388" y="0"/>
                </a:moveTo>
                <a:lnTo>
                  <a:pt x="705388" y="159722"/>
                </a:lnTo>
                <a:lnTo>
                  <a:pt x="0" y="159722"/>
                </a:lnTo>
                <a:lnTo>
                  <a:pt x="0" y="459289"/>
                </a:lnTo>
                <a:lnTo>
                  <a:pt x="705388" y="459289"/>
                </a:lnTo>
                <a:lnTo>
                  <a:pt x="705388" y="619011"/>
                </a:lnTo>
                <a:lnTo>
                  <a:pt x="774918" y="549482"/>
                </a:lnTo>
                <a:lnTo>
                  <a:pt x="734188" y="549482"/>
                </a:lnTo>
                <a:lnTo>
                  <a:pt x="734188" y="430488"/>
                </a:lnTo>
                <a:lnTo>
                  <a:pt x="28799" y="430488"/>
                </a:lnTo>
                <a:lnTo>
                  <a:pt x="28799" y="188522"/>
                </a:lnTo>
                <a:lnTo>
                  <a:pt x="734188" y="188522"/>
                </a:lnTo>
                <a:lnTo>
                  <a:pt x="734188" y="69528"/>
                </a:lnTo>
                <a:lnTo>
                  <a:pt x="774916" y="69528"/>
                </a:lnTo>
                <a:lnTo>
                  <a:pt x="705388" y="0"/>
                </a:lnTo>
                <a:close/>
              </a:path>
              <a:path w="1015364" h="619125">
                <a:moveTo>
                  <a:pt x="774916" y="69528"/>
                </a:moveTo>
                <a:lnTo>
                  <a:pt x="734188" y="69528"/>
                </a:lnTo>
                <a:lnTo>
                  <a:pt x="974164" y="309506"/>
                </a:lnTo>
                <a:lnTo>
                  <a:pt x="734188" y="549482"/>
                </a:lnTo>
                <a:lnTo>
                  <a:pt x="774918" y="549482"/>
                </a:lnTo>
                <a:lnTo>
                  <a:pt x="1014893" y="309506"/>
                </a:lnTo>
                <a:lnTo>
                  <a:pt x="774916" y="69528"/>
                </a:lnTo>
                <a:close/>
              </a:path>
              <a:path w="1015364" h="619125">
                <a:moveTo>
                  <a:pt x="743788" y="92706"/>
                </a:moveTo>
                <a:lnTo>
                  <a:pt x="743788" y="198122"/>
                </a:lnTo>
                <a:lnTo>
                  <a:pt x="38399" y="198122"/>
                </a:lnTo>
                <a:lnTo>
                  <a:pt x="38399" y="420888"/>
                </a:lnTo>
                <a:lnTo>
                  <a:pt x="743788" y="420888"/>
                </a:lnTo>
                <a:lnTo>
                  <a:pt x="743788" y="526305"/>
                </a:lnTo>
                <a:lnTo>
                  <a:pt x="766964" y="503129"/>
                </a:lnTo>
                <a:lnTo>
                  <a:pt x="753388" y="503129"/>
                </a:lnTo>
                <a:lnTo>
                  <a:pt x="753388" y="411288"/>
                </a:lnTo>
                <a:lnTo>
                  <a:pt x="47999" y="411288"/>
                </a:lnTo>
                <a:lnTo>
                  <a:pt x="47999" y="207722"/>
                </a:lnTo>
                <a:lnTo>
                  <a:pt x="753388" y="207722"/>
                </a:lnTo>
                <a:lnTo>
                  <a:pt x="753388" y="115882"/>
                </a:lnTo>
                <a:lnTo>
                  <a:pt x="766964" y="115882"/>
                </a:lnTo>
                <a:lnTo>
                  <a:pt x="743788" y="92706"/>
                </a:lnTo>
                <a:close/>
              </a:path>
              <a:path w="1015364" h="619125">
                <a:moveTo>
                  <a:pt x="766964" y="115882"/>
                </a:moveTo>
                <a:lnTo>
                  <a:pt x="753388" y="115882"/>
                </a:lnTo>
                <a:lnTo>
                  <a:pt x="947012" y="309506"/>
                </a:lnTo>
                <a:lnTo>
                  <a:pt x="753388" y="503129"/>
                </a:lnTo>
                <a:lnTo>
                  <a:pt x="766964" y="503129"/>
                </a:lnTo>
                <a:lnTo>
                  <a:pt x="960588" y="309506"/>
                </a:lnTo>
                <a:lnTo>
                  <a:pt x="766964" y="115882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54227" y="6694423"/>
            <a:ext cx="3435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3/2/21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91836" y="5287771"/>
            <a:ext cx="1225550" cy="84581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12700" marR="5080">
              <a:lnSpc>
                <a:spcPct val="99400"/>
              </a:lnSpc>
              <a:spcBef>
                <a:spcPts val="110"/>
              </a:spcBef>
            </a:pPr>
            <a:r>
              <a:rPr dirty="0" sz="1800" spc="-5" b="1">
                <a:solidFill>
                  <a:srgbClr val="C00000"/>
                </a:solidFill>
                <a:latin typeface="Corbel"/>
                <a:cs typeface="Corbel"/>
              </a:rPr>
              <a:t>Increase</a:t>
            </a:r>
            <a:r>
              <a:rPr dirty="0" sz="1800" spc="-75" b="1">
                <a:solidFill>
                  <a:srgbClr val="C00000"/>
                </a:solidFill>
                <a:latin typeface="Corbel"/>
                <a:cs typeface="Corbe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Corbel"/>
                <a:cs typeface="Corbel"/>
              </a:rPr>
              <a:t>the  </a:t>
            </a:r>
            <a:r>
              <a:rPr dirty="0" sz="1800" spc="-5" b="1">
                <a:solidFill>
                  <a:srgbClr val="C00000"/>
                </a:solidFill>
                <a:latin typeface="Corbel"/>
                <a:cs typeface="Corbel"/>
              </a:rPr>
              <a:t>solubility </a:t>
            </a:r>
            <a:r>
              <a:rPr dirty="0" sz="1800" b="1">
                <a:solidFill>
                  <a:srgbClr val="C00000"/>
                </a:solidFill>
                <a:latin typeface="Corbel"/>
                <a:cs typeface="Corbel"/>
              </a:rPr>
              <a:t>in  </a:t>
            </a:r>
            <a:r>
              <a:rPr dirty="0" sz="1800" spc="-5" b="1">
                <a:solidFill>
                  <a:srgbClr val="C00000"/>
                </a:solidFill>
                <a:latin typeface="Corbel"/>
                <a:cs typeface="Corbel"/>
              </a:rPr>
              <a:t>octanol</a:t>
            </a:r>
            <a:endParaRPr sz="18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1375"/>
            <a:ext cx="7446264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960359" cy="1973580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0">
                <a:latin typeface="Calibri"/>
                <a:cs typeface="Calibri"/>
              </a:rPr>
              <a:t>Complex </a:t>
            </a:r>
            <a:r>
              <a:rPr dirty="0" sz="3200" spc="-15" b="0">
                <a:latin typeface="Calibri"/>
                <a:cs typeface="Calibri"/>
              </a:rPr>
              <a:t>graphs can </a:t>
            </a:r>
            <a:r>
              <a:rPr dirty="0" sz="3200" b="0">
                <a:latin typeface="Calibri"/>
                <a:cs typeface="Calibri"/>
              </a:rPr>
              <a:t>be </a:t>
            </a:r>
            <a:r>
              <a:rPr dirty="0" sz="3200" spc="-10" b="0">
                <a:latin typeface="Calibri"/>
                <a:cs typeface="Calibri"/>
              </a:rPr>
              <a:t>successfully </a:t>
            </a:r>
            <a:r>
              <a:rPr dirty="0" sz="3200" spc="-20" b="0">
                <a:latin typeface="Calibri"/>
                <a:cs typeface="Calibri"/>
              </a:rPr>
              <a:t>generated  </a:t>
            </a:r>
            <a:r>
              <a:rPr dirty="0" sz="3200" b="0">
                <a:latin typeface="Calibri"/>
                <a:cs typeface="Calibri"/>
              </a:rPr>
              <a:t>via </a:t>
            </a:r>
            <a:r>
              <a:rPr dirty="0" sz="3200" spc="-5" b="0">
                <a:solidFill>
                  <a:srgbClr val="C00000"/>
                </a:solidFill>
                <a:latin typeface="Calibri"/>
                <a:cs typeface="Calibri"/>
              </a:rPr>
              <a:t>sequential </a:t>
            </a:r>
            <a:r>
              <a:rPr dirty="0" sz="3200" spc="-15" b="0">
                <a:solidFill>
                  <a:srgbClr val="C00000"/>
                </a:solidFill>
                <a:latin typeface="Calibri"/>
                <a:cs typeface="Calibri"/>
              </a:rPr>
              <a:t>generation </a:t>
            </a:r>
            <a:r>
              <a:rPr dirty="0" sz="3200" spc="-5" b="0">
                <a:solidFill>
                  <a:srgbClr val="0070C0"/>
                </a:solidFill>
                <a:latin typeface="Calibri"/>
                <a:cs typeface="Calibri"/>
              </a:rPr>
              <a:t>using deep</a:t>
            </a:r>
            <a:r>
              <a:rPr dirty="0" sz="3200" spc="75" b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3200" spc="-5" b="0">
                <a:solidFill>
                  <a:srgbClr val="0070C0"/>
                </a:solidFill>
                <a:latin typeface="Calibri"/>
                <a:cs typeface="Calibri"/>
              </a:rPr>
              <a:t>learning</a:t>
            </a:r>
            <a:endParaRPr sz="3200">
              <a:latin typeface="Calibri"/>
              <a:cs typeface="Calibri"/>
            </a:endParaRPr>
          </a:p>
          <a:p>
            <a:pPr marL="332740" marR="97155" indent="-320040">
              <a:lnSpc>
                <a:spcPts val="3790"/>
              </a:lnSpc>
              <a:spcBef>
                <a:spcPts val="114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0">
                <a:latin typeface="Calibri"/>
                <a:cs typeface="Calibri"/>
              </a:rPr>
              <a:t>Each </a:t>
            </a:r>
            <a:r>
              <a:rPr dirty="0" sz="3200" spc="-20" b="0">
                <a:latin typeface="Calibri"/>
                <a:cs typeface="Calibri"/>
              </a:rPr>
              <a:t>step </a:t>
            </a:r>
            <a:r>
              <a:rPr dirty="0" sz="3200" b="0">
                <a:latin typeface="Calibri"/>
                <a:cs typeface="Calibri"/>
              </a:rPr>
              <a:t>a </a:t>
            </a:r>
            <a:r>
              <a:rPr dirty="0" sz="3200" spc="-5" b="0">
                <a:latin typeface="Calibri"/>
                <a:cs typeface="Calibri"/>
              </a:rPr>
              <a:t>decision </a:t>
            </a:r>
            <a:r>
              <a:rPr dirty="0" sz="3200" b="0">
                <a:latin typeface="Calibri"/>
                <a:cs typeface="Calibri"/>
              </a:rPr>
              <a:t>is made </a:t>
            </a:r>
            <a:r>
              <a:rPr dirty="0" sz="3200" spc="-5" b="0">
                <a:latin typeface="Calibri"/>
                <a:cs typeface="Calibri"/>
              </a:rPr>
              <a:t>based </a:t>
            </a:r>
            <a:r>
              <a:rPr dirty="0" sz="3200" b="0">
                <a:latin typeface="Calibri"/>
                <a:cs typeface="Calibri"/>
              </a:rPr>
              <a:t>on </a:t>
            </a:r>
            <a:r>
              <a:rPr dirty="0" sz="3200" spc="-5" b="0">
                <a:solidFill>
                  <a:srgbClr val="C00000"/>
                </a:solidFill>
                <a:latin typeface="Calibri"/>
                <a:cs typeface="Calibri"/>
              </a:rPr>
              <a:t>hidden  </a:t>
            </a:r>
            <a:r>
              <a:rPr dirty="0" sz="3200" spc="-25" b="0">
                <a:solidFill>
                  <a:srgbClr val="C00000"/>
                </a:solidFill>
                <a:latin typeface="Calibri"/>
                <a:cs typeface="Calibri"/>
              </a:rPr>
              <a:t>state</a:t>
            </a:r>
            <a:r>
              <a:rPr dirty="0" sz="3200" spc="-25" b="0">
                <a:latin typeface="Calibri"/>
                <a:cs typeface="Calibri"/>
              </a:rPr>
              <a:t>, </a:t>
            </a:r>
            <a:r>
              <a:rPr dirty="0" sz="3200" spc="-5" b="0">
                <a:latin typeface="Calibri"/>
                <a:cs typeface="Calibri"/>
              </a:rPr>
              <a:t>which </a:t>
            </a:r>
            <a:r>
              <a:rPr dirty="0" sz="3200" spc="-10" b="0">
                <a:latin typeface="Calibri"/>
                <a:cs typeface="Calibri"/>
              </a:rPr>
              <a:t>can</a:t>
            </a:r>
            <a:r>
              <a:rPr dirty="0" sz="3200" spc="-30" b="0">
                <a:latin typeface="Calibri"/>
                <a:cs typeface="Calibri"/>
              </a:rPr>
              <a:t> </a:t>
            </a:r>
            <a:r>
              <a:rPr dirty="0" sz="3200" b="0">
                <a:latin typeface="Calibri"/>
                <a:cs typeface="Calibri"/>
              </a:rPr>
              <a:t>be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3310635"/>
            <a:ext cx="7701915" cy="294640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Implicit: </a:t>
            </a:r>
            <a:r>
              <a:rPr dirty="0" sz="2800" spc="-15">
                <a:latin typeface="Calibri"/>
                <a:cs typeface="Calibri"/>
              </a:rPr>
              <a:t>vector representation, </a:t>
            </a:r>
            <a:r>
              <a:rPr dirty="0" sz="2800" spc="-10">
                <a:latin typeface="Calibri"/>
                <a:cs typeface="Calibri"/>
              </a:rPr>
              <a:t>decode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with</a:t>
            </a:r>
            <a:r>
              <a:rPr dirty="0" sz="2800" spc="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65">
                <a:solidFill>
                  <a:srgbClr val="C00000"/>
                </a:solidFill>
                <a:latin typeface="Calibri"/>
                <a:cs typeface="Calibri"/>
              </a:rPr>
              <a:t>RNN</a:t>
            </a:r>
            <a:endParaRPr sz="2800">
              <a:latin typeface="Calibri"/>
              <a:cs typeface="Calibri"/>
            </a:endParaRPr>
          </a:p>
          <a:p>
            <a:pPr marL="625475" marR="170180" indent="-274320">
              <a:lnSpc>
                <a:spcPts val="3290"/>
              </a:lnSpc>
              <a:spcBef>
                <a:spcPts val="81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Explicit: </a:t>
            </a:r>
            <a:r>
              <a:rPr dirty="0" sz="2800" spc="-15">
                <a:latin typeface="Calibri"/>
                <a:cs typeface="Calibri"/>
              </a:rPr>
              <a:t>intermediate </a:t>
            </a:r>
            <a:r>
              <a:rPr dirty="0" sz="2800" spc="-25">
                <a:latin typeface="Calibri"/>
                <a:cs typeface="Calibri"/>
              </a:rPr>
              <a:t>generated </a:t>
            </a:r>
            <a:r>
              <a:rPr dirty="0" sz="2800" spc="-15">
                <a:latin typeface="Calibri"/>
                <a:cs typeface="Calibri"/>
              </a:rPr>
              <a:t>graphs, </a:t>
            </a:r>
            <a:r>
              <a:rPr dirty="0" sz="2800" spc="-85">
                <a:latin typeface="Calibri"/>
                <a:cs typeface="Calibri"/>
              </a:rPr>
              <a:t>decode </a:t>
            </a:r>
            <a:r>
              <a:rPr dirty="0" sz="2800" spc="-8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with</a:t>
            </a:r>
            <a:r>
              <a:rPr dirty="0" sz="2800" spc="-9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GCN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80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>
                <a:latin typeface="Calibri"/>
                <a:cs typeface="Calibri"/>
              </a:rPr>
              <a:t>Possible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tasks: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700" spc="-15">
                <a:solidFill>
                  <a:srgbClr val="C00000"/>
                </a:solidFill>
                <a:latin typeface="Calibri"/>
                <a:cs typeface="Calibri"/>
              </a:rPr>
              <a:t>Imitating </a:t>
            </a:r>
            <a:r>
              <a:rPr dirty="0" sz="2700">
                <a:latin typeface="Calibri"/>
                <a:cs typeface="Calibri"/>
              </a:rPr>
              <a:t>a </a:t>
            </a:r>
            <a:r>
              <a:rPr dirty="0" sz="2700" spc="-15">
                <a:latin typeface="Calibri"/>
                <a:cs typeface="Calibri"/>
              </a:rPr>
              <a:t>set </a:t>
            </a:r>
            <a:r>
              <a:rPr dirty="0" sz="2700">
                <a:latin typeface="Calibri"/>
                <a:cs typeface="Calibri"/>
              </a:rPr>
              <a:t>of </a:t>
            </a:r>
            <a:r>
              <a:rPr dirty="0" sz="2700" spc="-10">
                <a:latin typeface="Calibri"/>
                <a:cs typeface="Calibri"/>
              </a:rPr>
              <a:t>given</a:t>
            </a:r>
            <a:r>
              <a:rPr dirty="0" sz="2700" spc="5">
                <a:latin typeface="Calibri"/>
                <a:cs typeface="Calibri"/>
              </a:rPr>
              <a:t> </a:t>
            </a:r>
            <a:r>
              <a:rPr dirty="0" sz="2700" spc="-20">
                <a:latin typeface="Calibri"/>
                <a:cs typeface="Calibri"/>
              </a:rPr>
              <a:t>graphs</a:t>
            </a:r>
            <a:endParaRPr sz="27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7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700" spc="-5">
                <a:solidFill>
                  <a:srgbClr val="C00000"/>
                </a:solidFill>
                <a:latin typeface="Calibri"/>
                <a:cs typeface="Calibri"/>
              </a:rPr>
              <a:t>Optimizing </a:t>
            </a:r>
            <a:r>
              <a:rPr dirty="0" sz="2700" spc="-15">
                <a:latin typeface="Calibri"/>
                <a:cs typeface="Calibri"/>
              </a:rPr>
              <a:t>graphs </a:t>
            </a:r>
            <a:r>
              <a:rPr dirty="0" sz="2700" spc="-25">
                <a:latin typeface="Calibri"/>
                <a:cs typeface="Calibri"/>
              </a:rPr>
              <a:t>towards </a:t>
            </a:r>
            <a:r>
              <a:rPr dirty="0" sz="2700" spc="-10">
                <a:latin typeface="Calibri"/>
                <a:cs typeface="Calibri"/>
              </a:rPr>
              <a:t>given</a:t>
            </a:r>
            <a:r>
              <a:rPr dirty="0" sz="2700" spc="5">
                <a:latin typeface="Calibri"/>
                <a:cs typeface="Calibri"/>
              </a:rPr>
              <a:t> </a:t>
            </a:r>
            <a:r>
              <a:rPr dirty="0" sz="2700" spc="-5">
                <a:latin typeface="Calibri"/>
                <a:cs typeface="Calibri"/>
              </a:rPr>
              <a:t>goals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4227" y="6694423"/>
            <a:ext cx="3435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3/2/21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73615" y="6694423"/>
            <a:ext cx="43434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6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3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19697" y="6694423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70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2026-10-20T23:59:41Z</dcterms:created>
  <dcterms:modified xsi:type="dcterms:W3CDTF">2026-10-20T23:59:41Z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2021-03-02T00:00:00Z</vt:filetime>
  </property>
  <property fmtid="{D5CDD505-2E9C-101B-9397-08002B2CF9AE}" pid="3" name="LastSaved">
    <vt:filetime>2026-10-20T00:00:00Z</vt:filetime>
  </property>
</Properties>
</file>