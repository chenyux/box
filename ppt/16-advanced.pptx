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025" y="1347723"/>
            <a:ext cx="877394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5589" y="2659379"/>
            <a:ext cx="8872821" cy="2282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73615" y="6136052"/>
            <a:ext cx="3002279" cy="728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54227" y="6699893"/>
            <a:ext cx="3435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5410" y="6699893"/>
            <a:ext cx="16700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://cs224w.stanford.edu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22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37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0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4.png"/><Relationship Id="rId3" Type="http://schemas.openxmlformats.org/officeDocument/2006/relationships/image" Target="../media/image55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82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Relationship Id="rId3" Type="http://schemas.openxmlformats.org/officeDocument/2006/relationships/image" Target="../media/image85.png"/><Relationship Id="rId4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0287" y="2706623"/>
            <a:ext cx="6952488" cy="2304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28559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6847" y="669442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92" y="1600200"/>
            <a:ext cx="8229599" cy="474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11524" y="3726370"/>
            <a:ext cx="43180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100">
                <a:latin typeface="Arial"/>
                <a:cs typeface="Arial"/>
              </a:rPr>
              <a:t>…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90998" y="4282066"/>
            <a:ext cx="4800600" cy="2322195"/>
          </a:xfrm>
          <a:custGeom>
            <a:avLst/>
            <a:gdLst/>
            <a:ahLst/>
            <a:cxnLst/>
            <a:rect l="l" t="t" r="r" b="b"/>
            <a:pathLst>
              <a:path w="4800600" h="2322195">
                <a:moveTo>
                  <a:pt x="4800601" y="1088137"/>
                </a:moveTo>
                <a:lnTo>
                  <a:pt x="0" y="1088137"/>
                </a:lnTo>
                <a:lnTo>
                  <a:pt x="0" y="2322051"/>
                </a:lnTo>
                <a:lnTo>
                  <a:pt x="4800601" y="2322051"/>
                </a:lnTo>
                <a:lnTo>
                  <a:pt x="4800601" y="1088137"/>
                </a:lnTo>
                <a:close/>
              </a:path>
              <a:path w="4800600" h="2322195">
                <a:moveTo>
                  <a:pt x="4541944" y="0"/>
                </a:moveTo>
                <a:lnTo>
                  <a:pt x="2800350" y="1088137"/>
                </a:lnTo>
                <a:lnTo>
                  <a:pt x="4000501" y="1088137"/>
                </a:lnTo>
                <a:lnTo>
                  <a:pt x="45419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62423" y="4253605"/>
            <a:ext cx="4857750" cy="2379345"/>
          </a:xfrm>
          <a:custGeom>
            <a:avLst/>
            <a:gdLst/>
            <a:ahLst/>
            <a:cxnLst/>
            <a:rect l="l" t="t" r="r" b="b"/>
            <a:pathLst>
              <a:path w="4857750" h="2379345">
                <a:moveTo>
                  <a:pt x="4573066" y="0"/>
                </a:moveTo>
                <a:lnTo>
                  <a:pt x="4563988" y="639"/>
                </a:lnTo>
                <a:lnTo>
                  <a:pt x="4555378" y="4227"/>
                </a:lnTo>
                <a:lnTo>
                  <a:pt x="2820732" y="1088023"/>
                </a:lnTo>
                <a:lnTo>
                  <a:pt x="28575" y="1088023"/>
                </a:lnTo>
                <a:lnTo>
                  <a:pt x="17452" y="1090269"/>
                </a:lnTo>
                <a:lnTo>
                  <a:pt x="8369" y="1096393"/>
                </a:lnTo>
                <a:lnTo>
                  <a:pt x="2245" y="1105475"/>
                </a:lnTo>
                <a:lnTo>
                  <a:pt x="0" y="1116598"/>
                </a:lnTo>
                <a:lnTo>
                  <a:pt x="0" y="2350512"/>
                </a:lnTo>
                <a:lnTo>
                  <a:pt x="2245" y="2361634"/>
                </a:lnTo>
                <a:lnTo>
                  <a:pt x="8369" y="2370717"/>
                </a:lnTo>
                <a:lnTo>
                  <a:pt x="17452" y="2376841"/>
                </a:lnTo>
                <a:lnTo>
                  <a:pt x="28575" y="2379087"/>
                </a:lnTo>
                <a:lnTo>
                  <a:pt x="4829176" y="2379087"/>
                </a:lnTo>
                <a:lnTo>
                  <a:pt x="4840298" y="2376841"/>
                </a:lnTo>
                <a:lnTo>
                  <a:pt x="4849381" y="2370717"/>
                </a:lnTo>
                <a:lnTo>
                  <a:pt x="4855505" y="2361634"/>
                </a:lnTo>
                <a:lnTo>
                  <a:pt x="4857751" y="2350512"/>
                </a:lnTo>
                <a:lnTo>
                  <a:pt x="4857751" y="2344797"/>
                </a:lnTo>
                <a:lnTo>
                  <a:pt x="34289" y="2344797"/>
                </a:lnTo>
                <a:lnTo>
                  <a:pt x="34289" y="1122313"/>
                </a:lnTo>
                <a:lnTo>
                  <a:pt x="2829995" y="1122313"/>
                </a:lnTo>
                <a:lnTo>
                  <a:pt x="2831045" y="1122012"/>
                </a:lnTo>
                <a:lnTo>
                  <a:pt x="4519337" y="67176"/>
                </a:lnTo>
                <a:lnTo>
                  <a:pt x="4544936" y="15731"/>
                </a:lnTo>
                <a:lnTo>
                  <a:pt x="4595919" y="15731"/>
                </a:lnTo>
                <a:lnTo>
                  <a:pt x="4595517" y="14613"/>
                </a:lnTo>
                <a:lnTo>
                  <a:pt x="4589724" y="7302"/>
                </a:lnTo>
                <a:lnTo>
                  <a:pt x="4581887" y="2242"/>
                </a:lnTo>
                <a:lnTo>
                  <a:pt x="4573066" y="0"/>
                </a:lnTo>
                <a:close/>
              </a:path>
              <a:path w="4857750" h="2379345">
                <a:moveTo>
                  <a:pt x="4598673" y="25914"/>
                </a:moveTo>
                <a:lnTo>
                  <a:pt x="4565402" y="25914"/>
                </a:lnTo>
                <a:lnTo>
                  <a:pt x="4573546" y="33307"/>
                </a:lnTo>
                <a:lnTo>
                  <a:pt x="4570808" y="35018"/>
                </a:lnTo>
                <a:lnTo>
                  <a:pt x="4579603" y="43001"/>
                </a:lnTo>
                <a:lnTo>
                  <a:pt x="4576865" y="44712"/>
                </a:lnTo>
                <a:lnTo>
                  <a:pt x="4585660" y="52695"/>
                </a:lnTo>
                <a:lnTo>
                  <a:pt x="4536925" y="83144"/>
                </a:lnTo>
                <a:lnTo>
                  <a:pt x="4023078" y="1115823"/>
                </a:lnTo>
                <a:lnTo>
                  <a:pt x="4023174" y="1117925"/>
                </a:lnTo>
                <a:lnTo>
                  <a:pt x="4025258" y="1121289"/>
                </a:lnTo>
                <a:lnTo>
                  <a:pt x="4027096" y="1122313"/>
                </a:lnTo>
                <a:lnTo>
                  <a:pt x="4823461" y="1122313"/>
                </a:lnTo>
                <a:lnTo>
                  <a:pt x="4823461" y="2344797"/>
                </a:lnTo>
                <a:lnTo>
                  <a:pt x="4857751" y="2344797"/>
                </a:lnTo>
                <a:lnTo>
                  <a:pt x="4857751" y="1116598"/>
                </a:lnTo>
                <a:lnTo>
                  <a:pt x="4855505" y="1105475"/>
                </a:lnTo>
                <a:lnTo>
                  <a:pt x="4849381" y="1096393"/>
                </a:lnTo>
                <a:lnTo>
                  <a:pt x="4840298" y="1090269"/>
                </a:lnTo>
                <a:lnTo>
                  <a:pt x="4829176" y="1088023"/>
                </a:lnTo>
                <a:lnTo>
                  <a:pt x="4075211" y="1088023"/>
                </a:lnTo>
                <a:lnTo>
                  <a:pt x="4596102" y="41190"/>
                </a:lnTo>
                <a:lnTo>
                  <a:pt x="4598840" y="32273"/>
                </a:lnTo>
                <a:lnTo>
                  <a:pt x="4598673" y="25914"/>
                </a:lnTo>
                <a:close/>
              </a:path>
              <a:path w="4857750" h="2379345">
                <a:moveTo>
                  <a:pt x="4509605" y="86735"/>
                </a:moveTo>
                <a:lnTo>
                  <a:pt x="2835285" y="1132840"/>
                </a:lnTo>
                <a:lnTo>
                  <a:pt x="2832138" y="1133743"/>
                </a:lnTo>
                <a:lnTo>
                  <a:pt x="45719" y="1133743"/>
                </a:lnTo>
                <a:lnTo>
                  <a:pt x="45719" y="2333367"/>
                </a:lnTo>
                <a:lnTo>
                  <a:pt x="4812031" y="2333367"/>
                </a:lnTo>
                <a:lnTo>
                  <a:pt x="4812031" y="2321937"/>
                </a:lnTo>
                <a:lnTo>
                  <a:pt x="57150" y="2321937"/>
                </a:lnTo>
                <a:lnTo>
                  <a:pt x="57150" y="1145173"/>
                </a:lnTo>
                <a:lnTo>
                  <a:pt x="2834279" y="1145173"/>
                </a:lnTo>
                <a:lnTo>
                  <a:pt x="2839525" y="1143669"/>
                </a:lnTo>
                <a:lnTo>
                  <a:pt x="4499873" y="106294"/>
                </a:lnTo>
                <a:lnTo>
                  <a:pt x="4509605" y="86735"/>
                </a:lnTo>
                <a:close/>
              </a:path>
              <a:path w="4857750" h="2379345">
                <a:moveTo>
                  <a:pt x="4518400" y="94718"/>
                </a:moveTo>
                <a:lnTo>
                  <a:pt x="4499873" y="106294"/>
                </a:lnTo>
                <a:lnTo>
                  <a:pt x="4003492" y="1103869"/>
                </a:lnTo>
                <a:lnTo>
                  <a:pt x="4001101" y="1110762"/>
                </a:lnTo>
                <a:lnTo>
                  <a:pt x="4000531" y="1117925"/>
                </a:lnTo>
                <a:lnTo>
                  <a:pt x="4001763" y="1125001"/>
                </a:lnTo>
                <a:lnTo>
                  <a:pt x="4029076" y="1145173"/>
                </a:lnTo>
                <a:lnTo>
                  <a:pt x="4800601" y="1145173"/>
                </a:lnTo>
                <a:lnTo>
                  <a:pt x="4800601" y="2321937"/>
                </a:lnTo>
                <a:lnTo>
                  <a:pt x="4812031" y="2321937"/>
                </a:lnTo>
                <a:lnTo>
                  <a:pt x="4812031" y="1133743"/>
                </a:lnTo>
                <a:lnTo>
                  <a:pt x="4023139" y="1133743"/>
                </a:lnTo>
                <a:lnTo>
                  <a:pt x="4017625" y="1130672"/>
                </a:lnTo>
                <a:lnTo>
                  <a:pt x="4011373" y="1120579"/>
                </a:lnTo>
                <a:lnTo>
                  <a:pt x="4011081" y="1114275"/>
                </a:lnTo>
                <a:lnTo>
                  <a:pt x="4518400" y="94718"/>
                </a:lnTo>
                <a:close/>
              </a:path>
              <a:path w="4857750" h="2379345">
                <a:moveTo>
                  <a:pt x="4528132" y="75160"/>
                </a:moveTo>
                <a:lnTo>
                  <a:pt x="4509605" y="86735"/>
                </a:lnTo>
                <a:lnTo>
                  <a:pt x="4499873" y="106294"/>
                </a:lnTo>
                <a:lnTo>
                  <a:pt x="4518400" y="94718"/>
                </a:lnTo>
                <a:lnTo>
                  <a:pt x="4528132" y="75160"/>
                </a:lnTo>
                <a:close/>
              </a:path>
              <a:path w="4857750" h="2379345">
                <a:moveTo>
                  <a:pt x="4546657" y="63585"/>
                </a:moveTo>
                <a:lnTo>
                  <a:pt x="4528132" y="75160"/>
                </a:lnTo>
                <a:lnTo>
                  <a:pt x="4518400" y="94718"/>
                </a:lnTo>
                <a:lnTo>
                  <a:pt x="4536925" y="83144"/>
                </a:lnTo>
                <a:lnTo>
                  <a:pt x="4546657" y="63585"/>
                </a:lnTo>
                <a:close/>
              </a:path>
              <a:path w="4857750" h="2379345">
                <a:moveTo>
                  <a:pt x="4537864" y="55601"/>
                </a:moveTo>
                <a:lnTo>
                  <a:pt x="4519337" y="67176"/>
                </a:lnTo>
                <a:lnTo>
                  <a:pt x="4509605" y="86735"/>
                </a:lnTo>
                <a:lnTo>
                  <a:pt x="4528132" y="75160"/>
                </a:lnTo>
                <a:lnTo>
                  <a:pt x="4537864" y="55601"/>
                </a:lnTo>
                <a:close/>
              </a:path>
              <a:path w="4857750" h="2379345">
                <a:moveTo>
                  <a:pt x="4576865" y="44712"/>
                </a:moveTo>
                <a:lnTo>
                  <a:pt x="4546657" y="63585"/>
                </a:lnTo>
                <a:lnTo>
                  <a:pt x="4536925" y="83144"/>
                </a:lnTo>
                <a:lnTo>
                  <a:pt x="4585660" y="52695"/>
                </a:lnTo>
                <a:lnTo>
                  <a:pt x="4576865" y="44712"/>
                </a:lnTo>
                <a:close/>
              </a:path>
              <a:path w="4857750" h="2379345">
                <a:moveTo>
                  <a:pt x="4544936" y="15731"/>
                </a:moveTo>
                <a:lnTo>
                  <a:pt x="4519337" y="67176"/>
                </a:lnTo>
                <a:lnTo>
                  <a:pt x="4537864" y="55601"/>
                </a:lnTo>
                <a:lnTo>
                  <a:pt x="4553731" y="23714"/>
                </a:lnTo>
                <a:lnTo>
                  <a:pt x="4544936" y="15731"/>
                </a:lnTo>
                <a:close/>
              </a:path>
              <a:path w="4857750" h="2379345">
                <a:moveTo>
                  <a:pt x="4568069" y="36729"/>
                </a:moveTo>
                <a:lnTo>
                  <a:pt x="4556389" y="44027"/>
                </a:lnTo>
                <a:lnTo>
                  <a:pt x="4546657" y="63585"/>
                </a:lnTo>
                <a:lnTo>
                  <a:pt x="4576865" y="44712"/>
                </a:lnTo>
                <a:lnTo>
                  <a:pt x="4568069" y="36729"/>
                </a:lnTo>
                <a:close/>
              </a:path>
              <a:path w="4857750" h="2379345">
                <a:moveTo>
                  <a:pt x="4553731" y="23714"/>
                </a:moveTo>
                <a:lnTo>
                  <a:pt x="4537864" y="55601"/>
                </a:lnTo>
                <a:lnTo>
                  <a:pt x="4556389" y="44027"/>
                </a:lnTo>
                <a:lnTo>
                  <a:pt x="4562525" y="31696"/>
                </a:lnTo>
                <a:lnTo>
                  <a:pt x="4553731" y="23714"/>
                </a:lnTo>
                <a:close/>
              </a:path>
              <a:path w="4857750" h="2379345">
                <a:moveTo>
                  <a:pt x="4562525" y="31696"/>
                </a:moveTo>
                <a:lnTo>
                  <a:pt x="4556389" y="44027"/>
                </a:lnTo>
                <a:lnTo>
                  <a:pt x="4568069" y="36729"/>
                </a:lnTo>
                <a:lnTo>
                  <a:pt x="4562525" y="31696"/>
                </a:lnTo>
                <a:close/>
              </a:path>
              <a:path w="4857750" h="2379345">
                <a:moveTo>
                  <a:pt x="4563963" y="28805"/>
                </a:moveTo>
                <a:lnTo>
                  <a:pt x="4562525" y="31696"/>
                </a:lnTo>
                <a:lnTo>
                  <a:pt x="4568069" y="36729"/>
                </a:lnTo>
                <a:lnTo>
                  <a:pt x="4570808" y="35018"/>
                </a:lnTo>
                <a:lnTo>
                  <a:pt x="4563963" y="28805"/>
                </a:lnTo>
                <a:close/>
              </a:path>
              <a:path w="4857750" h="2379345">
                <a:moveTo>
                  <a:pt x="4565402" y="25914"/>
                </a:moveTo>
                <a:lnTo>
                  <a:pt x="4563963" y="28805"/>
                </a:lnTo>
                <a:lnTo>
                  <a:pt x="4570808" y="35018"/>
                </a:lnTo>
                <a:lnTo>
                  <a:pt x="4573546" y="33307"/>
                </a:lnTo>
                <a:lnTo>
                  <a:pt x="4565402" y="25914"/>
                </a:lnTo>
                <a:close/>
              </a:path>
              <a:path w="4857750" h="2379345">
                <a:moveTo>
                  <a:pt x="4597753" y="20823"/>
                </a:moveTo>
                <a:lnTo>
                  <a:pt x="4555169" y="20823"/>
                </a:lnTo>
                <a:lnTo>
                  <a:pt x="4563963" y="28805"/>
                </a:lnTo>
                <a:lnTo>
                  <a:pt x="4565402" y="25914"/>
                </a:lnTo>
                <a:lnTo>
                  <a:pt x="4598673" y="25914"/>
                </a:lnTo>
                <a:lnTo>
                  <a:pt x="4598600" y="23176"/>
                </a:lnTo>
                <a:lnTo>
                  <a:pt x="4597753" y="20823"/>
                </a:lnTo>
                <a:close/>
              </a:path>
              <a:path w="4857750" h="2379345">
                <a:moveTo>
                  <a:pt x="4595919" y="15731"/>
                </a:moveTo>
                <a:lnTo>
                  <a:pt x="4544936" y="15731"/>
                </a:lnTo>
                <a:lnTo>
                  <a:pt x="4553731" y="23714"/>
                </a:lnTo>
                <a:lnTo>
                  <a:pt x="4555169" y="20823"/>
                </a:lnTo>
                <a:lnTo>
                  <a:pt x="4597753" y="20823"/>
                </a:lnTo>
                <a:lnTo>
                  <a:pt x="4595919" y="157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69740" y="5424932"/>
            <a:ext cx="3771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Output: </a:t>
            </a:r>
            <a:r>
              <a:rPr dirty="0" sz="2400">
                <a:latin typeface="Arial"/>
                <a:cs typeface="Arial"/>
              </a:rPr>
              <a:t>Node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embeddings.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3615" y="5791200"/>
            <a:ext cx="6120130" cy="106616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608455" marR="5080">
              <a:lnSpc>
                <a:spcPct val="101699"/>
              </a:lnSpc>
              <a:spcBef>
                <a:spcPts val="50"/>
              </a:spcBef>
              <a:tabLst>
                <a:tab pos="3130550" algn="l"/>
              </a:tabLst>
            </a:pPr>
            <a:r>
              <a:rPr dirty="0" sz="2300" spc="-20">
                <a:latin typeface="Arial"/>
                <a:cs typeface="Arial"/>
              </a:rPr>
              <a:t>We </a:t>
            </a:r>
            <a:r>
              <a:rPr dirty="0" sz="2300" spc="-5">
                <a:latin typeface="Arial"/>
                <a:cs typeface="Arial"/>
              </a:rPr>
              <a:t>can also embed larger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5">
                <a:latin typeface="Arial"/>
                <a:cs typeface="Arial"/>
              </a:rPr>
              <a:t>network  structures,	subgraphs,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5">
                <a:latin typeface="Arial"/>
                <a:cs typeface="Arial"/>
              </a:rPr>
              <a:t>graphs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Leskovec, Stanford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CS224W: Machine Learning with Graphs,</a:t>
            </a:r>
            <a:r>
              <a:rPr dirty="0" sz="900" spc="1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hBp://cs224w.stanford.edu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1345" y="2516037"/>
            <a:ext cx="464820" cy="298450"/>
          </a:xfrm>
          <a:custGeom>
            <a:avLst/>
            <a:gdLst/>
            <a:ahLst/>
            <a:cxnLst/>
            <a:rect l="l" t="t" r="r" b="b"/>
            <a:pathLst>
              <a:path w="464819" h="298450">
                <a:moveTo>
                  <a:pt x="0" y="290396"/>
                </a:moveTo>
                <a:lnTo>
                  <a:pt x="459482" y="0"/>
                </a:lnTo>
                <a:lnTo>
                  <a:pt x="464221" y="7498"/>
                </a:lnTo>
                <a:lnTo>
                  <a:pt x="4738" y="297894"/>
                </a:lnTo>
                <a:lnTo>
                  <a:pt x="0" y="29039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6219" y="2118419"/>
            <a:ext cx="454025" cy="682625"/>
          </a:xfrm>
          <a:custGeom>
            <a:avLst/>
            <a:gdLst/>
            <a:ahLst/>
            <a:cxnLst/>
            <a:rect l="l" t="t" r="r" b="b"/>
            <a:pathLst>
              <a:path w="454025" h="682625">
                <a:moveTo>
                  <a:pt x="0" y="677115"/>
                </a:moveTo>
                <a:lnTo>
                  <a:pt x="446275" y="0"/>
                </a:lnTo>
                <a:lnTo>
                  <a:pt x="453682" y="4881"/>
                </a:lnTo>
                <a:lnTo>
                  <a:pt x="7406" y="681996"/>
                </a:lnTo>
                <a:lnTo>
                  <a:pt x="0" y="677115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5704" y="2054125"/>
            <a:ext cx="1000760" cy="90805"/>
          </a:xfrm>
          <a:custGeom>
            <a:avLst/>
            <a:gdLst/>
            <a:ahLst/>
            <a:cxnLst/>
            <a:rect l="l" t="t" r="r" b="b"/>
            <a:pathLst>
              <a:path w="1000760" h="90805">
                <a:moveTo>
                  <a:pt x="719" y="0"/>
                </a:moveTo>
                <a:lnTo>
                  <a:pt x="1000390" y="81387"/>
                </a:lnTo>
                <a:lnTo>
                  <a:pt x="999670" y="90228"/>
                </a:lnTo>
                <a:lnTo>
                  <a:pt x="0" y="8840"/>
                </a:lnTo>
                <a:lnTo>
                  <a:pt x="71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26446" y="1628394"/>
            <a:ext cx="222885" cy="513715"/>
          </a:xfrm>
          <a:custGeom>
            <a:avLst/>
            <a:gdLst/>
            <a:ahLst/>
            <a:cxnLst/>
            <a:rect l="l" t="t" r="r" b="b"/>
            <a:pathLst>
              <a:path w="222884" h="513714">
                <a:moveTo>
                  <a:pt x="8179" y="0"/>
                </a:moveTo>
                <a:lnTo>
                  <a:pt x="222277" y="510149"/>
                </a:lnTo>
                <a:lnTo>
                  <a:pt x="214098" y="513582"/>
                </a:lnTo>
                <a:lnTo>
                  <a:pt x="0" y="3432"/>
                </a:lnTo>
                <a:lnTo>
                  <a:pt x="817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2171" y="3085247"/>
            <a:ext cx="716915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10" b="1">
                <a:latin typeface="Arial"/>
                <a:cs typeface="Arial"/>
              </a:rPr>
              <a:t>INPUT</a:t>
            </a:r>
            <a:r>
              <a:rPr dirty="0" sz="750" spc="-15" b="1">
                <a:latin typeface="Arial"/>
                <a:cs typeface="Arial"/>
              </a:rPr>
              <a:t> </a:t>
            </a:r>
            <a:r>
              <a:rPr dirty="0" sz="750" spc="15" b="1">
                <a:latin typeface="Arial"/>
                <a:cs typeface="Arial"/>
              </a:rPr>
              <a:t>GRAPH</a:t>
            </a:r>
            <a:endParaRPr sz="7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9395" y="1645108"/>
            <a:ext cx="1270" cy="227965"/>
          </a:xfrm>
          <a:custGeom>
            <a:avLst/>
            <a:gdLst/>
            <a:ahLst/>
            <a:cxnLst/>
            <a:rect l="l" t="t" r="r" b="b"/>
            <a:pathLst>
              <a:path w="1270" h="227964">
                <a:moveTo>
                  <a:pt x="0" y="0"/>
                </a:moveTo>
                <a:lnTo>
                  <a:pt x="757" y="223199"/>
                </a:lnTo>
                <a:lnTo>
                  <a:pt x="772" y="227634"/>
                </a:lnTo>
              </a:path>
            </a:pathLst>
          </a:custGeom>
          <a:ln w="8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542" y="1868218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53221" y="0"/>
                </a:moveTo>
                <a:lnTo>
                  <a:pt x="0" y="179"/>
                </a:lnTo>
                <a:lnTo>
                  <a:pt x="26791" y="53310"/>
                </a:lnTo>
                <a:lnTo>
                  <a:pt x="53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918" y="1488617"/>
            <a:ext cx="71374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20">
                <a:latin typeface="Arial"/>
                <a:cs typeface="Arial"/>
              </a:rPr>
              <a:t>TARGET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5">
                <a:latin typeface="Arial"/>
                <a:cs typeface="Arial"/>
              </a:rPr>
              <a:t>NODE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1480" y="1616090"/>
            <a:ext cx="732155" cy="430530"/>
          </a:xfrm>
          <a:custGeom>
            <a:avLst/>
            <a:gdLst/>
            <a:ahLst/>
            <a:cxnLst/>
            <a:rect l="l" t="t" r="r" b="b"/>
            <a:pathLst>
              <a:path w="732155" h="430530">
                <a:moveTo>
                  <a:pt x="731860" y="7668"/>
                </a:moveTo>
                <a:lnTo>
                  <a:pt x="4457" y="430512"/>
                </a:lnTo>
                <a:lnTo>
                  <a:pt x="0" y="422843"/>
                </a:lnTo>
                <a:lnTo>
                  <a:pt x="727402" y="0"/>
                </a:lnTo>
                <a:lnTo>
                  <a:pt x="731860" y="76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5290" y="1502681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1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63088" y="148152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4951" y="2096364"/>
            <a:ext cx="270510" cy="583565"/>
          </a:xfrm>
          <a:custGeom>
            <a:avLst/>
            <a:gdLst/>
            <a:ahLst/>
            <a:cxnLst/>
            <a:rect l="l" t="t" r="r" b="b"/>
            <a:pathLst>
              <a:path w="270509" h="583564">
                <a:moveTo>
                  <a:pt x="270446" y="3656"/>
                </a:moveTo>
                <a:lnTo>
                  <a:pt x="8081" y="583544"/>
                </a:lnTo>
                <a:lnTo>
                  <a:pt x="0" y="579888"/>
                </a:lnTo>
                <a:lnTo>
                  <a:pt x="262365" y="0"/>
                </a:lnTo>
                <a:lnTo>
                  <a:pt x="270446" y="3656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7340" y="254634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1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33366" y="2727628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3972" y="2490946"/>
            <a:ext cx="862965" cy="3981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50" spc="10" b="1">
                <a:latin typeface="Courier New"/>
                <a:cs typeface="Courier New"/>
              </a:rPr>
              <a:t>D</a:t>
            </a:r>
            <a:endParaRPr sz="95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325"/>
              </a:spcBef>
            </a:pPr>
            <a:r>
              <a:rPr dirty="0" sz="950" spc="10" b="1">
                <a:latin typeface="Courier New"/>
                <a:cs typeface="Courier New"/>
              </a:rPr>
              <a:t>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82927" y="2179035"/>
            <a:ext cx="142240" cy="283210"/>
          </a:xfrm>
          <a:custGeom>
            <a:avLst/>
            <a:gdLst/>
            <a:ahLst/>
            <a:cxnLst/>
            <a:rect l="l" t="t" r="r" b="b"/>
            <a:pathLst>
              <a:path w="142240" h="283210">
                <a:moveTo>
                  <a:pt x="7997" y="0"/>
                </a:moveTo>
                <a:lnTo>
                  <a:pt x="141811" y="278917"/>
                </a:lnTo>
                <a:lnTo>
                  <a:pt x="133814" y="282754"/>
                </a:lnTo>
                <a:lnTo>
                  <a:pt x="0" y="3836"/>
                </a:lnTo>
                <a:lnTo>
                  <a:pt x="799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23426" y="2384607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1" y="0"/>
                </a:moveTo>
                <a:lnTo>
                  <a:pt x="56732" y="6642"/>
                </a:lnTo>
                <a:lnTo>
                  <a:pt x="26641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1" y="154862"/>
                </a:lnTo>
                <a:lnTo>
                  <a:pt x="56732" y="174790"/>
                </a:lnTo>
                <a:lnTo>
                  <a:pt x="90961" y="181432"/>
                </a:lnTo>
                <a:lnTo>
                  <a:pt x="125190" y="174790"/>
                </a:lnTo>
                <a:lnTo>
                  <a:pt x="155280" y="154862"/>
                </a:lnTo>
                <a:lnTo>
                  <a:pt x="175262" y="124852"/>
                </a:lnTo>
                <a:lnTo>
                  <a:pt x="181922" y="90716"/>
                </a:lnTo>
                <a:lnTo>
                  <a:pt x="175262" y="56579"/>
                </a:lnTo>
                <a:lnTo>
                  <a:pt x="155280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62249" y="2368538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F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63392" y="2039373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4" h="181610">
                <a:moveTo>
                  <a:pt x="90962" y="0"/>
                </a:moveTo>
                <a:lnTo>
                  <a:pt x="56733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6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3" y="174789"/>
                </a:lnTo>
                <a:lnTo>
                  <a:pt x="90962" y="181431"/>
                </a:lnTo>
                <a:lnTo>
                  <a:pt x="125191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6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1" y="6642"/>
                </a:lnTo>
                <a:lnTo>
                  <a:pt x="90962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02585" y="2022601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C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1847" y="1967625"/>
            <a:ext cx="182245" cy="181610"/>
          </a:xfrm>
          <a:custGeom>
            <a:avLst/>
            <a:gdLst/>
            <a:ahLst/>
            <a:cxnLst/>
            <a:rect l="l" t="t" r="r" b="b"/>
            <a:pathLst>
              <a:path w="182245" h="181610">
                <a:moveTo>
                  <a:pt x="90961" y="0"/>
                </a:moveTo>
                <a:lnTo>
                  <a:pt x="56732" y="6642"/>
                </a:lnTo>
                <a:lnTo>
                  <a:pt x="26642" y="26569"/>
                </a:lnTo>
                <a:lnTo>
                  <a:pt x="6660" y="56579"/>
                </a:lnTo>
                <a:lnTo>
                  <a:pt x="0" y="90715"/>
                </a:lnTo>
                <a:lnTo>
                  <a:pt x="6660" y="124852"/>
                </a:lnTo>
                <a:lnTo>
                  <a:pt x="26642" y="154861"/>
                </a:lnTo>
                <a:lnTo>
                  <a:pt x="56732" y="174789"/>
                </a:lnTo>
                <a:lnTo>
                  <a:pt x="90961" y="181432"/>
                </a:lnTo>
                <a:lnTo>
                  <a:pt x="125190" y="174789"/>
                </a:lnTo>
                <a:lnTo>
                  <a:pt x="155281" y="154861"/>
                </a:lnTo>
                <a:lnTo>
                  <a:pt x="175263" y="124852"/>
                </a:lnTo>
                <a:lnTo>
                  <a:pt x="181923" y="90715"/>
                </a:lnTo>
                <a:lnTo>
                  <a:pt x="175263" y="56579"/>
                </a:lnTo>
                <a:lnTo>
                  <a:pt x="155281" y="26569"/>
                </a:lnTo>
                <a:lnTo>
                  <a:pt x="125190" y="6642"/>
                </a:lnTo>
                <a:lnTo>
                  <a:pt x="90961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9117" y="1942770"/>
            <a:ext cx="1003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latin typeface="Courier New"/>
                <a:cs typeface="Courier New"/>
              </a:rPr>
              <a:t>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17636" y="2155510"/>
            <a:ext cx="3449642" cy="397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586295" y="3023107"/>
            <a:ext cx="1971675" cy="105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24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2400" spc="-7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079980" y="2891656"/>
            <a:ext cx="5986145" cy="1302385"/>
          </a:xfrm>
          <a:custGeom>
            <a:avLst/>
            <a:gdLst/>
            <a:ahLst/>
            <a:cxnLst/>
            <a:rect l="l" t="t" r="r" b="b"/>
            <a:pathLst>
              <a:path w="5986145" h="1302385">
                <a:moveTo>
                  <a:pt x="0" y="0"/>
                </a:moveTo>
                <a:lnTo>
                  <a:pt x="5985711" y="0"/>
                </a:lnTo>
                <a:lnTo>
                  <a:pt x="5985711" y="1302052"/>
                </a:lnTo>
                <a:lnTo>
                  <a:pt x="0" y="13020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184670" y="3332988"/>
            <a:ext cx="13296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79979" y="4688799"/>
            <a:ext cx="5986145" cy="1096010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Layer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11181" y="6168644"/>
            <a:ext cx="3060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(4)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r>
              <a:rPr dirty="0" sz="2400" spc="-6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5724" y="4025900"/>
            <a:ext cx="157353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(3)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Layer  c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nne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18782" y="1721611"/>
            <a:ext cx="2755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0B5CC"/>
                </a:solidFill>
                <a:latin typeface="Calibri"/>
                <a:cs typeface="Calibri"/>
              </a:rPr>
              <a:t>(5) Learning</a:t>
            </a:r>
            <a:r>
              <a:rPr dirty="0" sz="2400" spc="-4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5216" y="347472"/>
            <a:ext cx="8369808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830389" y="20827"/>
            <a:ext cx="52260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8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2020c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3746257"/>
            <a:ext cx="1145986" cy="1063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920557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920558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3588707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3583994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19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85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3588707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446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9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4772544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8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4602" y="2309681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300355" marR="130810" indent="-161925">
              <a:lnSpc>
                <a:spcPct val="100000"/>
              </a:lnSpc>
              <a:spcBef>
                <a:spcPts val="90"/>
              </a:spcBef>
            </a:pPr>
            <a:r>
              <a:rPr dirty="0" sz="2000" spc="50" b="1">
                <a:solidFill>
                  <a:srgbClr val="C00000"/>
                </a:solidFill>
                <a:latin typeface="Calibri"/>
                <a:cs typeface="Calibri"/>
              </a:rPr>
              <a:t>Evalua:on 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metrics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0268" y="3819107"/>
            <a:ext cx="956356" cy="1101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2746494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9215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9215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2746494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8425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75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4521785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4521785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455487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455487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4576086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4576086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360419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360419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887284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57149"/>
                </a:moveTo>
                <a:lnTo>
                  <a:pt x="197683" y="85725"/>
                </a:lnTo>
                <a:lnTo>
                  <a:pt x="254833" y="57150"/>
                </a:lnTo>
                <a:lnTo>
                  <a:pt x="197683" y="57149"/>
                </a:lnTo>
                <a:close/>
              </a:path>
              <a:path w="283844" h="85725">
                <a:moveTo>
                  <a:pt x="197683" y="28574"/>
                </a:moveTo>
                <a:lnTo>
                  <a:pt x="197683" y="57149"/>
                </a:lnTo>
                <a:lnTo>
                  <a:pt x="219862" y="57148"/>
                </a:lnTo>
                <a:lnTo>
                  <a:pt x="226258" y="50753"/>
                </a:lnTo>
                <a:lnTo>
                  <a:pt x="226258" y="34970"/>
                </a:lnTo>
                <a:lnTo>
                  <a:pt x="219861" y="28575"/>
                </a:lnTo>
                <a:lnTo>
                  <a:pt x="197683" y="28574"/>
                </a:lnTo>
                <a:close/>
              </a:path>
              <a:path w="283844" h="85725">
                <a:moveTo>
                  <a:pt x="197683" y="0"/>
                </a:moveTo>
                <a:lnTo>
                  <a:pt x="197683" y="28574"/>
                </a:lnTo>
                <a:lnTo>
                  <a:pt x="211970" y="28575"/>
                </a:lnTo>
                <a:lnTo>
                  <a:pt x="219861" y="28575"/>
                </a:lnTo>
                <a:lnTo>
                  <a:pt x="226258" y="34970"/>
                </a:lnTo>
                <a:lnTo>
                  <a:pt x="226258" y="50753"/>
                </a:lnTo>
                <a:lnTo>
                  <a:pt x="219861" y="57150"/>
                </a:lnTo>
                <a:lnTo>
                  <a:pt x="254835" y="57148"/>
                </a:lnTo>
                <a:lnTo>
                  <a:pt x="283408" y="42862"/>
                </a:lnTo>
                <a:lnTo>
                  <a:pt x="197683" y="0"/>
                </a:lnTo>
                <a:close/>
              </a:path>
              <a:path w="28384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97683" y="57149"/>
                </a:lnTo>
                <a:lnTo>
                  <a:pt x="19768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887147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7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4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5"/>
                </a:lnTo>
                <a:lnTo>
                  <a:pt x="0" y="35115"/>
                </a:lnTo>
                <a:lnTo>
                  <a:pt x="8" y="50897"/>
                </a:lnTo>
                <a:lnTo>
                  <a:pt x="6409" y="57290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7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883755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2"/>
                </a:lnTo>
                <a:lnTo>
                  <a:pt x="247023" y="56789"/>
                </a:lnTo>
                <a:lnTo>
                  <a:pt x="224848" y="57142"/>
                </a:lnTo>
                <a:lnTo>
                  <a:pt x="225303" y="85713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8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8" y="57142"/>
                </a:lnTo>
                <a:lnTo>
                  <a:pt x="247023" y="56789"/>
                </a:lnTo>
                <a:lnTo>
                  <a:pt x="253318" y="50292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992187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5">
                <a:moveTo>
                  <a:pt x="525097" y="51249"/>
                </a:moveTo>
                <a:lnTo>
                  <a:pt x="0" y="587447"/>
                </a:lnTo>
                <a:lnTo>
                  <a:pt x="93" y="596493"/>
                </a:lnTo>
                <a:lnTo>
                  <a:pt x="11369" y="607534"/>
                </a:lnTo>
                <a:lnTo>
                  <a:pt x="20415" y="607440"/>
                </a:lnTo>
                <a:lnTo>
                  <a:pt x="545514" y="71243"/>
                </a:lnTo>
                <a:lnTo>
                  <a:pt x="525097" y="51249"/>
                </a:lnTo>
                <a:close/>
              </a:path>
              <a:path w="595629" h="607695">
                <a:moveTo>
                  <a:pt x="583924" y="35311"/>
                </a:moveTo>
                <a:lnTo>
                  <a:pt x="549661" y="35311"/>
                </a:lnTo>
                <a:lnTo>
                  <a:pt x="560936" y="46352"/>
                </a:lnTo>
                <a:lnTo>
                  <a:pt x="561031" y="55398"/>
                </a:lnTo>
                <a:lnTo>
                  <a:pt x="545514" y="71243"/>
                </a:lnTo>
                <a:lnTo>
                  <a:pt x="565929" y="91236"/>
                </a:lnTo>
                <a:lnTo>
                  <a:pt x="583924" y="35311"/>
                </a:lnTo>
                <a:close/>
              </a:path>
              <a:path w="595629" h="607695">
                <a:moveTo>
                  <a:pt x="549661" y="35311"/>
                </a:moveTo>
                <a:lnTo>
                  <a:pt x="540614" y="35405"/>
                </a:lnTo>
                <a:lnTo>
                  <a:pt x="525097" y="51249"/>
                </a:lnTo>
                <a:lnTo>
                  <a:pt x="545514" y="71243"/>
                </a:lnTo>
                <a:lnTo>
                  <a:pt x="561031" y="55398"/>
                </a:lnTo>
                <a:lnTo>
                  <a:pt x="560936" y="46352"/>
                </a:lnTo>
                <a:lnTo>
                  <a:pt x="549661" y="35311"/>
                </a:lnTo>
                <a:close/>
              </a:path>
              <a:path w="595629" h="607695">
                <a:moveTo>
                  <a:pt x="595285" y="0"/>
                </a:moveTo>
                <a:lnTo>
                  <a:pt x="504682" y="31257"/>
                </a:lnTo>
                <a:lnTo>
                  <a:pt x="525097" y="51249"/>
                </a:lnTo>
                <a:lnTo>
                  <a:pt x="540614" y="35405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992187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7"/>
                </a:moveTo>
                <a:lnTo>
                  <a:pt x="61106" y="61795"/>
                </a:lnTo>
                <a:lnTo>
                  <a:pt x="823328" y="612721"/>
                </a:lnTo>
                <a:lnTo>
                  <a:pt x="832260" y="611285"/>
                </a:lnTo>
                <a:lnTo>
                  <a:pt x="841504" y="598495"/>
                </a:lnTo>
                <a:lnTo>
                  <a:pt x="840066" y="589563"/>
                </a:lnTo>
                <a:lnTo>
                  <a:pt x="77845" y="38637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5"/>
                </a:lnTo>
                <a:lnTo>
                  <a:pt x="61106" y="61795"/>
                </a:lnTo>
                <a:lnTo>
                  <a:pt x="43131" y="48803"/>
                </a:lnTo>
                <a:lnTo>
                  <a:pt x="41694" y="39871"/>
                </a:lnTo>
                <a:lnTo>
                  <a:pt x="50939" y="27081"/>
                </a:lnTo>
                <a:lnTo>
                  <a:pt x="59870" y="25645"/>
                </a:lnTo>
                <a:lnTo>
                  <a:pt x="87236" y="25645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5"/>
                </a:moveTo>
                <a:lnTo>
                  <a:pt x="50939" y="27081"/>
                </a:lnTo>
                <a:lnTo>
                  <a:pt x="41694" y="39871"/>
                </a:lnTo>
                <a:lnTo>
                  <a:pt x="43131" y="48803"/>
                </a:lnTo>
                <a:lnTo>
                  <a:pt x="61106" y="61795"/>
                </a:lnTo>
                <a:lnTo>
                  <a:pt x="77845" y="38637"/>
                </a:lnTo>
                <a:lnTo>
                  <a:pt x="59870" y="25645"/>
                </a:lnTo>
                <a:close/>
              </a:path>
              <a:path w="842009" h="612775">
                <a:moveTo>
                  <a:pt x="87236" y="25645"/>
                </a:moveTo>
                <a:lnTo>
                  <a:pt x="59870" y="25645"/>
                </a:lnTo>
                <a:lnTo>
                  <a:pt x="77845" y="38637"/>
                </a:lnTo>
                <a:lnTo>
                  <a:pt x="87236" y="25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425490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500"/>
                </a:moveTo>
                <a:lnTo>
                  <a:pt x="0" y="517639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4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500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4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3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3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3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3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4250546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7" y="476376"/>
                </a:moveTo>
                <a:lnTo>
                  <a:pt x="502743" y="497900"/>
                </a:lnTo>
                <a:lnTo>
                  <a:pt x="595509" y="521997"/>
                </a:lnTo>
                <a:lnTo>
                  <a:pt x="582775" y="490964"/>
                </a:lnTo>
                <a:lnTo>
                  <a:pt x="538245" y="490964"/>
                </a:lnTo>
                <a:lnTo>
                  <a:pt x="521537" y="476376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7" y="476376"/>
                </a:lnTo>
                <a:lnTo>
                  <a:pt x="538245" y="490964"/>
                </a:lnTo>
                <a:lnTo>
                  <a:pt x="547269" y="490353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3"/>
                </a:lnTo>
                <a:lnTo>
                  <a:pt x="538245" y="490964"/>
                </a:lnTo>
                <a:lnTo>
                  <a:pt x="582775" y="490964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5"/>
                </a:lnTo>
                <a:lnTo>
                  <a:pt x="521537" y="476376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901737"/>
            <a:ext cx="1035141" cy="1047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2746494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360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0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887284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57149"/>
                </a:moveTo>
                <a:lnTo>
                  <a:pt x="131443" y="85725"/>
                </a:lnTo>
                <a:lnTo>
                  <a:pt x="188593" y="57150"/>
                </a:lnTo>
                <a:lnTo>
                  <a:pt x="131443" y="57149"/>
                </a:lnTo>
                <a:close/>
              </a:path>
              <a:path w="217169" h="85725">
                <a:moveTo>
                  <a:pt x="131443" y="28574"/>
                </a:moveTo>
                <a:lnTo>
                  <a:pt x="131443" y="57149"/>
                </a:lnTo>
                <a:lnTo>
                  <a:pt x="153623" y="57148"/>
                </a:lnTo>
                <a:lnTo>
                  <a:pt x="160018" y="50753"/>
                </a:lnTo>
                <a:lnTo>
                  <a:pt x="160018" y="34970"/>
                </a:lnTo>
                <a:lnTo>
                  <a:pt x="153621" y="28575"/>
                </a:lnTo>
                <a:lnTo>
                  <a:pt x="131443" y="28574"/>
                </a:lnTo>
                <a:close/>
              </a:path>
              <a:path w="217169" h="85725">
                <a:moveTo>
                  <a:pt x="131443" y="0"/>
                </a:moveTo>
                <a:lnTo>
                  <a:pt x="131443" y="28574"/>
                </a:lnTo>
                <a:lnTo>
                  <a:pt x="145731" y="28575"/>
                </a:lnTo>
                <a:lnTo>
                  <a:pt x="153621" y="28575"/>
                </a:lnTo>
                <a:lnTo>
                  <a:pt x="160018" y="34970"/>
                </a:lnTo>
                <a:lnTo>
                  <a:pt x="160018" y="50753"/>
                </a:lnTo>
                <a:lnTo>
                  <a:pt x="153621" y="57150"/>
                </a:lnTo>
                <a:lnTo>
                  <a:pt x="188596" y="57148"/>
                </a:lnTo>
                <a:lnTo>
                  <a:pt x="217168" y="42862"/>
                </a:lnTo>
                <a:lnTo>
                  <a:pt x="131443" y="0"/>
                </a:lnTo>
                <a:close/>
              </a:path>
              <a:path w="217169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31443" y="57149"/>
                </a:lnTo>
                <a:lnTo>
                  <a:pt x="1314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7049506" y="1482852"/>
            <a:ext cx="134175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C00000"/>
                </a:solidFill>
              </a:rPr>
              <a:t>Dataset</a:t>
            </a:r>
            <a:r>
              <a:rPr dirty="0" sz="2000" spc="-90">
                <a:solidFill>
                  <a:srgbClr val="C00000"/>
                </a:solidFill>
              </a:rPr>
              <a:t> </a:t>
            </a:r>
            <a:r>
              <a:rPr dirty="0" sz="2000" spc="-5">
                <a:solidFill>
                  <a:srgbClr val="C00000"/>
                </a:solidFill>
              </a:rPr>
              <a:t>split</a:t>
            </a:r>
            <a:endParaRPr sz="2000"/>
          </a:p>
        </p:txBody>
      </p:sp>
      <p:sp>
        <p:nvSpPr>
          <p:cNvPr id="35" name="object 35"/>
          <p:cNvSpPr txBox="1"/>
          <p:nvPr/>
        </p:nvSpPr>
        <p:spPr>
          <a:xfrm>
            <a:off x="327343" y="5583428"/>
            <a:ext cx="436245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Today’s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lecture: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400" spc="-25">
                <a:solidFill>
                  <a:srgbClr val="C00000"/>
                </a:solidFill>
                <a:latin typeface="Calibri"/>
                <a:cs typeface="Calibri"/>
              </a:rPr>
              <a:t>make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GNN 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representation more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expressive?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3415" y="1243868"/>
            <a:ext cx="1035141" cy="10474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97468" y="1202746"/>
            <a:ext cx="1035141" cy="10474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66385" y="1202746"/>
            <a:ext cx="1035141" cy="1047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40104" y="1201830"/>
            <a:ext cx="1035141" cy="10474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633086" y="1201830"/>
            <a:ext cx="1035141" cy="10474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94355" y="1172321"/>
            <a:ext cx="1229360" cy="1151255"/>
          </a:xfrm>
          <a:custGeom>
            <a:avLst/>
            <a:gdLst/>
            <a:ahLst/>
            <a:cxnLst/>
            <a:rect l="l" t="t" r="r" b="b"/>
            <a:pathLst>
              <a:path w="1229360" h="1151255">
                <a:moveTo>
                  <a:pt x="0" y="0"/>
                </a:moveTo>
                <a:lnTo>
                  <a:pt x="1229293" y="0"/>
                </a:lnTo>
                <a:lnTo>
                  <a:pt x="1229293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566247" y="1165491"/>
            <a:ext cx="1183640" cy="1151255"/>
          </a:xfrm>
          <a:custGeom>
            <a:avLst/>
            <a:gdLst/>
            <a:ahLst/>
            <a:cxnLst/>
            <a:rect l="l" t="t" r="r" b="b"/>
            <a:pathLst>
              <a:path w="1183640" h="1151255">
                <a:moveTo>
                  <a:pt x="0" y="0"/>
                </a:moveTo>
                <a:lnTo>
                  <a:pt x="1183584" y="0"/>
                </a:lnTo>
                <a:lnTo>
                  <a:pt x="1183584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48603" y="1165491"/>
            <a:ext cx="3837304" cy="1151255"/>
          </a:xfrm>
          <a:custGeom>
            <a:avLst/>
            <a:gdLst/>
            <a:ahLst/>
            <a:cxnLst/>
            <a:rect l="l" t="t" r="r" b="b"/>
            <a:pathLst>
              <a:path w="3837304" h="1151255">
                <a:moveTo>
                  <a:pt x="0" y="0"/>
                </a:moveTo>
                <a:lnTo>
                  <a:pt x="3836751" y="0"/>
                </a:lnTo>
                <a:lnTo>
                  <a:pt x="3836751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861" y="2602194"/>
            <a:ext cx="4541520" cy="2639060"/>
          </a:xfrm>
          <a:custGeom>
            <a:avLst/>
            <a:gdLst/>
            <a:ahLst/>
            <a:cxnLst/>
            <a:rect l="l" t="t" r="r" b="b"/>
            <a:pathLst>
              <a:path w="4541520" h="2639060">
                <a:moveTo>
                  <a:pt x="0" y="0"/>
                </a:moveTo>
                <a:lnTo>
                  <a:pt x="4541233" y="0"/>
                </a:lnTo>
                <a:lnTo>
                  <a:pt x="4541233" y="2638703"/>
                </a:lnTo>
                <a:lnTo>
                  <a:pt x="0" y="26387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11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2706623"/>
            <a:ext cx="6931152" cy="2304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5718048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3178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/>
              <a:t>A </a:t>
            </a:r>
            <a:r>
              <a:rPr dirty="0" sz="3200" spc="-10"/>
              <a:t>thought experiment: </a:t>
            </a:r>
            <a:r>
              <a:rPr dirty="0" sz="3200" spc="-10" b="0">
                <a:solidFill>
                  <a:srgbClr val="C00000"/>
                </a:solidFill>
                <a:latin typeface="Calibri"/>
                <a:cs typeface="Calibri"/>
              </a:rPr>
              <a:t>What </a:t>
            </a:r>
            <a:r>
              <a:rPr dirty="0" sz="3200" spc="-5" b="0">
                <a:solidFill>
                  <a:srgbClr val="C00000"/>
                </a:solidFill>
                <a:latin typeface="Calibri"/>
                <a:cs typeface="Calibri"/>
              </a:rPr>
              <a:t>should </a:t>
            </a:r>
            <a:r>
              <a:rPr dirty="0" sz="3200" b="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200" spc="-20" b="0">
                <a:solidFill>
                  <a:srgbClr val="C00000"/>
                </a:solidFill>
                <a:latin typeface="Calibri"/>
                <a:cs typeface="Calibri"/>
              </a:rPr>
              <a:t>perfect  </a:t>
            </a:r>
            <a:r>
              <a:rPr dirty="0" sz="3200" spc="-5" b="0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r>
              <a:rPr dirty="0" sz="3200" spc="-75" b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0">
                <a:solidFill>
                  <a:srgbClr val="C00000"/>
                </a:solidFill>
                <a:latin typeface="Calibri"/>
                <a:cs typeface="Calibri"/>
              </a:rPr>
              <a:t>do?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642225" cy="8731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mbria Math"/>
                <a:cs typeface="Cambria Math"/>
              </a:rPr>
              <a:t>𝑘</a:t>
            </a:r>
            <a:r>
              <a:rPr dirty="0" sz="2800" spc="-10">
                <a:latin typeface="Calibri"/>
                <a:cs typeface="Calibri"/>
              </a:rPr>
              <a:t>-layer </a:t>
            </a:r>
            <a:r>
              <a:rPr dirty="0" sz="2800" spc="-5">
                <a:latin typeface="Calibri"/>
                <a:cs typeface="Calibri"/>
              </a:rPr>
              <a:t>GNN embeds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based on the </a:t>
            </a:r>
            <a:r>
              <a:rPr dirty="0" sz="2800" spc="5">
                <a:latin typeface="Cambria Math"/>
                <a:cs typeface="Cambria Math"/>
              </a:rPr>
              <a:t>𝐾</a:t>
            </a:r>
            <a:r>
              <a:rPr dirty="0" sz="2800" spc="5">
                <a:latin typeface="Calibri"/>
                <a:cs typeface="Calibri"/>
              </a:rPr>
              <a:t>-hop  </a:t>
            </a:r>
            <a:r>
              <a:rPr dirty="0" sz="2800" spc="-5">
                <a:latin typeface="Calibri"/>
                <a:cs typeface="Calibri"/>
              </a:rPr>
              <a:t>neighborhood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5398515"/>
            <a:ext cx="733615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perfect </a:t>
            </a:r>
            <a:r>
              <a:rPr dirty="0" sz="2800" spc="-5">
                <a:latin typeface="Calibri"/>
                <a:cs typeface="Calibri"/>
              </a:rPr>
              <a:t>GNN should build </a:t>
            </a:r>
            <a:r>
              <a:rPr dirty="0" sz="2800" b="1">
                <a:latin typeface="Calibri"/>
                <a:cs typeface="Calibri"/>
              </a:rPr>
              <a:t>an </a:t>
            </a:r>
            <a:r>
              <a:rPr dirty="0" sz="2800" spc="-10" b="1">
                <a:latin typeface="Calibri"/>
                <a:cs typeface="Calibri"/>
              </a:rPr>
              <a:t>injective </a:t>
            </a:r>
            <a:r>
              <a:rPr dirty="0" sz="2800" spc="-5" b="1">
                <a:latin typeface="Calibri"/>
                <a:cs typeface="Calibri"/>
              </a:rPr>
              <a:t>function  </a:t>
            </a: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neighborhood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structure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(regardless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of  hops)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node</a:t>
            </a:r>
            <a:r>
              <a:rPr dirty="0" sz="2800" spc="-4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2830" y="3323357"/>
            <a:ext cx="4638339" cy="20264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5718048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465836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15"/>
              <a:t>Therefore, </a:t>
            </a:r>
            <a:r>
              <a:rPr dirty="0" spc="-20"/>
              <a:t>for </a:t>
            </a:r>
            <a:r>
              <a:rPr dirty="0"/>
              <a:t>a </a:t>
            </a:r>
            <a:r>
              <a:rPr dirty="0" spc="-10"/>
              <a:t>perfect</a:t>
            </a:r>
            <a:r>
              <a:rPr dirty="0"/>
              <a:t> GNN: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57756"/>
            <a:ext cx="8047990" cy="81534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287020" marR="5080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Observation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1: </a:t>
            </a:r>
            <a:r>
              <a:rPr dirty="0" sz="2600" spc="-5">
                <a:latin typeface="Calibri"/>
                <a:cs typeface="Calibri"/>
              </a:rPr>
              <a:t>If </a:t>
            </a:r>
            <a:r>
              <a:rPr dirty="0" sz="2600" spc="-10">
                <a:latin typeface="Calibri"/>
                <a:cs typeface="Calibri"/>
              </a:rPr>
              <a:t>two </a:t>
            </a:r>
            <a:r>
              <a:rPr dirty="0" sz="2600" spc="-5">
                <a:latin typeface="Calibri"/>
                <a:cs typeface="Calibri"/>
              </a:rPr>
              <a:t>nodes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5">
                <a:solidFill>
                  <a:srgbClr val="0070C0"/>
                </a:solidFill>
                <a:latin typeface="Calibri"/>
                <a:cs typeface="Calibri"/>
              </a:rPr>
              <a:t>the same </a:t>
            </a:r>
            <a:r>
              <a:rPr dirty="0" sz="2600" spc="-40">
                <a:latin typeface="Calibri"/>
                <a:cs typeface="Calibri"/>
              </a:rPr>
              <a:t>neighborhood  </a:t>
            </a:r>
            <a:r>
              <a:rPr dirty="0" sz="2600" spc="-10">
                <a:latin typeface="Calibri"/>
                <a:cs typeface="Calibri"/>
              </a:rPr>
              <a:t>structure, they </a:t>
            </a:r>
            <a:r>
              <a:rPr dirty="0" sz="2600" spc="-15">
                <a:solidFill>
                  <a:srgbClr val="0070C0"/>
                </a:solidFill>
                <a:latin typeface="Calibri"/>
                <a:cs typeface="Calibri"/>
              </a:rPr>
              <a:t>must </a:t>
            </a:r>
            <a:r>
              <a:rPr dirty="0" sz="2600" spc="-20">
                <a:solidFill>
                  <a:srgbClr val="0070C0"/>
                </a:solidFill>
                <a:latin typeface="Calibri"/>
                <a:cs typeface="Calibri"/>
              </a:rPr>
              <a:t>have </a:t>
            </a:r>
            <a:r>
              <a:rPr dirty="0" sz="2600" spc="-5">
                <a:solidFill>
                  <a:srgbClr val="0070C0"/>
                </a:solidFill>
                <a:latin typeface="Calibri"/>
                <a:cs typeface="Calibri"/>
              </a:rPr>
              <a:t>the same</a:t>
            </a:r>
            <a:r>
              <a:rPr dirty="0" sz="260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solidFill>
                  <a:srgbClr val="0070C0"/>
                </a:solidFill>
                <a:latin typeface="Calibri"/>
                <a:cs typeface="Calibri"/>
              </a:rPr>
              <a:t>embedding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4372355"/>
            <a:ext cx="7968615" cy="82740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287020" marR="5080" indent="-274320">
              <a:lnSpc>
                <a:spcPct val="102299"/>
              </a:lnSpc>
              <a:spcBef>
                <a:spcPts val="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Observation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2: </a:t>
            </a:r>
            <a:r>
              <a:rPr dirty="0" sz="2600" spc="-5">
                <a:latin typeface="Calibri"/>
                <a:cs typeface="Calibri"/>
              </a:rPr>
              <a:t>If </a:t>
            </a:r>
            <a:r>
              <a:rPr dirty="0" sz="2600" spc="-10">
                <a:latin typeface="Calibri"/>
                <a:cs typeface="Calibri"/>
              </a:rPr>
              <a:t>two </a:t>
            </a:r>
            <a:r>
              <a:rPr dirty="0" sz="2600" spc="-5">
                <a:latin typeface="Calibri"/>
                <a:cs typeface="Calibri"/>
              </a:rPr>
              <a:t>nodes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25">
                <a:solidFill>
                  <a:srgbClr val="C00000"/>
                </a:solidFill>
                <a:latin typeface="Calibri"/>
                <a:cs typeface="Calibri"/>
              </a:rPr>
              <a:t>different </a:t>
            </a:r>
            <a:r>
              <a:rPr dirty="0" sz="2600" spc="-40">
                <a:latin typeface="Calibri"/>
                <a:cs typeface="Calibri"/>
              </a:rPr>
              <a:t>neighborhood  </a:t>
            </a:r>
            <a:r>
              <a:rPr dirty="0" sz="2600" spc="-10">
                <a:latin typeface="Calibri"/>
                <a:cs typeface="Calibri"/>
              </a:rPr>
              <a:t>structure, they </a:t>
            </a:r>
            <a:r>
              <a:rPr dirty="0" sz="2600" spc="-15">
                <a:latin typeface="Calibri"/>
                <a:cs typeface="Calibri"/>
              </a:rPr>
              <a:t>must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25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r>
              <a:rPr dirty="0" sz="260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embeddings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14783" y="297928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14783" y="387493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97790" y="3421936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60404" y="3270521"/>
            <a:ext cx="0" cy="604520"/>
          </a:xfrm>
          <a:custGeom>
            <a:avLst/>
            <a:gdLst/>
            <a:ahLst/>
            <a:cxnLst/>
            <a:rect l="l" t="t" r="r" b="b"/>
            <a:pathLst>
              <a:path w="0" h="604520">
                <a:moveTo>
                  <a:pt x="0" y="0"/>
                </a:moveTo>
                <a:lnTo>
                  <a:pt x="1" y="60441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06023" y="3124902"/>
            <a:ext cx="635000" cy="339725"/>
          </a:xfrm>
          <a:custGeom>
            <a:avLst/>
            <a:gdLst/>
            <a:ahLst/>
            <a:cxnLst/>
            <a:rect l="l" t="t" r="r" b="b"/>
            <a:pathLst>
              <a:path w="635000" h="339725">
                <a:moveTo>
                  <a:pt x="0" y="0"/>
                </a:moveTo>
                <a:lnTo>
                  <a:pt x="634418" y="33968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06023" y="3670525"/>
            <a:ext cx="635000" cy="350520"/>
          </a:xfrm>
          <a:custGeom>
            <a:avLst/>
            <a:gdLst/>
            <a:ahLst/>
            <a:cxnLst/>
            <a:rect l="l" t="t" r="r" b="b"/>
            <a:pathLst>
              <a:path w="635000" h="350520">
                <a:moveTo>
                  <a:pt x="0" y="350027"/>
                </a:moveTo>
                <a:lnTo>
                  <a:pt x="63441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30492" y="297928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73472" y="2954020"/>
            <a:ext cx="21361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5955" algn="l"/>
              </a:tabLst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r>
              <a:rPr dirty="0" baseline="-16203" sz="1800">
                <a:latin typeface="Cambria Math"/>
                <a:cs typeface="Cambria Math"/>
              </a:rPr>
              <a:t>	</a:t>
            </a: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6203" sz="1800" spc="322">
                <a:latin typeface="Cambria Math"/>
                <a:cs typeface="Cambria Math"/>
              </a:rPr>
              <a:t>"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30492" y="387493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13499" y="3421936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476111" y="3270521"/>
            <a:ext cx="0" cy="604520"/>
          </a:xfrm>
          <a:custGeom>
            <a:avLst/>
            <a:gdLst/>
            <a:ahLst/>
            <a:cxnLst/>
            <a:rect l="l" t="t" r="r" b="b"/>
            <a:pathLst>
              <a:path w="0" h="604520">
                <a:moveTo>
                  <a:pt x="0" y="0"/>
                </a:moveTo>
                <a:lnTo>
                  <a:pt x="1" y="60441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21732" y="3124902"/>
            <a:ext cx="635000" cy="339725"/>
          </a:xfrm>
          <a:custGeom>
            <a:avLst/>
            <a:gdLst/>
            <a:ahLst/>
            <a:cxnLst/>
            <a:rect l="l" t="t" r="r" b="b"/>
            <a:pathLst>
              <a:path w="635000" h="339725">
                <a:moveTo>
                  <a:pt x="0" y="0"/>
                </a:moveTo>
                <a:lnTo>
                  <a:pt x="634418" y="33968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21732" y="3670525"/>
            <a:ext cx="635000" cy="350520"/>
          </a:xfrm>
          <a:custGeom>
            <a:avLst/>
            <a:gdLst/>
            <a:ahLst/>
            <a:cxnLst/>
            <a:rect l="l" t="t" r="r" b="b"/>
            <a:pathLst>
              <a:path w="635000" h="350520">
                <a:moveTo>
                  <a:pt x="0" y="350027"/>
                </a:moveTo>
                <a:lnTo>
                  <a:pt x="63441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79504" y="539265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79504" y="628830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5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11124" y="5396888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25123" y="5683890"/>
            <a:ext cx="0" cy="604520"/>
          </a:xfrm>
          <a:custGeom>
            <a:avLst/>
            <a:gdLst/>
            <a:ahLst/>
            <a:cxnLst/>
            <a:rect l="l" t="t" r="r" b="b"/>
            <a:pathLst>
              <a:path w="0" h="604520">
                <a:moveTo>
                  <a:pt x="0" y="0"/>
                </a:moveTo>
                <a:lnTo>
                  <a:pt x="1" y="60441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56743" y="5688127"/>
            <a:ext cx="6350" cy="600710"/>
          </a:xfrm>
          <a:custGeom>
            <a:avLst/>
            <a:gdLst/>
            <a:ahLst/>
            <a:cxnLst/>
            <a:rect l="l" t="t" r="r" b="b"/>
            <a:pathLst>
              <a:path w="6350" h="600710">
                <a:moveTo>
                  <a:pt x="5942" y="60017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670744" y="6433920"/>
            <a:ext cx="646430" cy="0"/>
          </a:xfrm>
          <a:custGeom>
            <a:avLst/>
            <a:gdLst/>
            <a:ahLst/>
            <a:cxnLst/>
            <a:rect l="l" t="t" r="r" b="b"/>
            <a:pathLst>
              <a:path w="646429" h="0">
                <a:moveTo>
                  <a:pt x="0" y="0"/>
                </a:moveTo>
                <a:lnTo>
                  <a:pt x="646322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17066" y="628830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70744" y="5538270"/>
            <a:ext cx="640715" cy="4445"/>
          </a:xfrm>
          <a:custGeom>
            <a:avLst/>
            <a:gdLst/>
            <a:ahLst/>
            <a:cxnLst/>
            <a:rect l="l" t="t" r="r" b="b"/>
            <a:pathLst>
              <a:path w="640714" h="4445">
                <a:moveTo>
                  <a:pt x="640380" y="4237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141669" y="2823972"/>
            <a:ext cx="10369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50">
                <a:solidFill>
                  <a:srgbClr val="0070C0"/>
                </a:solidFill>
                <a:latin typeface="Cambria Math"/>
                <a:cs typeface="Cambria Math"/>
              </a:rPr>
              <a:t>ℎ</a:t>
            </a:r>
            <a:r>
              <a:rPr dirty="0" baseline="-14814" sz="2250" spc="225">
                <a:solidFill>
                  <a:srgbClr val="0070C0"/>
                </a:solidFill>
                <a:latin typeface="Cambria Math"/>
                <a:cs typeface="Cambria Math"/>
              </a:rPr>
              <a:t>!</a:t>
            </a:r>
            <a:r>
              <a:rPr dirty="0" baseline="-32407" sz="1800" spc="225">
                <a:solidFill>
                  <a:srgbClr val="0070C0"/>
                </a:solidFill>
                <a:latin typeface="Cambria Math"/>
                <a:cs typeface="Cambria Math"/>
              </a:rPr>
              <a:t>$ </a:t>
            </a:r>
            <a:r>
              <a:rPr dirty="0" sz="2000">
                <a:solidFill>
                  <a:srgbClr val="0070C0"/>
                </a:solidFill>
                <a:latin typeface="Cambria Math"/>
                <a:cs typeface="Cambria Math"/>
              </a:rPr>
              <a:t>=</a:t>
            </a:r>
            <a:r>
              <a:rPr dirty="0" sz="2000" spc="35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000" spc="-5">
                <a:solidFill>
                  <a:srgbClr val="0070C0"/>
                </a:solidFill>
                <a:latin typeface="Cambria Math"/>
                <a:cs typeface="Cambria Math"/>
              </a:rPr>
              <a:t>ℎ</a:t>
            </a:r>
            <a:r>
              <a:rPr dirty="0" baseline="-14814" sz="2250" spc="-7">
                <a:solidFill>
                  <a:srgbClr val="0070C0"/>
                </a:solidFill>
                <a:latin typeface="Cambria Math"/>
                <a:cs typeface="Cambria Math"/>
              </a:rPr>
              <a:t>!</a:t>
            </a:r>
            <a:r>
              <a:rPr dirty="0" baseline="-32407" sz="1800" spc="-7">
                <a:solidFill>
                  <a:srgbClr val="0070C0"/>
                </a:solidFill>
                <a:latin typeface="Cambria Math"/>
                <a:cs typeface="Cambria Math"/>
              </a:rPr>
              <a:t>%</a:t>
            </a:r>
            <a:endParaRPr baseline="-32407"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98411" y="5247132"/>
            <a:ext cx="10369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50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dirty="0" baseline="-14814" sz="2250" spc="225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baseline="-32407" sz="1800" spc="225">
                <a:solidFill>
                  <a:srgbClr val="C00000"/>
                </a:solidFill>
                <a:latin typeface="Cambria Math"/>
                <a:cs typeface="Cambria Math"/>
              </a:rPr>
              <a:t>$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≠</a:t>
            </a:r>
            <a:r>
              <a:rPr dirty="0" sz="2000" spc="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75">
                <a:solidFill>
                  <a:srgbClr val="C00000"/>
                </a:solidFill>
                <a:latin typeface="Cambria Math"/>
                <a:cs typeface="Cambria Math"/>
              </a:rPr>
              <a:t>ℎ</a:t>
            </a:r>
            <a:r>
              <a:rPr dirty="0" baseline="-14814" sz="2250" spc="112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baseline="-32407" sz="1800" spc="112">
                <a:solidFill>
                  <a:srgbClr val="C00000"/>
                </a:solidFill>
                <a:latin typeface="Cambria Math"/>
                <a:cs typeface="Cambria Math"/>
              </a:rPr>
              <a:t>&amp;</a:t>
            </a:r>
            <a:endParaRPr baseline="-32407"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492174" y="539793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550862" y="5374132"/>
            <a:ext cx="21082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7380" algn="l"/>
              </a:tabLst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3888" sz="1800" spc="525">
                <a:latin typeface="Cambria Math"/>
                <a:cs typeface="Cambria Math"/>
              </a:rPr>
              <a:t>!</a:t>
            </a:r>
            <a:r>
              <a:rPr dirty="0" baseline="-13888" sz="1800">
                <a:latin typeface="Cambria Math"/>
                <a:cs typeface="Cambria Math"/>
              </a:rPr>
              <a:t>	</a:t>
            </a:r>
            <a:r>
              <a:rPr dirty="0" baseline="1736" sz="2400" spc="-22">
                <a:latin typeface="Cambria Math"/>
                <a:cs typeface="Cambria Math"/>
              </a:rPr>
              <a:t>𝑣</a:t>
            </a:r>
            <a:r>
              <a:rPr dirty="0" baseline="-13888" sz="1800" spc="-75">
                <a:latin typeface="Cambria Math"/>
                <a:cs typeface="Cambria Math"/>
              </a:rPr>
              <a:t>#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92174" y="629358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5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75181" y="5840584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0" y="145620"/>
                </a:moveTo>
                <a:lnTo>
                  <a:pt x="7423" y="99592"/>
                </a:lnTo>
                <a:lnTo>
                  <a:pt x="28096" y="59618"/>
                </a:lnTo>
                <a:lnTo>
                  <a:pt x="59618" y="28096"/>
                </a:lnTo>
                <a:lnTo>
                  <a:pt x="99592" y="7423"/>
                </a:lnTo>
                <a:lnTo>
                  <a:pt x="145620" y="0"/>
                </a:lnTo>
                <a:lnTo>
                  <a:pt x="191647" y="7423"/>
                </a:lnTo>
                <a:lnTo>
                  <a:pt x="231621" y="28096"/>
                </a:lnTo>
                <a:lnTo>
                  <a:pt x="263143" y="59618"/>
                </a:lnTo>
                <a:lnTo>
                  <a:pt x="283816" y="99592"/>
                </a:lnTo>
                <a:lnTo>
                  <a:pt x="291240" y="145620"/>
                </a:lnTo>
                <a:lnTo>
                  <a:pt x="283816" y="191647"/>
                </a:lnTo>
                <a:lnTo>
                  <a:pt x="263143" y="231621"/>
                </a:lnTo>
                <a:lnTo>
                  <a:pt x="231621" y="263143"/>
                </a:lnTo>
                <a:lnTo>
                  <a:pt x="191647" y="283816"/>
                </a:lnTo>
                <a:lnTo>
                  <a:pt x="145620" y="291240"/>
                </a:lnTo>
                <a:lnTo>
                  <a:pt x="99592" y="283816"/>
                </a:lnTo>
                <a:lnTo>
                  <a:pt x="59618" y="263143"/>
                </a:lnTo>
                <a:lnTo>
                  <a:pt x="28096" y="231621"/>
                </a:lnTo>
                <a:lnTo>
                  <a:pt x="7423" y="191647"/>
                </a:lnTo>
                <a:lnTo>
                  <a:pt x="0" y="14562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37795" y="5689170"/>
            <a:ext cx="0" cy="604520"/>
          </a:xfrm>
          <a:custGeom>
            <a:avLst/>
            <a:gdLst/>
            <a:ahLst/>
            <a:cxnLst/>
            <a:rect l="l" t="t" r="r" b="b"/>
            <a:pathLst>
              <a:path w="0" h="604520">
                <a:moveTo>
                  <a:pt x="0" y="0"/>
                </a:moveTo>
                <a:lnTo>
                  <a:pt x="1" y="60441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783415" y="5543551"/>
            <a:ext cx="635000" cy="339725"/>
          </a:xfrm>
          <a:custGeom>
            <a:avLst/>
            <a:gdLst/>
            <a:ahLst/>
            <a:cxnLst/>
            <a:rect l="l" t="t" r="r" b="b"/>
            <a:pathLst>
              <a:path w="635000" h="339725">
                <a:moveTo>
                  <a:pt x="0" y="0"/>
                </a:moveTo>
                <a:lnTo>
                  <a:pt x="634418" y="33968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83415" y="6089173"/>
            <a:ext cx="635000" cy="350520"/>
          </a:xfrm>
          <a:custGeom>
            <a:avLst/>
            <a:gdLst/>
            <a:ahLst/>
            <a:cxnLst/>
            <a:rect l="l" t="t" r="r" b="b"/>
            <a:pathLst>
              <a:path w="635000" h="350520">
                <a:moveTo>
                  <a:pt x="0" y="350027"/>
                </a:moveTo>
                <a:lnTo>
                  <a:pt x="63441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65962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3651" y="1379220"/>
            <a:ext cx="759333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0"/>
              <a:t>However, </a:t>
            </a:r>
            <a:r>
              <a:rPr dirty="0" sz="3200" spc="-10"/>
              <a:t>Observations </a:t>
            </a:r>
            <a:r>
              <a:rPr dirty="0" sz="3200">
                <a:solidFill>
                  <a:srgbClr val="0070C0"/>
                </a:solidFill>
              </a:rPr>
              <a:t>1 </a:t>
            </a:r>
            <a:r>
              <a:rPr dirty="0" sz="3200"/>
              <a:t>&amp; </a:t>
            </a:r>
            <a:r>
              <a:rPr dirty="0" sz="3200">
                <a:solidFill>
                  <a:srgbClr val="C00000"/>
                </a:solidFill>
              </a:rPr>
              <a:t>2 </a:t>
            </a:r>
            <a:r>
              <a:rPr dirty="0" sz="3200" spc="-15"/>
              <a:t>are </a:t>
            </a:r>
            <a:r>
              <a:rPr dirty="0" sz="3200" spc="-10"/>
              <a:t>imperfect</a:t>
            </a:r>
            <a:endParaRPr sz="3200"/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0070C0"/>
                </a:solidFill>
              </a:rPr>
              <a:t>Observation </a:t>
            </a:r>
            <a:r>
              <a:rPr dirty="0" sz="3200">
                <a:solidFill>
                  <a:srgbClr val="0070C0"/>
                </a:solidFill>
              </a:rPr>
              <a:t>1 </a:t>
            </a:r>
            <a:r>
              <a:rPr dirty="0" sz="3200" spc="-10">
                <a:solidFill>
                  <a:srgbClr val="0070C0"/>
                </a:solidFill>
              </a:rPr>
              <a:t>could </a:t>
            </a:r>
            <a:r>
              <a:rPr dirty="0" sz="3200" spc="-25">
                <a:solidFill>
                  <a:srgbClr val="0070C0"/>
                </a:solidFill>
              </a:rPr>
              <a:t>have</a:t>
            </a:r>
            <a:r>
              <a:rPr dirty="0" sz="3200" spc="-30">
                <a:solidFill>
                  <a:srgbClr val="0070C0"/>
                </a:solidFill>
              </a:rPr>
              <a:t> </a:t>
            </a:r>
            <a:r>
              <a:rPr dirty="0" sz="3200" spc="-5">
                <a:solidFill>
                  <a:srgbClr val="0070C0"/>
                </a:solidFill>
              </a:rPr>
              <a:t>issues: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82105" y="2431795"/>
            <a:ext cx="8155305" cy="20828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20">
                <a:latin typeface="Calibri"/>
                <a:cs typeface="Calibri"/>
              </a:rPr>
              <a:t>Even </a:t>
            </a:r>
            <a:r>
              <a:rPr dirty="0" sz="2400" spc="-5">
                <a:latin typeface="Calibri"/>
                <a:cs typeface="Calibri"/>
              </a:rPr>
              <a:t>though </a:t>
            </a:r>
            <a:r>
              <a:rPr dirty="0" sz="2400" spc="-15">
                <a:latin typeface="Calibri"/>
                <a:cs typeface="Calibri"/>
              </a:rPr>
              <a:t>two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20">
                <a:solidFill>
                  <a:srgbClr val="0070C0"/>
                </a:solidFill>
                <a:latin typeface="Calibri"/>
                <a:cs typeface="Calibri"/>
              </a:rPr>
              <a:t>may have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the same neighborhood  </a:t>
            </a: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structure</a:t>
            </a:r>
            <a:r>
              <a:rPr dirty="0" sz="2400" spc="-10">
                <a:latin typeface="Calibri"/>
                <a:cs typeface="Calibri"/>
              </a:rPr>
              <a:t>,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0">
                <a:latin typeface="Calibri"/>
                <a:cs typeface="Calibri"/>
              </a:rPr>
              <a:t>may </a:t>
            </a:r>
            <a:r>
              <a:rPr dirty="0" sz="2400" spc="-15">
                <a:solidFill>
                  <a:srgbClr val="0070C0"/>
                </a:solidFill>
                <a:latin typeface="Calibri"/>
                <a:cs typeface="Calibri"/>
              </a:rPr>
              <a:t>want to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assign </a:t>
            </a:r>
            <a:r>
              <a:rPr dirty="0" sz="2400" spc="-20">
                <a:solidFill>
                  <a:srgbClr val="0070C0"/>
                </a:solidFill>
                <a:latin typeface="Calibri"/>
                <a:cs typeface="Calibri"/>
              </a:rPr>
              <a:t>different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embeddings </a:t>
            </a:r>
            <a:r>
              <a:rPr dirty="0" sz="2400" spc="-15">
                <a:solidFill>
                  <a:srgbClr val="0070C0"/>
                </a:solidFill>
                <a:latin typeface="Calibri"/>
                <a:cs typeface="Calibri"/>
              </a:rPr>
              <a:t>to</a:t>
            </a:r>
            <a:r>
              <a:rPr dirty="0" sz="2400" spc="8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them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0">
                <a:latin typeface="Calibri"/>
                <a:cs typeface="Calibri"/>
              </a:rPr>
              <a:t>Because </a:t>
            </a:r>
            <a:r>
              <a:rPr dirty="0" sz="2400" spc="-5">
                <a:latin typeface="Calibri"/>
                <a:cs typeface="Calibri"/>
              </a:rPr>
              <a:t>these nodes </a:t>
            </a:r>
            <a:r>
              <a:rPr dirty="0" sz="2400">
                <a:latin typeface="Calibri"/>
                <a:cs typeface="Calibri"/>
              </a:rPr>
              <a:t>appear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different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positions in the</a:t>
            </a:r>
            <a:r>
              <a:rPr dirty="0" sz="2400" spc="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10">
                <a:latin typeface="Calibri"/>
                <a:cs typeface="Calibri"/>
              </a:rPr>
              <a:t>call </a:t>
            </a:r>
            <a:r>
              <a:rPr dirty="0" sz="2400" spc="-5">
                <a:latin typeface="Calibri"/>
                <a:cs typeface="Calibri"/>
              </a:rPr>
              <a:t>these </a:t>
            </a:r>
            <a:r>
              <a:rPr dirty="0" sz="2400" spc="-15">
                <a:latin typeface="Calibri"/>
                <a:cs typeface="Calibri"/>
              </a:rPr>
              <a:t>tasks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Position-aware</a:t>
            </a:r>
            <a:r>
              <a:rPr dirty="0" sz="24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Even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perfect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GNN will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fail for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these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tasks: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1361" y="4631728"/>
            <a:ext cx="1898315" cy="15940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26654" y="4631728"/>
            <a:ext cx="2191909" cy="15940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76545" y="5957315"/>
            <a:ext cx="2654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7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814" sz="2250" spc="412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7870" y="4567428"/>
            <a:ext cx="271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814" sz="2250" spc="-97">
                <a:solidFill>
                  <a:srgbClr val="C00000"/>
                </a:solidFill>
                <a:latin typeface="Cambria Math"/>
                <a:cs typeface="Cambria Math"/>
              </a:rPr>
              <a:t>#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7593" y="5618988"/>
            <a:ext cx="2654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7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814" sz="2250" spc="412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3741" y="4765547"/>
            <a:ext cx="271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814" sz="2250" spc="-97">
                <a:solidFill>
                  <a:srgbClr val="C00000"/>
                </a:solidFill>
                <a:latin typeface="Cambria Math"/>
                <a:cs typeface="Cambria Math"/>
              </a:rPr>
              <a:t>#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9802" y="6351523"/>
            <a:ext cx="137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A </a:t>
            </a:r>
            <a:r>
              <a:rPr dirty="0" sz="1800" spc="-5" b="1">
                <a:latin typeface="Arial"/>
                <a:cs typeface="Arial"/>
              </a:rPr>
              <a:t>grid</a:t>
            </a:r>
            <a:r>
              <a:rPr dirty="0" sz="1800" spc="-14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8007" y="6354571"/>
            <a:ext cx="2007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NYC road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network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7207" y="20827"/>
            <a:ext cx="48710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Postion-aware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ICML</a:t>
            </a:r>
            <a:r>
              <a:rPr dirty="0" sz="1200" spc="-9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2019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65962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3651" y="1379220"/>
            <a:ext cx="70891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C00000"/>
                </a:solidFill>
              </a:rPr>
              <a:t>Observation </a:t>
            </a:r>
            <a:r>
              <a:rPr dirty="0" sz="3200">
                <a:solidFill>
                  <a:srgbClr val="C00000"/>
                </a:solidFill>
              </a:rPr>
              <a:t>2 </a:t>
            </a:r>
            <a:r>
              <a:rPr dirty="0" sz="3200" spc="-10">
                <a:solidFill>
                  <a:srgbClr val="C00000"/>
                </a:solidFill>
              </a:rPr>
              <a:t>often cannot </a:t>
            </a:r>
            <a:r>
              <a:rPr dirty="0" sz="3200" spc="-5">
                <a:solidFill>
                  <a:srgbClr val="C00000"/>
                </a:solidFill>
              </a:rPr>
              <a:t>be</a:t>
            </a:r>
            <a:r>
              <a:rPr dirty="0" sz="3200" spc="-20">
                <a:solidFill>
                  <a:srgbClr val="C00000"/>
                </a:solidFill>
              </a:rPr>
              <a:t> </a:t>
            </a:r>
            <a:r>
              <a:rPr dirty="0" sz="3200" spc="-10">
                <a:solidFill>
                  <a:srgbClr val="C00000"/>
                </a:solidFill>
              </a:rPr>
              <a:t>satisfied: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76847" y="669442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2619" y="5345126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42619" y="6434397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16513" y="5883473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6706" y="5613303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89">
                <a:moveTo>
                  <a:pt x="0" y="0"/>
                </a:moveTo>
                <a:lnTo>
                  <a:pt x="1" y="8210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0795" y="5479214"/>
            <a:ext cx="845185" cy="443865"/>
          </a:xfrm>
          <a:custGeom>
            <a:avLst/>
            <a:gdLst/>
            <a:ahLst/>
            <a:cxnLst/>
            <a:rect l="l" t="t" r="r" b="b"/>
            <a:pathLst>
              <a:path w="845185" h="443864">
                <a:moveTo>
                  <a:pt x="0" y="0"/>
                </a:moveTo>
                <a:lnTo>
                  <a:pt x="844992" y="4435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10795" y="6112376"/>
            <a:ext cx="845185" cy="456565"/>
          </a:xfrm>
          <a:custGeom>
            <a:avLst/>
            <a:gdLst/>
            <a:ahLst/>
            <a:cxnLst/>
            <a:rect l="l" t="t" r="r" b="b"/>
            <a:pathLst>
              <a:path w="845185" h="456565">
                <a:moveTo>
                  <a:pt x="0" y="456110"/>
                </a:moveTo>
                <a:lnTo>
                  <a:pt x="84499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16644" y="5350658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16644" y="6434068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46894" y="5353630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390114" y="5316220"/>
            <a:ext cx="22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6203" sz="1800" spc="322">
                <a:latin typeface="Cambria Math"/>
                <a:cs typeface="Cambria Math"/>
              </a:rPr>
              <a:t>"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50733" y="5618834"/>
            <a:ext cx="0" cy="815340"/>
          </a:xfrm>
          <a:custGeom>
            <a:avLst/>
            <a:gdLst/>
            <a:ahLst/>
            <a:cxnLst/>
            <a:rect l="l" t="t" r="r" b="b"/>
            <a:pathLst>
              <a:path w="0" h="815339">
                <a:moveTo>
                  <a:pt x="0" y="0"/>
                </a:moveTo>
                <a:lnTo>
                  <a:pt x="1" y="8152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80983" y="5621806"/>
            <a:ext cx="0" cy="812800"/>
          </a:xfrm>
          <a:custGeom>
            <a:avLst/>
            <a:gdLst/>
            <a:ahLst/>
            <a:cxnLst/>
            <a:rect l="l" t="t" r="r" b="b"/>
            <a:pathLst>
              <a:path w="0" h="812800">
                <a:moveTo>
                  <a:pt x="0" y="812262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46894" y="6434068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4" h="268604">
                <a:moveTo>
                  <a:pt x="0" y="134088"/>
                </a:moveTo>
                <a:lnTo>
                  <a:pt x="6835" y="91706"/>
                </a:lnTo>
                <a:lnTo>
                  <a:pt x="25871" y="54897"/>
                </a:lnTo>
                <a:lnTo>
                  <a:pt x="54897" y="25871"/>
                </a:lnTo>
                <a:lnTo>
                  <a:pt x="91706" y="6835"/>
                </a:lnTo>
                <a:lnTo>
                  <a:pt x="134088" y="0"/>
                </a:lnTo>
                <a:lnTo>
                  <a:pt x="176470" y="6835"/>
                </a:lnTo>
                <a:lnTo>
                  <a:pt x="213279" y="25871"/>
                </a:lnTo>
                <a:lnTo>
                  <a:pt x="242305" y="54897"/>
                </a:lnTo>
                <a:lnTo>
                  <a:pt x="261341" y="91706"/>
                </a:lnTo>
                <a:lnTo>
                  <a:pt x="268177" y="134088"/>
                </a:lnTo>
                <a:lnTo>
                  <a:pt x="261341" y="176470"/>
                </a:lnTo>
                <a:lnTo>
                  <a:pt x="242305" y="213279"/>
                </a:lnTo>
                <a:lnTo>
                  <a:pt x="213279" y="242305"/>
                </a:lnTo>
                <a:lnTo>
                  <a:pt x="176470" y="261341"/>
                </a:lnTo>
                <a:lnTo>
                  <a:pt x="134088" y="268177"/>
                </a:lnTo>
                <a:lnTo>
                  <a:pt x="91706" y="261341"/>
                </a:lnTo>
                <a:lnTo>
                  <a:pt x="54897" y="242305"/>
                </a:lnTo>
                <a:lnTo>
                  <a:pt x="25871" y="213279"/>
                </a:lnTo>
                <a:lnTo>
                  <a:pt x="6835" y="176470"/>
                </a:lnTo>
                <a:lnTo>
                  <a:pt x="0" y="1340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15070" y="5484746"/>
            <a:ext cx="901700" cy="3175"/>
          </a:xfrm>
          <a:custGeom>
            <a:avLst/>
            <a:gdLst/>
            <a:ahLst/>
            <a:cxnLst/>
            <a:rect l="l" t="t" r="r" b="b"/>
            <a:pathLst>
              <a:path w="901700" h="3175">
                <a:moveTo>
                  <a:pt x="901574" y="0"/>
                </a:moveTo>
                <a:lnTo>
                  <a:pt x="0" y="297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15070" y="6568157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 h="0">
                <a:moveTo>
                  <a:pt x="90157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35941" y="4687315"/>
            <a:ext cx="1849755" cy="89217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150">
                <a:latin typeface="Cambria Math"/>
                <a:cs typeface="Cambria Math"/>
              </a:rPr>
              <a:t>𝑣</a:t>
            </a:r>
            <a:r>
              <a:rPr dirty="0" baseline="-17094" sz="1950" spc="225">
                <a:latin typeface="Cambria Math"/>
                <a:cs typeface="Cambria Math"/>
              </a:rPr>
              <a:t>!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363855">
              <a:lnSpc>
                <a:spcPct val="100000"/>
              </a:lnSpc>
              <a:spcBef>
                <a:spcPts val="565"/>
              </a:spcBef>
            </a:pP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3888" sz="1800" spc="225">
                <a:latin typeface="Cambria Math"/>
                <a:cs typeface="Cambria Math"/>
              </a:rPr>
              <a:t>!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93272" y="4681220"/>
            <a:ext cx="185547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100">
                <a:latin typeface="Cambria Math"/>
                <a:cs typeface="Cambria Math"/>
              </a:rPr>
              <a:t>𝑣</a:t>
            </a:r>
            <a:r>
              <a:rPr dirty="0" baseline="-17094" sz="1950" spc="150">
                <a:latin typeface="Cambria Math"/>
                <a:cs typeface="Cambria Math"/>
              </a:rPr>
              <a:t>" </a:t>
            </a:r>
            <a:r>
              <a:rPr dirty="0" sz="1800" spc="-10">
                <a:latin typeface="Calibri"/>
                <a:cs typeface="Calibri"/>
              </a:rPr>
              <a:t>resides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cycle 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78612" y="6484807"/>
            <a:ext cx="260985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0">
                <a:latin typeface="Cambria Math"/>
                <a:cs typeface="Cambria Math"/>
              </a:rPr>
              <a:t>…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05271" y="639335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09061" y="639335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61506" y="600276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20431" y="639335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24220" y="639335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376665" y="600276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612852" y="639335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16640" y="639335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769086" y="600276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28010" y="639335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131799" y="639335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984245" y="600276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65295" y="5646895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680455" y="5638215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072876" y="5317066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73608" y="5525379"/>
            <a:ext cx="431800" cy="149860"/>
          </a:xfrm>
          <a:custGeom>
            <a:avLst/>
            <a:gdLst/>
            <a:ahLst/>
            <a:cxnLst/>
            <a:rect l="l" t="t" r="r" b="b"/>
            <a:pathLst>
              <a:path w="431800" h="149860">
                <a:moveTo>
                  <a:pt x="0" y="149623"/>
                </a:moveTo>
                <a:lnTo>
                  <a:pt x="431381" y="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281189" y="5525380"/>
            <a:ext cx="433070" cy="147320"/>
          </a:xfrm>
          <a:custGeom>
            <a:avLst/>
            <a:gdLst/>
            <a:ahLst/>
            <a:cxnLst/>
            <a:rect l="l" t="t" r="r" b="b"/>
            <a:pathLst>
              <a:path w="433070" h="147320">
                <a:moveTo>
                  <a:pt x="0" y="0"/>
                </a:moveTo>
                <a:lnTo>
                  <a:pt x="432462" y="14728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283021" y="5855208"/>
            <a:ext cx="219075" cy="154305"/>
          </a:xfrm>
          <a:custGeom>
            <a:avLst/>
            <a:gdLst/>
            <a:ahLst/>
            <a:cxnLst/>
            <a:rect l="l" t="t" r="r" b="b"/>
            <a:pathLst>
              <a:path w="219075" h="154304">
                <a:moveTo>
                  <a:pt x="218987" y="0"/>
                </a:moveTo>
                <a:lnTo>
                  <a:pt x="0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673608" y="5855208"/>
            <a:ext cx="214629" cy="154305"/>
          </a:xfrm>
          <a:custGeom>
            <a:avLst/>
            <a:gdLst/>
            <a:ahLst/>
            <a:cxnLst/>
            <a:rect l="l" t="t" r="r" b="b"/>
            <a:pathLst>
              <a:path w="214629" h="154304">
                <a:moveTo>
                  <a:pt x="0" y="0"/>
                </a:moveTo>
                <a:lnTo>
                  <a:pt x="214012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98181" y="5846528"/>
            <a:ext cx="217170" cy="156210"/>
          </a:xfrm>
          <a:custGeom>
            <a:avLst/>
            <a:gdLst/>
            <a:ahLst/>
            <a:cxnLst/>
            <a:rect l="l" t="t" r="r" b="b"/>
            <a:pathLst>
              <a:path w="217170" h="156210">
                <a:moveTo>
                  <a:pt x="216833" y="0"/>
                </a:moveTo>
                <a:lnTo>
                  <a:pt x="0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88768" y="5846528"/>
            <a:ext cx="216535" cy="156210"/>
          </a:xfrm>
          <a:custGeom>
            <a:avLst/>
            <a:gdLst/>
            <a:ahLst/>
            <a:cxnLst/>
            <a:rect l="l" t="t" r="r" b="b"/>
            <a:pathLst>
              <a:path w="216534" h="156210">
                <a:moveTo>
                  <a:pt x="0" y="0"/>
                </a:moveTo>
                <a:lnTo>
                  <a:pt x="216165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35467" y="621107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369819" y="621107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734367" y="621107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977398" y="621107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341947" y="621107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584978" y="621107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949527" y="621107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40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92558" y="621107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82105" y="1856740"/>
            <a:ext cx="8093075" cy="3048000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b="1">
                <a:latin typeface="Calibri"/>
                <a:cs typeface="Calibri"/>
              </a:rPr>
              <a:t>GNNs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spc="-10" b="1">
                <a:latin typeface="Calibri"/>
                <a:cs typeface="Calibri"/>
              </a:rPr>
              <a:t>introduced </a:t>
            </a:r>
            <a:r>
              <a:rPr dirty="0" sz="2800" spc="-5" b="1">
                <a:latin typeface="Calibri"/>
                <a:cs typeface="Calibri"/>
              </a:rPr>
              <a:t>so </a:t>
            </a:r>
            <a:r>
              <a:rPr dirty="0" sz="2800" spc="-15" b="1">
                <a:latin typeface="Calibri"/>
                <a:cs typeface="Calibri"/>
              </a:rPr>
              <a:t>far </a:t>
            </a:r>
            <a:r>
              <a:rPr dirty="0" sz="2800" spc="-10" b="1">
                <a:latin typeface="Calibri"/>
                <a:cs typeface="Calibri"/>
              </a:rPr>
              <a:t>are </a:t>
            </a:r>
            <a:r>
              <a:rPr dirty="0" sz="2800" spc="-5" b="1">
                <a:latin typeface="Calibri"/>
                <a:cs typeface="Calibri"/>
              </a:rPr>
              <a:t>not</a:t>
            </a:r>
            <a:r>
              <a:rPr dirty="0" sz="2800" spc="8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perfect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ts val="3290"/>
              </a:lnSpc>
              <a:spcBef>
                <a:spcPts val="91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Lecture </a:t>
            </a:r>
            <a:r>
              <a:rPr dirty="0" sz="2800">
                <a:latin typeface="Calibri"/>
                <a:cs typeface="Calibri"/>
              </a:rPr>
              <a:t>9,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discussed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5">
                <a:latin typeface="Calibri"/>
                <a:cs typeface="Calibri"/>
              </a:rPr>
              <a:t>their </a:t>
            </a:r>
            <a:r>
              <a:rPr dirty="0" sz="2800" spc="-15">
                <a:latin typeface="Calibri"/>
                <a:cs typeface="Calibri"/>
              </a:rPr>
              <a:t>expressive power 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upper bounded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by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WL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endParaRPr sz="2800">
              <a:latin typeface="Calibri"/>
              <a:cs typeface="Calibri"/>
            </a:endParaRPr>
          </a:p>
          <a:p>
            <a:pPr marL="287020" marR="533400" indent="-274320">
              <a:lnSpc>
                <a:spcPts val="3290"/>
              </a:lnSpc>
              <a:spcBef>
                <a:spcPts val="81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20">
                <a:latin typeface="Calibri"/>
                <a:cs typeface="Calibri"/>
              </a:rPr>
              <a:t>example, </a:t>
            </a:r>
            <a:r>
              <a:rPr dirty="0" sz="2800" spc="-10">
                <a:latin typeface="Calibri"/>
                <a:cs typeface="Calibri"/>
              </a:rPr>
              <a:t>message </a:t>
            </a:r>
            <a:r>
              <a:rPr dirty="0" sz="2800" spc="-5">
                <a:latin typeface="Calibri"/>
                <a:cs typeface="Calibri"/>
              </a:rPr>
              <a:t>passing GNNs </a:t>
            </a:r>
            <a:r>
              <a:rPr dirty="0" sz="2800" spc="-10" b="1">
                <a:latin typeface="Calibri"/>
                <a:cs typeface="Calibri"/>
              </a:rPr>
              <a:t>cannot </a:t>
            </a:r>
            <a:r>
              <a:rPr dirty="0" sz="2800" spc="-15" b="1">
                <a:latin typeface="Calibri"/>
                <a:cs typeface="Calibri"/>
              </a:rPr>
              <a:t>count  </a:t>
            </a:r>
            <a:r>
              <a:rPr dirty="0" sz="2800" spc="-10" b="1">
                <a:latin typeface="Calibri"/>
                <a:cs typeface="Calibri"/>
              </a:rPr>
              <a:t>cycle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length:</a:t>
            </a:r>
            <a:endParaRPr sz="2800">
              <a:latin typeface="Calibri"/>
              <a:cs typeface="Calibri"/>
            </a:endParaRPr>
          </a:p>
          <a:p>
            <a:pPr marL="5504180" marR="111760">
              <a:lnSpc>
                <a:spcPct val="102200"/>
              </a:lnSpc>
              <a:spcBef>
                <a:spcPts val="395"/>
              </a:spcBef>
            </a:pPr>
            <a:r>
              <a:rPr dirty="0" sz="1800" spc="-5" b="1">
                <a:latin typeface="Calibri"/>
                <a:cs typeface="Calibri"/>
              </a:rPr>
              <a:t>The </a:t>
            </a:r>
            <a:r>
              <a:rPr dirty="0" sz="1800" spc="-10" b="1">
                <a:latin typeface="Calibri"/>
                <a:cs typeface="Calibri"/>
              </a:rPr>
              <a:t>computational </a:t>
            </a:r>
            <a:r>
              <a:rPr dirty="0" sz="1800" spc="-15" b="1">
                <a:latin typeface="Calibri"/>
                <a:cs typeface="Calibri"/>
              </a:rPr>
              <a:t>graphs  for </a:t>
            </a:r>
            <a:r>
              <a:rPr dirty="0" sz="1800" spc="-10" b="1">
                <a:latin typeface="Calibri"/>
                <a:cs typeface="Calibri"/>
              </a:rPr>
              <a:t>nodes </a:t>
            </a:r>
            <a:r>
              <a:rPr dirty="0" sz="1800" spc="-5">
                <a:latin typeface="Cambria Math"/>
                <a:cs typeface="Cambria Math"/>
              </a:rPr>
              <a:t>𝒗</a:t>
            </a:r>
            <a:r>
              <a:rPr dirty="0" baseline="-14957" sz="1950" spc="-7">
                <a:latin typeface="Cambria Math"/>
                <a:cs typeface="Cambria Math"/>
              </a:rPr>
              <a:t>𝟏 </a:t>
            </a:r>
            <a:r>
              <a:rPr dirty="0" sz="1800" spc="-5" b="1">
                <a:latin typeface="Calibri"/>
                <a:cs typeface="Calibri"/>
              </a:rPr>
              <a:t>and </a:t>
            </a:r>
            <a:r>
              <a:rPr dirty="0" sz="1800" spc="-5">
                <a:latin typeface="Cambria Math"/>
                <a:cs typeface="Cambria Math"/>
              </a:rPr>
              <a:t>𝒗</a:t>
            </a:r>
            <a:r>
              <a:rPr dirty="0" baseline="-14957" sz="1950" spc="-7">
                <a:latin typeface="Cambria Math"/>
                <a:cs typeface="Cambria Math"/>
              </a:rPr>
              <a:t>𝟐</a:t>
            </a:r>
            <a:r>
              <a:rPr dirty="0" baseline="-14957" sz="1950" spc="157">
                <a:latin typeface="Cambria Math"/>
                <a:cs typeface="Cambria Math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273822" y="4873244"/>
            <a:ext cx="1554480" cy="66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always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endParaRPr sz="1800">
              <a:latin typeface="Calibri"/>
              <a:cs typeface="Calibri"/>
            </a:endParaRPr>
          </a:p>
          <a:p>
            <a:pPr algn="ctr" marL="304800">
              <a:lnSpc>
                <a:spcPct val="100000"/>
              </a:lnSpc>
              <a:spcBef>
                <a:spcPts val="1250"/>
              </a:spcBef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450">
                <a:latin typeface="Cambria Math"/>
                <a:cs typeface="Cambria Math"/>
              </a:rPr>
              <a:t>!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002413" y="20827"/>
            <a:ext cx="6031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Gomes-Selman,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10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Identity-aware</a:t>
            </a:r>
            <a:r>
              <a:rPr dirty="0" sz="1200" spc="-5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Neural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dirty="0" sz="12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AAAI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2021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4806696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08265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5" b="0">
                <a:latin typeface="Calibri"/>
                <a:cs typeface="Calibri"/>
              </a:rPr>
              <a:t>We </a:t>
            </a:r>
            <a:r>
              <a:rPr dirty="0" sz="3200" spc="-5" b="0">
                <a:latin typeface="Calibri"/>
                <a:cs typeface="Calibri"/>
              </a:rPr>
              <a:t>will </a:t>
            </a:r>
            <a:r>
              <a:rPr dirty="0" sz="3200" spc="-15" b="0">
                <a:latin typeface="Calibri"/>
                <a:cs typeface="Calibri"/>
              </a:rPr>
              <a:t>resolve </a:t>
            </a:r>
            <a:r>
              <a:rPr dirty="0" sz="3200" b="0">
                <a:latin typeface="Calibri"/>
                <a:cs typeface="Calibri"/>
              </a:rPr>
              <a:t>both </a:t>
            </a:r>
            <a:r>
              <a:rPr dirty="0" sz="3200" spc="-5" b="0">
                <a:latin typeface="Calibri"/>
                <a:cs typeface="Calibri"/>
              </a:rPr>
              <a:t>issues </a:t>
            </a:r>
            <a:r>
              <a:rPr dirty="0" sz="3200" spc="-10" b="0">
                <a:latin typeface="Calibri"/>
                <a:cs typeface="Calibri"/>
              </a:rPr>
              <a:t>by </a:t>
            </a:r>
            <a:r>
              <a:rPr dirty="0" sz="3200" spc="-5">
                <a:solidFill>
                  <a:srgbClr val="C00000"/>
                </a:solidFill>
              </a:rPr>
              <a:t>building </a:t>
            </a:r>
            <a:r>
              <a:rPr dirty="0" sz="3200" spc="-15">
                <a:solidFill>
                  <a:srgbClr val="C00000"/>
                </a:solidFill>
              </a:rPr>
              <a:t>more  expressive</a:t>
            </a:r>
            <a:r>
              <a:rPr dirty="0" sz="3200" spc="-55">
                <a:solidFill>
                  <a:srgbClr val="C00000"/>
                </a:solidFill>
              </a:rPr>
              <a:t> </a:t>
            </a:r>
            <a:r>
              <a:rPr dirty="0" sz="3200" spc="-5">
                <a:solidFill>
                  <a:srgbClr val="C00000"/>
                </a:solidFill>
              </a:rPr>
              <a:t>GNNs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0070C0"/>
                </a:solidFill>
              </a:rPr>
              <a:t>Fix issues </a:t>
            </a:r>
            <a:r>
              <a:rPr dirty="0" sz="3200">
                <a:solidFill>
                  <a:srgbClr val="0070C0"/>
                </a:solidFill>
              </a:rPr>
              <a:t>in </a:t>
            </a:r>
            <a:r>
              <a:rPr dirty="0" sz="3200" spc="-5">
                <a:solidFill>
                  <a:srgbClr val="0070C0"/>
                </a:solidFill>
              </a:rPr>
              <a:t>ObservaBon</a:t>
            </a:r>
            <a:r>
              <a:rPr dirty="0" sz="3200" spc="-50">
                <a:solidFill>
                  <a:srgbClr val="0070C0"/>
                </a:solidFill>
              </a:rPr>
              <a:t> </a:t>
            </a:r>
            <a:r>
              <a:rPr dirty="0" sz="3200">
                <a:solidFill>
                  <a:srgbClr val="0070C0"/>
                </a:solidFill>
              </a:rPr>
              <a:t>1: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7813040" cy="3332479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20">
                <a:solidFill>
                  <a:srgbClr val="0070C0"/>
                </a:solidFill>
                <a:latin typeface="Calibri"/>
                <a:cs typeface="Calibri"/>
              </a:rPr>
              <a:t>Create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node embeddings based on their </a:t>
            </a:r>
            <a:r>
              <a:rPr dirty="0" sz="2800" spc="-25">
                <a:solidFill>
                  <a:srgbClr val="0070C0"/>
                </a:solidFill>
                <a:latin typeface="Calibri"/>
                <a:cs typeface="Calibri"/>
              </a:rPr>
              <a:t>posiDons 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in the</a:t>
            </a:r>
            <a:r>
              <a:rPr dirty="0" sz="2800" spc="-6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>
                <a:solidFill>
                  <a:srgbClr val="0070C0"/>
                </a:solidFill>
                <a:latin typeface="Calibri"/>
                <a:cs typeface="Calibri"/>
              </a:rPr>
              <a:t>Example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method: </a:t>
            </a:r>
            <a:r>
              <a:rPr dirty="0" sz="2800" spc="-30">
                <a:solidFill>
                  <a:srgbClr val="0070C0"/>
                </a:solidFill>
                <a:latin typeface="Calibri"/>
                <a:cs typeface="Calibri"/>
              </a:rPr>
              <a:t>PosiDon-aware</a:t>
            </a:r>
            <a:r>
              <a:rPr dirty="0" sz="2800" spc="-1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GNNs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Fix issues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ObservaBon</a:t>
            </a:r>
            <a:r>
              <a:rPr dirty="0" sz="32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2:</a:t>
            </a:r>
            <a:endParaRPr sz="3200">
              <a:latin typeface="Calibri"/>
              <a:cs typeface="Calibri"/>
            </a:endParaRPr>
          </a:p>
          <a:p>
            <a:pPr lvl="1" marL="625475" marR="993775" indent="-274320">
              <a:lnSpc>
                <a:spcPts val="3310"/>
              </a:lnSpc>
              <a:spcBef>
                <a:spcPts val="91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Build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message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passing GNNs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are more  expressive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than WL</a:t>
            </a:r>
            <a:r>
              <a:rPr dirty="0" sz="28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1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Example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method: </a:t>
            </a:r>
            <a:r>
              <a:rPr dirty="0" sz="2800" spc="-30">
                <a:solidFill>
                  <a:srgbClr val="C00000"/>
                </a:solidFill>
                <a:latin typeface="Calibri"/>
                <a:cs typeface="Calibri"/>
              </a:rPr>
              <a:t>IdenDty-aware</a:t>
            </a:r>
            <a:r>
              <a:rPr dirty="0" sz="28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GNNs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35889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7160" y="1247139"/>
            <a:ext cx="484441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5"/>
              <a:t>We </a:t>
            </a:r>
            <a:r>
              <a:rPr dirty="0" spc="-5"/>
              <a:t>use the </a:t>
            </a:r>
            <a:r>
              <a:rPr dirty="0" spc="-10"/>
              <a:t>following</a:t>
            </a:r>
            <a:r>
              <a:rPr dirty="0" spc="25"/>
              <a:t> </a:t>
            </a:r>
            <a:r>
              <a:rPr dirty="0" spc="-5"/>
              <a:t>thinking: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5615" y="1688084"/>
            <a:ext cx="8437245" cy="178117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45">
                <a:solidFill>
                  <a:srgbClr val="C00000"/>
                </a:solidFill>
                <a:latin typeface="Calibri"/>
                <a:cs typeface="Calibri"/>
              </a:rPr>
              <a:t>Two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different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inputs </a:t>
            </a:r>
            <a:r>
              <a:rPr dirty="0" sz="2400" spc="-5">
                <a:latin typeface="Calibri"/>
                <a:cs typeface="Calibri"/>
              </a:rPr>
              <a:t>(nodes, edges, </a:t>
            </a:r>
            <a:r>
              <a:rPr dirty="0" sz="2400" spc="-10">
                <a:latin typeface="Calibri"/>
                <a:cs typeface="Calibri"/>
              </a:rPr>
              <a:t>graphs)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are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labeled</a:t>
            </a:r>
            <a:r>
              <a:rPr dirty="0" sz="2400" spc="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45">
                <a:solidFill>
                  <a:srgbClr val="C00000"/>
                </a:solidFill>
                <a:latin typeface="Calibri"/>
                <a:cs typeface="Calibri"/>
              </a:rPr>
              <a:t>differently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“failed” </a:t>
            </a:r>
            <a:r>
              <a:rPr dirty="0" sz="2400" spc="-5">
                <a:latin typeface="Calibri"/>
                <a:cs typeface="Calibri"/>
              </a:rPr>
              <a:t>model will </a:t>
            </a:r>
            <a:r>
              <a:rPr dirty="0" sz="2400" spc="-20">
                <a:latin typeface="Calibri"/>
                <a:cs typeface="Calibri"/>
              </a:rPr>
              <a:t>always </a:t>
            </a:r>
            <a:r>
              <a:rPr dirty="0" sz="2400" spc="-5">
                <a:latin typeface="Calibri"/>
                <a:cs typeface="Calibri"/>
              </a:rPr>
              <a:t>assign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the same embedding </a:t>
            </a:r>
            <a:r>
              <a:rPr dirty="0" sz="2400" spc="-15">
                <a:latin typeface="Calibri"/>
                <a:cs typeface="Calibri"/>
              </a:rPr>
              <a:t>to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them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“successful” </a:t>
            </a:r>
            <a:r>
              <a:rPr dirty="0" sz="2400" spc="-5">
                <a:latin typeface="Calibri"/>
                <a:cs typeface="Calibri"/>
              </a:rPr>
              <a:t>model will assign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different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embeddings </a:t>
            </a:r>
            <a:r>
              <a:rPr dirty="0" sz="2400" spc="-15">
                <a:latin typeface="Calibri"/>
                <a:cs typeface="Calibri"/>
              </a:rPr>
              <a:t>to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them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Embeddings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are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determined by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computational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graphs: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2778" y="3816621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02778" y="4959906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26178" y="4383293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41960" y="4094986"/>
            <a:ext cx="0" cy="860425"/>
          </a:xfrm>
          <a:custGeom>
            <a:avLst/>
            <a:gdLst/>
            <a:ahLst/>
            <a:cxnLst/>
            <a:rect l="l" t="t" r="r" b="b"/>
            <a:pathLst>
              <a:path w="0" h="860425">
                <a:moveTo>
                  <a:pt x="0" y="0"/>
                </a:moveTo>
                <a:lnTo>
                  <a:pt x="0" y="86027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91085" y="3955805"/>
            <a:ext cx="885825" cy="464820"/>
          </a:xfrm>
          <a:custGeom>
            <a:avLst/>
            <a:gdLst/>
            <a:ahLst/>
            <a:cxnLst/>
            <a:rect l="l" t="t" r="r" b="b"/>
            <a:pathLst>
              <a:path w="885825" h="464820">
                <a:moveTo>
                  <a:pt x="0" y="0"/>
                </a:moveTo>
                <a:lnTo>
                  <a:pt x="885306" y="464693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91085" y="4621890"/>
            <a:ext cx="885825" cy="478155"/>
          </a:xfrm>
          <a:custGeom>
            <a:avLst/>
            <a:gdLst/>
            <a:ahLst/>
            <a:cxnLst/>
            <a:rect l="l" t="t" r="r" b="b"/>
            <a:pathLst>
              <a:path w="885825" h="478154">
                <a:moveTo>
                  <a:pt x="0" y="477871"/>
                </a:moveTo>
                <a:lnTo>
                  <a:pt x="885306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32046" y="38265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153"/>
                </a:moveTo>
                <a:lnTo>
                  <a:pt x="7349" y="98589"/>
                </a:lnTo>
                <a:lnTo>
                  <a:pt x="27813" y="59018"/>
                </a:lnTo>
                <a:lnTo>
                  <a:pt x="59018" y="27813"/>
                </a:lnTo>
                <a:lnTo>
                  <a:pt x="98589" y="7349"/>
                </a:lnTo>
                <a:lnTo>
                  <a:pt x="144153" y="0"/>
                </a:lnTo>
                <a:lnTo>
                  <a:pt x="189716" y="7349"/>
                </a:lnTo>
                <a:lnTo>
                  <a:pt x="229288" y="27813"/>
                </a:lnTo>
                <a:lnTo>
                  <a:pt x="260493" y="59018"/>
                </a:lnTo>
                <a:lnTo>
                  <a:pt x="280957" y="98589"/>
                </a:lnTo>
                <a:lnTo>
                  <a:pt x="288306" y="144153"/>
                </a:lnTo>
                <a:lnTo>
                  <a:pt x="280957" y="189716"/>
                </a:lnTo>
                <a:lnTo>
                  <a:pt x="260493" y="229288"/>
                </a:lnTo>
                <a:lnTo>
                  <a:pt x="229288" y="260493"/>
                </a:lnTo>
                <a:lnTo>
                  <a:pt x="189716" y="280957"/>
                </a:lnTo>
                <a:lnTo>
                  <a:pt x="144153" y="288306"/>
                </a:lnTo>
                <a:lnTo>
                  <a:pt x="98589" y="280957"/>
                </a:lnTo>
                <a:lnTo>
                  <a:pt x="59018" y="260493"/>
                </a:lnTo>
                <a:lnTo>
                  <a:pt x="27813" y="229288"/>
                </a:lnTo>
                <a:lnTo>
                  <a:pt x="7349" y="189716"/>
                </a:lnTo>
                <a:lnTo>
                  <a:pt x="0" y="144153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32046" y="4969847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09229" y="3836504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182"/>
                </a:moveTo>
                <a:lnTo>
                  <a:pt x="7095" y="95190"/>
                </a:lnTo>
                <a:lnTo>
                  <a:pt x="26854" y="56983"/>
                </a:lnTo>
                <a:lnTo>
                  <a:pt x="56983" y="26854"/>
                </a:lnTo>
                <a:lnTo>
                  <a:pt x="95189" y="7095"/>
                </a:lnTo>
                <a:lnTo>
                  <a:pt x="139182" y="0"/>
                </a:lnTo>
                <a:lnTo>
                  <a:pt x="183174" y="7095"/>
                </a:lnTo>
                <a:lnTo>
                  <a:pt x="221381" y="26854"/>
                </a:lnTo>
                <a:lnTo>
                  <a:pt x="251510" y="56983"/>
                </a:lnTo>
                <a:lnTo>
                  <a:pt x="271269" y="95190"/>
                </a:lnTo>
                <a:lnTo>
                  <a:pt x="278364" y="139182"/>
                </a:lnTo>
                <a:lnTo>
                  <a:pt x="271269" y="183174"/>
                </a:lnTo>
                <a:lnTo>
                  <a:pt x="251510" y="221381"/>
                </a:lnTo>
                <a:lnTo>
                  <a:pt x="221381" y="251510"/>
                </a:lnTo>
                <a:lnTo>
                  <a:pt x="183174" y="271269"/>
                </a:lnTo>
                <a:lnTo>
                  <a:pt x="139182" y="278364"/>
                </a:lnTo>
                <a:lnTo>
                  <a:pt x="95189" y="271269"/>
                </a:lnTo>
                <a:lnTo>
                  <a:pt x="56983" y="251510"/>
                </a:lnTo>
                <a:lnTo>
                  <a:pt x="26854" y="221381"/>
                </a:lnTo>
                <a:lnTo>
                  <a:pt x="7095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951462" y="3813863"/>
            <a:ext cx="218440" cy="2641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385">
                <a:latin typeface="Cambria Math"/>
                <a:cs typeface="Cambria Math"/>
              </a:rPr>
              <a:t>!</a:t>
            </a:r>
            <a:r>
              <a:rPr dirty="0" baseline="-14492" sz="1725" spc="337">
                <a:latin typeface="Cambria Math"/>
                <a:cs typeface="Cambria Math"/>
              </a:rPr>
              <a:t>"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71228" y="4114869"/>
            <a:ext cx="0" cy="854710"/>
          </a:xfrm>
          <a:custGeom>
            <a:avLst/>
            <a:gdLst/>
            <a:ahLst/>
            <a:cxnLst/>
            <a:rect l="l" t="t" r="r" b="b"/>
            <a:pathLst>
              <a:path w="0" h="854710">
                <a:moveTo>
                  <a:pt x="0" y="0"/>
                </a:moveTo>
                <a:lnTo>
                  <a:pt x="0" y="854128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48411" y="4114869"/>
            <a:ext cx="0" cy="851535"/>
          </a:xfrm>
          <a:custGeom>
            <a:avLst/>
            <a:gdLst/>
            <a:ahLst/>
            <a:cxnLst/>
            <a:rect l="l" t="t" r="r" b="b"/>
            <a:pathLst>
              <a:path w="0" h="851535">
                <a:moveTo>
                  <a:pt x="0" y="851015"/>
                </a:moveTo>
                <a:lnTo>
                  <a:pt x="0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59781" y="3764155"/>
            <a:ext cx="50355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260" algn="l"/>
              </a:tabLst>
            </a:pPr>
            <a:r>
              <a:rPr dirty="0" sz="1850" spc="10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r>
              <a:rPr dirty="0" sz="1850" spc="10">
                <a:solidFill>
                  <a:srgbClr val="70AD47"/>
                </a:solidFill>
                <a:latin typeface="Calibri"/>
                <a:cs typeface="Calibri"/>
              </a:rPr>
              <a:t>	</a:t>
            </a:r>
            <a:r>
              <a:rPr dirty="0" sz="1550" spc="350">
                <a:latin typeface="Cambria Math"/>
                <a:cs typeface="Cambria Math"/>
              </a:rPr>
              <a:t>!</a:t>
            </a:r>
            <a:r>
              <a:rPr dirty="0" baseline="-14492" sz="1725" spc="525">
                <a:latin typeface="Cambria Math"/>
                <a:cs typeface="Cambria Math"/>
              </a:rPr>
              <a:t>!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80211" y="3803921"/>
            <a:ext cx="15557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09229" y="496984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182"/>
                </a:moveTo>
                <a:lnTo>
                  <a:pt x="7095" y="95190"/>
                </a:lnTo>
                <a:lnTo>
                  <a:pt x="26854" y="56983"/>
                </a:lnTo>
                <a:lnTo>
                  <a:pt x="56983" y="26854"/>
                </a:lnTo>
                <a:lnTo>
                  <a:pt x="95189" y="7095"/>
                </a:lnTo>
                <a:lnTo>
                  <a:pt x="139182" y="0"/>
                </a:lnTo>
                <a:lnTo>
                  <a:pt x="183174" y="7095"/>
                </a:lnTo>
                <a:lnTo>
                  <a:pt x="221381" y="26854"/>
                </a:lnTo>
                <a:lnTo>
                  <a:pt x="251510" y="56983"/>
                </a:lnTo>
                <a:lnTo>
                  <a:pt x="271269" y="95190"/>
                </a:lnTo>
                <a:lnTo>
                  <a:pt x="278364" y="139182"/>
                </a:lnTo>
                <a:lnTo>
                  <a:pt x="271269" y="183174"/>
                </a:lnTo>
                <a:lnTo>
                  <a:pt x="251510" y="221381"/>
                </a:lnTo>
                <a:lnTo>
                  <a:pt x="221381" y="251510"/>
                </a:lnTo>
                <a:lnTo>
                  <a:pt x="183174" y="271269"/>
                </a:lnTo>
                <a:lnTo>
                  <a:pt x="139182" y="278364"/>
                </a:lnTo>
                <a:lnTo>
                  <a:pt x="95189" y="271269"/>
                </a:lnTo>
                <a:lnTo>
                  <a:pt x="56983" y="251510"/>
                </a:lnTo>
                <a:lnTo>
                  <a:pt x="26854" y="221381"/>
                </a:lnTo>
                <a:lnTo>
                  <a:pt x="7095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87594" y="3975687"/>
            <a:ext cx="944880" cy="3175"/>
          </a:xfrm>
          <a:custGeom>
            <a:avLst/>
            <a:gdLst/>
            <a:ahLst/>
            <a:cxnLst/>
            <a:rect l="l" t="t" r="r" b="b"/>
            <a:pathLst>
              <a:path w="944879" h="3175">
                <a:moveTo>
                  <a:pt x="944587" y="0"/>
                </a:moveTo>
                <a:lnTo>
                  <a:pt x="0" y="3112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87594" y="5109029"/>
            <a:ext cx="944880" cy="0"/>
          </a:xfrm>
          <a:custGeom>
            <a:avLst/>
            <a:gdLst/>
            <a:ahLst/>
            <a:cxnLst/>
            <a:rect l="l" t="t" r="r" b="b"/>
            <a:pathLst>
              <a:path w="944879" h="0">
                <a:moveTo>
                  <a:pt x="944587" y="0"/>
                </a:moveTo>
                <a:lnTo>
                  <a:pt x="0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723054" y="5525515"/>
            <a:ext cx="6389370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5" b="1">
                <a:latin typeface="Arial"/>
                <a:cs typeface="Arial"/>
              </a:rPr>
              <a:t>Two </a:t>
            </a:r>
            <a:r>
              <a:rPr dirty="0" sz="2400" spc="-5" b="1">
                <a:latin typeface="Arial"/>
                <a:cs typeface="Arial"/>
              </a:rPr>
              <a:t>inputs</a:t>
            </a:r>
            <a:r>
              <a:rPr dirty="0" sz="2400" spc="-5">
                <a:latin typeface="Arial"/>
                <a:cs typeface="Arial"/>
              </a:rPr>
              <a:t>: </a:t>
            </a:r>
            <a:r>
              <a:rPr dirty="0" sz="2400">
                <a:latin typeface="Arial"/>
                <a:cs typeface="Arial"/>
              </a:rPr>
              <a:t>nodes </a:t>
            </a:r>
            <a:r>
              <a:rPr dirty="0" sz="2400" spc="-80">
                <a:latin typeface="Cambria Math"/>
                <a:cs typeface="Cambria Math"/>
              </a:rPr>
              <a:t>𝑣</a:t>
            </a:r>
            <a:r>
              <a:rPr dirty="0" baseline="-15432" sz="2700" spc="-120">
                <a:latin typeface="Cambria Math"/>
                <a:cs typeface="Cambria Math"/>
              </a:rPr>
              <a:t># 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50">
                <a:latin typeface="Cambria Math"/>
                <a:cs typeface="Cambria Math"/>
              </a:rPr>
              <a:t>𝑣</a:t>
            </a:r>
            <a:r>
              <a:rPr dirty="0" baseline="-15432" sz="2700" spc="75">
                <a:latin typeface="Cambria Math"/>
                <a:cs typeface="Cambria Math"/>
              </a:rPr>
              <a:t>$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Arial"/>
                <a:cs typeface="Arial"/>
              </a:rPr>
              <a:t>Different labels: </a:t>
            </a:r>
            <a:r>
              <a:rPr dirty="0" sz="2400">
                <a:solidFill>
                  <a:srgbClr val="6BB76D"/>
                </a:solidFill>
                <a:latin typeface="Arial"/>
                <a:cs typeface="Arial"/>
              </a:rPr>
              <a:t>A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330"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70C0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400" spc="-5" b="1">
                <a:latin typeface="Arial"/>
                <a:cs typeface="Arial"/>
              </a:rPr>
              <a:t>Goal: </a:t>
            </a:r>
            <a:r>
              <a:rPr dirty="0" sz="2400">
                <a:latin typeface="Arial"/>
                <a:cs typeface="Arial"/>
              </a:rPr>
              <a:t>assign </a:t>
            </a:r>
            <a:r>
              <a:rPr dirty="0" sz="2400" spc="-10">
                <a:latin typeface="Arial"/>
                <a:cs typeface="Arial"/>
              </a:rPr>
              <a:t>different </a:t>
            </a:r>
            <a:r>
              <a:rPr dirty="0" sz="2400">
                <a:latin typeface="Arial"/>
                <a:cs typeface="Arial"/>
              </a:rPr>
              <a:t>embeddings </a:t>
            </a:r>
            <a:r>
              <a:rPr dirty="0" sz="2400" spc="-5">
                <a:latin typeface="Arial"/>
                <a:cs typeface="Arial"/>
              </a:rPr>
              <a:t>to </a:t>
            </a:r>
            <a:r>
              <a:rPr dirty="0" sz="2400" spc="-80">
                <a:latin typeface="Cambria Math"/>
                <a:cs typeface="Cambria Math"/>
              </a:rPr>
              <a:t>𝑣</a:t>
            </a:r>
            <a:r>
              <a:rPr dirty="0" baseline="-15432" sz="2700" spc="-120">
                <a:latin typeface="Cambria Math"/>
                <a:cs typeface="Cambria Math"/>
              </a:rPr>
              <a:t># 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150">
                <a:latin typeface="Arial"/>
                <a:cs typeface="Arial"/>
              </a:rPr>
              <a:t> </a:t>
            </a:r>
            <a:r>
              <a:rPr dirty="0" sz="2400" spc="50">
                <a:latin typeface="Cambria Math"/>
                <a:cs typeface="Cambria Math"/>
              </a:rPr>
              <a:t>𝑣</a:t>
            </a:r>
            <a:r>
              <a:rPr dirty="0" baseline="-15432" sz="2700" spc="75">
                <a:latin typeface="Cambria Math"/>
                <a:cs typeface="Cambria Math"/>
              </a:rPr>
              <a:t>$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47674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471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/>
              <a:t>A </a:t>
            </a:r>
            <a:r>
              <a:rPr dirty="0" sz="3200" spc="-10"/>
              <a:t>naïve </a:t>
            </a:r>
            <a:r>
              <a:rPr dirty="0" sz="3200" spc="-5"/>
              <a:t>solution: </a:t>
            </a:r>
            <a:r>
              <a:rPr dirty="0" sz="3200" spc="-5" b="0">
                <a:latin typeface="Calibri"/>
                <a:cs typeface="Calibri"/>
              </a:rPr>
              <a:t>One-hot</a:t>
            </a:r>
            <a:r>
              <a:rPr dirty="0" sz="3200" spc="50" b="0">
                <a:latin typeface="Calibri"/>
                <a:cs typeface="Calibri"/>
              </a:rPr>
              <a:t> </a:t>
            </a:r>
            <a:r>
              <a:rPr dirty="0" sz="3200" spc="-10" b="0">
                <a:latin typeface="Calibri"/>
                <a:cs typeface="Calibri"/>
              </a:rPr>
              <a:t>encoding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557134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Encode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each node with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25">
                <a:solidFill>
                  <a:srgbClr val="C00000"/>
                </a:solidFill>
                <a:latin typeface="Calibri"/>
                <a:cs typeface="Calibri"/>
              </a:rPr>
              <a:t>different ID</a:t>
            </a:r>
            <a:r>
              <a:rPr dirty="0" sz="2800" spc="-2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 </a:t>
            </a:r>
            <a:r>
              <a:rPr dirty="0" sz="2800" spc="-25">
                <a:latin typeface="Calibri"/>
                <a:cs typeface="Calibri"/>
              </a:rPr>
              <a:t>always differentiate different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nodes/edges/graphs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91212" y="3129394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91212" y="4272677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14613" y="3696065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30394" y="3407759"/>
            <a:ext cx="0" cy="860425"/>
          </a:xfrm>
          <a:custGeom>
            <a:avLst/>
            <a:gdLst/>
            <a:ahLst/>
            <a:cxnLst/>
            <a:rect l="l" t="t" r="r" b="b"/>
            <a:pathLst>
              <a:path w="0" h="860425">
                <a:moveTo>
                  <a:pt x="0" y="0"/>
                </a:moveTo>
                <a:lnTo>
                  <a:pt x="0" y="86027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79519" y="3268576"/>
            <a:ext cx="885825" cy="464820"/>
          </a:xfrm>
          <a:custGeom>
            <a:avLst/>
            <a:gdLst/>
            <a:ahLst/>
            <a:cxnLst/>
            <a:rect l="l" t="t" r="r" b="b"/>
            <a:pathLst>
              <a:path w="885825" h="464820">
                <a:moveTo>
                  <a:pt x="0" y="0"/>
                </a:moveTo>
                <a:lnTo>
                  <a:pt x="885306" y="464693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79519" y="3934663"/>
            <a:ext cx="885825" cy="478155"/>
          </a:xfrm>
          <a:custGeom>
            <a:avLst/>
            <a:gdLst/>
            <a:ahLst/>
            <a:cxnLst/>
            <a:rect l="l" t="t" r="r" b="b"/>
            <a:pathLst>
              <a:path w="885825" h="478154">
                <a:moveTo>
                  <a:pt x="0" y="477871"/>
                </a:moveTo>
                <a:lnTo>
                  <a:pt x="885306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20479" y="3139335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153"/>
                </a:moveTo>
                <a:lnTo>
                  <a:pt x="7349" y="98589"/>
                </a:lnTo>
                <a:lnTo>
                  <a:pt x="27813" y="59018"/>
                </a:lnTo>
                <a:lnTo>
                  <a:pt x="59018" y="27813"/>
                </a:lnTo>
                <a:lnTo>
                  <a:pt x="98589" y="7349"/>
                </a:lnTo>
                <a:lnTo>
                  <a:pt x="144153" y="0"/>
                </a:lnTo>
                <a:lnTo>
                  <a:pt x="189716" y="7349"/>
                </a:lnTo>
                <a:lnTo>
                  <a:pt x="229288" y="27813"/>
                </a:lnTo>
                <a:lnTo>
                  <a:pt x="260493" y="59018"/>
                </a:lnTo>
                <a:lnTo>
                  <a:pt x="280957" y="98589"/>
                </a:lnTo>
                <a:lnTo>
                  <a:pt x="288306" y="144153"/>
                </a:lnTo>
                <a:lnTo>
                  <a:pt x="280957" y="189716"/>
                </a:lnTo>
                <a:lnTo>
                  <a:pt x="260493" y="229288"/>
                </a:lnTo>
                <a:lnTo>
                  <a:pt x="229288" y="260493"/>
                </a:lnTo>
                <a:lnTo>
                  <a:pt x="189716" y="280957"/>
                </a:lnTo>
                <a:lnTo>
                  <a:pt x="144153" y="288306"/>
                </a:lnTo>
                <a:lnTo>
                  <a:pt x="98589" y="280957"/>
                </a:lnTo>
                <a:lnTo>
                  <a:pt x="59018" y="260493"/>
                </a:lnTo>
                <a:lnTo>
                  <a:pt x="27813" y="229288"/>
                </a:lnTo>
                <a:lnTo>
                  <a:pt x="7349" y="189716"/>
                </a:lnTo>
                <a:lnTo>
                  <a:pt x="0" y="144153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20479" y="4282619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97663" y="314927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182"/>
                </a:moveTo>
                <a:lnTo>
                  <a:pt x="7095" y="95190"/>
                </a:lnTo>
                <a:lnTo>
                  <a:pt x="26854" y="56983"/>
                </a:lnTo>
                <a:lnTo>
                  <a:pt x="56983" y="26854"/>
                </a:lnTo>
                <a:lnTo>
                  <a:pt x="95189" y="7095"/>
                </a:lnTo>
                <a:lnTo>
                  <a:pt x="139182" y="0"/>
                </a:lnTo>
                <a:lnTo>
                  <a:pt x="183174" y="7095"/>
                </a:lnTo>
                <a:lnTo>
                  <a:pt x="221381" y="26854"/>
                </a:lnTo>
                <a:lnTo>
                  <a:pt x="251510" y="56983"/>
                </a:lnTo>
                <a:lnTo>
                  <a:pt x="271269" y="95190"/>
                </a:lnTo>
                <a:lnTo>
                  <a:pt x="278364" y="139182"/>
                </a:lnTo>
                <a:lnTo>
                  <a:pt x="271269" y="183174"/>
                </a:lnTo>
                <a:lnTo>
                  <a:pt x="251510" y="221381"/>
                </a:lnTo>
                <a:lnTo>
                  <a:pt x="221381" y="251510"/>
                </a:lnTo>
                <a:lnTo>
                  <a:pt x="183174" y="271269"/>
                </a:lnTo>
                <a:lnTo>
                  <a:pt x="139182" y="278364"/>
                </a:lnTo>
                <a:lnTo>
                  <a:pt x="95189" y="271269"/>
                </a:lnTo>
                <a:lnTo>
                  <a:pt x="56983" y="251510"/>
                </a:lnTo>
                <a:lnTo>
                  <a:pt x="26854" y="221381"/>
                </a:lnTo>
                <a:lnTo>
                  <a:pt x="7095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39896" y="3126635"/>
            <a:ext cx="218440" cy="2641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385">
                <a:latin typeface="Cambria Math"/>
                <a:cs typeface="Cambria Math"/>
              </a:rPr>
              <a:t>!</a:t>
            </a:r>
            <a:r>
              <a:rPr dirty="0" baseline="-14492" sz="1725" spc="337">
                <a:latin typeface="Cambria Math"/>
                <a:cs typeface="Cambria Math"/>
              </a:rPr>
              <a:t>"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59662" y="3427642"/>
            <a:ext cx="0" cy="854710"/>
          </a:xfrm>
          <a:custGeom>
            <a:avLst/>
            <a:gdLst/>
            <a:ahLst/>
            <a:cxnLst/>
            <a:rect l="l" t="t" r="r" b="b"/>
            <a:pathLst>
              <a:path w="0" h="854710">
                <a:moveTo>
                  <a:pt x="0" y="0"/>
                </a:moveTo>
                <a:lnTo>
                  <a:pt x="0" y="854128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36845" y="3427641"/>
            <a:ext cx="0" cy="851535"/>
          </a:xfrm>
          <a:custGeom>
            <a:avLst/>
            <a:gdLst/>
            <a:ahLst/>
            <a:cxnLst/>
            <a:rect l="l" t="t" r="r" b="b"/>
            <a:pathLst>
              <a:path w="0" h="851535">
                <a:moveTo>
                  <a:pt x="0" y="851015"/>
                </a:moveTo>
                <a:lnTo>
                  <a:pt x="0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248216" y="3076927"/>
            <a:ext cx="50355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260" algn="l"/>
              </a:tabLst>
            </a:pPr>
            <a:r>
              <a:rPr dirty="0" sz="1850" spc="10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r>
              <a:rPr dirty="0" sz="1850" spc="10">
                <a:solidFill>
                  <a:srgbClr val="70AD47"/>
                </a:solidFill>
                <a:latin typeface="Calibri"/>
                <a:cs typeface="Calibri"/>
              </a:rPr>
              <a:t>	</a:t>
            </a:r>
            <a:r>
              <a:rPr dirty="0" sz="1550" spc="350">
                <a:latin typeface="Cambria Math"/>
                <a:cs typeface="Cambria Math"/>
              </a:rPr>
              <a:t>!</a:t>
            </a:r>
            <a:r>
              <a:rPr dirty="0" baseline="-14492" sz="1725" spc="525">
                <a:latin typeface="Cambria Math"/>
                <a:cs typeface="Cambria Math"/>
              </a:rPr>
              <a:t>!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68645" y="3116693"/>
            <a:ext cx="15557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97663" y="4282619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182"/>
                </a:moveTo>
                <a:lnTo>
                  <a:pt x="7095" y="95190"/>
                </a:lnTo>
                <a:lnTo>
                  <a:pt x="26854" y="56983"/>
                </a:lnTo>
                <a:lnTo>
                  <a:pt x="56983" y="26854"/>
                </a:lnTo>
                <a:lnTo>
                  <a:pt x="95189" y="7095"/>
                </a:lnTo>
                <a:lnTo>
                  <a:pt x="139182" y="0"/>
                </a:lnTo>
                <a:lnTo>
                  <a:pt x="183174" y="7095"/>
                </a:lnTo>
                <a:lnTo>
                  <a:pt x="221381" y="26854"/>
                </a:lnTo>
                <a:lnTo>
                  <a:pt x="251510" y="56983"/>
                </a:lnTo>
                <a:lnTo>
                  <a:pt x="271269" y="95190"/>
                </a:lnTo>
                <a:lnTo>
                  <a:pt x="278364" y="139182"/>
                </a:lnTo>
                <a:lnTo>
                  <a:pt x="271269" y="183174"/>
                </a:lnTo>
                <a:lnTo>
                  <a:pt x="251510" y="221381"/>
                </a:lnTo>
                <a:lnTo>
                  <a:pt x="221381" y="251510"/>
                </a:lnTo>
                <a:lnTo>
                  <a:pt x="183174" y="271269"/>
                </a:lnTo>
                <a:lnTo>
                  <a:pt x="139182" y="278364"/>
                </a:lnTo>
                <a:lnTo>
                  <a:pt x="95189" y="271269"/>
                </a:lnTo>
                <a:lnTo>
                  <a:pt x="56983" y="251510"/>
                </a:lnTo>
                <a:lnTo>
                  <a:pt x="26854" y="221381"/>
                </a:lnTo>
                <a:lnTo>
                  <a:pt x="7095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76028" y="3288459"/>
            <a:ext cx="944880" cy="3175"/>
          </a:xfrm>
          <a:custGeom>
            <a:avLst/>
            <a:gdLst/>
            <a:ahLst/>
            <a:cxnLst/>
            <a:rect l="l" t="t" r="r" b="b"/>
            <a:pathLst>
              <a:path w="944879" h="3175">
                <a:moveTo>
                  <a:pt x="944587" y="0"/>
                </a:moveTo>
                <a:lnTo>
                  <a:pt x="0" y="3112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76028" y="4421802"/>
            <a:ext cx="944880" cy="0"/>
          </a:xfrm>
          <a:custGeom>
            <a:avLst/>
            <a:gdLst/>
            <a:ahLst/>
            <a:cxnLst/>
            <a:rect l="l" t="t" r="r" b="b"/>
            <a:pathLst>
              <a:path w="944879" h="0">
                <a:moveTo>
                  <a:pt x="944587" y="0"/>
                </a:moveTo>
                <a:lnTo>
                  <a:pt x="0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38098" y="2957547"/>
            <a:ext cx="53403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20">
                <a:latin typeface="Arial"/>
                <a:cs typeface="Arial"/>
              </a:rPr>
              <a:t>1000</a:t>
            </a:r>
            <a:endParaRPr sz="17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9857" y="4536411"/>
            <a:ext cx="53403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20">
                <a:latin typeface="Arial"/>
                <a:cs typeface="Arial"/>
              </a:rPr>
              <a:t>0100</a:t>
            </a:r>
            <a:endParaRPr sz="1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1056" y="3972531"/>
            <a:ext cx="53403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20">
                <a:latin typeface="Arial"/>
                <a:cs typeface="Arial"/>
              </a:rPr>
              <a:t>0001</a:t>
            </a:r>
            <a:endParaRPr sz="1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66083" y="2783811"/>
            <a:ext cx="171005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188720" algn="l"/>
              </a:tabLst>
            </a:pPr>
            <a:r>
              <a:rPr dirty="0" sz="1750" spc="20">
                <a:latin typeface="Arial"/>
                <a:cs typeface="Arial"/>
              </a:rPr>
              <a:t>100</a:t>
            </a:r>
            <a:r>
              <a:rPr dirty="0" sz="1750" spc="25">
                <a:latin typeface="Arial"/>
                <a:cs typeface="Arial"/>
              </a:rPr>
              <a:t>0</a:t>
            </a:r>
            <a:r>
              <a:rPr dirty="0" sz="1750">
                <a:latin typeface="Arial"/>
                <a:cs typeface="Arial"/>
              </a:rPr>
              <a:t>	</a:t>
            </a:r>
            <a:r>
              <a:rPr dirty="0" sz="1750" spc="20">
                <a:latin typeface="Arial"/>
                <a:cs typeface="Arial"/>
              </a:rPr>
              <a:t>0100</a:t>
            </a:r>
            <a:endParaRPr sz="1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01514" y="4536411"/>
            <a:ext cx="53403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20">
                <a:latin typeface="Arial"/>
                <a:cs typeface="Arial"/>
              </a:rPr>
              <a:t>0010</a:t>
            </a:r>
            <a:endParaRPr sz="1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70811" y="4536411"/>
            <a:ext cx="53403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20">
                <a:latin typeface="Arial"/>
                <a:cs typeface="Arial"/>
              </a:rPr>
              <a:t>0001</a:t>
            </a:r>
            <a:endParaRPr sz="17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42147" y="615506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4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45937" y="615506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4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698382" y="576447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5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57307" y="615506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61096" y="615506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913541" y="576447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5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149727" y="615506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4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453516" y="615506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4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05961" y="576447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5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364886" y="615506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68676" y="615506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521120" y="576447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002172" y="5408604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5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217331" y="5399925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609752" y="5078776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5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645713" y="5066076"/>
            <a:ext cx="189865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450">
                <a:latin typeface="Cambria Math"/>
                <a:cs typeface="Cambria Math"/>
              </a:rPr>
              <a:t>!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210485" y="5287089"/>
            <a:ext cx="431800" cy="149860"/>
          </a:xfrm>
          <a:custGeom>
            <a:avLst/>
            <a:gdLst/>
            <a:ahLst/>
            <a:cxnLst/>
            <a:rect l="l" t="t" r="r" b="b"/>
            <a:pathLst>
              <a:path w="431800" h="149860">
                <a:moveTo>
                  <a:pt x="0" y="149623"/>
                </a:moveTo>
                <a:lnTo>
                  <a:pt x="431381" y="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818065" y="5287090"/>
            <a:ext cx="433070" cy="147320"/>
          </a:xfrm>
          <a:custGeom>
            <a:avLst/>
            <a:gdLst/>
            <a:ahLst/>
            <a:cxnLst/>
            <a:rect l="l" t="t" r="r" b="b"/>
            <a:pathLst>
              <a:path w="433069" h="147320">
                <a:moveTo>
                  <a:pt x="0" y="0"/>
                </a:moveTo>
                <a:lnTo>
                  <a:pt x="432462" y="14728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19898" y="5616918"/>
            <a:ext cx="219075" cy="154305"/>
          </a:xfrm>
          <a:custGeom>
            <a:avLst/>
            <a:gdLst/>
            <a:ahLst/>
            <a:cxnLst/>
            <a:rect l="l" t="t" r="r" b="b"/>
            <a:pathLst>
              <a:path w="219075" h="154304">
                <a:moveTo>
                  <a:pt x="218987" y="0"/>
                </a:moveTo>
                <a:lnTo>
                  <a:pt x="0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210485" y="5616918"/>
            <a:ext cx="214629" cy="154305"/>
          </a:xfrm>
          <a:custGeom>
            <a:avLst/>
            <a:gdLst/>
            <a:ahLst/>
            <a:cxnLst/>
            <a:rect l="l" t="t" r="r" b="b"/>
            <a:pathLst>
              <a:path w="214630" h="154304">
                <a:moveTo>
                  <a:pt x="0" y="0"/>
                </a:moveTo>
                <a:lnTo>
                  <a:pt x="214012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035057" y="5608238"/>
            <a:ext cx="217170" cy="156210"/>
          </a:xfrm>
          <a:custGeom>
            <a:avLst/>
            <a:gdLst/>
            <a:ahLst/>
            <a:cxnLst/>
            <a:rect l="l" t="t" r="r" b="b"/>
            <a:pathLst>
              <a:path w="217170" h="156210">
                <a:moveTo>
                  <a:pt x="216833" y="0"/>
                </a:moveTo>
                <a:lnTo>
                  <a:pt x="0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425644" y="5608238"/>
            <a:ext cx="216535" cy="156210"/>
          </a:xfrm>
          <a:custGeom>
            <a:avLst/>
            <a:gdLst/>
            <a:ahLst/>
            <a:cxnLst/>
            <a:rect l="l" t="t" r="r" b="b"/>
            <a:pathLst>
              <a:path w="216535" h="156210">
                <a:moveTo>
                  <a:pt x="0" y="0"/>
                </a:moveTo>
                <a:lnTo>
                  <a:pt x="216165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672343" y="597278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906695" y="597278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69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271242" y="597278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514274" y="597278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69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878823" y="597278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121854" y="597278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69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486402" y="597278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729433" y="597278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742837" y="5104104"/>
            <a:ext cx="476884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20">
                <a:latin typeface="Arial"/>
                <a:cs typeface="Arial"/>
              </a:rPr>
              <a:t>0100</a:t>
            </a:r>
            <a:endParaRPr sz="15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230685" y="5104104"/>
            <a:ext cx="476884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20">
                <a:latin typeface="Arial"/>
                <a:cs typeface="Arial"/>
              </a:rPr>
              <a:t>0001</a:t>
            </a:r>
            <a:endParaRPr sz="155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444916" y="615506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748706" y="615506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601151" y="576447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660076" y="615506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63865" y="615506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816310" y="576447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052497" y="615506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356285" y="6155060"/>
            <a:ext cx="252095" cy="243204"/>
          </a:xfrm>
          <a:custGeom>
            <a:avLst/>
            <a:gdLst/>
            <a:ahLst/>
            <a:cxnLst/>
            <a:rect l="l" t="t" r="r" b="b"/>
            <a:pathLst>
              <a:path w="252095" h="243204">
                <a:moveTo>
                  <a:pt x="0" y="121515"/>
                </a:moveTo>
                <a:lnTo>
                  <a:pt x="9890" y="74216"/>
                </a:lnTo>
                <a:lnTo>
                  <a:pt x="36862" y="35591"/>
                </a:lnTo>
                <a:lnTo>
                  <a:pt x="76867" y="9549"/>
                </a:lnTo>
                <a:lnTo>
                  <a:pt x="125855" y="0"/>
                </a:lnTo>
                <a:lnTo>
                  <a:pt x="174844" y="9549"/>
                </a:lnTo>
                <a:lnTo>
                  <a:pt x="214849" y="35591"/>
                </a:lnTo>
                <a:lnTo>
                  <a:pt x="241821" y="74216"/>
                </a:lnTo>
                <a:lnTo>
                  <a:pt x="251711" y="121515"/>
                </a:lnTo>
                <a:lnTo>
                  <a:pt x="241821" y="168815"/>
                </a:lnTo>
                <a:lnTo>
                  <a:pt x="214849" y="207440"/>
                </a:lnTo>
                <a:lnTo>
                  <a:pt x="174844" y="233482"/>
                </a:lnTo>
                <a:lnTo>
                  <a:pt x="125855" y="243031"/>
                </a:lnTo>
                <a:lnTo>
                  <a:pt x="76867" y="233482"/>
                </a:lnTo>
                <a:lnTo>
                  <a:pt x="36862" y="207440"/>
                </a:lnTo>
                <a:lnTo>
                  <a:pt x="9890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208730" y="576447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267655" y="615506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571446" y="6155060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423890" y="5764473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904942" y="5408604"/>
            <a:ext cx="243204" cy="243204"/>
          </a:xfrm>
          <a:custGeom>
            <a:avLst/>
            <a:gdLst/>
            <a:ahLst/>
            <a:cxnLst/>
            <a:rect l="l" t="t" r="r" b="b"/>
            <a:pathLst>
              <a:path w="243204" h="243204">
                <a:moveTo>
                  <a:pt x="0" y="121515"/>
                </a:moveTo>
                <a:lnTo>
                  <a:pt x="9549" y="74216"/>
                </a:lnTo>
                <a:lnTo>
                  <a:pt x="35591" y="35591"/>
                </a:lnTo>
                <a:lnTo>
                  <a:pt x="74216" y="9549"/>
                </a:lnTo>
                <a:lnTo>
                  <a:pt x="121515" y="0"/>
                </a:lnTo>
                <a:lnTo>
                  <a:pt x="168815" y="9549"/>
                </a:lnTo>
                <a:lnTo>
                  <a:pt x="207440" y="35591"/>
                </a:lnTo>
                <a:lnTo>
                  <a:pt x="233482" y="74216"/>
                </a:lnTo>
                <a:lnTo>
                  <a:pt x="243031" y="121515"/>
                </a:lnTo>
                <a:lnTo>
                  <a:pt x="233482" y="168815"/>
                </a:lnTo>
                <a:lnTo>
                  <a:pt x="207440" y="207440"/>
                </a:lnTo>
                <a:lnTo>
                  <a:pt x="168815" y="233482"/>
                </a:lnTo>
                <a:lnTo>
                  <a:pt x="121515" y="243031"/>
                </a:lnTo>
                <a:lnTo>
                  <a:pt x="74216" y="233482"/>
                </a:lnTo>
                <a:lnTo>
                  <a:pt x="35591" y="207440"/>
                </a:lnTo>
                <a:lnTo>
                  <a:pt x="9549" y="168815"/>
                </a:lnTo>
                <a:lnTo>
                  <a:pt x="0" y="12151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120100" y="5399925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512521" y="5078776"/>
            <a:ext cx="243204" cy="252095"/>
          </a:xfrm>
          <a:custGeom>
            <a:avLst/>
            <a:gdLst/>
            <a:ahLst/>
            <a:cxnLst/>
            <a:rect l="l" t="t" r="r" b="b"/>
            <a:pathLst>
              <a:path w="243204" h="252095">
                <a:moveTo>
                  <a:pt x="0" y="125855"/>
                </a:moveTo>
                <a:lnTo>
                  <a:pt x="9549" y="76867"/>
                </a:lnTo>
                <a:lnTo>
                  <a:pt x="35591" y="36862"/>
                </a:lnTo>
                <a:lnTo>
                  <a:pt x="74216" y="9890"/>
                </a:lnTo>
                <a:lnTo>
                  <a:pt x="121515" y="0"/>
                </a:lnTo>
                <a:lnTo>
                  <a:pt x="168815" y="9890"/>
                </a:lnTo>
                <a:lnTo>
                  <a:pt x="207440" y="36862"/>
                </a:lnTo>
                <a:lnTo>
                  <a:pt x="233482" y="76867"/>
                </a:lnTo>
                <a:lnTo>
                  <a:pt x="243031" y="125855"/>
                </a:lnTo>
                <a:lnTo>
                  <a:pt x="233482" y="174844"/>
                </a:lnTo>
                <a:lnTo>
                  <a:pt x="207440" y="214849"/>
                </a:lnTo>
                <a:lnTo>
                  <a:pt x="168815" y="241821"/>
                </a:lnTo>
                <a:lnTo>
                  <a:pt x="121515" y="251711"/>
                </a:lnTo>
                <a:lnTo>
                  <a:pt x="74216" y="241821"/>
                </a:lnTo>
                <a:lnTo>
                  <a:pt x="35591" y="214849"/>
                </a:lnTo>
                <a:lnTo>
                  <a:pt x="9549" y="174844"/>
                </a:lnTo>
                <a:lnTo>
                  <a:pt x="0" y="125855"/>
                </a:lnTo>
                <a:close/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5548482" y="5066076"/>
            <a:ext cx="189865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450">
                <a:latin typeface="Cambria Math"/>
                <a:cs typeface="Cambria Math"/>
              </a:rPr>
              <a:t>!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113254" y="5287089"/>
            <a:ext cx="431800" cy="149860"/>
          </a:xfrm>
          <a:custGeom>
            <a:avLst/>
            <a:gdLst/>
            <a:ahLst/>
            <a:cxnLst/>
            <a:rect l="l" t="t" r="r" b="b"/>
            <a:pathLst>
              <a:path w="431800" h="149860">
                <a:moveTo>
                  <a:pt x="0" y="149623"/>
                </a:moveTo>
                <a:lnTo>
                  <a:pt x="431381" y="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720834" y="5287090"/>
            <a:ext cx="433070" cy="147320"/>
          </a:xfrm>
          <a:custGeom>
            <a:avLst/>
            <a:gdLst/>
            <a:ahLst/>
            <a:cxnLst/>
            <a:rect l="l" t="t" r="r" b="b"/>
            <a:pathLst>
              <a:path w="433070" h="147320">
                <a:moveTo>
                  <a:pt x="0" y="0"/>
                </a:moveTo>
                <a:lnTo>
                  <a:pt x="432462" y="147280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722666" y="5616918"/>
            <a:ext cx="219075" cy="154305"/>
          </a:xfrm>
          <a:custGeom>
            <a:avLst/>
            <a:gdLst/>
            <a:ahLst/>
            <a:cxnLst/>
            <a:rect l="l" t="t" r="r" b="b"/>
            <a:pathLst>
              <a:path w="219075" h="154304">
                <a:moveTo>
                  <a:pt x="218987" y="0"/>
                </a:moveTo>
                <a:lnTo>
                  <a:pt x="0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113254" y="5616918"/>
            <a:ext cx="214629" cy="154305"/>
          </a:xfrm>
          <a:custGeom>
            <a:avLst/>
            <a:gdLst/>
            <a:ahLst/>
            <a:cxnLst/>
            <a:rect l="l" t="t" r="r" b="b"/>
            <a:pathLst>
              <a:path w="214629" h="154304">
                <a:moveTo>
                  <a:pt x="0" y="0"/>
                </a:moveTo>
                <a:lnTo>
                  <a:pt x="214012" y="153811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937826" y="5608238"/>
            <a:ext cx="217170" cy="156210"/>
          </a:xfrm>
          <a:custGeom>
            <a:avLst/>
            <a:gdLst/>
            <a:ahLst/>
            <a:cxnLst/>
            <a:rect l="l" t="t" r="r" b="b"/>
            <a:pathLst>
              <a:path w="217170" h="156210">
                <a:moveTo>
                  <a:pt x="216833" y="0"/>
                </a:moveTo>
                <a:lnTo>
                  <a:pt x="0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328413" y="5608238"/>
            <a:ext cx="216535" cy="156210"/>
          </a:xfrm>
          <a:custGeom>
            <a:avLst/>
            <a:gdLst/>
            <a:ahLst/>
            <a:cxnLst/>
            <a:rect l="l" t="t" r="r" b="b"/>
            <a:pathLst>
              <a:path w="216534" h="156210">
                <a:moveTo>
                  <a:pt x="0" y="0"/>
                </a:moveTo>
                <a:lnTo>
                  <a:pt x="216165" y="156155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575112" y="597278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809464" y="597278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174011" y="597278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417044" y="597278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781592" y="597278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024623" y="597278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389172" y="5972786"/>
            <a:ext cx="66040" cy="174625"/>
          </a:xfrm>
          <a:custGeom>
            <a:avLst/>
            <a:gdLst/>
            <a:ahLst/>
            <a:cxnLst/>
            <a:rect l="l" t="t" r="r" b="b"/>
            <a:pathLst>
              <a:path w="66039" h="174625">
                <a:moveTo>
                  <a:pt x="65542" y="0"/>
                </a:moveTo>
                <a:lnTo>
                  <a:pt x="0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632202" y="5972786"/>
            <a:ext cx="64769" cy="174625"/>
          </a:xfrm>
          <a:custGeom>
            <a:avLst/>
            <a:gdLst/>
            <a:ahLst/>
            <a:cxnLst/>
            <a:rect l="l" t="t" r="r" b="b"/>
            <a:pathLst>
              <a:path w="64770" h="174625">
                <a:moveTo>
                  <a:pt x="0" y="0"/>
                </a:moveTo>
                <a:lnTo>
                  <a:pt x="64227" y="174527"/>
                </a:lnTo>
              </a:path>
            </a:pathLst>
          </a:custGeom>
          <a:ln w="17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4645606" y="5104104"/>
            <a:ext cx="476884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20">
                <a:latin typeface="Arial"/>
                <a:cs typeface="Arial"/>
              </a:rPr>
              <a:t>0010</a:t>
            </a:r>
            <a:endParaRPr sz="15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133359" y="6144578"/>
            <a:ext cx="1139190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10">
                <a:solidFill>
                  <a:srgbClr val="C00000"/>
                </a:solidFill>
                <a:latin typeface="Arial"/>
                <a:cs typeface="Arial"/>
              </a:rPr>
              <a:t>different</a:t>
            </a:r>
            <a:r>
              <a:rPr dirty="0" sz="1800" spc="-7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ID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615488" y="6262079"/>
            <a:ext cx="260985" cy="391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30"/>
              </a:lnSpc>
            </a:pPr>
            <a:r>
              <a:rPr dirty="0" sz="2450" spc="0">
                <a:latin typeface="Cambria Math"/>
                <a:cs typeface="Cambria Math"/>
              </a:rPr>
              <a:t>…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518258" y="6262079"/>
            <a:ext cx="260985" cy="391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930"/>
              </a:lnSpc>
            </a:pPr>
            <a:r>
              <a:rPr dirty="0" sz="2450" spc="0">
                <a:latin typeface="Cambria Math"/>
                <a:cs typeface="Cambria Math"/>
              </a:rPr>
              <a:t>…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99" name="object 9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0" name="object 100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133454" y="5104104"/>
            <a:ext cx="476884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20">
                <a:latin typeface="Arial"/>
                <a:cs typeface="Arial"/>
              </a:rPr>
              <a:t>0100</a:t>
            </a:r>
            <a:endParaRPr sz="155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91236" y="3772915"/>
            <a:ext cx="1296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Input</a:t>
            </a:r>
            <a:r>
              <a:rPr dirty="0" sz="1800" spc="-9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graphs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98988" y="5446267"/>
            <a:ext cx="149860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pu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ti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ona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l 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graphs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133359" y="5031740"/>
            <a:ext cx="1842135" cy="1113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Computational  graphs are</a:t>
            </a:r>
            <a:r>
              <a:rPr dirty="0" sz="1800" spc="-6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clearly  </a:t>
            </a:r>
            <a:r>
              <a:rPr dirty="0" sz="1800" spc="-10">
                <a:solidFill>
                  <a:srgbClr val="C00000"/>
                </a:solidFill>
                <a:latin typeface="Arial"/>
                <a:cs typeface="Arial"/>
              </a:rPr>
              <a:t>different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if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each  node has</a:t>
            </a:r>
            <a:r>
              <a:rPr dirty="0" sz="1800" spc="-9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47674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471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/>
              <a:t>A </a:t>
            </a:r>
            <a:r>
              <a:rPr dirty="0" sz="3200" spc="-10"/>
              <a:t>naïve </a:t>
            </a:r>
            <a:r>
              <a:rPr dirty="0" sz="3200" spc="-5"/>
              <a:t>solution: </a:t>
            </a:r>
            <a:r>
              <a:rPr dirty="0" sz="3200" spc="-5" b="0">
                <a:latin typeface="Calibri"/>
                <a:cs typeface="Calibri"/>
              </a:rPr>
              <a:t>One-hot</a:t>
            </a:r>
            <a:r>
              <a:rPr dirty="0" sz="3200" spc="50" b="0">
                <a:latin typeface="Calibri"/>
                <a:cs typeface="Calibri"/>
              </a:rPr>
              <a:t> </a:t>
            </a:r>
            <a:r>
              <a:rPr dirty="0" sz="3200" spc="-10" b="0">
                <a:latin typeface="Calibri"/>
                <a:cs typeface="Calibri"/>
              </a:rPr>
              <a:t>encoding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557134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Encode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each node with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25">
                <a:solidFill>
                  <a:srgbClr val="C00000"/>
                </a:solidFill>
                <a:latin typeface="Calibri"/>
                <a:cs typeface="Calibri"/>
              </a:rPr>
              <a:t>different ID</a:t>
            </a:r>
            <a:r>
              <a:rPr dirty="0" sz="2800" spc="-2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 </a:t>
            </a:r>
            <a:r>
              <a:rPr dirty="0" sz="2800" spc="-25">
                <a:latin typeface="Calibri"/>
                <a:cs typeface="Calibri"/>
              </a:rPr>
              <a:t>always differentiate different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nodes/edges/graphs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91212" y="3129394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91212" y="4272677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14613" y="3696065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30394" y="3407759"/>
            <a:ext cx="0" cy="860425"/>
          </a:xfrm>
          <a:custGeom>
            <a:avLst/>
            <a:gdLst/>
            <a:ahLst/>
            <a:cxnLst/>
            <a:rect l="l" t="t" r="r" b="b"/>
            <a:pathLst>
              <a:path w="0" h="860425">
                <a:moveTo>
                  <a:pt x="0" y="0"/>
                </a:moveTo>
                <a:lnTo>
                  <a:pt x="0" y="86027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79519" y="3268576"/>
            <a:ext cx="885825" cy="464820"/>
          </a:xfrm>
          <a:custGeom>
            <a:avLst/>
            <a:gdLst/>
            <a:ahLst/>
            <a:cxnLst/>
            <a:rect l="l" t="t" r="r" b="b"/>
            <a:pathLst>
              <a:path w="885825" h="464820">
                <a:moveTo>
                  <a:pt x="0" y="0"/>
                </a:moveTo>
                <a:lnTo>
                  <a:pt x="885306" y="464693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79519" y="3934663"/>
            <a:ext cx="885825" cy="478155"/>
          </a:xfrm>
          <a:custGeom>
            <a:avLst/>
            <a:gdLst/>
            <a:ahLst/>
            <a:cxnLst/>
            <a:rect l="l" t="t" r="r" b="b"/>
            <a:pathLst>
              <a:path w="885825" h="478154">
                <a:moveTo>
                  <a:pt x="0" y="477871"/>
                </a:moveTo>
                <a:lnTo>
                  <a:pt x="885306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20479" y="3139335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153"/>
                </a:moveTo>
                <a:lnTo>
                  <a:pt x="7349" y="98589"/>
                </a:lnTo>
                <a:lnTo>
                  <a:pt x="27813" y="59018"/>
                </a:lnTo>
                <a:lnTo>
                  <a:pt x="59018" y="27813"/>
                </a:lnTo>
                <a:lnTo>
                  <a:pt x="98589" y="7349"/>
                </a:lnTo>
                <a:lnTo>
                  <a:pt x="144153" y="0"/>
                </a:lnTo>
                <a:lnTo>
                  <a:pt x="189716" y="7349"/>
                </a:lnTo>
                <a:lnTo>
                  <a:pt x="229288" y="27813"/>
                </a:lnTo>
                <a:lnTo>
                  <a:pt x="260493" y="59018"/>
                </a:lnTo>
                <a:lnTo>
                  <a:pt x="280957" y="98589"/>
                </a:lnTo>
                <a:lnTo>
                  <a:pt x="288306" y="144153"/>
                </a:lnTo>
                <a:lnTo>
                  <a:pt x="280957" y="189716"/>
                </a:lnTo>
                <a:lnTo>
                  <a:pt x="260493" y="229288"/>
                </a:lnTo>
                <a:lnTo>
                  <a:pt x="229288" y="260493"/>
                </a:lnTo>
                <a:lnTo>
                  <a:pt x="189716" y="280957"/>
                </a:lnTo>
                <a:lnTo>
                  <a:pt x="144153" y="288306"/>
                </a:lnTo>
                <a:lnTo>
                  <a:pt x="98589" y="280957"/>
                </a:lnTo>
                <a:lnTo>
                  <a:pt x="59018" y="260493"/>
                </a:lnTo>
                <a:lnTo>
                  <a:pt x="27813" y="229288"/>
                </a:lnTo>
                <a:lnTo>
                  <a:pt x="7349" y="189716"/>
                </a:lnTo>
                <a:lnTo>
                  <a:pt x="0" y="144153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20479" y="4282619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0" y="139182"/>
                </a:moveTo>
                <a:lnTo>
                  <a:pt x="7349" y="95190"/>
                </a:lnTo>
                <a:lnTo>
                  <a:pt x="27813" y="56983"/>
                </a:lnTo>
                <a:lnTo>
                  <a:pt x="59018" y="26854"/>
                </a:lnTo>
                <a:lnTo>
                  <a:pt x="98589" y="7095"/>
                </a:lnTo>
                <a:lnTo>
                  <a:pt x="144153" y="0"/>
                </a:lnTo>
                <a:lnTo>
                  <a:pt x="189716" y="7095"/>
                </a:lnTo>
                <a:lnTo>
                  <a:pt x="229288" y="26854"/>
                </a:lnTo>
                <a:lnTo>
                  <a:pt x="260493" y="56983"/>
                </a:lnTo>
                <a:lnTo>
                  <a:pt x="280957" y="95190"/>
                </a:lnTo>
                <a:lnTo>
                  <a:pt x="288306" y="139182"/>
                </a:lnTo>
                <a:lnTo>
                  <a:pt x="280957" y="183174"/>
                </a:lnTo>
                <a:lnTo>
                  <a:pt x="260493" y="221381"/>
                </a:lnTo>
                <a:lnTo>
                  <a:pt x="229288" y="251510"/>
                </a:lnTo>
                <a:lnTo>
                  <a:pt x="189716" y="271269"/>
                </a:lnTo>
                <a:lnTo>
                  <a:pt x="144153" y="278364"/>
                </a:lnTo>
                <a:lnTo>
                  <a:pt x="98589" y="271269"/>
                </a:lnTo>
                <a:lnTo>
                  <a:pt x="59018" y="251510"/>
                </a:lnTo>
                <a:lnTo>
                  <a:pt x="27813" y="221381"/>
                </a:lnTo>
                <a:lnTo>
                  <a:pt x="7349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97663" y="3149277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182"/>
                </a:moveTo>
                <a:lnTo>
                  <a:pt x="7095" y="95190"/>
                </a:lnTo>
                <a:lnTo>
                  <a:pt x="26854" y="56983"/>
                </a:lnTo>
                <a:lnTo>
                  <a:pt x="56983" y="26854"/>
                </a:lnTo>
                <a:lnTo>
                  <a:pt x="95189" y="7095"/>
                </a:lnTo>
                <a:lnTo>
                  <a:pt x="139182" y="0"/>
                </a:lnTo>
                <a:lnTo>
                  <a:pt x="183174" y="7095"/>
                </a:lnTo>
                <a:lnTo>
                  <a:pt x="221381" y="26854"/>
                </a:lnTo>
                <a:lnTo>
                  <a:pt x="251510" y="56983"/>
                </a:lnTo>
                <a:lnTo>
                  <a:pt x="271269" y="95190"/>
                </a:lnTo>
                <a:lnTo>
                  <a:pt x="278364" y="139182"/>
                </a:lnTo>
                <a:lnTo>
                  <a:pt x="271269" y="183174"/>
                </a:lnTo>
                <a:lnTo>
                  <a:pt x="251510" y="221381"/>
                </a:lnTo>
                <a:lnTo>
                  <a:pt x="221381" y="251510"/>
                </a:lnTo>
                <a:lnTo>
                  <a:pt x="183174" y="271269"/>
                </a:lnTo>
                <a:lnTo>
                  <a:pt x="139182" y="278364"/>
                </a:lnTo>
                <a:lnTo>
                  <a:pt x="95189" y="271269"/>
                </a:lnTo>
                <a:lnTo>
                  <a:pt x="56983" y="251510"/>
                </a:lnTo>
                <a:lnTo>
                  <a:pt x="26854" y="221381"/>
                </a:lnTo>
                <a:lnTo>
                  <a:pt x="7095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39896" y="3126635"/>
            <a:ext cx="218440" cy="2641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385">
                <a:latin typeface="Cambria Math"/>
                <a:cs typeface="Cambria Math"/>
              </a:rPr>
              <a:t>!</a:t>
            </a:r>
            <a:r>
              <a:rPr dirty="0" baseline="-14492" sz="1725" spc="337">
                <a:latin typeface="Cambria Math"/>
                <a:cs typeface="Cambria Math"/>
              </a:rPr>
              <a:t>"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59662" y="3427642"/>
            <a:ext cx="0" cy="854710"/>
          </a:xfrm>
          <a:custGeom>
            <a:avLst/>
            <a:gdLst/>
            <a:ahLst/>
            <a:cxnLst/>
            <a:rect l="l" t="t" r="r" b="b"/>
            <a:pathLst>
              <a:path w="0" h="854710">
                <a:moveTo>
                  <a:pt x="0" y="0"/>
                </a:moveTo>
                <a:lnTo>
                  <a:pt x="0" y="854128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36845" y="3427641"/>
            <a:ext cx="0" cy="851535"/>
          </a:xfrm>
          <a:custGeom>
            <a:avLst/>
            <a:gdLst/>
            <a:ahLst/>
            <a:cxnLst/>
            <a:rect l="l" t="t" r="r" b="b"/>
            <a:pathLst>
              <a:path w="0" h="851535">
                <a:moveTo>
                  <a:pt x="0" y="851015"/>
                </a:moveTo>
                <a:lnTo>
                  <a:pt x="0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248216" y="3076927"/>
            <a:ext cx="50355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2260" algn="l"/>
              </a:tabLst>
            </a:pPr>
            <a:r>
              <a:rPr dirty="0" sz="1850" spc="10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r>
              <a:rPr dirty="0" sz="1850" spc="10">
                <a:solidFill>
                  <a:srgbClr val="70AD47"/>
                </a:solidFill>
                <a:latin typeface="Calibri"/>
                <a:cs typeface="Calibri"/>
              </a:rPr>
              <a:t>	</a:t>
            </a:r>
            <a:r>
              <a:rPr dirty="0" sz="1550" spc="350">
                <a:latin typeface="Cambria Math"/>
                <a:cs typeface="Cambria Math"/>
              </a:rPr>
              <a:t>!</a:t>
            </a:r>
            <a:r>
              <a:rPr dirty="0" baseline="-14492" sz="1725" spc="525">
                <a:latin typeface="Cambria Math"/>
                <a:cs typeface="Cambria Math"/>
              </a:rPr>
              <a:t>!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68645" y="3116693"/>
            <a:ext cx="15557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97663" y="4282619"/>
            <a:ext cx="278765" cy="278765"/>
          </a:xfrm>
          <a:custGeom>
            <a:avLst/>
            <a:gdLst/>
            <a:ahLst/>
            <a:cxnLst/>
            <a:rect l="l" t="t" r="r" b="b"/>
            <a:pathLst>
              <a:path w="278764" h="278764">
                <a:moveTo>
                  <a:pt x="0" y="139182"/>
                </a:moveTo>
                <a:lnTo>
                  <a:pt x="7095" y="95190"/>
                </a:lnTo>
                <a:lnTo>
                  <a:pt x="26854" y="56983"/>
                </a:lnTo>
                <a:lnTo>
                  <a:pt x="56983" y="26854"/>
                </a:lnTo>
                <a:lnTo>
                  <a:pt x="95189" y="7095"/>
                </a:lnTo>
                <a:lnTo>
                  <a:pt x="139182" y="0"/>
                </a:lnTo>
                <a:lnTo>
                  <a:pt x="183174" y="7095"/>
                </a:lnTo>
                <a:lnTo>
                  <a:pt x="221381" y="26854"/>
                </a:lnTo>
                <a:lnTo>
                  <a:pt x="251510" y="56983"/>
                </a:lnTo>
                <a:lnTo>
                  <a:pt x="271269" y="95190"/>
                </a:lnTo>
                <a:lnTo>
                  <a:pt x="278364" y="139182"/>
                </a:lnTo>
                <a:lnTo>
                  <a:pt x="271269" y="183174"/>
                </a:lnTo>
                <a:lnTo>
                  <a:pt x="251510" y="221381"/>
                </a:lnTo>
                <a:lnTo>
                  <a:pt x="221381" y="251510"/>
                </a:lnTo>
                <a:lnTo>
                  <a:pt x="183174" y="271269"/>
                </a:lnTo>
                <a:lnTo>
                  <a:pt x="139182" y="278364"/>
                </a:lnTo>
                <a:lnTo>
                  <a:pt x="95189" y="271269"/>
                </a:lnTo>
                <a:lnTo>
                  <a:pt x="56983" y="251510"/>
                </a:lnTo>
                <a:lnTo>
                  <a:pt x="26854" y="221381"/>
                </a:lnTo>
                <a:lnTo>
                  <a:pt x="7095" y="183174"/>
                </a:lnTo>
                <a:lnTo>
                  <a:pt x="0" y="139182"/>
                </a:lnTo>
                <a:close/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76028" y="3288459"/>
            <a:ext cx="944880" cy="3175"/>
          </a:xfrm>
          <a:custGeom>
            <a:avLst/>
            <a:gdLst/>
            <a:ahLst/>
            <a:cxnLst/>
            <a:rect l="l" t="t" r="r" b="b"/>
            <a:pathLst>
              <a:path w="944879" h="3175">
                <a:moveTo>
                  <a:pt x="944587" y="0"/>
                </a:moveTo>
                <a:lnTo>
                  <a:pt x="0" y="3112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76028" y="4421802"/>
            <a:ext cx="944880" cy="0"/>
          </a:xfrm>
          <a:custGeom>
            <a:avLst/>
            <a:gdLst/>
            <a:ahLst/>
            <a:cxnLst/>
            <a:rect l="l" t="t" r="r" b="b"/>
            <a:pathLst>
              <a:path w="944879" h="0">
                <a:moveTo>
                  <a:pt x="944587" y="0"/>
                </a:moveTo>
                <a:lnTo>
                  <a:pt x="0" y="0"/>
                </a:lnTo>
              </a:path>
            </a:pathLst>
          </a:custGeom>
          <a:ln w="1988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38098" y="2957547"/>
            <a:ext cx="53403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20">
                <a:latin typeface="Arial"/>
                <a:cs typeface="Arial"/>
              </a:rPr>
              <a:t>1000</a:t>
            </a:r>
            <a:endParaRPr sz="1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7713" y="6241141"/>
            <a:ext cx="7016750" cy="624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400" spc="-340">
                <a:solidFill>
                  <a:srgbClr val="E66C7D"/>
                </a:solidFill>
                <a:latin typeface="Malgun Gothic"/>
                <a:cs typeface="Malgun Gothic"/>
              </a:rPr>
              <a:t>§  </a:t>
            </a:r>
            <a:r>
              <a:rPr dirty="0" sz="2400" spc="-5" b="1">
                <a:latin typeface="Calibri"/>
                <a:cs typeface="Calibri"/>
              </a:rPr>
              <a:t>Not </a:t>
            </a:r>
            <a:r>
              <a:rPr dirty="0" sz="2400" spc="-10" b="1">
                <a:latin typeface="Calibri"/>
                <a:cs typeface="Calibri"/>
              </a:rPr>
              <a:t>inductive: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Cannot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generalize to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new</a:t>
            </a:r>
            <a:r>
              <a:rPr dirty="0" sz="2400" spc="-2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nodes/graphs</a:t>
            </a:r>
            <a:endParaRPr sz="2400">
              <a:latin typeface="Calibri"/>
              <a:cs typeface="Calibri"/>
            </a:endParaRPr>
          </a:p>
          <a:p>
            <a:pPr marL="1418590">
              <a:lnSpc>
                <a:spcPct val="100000"/>
              </a:lnSpc>
              <a:spcBef>
                <a:spcPts val="8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Leskovec, Stanford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CS224W: Machine Learning with</a:t>
            </a:r>
            <a:r>
              <a:rPr dirty="0" sz="900" spc="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13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66083" y="2783811"/>
            <a:ext cx="171005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188720" algn="l"/>
              </a:tabLst>
            </a:pPr>
            <a:r>
              <a:rPr dirty="0" sz="1750" spc="20">
                <a:latin typeface="Arial"/>
                <a:cs typeface="Arial"/>
              </a:rPr>
              <a:t>100</a:t>
            </a:r>
            <a:r>
              <a:rPr dirty="0" sz="1750" spc="25">
                <a:latin typeface="Arial"/>
                <a:cs typeface="Arial"/>
              </a:rPr>
              <a:t>0</a:t>
            </a:r>
            <a:r>
              <a:rPr dirty="0" sz="1750">
                <a:latin typeface="Arial"/>
                <a:cs typeface="Arial"/>
              </a:rPr>
              <a:t>	</a:t>
            </a:r>
            <a:r>
              <a:rPr dirty="0" sz="1750" spc="20">
                <a:latin typeface="Arial"/>
                <a:cs typeface="Arial"/>
              </a:rPr>
              <a:t>0100</a:t>
            </a:r>
            <a:endParaRPr sz="1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1236" y="3772915"/>
            <a:ext cx="7543165" cy="240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75"/>
              </a:lnSpc>
              <a:spcBef>
                <a:spcPts val="100"/>
              </a:spcBef>
            </a:pP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Input</a:t>
            </a:r>
            <a:r>
              <a:rPr dirty="0" sz="1800" spc="-9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graphs</a:t>
            </a:r>
            <a:endParaRPr sz="1800">
              <a:latin typeface="Arial"/>
              <a:cs typeface="Arial"/>
            </a:endParaRPr>
          </a:p>
          <a:p>
            <a:pPr algn="ctr" marR="1141730">
              <a:lnSpc>
                <a:spcPts val="1814"/>
              </a:lnSpc>
            </a:pPr>
            <a:r>
              <a:rPr dirty="0" sz="1750" spc="15">
                <a:latin typeface="Arial"/>
                <a:cs typeface="Arial"/>
              </a:rPr>
              <a:t>0001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2030730">
              <a:lnSpc>
                <a:spcPct val="100000"/>
              </a:lnSpc>
              <a:tabLst>
                <a:tab pos="4022725" algn="l"/>
                <a:tab pos="5191760" algn="l"/>
              </a:tabLst>
            </a:pPr>
            <a:r>
              <a:rPr dirty="0" sz="1750" spc="15">
                <a:latin typeface="Arial"/>
                <a:cs typeface="Arial"/>
              </a:rPr>
              <a:t>0100	0010	0001</a:t>
            </a:r>
            <a:endParaRPr sz="1750">
              <a:latin typeface="Arial"/>
              <a:cs typeface="Arial"/>
            </a:endParaRPr>
          </a:p>
          <a:p>
            <a:pPr marL="551815" indent="-274320">
              <a:lnSpc>
                <a:spcPct val="100000"/>
              </a:lnSpc>
              <a:spcBef>
                <a:spcPts val="880"/>
              </a:spcBef>
              <a:buClr>
                <a:srgbClr val="60B5CC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800" spc="-5" b="1">
                <a:latin typeface="Calibri"/>
                <a:cs typeface="Calibri"/>
              </a:rPr>
              <a:t>Issues:</a:t>
            </a:r>
            <a:endParaRPr sz="2800">
              <a:latin typeface="Calibri"/>
              <a:cs typeface="Calibri"/>
            </a:endParaRPr>
          </a:p>
          <a:p>
            <a:pPr lvl="1" marL="817244" marR="5080" indent="-228600">
              <a:lnSpc>
                <a:spcPct val="100800"/>
              </a:lnSpc>
              <a:spcBef>
                <a:spcPts val="520"/>
              </a:spcBef>
              <a:buClr>
                <a:srgbClr val="E66C7D"/>
              </a:buClr>
              <a:buFont typeface="Malgun Gothic"/>
              <a:buChar char="▪"/>
              <a:tabLst>
                <a:tab pos="817880" algn="l"/>
              </a:tabLst>
            </a:pPr>
            <a:r>
              <a:rPr dirty="0" sz="2400" spc="-5" b="1">
                <a:latin typeface="Calibri"/>
                <a:cs typeface="Calibri"/>
              </a:rPr>
              <a:t>Not scalable</a:t>
            </a:r>
            <a:r>
              <a:rPr dirty="0" sz="2400" spc="-5">
                <a:latin typeface="Calibri"/>
                <a:cs typeface="Calibri"/>
              </a:rPr>
              <a:t>: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Need </a:t>
            </a:r>
            <a:r>
              <a:rPr dirty="0" sz="2400" spc="25">
                <a:solidFill>
                  <a:srgbClr val="C00000"/>
                </a:solidFill>
                <a:latin typeface="Cambria Math"/>
                <a:cs typeface="Cambria Math"/>
              </a:rPr>
              <a:t>𝑂(𝑁)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feature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dimensions </a:t>
            </a:r>
            <a:r>
              <a:rPr dirty="0" sz="2400" spc="-5">
                <a:latin typeface="Calibri"/>
                <a:cs typeface="Calibri"/>
              </a:rPr>
              <a:t>(</a:t>
            </a:r>
            <a:r>
              <a:rPr dirty="0" sz="2400" spc="-5">
                <a:latin typeface="Cambria Math"/>
                <a:cs typeface="Cambria Math"/>
              </a:rPr>
              <a:t>𝑁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 spc="-114">
                <a:latin typeface="Calibri"/>
                <a:cs typeface="Calibri"/>
              </a:rPr>
              <a:t>the  </a:t>
            </a:r>
            <a:r>
              <a:rPr dirty="0" sz="2400" spc="-5">
                <a:latin typeface="Calibri"/>
                <a:cs typeface="Calibri"/>
              </a:rPr>
              <a:t>number 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2706623"/>
            <a:ext cx="6931152" cy="2304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719023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421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/>
              <a:t>There </a:t>
            </a:r>
            <a:r>
              <a:rPr dirty="0" sz="3200" spc="-15"/>
              <a:t>are </a:t>
            </a:r>
            <a:r>
              <a:rPr dirty="0" sz="3200" spc="-10"/>
              <a:t>two </a:t>
            </a:r>
            <a:r>
              <a:rPr dirty="0" sz="3200" spc="-5"/>
              <a:t>types </a:t>
            </a:r>
            <a:r>
              <a:rPr dirty="0" sz="3200"/>
              <a:t>of </a:t>
            </a:r>
            <a:r>
              <a:rPr dirty="0" sz="3200" spc="-15"/>
              <a:t>tasks </a:t>
            </a:r>
            <a:r>
              <a:rPr dirty="0" sz="3200"/>
              <a:t>on</a:t>
            </a:r>
            <a:r>
              <a:rPr dirty="0" sz="3200" spc="-5"/>
              <a:t> </a:t>
            </a:r>
            <a:r>
              <a:rPr dirty="0" sz="3200" spc="-20"/>
              <a:t>graphs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293290" y="2352548"/>
            <a:ext cx="2669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Structure-aware</a:t>
            </a:r>
            <a:r>
              <a:rPr dirty="0" sz="2400" spc="-7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4903" y="4620259"/>
            <a:ext cx="25171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Position-aware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60390" y="5212270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80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60390" y="5977095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80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67519" y="5590740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80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02317" y="5496123"/>
            <a:ext cx="0" cy="483870"/>
          </a:xfrm>
          <a:custGeom>
            <a:avLst/>
            <a:gdLst/>
            <a:ahLst/>
            <a:cxnLst/>
            <a:rect l="l" t="t" r="r" b="b"/>
            <a:pathLst>
              <a:path w="0" h="483870">
                <a:moveTo>
                  <a:pt x="0" y="0"/>
                </a:moveTo>
                <a:lnTo>
                  <a:pt x="0" y="483323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44243" y="5354196"/>
            <a:ext cx="370840" cy="278130"/>
          </a:xfrm>
          <a:custGeom>
            <a:avLst/>
            <a:gdLst/>
            <a:ahLst/>
            <a:cxnLst/>
            <a:rect l="l" t="t" r="r" b="b"/>
            <a:pathLst>
              <a:path w="370839" h="278129">
                <a:moveTo>
                  <a:pt x="0" y="0"/>
                </a:moveTo>
                <a:lnTo>
                  <a:pt x="370419" y="278112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44243" y="5827284"/>
            <a:ext cx="370840" cy="288925"/>
          </a:xfrm>
          <a:custGeom>
            <a:avLst/>
            <a:gdLst/>
            <a:ahLst/>
            <a:cxnLst/>
            <a:rect l="l" t="t" r="r" b="b"/>
            <a:pathLst>
              <a:path w="370839" h="288925">
                <a:moveTo>
                  <a:pt x="0" y="288348"/>
                </a:moveTo>
                <a:lnTo>
                  <a:pt x="370419" y="0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73135" y="5204386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79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13575" y="5183801"/>
            <a:ext cx="208279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345">
                <a:latin typeface="Cambria Math"/>
                <a:cs typeface="Cambria Math"/>
              </a:rPr>
              <a:t>!</a:t>
            </a:r>
            <a:r>
              <a:rPr dirty="0" baseline="-15151" sz="1650" spc="-52">
                <a:latin typeface="Cambria Math"/>
                <a:cs typeface="Cambria Math"/>
              </a:rPr>
              <a:t>#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73135" y="5969210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79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26582" y="5590740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79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15062" y="5488237"/>
            <a:ext cx="0" cy="476250"/>
          </a:xfrm>
          <a:custGeom>
            <a:avLst/>
            <a:gdLst/>
            <a:ahLst/>
            <a:cxnLst/>
            <a:rect l="l" t="t" r="r" b="b"/>
            <a:pathLst>
              <a:path w="0" h="476250">
                <a:moveTo>
                  <a:pt x="0" y="0"/>
                </a:moveTo>
                <a:lnTo>
                  <a:pt x="0" y="475859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71011" y="5346312"/>
            <a:ext cx="400050" cy="281940"/>
          </a:xfrm>
          <a:custGeom>
            <a:avLst/>
            <a:gdLst/>
            <a:ahLst/>
            <a:cxnLst/>
            <a:rect l="l" t="t" r="r" b="b"/>
            <a:pathLst>
              <a:path w="400050" h="281939">
                <a:moveTo>
                  <a:pt x="399448" y="0"/>
                </a:moveTo>
                <a:lnTo>
                  <a:pt x="0" y="281765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71011" y="5827283"/>
            <a:ext cx="400050" cy="277495"/>
          </a:xfrm>
          <a:custGeom>
            <a:avLst/>
            <a:gdLst/>
            <a:ahLst/>
            <a:cxnLst/>
            <a:rect l="l" t="t" r="r" b="b"/>
            <a:pathLst>
              <a:path w="400050" h="277495">
                <a:moveTo>
                  <a:pt x="399448" y="277232"/>
                </a:moveTo>
                <a:lnTo>
                  <a:pt x="0" y="0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67917" y="5191686"/>
            <a:ext cx="43370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7662" sz="2175" spc="-89">
                <a:solidFill>
                  <a:srgbClr val="C0504D"/>
                </a:solidFill>
                <a:latin typeface="Arial"/>
                <a:cs typeface="Arial"/>
              </a:rPr>
              <a:t>A </a:t>
            </a:r>
            <a:r>
              <a:rPr dirty="0" baseline="-7662" sz="2175" spc="37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sz="1450" spc="254">
                <a:latin typeface="Cambria Math"/>
                <a:cs typeface="Cambria Math"/>
              </a:rPr>
              <a:t>!</a:t>
            </a:r>
            <a:r>
              <a:rPr dirty="0" baseline="-15151" sz="1650" spc="382">
                <a:latin typeface="Cambria Math"/>
                <a:cs typeface="Cambria Math"/>
              </a:rPr>
              <a:t>"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7917" y="5980164"/>
            <a:ext cx="14478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4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95646" y="5215340"/>
            <a:ext cx="15176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45982" y="5349381"/>
            <a:ext cx="131064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7120" algn="l"/>
              </a:tabLst>
            </a:pPr>
            <a:r>
              <a:rPr dirty="0" baseline="1915" sz="2175" spc="-89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dirty="0" baseline="1915" sz="2175" spc="-89" u="heavy">
                <a:solidFill>
                  <a:srgbClr val="C0504D"/>
                </a:solidFill>
                <a:latin typeface="Arial"/>
                <a:cs typeface="Arial"/>
              </a:rPr>
              <a:t>	</a:t>
            </a:r>
            <a:r>
              <a:rPr dirty="0" sz="1450" spc="-1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2090" y="5988049"/>
            <a:ext cx="15176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4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93014" y="3010637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5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93014" y="3777297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5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901600" y="3390015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4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35281" y="3295171"/>
            <a:ext cx="0" cy="484505"/>
          </a:xfrm>
          <a:custGeom>
            <a:avLst/>
            <a:gdLst/>
            <a:ahLst/>
            <a:cxnLst/>
            <a:rect l="l" t="t" r="r" b="b"/>
            <a:pathLst>
              <a:path w="0" h="484504">
                <a:moveTo>
                  <a:pt x="0" y="0"/>
                </a:moveTo>
                <a:lnTo>
                  <a:pt x="0" y="484482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77548" y="3152904"/>
            <a:ext cx="371475" cy="279400"/>
          </a:xfrm>
          <a:custGeom>
            <a:avLst/>
            <a:gdLst/>
            <a:ahLst/>
            <a:cxnLst/>
            <a:rect l="l" t="t" r="r" b="b"/>
            <a:pathLst>
              <a:path w="371475" h="279400">
                <a:moveTo>
                  <a:pt x="0" y="0"/>
                </a:moveTo>
                <a:lnTo>
                  <a:pt x="371308" y="278779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77548" y="3627126"/>
            <a:ext cx="371475" cy="289560"/>
          </a:xfrm>
          <a:custGeom>
            <a:avLst/>
            <a:gdLst/>
            <a:ahLst/>
            <a:cxnLst/>
            <a:rect l="l" t="t" r="r" b="b"/>
            <a:pathLst>
              <a:path w="371475" h="289560">
                <a:moveTo>
                  <a:pt x="0" y="289040"/>
                </a:moveTo>
                <a:lnTo>
                  <a:pt x="371308" y="0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11545" y="3002734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4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11545" y="3769393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4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63443" y="3390015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4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53812" y="3287267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00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308457" y="3145001"/>
            <a:ext cx="400685" cy="282575"/>
          </a:xfrm>
          <a:custGeom>
            <a:avLst/>
            <a:gdLst/>
            <a:ahLst/>
            <a:cxnLst/>
            <a:rect l="l" t="t" r="r" b="b"/>
            <a:pathLst>
              <a:path w="400685" h="282575">
                <a:moveTo>
                  <a:pt x="400406" y="0"/>
                </a:moveTo>
                <a:lnTo>
                  <a:pt x="0" y="282440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08457" y="3627126"/>
            <a:ext cx="400685" cy="278130"/>
          </a:xfrm>
          <a:custGeom>
            <a:avLst/>
            <a:gdLst/>
            <a:ahLst/>
            <a:cxnLst/>
            <a:rect l="l" t="t" r="r" b="b"/>
            <a:pathLst>
              <a:path w="400685" h="278129">
                <a:moveTo>
                  <a:pt x="400406" y="277897"/>
                </a:moveTo>
                <a:lnTo>
                  <a:pt x="0" y="0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100111" y="2990035"/>
            <a:ext cx="43497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7407" sz="2250" spc="-89">
                <a:solidFill>
                  <a:srgbClr val="C0504D"/>
                </a:solidFill>
                <a:latin typeface="Arial"/>
                <a:cs typeface="Arial"/>
              </a:rPr>
              <a:t>A </a:t>
            </a:r>
            <a:r>
              <a:rPr dirty="0" baseline="-7407" sz="225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sz="1500" spc="265">
                <a:latin typeface="Cambria Math"/>
                <a:cs typeface="Cambria Math"/>
              </a:rPr>
              <a:t>!</a:t>
            </a:r>
            <a:r>
              <a:rPr dirty="0" baseline="-15151" sz="1650" spc="397">
                <a:latin typeface="Cambria Math"/>
                <a:cs typeface="Cambria Math"/>
              </a:rPr>
              <a:t>"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37" name="object 37"/>
          <p:cNvSpPr txBox="1"/>
          <p:nvPr/>
        </p:nvSpPr>
        <p:spPr>
          <a:xfrm>
            <a:off x="1100111" y="3780404"/>
            <a:ext cx="14541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34859" y="2990035"/>
            <a:ext cx="14541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34859" y="3788307"/>
            <a:ext cx="14541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47754" y="3148108"/>
            <a:ext cx="1346200" cy="46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6515">
              <a:lnSpc>
                <a:spcPts val="1739"/>
              </a:lnSpc>
              <a:spcBef>
                <a:spcPts val="90"/>
              </a:spcBef>
              <a:tabLst>
                <a:tab pos="1122680" algn="l"/>
              </a:tabLst>
            </a:pPr>
            <a:r>
              <a:rPr dirty="0" sz="1500" spc="-5">
                <a:solidFill>
                  <a:srgbClr val="4BACC6"/>
                </a:solidFill>
                <a:latin typeface="Arial"/>
                <a:cs typeface="Arial"/>
              </a:rPr>
              <a:t>B</a:t>
            </a:r>
            <a:r>
              <a:rPr dirty="0" sz="1500" spc="-5" u="heavy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dirty="0" sz="1500" spc="-5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739"/>
              </a:lnSpc>
            </a:pPr>
            <a:r>
              <a:rPr dirty="0" sz="1500" spc="160">
                <a:latin typeface="Cambria Math"/>
                <a:cs typeface="Cambria Math"/>
              </a:rPr>
              <a:t>!</a:t>
            </a:r>
            <a:r>
              <a:rPr dirty="0" baseline="-15151" sz="1650" spc="240">
                <a:latin typeface="Cambria Math"/>
                <a:cs typeface="Cambria Math"/>
              </a:rPr>
              <a:t>#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32909" y="2259075"/>
            <a:ext cx="3689350" cy="1303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32740" marR="5080" indent="-320040">
              <a:lnSpc>
                <a:spcPct val="99600"/>
              </a:lnSpc>
              <a:spcBef>
                <a:spcPts val="11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labeled </a:t>
            </a:r>
            <a:r>
              <a:rPr dirty="0" sz="2800" spc="-5">
                <a:latin typeface="Calibri"/>
                <a:cs typeface="Calibri"/>
              </a:rPr>
              <a:t>by  their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structural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roles </a:t>
            </a:r>
            <a:r>
              <a:rPr dirty="0" sz="2800" spc="-10">
                <a:latin typeface="Calibri"/>
                <a:cs typeface="Calibri"/>
              </a:rPr>
              <a:t>in 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32909" y="4392676"/>
            <a:ext cx="3380104" cy="1303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32740" marR="5080" indent="-320040">
              <a:lnSpc>
                <a:spcPct val="99600"/>
              </a:lnSpc>
              <a:spcBef>
                <a:spcPts val="11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labeled </a:t>
            </a:r>
            <a:r>
              <a:rPr dirty="0" sz="2800" spc="-5">
                <a:latin typeface="Calibri"/>
                <a:cs typeface="Calibri"/>
              </a:rPr>
              <a:t>by  their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positions </a:t>
            </a:r>
            <a:r>
              <a:rPr dirty="0" sz="2800" spc="-5">
                <a:latin typeface="Calibri"/>
                <a:cs typeface="Calibri"/>
              </a:rPr>
              <a:t>in the 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67207" y="20827"/>
            <a:ext cx="48710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Postion-aware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ICML</a:t>
            </a:r>
            <a:r>
              <a:rPr dirty="0" sz="1200" spc="-9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2019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543153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1743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GNNs </a:t>
            </a:r>
            <a:r>
              <a:rPr dirty="0" sz="3200" spc="-10"/>
              <a:t>often work well </a:t>
            </a:r>
            <a:r>
              <a:rPr dirty="0" sz="3200" spc="-20"/>
              <a:t>for </a:t>
            </a:r>
            <a:r>
              <a:rPr dirty="0" sz="3200" spc="-15"/>
              <a:t>structure-aware  tasks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163100" y="2587244"/>
            <a:ext cx="2669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Structure-aware</a:t>
            </a:r>
            <a:r>
              <a:rPr dirty="0" sz="2400" spc="-7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62826" y="3245253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5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62826" y="4011913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5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71411" y="3624632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4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05092" y="3529787"/>
            <a:ext cx="0" cy="484505"/>
          </a:xfrm>
          <a:custGeom>
            <a:avLst/>
            <a:gdLst/>
            <a:ahLst/>
            <a:cxnLst/>
            <a:rect l="l" t="t" r="r" b="b"/>
            <a:pathLst>
              <a:path w="0" h="484504">
                <a:moveTo>
                  <a:pt x="0" y="0"/>
                </a:moveTo>
                <a:lnTo>
                  <a:pt x="0" y="484482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47359" y="3387520"/>
            <a:ext cx="371475" cy="279400"/>
          </a:xfrm>
          <a:custGeom>
            <a:avLst/>
            <a:gdLst/>
            <a:ahLst/>
            <a:cxnLst/>
            <a:rect l="l" t="t" r="r" b="b"/>
            <a:pathLst>
              <a:path w="371475" h="279400">
                <a:moveTo>
                  <a:pt x="0" y="0"/>
                </a:moveTo>
                <a:lnTo>
                  <a:pt x="371308" y="278779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47359" y="3861742"/>
            <a:ext cx="371475" cy="289560"/>
          </a:xfrm>
          <a:custGeom>
            <a:avLst/>
            <a:gdLst/>
            <a:ahLst/>
            <a:cxnLst/>
            <a:rect l="l" t="t" r="r" b="b"/>
            <a:pathLst>
              <a:path w="371475" h="289560">
                <a:moveTo>
                  <a:pt x="0" y="289040"/>
                </a:moveTo>
                <a:lnTo>
                  <a:pt x="371308" y="0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81356" y="3237350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4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81356" y="4004009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4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33254" y="3624632"/>
            <a:ext cx="285115" cy="285115"/>
          </a:xfrm>
          <a:custGeom>
            <a:avLst/>
            <a:gdLst/>
            <a:ahLst/>
            <a:cxnLst/>
            <a:rect l="l" t="t" r="r" b="b"/>
            <a:pathLst>
              <a:path w="285114" h="285114">
                <a:moveTo>
                  <a:pt x="0" y="142266"/>
                </a:moveTo>
                <a:lnTo>
                  <a:pt x="7252" y="97299"/>
                </a:lnTo>
                <a:lnTo>
                  <a:pt x="27449" y="58245"/>
                </a:lnTo>
                <a:lnTo>
                  <a:pt x="58245" y="27449"/>
                </a:lnTo>
                <a:lnTo>
                  <a:pt x="97299" y="7252"/>
                </a:lnTo>
                <a:lnTo>
                  <a:pt x="142266" y="0"/>
                </a:lnTo>
                <a:lnTo>
                  <a:pt x="187233" y="7252"/>
                </a:lnTo>
                <a:lnTo>
                  <a:pt x="226287" y="27449"/>
                </a:lnTo>
                <a:lnTo>
                  <a:pt x="257083" y="58245"/>
                </a:lnTo>
                <a:lnTo>
                  <a:pt x="277280" y="97299"/>
                </a:lnTo>
                <a:lnTo>
                  <a:pt x="284533" y="142266"/>
                </a:lnTo>
                <a:lnTo>
                  <a:pt x="277280" y="187233"/>
                </a:lnTo>
                <a:lnTo>
                  <a:pt x="257083" y="226287"/>
                </a:lnTo>
                <a:lnTo>
                  <a:pt x="226287" y="257083"/>
                </a:lnTo>
                <a:lnTo>
                  <a:pt x="187233" y="277280"/>
                </a:lnTo>
                <a:lnTo>
                  <a:pt x="142266" y="284533"/>
                </a:lnTo>
                <a:lnTo>
                  <a:pt x="97299" y="277280"/>
                </a:lnTo>
                <a:lnTo>
                  <a:pt x="58245" y="257083"/>
                </a:lnTo>
                <a:lnTo>
                  <a:pt x="27449" y="226287"/>
                </a:lnTo>
                <a:lnTo>
                  <a:pt x="7252" y="187233"/>
                </a:lnTo>
                <a:lnTo>
                  <a:pt x="0" y="142266"/>
                </a:lnTo>
                <a:close/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23623" y="3521883"/>
            <a:ext cx="0" cy="477520"/>
          </a:xfrm>
          <a:custGeom>
            <a:avLst/>
            <a:gdLst/>
            <a:ahLst/>
            <a:cxnLst/>
            <a:rect l="l" t="t" r="r" b="b"/>
            <a:pathLst>
              <a:path w="0" h="477520">
                <a:moveTo>
                  <a:pt x="0" y="0"/>
                </a:moveTo>
                <a:lnTo>
                  <a:pt x="0" y="477000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78268" y="3379617"/>
            <a:ext cx="400685" cy="282575"/>
          </a:xfrm>
          <a:custGeom>
            <a:avLst/>
            <a:gdLst/>
            <a:ahLst/>
            <a:cxnLst/>
            <a:rect l="l" t="t" r="r" b="b"/>
            <a:pathLst>
              <a:path w="400685" h="282575">
                <a:moveTo>
                  <a:pt x="400406" y="0"/>
                </a:moveTo>
                <a:lnTo>
                  <a:pt x="0" y="282440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78268" y="3861742"/>
            <a:ext cx="400685" cy="278130"/>
          </a:xfrm>
          <a:custGeom>
            <a:avLst/>
            <a:gdLst/>
            <a:ahLst/>
            <a:cxnLst/>
            <a:rect l="l" t="t" r="r" b="b"/>
            <a:pathLst>
              <a:path w="400685" h="278129">
                <a:moveTo>
                  <a:pt x="400406" y="277897"/>
                </a:moveTo>
                <a:lnTo>
                  <a:pt x="0" y="0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55944" y="3766898"/>
            <a:ext cx="876935" cy="1270"/>
          </a:xfrm>
          <a:custGeom>
            <a:avLst/>
            <a:gdLst/>
            <a:ahLst/>
            <a:cxnLst/>
            <a:rect l="l" t="t" r="r" b="b"/>
            <a:pathLst>
              <a:path w="876935" h="1270">
                <a:moveTo>
                  <a:pt x="0" y="0"/>
                </a:moveTo>
                <a:lnTo>
                  <a:pt x="876554" y="882"/>
                </a:lnTo>
              </a:path>
            </a:pathLst>
          </a:custGeom>
          <a:ln w="158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69922" y="3224651"/>
            <a:ext cx="43497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7407" sz="2250" spc="-89">
                <a:solidFill>
                  <a:srgbClr val="C0504D"/>
                </a:solidFill>
                <a:latin typeface="Arial"/>
                <a:cs typeface="Arial"/>
              </a:rPr>
              <a:t>A </a:t>
            </a:r>
            <a:r>
              <a:rPr dirty="0" baseline="-7407" sz="225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sz="1500" spc="265">
                <a:latin typeface="Cambria Math"/>
                <a:cs typeface="Cambria Math"/>
              </a:rPr>
              <a:t>!</a:t>
            </a:r>
            <a:r>
              <a:rPr dirty="0" baseline="-15151" sz="1650" spc="397">
                <a:latin typeface="Cambria Math"/>
                <a:cs typeface="Cambria Math"/>
              </a:rPr>
              <a:t>"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9922" y="4015020"/>
            <a:ext cx="14541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11524" y="3382724"/>
            <a:ext cx="15240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5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4670" y="3224651"/>
            <a:ext cx="14541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04670" y="4022923"/>
            <a:ext cx="14541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7565" y="3382724"/>
            <a:ext cx="208915" cy="46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6515">
              <a:lnSpc>
                <a:spcPts val="1739"/>
              </a:lnSpc>
              <a:spcBef>
                <a:spcPts val="90"/>
              </a:spcBef>
            </a:pPr>
            <a:r>
              <a:rPr dirty="0" sz="1500" spc="-5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739"/>
              </a:lnSpc>
            </a:pPr>
            <a:r>
              <a:rPr dirty="0" sz="1500" spc="360">
                <a:latin typeface="Cambria Math"/>
                <a:cs typeface="Cambria Math"/>
              </a:rPr>
              <a:t>!</a:t>
            </a:r>
            <a:r>
              <a:rPr dirty="0" baseline="-15151" sz="1650" spc="-52">
                <a:latin typeface="Cambria Math"/>
                <a:cs typeface="Cambria Math"/>
              </a:rPr>
              <a:t>#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72020" y="2987547"/>
            <a:ext cx="3811904" cy="173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GNNs </a:t>
            </a:r>
            <a:r>
              <a:rPr dirty="0" sz="2800" spc="-10">
                <a:solidFill>
                  <a:srgbClr val="0070C0"/>
                </a:solidFill>
                <a:latin typeface="Calibri"/>
                <a:cs typeface="Calibri"/>
              </a:rPr>
              <a:t>work</a:t>
            </a:r>
            <a:r>
              <a:rPr dirty="0" sz="2800" spc="-6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955">
                <a:solidFill>
                  <a:srgbClr val="0070C0"/>
                </a:solidFill>
                <a:latin typeface="Arial"/>
                <a:cs typeface="Arial"/>
              </a:rPr>
              <a:t>J</a:t>
            </a:r>
            <a:endParaRPr sz="2800">
              <a:latin typeface="Arial"/>
              <a:cs typeface="Arial"/>
            </a:endParaRPr>
          </a:p>
          <a:p>
            <a:pPr marL="332740" indent="-320040">
              <a:lnSpc>
                <a:spcPts val="3335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Can </a:t>
            </a:r>
            <a:r>
              <a:rPr dirty="0" sz="2800" spc="-25">
                <a:latin typeface="Calibri"/>
                <a:cs typeface="Calibri"/>
              </a:rPr>
              <a:t>differentiate </a:t>
            </a:r>
            <a:r>
              <a:rPr dirty="0" sz="2800" spc="-360">
                <a:latin typeface="Cambria Math"/>
                <a:cs typeface="Cambria Math"/>
              </a:rPr>
              <a:t>𝑣</a:t>
            </a:r>
            <a:r>
              <a:rPr dirty="0" baseline="-16666" sz="3000" spc="-540">
                <a:latin typeface="Cambria Math"/>
                <a:cs typeface="Cambria Math"/>
              </a:rPr>
              <a:t>%     </a:t>
            </a:r>
            <a:r>
              <a:rPr dirty="0" baseline="-16666" sz="3000" spc="-434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algn="ctr" marL="332105" marR="321310" indent="-195580">
              <a:lnSpc>
                <a:spcPts val="3379"/>
              </a:lnSpc>
              <a:spcBef>
                <a:spcPts val="65"/>
              </a:spcBef>
            </a:pPr>
            <a:r>
              <a:rPr dirty="0" sz="2800" spc="-125">
                <a:latin typeface="Cambria Math"/>
                <a:cs typeface="Cambria Math"/>
              </a:rPr>
              <a:t>𝑣</a:t>
            </a:r>
            <a:r>
              <a:rPr dirty="0" baseline="-15277" sz="3000" spc="-187">
                <a:latin typeface="Cambria Math"/>
                <a:cs typeface="Cambria Math"/>
              </a:rPr>
              <a:t>&amp; </a:t>
            </a:r>
            <a:r>
              <a:rPr dirty="0" sz="2800" spc="-5">
                <a:latin typeface="Calibri"/>
                <a:cs typeface="Calibri"/>
              </a:rPr>
              <a:t>by using </a:t>
            </a:r>
            <a:r>
              <a:rPr dirty="0" sz="2800" spc="-25">
                <a:latin typeface="Calibri"/>
                <a:cs typeface="Calibri"/>
              </a:rPr>
              <a:t>different  </a:t>
            </a:r>
            <a:r>
              <a:rPr dirty="0" sz="2800" spc="-10">
                <a:latin typeface="Calibri"/>
                <a:cs typeface="Calibri"/>
              </a:rPr>
              <a:t>computational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79642" y="4670003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09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53515" y="510975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09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752885" y="5117604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5052" y="561232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09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26274" y="561232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09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07369" y="561232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752885" y="561232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090549" y="561232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89095" y="4913434"/>
            <a:ext cx="328295" cy="242570"/>
          </a:xfrm>
          <a:custGeom>
            <a:avLst/>
            <a:gdLst/>
            <a:ahLst/>
            <a:cxnLst/>
            <a:rect l="l" t="t" r="r" b="b"/>
            <a:pathLst>
              <a:path w="328294" h="242570">
                <a:moveTo>
                  <a:pt x="0" y="242454"/>
                </a:moveTo>
                <a:lnTo>
                  <a:pt x="328286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23074" y="4913435"/>
            <a:ext cx="374015" cy="244475"/>
          </a:xfrm>
          <a:custGeom>
            <a:avLst/>
            <a:gdLst/>
            <a:ahLst/>
            <a:cxnLst/>
            <a:rect l="l" t="t" r="r" b="b"/>
            <a:pathLst>
              <a:path w="374014" h="244475">
                <a:moveTo>
                  <a:pt x="0" y="0"/>
                </a:moveTo>
                <a:lnTo>
                  <a:pt x="373564" y="244031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06400" y="5392446"/>
            <a:ext cx="184150" cy="220979"/>
          </a:xfrm>
          <a:custGeom>
            <a:avLst/>
            <a:gdLst/>
            <a:ahLst/>
            <a:cxnLst/>
            <a:rect l="l" t="t" r="r" b="b"/>
            <a:pathLst>
              <a:path w="184150" h="220979">
                <a:moveTo>
                  <a:pt x="0" y="220542"/>
                </a:moveTo>
                <a:lnTo>
                  <a:pt x="183567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94863" y="5392446"/>
            <a:ext cx="179070" cy="220979"/>
          </a:xfrm>
          <a:custGeom>
            <a:avLst/>
            <a:gdLst/>
            <a:ahLst/>
            <a:cxnLst/>
            <a:rect l="l" t="t" r="r" b="b"/>
            <a:pathLst>
              <a:path w="179069" h="220979">
                <a:moveTo>
                  <a:pt x="178622" y="220542"/>
                </a:moveTo>
                <a:lnTo>
                  <a:pt x="0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894233" y="5400299"/>
            <a:ext cx="3175" cy="219075"/>
          </a:xfrm>
          <a:custGeom>
            <a:avLst/>
            <a:gdLst/>
            <a:ahLst/>
            <a:cxnLst/>
            <a:rect l="l" t="t" r="r" b="b"/>
            <a:pathLst>
              <a:path w="3175" h="219075">
                <a:moveTo>
                  <a:pt x="0" y="218966"/>
                </a:moveTo>
                <a:lnTo>
                  <a:pt x="2750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48716" y="5353183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4" h="260985">
                <a:moveTo>
                  <a:pt x="0" y="260365"/>
                </a:moveTo>
                <a:lnTo>
                  <a:pt x="245597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96317" y="5353183"/>
            <a:ext cx="240665" cy="260985"/>
          </a:xfrm>
          <a:custGeom>
            <a:avLst/>
            <a:gdLst/>
            <a:ahLst/>
            <a:cxnLst/>
            <a:rect l="l" t="t" r="r" b="b"/>
            <a:pathLst>
              <a:path w="240664" h="260985">
                <a:moveTo>
                  <a:pt x="240115" y="260365"/>
                </a:moveTo>
                <a:lnTo>
                  <a:pt x="0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928066" y="4670003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915076" y="5094046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928066" y="5094046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726612" y="5596615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87834" y="5596615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582550" y="5596615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928066" y="5596615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273582" y="5596615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150655" y="4913435"/>
            <a:ext cx="815975" cy="225425"/>
          </a:xfrm>
          <a:custGeom>
            <a:avLst/>
            <a:gdLst/>
            <a:ahLst/>
            <a:cxnLst/>
            <a:rect l="l" t="t" r="r" b="b"/>
            <a:pathLst>
              <a:path w="815975" h="225425">
                <a:moveTo>
                  <a:pt x="0" y="224872"/>
                </a:moveTo>
                <a:lnTo>
                  <a:pt x="815658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69414" y="4952698"/>
            <a:ext cx="3175" cy="144145"/>
          </a:xfrm>
          <a:custGeom>
            <a:avLst/>
            <a:gdLst/>
            <a:ahLst/>
            <a:cxnLst/>
            <a:rect l="l" t="t" r="r" b="b"/>
            <a:pathLst>
              <a:path w="3175" h="144145">
                <a:moveTo>
                  <a:pt x="0" y="0"/>
                </a:moveTo>
                <a:lnTo>
                  <a:pt x="2750" y="143649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867960" y="5376741"/>
            <a:ext cx="184150" cy="220979"/>
          </a:xfrm>
          <a:custGeom>
            <a:avLst/>
            <a:gdLst/>
            <a:ahLst/>
            <a:cxnLst/>
            <a:rect l="l" t="t" r="r" b="b"/>
            <a:pathLst>
              <a:path w="184150" h="220979">
                <a:moveTo>
                  <a:pt x="0" y="220542"/>
                </a:moveTo>
                <a:lnTo>
                  <a:pt x="183567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056424" y="5376741"/>
            <a:ext cx="179070" cy="220979"/>
          </a:xfrm>
          <a:custGeom>
            <a:avLst/>
            <a:gdLst/>
            <a:ahLst/>
            <a:cxnLst/>
            <a:rect l="l" t="t" r="r" b="b"/>
            <a:pathLst>
              <a:path w="179069" h="220979">
                <a:moveTo>
                  <a:pt x="178622" y="220542"/>
                </a:moveTo>
                <a:lnTo>
                  <a:pt x="0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69414" y="5376741"/>
            <a:ext cx="3175" cy="219075"/>
          </a:xfrm>
          <a:custGeom>
            <a:avLst/>
            <a:gdLst/>
            <a:ahLst/>
            <a:cxnLst/>
            <a:rect l="l" t="t" r="r" b="b"/>
            <a:pathLst>
              <a:path w="3175" h="219075">
                <a:moveTo>
                  <a:pt x="0" y="218966"/>
                </a:moveTo>
                <a:lnTo>
                  <a:pt x="2750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723897" y="5337478"/>
            <a:ext cx="245745" cy="260985"/>
          </a:xfrm>
          <a:custGeom>
            <a:avLst/>
            <a:gdLst/>
            <a:ahLst/>
            <a:cxnLst/>
            <a:rect l="l" t="t" r="r" b="b"/>
            <a:pathLst>
              <a:path w="245745" h="260985">
                <a:moveTo>
                  <a:pt x="0" y="260365"/>
                </a:moveTo>
                <a:lnTo>
                  <a:pt x="245597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171498" y="5337478"/>
            <a:ext cx="240665" cy="260985"/>
          </a:xfrm>
          <a:custGeom>
            <a:avLst/>
            <a:gdLst/>
            <a:ahLst/>
            <a:cxnLst/>
            <a:rect l="l" t="t" r="r" b="b"/>
            <a:pathLst>
              <a:path w="240664" h="260985">
                <a:moveTo>
                  <a:pt x="240115" y="260365"/>
                </a:moveTo>
                <a:lnTo>
                  <a:pt x="0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415174" y="5026377"/>
            <a:ext cx="236854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Cambria Math"/>
                <a:cs typeface="Cambria Math"/>
              </a:rPr>
              <a:t>≠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1287" y="5772378"/>
            <a:ext cx="23812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69696" y="5772378"/>
            <a:ext cx="23812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22017" y="5764526"/>
            <a:ext cx="23812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029748" y="5788084"/>
            <a:ext cx="23812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933204" y="510975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752594" y="561232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113814" y="5612320"/>
            <a:ext cx="283210" cy="283210"/>
          </a:xfrm>
          <a:custGeom>
            <a:avLst/>
            <a:gdLst/>
            <a:ahLst/>
            <a:cxnLst/>
            <a:rect l="l" t="t" r="r" b="b"/>
            <a:pathLst>
              <a:path w="283210" h="283210">
                <a:moveTo>
                  <a:pt x="0" y="141347"/>
                </a:moveTo>
                <a:lnTo>
                  <a:pt x="7205" y="96670"/>
                </a:lnTo>
                <a:lnTo>
                  <a:pt x="27271" y="57869"/>
                </a:lnTo>
                <a:lnTo>
                  <a:pt x="57869" y="27271"/>
                </a:lnTo>
                <a:lnTo>
                  <a:pt x="96670" y="7205"/>
                </a:lnTo>
                <a:lnTo>
                  <a:pt x="141347" y="0"/>
                </a:lnTo>
                <a:lnTo>
                  <a:pt x="186024" y="7205"/>
                </a:lnTo>
                <a:lnTo>
                  <a:pt x="224825" y="27271"/>
                </a:lnTo>
                <a:lnTo>
                  <a:pt x="255423" y="57869"/>
                </a:lnTo>
                <a:lnTo>
                  <a:pt x="275489" y="96670"/>
                </a:lnTo>
                <a:lnTo>
                  <a:pt x="282695" y="141347"/>
                </a:lnTo>
                <a:lnTo>
                  <a:pt x="275489" y="186024"/>
                </a:lnTo>
                <a:lnTo>
                  <a:pt x="255423" y="224825"/>
                </a:lnTo>
                <a:lnTo>
                  <a:pt x="224825" y="255423"/>
                </a:lnTo>
                <a:lnTo>
                  <a:pt x="186024" y="275489"/>
                </a:lnTo>
                <a:lnTo>
                  <a:pt x="141347" y="282695"/>
                </a:lnTo>
                <a:lnTo>
                  <a:pt x="96670" y="275489"/>
                </a:lnTo>
                <a:lnTo>
                  <a:pt x="57869" y="255423"/>
                </a:lnTo>
                <a:lnTo>
                  <a:pt x="27271" y="224825"/>
                </a:lnTo>
                <a:lnTo>
                  <a:pt x="7205" y="186024"/>
                </a:lnTo>
                <a:lnTo>
                  <a:pt x="0" y="141347"/>
                </a:lnTo>
                <a:close/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93941" y="5392446"/>
            <a:ext cx="184150" cy="220979"/>
          </a:xfrm>
          <a:custGeom>
            <a:avLst/>
            <a:gdLst/>
            <a:ahLst/>
            <a:cxnLst/>
            <a:rect l="l" t="t" r="r" b="b"/>
            <a:pathLst>
              <a:path w="184150" h="220979">
                <a:moveTo>
                  <a:pt x="0" y="220542"/>
                </a:moveTo>
                <a:lnTo>
                  <a:pt x="183567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074551" y="5392446"/>
            <a:ext cx="179070" cy="220979"/>
          </a:xfrm>
          <a:custGeom>
            <a:avLst/>
            <a:gdLst/>
            <a:ahLst/>
            <a:cxnLst/>
            <a:rect l="l" t="t" r="r" b="b"/>
            <a:pathLst>
              <a:path w="179070" h="220979">
                <a:moveTo>
                  <a:pt x="178622" y="220542"/>
                </a:moveTo>
                <a:lnTo>
                  <a:pt x="0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171498" y="4913434"/>
            <a:ext cx="807720" cy="242570"/>
          </a:xfrm>
          <a:custGeom>
            <a:avLst/>
            <a:gdLst/>
            <a:ahLst/>
            <a:cxnLst/>
            <a:rect l="l" t="t" r="r" b="b"/>
            <a:pathLst>
              <a:path w="807720" h="242570">
                <a:moveTo>
                  <a:pt x="807311" y="242454"/>
                </a:moveTo>
                <a:lnTo>
                  <a:pt x="0" y="0"/>
                </a:lnTo>
              </a:path>
            </a:pathLst>
          </a:custGeom>
          <a:ln w="15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983340" y="4665156"/>
            <a:ext cx="446405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35">
                <a:solidFill>
                  <a:srgbClr val="C0504D"/>
                </a:solidFill>
                <a:latin typeface="Arial"/>
                <a:cs typeface="Arial"/>
              </a:rPr>
              <a:t>A </a:t>
            </a:r>
            <a:r>
              <a:rPr dirty="0" sz="1450" spc="11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baseline="1915" sz="2175" spc="397">
                <a:latin typeface="Cambria Math"/>
                <a:cs typeface="Cambria Math"/>
              </a:rPr>
              <a:t>!</a:t>
            </a:r>
            <a:r>
              <a:rPr dirty="0" baseline="-12626" sz="1650" spc="397">
                <a:latin typeface="Cambria Math"/>
                <a:cs typeface="Cambria Math"/>
              </a:rPr>
              <a:t>"</a:t>
            </a:r>
            <a:endParaRPr baseline="-12626" sz="165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0" name="object 7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67" name="object 67"/>
          <p:cNvSpPr txBox="1"/>
          <p:nvPr/>
        </p:nvSpPr>
        <p:spPr>
          <a:xfrm>
            <a:off x="3975628" y="4657303"/>
            <a:ext cx="419734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60">
                <a:latin typeface="Cambria Math"/>
                <a:cs typeface="Cambria Math"/>
              </a:rPr>
              <a:t>!</a:t>
            </a:r>
            <a:r>
              <a:rPr dirty="0" baseline="-15151" sz="1650" spc="240">
                <a:latin typeface="Cambria Math"/>
                <a:cs typeface="Cambria Math"/>
              </a:rPr>
              <a:t>#</a:t>
            </a:r>
            <a:r>
              <a:rPr dirty="0" baseline="-15151" sz="1650" spc="247">
                <a:latin typeface="Cambria Math"/>
                <a:cs typeface="Cambria Math"/>
              </a:rPr>
              <a:t> </a:t>
            </a:r>
            <a:r>
              <a:rPr dirty="0" sz="1450" spc="15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09625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5865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GNNs </a:t>
            </a:r>
            <a:r>
              <a:rPr dirty="0" sz="3200"/>
              <a:t>will </a:t>
            </a:r>
            <a:r>
              <a:rPr dirty="0" sz="3200" spc="-25"/>
              <a:t>always </a:t>
            </a:r>
            <a:r>
              <a:rPr dirty="0" sz="3200" spc="-20"/>
              <a:t>fail for </a:t>
            </a:r>
            <a:r>
              <a:rPr dirty="0" sz="3200" spc="-10"/>
              <a:t>position-aware  </a:t>
            </a:r>
            <a:r>
              <a:rPr dirty="0" sz="3200" spc="-15"/>
              <a:t>tasks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055227" y="2256027"/>
            <a:ext cx="20643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GNNs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fail</a:t>
            </a:r>
            <a:r>
              <a:rPr dirty="0" sz="2800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800">
                <a:solidFill>
                  <a:srgbClr val="C00000"/>
                </a:solidFill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5227" y="2685795"/>
            <a:ext cx="3627120" cy="34391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2740" marR="18796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360">
                <a:latin typeface="Cambria Math"/>
                <a:cs typeface="Cambria Math"/>
              </a:rPr>
              <a:t>𝑣</a:t>
            </a:r>
            <a:r>
              <a:rPr dirty="0" baseline="-16666" sz="3000" spc="-540">
                <a:latin typeface="Cambria Math"/>
                <a:cs typeface="Cambria Math"/>
              </a:rPr>
              <a:t>%</a:t>
            </a:r>
            <a:r>
              <a:rPr dirty="0" baseline="-16666" sz="3000" spc="-419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25">
                <a:latin typeface="Cambria Math"/>
                <a:cs typeface="Cambria Math"/>
              </a:rPr>
              <a:t>𝑣</a:t>
            </a:r>
            <a:r>
              <a:rPr dirty="0" baseline="-16666" sz="3000" spc="-187">
                <a:latin typeface="Cambria Math"/>
                <a:cs typeface="Cambria Math"/>
              </a:rPr>
              <a:t>&amp;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 spc="-25">
                <a:latin typeface="Calibri"/>
                <a:cs typeface="Calibri"/>
              </a:rPr>
              <a:t>always  have </a:t>
            </a:r>
            <a:r>
              <a:rPr dirty="0" sz="2800" spc="-5">
                <a:latin typeface="Calibri"/>
                <a:cs typeface="Calibri"/>
              </a:rPr>
              <a:t>the same  </a:t>
            </a:r>
            <a:r>
              <a:rPr dirty="0" sz="2800" spc="-10">
                <a:latin typeface="Calibri"/>
                <a:cs typeface="Calibri"/>
              </a:rPr>
              <a:t>computational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graph,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due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structure  symmetry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ct val="100000"/>
              </a:lnSpc>
              <a:spcBef>
                <a:spcPts val="2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Can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define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deep  learning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methods that  are</a:t>
            </a:r>
            <a:r>
              <a:rPr dirty="0" sz="2800" spc="-5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position-aware?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9275" y="2654300"/>
            <a:ext cx="25171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Position-aware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4763" y="3247978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80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04763" y="4012802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80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11892" y="3626446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80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46690" y="3531829"/>
            <a:ext cx="0" cy="483870"/>
          </a:xfrm>
          <a:custGeom>
            <a:avLst/>
            <a:gdLst/>
            <a:ahLst/>
            <a:cxnLst/>
            <a:rect l="l" t="t" r="r" b="b"/>
            <a:pathLst>
              <a:path w="0" h="483870">
                <a:moveTo>
                  <a:pt x="0" y="0"/>
                </a:moveTo>
                <a:lnTo>
                  <a:pt x="0" y="483323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88616" y="3389904"/>
            <a:ext cx="370840" cy="278130"/>
          </a:xfrm>
          <a:custGeom>
            <a:avLst/>
            <a:gdLst/>
            <a:ahLst/>
            <a:cxnLst/>
            <a:rect l="l" t="t" r="r" b="b"/>
            <a:pathLst>
              <a:path w="370839" h="278129">
                <a:moveTo>
                  <a:pt x="0" y="0"/>
                </a:moveTo>
                <a:lnTo>
                  <a:pt x="370419" y="278112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88616" y="3862990"/>
            <a:ext cx="370840" cy="288925"/>
          </a:xfrm>
          <a:custGeom>
            <a:avLst/>
            <a:gdLst/>
            <a:ahLst/>
            <a:cxnLst/>
            <a:rect l="l" t="t" r="r" b="b"/>
            <a:pathLst>
              <a:path w="370839" h="288925">
                <a:moveTo>
                  <a:pt x="0" y="288348"/>
                </a:moveTo>
                <a:lnTo>
                  <a:pt x="370419" y="0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17508" y="3240092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79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57948" y="3219508"/>
            <a:ext cx="208279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345">
                <a:latin typeface="Cambria Math"/>
                <a:cs typeface="Cambria Math"/>
              </a:rPr>
              <a:t>!</a:t>
            </a:r>
            <a:r>
              <a:rPr dirty="0" baseline="-15151" sz="1650" spc="-52">
                <a:latin typeface="Cambria Math"/>
                <a:cs typeface="Cambria Math"/>
              </a:rPr>
              <a:t>#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17508" y="4004917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79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70955" y="3626446"/>
            <a:ext cx="284480" cy="284480"/>
          </a:xfrm>
          <a:custGeom>
            <a:avLst/>
            <a:gdLst/>
            <a:ahLst/>
            <a:cxnLst/>
            <a:rect l="l" t="t" r="r" b="b"/>
            <a:pathLst>
              <a:path w="284479" h="284479">
                <a:moveTo>
                  <a:pt x="0" y="141926"/>
                </a:moveTo>
                <a:lnTo>
                  <a:pt x="7235" y="97066"/>
                </a:lnTo>
                <a:lnTo>
                  <a:pt x="27383" y="58106"/>
                </a:lnTo>
                <a:lnTo>
                  <a:pt x="58106" y="27383"/>
                </a:lnTo>
                <a:lnTo>
                  <a:pt x="97066" y="7235"/>
                </a:lnTo>
                <a:lnTo>
                  <a:pt x="141926" y="0"/>
                </a:lnTo>
                <a:lnTo>
                  <a:pt x="186785" y="7235"/>
                </a:lnTo>
                <a:lnTo>
                  <a:pt x="225745" y="27383"/>
                </a:lnTo>
                <a:lnTo>
                  <a:pt x="256468" y="58106"/>
                </a:lnTo>
                <a:lnTo>
                  <a:pt x="276616" y="97066"/>
                </a:lnTo>
                <a:lnTo>
                  <a:pt x="283852" y="141926"/>
                </a:lnTo>
                <a:lnTo>
                  <a:pt x="276616" y="186785"/>
                </a:lnTo>
                <a:lnTo>
                  <a:pt x="256468" y="225745"/>
                </a:lnTo>
                <a:lnTo>
                  <a:pt x="225745" y="256468"/>
                </a:lnTo>
                <a:lnTo>
                  <a:pt x="186785" y="276616"/>
                </a:lnTo>
                <a:lnTo>
                  <a:pt x="141926" y="283852"/>
                </a:lnTo>
                <a:lnTo>
                  <a:pt x="97066" y="276616"/>
                </a:lnTo>
                <a:lnTo>
                  <a:pt x="58106" y="256468"/>
                </a:lnTo>
                <a:lnTo>
                  <a:pt x="27383" y="225745"/>
                </a:lnTo>
                <a:lnTo>
                  <a:pt x="7235" y="186785"/>
                </a:lnTo>
                <a:lnTo>
                  <a:pt x="0" y="141926"/>
                </a:lnTo>
                <a:close/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59434" y="3523945"/>
            <a:ext cx="0" cy="476250"/>
          </a:xfrm>
          <a:custGeom>
            <a:avLst/>
            <a:gdLst/>
            <a:ahLst/>
            <a:cxnLst/>
            <a:rect l="l" t="t" r="r" b="b"/>
            <a:pathLst>
              <a:path w="0" h="476250">
                <a:moveTo>
                  <a:pt x="0" y="0"/>
                </a:moveTo>
                <a:lnTo>
                  <a:pt x="0" y="475859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15384" y="3382018"/>
            <a:ext cx="400050" cy="281940"/>
          </a:xfrm>
          <a:custGeom>
            <a:avLst/>
            <a:gdLst/>
            <a:ahLst/>
            <a:cxnLst/>
            <a:rect l="l" t="t" r="r" b="b"/>
            <a:pathLst>
              <a:path w="400050" h="281939">
                <a:moveTo>
                  <a:pt x="399448" y="0"/>
                </a:moveTo>
                <a:lnTo>
                  <a:pt x="0" y="281765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15384" y="3862990"/>
            <a:ext cx="400050" cy="277495"/>
          </a:xfrm>
          <a:custGeom>
            <a:avLst/>
            <a:gdLst/>
            <a:ahLst/>
            <a:cxnLst/>
            <a:rect l="l" t="t" r="r" b="b"/>
            <a:pathLst>
              <a:path w="400050" h="277495">
                <a:moveTo>
                  <a:pt x="399448" y="277232"/>
                </a:moveTo>
                <a:lnTo>
                  <a:pt x="0" y="0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95745" y="3768373"/>
            <a:ext cx="875030" cy="1270"/>
          </a:xfrm>
          <a:custGeom>
            <a:avLst/>
            <a:gdLst/>
            <a:ahLst/>
            <a:cxnLst/>
            <a:rect l="l" t="t" r="r" b="b"/>
            <a:pathLst>
              <a:path w="875030" h="1270">
                <a:moveTo>
                  <a:pt x="0" y="0"/>
                </a:moveTo>
                <a:lnTo>
                  <a:pt x="874457" y="880"/>
                </a:lnTo>
              </a:path>
            </a:pathLst>
          </a:custGeom>
          <a:ln w="157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012290" y="3227392"/>
            <a:ext cx="43370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7662" sz="2175" spc="-89">
                <a:solidFill>
                  <a:srgbClr val="C0504D"/>
                </a:solidFill>
                <a:latin typeface="Arial"/>
                <a:cs typeface="Arial"/>
              </a:rPr>
              <a:t>A </a:t>
            </a:r>
            <a:r>
              <a:rPr dirty="0" baseline="-7662" sz="2175" spc="37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sz="1450" spc="254">
                <a:latin typeface="Cambria Math"/>
                <a:cs typeface="Cambria Math"/>
              </a:rPr>
              <a:t>!</a:t>
            </a:r>
            <a:r>
              <a:rPr dirty="0" baseline="-15151" sz="1650" spc="382">
                <a:latin typeface="Cambria Math"/>
                <a:cs typeface="Cambria Math"/>
              </a:rPr>
              <a:t>"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2290" y="4015871"/>
            <a:ext cx="14478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49009" y="3385088"/>
            <a:ext cx="15176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90356" y="3377203"/>
            <a:ext cx="14478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6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40018" y="3251047"/>
            <a:ext cx="15176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46464" y="4023756"/>
            <a:ext cx="15176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4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69807" y="486548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43097" y="529924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735246" y="530698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4945" y="579497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21249" y="579497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394434" y="579497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727500" y="579497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068313" y="579497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83215" y="5105599"/>
            <a:ext cx="323850" cy="239395"/>
          </a:xfrm>
          <a:custGeom>
            <a:avLst/>
            <a:gdLst/>
            <a:ahLst/>
            <a:cxnLst/>
            <a:rect l="l" t="t" r="r" b="b"/>
            <a:pathLst>
              <a:path w="323850" h="239395">
                <a:moveTo>
                  <a:pt x="0" y="239154"/>
                </a:moveTo>
                <a:lnTo>
                  <a:pt x="323817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402180" y="5105600"/>
            <a:ext cx="368935" cy="241300"/>
          </a:xfrm>
          <a:custGeom>
            <a:avLst/>
            <a:gdLst/>
            <a:ahLst/>
            <a:cxnLst/>
            <a:rect l="l" t="t" r="r" b="b"/>
            <a:pathLst>
              <a:path w="368935" h="241300">
                <a:moveTo>
                  <a:pt x="0" y="0"/>
                </a:moveTo>
                <a:lnTo>
                  <a:pt x="368479" y="240709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04369" y="5578090"/>
            <a:ext cx="181610" cy="217804"/>
          </a:xfrm>
          <a:custGeom>
            <a:avLst/>
            <a:gdLst/>
            <a:ahLst/>
            <a:cxnLst/>
            <a:rect l="l" t="t" r="r" b="b"/>
            <a:pathLst>
              <a:path w="181609" h="217804">
                <a:moveTo>
                  <a:pt x="0" y="217540"/>
                </a:moveTo>
                <a:lnTo>
                  <a:pt x="181068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82520" y="5578090"/>
            <a:ext cx="176530" cy="217804"/>
          </a:xfrm>
          <a:custGeom>
            <a:avLst/>
            <a:gdLst/>
            <a:ahLst/>
            <a:cxnLst/>
            <a:rect l="l" t="t" r="r" b="b"/>
            <a:pathLst>
              <a:path w="176530" h="217804">
                <a:moveTo>
                  <a:pt x="176191" y="217540"/>
                </a:moveTo>
                <a:lnTo>
                  <a:pt x="0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866924" y="5585836"/>
            <a:ext cx="3175" cy="216535"/>
          </a:xfrm>
          <a:custGeom>
            <a:avLst/>
            <a:gdLst/>
            <a:ahLst/>
            <a:cxnLst/>
            <a:rect l="l" t="t" r="r" b="b"/>
            <a:pathLst>
              <a:path w="3175" h="216535">
                <a:moveTo>
                  <a:pt x="0" y="215985"/>
                </a:moveTo>
                <a:lnTo>
                  <a:pt x="2713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33857" y="5539362"/>
            <a:ext cx="242570" cy="257175"/>
          </a:xfrm>
          <a:custGeom>
            <a:avLst/>
            <a:gdLst/>
            <a:ahLst/>
            <a:cxnLst/>
            <a:rect l="l" t="t" r="r" b="b"/>
            <a:pathLst>
              <a:path w="242569" h="257175">
                <a:moveTo>
                  <a:pt x="0" y="256821"/>
                </a:moveTo>
                <a:lnTo>
                  <a:pt x="242254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967619" y="5539362"/>
            <a:ext cx="236854" cy="257175"/>
          </a:xfrm>
          <a:custGeom>
            <a:avLst/>
            <a:gdLst/>
            <a:ahLst/>
            <a:cxnLst/>
            <a:rect l="l" t="t" r="r" b="b"/>
            <a:pathLst>
              <a:path w="236855" h="257175">
                <a:moveTo>
                  <a:pt x="236846" y="256821"/>
                </a:moveTo>
                <a:lnTo>
                  <a:pt x="0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00580" y="484999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873870" y="528375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966019" y="528375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695718" y="57794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52022" y="57794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25206" y="57794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958273" y="57794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299086" y="577948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139423"/>
                </a:moveTo>
                <a:lnTo>
                  <a:pt x="7107" y="95354"/>
                </a:lnTo>
                <a:lnTo>
                  <a:pt x="26900" y="57081"/>
                </a:lnTo>
                <a:lnTo>
                  <a:pt x="57081" y="26900"/>
                </a:lnTo>
                <a:lnTo>
                  <a:pt x="95354" y="7107"/>
                </a:lnTo>
                <a:lnTo>
                  <a:pt x="139423" y="0"/>
                </a:lnTo>
                <a:lnTo>
                  <a:pt x="183491" y="7107"/>
                </a:lnTo>
                <a:lnTo>
                  <a:pt x="221764" y="26900"/>
                </a:lnTo>
                <a:lnTo>
                  <a:pt x="251945" y="57081"/>
                </a:lnTo>
                <a:lnTo>
                  <a:pt x="271738" y="95354"/>
                </a:lnTo>
                <a:lnTo>
                  <a:pt x="278846" y="139423"/>
                </a:lnTo>
                <a:lnTo>
                  <a:pt x="271738" y="183491"/>
                </a:lnTo>
                <a:lnTo>
                  <a:pt x="251945" y="221764"/>
                </a:lnTo>
                <a:lnTo>
                  <a:pt x="221764" y="251946"/>
                </a:lnTo>
                <a:lnTo>
                  <a:pt x="183491" y="271738"/>
                </a:lnTo>
                <a:lnTo>
                  <a:pt x="139423" y="278846"/>
                </a:lnTo>
                <a:lnTo>
                  <a:pt x="95354" y="271738"/>
                </a:lnTo>
                <a:lnTo>
                  <a:pt x="57081" y="251946"/>
                </a:lnTo>
                <a:lnTo>
                  <a:pt x="26900" y="221764"/>
                </a:lnTo>
                <a:lnTo>
                  <a:pt x="7107" y="183491"/>
                </a:lnTo>
                <a:lnTo>
                  <a:pt x="0" y="139423"/>
                </a:lnTo>
                <a:close/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113988" y="5090108"/>
            <a:ext cx="323850" cy="239395"/>
          </a:xfrm>
          <a:custGeom>
            <a:avLst/>
            <a:gdLst/>
            <a:ahLst/>
            <a:cxnLst/>
            <a:rect l="l" t="t" r="r" b="b"/>
            <a:pathLst>
              <a:path w="323850" h="239395">
                <a:moveTo>
                  <a:pt x="0" y="239154"/>
                </a:moveTo>
                <a:lnTo>
                  <a:pt x="323817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632951" y="5090109"/>
            <a:ext cx="368935" cy="241300"/>
          </a:xfrm>
          <a:custGeom>
            <a:avLst/>
            <a:gdLst/>
            <a:ahLst/>
            <a:cxnLst/>
            <a:rect l="l" t="t" r="r" b="b"/>
            <a:pathLst>
              <a:path w="368935" h="241300">
                <a:moveTo>
                  <a:pt x="0" y="0"/>
                </a:moveTo>
                <a:lnTo>
                  <a:pt x="368479" y="240709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835141" y="5562599"/>
            <a:ext cx="181610" cy="217804"/>
          </a:xfrm>
          <a:custGeom>
            <a:avLst/>
            <a:gdLst/>
            <a:ahLst/>
            <a:cxnLst/>
            <a:rect l="l" t="t" r="r" b="b"/>
            <a:pathLst>
              <a:path w="181610" h="217804">
                <a:moveTo>
                  <a:pt x="0" y="217540"/>
                </a:moveTo>
                <a:lnTo>
                  <a:pt x="181068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013293" y="5562599"/>
            <a:ext cx="176530" cy="217804"/>
          </a:xfrm>
          <a:custGeom>
            <a:avLst/>
            <a:gdLst/>
            <a:ahLst/>
            <a:cxnLst/>
            <a:rect l="l" t="t" r="r" b="b"/>
            <a:pathLst>
              <a:path w="176530" h="217804">
                <a:moveTo>
                  <a:pt x="176191" y="217540"/>
                </a:moveTo>
                <a:lnTo>
                  <a:pt x="0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097696" y="5562599"/>
            <a:ext cx="3175" cy="216535"/>
          </a:xfrm>
          <a:custGeom>
            <a:avLst/>
            <a:gdLst/>
            <a:ahLst/>
            <a:cxnLst/>
            <a:rect l="l" t="t" r="r" b="b"/>
            <a:pathLst>
              <a:path w="3175" h="216535">
                <a:moveTo>
                  <a:pt x="0" y="215985"/>
                </a:moveTo>
                <a:lnTo>
                  <a:pt x="2713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764629" y="5523870"/>
            <a:ext cx="242570" cy="257175"/>
          </a:xfrm>
          <a:custGeom>
            <a:avLst/>
            <a:gdLst/>
            <a:ahLst/>
            <a:cxnLst/>
            <a:rect l="l" t="t" r="r" b="b"/>
            <a:pathLst>
              <a:path w="242570" h="257175">
                <a:moveTo>
                  <a:pt x="0" y="256821"/>
                </a:moveTo>
                <a:lnTo>
                  <a:pt x="242254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198390" y="5523870"/>
            <a:ext cx="236854" cy="257175"/>
          </a:xfrm>
          <a:custGeom>
            <a:avLst/>
            <a:gdLst/>
            <a:ahLst/>
            <a:cxnLst/>
            <a:rect l="l" t="t" r="r" b="b"/>
            <a:pathLst>
              <a:path w="236854" h="257175">
                <a:moveTo>
                  <a:pt x="236846" y="256821"/>
                </a:moveTo>
                <a:lnTo>
                  <a:pt x="0" y="0"/>
                </a:lnTo>
              </a:path>
            </a:pathLst>
          </a:custGeom>
          <a:ln w="154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386345" y="5216832"/>
            <a:ext cx="23431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>
                <a:latin typeface="Cambria Math"/>
                <a:cs typeface="Cambria Math"/>
              </a:rPr>
              <a:t>=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6" name="object 6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58" name="object 58"/>
          <p:cNvSpPr txBox="1"/>
          <p:nvPr/>
        </p:nvSpPr>
        <p:spPr>
          <a:xfrm>
            <a:off x="646470" y="5952677"/>
            <a:ext cx="23558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49654" y="5952677"/>
            <a:ext cx="23558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86288" y="5944932"/>
            <a:ext cx="23558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78936" y="5968169"/>
            <a:ext cx="23558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>
                <a:latin typeface="Cambria Math"/>
                <a:cs typeface="Cambria Math"/>
              </a:rPr>
              <a:t>…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77869" y="4860528"/>
            <a:ext cx="43688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45">
                <a:solidFill>
                  <a:srgbClr val="C0504D"/>
                </a:solidFill>
                <a:latin typeface="Arial"/>
                <a:cs typeface="Arial"/>
              </a:rPr>
              <a:t>A </a:t>
            </a:r>
            <a:r>
              <a:rPr dirty="0" sz="1450" spc="75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baseline="1915" sz="2175" spc="382">
                <a:latin typeface="Cambria Math"/>
                <a:cs typeface="Cambria Math"/>
              </a:rPr>
              <a:t>!</a:t>
            </a:r>
            <a:r>
              <a:rPr dirty="0" baseline="-12626" sz="1650" spc="382">
                <a:latin typeface="Cambria Math"/>
                <a:cs typeface="Cambria Math"/>
              </a:rPr>
              <a:t>"</a:t>
            </a:r>
            <a:endParaRPr baseline="-12626" sz="165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444819" y="4845036"/>
            <a:ext cx="44323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1915" sz="2175" spc="225">
                <a:latin typeface="Cambria Math"/>
                <a:cs typeface="Cambria Math"/>
              </a:rPr>
              <a:t>!</a:t>
            </a:r>
            <a:r>
              <a:rPr dirty="0" baseline="-12626" sz="1650" spc="225">
                <a:latin typeface="Cambria Math"/>
                <a:cs typeface="Cambria Math"/>
              </a:rPr>
              <a:t>#</a:t>
            </a:r>
            <a:r>
              <a:rPr dirty="0" baseline="-12626" sz="1650" spc="494">
                <a:latin typeface="Cambria Math"/>
                <a:cs typeface="Cambria Math"/>
              </a:rPr>
              <a:t> </a:t>
            </a:r>
            <a:r>
              <a:rPr dirty="0" sz="1450" spc="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453542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925434" cy="1303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Randomly pick </a:t>
            </a:r>
            <a:r>
              <a:rPr dirty="0" b="0">
                <a:latin typeface="Calibri"/>
                <a:cs typeface="Calibri"/>
              </a:rPr>
              <a:t>a </a:t>
            </a:r>
            <a:r>
              <a:rPr dirty="0" spc="-5" b="0">
                <a:latin typeface="Calibri"/>
                <a:cs typeface="Calibri"/>
              </a:rPr>
              <a:t>node </a:t>
            </a:r>
            <a:r>
              <a:rPr dirty="0" spc="-385" b="0">
                <a:latin typeface="Cambria Math"/>
                <a:cs typeface="Cambria Math"/>
              </a:rPr>
              <a:t>𝑠</a:t>
            </a:r>
            <a:r>
              <a:rPr dirty="0" baseline="-16666" sz="3000" spc="-577" b="0">
                <a:latin typeface="Cambria Math"/>
                <a:cs typeface="Cambria Math"/>
              </a:rPr>
              <a:t>%          </a:t>
            </a:r>
            <a:r>
              <a:rPr dirty="0" sz="2800" spc="-5" b="0">
                <a:latin typeface="Calibri"/>
                <a:cs typeface="Calibri"/>
              </a:rPr>
              <a:t>as an </a:t>
            </a:r>
            <a:r>
              <a:rPr dirty="0" sz="2800" spc="-5">
                <a:solidFill>
                  <a:srgbClr val="C00000"/>
                </a:solidFill>
              </a:rPr>
              <a:t>anchor</a:t>
            </a:r>
            <a:r>
              <a:rPr dirty="0" sz="2800" spc="5">
                <a:solidFill>
                  <a:srgbClr val="C00000"/>
                </a:solidFill>
              </a:rPr>
              <a:t> </a:t>
            </a:r>
            <a:r>
              <a:rPr dirty="0" sz="2800" spc="-5">
                <a:solidFill>
                  <a:srgbClr val="C00000"/>
                </a:solidFill>
              </a:rPr>
              <a:t>node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290"/>
              </a:lnSpc>
              <a:spcBef>
                <a:spcPts val="21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20" b="0">
                <a:latin typeface="Calibri"/>
                <a:cs typeface="Calibri"/>
              </a:rPr>
              <a:t>Represent </a:t>
            </a:r>
            <a:r>
              <a:rPr dirty="0" spc="-360" b="0">
                <a:latin typeface="Cambria Math"/>
                <a:cs typeface="Cambria Math"/>
              </a:rPr>
              <a:t>𝑣</a:t>
            </a:r>
            <a:r>
              <a:rPr dirty="0" baseline="-16666" sz="3000" spc="-540" b="0">
                <a:latin typeface="Cambria Math"/>
                <a:cs typeface="Cambria Math"/>
              </a:rPr>
              <a:t>%</a:t>
            </a:r>
            <a:r>
              <a:rPr dirty="0" baseline="-16666" sz="3000" spc="-419" b="0">
                <a:latin typeface="Cambria Math"/>
                <a:cs typeface="Cambria Math"/>
              </a:rPr>
              <a:t> </a:t>
            </a:r>
            <a:r>
              <a:rPr dirty="0" sz="2800" spc="-5" b="0">
                <a:latin typeface="Calibri"/>
                <a:cs typeface="Calibri"/>
              </a:rPr>
              <a:t>and </a:t>
            </a:r>
            <a:r>
              <a:rPr dirty="0" sz="2800" spc="-125" b="0">
                <a:latin typeface="Cambria Math"/>
                <a:cs typeface="Cambria Math"/>
              </a:rPr>
              <a:t>𝑣</a:t>
            </a:r>
            <a:r>
              <a:rPr dirty="0" baseline="-16666" sz="3000" spc="-187" b="0">
                <a:latin typeface="Cambria Math"/>
                <a:cs typeface="Cambria Math"/>
              </a:rPr>
              <a:t>&amp; </a:t>
            </a:r>
            <a:r>
              <a:rPr dirty="0" sz="2800" spc="-5" b="0">
                <a:latin typeface="Calibri"/>
                <a:cs typeface="Calibri"/>
              </a:rPr>
              <a:t>via their </a:t>
            </a:r>
            <a:r>
              <a:rPr dirty="0" sz="2800" spc="-20" b="0">
                <a:latin typeface="Calibri"/>
                <a:cs typeface="Calibri"/>
              </a:rPr>
              <a:t>relative </a:t>
            </a:r>
            <a:r>
              <a:rPr dirty="0" sz="2800" spc="-10" b="0">
                <a:latin typeface="Calibri"/>
                <a:cs typeface="Calibri"/>
              </a:rPr>
              <a:t>distances </a:t>
            </a:r>
            <a:r>
              <a:rPr dirty="0" sz="2800" spc="-90" b="0">
                <a:latin typeface="Calibri"/>
                <a:cs typeface="Calibri"/>
              </a:rPr>
              <a:t>w.r.t.  </a:t>
            </a:r>
            <a:r>
              <a:rPr dirty="0" sz="2800" spc="-5" b="0">
                <a:latin typeface="Calibri"/>
                <a:cs typeface="Calibri"/>
              </a:rPr>
              <a:t>the anchor </a:t>
            </a:r>
            <a:r>
              <a:rPr dirty="0" sz="2800" spc="-225" b="0">
                <a:latin typeface="Cambria Math"/>
                <a:cs typeface="Cambria Math"/>
              </a:rPr>
              <a:t>𝑠</a:t>
            </a:r>
            <a:r>
              <a:rPr dirty="0" baseline="-16666" sz="3000" spc="-337" b="0">
                <a:latin typeface="Cambria Math"/>
                <a:cs typeface="Cambria Math"/>
              </a:rPr>
              <a:t>%</a:t>
            </a:r>
            <a:r>
              <a:rPr dirty="0" sz="2800" spc="-225" b="0">
                <a:latin typeface="Calibri"/>
                <a:cs typeface="Calibri"/>
              </a:rPr>
              <a:t>,  </a:t>
            </a:r>
            <a:r>
              <a:rPr dirty="0" sz="2800" spc="-5"/>
              <a:t>which </a:t>
            </a:r>
            <a:r>
              <a:rPr dirty="0" sz="2800" spc="-10"/>
              <a:t>are</a:t>
            </a:r>
            <a:r>
              <a:rPr dirty="0" sz="2800" spc="-180"/>
              <a:t> </a:t>
            </a:r>
            <a:r>
              <a:rPr dirty="0" sz="2800" spc="-15"/>
              <a:t>different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7047" y="4370623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965"/>
                </a:moveTo>
                <a:lnTo>
                  <a:pt x="5307" y="154885"/>
                </a:lnTo>
                <a:lnTo>
                  <a:pt x="20426" y="112585"/>
                </a:lnTo>
                <a:lnTo>
                  <a:pt x="44149" y="75271"/>
                </a:lnTo>
                <a:lnTo>
                  <a:pt x="75271" y="44149"/>
                </a:lnTo>
                <a:lnTo>
                  <a:pt x="112585" y="20426"/>
                </a:lnTo>
                <a:lnTo>
                  <a:pt x="154885" y="5307"/>
                </a:lnTo>
                <a:lnTo>
                  <a:pt x="200965" y="0"/>
                </a:lnTo>
                <a:lnTo>
                  <a:pt x="247044" y="5307"/>
                </a:lnTo>
                <a:lnTo>
                  <a:pt x="289344" y="20426"/>
                </a:lnTo>
                <a:lnTo>
                  <a:pt x="326658" y="44149"/>
                </a:lnTo>
                <a:lnTo>
                  <a:pt x="357780" y="75271"/>
                </a:lnTo>
                <a:lnTo>
                  <a:pt x="381503" y="112585"/>
                </a:lnTo>
                <a:lnTo>
                  <a:pt x="396622" y="154885"/>
                </a:lnTo>
                <a:lnTo>
                  <a:pt x="401930" y="200965"/>
                </a:lnTo>
                <a:lnTo>
                  <a:pt x="396622" y="247044"/>
                </a:lnTo>
                <a:lnTo>
                  <a:pt x="381503" y="289344"/>
                </a:lnTo>
                <a:lnTo>
                  <a:pt x="357780" y="326658"/>
                </a:lnTo>
                <a:lnTo>
                  <a:pt x="326658" y="357780"/>
                </a:lnTo>
                <a:lnTo>
                  <a:pt x="289344" y="381503"/>
                </a:lnTo>
                <a:lnTo>
                  <a:pt x="247044" y="396622"/>
                </a:lnTo>
                <a:lnTo>
                  <a:pt x="200965" y="401930"/>
                </a:lnTo>
                <a:lnTo>
                  <a:pt x="154885" y="396622"/>
                </a:lnTo>
                <a:lnTo>
                  <a:pt x="112585" y="381503"/>
                </a:lnTo>
                <a:lnTo>
                  <a:pt x="75271" y="357780"/>
                </a:lnTo>
                <a:lnTo>
                  <a:pt x="44149" y="326658"/>
                </a:lnTo>
                <a:lnTo>
                  <a:pt x="20426" y="289344"/>
                </a:lnTo>
                <a:lnTo>
                  <a:pt x="5307" y="247044"/>
                </a:lnTo>
                <a:lnTo>
                  <a:pt x="0" y="2009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7047" y="5456930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965"/>
                </a:moveTo>
                <a:lnTo>
                  <a:pt x="5307" y="154885"/>
                </a:lnTo>
                <a:lnTo>
                  <a:pt x="20426" y="112585"/>
                </a:lnTo>
                <a:lnTo>
                  <a:pt x="44149" y="75271"/>
                </a:lnTo>
                <a:lnTo>
                  <a:pt x="75271" y="44149"/>
                </a:lnTo>
                <a:lnTo>
                  <a:pt x="112585" y="20426"/>
                </a:lnTo>
                <a:lnTo>
                  <a:pt x="154885" y="5307"/>
                </a:lnTo>
                <a:lnTo>
                  <a:pt x="200965" y="0"/>
                </a:lnTo>
                <a:lnTo>
                  <a:pt x="247044" y="5307"/>
                </a:lnTo>
                <a:lnTo>
                  <a:pt x="289344" y="20426"/>
                </a:lnTo>
                <a:lnTo>
                  <a:pt x="326658" y="44149"/>
                </a:lnTo>
                <a:lnTo>
                  <a:pt x="357780" y="75271"/>
                </a:lnTo>
                <a:lnTo>
                  <a:pt x="381503" y="112585"/>
                </a:lnTo>
                <a:lnTo>
                  <a:pt x="396622" y="154885"/>
                </a:lnTo>
                <a:lnTo>
                  <a:pt x="401930" y="200965"/>
                </a:lnTo>
                <a:lnTo>
                  <a:pt x="396622" y="247044"/>
                </a:lnTo>
                <a:lnTo>
                  <a:pt x="381503" y="289344"/>
                </a:lnTo>
                <a:lnTo>
                  <a:pt x="357780" y="326658"/>
                </a:lnTo>
                <a:lnTo>
                  <a:pt x="326658" y="357780"/>
                </a:lnTo>
                <a:lnTo>
                  <a:pt x="289344" y="381503"/>
                </a:lnTo>
                <a:lnTo>
                  <a:pt x="247044" y="396622"/>
                </a:lnTo>
                <a:lnTo>
                  <a:pt x="200965" y="401930"/>
                </a:lnTo>
                <a:lnTo>
                  <a:pt x="154885" y="396622"/>
                </a:lnTo>
                <a:lnTo>
                  <a:pt x="112585" y="381503"/>
                </a:lnTo>
                <a:lnTo>
                  <a:pt x="75271" y="357780"/>
                </a:lnTo>
                <a:lnTo>
                  <a:pt x="44149" y="326658"/>
                </a:lnTo>
                <a:lnTo>
                  <a:pt x="20426" y="289344"/>
                </a:lnTo>
                <a:lnTo>
                  <a:pt x="5307" y="247044"/>
                </a:lnTo>
                <a:lnTo>
                  <a:pt x="0" y="2009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34625" y="4906530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5" h="401954">
                <a:moveTo>
                  <a:pt x="0" y="200965"/>
                </a:moveTo>
                <a:lnTo>
                  <a:pt x="5307" y="154885"/>
                </a:lnTo>
                <a:lnTo>
                  <a:pt x="20426" y="112585"/>
                </a:lnTo>
                <a:lnTo>
                  <a:pt x="44149" y="75271"/>
                </a:lnTo>
                <a:lnTo>
                  <a:pt x="75271" y="44149"/>
                </a:lnTo>
                <a:lnTo>
                  <a:pt x="112585" y="20426"/>
                </a:lnTo>
                <a:lnTo>
                  <a:pt x="154885" y="5307"/>
                </a:lnTo>
                <a:lnTo>
                  <a:pt x="200965" y="0"/>
                </a:lnTo>
                <a:lnTo>
                  <a:pt x="247044" y="5307"/>
                </a:lnTo>
                <a:lnTo>
                  <a:pt x="289344" y="20426"/>
                </a:lnTo>
                <a:lnTo>
                  <a:pt x="326658" y="44149"/>
                </a:lnTo>
                <a:lnTo>
                  <a:pt x="357780" y="75271"/>
                </a:lnTo>
                <a:lnTo>
                  <a:pt x="381503" y="112585"/>
                </a:lnTo>
                <a:lnTo>
                  <a:pt x="396622" y="154885"/>
                </a:lnTo>
                <a:lnTo>
                  <a:pt x="401930" y="200965"/>
                </a:lnTo>
                <a:lnTo>
                  <a:pt x="396622" y="247044"/>
                </a:lnTo>
                <a:lnTo>
                  <a:pt x="381503" y="289344"/>
                </a:lnTo>
                <a:lnTo>
                  <a:pt x="357780" y="326658"/>
                </a:lnTo>
                <a:lnTo>
                  <a:pt x="326658" y="357780"/>
                </a:lnTo>
                <a:lnTo>
                  <a:pt x="289344" y="381503"/>
                </a:lnTo>
                <a:lnTo>
                  <a:pt x="247044" y="396622"/>
                </a:lnTo>
                <a:lnTo>
                  <a:pt x="200965" y="401930"/>
                </a:lnTo>
                <a:lnTo>
                  <a:pt x="154885" y="396622"/>
                </a:lnTo>
                <a:lnTo>
                  <a:pt x="112585" y="381503"/>
                </a:lnTo>
                <a:lnTo>
                  <a:pt x="75271" y="357780"/>
                </a:lnTo>
                <a:lnTo>
                  <a:pt x="44149" y="326658"/>
                </a:lnTo>
                <a:lnTo>
                  <a:pt x="20426" y="289344"/>
                </a:lnTo>
                <a:lnTo>
                  <a:pt x="5307" y="247044"/>
                </a:lnTo>
                <a:lnTo>
                  <a:pt x="0" y="2009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68013" y="4772554"/>
            <a:ext cx="0" cy="684530"/>
          </a:xfrm>
          <a:custGeom>
            <a:avLst/>
            <a:gdLst/>
            <a:ahLst/>
            <a:cxnLst/>
            <a:rect l="l" t="t" r="r" b="b"/>
            <a:pathLst>
              <a:path w="0" h="684529">
                <a:moveTo>
                  <a:pt x="0" y="0"/>
                </a:moveTo>
                <a:lnTo>
                  <a:pt x="1" y="68437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68978" y="4571588"/>
            <a:ext cx="524510" cy="394335"/>
          </a:xfrm>
          <a:custGeom>
            <a:avLst/>
            <a:gdLst/>
            <a:ahLst/>
            <a:cxnLst/>
            <a:rect l="l" t="t" r="r" b="b"/>
            <a:pathLst>
              <a:path w="524510" h="394335">
                <a:moveTo>
                  <a:pt x="0" y="0"/>
                </a:moveTo>
                <a:lnTo>
                  <a:pt x="524508" y="39380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68978" y="5249600"/>
            <a:ext cx="524510" cy="408305"/>
          </a:xfrm>
          <a:custGeom>
            <a:avLst/>
            <a:gdLst/>
            <a:ahLst/>
            <a:cxnLst/>
            <a:rect l="l" t="t" r="r" b="b"/>
            <a:pathLst>
              <a:path w="524510" h="408304">
                <a:moveTo>
                  <a:pt x="0" y="408296"/>
                </a:moveTo>
                <a:lnTo>
                  <a:pt x="52450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83452" y="4366699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200965"/>
                </a:moveTo>
                <a:lnTo>
                  <a:pt x="5307" y="154885"/>
                </a:lnTo>
                <a:lnTo>
                  <a:pt x="20426" y="112585"/>
                </a:lnTo>
                <a:lnTo>
                  <a:pt x="44149" y="75271"/>
                </a:lnTo>
                <a:lnTo>
                  <a:pt x="75271" y="44149"/>
                </a:lnTo>
                <a:lnTo>
                  <a:pt x="112585" y="20426"/>
                </a:lnTo>
                <a:lnTo>
                  <a:pt x="154885" y="5307"/>
                </a:lnTo>
                <a:lnTo>
                  <a:pt x="200965" y="0"/>
                </a:lnTo>
                <a:lnTo>
                  <a:pt x="247044" y="5307"/>
                </a:lnTo>
                <a:lnTo>
                  <a:pt x="289344" y="20426"/>
                </a:lnTo>
                <a:lnTo>
                  <a:pt x="326658" y="44149"/>
                </a:lnTo>
                <a:lnTo>
                  <a:pt x="357780" y="75271"/>
                </a:lnTo>
                <a:lnTo>
                  <a:pt x="381503" y="112585"/>
                </a:lnTo>
                <a:lnTo>
                  <a:pt x="396622" y="154885"/>
                </a:lnTo>
                <a:lnTo>
                  <a:pt x="401930" y="200965"/>
                </a:lnTo>
                <a:lnTo>
                  <a:pt x="396622" y="247044"/>
                </a:lnTo>
                <a:lnTo>
                  <a:pt x="381503" y="289344"/>
                </a:lnTo>
                <a:lnTo>
                  <a:pt x="357780" y="326658"/>
                </a:lnTo>
                <a:lnTo>
                  <a:pt x="326658" y="357780"/>
                </a:lnTo>
                <a:lnTo>
                  <a:pt x="289344" y="381503"/>
                </a:lnTo>
                <a:lnTo>
                  <a:pt x="247044" y="396622"/>
                </a:lnTo>
                <a:lnTo>
                  <a:pt x="200965" y="401930"/>
                </a:lnTo>
                <a:lnTo>
                  <a:pt x="154885" y="396622"/>
                </a:lnTo>
                <a:lnTo>
                  <a:pt x="112585" y="381503"/>
                </a:lnTo>
                <a:lnTo>
                  <a:pt x="75271" y="357780"/>
                </a:lnTo>
                <a:lnTo>
                  <a:pt x="44149" y="326658"/>
                </a:lnTo>
                <a:lnTo>
                  <a:pt x="20426" y="289344"/>
                </a:lnTo>
                <a:lnTo>
                  <a:pt x="5307" y="247044"/>
                </a:lnTo>
                <a:lnTo>
                  <a:pt x="0" y="2009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83452" y="5442436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200965"/>
                </a:moveTo>
                <a:lnTo>
                  <a:pt x="5307" y="154885"/>
                </a:lnTo>
                <a:lnTo>
                  <a:pt x="20426" y="112585"/>
                </a:lnTo>
                <a:lnTo>
                  <a:pt x="44149" y="75271"/>
                </a:lnTo>
                <a:lnTo>
                  <a:pt x="75271" y="44149"/>
                </a:lnTo>
                <a:lnTo>
                  <a:pt x="112585" y="20426"/>
                </a:lnTo>
                <a:lnTo>
                  <a:pt x="154885" y="5307"/>
                </a:lnTo>
                <a:lnTo>
                  <a:pt x="200965" y="0"/>
                </a:lnTo>
                <a:lnTo>
                  <a:pt x="247044" y="5307"/>
                </a:lnTo>
                <a:lnTo>
                  <a:pt x="289344" y="20426"/>
                </a:lnTo>
                <a:lnTo>
                  <a:pt x="326658" y="44149"/>
                </a:lnTo>
                <a:lnTo>
                  <a:pt x="357780" y="75271"/>
                </a:lnTo>
                <a:lnTo>
                  <a:pt x="381503" y="112585"/>
                </a:lnTo>
                <a:lnTo>
                  <a:pt x="396622" y="154885"/>
                </a:lnTo>
                <a:lnTo>
                  <a:pt x="401930" y="200965"/>
                </a:lnTo>
                <a:lnTo>
                  <a:pt x="396622" y="247044"/>
                </a:lnTo>
                <a:lnTo>
                  <a:pt x="381503" y="289344"/>
                </a:lnTo>
                <a:lnTo>
                  <a:pt x="357780" y="326658"/>
                </a:lnTo>
                <a:lnTo>
                  <a:pt x="326658" y="357780"/>
                </a:lnTo>
                <a:lnTo>
                  <a:pt x="289344" y="381503"/>
                </a:lnTo>
                <a:lnTo>
                  <a:pt x="247044" y="396622"/>
                </a:lnTo>
                <a:lnTo>
                  <a:pt x="200965" y="401930"/>
                </a:lnTo>
                <a:lnTo>
                  <a:pt x="154885" y="396622"/>
                </a:lnTo>
                <a:lnTo>
                  <a:pt x="112585" y="381503"/>
                </a:lnTo>
                <a:lnTo>
                  <a:pt x="75271" y="357780"/>
                </a:lnTo>
                <a:lnTo>
                  <a:pt x="44149" y="326658"/>
                </a:lnTo>
                <a:lnTo>
                  <a:pt x="20426" y="289344"/>
                </a:lnTo>
                <a:lnTo>
                  <a:pt x="5307" y="247044"/>
                </a:lnTo>
                <a:lnTo>
                  <a:pt x="0" y="2009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74771" y="4907776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4">
                <a:moveTo>
                  <a:pt x="0" y="200965"/>
                </a:moveTo>
                <a:lnTo>
                  <a:pt x="5307" y="154885"/>
                </a:lnTo>
                <a:lnTo>
                  <a:pt x="20426" y="112585"/>
                </a:lnTo>
                <a:lnTo>
                  <a:pt x="44149" y="75271"/>
                </a:lnTo>
                <a:lnTo>
                  <a:pt x="75271" y="44149"/>
                </a:lnTo>
                <a:lnTo>
                  <a:pt x="112585" y="20426"/>
                </a:lnTo>
                <a:lnTo>
                  <a:pt x="154885" y="5307"/>
                </a:lnTo>
                <a:lnTo>
                  <a:pt x="200965" y="0"/>
                </a:lnTo>
                <a:lnTo>
                  <a:pt x="247044" y="5307"/>
                </a:lnTo>
                <a:lnTo>
                  <a:pt x="289344" y="20426"/>
                </a:lnTo>
                <a:lnTo>
                  <a:pt x="326658" y="44149"/>
                </a:lnTo>
                <a:lnTo>
                  <a:pt x="357780" y="75271"/>
                </a:lnTo>
                <a:lnTo>
                  <a:pt x="381503" y="112585"/>
                </a:lnTo>
                <a:lnTo>
                  <a:pt x="396622" y="154885"/>
                </a:lnTo>
                <a:lnTo>
                  <a:pt x="401930" y="200965"/>
                </a:lnTo>
                <a:lnTo>
                  <a:pt x="396622" y="247044"/>
                </a:lnTo>
                <a:lnTo>
                  <a:pt x="381503" y="289344"/>
                </a:lnTo>
                <a:lnTo>
                  <a:pt x="357780" y="326658"/>
                </a:lnTo>
                <a:lnTo>
                  <a:pt x="326658" y="357780"/>
                </a:lnTo>
                <a:lnTo>
                  <a:pt x="289344" y="381503"/>
                </a:lnTo>
                <a:lnTo>
                  <a:pt x="247044" y="396622"/>
                </a:lnTo>
                <a:lnTo>
                  <a:pt x="200965" y="401930"/>
                </a:lnTo>
                <a:lnTo>
                  <a:pt x="154885" y="396622"/>
                </a:lnTo>
                <a:lnTo>
                  <a:pt x="112585" y="381503"/>
                </a:lnTo>
                <a:lnTo>
                  <a:pt x="75271" y="357780"/>
                </a:lnTo>
                <a:lnTo>
                  <a:pt x="44149" y="326658"/>
                </a:lnTo>
                <a:lnTo>
                  <a:pt x="20426" y="289344"/>
                </a:lnTo>
                <a:lnTo>
                  <a:pt x="5307" y="247044"/>
                </a:lnTo>
                <a:lnTo>
                  <a:pt x="0" y="2009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84417" y="4768629"/>
            <a:ext cx="0" cy="674370"/>
          </a:xfrm>
          <a:custGeom>
            <a:avLst/>
            <a:gdLst/>
            <a:ahLst/>
            <a:cxnLst/>
            <a:rect l="l" t="t" r="r" b="b"/>
            <a:pathLst>
              <a:path w="0" h="674370">
                <a:moveTo>
                  <a:pt x="0" y="0"/>
                </a:moveTo>
                <a:lnTo>
                  <a:pt x="1" y="67380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17840" y="4567664"/>
            <a:ext cx="565785" cy="399415"/>
          </a:xfrm>
          <a:custGeom>
            <a:avLst/>
            <a:gdLst/>
            <a:ahLst/>
            <a:cxnLst/>
            <a:rect l="l" t="t" r="r" b="b"/>
            <a:pathLst>
              <a:path w="565785" h="399414">
                <a:moveTo>
                  <a:pt x="565612" y="0"/>
                </a:moveTo>
                <a:lnTo>
                  <a:pt x="0" y="39897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17840" y="5250845"/>
            <a:ext cx="565785" cy="393065"/>
          </a:xfrm>
          <a:custGeom>
            <a:avLst/>
            <a:gdLst/>
            <a:ahLst/>
            <a:cxnLst/>
            <a:rect l="l" t="t" r="r" b="b"/>
            <a:pathLst>
              <a:path w="565785" h="393064">
                <a:moveTo>
                  <a:pt x="565612" y="392556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36554" y="5107495"/>
            <a:ext cx="1238250" cy="1270"/>
          </a:xfrm>
          <a:custGeom>
            <a:avLst/>
            <a:gdLst/>
            <a:ahLst/>
            <a:cxnLst/>
            <a:rect l="l" t="t" r="r" b="b"/>
            <a:pathLst>
              <a:path w="1238250" h="1270">
                <a:moveTo>
                  <a:pt x="0" y="0"/>
                </a:moveTo>
                <a:lnTo>
                  <a:pt x="1238217" y="124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14118" y="4388611"/>
            <a:ext cx="609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dirty="0" sz="2400" spc="5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baseline="11574" sz="3600" spc="-120">
                <a:latin typeface="Cambria Math"/>
                <a:cs typeface="Cambria Math"/>
              </a:rPr>
              <a:t>𝑣</a:t>
            </a:r>
            <a:r>
              <a:rPr dirty="0" sz="1800" spc="-8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118" y="5476747"/>
            <a:ext cx="2178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1255" y="4577588"/>
            <a:ext cx="1925955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>
              <a:lnSpc>
                <a:spcPts val="2510"/>
              </a:lnSpc>
              <a:spcBef>
                <a:spcPts val="100"/>
              </a:spcBef>
              <a:tabLst>
                <a:tab pos="1709420" algn="l"/>
              </a:tabLst>
            </a:pPr>
            <a:r>
              <a:rPr dirty="0" baseline="1157" sz="3600" spc="-135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dirty="0" baseline="1157" sz="3600" spc="-135">
                <a:solidFill>
                  <a:srgbClr val="C0504D"/>
                </a:solidFill>
                <a:latin typeface="Arial"/>
                <a:cs typeface="Arial"/>
              </a:rPr>
              <a:t>	</a:t>
            </a:r>
            <a:r>
              <a:rPr dirty="0" sz="2400" spc="-9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10"/>
              </a:lnSpc>
            </a:pPr>
            <a:r>
              <a:rPr dirty="0" sz="2400" spc="-95">
                <a:latin typeface="Cambria Math"/>
                <a:cs typeface="Cambria Math"/>
              </a:rPr>
              <a:t>𝑠</a:t>
            </a:r>
            <a:r>
              <a:rPr dirty="0" baseline="-15432" sz="2700" spc="-142">
                <a:latin typeface="Cambria Math"/>
                <a:cs typeface="Cambria Math"/>
              </a:rPr>
              <a:t>#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2430" y="4309364"/>
            <a:ext cx="6565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latin typeface="Cambria Math"/>
                <a:cs typeface="Cambria Math"/>
              </a:rPr>
              <a:t>𝑣</a:t>
            </a:r>
            <a:r>
              <a:rPr dirty="0" baseline="-15432" sz="2700" spc="75">
                <a:latin typeface="Cambria Math"/>
                <a:cs typeface="Cambria Math"/>
              </a:rPr>
              <a:t>$</a:t>
            </a:r>
            <a:r>
              <a:rPr dirty="0" baseline="-15432" sz="2700" spc="419">
                <a:latin typeface="Cambria Math"/>
                <a:cs typeface="Cambria Math"/>
              </a:rPr>
              <a:t> </a:t>
            </a:r>
            <a:r>
              <a:rPr dirty="0" baseline="-13888" sz="36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baseline="-13888" sz="3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68855" y="548894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09971" y="5708396"/>
            <a:ext cx="9696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">
                <a:latin typeface="Arial"/>
                <a:cs typeface="Arial"/>
              </a:rPr>
              <a:t>Anchor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197488" y="5308460"/>
            <a:ext cx="76200" cy="465455"/>
          </a:xfrm>
          <a:custGeom>
            <a:avLst/>
            <a:gdLst/>
            <a:ahLst/>
            <a:cxnLst/>
            <a:rect l="l" t="t" r="r" b="b"/>
            <a:pathLst>
              <a:path w="76200" h="465454">
                <a:moveTo>
                  <a:pt x="47625" y="63499"/>
                </a:moveTo>
                <a:lnTo>
                  <a:pt x="28575" y="63499"/>
                </a:lnTo>
                <a:lnTo>
                  <a:pt x="28576" y="464962"/>
                </a:lnTo>
                <a:lnTo>
                  <a:pt x="47626" y="464962"/>
                </a:lnTo>
                <a:lnTo>
                  <a:pt x="47625" y="63499"/>
                </a:lnTo>
                <a:close/>
              </a:path>
              <a:path w="76200" h="465454">
                <a:moveTo>
                  <a:pt x="38100" y="0"/>
                </a:moveTo>
                <a:lnTo>
                  <a:pt x="0" y="76199"/>
                </a:lnTo>
                <a:lnTo>
                  <a:pt x="28575" y="76199"/>
                </a:lnTo>
                <a:lnTo>
                  <a:pt x="28575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465454">
                <a:moveTo>
                  <a:pt x="69850" y="63499"/>
                </a:moveTo>
                <a:lnTo>
                  <a:pt x="47625" y="63499"/>
                </a:lnTo>
                <a:lnTo>
                  <a:pt x="47625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698740" y="4580896"/>
          <a:ext cx="1339850" cy="145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0311"/>
                <a:gridCol w="660311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400" spc="-114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>
                          <a:latin typeface="Cambria Math"/>
                          <a:cs typeface="Cambria Math"/>
                        </a:rPr>
                        <a:t>#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 spc="-8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432" sz="2700" spc="-120">
                          <a:latin typeface="Cambria Math"/>
                          <a:cs typeface="Cambria Math"/>
                        </a:rPr>
                        <a:t>#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5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432" sz="2700" spc="75">
                          <a:latin typeface="Cambria Math"/>
                          <a:cs typeface="Cambria Math"/>
                        </a:rPr>
                        <a:t>$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400">
                          <a:solidFill>
                            <a:srgbClr val="60B5C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429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25" name="object 25"/>
          <p:cNvSpPr txBox="1"/>
          <p:nvPr/>
        </p:nvSpPr>
        <p:spPr>
          <a:xfrm>
            <a:off x="618108" y="2536105"/>
            <a:ext cx="7174865" cy="160401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44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>
                <a:latin typeface="Calibri"/>
                <a:cs typeface="Calibri"/>
              </a:rPr>
              <a:t>An </a:t>
            </a:r>
            <a:r>
              <a:rPr dirty="0" sz="2800" spc="-5">
                <a:latin typeface="Calibri"/>
                <a:cs typeface="Calibri"/>
              </a:rPr>
              <a:t>anchor node </a:t>
            </a:r>
            <a:r>
              <a:rPr dirty="0" sz="2800" spc="-10">
                <a:latin typeface="Calibri"/>
                <a:cs typeface="Calibri"/>
              </a:rPr>
              <a:t>serves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coordinate</a:t>
            </a:r>
            <a:r>
              <a:rPr dirty="0" sz="2800" spc="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axis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Which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used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locate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nodes in the</a:t>
            </a:r>
            <a:r>
              <a:rPr dirty="0" sz="2400" spc="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914"/>
              </a:spcBef>
            </a:pPr>
            <a:r>
              <a:rPr dirty="0" sz="2400" spc="-50">
                <a:latin typeface="Calibri"/>
                <a:cs typeface="Calibri"/>
              </a:rPr>
              <a:t>R</a:t>
            </a:r>
            <a:r>
              <a:rPr dirty="0" sz="2400" spc="0">
                <a:latin typeface="Calibri"/>
                <a:cs typeface="Calibri"/>
              </a:rPr>
              <a:t>e</a:t>
            </a:r>
            <a:r>
              <a:rPr dirty="0" sz="2400" spc="-5">
                <a:latin typeface="Calibri"/>
                <a:cs typeface="Calibri"/>
              </a:rPr>
              <a:t>l</a:t>
            </a:r>
            <a:r>
              <a:rPr dirty="0" sz="2400" spc="-25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ti</a:t>
            </a:r>
            <a:r>
              <a:rPr dirty="0" sz="2400" spc="-25">
                <a:latin typeface="Calibri"/>
                <a:cs typeface="Calibri"/>
              </a:rPr>
              <a:t>v</a:t>
            </a:r>
            <a:r>
              <a:rPr dirty="0" sz="240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83830" y="4117340"/>
            <a:ext cx="1202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"/>
                <a:cs typeface="Calibri"/>
              </a:rPr>
              <a:t>D</a:t>
            </a:r>
            <a:r>
              <a:rPr dirty="0" sz="2400">
                <a:latin typeface="Calibri"/>
                <a:cs typeface="Calibri"/>
              </a:rPr>
              <a:t>i</a:t>
            </a:r>
            <a:r>
              <a:rPr dirty="0" sz="2400" spc="-30">
                <a:latin typeface="Calibri"/>
                <a:cs typeface="Calibri"/>
              </a:rPr>
              <a:t>s</a:t>
            </a:r>
            <a:r>
              <a:rPr dirty="0" sz="2400" spc="-35">
                <a:latin typeface="Calibri"/>
                <a:cs typeface="Calibri"/>
              </a:rPr>
              <a:t>t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5">
                <a:latin typeface="Calibri"/>
                <a:cs typeface="Calibri"/>
              </a:rPr>
              <a:t>c</a:t>
            </a:r>
            <a:r>
              <a:rPr dirty="0" sz="2400">
                <a:latin typeface="Calibri"/>
                <a:cs typeface="Calibri"/>
              </a:rPr>
              <a:t>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476402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731125" cy="1303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Pick </a:t>
            </a:r>
            <a:r>
              <a:rPr dirty="0" spc="-15" b="0">
                <a:latin typeface="Calibri"/>
                <a:cs typeface="Calibri"/>
              </a:rPr>
              <a:t>more </a:t>
            </a:r>
            <a:r>
              <a:rPr dirty="0" spc="-5" b="0">
                <a:latin typeface="Calibri"/>
                <a:cs typeface="Calibri"/>
              </a:rPr>
              <a:t>nodes </a:t>
            </a:r>
            <a:r>
              <a:rPr dirty="0" spc="-225" b="0">
                <a:latin typeface="Cambria Math"/>
                <a:cs typeface="Cambria Math"/>
              </a:rPr>
              <a:t>𝑠</a:t>
            </a:r>
            <a:r>
              <a:rPr dirty="0" baseline="-16666" sz="3000" spc="-337" b="0">
                <a:latin typeface="Cambria Math"/>
                <a:cs typeface="Cambria Math"/>
              </a:rPr>
              <a:t>%</a:t>
            </a:r>
            <a:r>
              <a:rPr dirty="0" sz="2800" spc="-225" b="0">
                <a:latin typeface="Cambria Math"/>
                <a:cs typeface="Cambria Math"/>
              </a:rPr>
              <a:t>, </a:t>
            </a:r>
            <a:r>
              <a:rPr dirty="0" sz="2800" spc="-150" b="0">
                <a:latin typeface="Cambria Math"/>
                <a:cs typeface="Cambria Math"/>
              </a:rPr>
              <a:t>𝑠</a:t>
            </a:r>
            <a:r>
              <a:rPr dirty="0" baseline="-16666" sz="3000" spc="-225" b="0">
                <a:latin typeface="Cambria Math"/>
                <a:cs typeface="Cambria Math"/>
              </a:rPr>
              <a:t>&amp;  </a:t>
            </a:r>
            <a:r>
              <a:rPr dirty="0" sz="2800" spc="-5" b="0">
                <a:latin typeface="Calibri"/>
                <a:cs typeface="Calibri"/>
              </a:rPr>
              <a:t>as </a:t>
            </a:r>
            <a:r>
              <a:rPr dirty="0" sz="2800" spc="-5">
                <a:solidFill>
                  <a:srgbClr val="C00000"/>
                </a:solidFill>
              </a:rPr>
              <a:t>anchor</a:t>
            </a:r>
            <a:r>
              <a:rPr dirty="0" sz="2800" spc="75">
                <a:solidFill>
                  <a:srgbClr val="C00000"/>
                </a:solidFill>
              </a:rPr>
              <a:t> </a:t>
            </a:r>
            <a:r>
              <a:rPr dirty="0" sz="2800" spc="-5">
                <a:solidFill>
                  <a:srgbClr val="C00000"/>
                </a:solidFill>
              </a:rPr>
              <a:t>nodes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290"/>
              </a:lnSpc>
              <a:spcBef>
                <a:spcPts val="21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10">
                <a:solidFill>
                  <a:srgbClr val="C00000"/>
                </a:solidFill>
              </a:rPr>
              <a:t>Observation: </a:t>
            </a:r>
            <a:r>
              <a:rPr dirty="0" spc="-10" b="0">
                <a:latin typeface="Calibri"/>
                <a:cs typeface="Calibri"/>
              </a:rPr>
              <a:t>More anchors can </a:t>
            </a:r>
            <a:r>
              <a:rPr dirty="0" spc="-20" b="0">
                <a:latin typeface="Calibri"/>
                <a:cs typeface="Calibri"/>
              </a:rPr>
              <a:t>better characterize  </a:t>
            </a:r>
            <a:r>
              <a:rPr dirty="0" spc="-5" b="0">
                <a:latin typeface="Calibri"/>
                <a:cs typeface="Calibri"/>
              </a:rPr>
              <a:t>node position in </a:t>
            </a:r>
            <a:r>
              <a:rPr dirty="0" spc="-25" b="0">
                <a:latin typeface="Calibri"/>
                <a:cs typeface="Calibri"/>
              </a:rPr>
              <a:t>different </a:t>
            </a:r>
            <a:r>
              <a:rPr dirty="0" spc="-10" b="0">
                <a:latin typeface="Calibri"/>
                <a:cs typeface="Calibri"/>
              </a:rPr>
              <a:t>regions </a:t>
            </a:r>
            <a:r>
              <a:rPr dirty="0" spc="-5" b="0">
                <a:latin typeface="Calibri"/>
                <a:cs typeface="Calibri"/>
              </a:rPr>
              <a:t>of the</a:t>
            </a:r>
            <a:r>
              <a:rPr dirty="0" spc="50" b="0">
                <a:latin typeface="Calibri"/>
                <a:cs typeface="Calibri"/>
              </a:rPr>
              <a:t> </a:t>
            </a:r>
            <a:r>
              <a:rPr dirty="0" spc="-15" b="0">
                <a:latin typeface="Calibri"/>
                <a:cs typeface="Calibri"/>
              </a:rPr>
              <a:t>graph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59870" y="4424105"/>
          <a:ext cx="1778635" cy="145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445"/>
                <a:gridCol w="586445"/>
                <a:gridCol w="586445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-95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 spc="-142">
                          <a:latin typeface="Cambria Math"/>
                          <a:cs typeface="Cambria Math"/>
                        </a:rPr>
                        <a:t>#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30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 spc="44">
                          <a:latin typeface="Cambria Math"/>
                          <a:cs typeface="Cambria Math"/>
                        </a:rPr>
                        <a:t>$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spc="-8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432" sz="2700" spc="-120">
                          <a:latin typeface="Cambria Math"/>
                          <a:cs typeface="Cambria Math"/>
                        </a:rPr>
                        <a:t>#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400" spc="5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432" sz="2700" spc="75">
                          <a:latin typeface="Cambria Math"/>
                          <a:cs typeface="Cambria Math"/>
                        </a:rPr>
                        <a:t>$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solidFill>
                            <a:srgbClr val="60B5C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solidFill>
                            <a:srgbClr val="60B5C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264061" y="4402621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194765"/>
                </a:moveTo>
                <a:lnTo>
                  <a:pt x="5143" y="150107"/>
                </a:lnTo>
                <a:lnTo>
                  <a:pt x="19796" y="109112"/>
                </a:lnTo>
                <a:lnTo>
                  <a:pt x="42787" y="72949"/>
                </a:lnTo>
                <a:lnTo>
                  <a:pt x="72949" y="42787"/>
                </a:lnTo>
                <a:lnTo>
                  <a:pt x="109112" y="19796"/>
                </a:lnTo>
                <a:lnTo>
                  <a:pt x="150107" y="5143"/>
                </a:lnTo>
                <a:lnTo>
                  <a:pt x="194765" y="0"/>
                </a:lnTo>
                <a:lnTo>
                  <a:pt x="239423" y="5143"/>
                </a:lnTo>
                <a:lnTo>
                  <a:pt x="280418" y="19796"/>
                </a:lnTo>
                <a:lnTo>
                  <a:pt x="316581" y="42787"/>
                </a:lnTo>
                <a:lnTo>
                  <a:pt x="346743" y="72949"/>
                </a:lnTo>
                <a:lnTo>
                  <a:pt x="369734" y="109112"/>
                </a:lnTo>
                <a:lnTo>
                  <a:pt x="384387" y="150107"/>
                </a:lnTo>
                <a:lnTo>
                  <a:pt x="389531" y="194765"/>
                </a:lnTo>
                <a:lnTo>
                  <a:pt x="384387" y="239423"/>
                </a:lnTo>
                <a:lnTo>
                  <a:pt x="369734" y="280418"/>
                </a:lnTo>
                <a:lnTo>
                  <a:pt x="346743" y="316581"/>
                </a:lnTo>
                <a:lnTo>
                  <a:pt x="316581" y="346743"/>
                </a:lnTo>
                <a:lnTo>
                  <a:pt x="280418" y="369734"/>
                </a:lnTo>
                <a:lnTo>
                  <a:pt x="239423" y="384387"/>
                </a:lnTo>
                <a:lnTo>
                  <a:pt x="194765" y="389531"/>
                </a:lnTo>
                <a:lnTo>
                  <a:pt x="150107" y="384387"/>
                </a:lnTo>
                <a:lnTo>
                  <a:pt x="109112" y="369734"/>
                </a:lnTo>
                <a:lnTo>
                  <a:pt x="72949" y="346743"/>
                </a:lnTo>
                <a:lnTo>
                  <a:pt x="42787" y="316581"/>
                </a:lnTo>
                <a:lnTo>
                  <a:pt x="19796" y="280418"/>
                </a:lnTo>
                <a:lnTo>
                  <a:pt x="5143" y="239423"/>
                </a:lnTo>
                <a:lnTo>
                  <a:pt x="0" y="1947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64061" y="5455418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194765"/>
                </a:moveTo>
                <a:lnTo>
                  <a:pt x="5143" y="150107"/>
                </a:lnTo>
                <a:lnTo>
                  <a:pt x="19796" y="109112"/>
                </a:lnTo>
                <a:lnTo>
                  <a:pt x="42787" y="72949"/>
                </a:lnTo>
                <a:lnTo>
                  <a:pt x="72949" y="42787"/>
                </a:lnTo>
                <a:lnTo>
                  <a:pt x="109112" y="19796"/>
                </a:lnTo>
                <a:lnTo>
                  <a:pt x="150107" y="5143"/>
                </a:lnTo>
                <a:lnTo>
                  <a:pt x="194765" y="0"/>
                </a:lnTo>
                <a:lnTo>
                  <a:pt x="239423" y="5143"/>
                </a:lnTo>
                <a:lnTo>
                  <a:pt x="280418" y="19796"/>
                </a:lnTo>
                <a:lnTo>
                  <a:pt x="316581" y="42787"/>
                </a:lnTo>
                <a:lnTo>
                  <a:pt x="346743" y="72949"/>
                </a:lnTo>
                <a:lnTo>
                  <a:pt x="369734" y="109112"/>
                </a:lnTo>
                <a:lnTo>
                  <a:pt x="384387" y="150107"/>
                </a:lnTo>
                <a:lnTo>
                  <a:pt x="389531" y="194765"/>
                </a:lnTo>
                <a:lnTo>
                  <a:pt x="384387" y="239423"/>
                </a:lnTo>
                <a:lnTo>
                  <a:pt x="369734" y="280418"/>
                </a:lnTo>
                <a:lnTo>
                  <a:pt x="346743" y="316581"/>
                </a:lnTo>
                <a:lnTo>
                  <a:pt x="316581" y="346743"/>
                </a:lnTo>
                <a:lnTo>
                  <a:pt x="280418" y="369734"/>
                </a:lnTo>
                <a:lnTo>
                  <a:pt x="239423" y="384387"/>
                </a:lnTo>
                <a:lnTo>
                  <a:pt x="194765" y="389531"/>
                </a:lnTo>
                <a:lnTo>
                  <a:pt x="150107" y="384387"/>
                </a:lnTo>
                <a:lnTo>
                  <a:pt x="109112" y="369734"/>
                </a:lnTo>
                <a:lnTo>
                  <a:pt x="72949" y="346743"/>
                </a:lnTo>
                <a:lnTo>
                  <a:pt x="42787" y="316581"/>
                </a:lnTo>
                <a:lnTo>
                  <a:pt x="19796" y="280418"/>
                </a:lnTo>
                <a:lnTo>
                  <a:pt x="5143" y="239423"/>
                </a:lnTo>
                <a:lnTo>
                  <a:pt x="0" y="1947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04876" y="4921996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194765"/>
                </a:moveTo>
                <a:lnTo>
                  <a:pt x="5143" y="150107"/>
                </a:lnTo>
                <a:lnTo>
                  <a:pt x="19796" y="109112"/>
                </a:lnTo>
                <a:lnTo>
                  <a:pt x="42787" y="72949"/>
                </a:lnTo>
                <a:lnTo>
                  <a:pt x="72949" y="42787"/>
                </a:lnTo>
                <a:lnTo>
                  <a:pt x="109112" y="19796"/>
                </a:lnTo>
                <a:lnTo>
                  <a:pt x="150107" y="5143"/>
                </a:lnTo>
                <a:lnTo>
                  <a:pt x="194765" y="0"/>
                </a:lnTo>
                <a:lnTo>
                  <a:pt x="239423" y="5143"/>
                </a:lnTo>
                <a:lnTo>
                  <a:pt x="280418" y="19796"/>
                </a:lnTo>
                <a:lnTo>
                  <a:pt x="316581" y="42787"/>
                </a:lnTo>
                <a:lnTo>
                  <a:pt x="346743" y="72949"/>
                </a:lnTo>
                <a:lnTo>
                  <a:pt x="369734" y="109112"/>
                </a:lnTo>
                <a:lnTo>
                  <a:pt x="384387" y="150107"/>
                </a:lnTo>
                <a:lnTo>
                  <a:pt x="389531" y="194765"/>
                </a:lnTo>
                <a:lnTo>
                  <a:pt x="384387" y="239423"/>
                </a:lnTo>
                <a:lnTo>
                  <a:pt x="369734" y="280418"/>
                </a:lnTo>
                <a:lnTo>
                  <a:pt x="346743" y="316581"/>
                </a:lnTo>
                <a:lnTo>
                  <a:pt x="316581" y="346743"/>
                </a:lnTo>
                <a:lnTo>
                  <a:pt x="280418" y="369734"/>
                </a:lnTo>
                <a:lnTo>
                  <a:pt x="239423" y="384387"/>
                </a:lnTo>
                <a:lnTo>
                  <a:pt x="194765" y="389531"/>
                </a:lnTo>
                <a:lnTo>
                  <a:pt x="150107" y="384387"/>
                </a:lnTo>
                <a:lnTo>
                  <a:pt x="109112" y="369734"/>
                </a:lnTo>
                <a:lnTo>
                  <a:pt x="72949" y="346743"/>
                </a:lnTo>
                <a:lnTo>
                  <a:pt x="42787" y="316581"/>
                </a:lnTo>
                <a:lnTo>
                  <a:pt x="19796" y="280418"/>
                </a:lnTo>
                <a:lnTo>
                  <a:pt x="5143" y="239423"/>
                </a:lnTo>
                <a:lnTo>
                  <a:pt x="0" y="1947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58827" y="4792153"/>
            <a:ext cx="0" cy="663575"/>
          </a:xfrm>
          <a:custGeom>
            <a:avLst/>
            <a:gdLst/>
            <a:ahLst/>
            <a:cxnLst/>
            <a:rect l="l" t="t" r="r" b="b"/>
            <a:pathLst>
              <a:path w="0" h="663575">
                <a:moveTo>
                  <a:pt x="0" y="0"/>
                </a:moveTo>
                <a:lnTo>
                  <a:pt x="1" y="66326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53593" y="4597387"/>
            <a:ext cx="508634" cy="382270"/>
          </a:xfrm>
          <a:custGeom>
            <a:avLst/>
            <a:gdLst/>
            <a:ahLst/>
            <a:cxnLst/>
            <a:rect l="l" t="t" r="r" b="b"/>
            <a:pathLst>
              <a:path w="508635" h="382270">
                <a:moveTo>
                  <a:pt x="0" y="0"/>
                </a:moveTo>
                <a:lnTo>
                  <a:pt x="508328" y="38165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53593" y="5254482"/>
            <a:ext cx="508634" cy="396240"/>
          </a:xfrm>
          <a:custGeom>
            <a:avLst/>
            <a:gdLst/>
            <a:ahLst/>
            <a:cxnLst/>
            <a:rect l="l" t="t" r="r" b="b"/>
            <a:pathLst>
              <a:path w="508635" h="396239">
                <a:moveTo>
                  <a:pt x="0" y="395701"/>
                </a:moveTo>
                <a:lnTo>
                  <a:pt x="50832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75075" y="4398817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194765"/>
                </a:moveTo>
                <a:lnTo>
                  <a:pt x="5143" y="150107"/>
                </a:lnTo>
                <a:lnTo>
                  <a:pt x="19796" y="109112"/>
                </a:lnTo>
                <a:lnTo>
                  <a:pt x="42787" y="72949"/>
                </a:lnTo>
                <a:lnTo>
                  <a:pt x="72949" y="42787"/>
                </a:lnTo>
                <a:lnTo>
                  <a:pt x="109112" y="19796"/>
                </a:lnTo>
                <a:lnTo>
                  <a:pt x="150107" y="5143"/>
                </a:lnTo>
                <a:lnTo>
                  <a:pt x="194765" y="0"/>
                </a:lnTo>
                <a:lnTo>
                  <a:pt x="239423" y="5143"/>
                </a:lnTo>
                <a:lnTo>
                  <a:pt x="280418" y="19796"/>
                </a:lnTo>
                <a:lnTo>
                  <a:pt x="316581" y="42787"/>
                </a:lnTo>
                <a:lnTo>
                  <a:pt x="346743" y="72949"/>
                </a:lnTo>
                <a:lnTo>
                  <a:pt x="369734" y="109112"/>
                </a:lnTo>
                <a:lnTo>
                  <a:pt x="384387" y="150107"/>
                </a:lnTo>
                <a:lnTo>
                  <a:pt x="389531" y="194765"/>
                </a:lnTo>
                <a:lnTo>
                  <a:pt x="384387" y="239423"/>
                </a:lnTo>
                <a:lnTo>
                  <a:pt x="369734" y="280418"/>
                </a:lnTo>
                <a:lnTo>
                  <a:pt x="346743" y="316581"/>
                </a:lnTo>
                <a:lnTo>
                  <a:pt x="316581" y="346743"/>
                </a:lnTo>
                <a:lnTo>
                  <a:pt x="280418" y="369734"/>
                </a:lnTo>
                <a:lnTo>
                  <a:pt x="239423" y="384387"/>
                </a:lnTo>
                <a:lnTo>
                  <a:pt x="194765" y="389531"/>
                </a:lnTo>
                <a:lnTo>
                  <a:pt x="150107" y="384387"/>
                </a:lnTo>
                <a:lnTo>
                  <a:pt x="109112" y="369734"/>
                </a:lnTo>
                <a:lnTo>
                  <a:pt x="72949" y="346743"/>
                </a:lnTo>
                <a:lnTo>
                  <a:pt x="42787" y="316581"/>
                </a:lnTo>
                <a:lnTo>
                  <a:pt x="19796" y="280418"/>
                </a:lnTo>
                <a:lnTo>
                  <a:pt x="5143" y="239423"/>
                </a:lnTo>
                <a:lnTo>
                  <a:pt x="0" y="1947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75075" y="5441370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194765"/>
                </a:moveTo>
                <a:lnTo>
                  <a:pt x="5143" y="150107"/>
                </a:lnTo>
                <a:lnTo>
                  <a:pt x="19796" y="109112"/>
                </a:lnTo>
                <a:lnTo>
                  <a:pt x="42787" y="72949"/>
                </a:lnTo>
                <a:lnTo>
                  <a:pt x="72949" y="42787"/>
                </a:lnTo>
                <a:lnTo>
                  <a:pt x="109112" y="19796"/>
                </a:lnTo>
                <a:lnTo>
                  <a:pt x="150107" y="5143"/>
                </a:lnTo>
                <a:lnTo>
                  <a:pt x="194765" y="0"/>
                </a:lnTo>
                <a:lnTo>
                  <a:pt x="239423" y="5143"/>
                </a:lnTo>
                <a:lnTo>
                  <a:pt x="280418" y="19796"/>
                </a:lnTo>
                <a:lnTo>
                  <a:pt x="316581" y="42787"/>
                </a:lnTo>
                <a:lnTo>
                  <a:pt x="346743" y="72949"/>
                </a:lnTo>
                <a:lnTo>
                  <a:pt x="369734" y="109112"/>
                </a:lnTo>
                <a:lnTo>
                  <a:pt x="384387" y="150107"/>
                </a:lnTo>
                <a:lnTo>
                  <a:pt x="389531" y="194765"/>
                </a:lnTo>
                <a:lnTo>
                  <a:pt x="384387" y="239423"/>
                </a:lnTo>
                <a:lnTo>
                  <a:pt x="369734" y="280418"/>
                </a:lnTo>
                <a:lnTo>
                  <a:pt x="346743" y="316581"/>
                </a:lnTo>
                <a:lnTo>
                  <a:pt x="316581" y="346743"/>
                </a:lnTo>
                <a:lnTo>
                  <a:pt x="280418" y="369734"/>
                </a:lnTo>
                <a:lnTo>
                  <a:pt x="239423" y="384387"/>
                </a:lnTo>
                <a:lnTo>
                  <a:pt x="194765" y="389531"/>
                </a:lnTo>
                <a:lnTo>
                  <a:pt x="150107" y="384387"/>
                </a:lnTo>
                <a:lnTo>
                  <a:pt x="109112" y="369734"/>
                </a:lnTo>
                <a:lnTo>
                  <a:pt x="72949" y="346743"/>
                </a:lnTo>
                <a:lnTo>
                  <a:pt x="42787" y="316581"/>
                </a:lnTo>
                <a:lnTo>
                  <a:pt x="19796" y="280418"/>
                </a:lnTo>
                <a:lnTo>
                  <a:pt x="5143" y="239423"/>
                </a:lnTo>
                <a:lnTo>
                  <a:pt x="0" y="1947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94427" y="4923204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194765"/>
                </a:moveTo>
                <a:lnTo>
                  <a:pt x="5143" y="150107"/>
                </a:lnTo>
                <a:lnTo>
                  <a:pt x="19796" y="109112"/>
                </a:lnTo>
                <a:lnTo>
                  <a:pt x="42787" y="72949"/>
                </a:lnTo>
                <a:lnTo>
                  <a:pt x="72949" y="42787"/>
                </a:lnTo>
                <a:lnTo>
                  <a:pt x="109112" y="19796"/>
                </a:lnTo>
                <a:lnTo>
                  <a:pt x="150107" y="5143"/>
                </a:lnTo>
                <a:lnTo>
                  <a:pt x="194765" y="0"/>
                </a:lnTo>
                <a:lnTo>
                  <a:pt x="239423" y="5143"/>
                </a:lnTo>
                <a:lnTo>
                  <a:pt x="280418" y="19796"/>
                </a:lnTo>
                <a:lnTo>
                  <a:pt x="316581" y="42787"/>
                </a:lnTo>
                <a:lnTo>
                  <a:pt x="346743" y="72949"/>
                </a:lnTo>
                <a:lnTo>
                  <a:pt x="369734" y="109112"/>
                </a:lnTo>
                <a:lnTo>
                  <a:pt x="384387" y="150107"/>
                </a:lnTo>
                <a:lnTo>
                  <a:pt x="389531" y="194765"/>
                </a:lnTo>
                <a:lnTo>
                  <a:pt x="384387" y="239423"/>
                </a:lnTo>
                <a:lnTo>
                  <a:pt x="369734" y="280418"/>
                </a:lnTo>
                <a:lnTo>
                  <a:pt x="346743" y="316581"/>
                </a:lnTo>
                <a:lnTo>
                  <a:pt x="316581" y="346743"/>
                </a:lnTo>
                <a:lnTo>
                  <a:pt x="280418" y="369734"/>
                </a:lnTo>
                <a:lnTo>
                  <a:pt x="239423" y="384387"/>
                </a:lnTo>
                <a:lnTo>
                  <a:pt x="194765" y="389531"/>
                </a:lnTo>
                <a:lnTo>
                  <a:pt x="150107" y="384387"/>
                </a:lnTo>
                <a:lnTo>
                  <a:pt x="109112" y="369734"/>
                </a:lnTo>
                <a:lnTo>
                  <a:pt x="72949" y="346743"/>
                </a:lnTo>
                <a:lnTo>
                  <a:pt x="42787" y="316581"/>
                </a:lnTo>
                <a:lnTo>
                  <a:pt x="19796" y="280418"/>
                </a:lnTo>
                <a:lnTo>
                  <a:pt x="5143" y="239423"/>
                </a:lnTo>
                <a:lnTo>
                  <a:pt x="0" y="1947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69841" y="4788348"/>
            <a:ext cx="0" cy="653415"/>
          </a:xfrm>
          <a:custGeom>
            <a:avLst/>
            <a:gdLst/>
            <a:ahLst/>
            <a:cxnLst/>
            <a:rect l="l" t="t" r="r" b="b"/>
            <a:pathLst>
              <a:path w="0" h="653414">
                <a:moveTo>
                  <a:pt x="0" y="0"/>
                </a:moveTo>
                <a:lnTo>
                  <a:pt x="1" y="65302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26913" y="4593582"/>
            <a:ext cx="548640" cy="386715"/>
          </a:xfrm>
          <a:custGeom>
            <a:avLst/>
            <a:gdLst/>
            <a:ahLst/>
            <a:cxnLst/>
            <a:rect l="l" t="t" r="r" b="b"/>
            <a:pathLst>
              <a:path w="548639" h="386714">
                <a:moveTo>
                  <a:pt x="548164" y="0"/>
                </a:moveTo>
                <a:lnTo>
                  <a:pt x="0" y="38666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26913" y="5255690"/>
            <a:ext cx="548640" cy="381000"/>
          </a:xfrm>
          <a:custGeom>
            <a:avLst/>
            <a:gdLst/>
            <a:ahLst/>
            <a:cxnLst/>
            <a:rect l="l" t="t" r="r" b="b"/>
            <a:pathLst>
              <a:path w="548639" h="381000">
                <a:moveTo>
                  <a:pt x="548164" y="380446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94407" y="5116761"/>
            <a:ext cx="1200150" cy="1270"/>
          </a:xfrm>
          <a:custGeom>
            <a:avLst/>
            <a:gdLst/>
            <a:ahLst/>
            <a:cxnLst/>
            <a:rect l="l" t="t" r="r" b="b"/>
            <a:pathLst>
              <a:path w="1200150" h="1270">
                <a:moveTo>
                  <a:pt x="0" y="0"/>
                </a:moveTo>
                <a:lnTo>
                  <a:pt x="1200020" y="120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21362" y="4419091"/>
            <a:ext cx="593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dirty="0" sz="2400" spc="-75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baseline="12731" sz="3600" spc="-120">
                <a:latin typeface="Cambria Math"/>
                <a:cs typeface="Cambria Math"/>
              </a:rPr>
              <a:t>𝑣</a:t>
            </a:r>
            <a:r>
              <a:rPr dirty="0" baseline="1543" sz="2700" spc="-120">
                <a:latin typeface="Cambria Math"/>
                <a:cs typeface="Cambria Math"/>
              </a:rPr>
              <a:t>#</a:t>
            </a:r>
            <a:endParaRPr baseline="1543" sz="27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1362" y="5473700"/>
            <a:ext cx="2178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51333" y="4605020"/>
            <a:ext cx="294005" cy="644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4769">
              <a:lnSpc>
                <a:spcPts val="2435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435"/>
              </a:lnSpc>
            </a:pPr>
            <a:r>
              <a:rPr dirty="0" sz="2400" spc="-55">
                <a:latin typeface="Cambria Math"/>
                <a:cs typeface="Cambria Math"/>
              </a:rPr>
              <a:t>𝑠</a:t>
            </a:r>
            <a:r>
              <a:rPr dirty="0" baseline="-15432" sz="2700" spc="187">
                <a:latin typeface="Cambria Math"/>
                <a:cs typeface="Cambria Math"/>
              </a:rPr>
              <a:t>$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65306" y="4595876"/>
            <a:ext cx="284480" cy="653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660">
              <a:lnSpc>
                <a:spcPts val="247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470"/>
              </a:lnSpc>
            </a:pPr>
            <a:r>
              <a:rPr dirty="0" sz="2400" spc="-114">
                <a:latin typeface="Cambria Math"/>
                <a:cs typeface="Cambria Math"/>
              </a:rPr>
              <a:t>𝑠</a:t>
            </a:r>
            <a:r>
              <a:rPr dirty="0" baseline="-15432" sz="2700" spc="-112">
                <a:latin typeface="Cambria Math"/>
                <a:cs typeface="Cambria Math"/>
              </a:rPr>
              <a:t>#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17853" y="4333747"/>
            <a:ext cx="650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latin typeface="Cambria Math"/>
                <a:cs typeface="Cambria Math"/>
              </a:rPr>
              <a:t>𝑣</a:t>
            </a:r>
            <a:r>
              <a:rPr dirty="0" baseline="-15432" sz="2700" spc="75">
                <a:latin typeface="Cambria Math"/>
                <a:cs typeface="Cambria Math"/>
              </a:rPr>
              <a:t>$</a:t>
            </a:r>
            <a:r>
              <a:rPr dirty="0" baseline="-15432" sz="2700" spc="375">
                <a:latin typeface="Cambria Math"/>
                <a:cs typeface="Cambria Math"/>
              </a:rPr>
              <a:t> </a:t>
            </a:r>
            <a:r>
              <a:rPr dirty="0" baseline="-15046" sz="36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baseline="-15046" sz="3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47934" y="548589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6495" y="5699252"/>
            <a:ext cx="9696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">
                <a:latin typeface="Arial"/>
                <a:cs typeface="Arial"/>
              </a:rPr>
              <a:t>Anchor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61539" y="5311527"/>
            <a:ext cx="76200" cy="450850"/>
          </a:xfrm>
          <a:custGeom>
            <a:avLst/>
            <a:gdLst/>
            <a:ahLst/>
            <a:cxnLst/>
            <a:rect l="l" t="t" r="r" b="b"/>
            <a:pathLst>
              <a:path w="76200" h="450850">
                <a:moveTo>
                  <a:pt x="47625" y="63500"/>
                </a:moveTo>
                <a:lnTo>
                  <a:pt x="28575" y="63500"/>
                </a:lnTo>
                <a:lnTo>
                  <a:pt x="28576" y="450619"/>
                </a:lnTo>
                <a:lnTo>
                  <a:pt x="47626" y="450619"/>
                </a:lnTo>
                <a:lnTo>
                  <a:pt x="47625" y="63500"/>
                </a:lnTo>
                <a:close/>
              </a:path>
              <a:path w="76200" h="450850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50850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582920" y="5696203"/>
            <a:ext cx="9696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">
                <a:latin typeface="Arial"/>
                <a:cs typeface="Arial"/>
              </a:rPr>
              <a:t>Anchor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851090" y="5312736"/>
            <a:ext cx="76200" cy="447040"/>
          </a:xfrm>
          <a:custGeom>
            <a:avLst/>
            <a:gdLst/>
            <a:ahLst/>
            <a:cxnLst/>
            <a:rect l="l" t="t" r="r" b="b"/>
            <a:pathLst>
              <a:path w="76200" h="447039">
                <a:moveTo>
                  <a:pt x="47625" y="76199"/>
                </a:moveTo>
                <a:lnTo>
                  <a:pt x="28575" y="76199"/>
                </a:lnTo>
                <a:lnTo>
                  <a:pt x="28576" y="446586"/>
                </a:lnTo>
                <a:lnTo>
                  <a:pt x="47626" y="446586"/>
                </a:lnTo>
                <a:lnTo>
                  <a:pt x="47625" y="76199"/>
                </a:lnTo>
                <a:close/>
              </a:path>
              <a:path w="76200" h="447039">
                <a:moveTo>
                  <a:pt x="38100" y="0"/>
                </a:moveTo>
                <a:lnTo>
                  <a:pt x="0" y="76200"/>
                </a:lnTo>
                <a:lnTo>
                  <a:pt x="28575" y="76199"/>
                </a:lnTo>
                <a:lnTo>
                  <a:pt x="28575" y="63500"/>
                </a:lnTo>
                <a:lnTo>
                  <a:pt x="69849" y="63498"/>
                </a:lnTo>
                <a:lnTo>
                  <a:pt x="38100" y="0"/>
                </a:lnTo>
                <a:close/>
              </a:path>
              <a:path w="76200" h="447039">
                <a:moveTo>
                  <a:pt x="47625" y="63498"/>
                </a:moveTo>
                <a:lnTo>
                  <a:pt x="28575" y="63500"/>
                </a:lnTo>
                <a:lnTo>
                  <a:pt x="28575" y="76199"/>
                </a:lnTo>
                <a:lnTo>
                  <a:pt x="47625" y="76199"/>
                </a:lnTo>
                <a:lnTo>
                  <a:pt x="47625" y="63498"/>
                </a:lnTo>
                <a:close/>
              </a:path>
              <a:path w="76200" h="447039">
                <a:moveTo>
                  <a:pt x="69849" y="63498"/>
                </a:moveTo>
                <a:lnTo>
                  <a:pt x="47625" y="63498"/>
                </a:lnTo>
                <a:lnTo>
                  <a:pt x="47625" y="76199"/>
                </a:lnTo>
                <a:lnTo>
                  <a:pt x="76200" y="76198"/>
                </a:lnTo>
                <a:lnTo>
                  <a:pt x="69849" y="634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18108" y="2630931"/>
            <a:ext cx="7424420" cy="17773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10">
                <a:latin typeface="Calibri"/>
                <a:cs typeface="Calibri"/>
              </a:rPr>
              <a:t>anchors </a:t>
            </a:r>
            <a:r>
              <a:rPr dirty="0" sz="2800">
                <a:latin typeface="Calibri"/>
                <a:cs typeface="Calibri"/>
              </a:rPr>
              <a:t>–&gt; </a:t>
            </a:r>
            <a:r>
              <a:rPr dirty="0" sz="2800" spc="-15">
                <a:latin typeface="Calibri"/>
                <a:cs typeface="Calibri"/>
              </a:rPr>
              <a:t>Many coordinate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axes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00">
              <a:latin typeface="Times New Roman"/>
              <a:cs typeface="Times New Roman"/>
            </a:endParaRPr>
          </a:p>
          <a:p>
            <a:pPr marL="6233795" marR="5080">
              <a:lnSpc>
                <a:spcPct val="100800"/>
              </a:lnSpc>
            </a:pPr>
            <a:r>
              <a:rPr dirty="0" sz="2400" spc="-15">
                <a:latin typeface="Calibri"/>
                <a:cs typeface="Calibri"/>
              </a:rPr>
              <a:t>Relative  </a:t>
            </a:r>
            <a:r>
              <a:rPr dirty="0" sz="2400" spc="-5">
                <a:latin typeface="Calibri"/>
                <a:cs typeface="Calibri"/>
              </a:rPr>
              <a:t>D</a:t>
            </a:r>
            <a:r>
              <a:rPr dirty="0" sz="2400">
                <a:latin typeface="Calibri"/>
                <a:cs typeface="Calibri"/>
              </a:rPr>
              <a:t>i</a:t>
            </a:r>
            <a:r>
              <a:rPr dirty="0" sz="2400" spc="-30">
                <a:latin typeface="Calibri"/>
                <a:cs typeface="Calibri"/>
              </a:rPr>
              <a:t>s</a:t>
            </a:r>
            <a:r>
              <a:rPr dirty="0" sz="2400" spc="-35">
                <a:latin typeface="Calibri"/>
                <a:cs typeface="Calibri"/>
              </a:rPr>
              <a:t>t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5">
                <a:latin typeface="Calibri"/>
                <a:cs typeface="Calibri"/>
              </a:rPr>
              <a:t>c</a:t>
            </a:r>
            <a:r>
              <a:rPr dirty="0" sz="2400">
                <a:latin typeface="Calibri"/>
                <a:cs typeface="Calibri"/>
              </a:rPr>
              <a:t>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67842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8236584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20" b="0">
                <a:latin typeface="Calibri"/>
                <a:cs typeface="Calibri"/>
              </a:rPr>
              <a:t>Generalize </a:t>
            </a:r>
            <a:r>
              <a:rPr dirty="0" spc="-5" b="0">
                <a:latin typeface="Calibri"/>
                <a:cs typeface="Calibri"/>
              </a:rPr>
              <a:t>anchor </a:t>
            </a:r>
            <a:r>
              <a:rPr dirty="0" spc="-15" b="0">
                <a:latin typeface="Calibri"/>
                <a:cs typeface="Calibri"/>
              </a:rPr>
              <a:t>from </a:t>
            </a:r>
            <a:r>
              <a:rPr dirty="0" b="0">
                <a:latin typeface="Calibri"/>
                <a:cs typeface="Calibri"/>
              </a:rPr>
              <a:t>a </a:t>
            </a:r>
            <a:r>
              <a:rPr dirty="0" spc="-5" b="0">
                <a:latin typeface="Calibri"/>
                <a:cs typeface="Calibri"/>
              </a:rPr>
              <a:t>single node </a:t>
            </a:r>
            <a:r>
              <a:rPr dirty="0" spc="-15" b="0">
                <a:latin typeface="Calibri"/>
                <a:cs typeface="Calibri"/>
              </a:rPr>
              <a:t>to </a:t>
            </a:r>
            <a:r>
              <a:rPr dirty="0"/>
              <a:t>a </a:t>
            </a:r>
            <a:r>
              <a:rPr dirty="0" spc="-10"/>
              <a:t>set </a:t>
            </a:r>
            <a:r>
              <a:rPr dirty="0" spc="-5"/>
              <a:t>of</a:t>
            </a:r>
            <a:r>
              <a:rPr dirty="0" spc="60"/>
              <a:t> </a:t>
            </a:r>
            <a:r>
              <a:rPr dirty="0" spc="-5"/>
              <a:t>nodes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87569" y="4536551"/>
          <a:ext cx="2226945" cy="145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954"/>
                <a:gridCol w="551954"/>
                <a:gridCol w="551954"/>
                <a:gridCol w="551954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-95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 spc="-142">
                          <a:latin typeface="Cambria Math"/>
                          <a:cs typeface="Cambria Math"/>
                        </a:rPr>
                        <a:t>#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30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 spc="44">
                          <a:latin typeface="Cambria Math"/>
                          <a:cs typeface="Cambria Math"/>
                        </a:rPr>
                        <a:t>$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-310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 spc="-465">
                          <a:latin typeface="Cambria Math"/>
                          <a:cs typeface="Cambria Math"/>
                        </a:rPr>
                        <a:t>%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2400" spc="-8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432" sz="2700" spc="-120">
                          <a:latin typeface="Cambria Math"/>
                          <a:cs typeface="Cambria Math"/>
                        </a:rPr>
                        <a:t>#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 spc="-295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432" sz="2700" spc="-442">
                          <a:latin typeface="Cambria Math"/>
                          <a:cs typeface="Cambria Math"/>
                        </a:rPr>
                        <a:t>%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18108" y="1855723"/>
            <a:ext cx="8300720" cy="26073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41275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5">
                <a:latin typeface="Calibri"/>
                <a:cs typeface="Calibri"/>
              </a:rPr>
              <a:t>define </a:t>
            </a:r>
            <a:r>
              <a:rPr dirty="0" sz="2400" spc="-10">
                <a:latin typeface="Calibri"/>
                <a:cs typeface="Calibri"/>
              </a:rPr>
              <a:t>distance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an </a:t>
            </a:r>
            <a:r>
              <a:rPr dirty="0" sz="2400" spc="-10">
                <a:latin typeface="Calibri"/>
                <a:cs typeface="Calibri"/>
              </a:rPr>
              <a:t>anchor-set </a:t>
            </a:r>
            <a:r>
              <a:rPr dirty="0" sz="2400">
                <a:latin typeface="Calibri"/>
                <a:cs typeface="Calibri"/>
              </a:rPr>
              <a:t>as </a:t>
            </a:r>
            <a:r>
              <a:rPr dirty="0" sz="2400" spc="-5">
                <a:latin typeface="Calibri"/>
                <a:cs typeface="Calibri"/>
              </a:rPr>
              <a:t>the minimum </a:t>
            </a:r>
            <a:r>
              <a:rPr dirty="0" sz="2400" spc="-75">
                <a:latin typeface="Calibri"/>
                <a:cs typeface="Calibri"/>
              </a:rPr>
              <a:t>distance 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all </a:t>
            </a:r>
            <a:r>
              <a:rPr dirty="0" sz="2400" spc="-5">
                <a:latin typeface="Calibri"/>
                <a:cs typeface="Calibri"/>
              </a:rPr>
              <a:t>the nodes </a:t>
            </a:r>
            <a:r>
              <a:rPr dirty="0" sz="2400">
                <a:latin typeface="Calibri"/>
                <a:cs typeface="Calibri"/>
              </a:rPr>
              <a:t>in </a:t>
            </a:r>
            <a:r>
              <a:rPr dirty="0" sz="2400" spc="-5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ancho-set</a:t>
            </a:r>
            <a:endParaRPr sz="2400">
              <a:latin typeface="Calibri"/>
              <a:cs typeface="Calibri"/>
            </a:endParaRPr>
          </a:p>
          <a:p>
            <a:pPr marL="332740" marR="5080" indent="-320040">
              <a:lnSpc>
                <a:spcPts val="3379"/>
              </a:lnSpc>
              <a:spcBef>
                <a:spcPts val="3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Observation: </a:t>
            </a:r>
            <a:r>
              <a:rPr dirty="0" sz="2800" spc="-20">
                <a:latin typeface="Calibri"/>
                <a:cs typeface="Calibri"/>
              </a:rPr>
              <a:t>Large </a:t>
            </a:r>
            <a:r>
              <a:rPr dirty="0" sz="2800" spc="-15">
                <a:latin typeface="Calibri"/>
                <a:cs typeface="Calibri"/>
              </a:rPr>
              <a:t>anchor-sets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">
                <a:latin typeface="Calibri"/>
                <a:cs typeface="Calibri"/>
              </a:rPr>
              <a:t>sometimes </a:t>
            </a:r>
            <a:r>
              <a:rPr dirty="0" sz="2800" spc="-15">
                <a:latin typeface="Calibri"/>
                <a:cs typeface="Calibri"/>
              </a:rPr>
              <a:t>provide  </a:t>
            </a:r>
            <a:r>
              <a:rPr dirty="0" sz="2800" spc="-10">
                <a:latin typeface="Calibri"/>
                <a:cs typeface="Calibri"/>
              </a:rPr>
              <a:t>more precise </a:t>
            </a:r>
            <a:r>
              <a:rPr dirty="0" sz="2800" spc="-5">
                <a:latin typeface="Calibri"/>
                <a:cs typeface="Calibri"/>
              </a:rPr>
              <a:t>position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estimate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 spc="-20">
                <a:latin typeface="Calibri"/>
                <a:cs typeface="Calibri"/>
              </a:rPr>
              <a:t>save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total </a:t>
            </a:r>
            <a:r>
              <a:rPr dirty="0" sz="2400" spc="-5">
                <a:latin typeface="Calibri"/>
                <a:cs typeface="Calibri"/>
              </a:rPr>
              <a:t>number of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anchors</a:t>
            </a:r>
            <a:endParaRPr sz="2400">
              <a:latin typeface="Calibri"/>
              <a:cs typeface="Calibri"/>
            </a:endParaRPr>
          </a:p>
          <a:p>
            <a:pPr algn="r" marR="411480">
              <a:lnSpc>
                <a:spcPct val="100000"/>
              </a:lnSpc>
              <a:spcBef>
                <a:spcPts val="1555"/>
              </a:spcBef>
            </a:pPr>
            <a:r>
              <a:rPr dirty="0" sz="2400" spc="-15">
                <a:latin typeface="Calibri"/>
                <a:cs typeface="Calibri"/>
              </a:rPr>
              <a:t>Relative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Distances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9056" y="4345899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4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99056" y="5455085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4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84906" y="4893092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4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04254" y="4756294"/>
            <a:ext cx="0" cy="699135"/>
          </a:xfrm>
          <a:custGeom>
            <a:avLst/>
            <a:gdLst/>
            <a:ahLst/>
            <a:cxnLst/>
            <a:rect l="l" t="t" r="r" b="b"/>
            <a:pathLst>
              <a:path w="0" h="699135">
                <a:moveTo>
                  <a:pt x="0" y="0"/>
                </a:moveTo>
                <a:lnTo>
                  <a:pt x="1" y="69879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09452" y="4551097"/>
            <a:ext cx="535940" cy="402590"/>
          </a:xfrm>
          <a:custGeom>
            <a:avLst/>
            <a:gdLst/>
            <a:ahLst/>
            <a:cxnLst/>
            <a:rect l="l" t="t" r="r" b="b"/>
            <a:pathLst>
              <a:path w="535939" h="402589">
                <a:moveTo>
                  <a:pt x="0" y="0"/>
                </a:moveTo>
                <a:lnTo>
                  <a:pt x="535555" y="4020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09452" y="5243388"/>
            <a:ext cx="535940" cy="417195"/>
          </a:xfrm>
          <a:custGeom>
            <a:avLst/>
            <a:gdLst/>
            <a:ahLst/>
            <a:cxnLst/>
            <a:rect l="l" t="t" r="r" b="b"/>
            <a:pathLst>
              <a:path w="535939" h="417195">
                <a:moveTo>
                  <a:pt x="0" y="416896"/>
                </a:moveTo>
                <a:lnTo>
                  <a:pt x="53555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87415" y="4341892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5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87415" y="5440286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5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59595" y="4894366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5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92612" y="4752286"/>
            <a:ext cx="0" cy="688340"/>
          </a:xfrm>
          <a:custGeom>
            <a:avLst/>
            <a:gdLst/>
            <a:ahLst/>
            <a:cxnLst/>
            <a:rect l="l" t="t" r="r" b="b"/>
            <a:pathLst>
              <a:path w="0" h="688339">
                <a:moveTo>
                  <a:pt x="0" y="0"/>
                </a:moveTo>
                <a:lnTo>
                  <a:pt x="1" y="6880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09891" y="4547089"/>
            <a:ext cx="577850" cy="407670"/>
          </a:xfrm>
          <a:custGeom>
            <a:avLst/>
            <a:gdLst/>
            <a:ahLst/>
            <a:cxnLst/>
            <a:rect l="l" t="t" r="r" b="b"/>
            <a:pathLst>
              <a:path w="577850" h="407670">
                <a:moveTo>
                  <a:pt x="577524" y="0"/>
                </a:moveTo>
                <a:lnTo>
                  <a:pt x="0" y="40737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09891" y="5244659"/>
            <a:ext cx="577850" cy="401320"/>
          </a:xfrm>
          <a:custGeom>
            <a:avLst/>
            <a:gdLst/>
            <a:ahLst/>
            <a:cxnLst/>
            <a:rect l="l" t="t" r="r" b="b"/>
            <a:pathLst>
              <a:path w="577850" h="401320">
                <a:moveTo>
                  <a:pt x="577524" y="400824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95301" y="5098290"/>
            <a:ext cx="1264920" cy="1905"/>
          </a:xfrm>
          <a:custGeom>
            <a:avLst/>
            <a:gdLst/>
            <a:ahLst/>
            <a:cxnLst/>
            <a:rect l="l" t="t" r="r" b="b"/>
            <a:pathLst>
              <a:path w="1264920" h="1904">
                <a:moveTo>
                  <a:pt x="0" y="0"/>
                </a:moveTo>
                <a:lnTo>
                  <a:pt x="1264295" y="127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39141" y="4367276"/>
            <a:ext cx="621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" sz="3600" spc="-135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dirty="0" baseline="1157" sz="3600" spc="209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baseline="11574" sz="3600" spc="-120">
                <a:latin typeface="Cambria Math"/>
                <a:cs typeface="Cambria Math"/>
              </a:rPr>
              <a:t>𝑣</a:t>
            </a:r>
            <a:r>
              <a:rPr dirty="0" sz="1800" spc="-8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9141" y="5476747"/>
            <a:ext cx="624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dirty="0" sz="2400" spc="11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baseline="11574" sz="3600" spc="-442">
                <a:latin typeface="Cambria Math"/>
                <a:cs typeface="Cambria Math"/>
              </a:rPr>
              <a:t>𝑣</a:t>
            </a:r>
            <a:r>
              <a:rPr dirty="0" sz="1800" spc="-295"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6934" y="4559300"/>
            <a:ext cx="29210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215">
              <a:lnSpc>
                <a:spcPts val="2545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45"/>
              </a:lnSpc>
            </a:pPr>
            <a:r>
              <a:rPr dirty="0" sz="2400" spc="-55">
                <a:latin typeface="Cambria Math"/>
                <a:cs typeface="Cambria Math"/>
              </a:rPr>
              <a:t>𝑠</a:t>
            </a:r>
            <a:r>
              <a:rPr dirty="0" baseline="-15432" sz="2700" spc="187">
                <a:latin typeface="Cambria Math"/>
                <a:cs typeface="Cambria Math"/>
              </a:rPr>
              <a:t>$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72063" y="4361179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81383" y="548589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9990" y="6213347"/>
            <a:ext cx="12204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>
                <a:latin typeface="Arial"/>
                <a:cs typeface="Arial"/>
              </a:rPr>
              <a:t>Anchor-set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91997" y="5743955"/>
            <a:ext cx="8121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>
                <a:latin typeface="Arial"/>
                <a:cs typeface="Arial"/>
              </a:rPr>
              <a:t>Anchor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6694" y="5304760"/>
            <a:ext cx="76200" cy="405765"/>
          </a:xfrm>
          <a:custGeom>
            <a:avLst/>
            <a:gdLst/>
            <a:ahLst/>
            <a:cxnLst/>
            <a:rect l="l" t="t" r="r" b="b"/>
            <a:pathLst>
              <a:path w="76200" h="405764">
                <a:moveTo>
                  <a:pt x="47625" y="63500"/>
                </a:moveTo>
                <a:lnTo>
                  <a:pt x="28575" y="63500"/>
                </a:lnTo>
                <a:lnTo>
                  <a:pt x="28575" y="405281"/>
                </a:lnTo>
                <a:lnTo>
                  <a:pt x="47625" y="405281"/>
                </a:lnTo>
                <a:lnTo>
                  <a:pt x="47625" y="63500"/>
                </a:lnTo>
                <a:close/>
              </a:path>
              <a:path w="76200" h="405764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05764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24552" y="4748446"/>
            <a:ext cx="1551940" cy="1237615"/>
          </a:xfrm>
          <a:custGeom>
            <a:avLst/>
            <a:gdLst/>
            <a:ahLst/>
            <a:cxnLst/>
            <a:rect l="l" t="t" r="r" b="b"/>
            <a:pathLst>
              <a:path w="1551939" h="1237614">
                <a:moveTo>
                  <a:pt x="38116" y="1130663"/>
                </a:moveTo>
                <a:lnTo>
                  <a:pt x="11362" y="1076482"/>
                </a:lnTo>
                <a:lnTo>
                  <a:pt x="63" y="1014708"/>
                </a:lnTo>
                <a:lnTo>
                  <a:pt x="0" y="981337"/>
                </a:lnTo>
                <a:lnTo>
                  <a:pt x="3548" y="946504"/>
                </a:lnTo>
                <a:lnTo>
                  <a:pt x="21143" y="873033"/>
                </a:lnTo>
                <a:lnTo>
                  <a:pt x="35021" y="834685"/>
                </a:lnTo>
                <a:lnTo>
                  <a:pt x="52175" y="795457"/>
                </a:lnTo>
                <a:lnTo>
                  <a:pt x="72521" y="755494"/>
                </a:lnTo>
                <a:lnTo>
                  <a:pt x="95974" y="714941"/>
                </a:lnTo>
                <a:lnTo>
                  <a:pt x="122449" y="673943"/>
                </a:lnTo>
                <a:lnTo>
                  <a:pt x="151864" y="632646"/>
                </a:lnTo>
                <a:lnTo>
                  <a:pt x="184134" y="591196"/>
                </a:lnTo>
                <a:lnTo>
                  <a:pt x="219175" y="549737"/>
                </a:lnTo>
                <a:lnTo>
                  <a:pt x="256903" y="508415"/>
                </a:lnTo>
                <a:lnTo>
                  <a:pt x="297233" y="467376"/>
                </a:lnTo>
                <a:lnTo>
                  <a:pt x="340082" y="426764"/>
                </a:lnTo>
                <a:lnTo>
                  <a:pt x="385366" y="386726"/>
                </a:lnTo>
                <a:lnTo>
                  <a:pt x="433000" y="347406"/>
                </a:lnTo>
                <a:lnTo>
                  <a:pt x="482901" y="308951"/>
                </a:lnTo>
                <a:lnTo>
                  <a:pt x="534984" y="271505"/>
                </a:lnTo>
                <a:lnTo>
                  <a:pt x="588277" y="235801"/>
                </a:lnTo>
                <a:lnTo>
                  <a:pt x="641752" y="202495"/>
                </a:lnTo>
                <a:lnTo>
                  <a:pt x="695245" y="171614"/>
                </a:lnTo>
                <a:lnTo>
                  <a:pt x="748589" y="143187"/>
                </a:lnTo>
                <a:lnTo>
                  <a:pt x="801618" y="117241"/>
                </a:lnTo>
                <a:lnTo>
                  <a:pt x="854168" y="93804"/>
                </a:lnTo>
                <a:lnTo>
                  <a:pt x="906073" y="72905"/>
                </a:lnTo>
                <a:lnTo>
                  <a:pt x="957166" y="54571"/>
                </a:lnTo>
                <a:lnTo>
                  <a:pt x="1007283" y="38830"/>
                </a:lnTo>
                <a:lnTo>
                  <a:pt x="1056258" y="25710"/>
                </a:lnTo>
                <a:lnTo>
                  <a:pt x="1103925" y="15239"/>
                </a:lnTo>
                <a:lnTo>
                  <a:pt x="1150119" y="7445"/>
                </a:lnTo>
                <a:lnTo>
                  <a:pt x="1194673" y="2356"/>
                </a:lnTo>
                <a:lnTo>
                  <a:pt x="1237423" y="0"/>
                </a:lnTo>
                <a:lnTo>
                  <a:pt x="1278203" y="404"/>
                </a:lnTo>
                <a:lnTo>
                  <a:pt x="1316846" y="3597"/>
                </a:lnTo>
                <a:lnTo>
                  <a:pt x="1387064" y="18462"/>
                </a:lnTo>
                <a:lnTo>
                  <a:pt x="1446751" y="44816"/>
                </a:lnTo>
                <a:lnTo>
                  <a:pt x="1494583" y="82885"/>
                </a:lnTo>
                <a:lnTo>
                  <a:pt x="1528990" y="132450"/>
                </a:lnTo>
                <a:lnTo>
                  <a:pt x="1547933" y="190573"/>
                </a:lnTo>
                <a:lnTo>
                  <a:pt x="1551756" y="255707"/>
                </a:lnTo>
                <a:lnTo>
                  <a:pt x="1548208" y="290540"/>
                </a:lnTo>
                <a:lnTo>
                  <a:pt x="1530613" y="364012"/>
                </a:lnTo>
                <a:lnTo>
                  <a:pt x="1516734" y="402359"/>
                </a:lnTo>
                <a:lnTo>
                  <a:pt x="1499580" y="441587"/>
                </a:lnTo>
                <a:lnTo>
                  <a:pt x="1479234" y="481551"/>
                </a:lnTo>
                <a:lnTo>
                  <a:pt x="1455782" y="522104"/>
                </a:lnTo>
                <a:lnTo>
                  <a:pt x="1429306" y="563101"/>
                </a:lnTo>
                <a:lnTo>
                  <a:pt x="1399891" y="604398"/>
                </a:lnTo>
                <a:lnTo>
                  <a:pt x="1367621" y="645849"/>
                </a:lnTo>
                <a:lnTo>
                  <a:pt x="1332580" y="687307"/>
                </a:lnTo>
                <a:lnTo>
                  <a:pt x="1294852" y="728629"/>
                </a:lnTo>
                <a:lnTo>
                  <a:pt x="1254522" y="769668"/>
                </a:lnTo>
                <a:lnTo>
                  <a:pt x="1211673" y="810280"/>
                </a:lnTo>
                <a:lnTo>
                  <a:pt x="1166389" y="850318"/>
                </a:lnTo>
                <a:lnTo>
                  <a:pt x="1118755" y="889638"/>
                </a:lnTo>
                <a:lnTo>
                  <a:pt x="1068854" y="928093"/>
                </a:lnTo>
                <a:lnTo>
                  <a:pt x="1016771" y="965540"/>
                </a:lnTo>
                <a:lnTo>
                  <a:pt x="963478" y="1001243"/>
                </a:lnTo>
                <a:lnTo>
                  <a:pt x="910003" y="1034550"/>
                </a:lnTo>
                <a:lnTo>
                  <a:pt x="856510" y="1065430"/>
                </a:lnTo>
                <a:lnTo>
                  <a:pt x="803167" y="1093858"/>
                </a:lnTo>
                <a:lnTo>
                  <a:pt x="750137" y="1119803"/>
                </a:lnTo>
                <a:lnTo>
                  <a:pt x="697587" y="1143240"/>
                </a:lnTo>
                <a:lnTo>
                  <a:pt x="645682" y="1164139"/>
                </a:lnTo>
                <a:lnTo>
                  <a:pt x="594589" y="1182474"/>
                </a:lnTo>
                <a:lnTo>
                  <a:pt x="544472" y="1198215"/>
                </a:lnTo>
                <a:lnTo>
                  <a:pt x="495497" y="1211335"/>
                </a:lnTo>
                <a:lnTo>
                  <a:pt x="447830" y="1221805"/>
                </a:lnTo>
                <a:lnTo>
                  <a:pt x="401637" y="1229599"/>
                </a:lnTo>
                <a:lnTo>
                  <a:pt x="357082" y="1234689"/>
                </a:lnTo>
                <a:lnTo>
                  <a:pt x="314332" y="1237045"/>
                </a:lnTo>
                <a:lnTo>
                  <a:pt x="273553" y="1236640"/>
                </a:lnTo>
                <a:lnTo>
                  <a:pt x="234909" y="1233447"/>
                </a:lnTo>
                <a:lnTo>
                  <a:pt x="164691" y="1218583"/>
                </a:lnTo>
                <a:lnTo>
                  <a:pt x="105004" y="1192228"/>
                </a:lnTo>
                <a:lnTo>
                  <a:pt x="57172" y="1154160"/>
                </a:lnTo>
                <a:lnTo>
                  <a:pt x="38116" y="1130663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359990" y="4547108"/>
            <a:ext cx="880744" cy="1691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9050">
              <a:lnSpc>
                <a:spcPts val="259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algn="r" marR="5080">
              <a:lnSpc>
                <a:spcPts val="2590"/>
              </a:lnSpc>
            </a:pPr>
            <a:r>
              <a:rPr dirty="0" sz="2400" spc="-114">
                <a:latin typeface="Cambria Math"/>
                <a:cs typeface="Cambria Math"/>
              </a:rPr>
              <a:t>𝑠</a:t>
            </a:r>
            <a:r>
              <a:rPr dirty="0" baseline="-15432" sz="2700" spc="-112">
                <a:latin typeface="Cambria Math"/>
                <a:cs typeface="Cambria Math"/>
              </a:rPr>
              <a:t>#</a:t>
            </a:r>
            <a:endParaRPr baseline="-15432" sz="2700">
              <a:latin typeface="Cambria Math"/>
              <a:cs typeface="Cambria Math"/>
            </a:endParaRPr>
          </a:p>
          <a:p>
            <a:pPr marL="12700" indent="429895">
              <a:lnSpc>
                <a:spcPct val="100000"/>
              </a:lnSpc>
              <a:spcBef>
                <a:spcPts val="525"/>
              </a:spcBef>
            </a:pPr>
            <a:r>
              <a:rPr dirty="0" sz="2400" spc="-310">
                <a:latin typeface="Cambria Math"/>
                <a:cs typeface="Cambria Math"/>
              </a:rPr>
              <a:t>𝑠</a:t>
            </a:r>
            <a:r>
              <a:rPr dirty="0" baseline="-15432" sz="2700" spc="-465">
                <a:latin typeface="Cambria Math"/>
                <a:cs typeface="Cambria Math"/>
              </a:rPr>
              <a:t>%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dirty="0" sz="2000" spc="-40">
                <a:latin typeface="Arial"/>
                <a:cs typeface="Arial"/>
              </a:rPr>
              <a:t>Size-2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91813" y="5666204"/>
            <a:ext cx="76200" cy="287655"/>
          </a:xfrm>
          <a:custGeom>
            <a:avLst/>
            <a:gdLst/>
            <a:ahLst/>
            <a:cxnLst/>
            <a:rect l="l" t="t" r="r" b="b"/>
            <a:pathLst>
              <a:path w="76200" h="287654">
                <a:moveTo>
                  <a:pt x="47625" y="63500"/>
                </a:moveTo>
                <a:lnTo>
                  <a:pt x="28575" y="63500"/>
                </a:lnTo>
                <a:lnTo>
                  <a:pt x="28575" y="287276"/>
                </a:lnTo>
                <a:lnTo>
                  <a:pt x="47625" y="287277"/>
                </a:lnTo>
                <a:lnTo>
                  <a:pt x="47625" y="63500"/>
                </a:lnTo>
                <a:close/>
              </a:path>
              <a:path w="76200" h="287654">
                <a:moveTo>
                  <a:pt x="69849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49" y="63500"/>
                </a:lnTo>
                <a:close/>
              </a:path>
              <a:path w="76200" h="287654">
                <a:moveTo>
                  <a:pt x="47625" y="76199"/>
                </a:moveTo>
                <a:lnTo>
                  <a:pt x="28575" y="76199"/>
                </a:lnTo>
                <a:lnTo>
                  <a:pt x="47625" y="76200"/>
                </a:lnTo>
                <a:close/>
              </a:path>
              <a:path w="76200" h="287654">
                <a:moveTo>
                  <a:pt x="38100" y="0"/>
                </a:moveTo>
                <a:lnTo>
                  <a:pt x="0" y="76199"/>
                </a:lnTo>
                <a:lnTo>
                  <a:pt x="28575" y="76199"/>
                </a:lnTo>
                <a:lnTo>
                  <a:pt x="28575" y="63500"/>
                </a:lnTo>
                <a:lnTo>
                  <a:pt x="69849" y="635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35200" y="5231658"/>
            <a:ext cx="1402715" cy="493395"/>
          </a:xfrm>
          <a:custGeom>
            <a:avLst/>
            <a:gdLst/>
            <a:ahLst/>
            <a:cxnLst/>
            <a:rect l="l" t="t" r="r" b="b"/>
            <a:pathLst>
              <a:path w="1402714" h="493395">
                <a:moveTo>
                  <a:pt x="75244" y="27073"/>
                </a:moveTo>
                <a:lnTo>
                  <a:pt x="69151" y="45124"/>
                </a:lnTo>
                <a:lnTo>
                  <a:pt x="1396145" y="493040"/>
                </a:lnTo>
                <a:lnTo>
                  <a:pt x="1402238" y="474990"/>
                </a:lnTo>
                <a:lnTo>
                  <a:pt x="75244" y="27073"/>
                </a:lnTo>
                <a:close/>
              </a:path>
              <a:path w="1402714" h="493395">
                <a:moveTo>
                  <a:pt x="84382" y="0"/>
                </a:moveTo>
                <a:lnTo>
                  <a:pt x="0" y="11729"/>
                </a:lnTo>
                <a:lnTo>
                  <a:pt x="60012" y="72198"/>
                </a:lnTo>
                <a:lnTo>
                  <a:pt x="69151" y="45124"/>
                </a:lnTo>
                <a:lnTo>
                  <a:pt x="57119" y="41062"/>
                </a:lnTo>
                <a:lnTo>
                  <a:pt x="63211" y="23012"/>
                </a:lnTo>
                <a:lnTo>
                  <a:pt x="76614" y="23012"/>
                </a:lnTo>
                <a:lnTo>
                  <a:pt x="84382" y="0"/>
                </a:lnTo>
                <a:close/>
              </a:path>
              <a:path w="1402714" h="493395">
                <a:moveTo>
                  <a:pt x="63211" y="23012"/>
                </a:moveTo>
                <a:lnTo>
                  <a:pt x="57119" y="41062"/>
                </a:lnTo>
                <a:lnTo>
                  <a:pt x="69151" y="45124"/>
                </a:lnTo>
                <a:lnTo>
                  <a:pt x="75244" y="27073"/>
                </a:lnTo>
                <a:lnTo>
                  <a:pt x="63211" y="23012"/>
                </a:lnTo>
                <a:close/>
              </a:path>
              <a:path w="1402714" h="493395">
                <a:moveTo>
                  <a:pt x="76614" y="23012"/>
                </a:moveTo>
                <a:lnTo>
                  <a:pt x="63211" y="23012"/>
                </a:lnTo>
                <a:lnTo>
                  <a:pt x="75244" y="27073"/>
                </a:lnTo>
                <a:lnTo>
                  <a:pt x="76614" y="23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752821" y="6095491"/>
            <a:ext cx="3219450" cy="5772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dirty="0" sz="1800" spc="-5">
                <a:latin typeface="Calibri"/>
                <a:cs typeface="Calibri"/>
              </a:rPr>
              <a:t>Anchor </a:t>
            </a:r>
            <a:r>
              <a:rPr dirty="0" sz="1800" spc="110">
                <a:latin typeface="Cambria Math"/>
                <a:cs typeface="Cambria Math"/>
              </a:rPr>
              <a:t>𝑠</a:t>
            </a:r>
            <a:r>
              <a:rPr dirty="0" baseline="-14957" sz="1950" spc="165">
                <a:latin typeface="Cambria Math"/>
                <a:cs typeface="Cambria Math"/>
              </a:rPr>
              <a:t>!</a:t>
            </a:r>
            <a:r>
              <a:rPr dirty="0" sz="1800" spc="110">
                <a:latin typeface="Calibri"/>
                <a:cs typeface="Calibri"/>
              </a:rPr>
              <a:t>, </a:t>
            </a:r>
            <a:r>
              <a:rPr dirty="0" sz="1800" spc="100">
                <a:latin typeface="Cambria Math"/>
                <a:cs typeface="Cambria Math"/>
              </a:rPr>
              <a:t>𝑠</a:t>
            </a:r>
            <a:r>
              <a:rPr dirty="0" baseline="-14957" sz="1950" spc="150">
                <a:latin typeface="Cambria Math"/>
                <a:cs typeface="Cambria Math"/>
              </a:rPr>
              <a:t>" </a:t>
            </a:r>
            <a:r>
              <a:rPr dirty="0" sz="1800" spc="-5">
                <a:latin typeface="Calibri"/>
                <a:cs typeface="Calibri"/>
              </a:rPr>
              <a:t>cannot </a:t>
            </a:r>
            <a:r>
              <a:rPr dirty="0" sz="1800" spc="-15">
                <a:latin typeface="Calibri"/>
                <a:cs typeface="Calibri"/>
              </a:rPr>
              <a:t>differentiate  </a:t>
            </a:r>
            <a:r>
              <a:rPr dirty="0" sz="1800">
                <a:latin typeface="Calibri"/>
                <a:cs typeface="Calibri"/>
              </a:rPr>
              <a:t>node </a:t>
            </a:r>
            <a:r>
              <a:rPr dirty="0" sz="1800" spc="114">
                <a:latin typeface="Cambria Math"/>
                <a:cs typeface="Cambria Math"/>
              </a:rPr>
              <a:t>𝑣</a:t>
            </a:r>
            <a:r>
              <a:rPr dirty="0" baseline="-17094" sz="1950" spc="172">
                <a:latin typeface="Cambria Math"/>
                <a:cs typeface="Cambria Math"/>
              </a:rPr>
              <a:t>!</a:t>
            </a:r>
            <a:r>
              <a:rPr dirty="0" sz="1800" spc="114">
                <a:latin typeface="Calibri"/>
                <a:cs typeface="Calibri"/>
              </a:rPr>
              <a:t>, </a:t>
            </a:r>
            <a:r>
              <a:rPr dirty="0" sz="1800" spc="-125">
                <a:latin typeface="Cambria Math"/>
                <a:cs typeface="Cambria Math"/>
              </a:rPr>
              <a:t>𝑣</a:t>
            </a:r>
            <a:r>
              <a:rPr dirty="0" baseline="-17094" sz="1950" spc="-187">
                <a:latin typeface="Cambria Math"/>
                <a:cs typeface="Cambria Math"/>
              </a:rPr>
              <a:t>%</a:t>
            </a:r>
            <a:r>
              <a:rPr dirty="0" sz="1800" spc="-125">
                <a:latin typeface="Calibri"/>
                <a:cs typeface="Calibri"/>
              </a:rPr>
              <a:t>, </a:t>
            </a:r>
            <a:r>
              <a:rPr dirty="0" sz="1800">
                <a:latin typeface="Calibri"/>
                <a:cs typeface="Calibri"/>
              </a:rPr>
              <a:t>but </a:t>
            </a:r>
            <a:r>
              <a:rPr dirty="0" sz="1800" spc="-10">
                <a:latin typeface="Calibri"/>
                <a:cs typeface="Calibri"/>
              </a:rPr>
              <a:t>anchor-set </a:t>
            </a:r>
            <a:r>
              <a:rPr dirty="0" sz="1800" spc="-225">
                <a:latin typeface="Cambria Math"/>
                <a:cs typeface="Cambria Math"/>
              </a:rPr>
              <a:t>𝑠</a:t>
            </a:r>
            <a:r>
              <a:rPr dirty="0" baseline="-17094" sz="1950" spc="-337">
                <a:latin typeface="Cambria Math"/>
                <a:cs typeface="Cambria Math"/>
              </a:rPr>
              <a:t>%    </a:t>
            </a:r>
            <a:r>
              <a:rPr dirty="0" baseline="-17094" sz="1950" spc="-300">
                <a:latin typeface="Cambria Math"/>
                <a:cs typeface="Cambria Math"/>
              </a:rPr>
              <a:t> </a:t>
            </a:r>
            <a:r>
              <a:rPr dirty="0" sz="1800" spc="-5">
                <a:latin typeface="Calibri"/>
                <a:cs typeface="Calibri"/>
              </a:rPr>
              <a:t>can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720583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551180" marR="3175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550545" algn="l"/>
                <a:tab pos="551180" algn="l"/>
              </a:tabLst>
            </a:pPr>
            <a:r>
              <a:rPr dirty="0" spc="-10">
                <a:solidFill>
                  <a:srgbClr val="C00000"/>
                </a:solidFill>
              </a:rPr>
              <a:t>Position </a:t>
            </a:r>
            <a:r>
              <a:rPr dirty="0" spc="-5">
                <a:solidFill>
                  <a:srgbClr val="C00000"/>
                </a:solidFill>
              </a:rPr>
              <a:t>encoding </a:t>
            </a:r>
            <a:r>
              <a:rPr dirty="0" spc="-15">
                <a:solidFill>
                  <a:srgbClr val="C00000"/>
                </a:solidFill>
              </a:rPr>
              <a:t>for graphs: </a:t>
            </a:r>
            <a:r>
              <a:rPr dirty="0" spc="-20" b="0">
                <a:latin typeface="Calibri"/>
                <a:cs typeface="Calibri"/>
              </a:rPr>
              <a:t>Represent </a:t>
            </a:r>
            <a:r>
              <a:rPr dirty="0" b="0">
                <a:latin typeface="Calibri"/>
                <a:cs typeface="Calibri"/>
              </a:rPr>
              <a:t>a </a:t>
            </a:r>
            <a:r>
              <a:rPr dirty="0" spc="-35" b="0">
                <a:latin typeface="Calibri"/>
                <a:cs typeface="Calibri"/>
              </a:rPr>
              <a:t>node’s  </a:t>
            </a:r>
            <a:r>
              <a:rPr dirty="0" spc="-5" b="0">
                <a:latin typeface="Calibri"/>
                <a:cs typeface="Calibri"/>
              </a:rPr>
              <a:t>position </a:t>
            </a:r>
            <a:r>
              <a:rPr dirty="0" spc="-10" b="0">
                <a:latin typeface="Calibri"/>
                <a:cs typeface="Calibri"/>
              </a:rPr>
              <a:t>by </a:t>
            </a:r>
            <a:r>
              <a:rPr dirty="0" spc="-5" b="0">
                <a:latin typeface="Calibri"/>
                <a:cs typeface="Calibri"/>
              </a:rPr>
              <a:t>its </a:t>
            </a:r>
            <a:r>
              <a:rPr dirty="0" spc="-10" b="0">
                <a:latin typeface="Calibri"/>
                <a:cs typeface="Calibri"/>
              </a:rPr>
              <a:t>distance </a:t>
            </a:r>
            <a:r>
              <a:rPr dirty="0" spc="-15" b="0">
                <a:latin typeface="Calibri"/>
                <a:cs typeface="Calibri"/>
              </a:rPr>
              <a:t>to </a:t>
            </a:r>
            <a:r>
              <a:rPr dirty="0" spc="-10" b="0">
                <a:latin typeface="Calibri"/>
                <a:cs typeface="Calibri"/>
              </a:rPr>
              <a:t>randomly selected</a:t>
            </a:r>
            <a:r>
              <a:rPr dirty="0" spc="50" b="0">
                <a:latin typeface="Calibri"/>
                <a:cs typeface="Calibri"/>
              </a:rPr>
              <a:t> </a:t>
            </a:r>
            <a:r>
              <a:rPr dirty="0" spc="-15" b="0">
                <a:latin typeface="Calibri"/>
                <a:cs typeface="Calibri"/>
              </a:rPr>
              <a:t>anchor-sets</a:t>
            </a:r>
          </a:p>
          <a:p>
            <a:pPr lvl="1" marL="843915" indent="-274320">
              <a:lnSpc>
                <a:spcPct val="100000"/>
              </a:lnSpc>
              <a:spcBef>
                <a:spcPts val="540"/>
              </a:spcBef>
              <a:buClr>
                <a:srgbClr val="60B5CC"/>
              </a:buClr>
              <a:buFont typeface="Malgun Gothic"/>
              <a:buChar char="▪"/>
              <a:tabLst>
                <a:tab pos="843915" algn="l"/>
              </a:tabLst>
            </a:pP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Each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dimension </a:t>
            </a:r>
            <a:r>
              <a:rPr dirty="0" sz="2400" spc="-5">
                <a:latin typeface="Calibri"/>
                <a:cs typeface="Calibri"/>
              </a:rPr>
              <a:t>of the position encoding is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tied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dirty="0" sz="2400" spc="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5">
                <a:solidFill>
                  <a:srgbClr val="C00000"/>
                </a:solidFill>
                <a:latin typeface="Calibri"/>
                <a:cs typeface="Calibri"/>
              </a:rPr>
              <a:t>anchor-set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12648" y="3656924"/>
          <a:ext cx="2226945" cy="145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954"/>
                <a:gridCol w="551954"/>
                <a:gridCol w="551954"/>
                <a:gridCol w="551954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39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 spc="-114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>
                          <a:latin typeface="Cambria Math"/>
                          <a:cs typeface="Cambria Math"/>
                        </a:rPr>
                        <a:t>#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 spc="30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 spc="44">
                          <a:latin typeface="Cambria Math"/>
                          <a:cs typeface="Cambria Math"/>
                        </a:rPr>
                        <a:t>$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 spc="-310">
                          <a:latin typeface="Cambria Math"/>
                          <a:cs typeface="Cambria Math"/>
                        </a:rPr>
                        <a:t>𝑠</a:t>
                      </a:r>
                      <a:r>
                        <a:rPr dirty="0" baseline="-15432" sz="2700" spc="-465">
                          <a:latin typeface="Cambria Math"/>
                          <a:cs typeface="Cambria Math"/>
                        </a:rPr>
                        <a:t>%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-8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432" sz="2700" spc="-120">
                          <a:latin typeface="Cambria Math"/>
                          <a:cs typeface="Cambria Math"/>
                        </a:rPr>
                        <a:t>#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74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spc="-295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432" sz="2700" spc="-442">
                          <a:latin typeface="Cambria Math"/>
                          <a:cs typeface="Cambria Math"/>
                        </a:rPr>
                        <a:t>%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3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81367" y="3527473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4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1367" y="4636659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4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67215" y="4074665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4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6563" y="3937867"/>
            <a:ext cx="0" cy="699135"/>
          </a:xfrm>
          <a:custGeom>
            <a:avLst/>
            <a:gdLst/>
            <a:ahLst/>
            <a:cxnLst/>
            <a:rect l="l" t="t" r="r" b="b"/>
            <a:pathLst>
              <a:path w="0" h="699135">
                <a:moveTo>
                  <a:pt x="0" y="0"/>
                </a:moveTo>
                <a:lnTo>
                  <a:pt x="1" y="69879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91761" y="3732669"/>
            <a:ext cx="535940" cy="402590"/>
          </a:xfrm>
          <a:custGeom>
            <a:avLst/>
            <a:gdLst/>
            <a:ahLst/>
            <a:cxnLst/>
            <a:rect l="l" t="t" r="r" b="b"/>
            <a:pathLst>
              <a:path w="535940" h="402589">
                <a:moveTo>
                  <a:pt x="0" y="0"/>
                </a:moveTo>
                <a:lnTo>
                  <a:pt x="535555" y="40209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91761" y="4424961"/>
            <a:ext cx="535940" cy="417195"/>
          </a:xfrm>
          <a:custGeom>
            <a:avLst/>
            <a:gdLst/>
            <a:ahLst/>
            <a:cxnLst/>
            <a:rect l="l" t="t" r="r" b="b"/>
            <a:pathLst>
              <a:path w="535940" h="417195">
                <a:moveTo>
                  <a:pt x="0" y="416896"/>
                </a:moveTo>
                <a:lnTo>
                  <a:pt x="53555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69724" y="3523465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5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69724" y="4621860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5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41905" y="4075939"/>
            <a:ext cx="410845" cy="410845"/>
          </a:xfrm>
          <a:custGeom>
            <a:avLst/>
            <a:gdLst/>
            <a:ahLst/>
            <a:cxnLst/>
            <a:rect l="l" t="t" r="r" b="b"/>
            <a:pathLst>
              <a:path w="410845" h="410845">
                <a:moveTo>
                  <a:pt x="0" y="205197"/>
                </a:moveTo>
                <a:lnTo>
                  <a:pt x="5419" y="158147"/>
                </a:lnTo>
                <a:lnTo>
                  <a:pt x="20856" y="114956"/>
                </a:lnTo>
                <a:lnTo>
                  <a:pt x="45079" y="76856"/>
                </a:lnTo>
                <a:lnTo>
                  <a:pt x="76856" y="45079"/>
                </a:lnTo>
                <a:lnTo>
                  <a:pt x="114956" y="20856"/>
                </a:lnTo>
                <a:lnTo>
                  <a:pt x="158147" y="5419"/>
                </a:lnTo>
                <a:lnTo>
                  <a:pt x="205197" y="0"/>
                </a:lnTo>
                <a:lnTo>
                  <a:pt x="252247" y="5419"/>
                </a:lnTo>
                <a:lnTo>
                  <a:pt x="295438" y="20856"/>
                </a:lnTo>
                <a:lnTo>
                  <a:pt x="333538" y="45079"/>
                </a:lnTo>
                <a:lnTo>
                  <a:pt x="365315" y="76856"/>
                </a:lnTo>
                <a:lnTo>
                  <a:pt x="389538" y="114956"/>
                </a:lnTo>
                <a:lnTo>
                  <a:pt x="404975" y="158147"/>
                </a:lnTo>
                <a:lnTo>
                  <a:pt x="410395" y="205197"/>
                </a:lnTo>
                <a:lnTo>
                  <a:pt x="404975" y="252247"/>
                </a:lnTo>
                <a:lnTo>
                  <a:pt x="389538" y="295438"/>
                </a:lnTo>
                <a:lnTo>
                  <a:pt x="365315" y="333538"/>
                </a:lnTo>
                <a:lnTo>
                  <a:pt x="333538" y="365315"/>
                </a:lnTo>
                <a:lnTo>
                  <a:pt x="295438" y="389538"/>
                </a:lnTo>
                <a:lnTo>
                  <a:pt x="252247" y="404975"/>
                </a:lnTo>
                <a:lnTo>
                  <a:pt x="205197" y="410395"/>
                </a:lnTo>
                <a:lnTo>
                  <a:pt x="158147" y="404975"/>
                </a:lnTo>
                <a:lnTo>
                  <a:pt x="114956" y="389538"/>
                </a:lnTo>
                <a:lnTo>
                  <a:pt x="76856" y="365315"/>
                </a:lnTo>
                <a:lnTo>
                  <a:pt x="45079" y="333538"/>
                </a:lnTo>
                <a:lnTo>
                  <a:pt x="20856" y="295438"/>
                </a:lnTo>
                <a:lnTo>
                  <a:pt x="5419" y="252247"/>
                </a:lnTo>
                <a:lnTo>
                  <a:pt x="0" y="20519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74920" y="3933859"/>
            <a:ext cx="0" cy="688340"/>
          </a:xfrm>
          <a:custGeom>
            <a:avLst/>
            <a:gdLst/>
            <a:ahLst/>
            <a:cxnLst/>
            <a:rect l="l" t="t" r="r" b="b"/>
            <a:pathLst>
              <a:path w="0" h="688339">
                <a:moveTo>
                  <a:pt x="0" y="0"/>
                </a:moveTo>
                <a:lnTo>
                  <a:pt x="1" y="6880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92200" y="3728661"/>
            <a:ext cx="577850" cy="407670"/>
          </a:xfrm>
          <a:custGeom>
            <a:avLst/>
            <a:gdLst/>
            <a:ahLst/>
            <a:cxnLst/>
            <a:rect l="l" t="t" r="r" b="b"/>
            <a:pathLst>
              <a:path w="577850" h="407670">
                <a:moveTo>
                  <a:pt x="577524" y="0"/>
                </a:moveTo>
                <a:lnTo>
                  <a:pt x="0" y="40737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92200" y="4426234"/>
            <a:ext cx="577850" cy="401320"/>
          </a:xfrm>
          <a:custGeom>
            <a:avLst/>
            <a:gdLst/>
            <a:ahLst/>
            <a:cxnLst/>
            <a:rect l="l" t="t" r="r" b="b"/>
            <a:pathLst>
              <a:path w="577850" h="401320">
                <a:moveTo>
                  <a:pt x="577524" y="400824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77611" y="4279864"/>
            <a:ext cx="1264920" cy="1905"/>
          </a:xfrm>
          <a:custGeom>
            <a:avLst/>
            <a:gdLst/>
            <a:ahLst/>
            <a:cxnLst/>
            <a:rect l="l" t="t" r="r" b="b"/>
            <a:pathLst>
              <a:path w="1264920" h="1904">
                <a:moveTo>
                  <a:pt x="0" y="0"/>
                </a:moveTo>
                <a:lnTo>
                  <a:pt x="1264295" y="127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21450" y="3547364"/>
            <a:ext cx="621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dirty="0" sz="2400" spc="14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baseline="11574" sz="3600" spc="-120">
                <a:latin typeface="Cambria Math"/>
                <a:cs typeface="Cambria Math"/>
              </a:rPr>
              <a:t>𝑣</a:t>
            </a:r>
            <a:r>
              <a:rPr dirty="0" sz="1800" spc="-8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1450" y="4656835"/>
            <a:ext cx="624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r>
              <a:rPr dirty="0" sz="2400" spc="11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baseline="11574" sz="3600" spc="-442">
                <a:latin typeface="Cambria Math"/>
                <a:cs typeface="Cambria Math"/>
              </a:rPr>
              <a:t>𝑣</a:t>
            </a:r>
            <a:r>
              <a:rPr dirty="0" sz="1800" spc="-295"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09244" y="3739388"/>
            <a:ext cx="292100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215">
              <a:lnSpc>
                <a:spcPts val="2555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55"/>
              </a:lnSpc>
            </a:pPr>
            <a:r>
              <a:rPr dirty="0" sz="2400" spc="-55">
                <a:latin typeface="Cambria Math"/>
                <a:cs typeface="Cambria Math"/>
              </a:rPr>
              <a:t>𝑠</a:t>
            </a:r>
            <a:r>
              <a:rPr dirty="0" baseline="-15432" sz="2700" spc="187">
                <a:latin typeface="Cambria Math"/>
                <a:cs typeface="Cambria Math"/>
              </a:rPr>
              <a:t>$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54372" y="3544315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63691" y="4669028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2300" y="5396484"/>
            <a:ext cx="12204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>
                <a:latin typeface="Arial"/>
                <a:cs typeface="Arial"/>
              </a:rPr>
              <a:t>Anchor-set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74308" y="4924044"/>
            <a:ext cx="8121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>
                <a:latin typeface="Arial"/>
                <a:cs typeface="Arial"/>
              </a:rPr>
              <a:t>Anchor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09004" y="4486333"/>
            <a:ext cx="76200" cy="405765"/>
          </a:xfrm>
          <a:custGeom>
            <a:avLst/>
            <a:gdLst/>
            <a:ahLst/>
            <a:cxnLst/>
            <a:rect l="l" t="t" r="r" b="b"/>
            <a:pathLst>
              <a:path w="76200" h="405764">
                <a:moveTo>
                  <a:pt x="28574" y="76200"/>
                </a:moveTo>
                <a:lnTo>
                  <a:pt x="28573" y="405281"/>
                </a:lnTo>
                <a:lnTo>
                  <a:pt x="47623" y="405281"/>
                </a:lnTo>
                <a:lnTo>
                  <a:pt x="47624" y="76200"/>
                </a:lnTo>
                <a:lnTo>
                  <a:pt x="28574" y="76200"/>
                </a:lnTo>
                <a:close/>
              </a:path>
              <a:path w="76200" h="405764">
                <a:moveTo>
                  <a:pt x="69849" y="63500"/>
                </a:moveTo>
                <a:lnTo>
                  <a:pt x="47625" y="63500"/>
                </a:lnTo>
                <a:lnTo>
                  <a:pt x="47624" y="76200"/>
                </a:lnTo>
                <a:lnTo>
                  <a:pt x="76200" y="76201"/>
                </a:lnTo>
                <a:lnTo>
                  <a:pt x="69849" y="63500"/>
                </a:lnTo>
                <a:close/>
              </a:path>
              <a:path w="76200" h="405764">
                <a:moveTo>
                  <a:pt x="47625" y="63500"/>
                </a:moveTo>
                <a:lnTo>
                  <a:pt x="28575" y="63500"/>
                </a:lnTo>
                <a:lnTo>
                  <a:pt x="28574" y="76200"/>
                </a:lnTo>
                <a:lnTo>
                  <a:pt x="47624" y="76200"/>
                </a:lnTo>
                <a:lnTo>
                  <a:pt x="47625" y="63500"/>
                </a:lnTo>
                <a:close/>
              </a:path>
              <a:path w="76200" h="405764">
                <a:moveTo>
                  <a:pt x="38100" y="0"/>
                </a:moveTo>
                <a:lnTo>
                  <a:pt x="0" y="76200"/>
                </a:lnTo>
                <a:lnTo>
                  <a:pt x="28574" y="76200"/>
                </a:lnTo>
                <a:lnTo>
                  <a:pt x="28575" y="63500"/>
                </a:lnTo>
                <a:lnTo>
                  <a:pt x="69849" y="635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6862" y="3930019"/>
            <a:ext cx="1551940" cy="1237615"/>
          </a:xfrm>
          <a:custGeom>
            <a:avLst/>
            <a:gdLst/>
            <a:ahLst/>
            <a:cxnLst/>
            <a:rect l="l" t="t" r="r" b="b"/>
            <a:pathLst>
              <a:path w="1551939" h="1237614">
                <a:moveTo>
                  <a:pt x="38116" y="1130663"/>
                </a:moveTo>
                <a:lnTo>
                  <a:pt x="11362" y="1076482"/>
                </a:lnTo>
                <a:lnTo>
                  <a:pt x="63" y="1014708"/>
                </a:lnTo>
                <a:lnTo>
                  <a:pt x="0" y="981337"/>
                </a:lnTo>
                <a:lnTo>
                  <a:pt x="3548" y="946504"/>
                </a:lnTo>
                <a:lnTo>
                  <a:pt x="21143" y="873033"/>
                </a:lnTo>
                <a:lnTo>
                  <a:pt x="35021" y="834685"/>
                </a:lnTo>
                <a:lnTo>
                  <a:pt x="52175" y="795457"/>
                </a:lnTo>
                <a:lnTo>
                  <a:pt x="72521" y="755494"/>
                </a:lnTo>
                <a:lnTo>
                  <a:pt x="95974" y="714941"/>
                </a:lnTo>
                <a:lnTo>
                  <a:pt x="122449" y="673943"/>
                </a:lnTo>
                <a:lnTo>
                  <a:pt x="151864" y="632646"/>
                </a:lnTo>
                <a:lnTo>
                  <a:pt x="184134" y="591196"/>
                </a:lnTo>
                <a:lnTo>
                  <a:pt x="219175" y="549737"/>
                </a:lnTo>
                <a:lnTo>
                  <a:pt x="256903" y="508415"/>
                </a:lnTo>
                <a:lnTo>
                  <a:pt x="297233" y="467376"/>
                </a:lnTo>
                <a:lnTo>
                  <a:pt x="340082" y="426764"/>
                </a:lnTo>
                <a:lnTo>
                  <a:pt x="385366" y="386726"/>
                </a:lnTo>
                <a:lnTo>
                  <a:pt x="433000" y="347406"/>
                </a:lnTo>
                <a:lnTo>
                  <a:pt x="482901" y="308951"/>
                </a:lnTo>
                <a:lnTo>
                  <a:pt x="534984" y="271505"/>
                </a:lnTo>
                <a:lnTo>
                  <a:pt x="588277" y="235801"/>
                </a:lnTo>
                <a:lnTo>
                  <a:pt x="641752" y="202495"/>
                </a:lnTo>
                <a:lnTo>
                  <a:pt x="695245" y="171614"/>
                </a:lnTo>
                <a:lnTo>
                  <a:pt x="748589" y="143187"/>
                </a:lnTo>
                <a:lnTo>
                  <a:pt x="801618" y="117241"/>
                </a:lnTo>
                <a:lnTo>
                  <a:pt x="854168" y="93804"/>
                </a:lnTo>
                <a:lnTo>
                  <a:pt x="906073" y="72905"/>
                </a:lnTo>
                <a:lnTo>
                  <a:pt x="957166" y="54571"/>
                </a:lnTo>
                <a:lnTo>
                  <a:pt x="1007283" y="38830"/>
                </a:lnTo>
                <a:lnTo>
                  <a:pt x="1056258" y="25710"/>
                </a:lnTo>
                <a:lnTo>
                  <a:pt x="1103925" y="15239"/>
                </a:lnTo>
                <a:lnTo>
                  <a:pt x="1150119" y="7445"/>
                </a:lnTo>
                <a:lnTo>
                  <a:pt x="1194673" y="2356"/>
                </a:lnTo>
                <a:lnTo>
                  <a:pt x="1237423" y="0"/>
                </a:lnTo>
                <a:lnTo>
                  <a:pt x="1278203" y="404"/>
                </a:lnTo>
                <a:lnTo>
                  <a:pt x="1316846" y="3597"/>
                </a:lnTo>
                <a:lnTo>
                  <a:pt x="1387064" y="18462"/>
                </a:lnTo>
                <a:lnTo>
                  <a:pt x="1446751" y="44816"/>
                </a:lnTo>
                <a:lnTo>
                  <a:pt x="1494583" y="82885"/>
                </a:lnTo>
                <a:lnTo>
                  <a:pt x="1528990" y="132450"/>
                </a:lnTo>
                <a:lnTo>
                  <a:pt x="1547933" y="190573"/>
                </a:lnTo>
                <a:lnTo>
                  <a:pt x="1551756" y="255707"/>
                </a:lnTo>
                <a:lnTo>
                  <a:pt x="1548208" y="290540"/>
                </a:lnTo>
                <a:lnTo>
                  <a:pt x="1530613" y="364012"/>
                </a:lnTo>
                <a:lnTo>
                  <a:pt x="1516734" y="402359"/>
                </a:lnTo>
                <a:lnTo>
                  <a:pt x="1499580" y="441587"/>
                </a:lnTo>
                <a:lnTo>
                  <a:pt x="1479234" y="481551"/>
                </a:lnTo>
                <a:lnTo>
                  <a:pt x="1455782" y="522104"/>
                </a:lnTo>
                <a:lnTo>
                  <a:pt x="1429306" y="563101"/>
                </a:lnTo>
                <a:lnTo>
                  <a:pt x="1399891" y="604398"/>
                </a:lnTo>
                <a:lnTo>
                  <a:pt x="1367621" y="645849"/>
                </a:lnTo>
                <a:lnTo>
                  <a:pt x="1332580" y="687307"/>
                </a:lnTo>
                <a:lnTo>
                  <a:pt x="1294852" y="728629"/>
                </a:lnTo>
                <a:lnTo>
                  <a:pt x="1254522" y="769668"/>
                </a:lnTo>
                <a:lnTo>
                  <a:pt x="1211673" y="810280"/>
                </a:lnTo>
                <a:lnTo>
                  <a:pt x="1166389" y="850318"/>
                </a:lnTo>
                <a:lnTo>
                  <a:pt x="1118755" y="889638"/>
                </a:lnTo>
                <a:lnTo>
                  <a:pt x="1068854" y="928093"/>
                </a:lnTo>
                <a:lnTo>
                  <a:pt x="1016771" y="965540"/>
                </a:lnTo>
                <a:lnTo>
                  <a:pt x="963478" y="1001243"/>
                </a:lnTo>
                <a:lnTo>
                  <a:pt x="910003" y="1034550"/>
                </a:lnTo>
                <a:lnTo>
                  <a:pt x="856510" y="1065430"/>
                </a:lnTo>
                <a:lnTo>
                  <a:pt x="803167" y="1093858"/>
                </a:lnTo>
                <a:lnTo>
                  <a:pt x="750137" y="1119803"/>
                </a:lnTo>
                <a:lnTo>
                  <a:pt x="697587" y="1143240"/>
                </a:lnTo>
                <a:lnTo>
                  <a:pt x="645682" y="1164139"/>
                </a:lnTo>
                <a:lnTo>
                  <a:pt x="594589" y="1182474"/>
                </a:lnTo>
                <a:lnTo>
                  <a:pt x="544472" y="1198215"/>
                </a:lnTo>
                <a:lnTo>
                  <a:pt x="495497" y="1211335"/>
                </a:lnTo>
                <a:lnTo>
                  <a:pt x="447830" y="1221805"/>
                </a:lnTo>
                <a:lnTo>
                  <a:pt x="401637" y="1229599"/>
                </a:lnTo>
                <a:lnTo>
                  <a:pt x="357082" y="1234689"/>
                </a:lnTo>
                <a:lnTo>
                  <a:pt x="314332" y="1237045"/>
                </a:lnTo>
                <a:lnTo>
                  <a:pt x="273553" y="1236640"/>
                </a:lnTo>
                <a:lnTo>
                  <a:pt x="234909" y="1233447"/>
                </a:lnTo>
                <a:lnTo>
                  <a:pt x="164691" y="1218583"/>
                </a:lnTo>
                <a:lnTo>
                  <a:pt x="105004" y="1192228"/>
                </a:lnTo>
                <a:lnTo>
                  <a:pt x="57172" y="1154160"/>
                </a:lnTo>
                <a:lnTo>
                  <a:pt x="38116" y="1130663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42300" y="3730244"/>
            <a:ext cx="880744" cy="1691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9050">
              <a:lnSpc>
                <a:spcPts val="2580"/>
              </a:lnSpc>
              <a:spcBef>
                <a:spcPts val="100"/>
              </a:spcBef>
            </a:pPr>
            <a:r>
              <a:rPr dirty="0" sz="2400" spc="-90">
                <a:solidFill>
                  <a:srgbClr val="C0504D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algn="r" marR="5080">
              <a:lnSpc>
                <a:spcPts val="2580"/>
              </a:lnSpc>
            </a:pPr>
            <a:r>
              <a:rPr dirty="0" sz="2400" spc="-114">
                <a:latin typeface="Cambria Math"/>
                <a:cs typeface="Cambria Math"/>
              </a:rPr>
              <a:t>𝑠</a:t>
            </a:r>
            <a:r>
              <a:rPr dirty="0" baseline="-15432" sz="2700" spc="-112">
                <a:latin typeface="Cambria Math"/>
                <a:cs typeface="Cambria Math"/>
              </a:rPr>
              <a:t>#</a:t>
            </a:r>
            <a:endParaRPr baseline="-15432" sz="2700">
              <a:latin typeface="Cambria Math"/>
              <a:cs typeface="Cambria Math"/>
            </a:endParaRPr>
          </a:p>
          <a:p>
            <a:pPr marL="12700" indent="429895">
              <a:lnSpc>
                <a:spcPct val="100000"/>
              </a:lnSpc>
              <a:spcBef>
                <a:spcPts val="525"/>
              </a:spcBef>
            </a:pPr>
            <a:r>
              <a:rPr dirty="0" sz="2400" spc="-310">
                <a:latin typeface="Cambria Math"/>
                <a:cs typeface="Cambria Math"/>
              </a:rPr>
              <a:t>𝑠</a:t>
            </a:r>
            <a:r>
              <a:rPr dirty="0" baseline="-15432" sz="2700" spc="-465">
                <a:latin typeface="Cambria Math"/>
                <a:cs typeface="Cambria Math"/>
              </a:rPr>
              <a:t>%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 sz="2000" spc="-40">
                <a:latin typeface="Arial"/>
                <a:cs typeface="Arial"/>
              </a:rPr>
              <a:t>Size-2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474123" y="4847778"/>
            <a:ext cx="76200" cy="287655"/>
          </a:xfrm>
          <a:custGeom>
            <a:avLst/>
            <a:gdLst/>
            <a:ahLst/>
            <a:cxnLst/>
            <a:rect l="l" t="t" r="r" b="b"/>
            <a:pathLst>
              <a:path w="76200" h="287654">
                <a:moveTo>
                  <a:pt x="47625" y="63500"/>
                </a:moveTo>
                <a:lnTo>
                  <a:pt x="28575" y="63500"/>
                </a:lnTo>
                <a:lnTo>
                  <a:pt x="28575" y="287276"/>
                </a:lnTo>
                <a:lnTo>
                  <a:pt x="47625" y="287276"/>
                </a:lnTo>
                <a:lnTo>
                  <a:pt x="47625" y="63500"/>
                </a:lnTo>
                <a:close/>
              </a:path>
              <a:path w="76200" h="287654">
                <a:moveTo>
                  <a:pt x="38101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1" y="0"/>
                </a:lnTo>
                <a:close/>
              </a:path>
              <a:path w="76200" h="287654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17509" y="4413232"/>
            <a:ext cx="1402715" cy="493395"/>
          </a:xfrm>
          <a:custGeom>
            <a:avLst/>
            <a:gdLst/>
            <a:ahLst/>
            <a:cxnLst/>
            <a:rect l="l" t="t" r="r" b="b"/>
            <a:pathLst>
              <a:path w="1402714" h="493395">
                <a:moveTo>
                  <a:pt x="75243" y="27073"/>
                </a:moveTo>
                <a:lnTo>
                  <a:pt x="69151" y="45122"/>
                </a:lnTo>
                <a:lnTo>
                  <a:pt x="1396145" y="493040"/>
                </a:lnTo>
                <a:lnTo>
                  <a:pt x="1402238" y="474990"/>
                </a:lnTo>
                <a:lnTo>
                  <a:pt x="75243" y="27073"/>
                </a:lnTo>
                <a:close/>
              </a:path>
              <a:path w="1402714" h="493395">
                <a:moveTo>
                  <a:pt x="84382" y="0"/>
                </a:moveTo>
                <a:lnTo>
                  <a:pt x="0" y="11728"/>
                </a:lnTo>
                <a:lnTo>
                  <a:pt x="60012" y="72196"/>
                </a:lnTo>
                <a:lnTo>
                  <a:pt x="69151" y="45122"/>
                </a:lnTo>
                <a:lnTo>
                  <a:pt x="57115" y="41060"/>
                </a:lnTo>
                <a:lnTo>
                  <a:pt x="63207" y="23011"/>
                </a:lnTo>
                <a:lnTo>
                  <a:pt x="76615" y="23011"/>
                </a:lnTo>
                <a:lnTo>
                  <a:pt x="84382" y="0"/>
                </a:lnTo>
                <a:close/>
              </a:path>
              <a:path w="1402714" h="493395">
                <a:moveTo>
                  <a:pt x="63207" y="23011"/>
                </a:moveTo>
                <a:lnTo>
                  <a:pt x="57115" y="41060"/>
                </a:lnTo>
                <a:lnTo>
                  <a:pt x="69151" y="45122"/>
                </a:lnTo>
                <a:lnTo>
                  <a:pt x="75243" y="27073"/>
                </a:lnTo>
                <a:lnTo>
                  <a:pt x="63207" y="23011"/>
                </a:lnTo>
                <a:close/>
              </a:path>
              <a:path w="1402714" h="493395">
                <a:moveTo>
                  <a:pt x="76615" y="23011"/>
                </a:moveTo>
                <a:lnTo>
                  <a:pt x="63207" y="23011"/>
                </a:lnTo>
                <a:lnTo>
                  <a:pt x="75243" y="27073"/>
                </a:lnTo>
                <a:lnTo>
                  <a:pt x="76615" y="230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385549" y="4201776"/>
            <a:ext cx="2085975" cy="380365"/>
          </a:xfrm>
          <a:custGeom>
            <a:avLst/>
            <a:gdLst/>
            <a:ahLst/>
            <a:cxnLst/>
            <a:rect l="l" t="t" r="r" b="b"/>
            <a:pathLst>
              <a:path w="2085975" h="380364">
                <a:moveTo>
                  <a:pt x="19714" y="329364"/>
                </a:moveTo>
                <a:lnTo>
                  <a:pt x="5685" y="329364"/>
                </a:lnTo>
                <a:lnTo>
                  <a:pt x="0" y="335050"/>
                </a:lnTo>
                <a:lnTo>
                  <a:pt x="0" y="349103"/>
                </a:lnTo>
                <a:lnTo>
                  <a:pt x="5685" y="354789"/>
                </a:lnTo>
                <a:lnTo>
                  <a:pt x="19714" y="354789"/>
                </a:lnTo>
                <a:lnTo>
                  <a:pt x="25400" y="349103"/>
                </a:lnTo>
                <a:lnTo>
                  <a:pt x="25400" y="335050"/>
                </a:lnTo>
                <a:lnTo>
                  <a:pt x="19714" y="329364"/>
                </a:lnTo>
                <a:close/>
              </a:path>
              <a:path w="2085975" h="380364">
                <a:moveTo>
                  <a:pt x="19714" y="278538"/>
                </a:moveTo>
                <a:lnTo>
                  <a:pt x="5685" y="278538"/>
                </a:lnTo>
                <a:lnTo>
                  <a:pt x="0" y="284224"/>
                </a:lnTo>
                <a:lnTo>
                  <a:pt x="0" y="298278"/>
                </a:lnTo>
                <a:lnTo>
                  <a:pt x="5685" y="303964"/>
                </a:lnTo>
                <a:lnTo>
                  <a:pt x="19714" y="303964"/>
                </a:lnTo>
                <a:lnTo>
                  <a:pt x="25400" y="298278"/>
                </a:lnTo>
                <a:lnTo>
                  <a:pt x="25400" y="284224"/>
                </a:lnTo>
                <a:lnTo>
                  <a:pt x="19714" y="278538"/>
                </a:lnTo>
                <a:close/>
              </a:path>
              <a:path w="2085975" h="380364">
                <a:moveTo>
                  <a:pt x="19714" y="227713"/>
                </a:moveTo>
                <a:lnTo>
                  <a:pt x="5685" y="227713"/>
                </a:lnTo>
                <a:lnTo>
                  <a:pt x="0" y="233399"/>
                </a:lnTo>
                <a:lnTo>
                  <a:pt x="0" y="247453"/>
                </a:lnTo>
                <a:lnTo>
                  <a:pt x="5685" y="253138"/>
                </a:lnTo>
                <a:lnTo>
                  <a:pt x="19714" y="253138"/>
                </a:lnTo>
                <a:lnTo>
                  <a:pt x="25400" y="247453"/>
                </a:lnTo>
                <a:lnTo>
                  <a:pt x="25400" y="233399"/>
                </a:lnTo>
                <a:lnTo>
                  <a:pt x="19714" y="227713"/>
                </a:lnTo>
                <a:close/>
              </a:path>
              <a:path w="2085975" h="380364">
                <a:moveTo>
                  <a:pt x="19714" y="176888"/>
                </a:moveTo>
                <a:lnTo>
                  <a:pt x="5685" y="176888"/>
                </a:lnTo>
                <a:lnTo>
                  <a:pt x="0" y="182573"/>
                </a:lnTo>
                <a:lnTo>
                  <a:pt x="0" y="196627"/>
                </a:lnTo>
                <a:lnTo>
                  <a:pt x="5685" y="202313"/>
                </a:lnTo>
                <a:lnTo>
                  <a:pt x="19714" y="202313"/>
                </a:lnTo>
                <a:lnTo>
                  <a:pt x="25400" y="196627"/>
                </a:lnTo>
                <a:lnTo>
                  <a:pt x="25400" y="182573"/>
                </a:lnTo>
                <a:lnTo>
                  <a:pt x="19714" y="176888"/>
                </a:lnTo>
                <a:close/>
              </a:path>
              <a:path w="2085975" h="380364">
                <a:moveTo>
                  <a:pt x="19714" y="126062"/>
                </a:moveTo>
                <a:lnTo>
                  <a:pt x="5685" y="126062"/>
                </a:lnTo>
                <a:lnTo>
                  <a:pt x="0" y="131748"/>
                </a:lnTo>
                <a:lnTo>
                  <a:pt x="0" y="145802"/>
                </a:lnTo>
                <a:lnTo>
                  <a:pt x="5685" y="151488"/>
                </a:lnTo>
                <a:lnTo>
                  <a:pt x="19714" y="151488"/>
                </a:lnTo>
                <a:lnTo>
                  <a:pt x="25400" y="145802"/>
                </a:lnTo>
                <a:lnTo>
                  <a:pt x="25400" y="131748"/>
                </a:lnTo>
                <a:lnTo>
                  <a:pt x="19714" y="126062"/>
                </a:lnTo>
                <a:close/>
              </a:path>
              <a:path w="2085975" h="380364">
                <a:moveTo>
                  <a:pt x="19714" y="75237"/>
                </a:moveTo>
                <a:lnTo>
                  <a:pt x="5685" y="75237"/>
                </a:lnTo>
                <a:lnTo>
                  <a:pt x="0" y="80923"/>
                </a:lnTo>
                <a:lnTo>
                  <a:pt x="0" y="94976"/>
                </a:lnTo>
                <a:lnTo>
                  <a:pt x="5685" y="100662"/>
                </a:lnTo>
                <a:lnTo>
                  <a:pt x="19714" y="100662"/>
                </a:lnTo>
                <a:lnTo>
                  <a:pt x="25400" y="94976"/>
                </a:lnTo>
                <a:lnTo>
                  <a:pt x="25400" y="80923"/>
                </a:lnTo>
                <a:lnTo>
                  <a:pt x="19714" y="75237"/>
                </a:lnTo>
                <a:close/>
              </a:path>
              <a:path w="2085975" h="380364">
                <a:moveTo>
                  <a:pt x="19714" y="24411"/>
                </a:moveTo>
                <a:lnTo>
                  <a:pt x="5685" y="24411"/>
                </a:lnTo>
                <a:lnTo>
                  <a:pt x="0" y="30097"/>
                </a:lnTo>
                <a:lnTo>
                  <a:pt x="0" y="44151"/>
                </a:lnTo>
                <a:lnTo>
                  <a:pt x="5685" y="49837"/>
                </a:lnTo>
                <a:lnTo>
                  <a:pt x="19714" y="49837"/>
                </a:lnTo>
                <a:lnTo>
                  <a:pt x="25400" y="44151"/>
                </a:lnTo>
                <a:lnTo>
                  <a:pt x="25400" y="30097"/>
                </a:lnTo>
                <a:lnTo>
                  <a:pt x="19714" y="24411"/>
                </a:lnTo>
                <a:close/>
              </a:path>
              <a:path w="2085975" h="380364">
                <a:moveTo>
                  <a:pt x="46126" y="0"/>
                </a:moveTo>
                <a:lnTo>
                  <a:pt x="32073" y="0"/>
                </a:lnTo>
                <a:lnTo>
                  <a:pt x="26388" y="5685"/>
                </a:lnTo>
                <a:lnTo>
                  <a:pt x="26388" y="19714"/>
                </a:lnTo>
                <a:lnTo>
                  <a:pt x="32073" y="25400"/>
                </a:lnTo>
                <a:lnTo>
                  <a:pt x="46126" y="25400"/>
                </a:lnTo>
                <a:lnTo>
                  <a:pt x="51813" y="19714"/>
                </a:lnTo>
                <a:lnTo>
                  <a:pt x="51813" y="5685"/>
                </a:lnTo>
                <a:lnTo>
                  <a:pt x="46126" y="0"/>
                </a:lnTo>
                <a:close/>
              </a:path>
              <a:path w="2085975" h="380364">
                <a:moveTo>
                  <a:pt x="96951" y="0"/>
                </a:moveTo>
                <a:lnTo>
                  <a:pt x="82899" y="0"/>
                </a:lnTo>
                <a:lnTo>
                  <a:pt x="77213" y="5685"/>
                </a:lnTo>
                <a:lnTo>
                  <a:pt x="77213" y="19714"/>
                </a:lnTo>
                <a:lnTo>
                  <a:pt x="82899" y="25400"/>
                </a:lnTo>
                <a:lnTo>
                  <a:pt x="96951" y="25400"/>
                </a:lnTo>
                <a:lnTo>
                  <a:pt x="102638" y="19714"/>
                </a:lnTo>
                <a:lnTo>
                  <a:pt x="102638" y="5685"/>
                </a:lnTo>
                <a:lnTo>
                  <a:pt x="96951" y="0"/>
                </a:lnTo>
                <a:close/>
              </a:path>
              <a:path w="2085975" h="380364">
                <a:moveTo>
                  <a:pt x="147777" y="0"/>
                </a:moveTo>
                <a:lnTo>
                  <a:pt x="133724" y="0"/>
                </a:lnTo>
                <a:lnTo>
                  <a:pt x="128038" y="5685"/>
                </a:lnTo>
                <a:lnTo>
                  <a:pt x="128038" y="19714"/>
                </a:lnTo>
                <a:lnTo>
                  <a:pt x="133724" y="25400"/>
                </a:lnTo>
                <a:lnTo>
                  <a:pt x="147777" y="25400"/>
                </a:lnTo>
                <a:lnTo>
                  <a:pt x="153464" y="19714"/>
                </a:lnTo>
                <a:lnTo>
                  <a:pt x="153464" y="5685"/>
                </a:lnTo>
                <a:lnTo>
                  <a:pt x="147777" y="0"/>
                </a:lnTo>
                <a:close/>
              </a:path>
              <a:path w="2085975" h="380364">
                <a:moveTo>
                  <a:pt x="198602" y="0"/>
                </a:moveTo>
                <a:lnTo>
                  <a:pt x="184550" y="0"/>
                </a:lnTo>
                <a:lnTo>
                  <a:pt x="178864" y="5685"/>
                </a:lnTo>
                <a:lnTo>
                  <a:pt x="178864" y="19714"/>
                </a:lnTo>
                <a:lnTo>
                  <a:pt x="184550" y="25400"/>
                </a:lnTo>
                <a:lnTo>
                  <a:pt x="198602" y="25400"/>
                </a:lnTo>
                <a:lnTo>
                  <a:pt x="204289" y="19714"/>
                </a:lnTo>
                <a:lnTo>
                  <a:pt x="204289" y="5685"/>
                </a:lnTo>
                <a:lnTo>
                  <a:pt x="198602" y="0"/>
                </a:lnTo>
                <a:close/>
              </a:path>
              <a:path w="2085975" h="380364">
                <a:moveTo>
                  <a:pt x="249427" y="0"/>
                </a:moveTo>
                <a:lnTo>
                  <a:pt x="235375" y="0"/>
                </a:lnTo>
                <a:lnTo>
                  <a:pt x="229689" y="5685"/>
                </a:lnTo>
                <a:lnTo>
                  <a:pt x="229689" y="19714"/>
                </a:lnTo>
                <a:lnTo>
                  <a:pt x="235375" y="25400"/>
                </a:lnTo>
                <a:lnTo>
                  <a:pt x="249427" y="25400"/>
                </a:lnTo>
                <a:lnTo>
                  <a:pt x="255115" y="19714"/>
                </a:lnTo>
                <a:lnTo>
                  <a:pt x="255115" y="5685"/>
                </a:lnTo>
                <a:lnTo>
                  <a:pt x="249427" y="0"/>
                </a:lnTo>
                <a:close/>
              </a:path>
              <a:path w="2085975" h="380364">
                <a:moveTo>
                  <a:pt x="300253" y="0"/>
                </a:moveTo>
                <a:lnTo>
                  <a:pt x="286200" y="0"/>
                </a:lnTo>
                <a:lnTo>
                  <a:pt x="280515" y="5685"/>
                </a:lnTo>
                <a:lnTo>
                  <a:pt x="280515" y="19714"/>
                </a:lnTo>
                <a:lnTo>
                  <a:pt x="286200" y="25400"/>
                </a:lnTo>
                <a:lnTo>
                  <a:pt x="300253" y="25400"/>
                </a:lnTo>
                <a:lnTo>
                  <a:pt x="305940" y="19714"/>
                </a:lnTo>
                <a:lnTo>
                  <a:pt x="305940" y="5685"/>
                </a:lnTo>
                <a:lnTo>
                  <a:pt x="300253" y="0"/>
                </a:lnTo>
                <a:close/>
              </a:path>
              <a:path w="2085975" h="380364">
                <a:moveTo>
                  <a:pt x="351078" y="0"/>
                </a:moveTo>
                <a:lnTo>
                  <a:pt x="337026" y="0"/>
                </a:lnTo>
                <a:lnTo>
                  <a:pt x="331340" y="5685"/>
                </a:lnTo>
                <a:lnTo>
                  <a:pt x="331340" y="19714"/>
                </a:lnTo>
                <a:lnTo>
                  <a:pt x="337026" y="25400"/>
                </a:lnTo>
                <a:lnTo>
                  <a:pt x="351078" y="25400"/>
                </a:lnTo>
                <a:lnTo>
                  <a:pt x="356765" y="19714"/>
                </a:lnTo>
                <a:lnTo>
                  <a:pt x="356765" y="5685"/>
                </a:lnTo>
                <a:lnTo>
                  <a:pt x="351078" y="0"/>
                </a:lnTo>
                <a:close/>
              </a:path>
              <a:path w="2085975" h="380364">
                <a:moveTo>
                  <a:pt x="401904" y="0"/>
                </a:moveTo>
                <a:lnTo>
                  <a:pt x="387851" y="0"/>
                </a:lnTo>
                <a:lnTo>
                  <a:pt x="382165" y="5685"/>
                </a:lnTo>
                <a:lnTo>
                  <a:pt x="382165" y="19714"/>
                </a:lnTo>
                <a:lnTo>
                  <a:pt x="387851" y="25400"/>
                </a:lnTo>
                <a:lnTo>
                  <a:pt x="401904" y="25400"/>
                </a:lnTo>
                <a:lnTo>
                  <a:pt x="407591" y="19714"/>
                </a:lnTo>
                <a:lnTo>
                  <a:pt x="407591" y="5685"/>
                </a:lnTo>
                <a:lnTo>
                  <a:pt x="401904" y="0"/>
                </a:lnTo>
                <a:close/>
              </a:path>
              <a:path w="2085975" h="380364">
                <a:moveTo>
                  <a:pt x="452729" y="0"/>
                </a:moveTo>
                <a:lnTo>
                  <a:pt x="438677" y="0"/>
                </a:lnTo>
                <a:lnTo>
                  <a:pt x="432991" y="5685"/>
                </a:lnTo>
                <a:lnTo>
                  <a:pt x="432991" y="19714"/>
                </a:lnTo>
                <a:lnTo>
                  <a:pt x="438677" y="25400"/>
                </a:lnTo>
                <a:lnTo>
                  <a:pt x="452729" y="25400"/>
                </a:lnTo>
                <a:lnTo>
                  <a:pt x="458416" y="19714"/>
                </a:lnTo>
                <a:lnTo>
                  <a:pt x="458416" y="5685"/>
                </a:lnTo>
                <a:lnTo>
                  <a:pt x="452729" y="0"/>
                </a:lnTo>
                <a:close/>
              </a:path>
              <a:path w="2085975" h="380364">
                <a:moveTo>
                  <a:pt x="503554" y="0"/>
                </a:moveTo>
                <a:lnTo>
                  <a:pt x="489502" y="0"/>
                </a:lnTo>
                <a:lnTo>
                  <a:pt x="483816" y="5685"/>
                </a:lnTo>
                <a:lnTo>
                  <a:pt x="483816" y="19714"/>
                </a:lnTo>
                <a:lnTo>
                  <a:pt x="489502" y="25400"/>
                </a:lnTo>
                <a:lnTo>
                  <a:pt x="503554" y="25400"/>
                </a:lnTo>
                <a:lnTo>
                  <a:pt x="509242" y="19714"/>
                </a:lnTo>
                <a:lnTo>
                  <a:pt x="509242" y="5685"/>
                </a:lnTo>
                <a:lnTo>
                  <a:pt x="503554" y="0"/>
                </a:lnTo>
                <a:close/>
              </a:path>
              <a:path w="2085975" h="380364">
                <a:moveTo>
                  <a:pt x="554380" y="0"/>
                </a:moveTo>
                <a:lnTo>
                  <a:pt x="540327" y="0"/>
                </a:lnTo>
                <a:lnTo>
                  <a:pt x="534642" y="5685"/>
                </a:lnTo>
                <a:lnTo>
                  <a:pt x="534642" y="19714"/>
                </a:lnTo>
                <a:lnTo>
                  <a:pt x="540327" y="25400"/>
                </a:lnTo>
                <a:lnTo>
                  <a:pt x="554380" y="25400"/>
                </a:lnTo>
                <a:lnTo>
                  <a:pt x="560067" y="19714"/>
                </a:lnTo>
                <a:lnTo>
                  <a:pt x="560067" y="5685"/>
                </a:lnTo>
                <a:lnTo>
                  <a:pt x="554380" y="0"/>
                </a:lnTo>
                <a:close/>
              </a:path>
              <a:path w="2085975" h="380364">
                <a:moveTo>
                  <a:pt x="605205" y="0"/>
                </a:moveTo>
                <a:lnTo>
                  <a:pt x="591153" y="0"/>
                </a:lnTo>
                <a:lnTo>
                  <a:pt x="585467" y="5685"/>
                </a:lnTo>
                <a:lnTo>
                  <a:pt x="585467" y="19714"/>
                </a:lnTo>
                <a:lnTo>
                  <a:pt x="591153" y="25400"/>
                </a:lnTo>
                <a:lnTo>
                  <a:pt x="605205" y="25400"/>
                </a:lnTo>
                <a:lnTo>
                  <a:pt x="610892" y="19714"/>
                </a:lnTo>
                <a:lnTo>
                  <a:pt x="610892" y="5685"/>
                </a:lnTo>
                <a:lnTo>
                  <a:pt x="605205" y="0"/>
                </a:lnTo>
                <a:close/>
              </a:path>
              <a:path w="2085975" h="380364">
                <a:moveTo>
                  <a:pt x="656031" y="0"/>
                </a:moveTo>
                <a:lnTo>
                  <a:pt x="641978" y="0"/>
                </a:lnTo>
                <a:lnTo>
                  <a:pt x="636292" y="5685"/>
                </a:lnTo>
                <a:lnTo>
                  <a:pt x="636292" y="19714"/>
                </a:lnTo>
                <a:lnTo>
                  <a:pt x="641978" y="25400"/>
                </a:lnTo>
                <a:lnTo>
                  <a:pt x="656031" y="25400"/>
                </a:lnTo>
                <a:lnTo>
                  <a:pt x="661716" y="19714"/>
                </a:lnTo>
                <a:lnTo>
                  <a:pt x="661716" y="5685"/>
                </a:lnTo>
                <a:lnTo>
                  <a:pt x="656031" y="0"/>
                </a:lnTo>
                <a:close/>
              </a:path>
              <a:path w="2085975" h="380364">
                <a:moveTo>
                  <a:pt x="706856" y="0"/>
                </a:moveTo>
                <a:lnTo>
                  <a:pt x="692804" y="0"/>
                </a:lnTo>
                <a:lnTo>
                  <a:pt x="687116" y="5685"/>
                </a:lnTo>
                <a:lnTo>
                  <a:pt x="687116" y="19714"/>
                </a:lnTo>
                <a:lnTo>
                  <a:pt x="692804" y="25400"/>
                </a:lnTo>
                <a:lnTo>
                  <a:pt x="706856" y="25400"/>
                </a:lnTo>
                <a:lnTo>
                  <a:pt x="712542" y="19714"/>
                </a:lnTo>
                <a:lnTo>
                  <a:pt x="712542" y="5685"/>
                </a:lnTo>
                <a:lnTo>
                  <a:pt x="706856" y="0"/>
                </a:lnTo>
                <a:close/>
              </a:path>
              <a:path w="2085975" h="380364">
                <a:moveTo>
                  <a:pt x="757681" y="0"/>
                </a:moveTo>
                <a:lnTo>
                  <a:pt x="743629" y="0"/>
                </a:lnTo>
                <a:lnTo>
                  <a:pt x="737942" y="5685"/>
                </a:lnTo>
                <a:lnTo>
                  <a:pt x="737942" y="19714"/>
                </a:lnTo>
                <a:lnTo>
                  <a:pt x="743629" y="25400"/>
                </a:lnTo>
                <a:lnTo>
                  <a:pt x="757681" y="25400"/>
                </a:lnTo>
                <a:lnTo>
                  <a:pt x="763367" y="19714"/>
                </a:lnTo>
                <a:lnTo>
                  <a:pt x="763367" y="5685"/>
                </a:lnTo>
                <a:lnTo>
                  <a:pt x="757681" y="0"/>
                </a:lnTo>
                <a:close/>
              </a:path>
              <a:path w="2085975" h="380364">
                <a:moveTo>
                  <a:pt x="808507" y="0"/>
                </a:moveTo>
                <a:lnTo>
                  <a:pt x="794454" y="0"/>
                </a:lnTo>
                <a:lnTo>
                  <a:pt x="788767" y="5685"/>
                </a:lnTo>
                <a:lnTo>
                  <a:pt x="788767" y="19714"/>
                </a:lnTo>
                <a:lnTo>
                  <a:pt x="794454" y="25400"/>
                </a:lnTo>
                <a:lnTo>
                  <a:pt x="808507" y="25400"/>
                </a:lnTo>
                <a:lnTo>
                  <a:pt x="814193" y="19714"/>
                </a:lnTo>
                <a:lnTo>
                  <a:pt x="814193" y="5685"/>
                </a:lnTo>
                <a:lnTo>
                  <a:pt x="808507" y="0"/>
                </a:lnTo>
                <a:close/>
              </a:path>
              <a:path w="2085975" h="380364">
                <a:moveTo>
                  <a:pt x="859332" y="0"/>
                </a:moveTo>
                <a:lnTo>
                  <a:pt x="845280" y="0"/>
                </a:lnTo>
                <a:lnTo>
                  <a:pt x="839593" y="5685"/>
                </a:lnTo>
                <a:lnTo>
                  <a:pt x="839593" y="19714"/>
                </a:lnTo>
                <a:lnTo>
                  <a:pt x="845280" y="25400"/>
                </a:lnTo>
                <a:lnTo>
                  <a:pt x="859332" y="25400"/>
                </a:lnTo>
                <a:lnTo>
                  <a:pt x="865018" y="19714"/>
                </a:lnTo>
                <a:lnTo>
                  <a:pt x="865018" y="5685"/>
                </a:lnTo>
                <a:lnTo>
                  <a:pt x="859332" y="0"/>
                </a:lnTo>
                <a:close/>
              </a:path>
              <a:path w="2085975" h="380364">
                <a:moveTo>
                  <a:pt x="910158" y="0"/>
                </a:moveTo>
                <a:lnTo>
                  <a:pt x="896105" y="0"/>
                </a:lnTo>
                <a:lnTo>
                  <a:pt x="890418" y="5685"/>
                </a:lnTo>
                <a:lnTo>
                  <a:pt x="890418" y="19714"/>
                </a:lnTo>
                <a:lnTo>
                  <a:pt x="896105" y="25400"/>
                </a:lnTo>
                <a:lnTo>
                  <a:pt x="910158" y="25400"/>
                </a:lnTo>
                <a:lnTo>
                  <a:pt x="915843" y="19714"/>
                </a:lnTo>
                <a:lnTo>
                  <a:pt x="915843" y="5685"/>
                </a:lnTo>
                <a:lnTo>
                  <a:pt x="910158" y="0"/>
                </a:lnTo>
                <a:close/>
              </a:path>
              <a:path w="2085975" h="380364">
                <a:moveTo>
                  <a:pt x="960983" y="0"/>
                </a:moveTo>
                <a:lnTo>
                  <a:pt x="946931" y="0"/>
                </a:lnTo>
                <a:lnTo>
                  <a:pt x="941243" y="5685"/>
                </a:lnTo>
                <a:lnTo>
                  <a:pt x="941243" y="19714"/>
                </a:lnTo>
                <a:lnTo>
                  <a:pt x="946931" y="25400"/>
                </a:lnTo>
                <a:lnTo>
                  <a:pt x="960983" y="25400"/>
                </a:lnTo>
                <a:lnTo>
                  <a:pt x="966669" y="19714"/>
                </a:lnTo>
                <a:lnTo>
                  <a:pt x="966669" y="5685"/>
                </a:lnTo>
                <a:lnTo>
                  <a:pt x="960983" y="0"/>
                </a:lnTo>
                <a:close/>
              </a:path>
              <a:path w="2085975" h="380364">
                <a:moveTo>
                  <a:pt x="1011808" y="0"/>
                </a:moveTo>
                <a:lnTo>
                  <a:pt x="997756" y="0"/>
                </a:lnTo>
                <a:lnTo>
                  <a:pt x="992069" y="5685"/>
                </a:lnTo>
                <a:lnTo>
                  <a:pt x="992069" y="19714"/>
                </a:lnTo>
                <a:lnTo>
                  <a:pt x="997756" y="25400"/>
                </a:lnTo>
                <a:lnTo>
                  <a:pt x="1011808" y="25400"/>
                </a:lnTo>
                <a:lnTo>
                  <a:pt x="1017494" y="19714"/>
                </a:lnTo>
                <a:lnTo>
                  <a:pt x="1017494" y="5685"/>
                </a:lnTo>
                <a:lnTo>
                  <a:pt x="1011808" y="0"/>
                </a:lnTo>
                <a:close/>
              </a:path>
              <a:path w="2085975" h="380364">
                <a:moveTo>
                  <a:pt x="1062634" y="0"/>
                </a:moveTo>
                <a:lnTo>
                  <a:pt x="1048581" y="0"/>
                </a:lnTo>
                <a:lnTo>
                  <a:pt x="1042894" y="5685"/>
                </a:lnTo>
                <a:lnTo>
                  <a:pt x="1042894" y="19714"/>
                </a:lnTo>
                <a:lnTo>
                  <a:pt x="1048581" y="25400"/>
                </a:lnTo>
                <a:lnTo>
                  <a:pt x="1062634" y="25400"/>
                </a:lnTo>
                <a:lnTo>
                  <a:pt x="1068320" y="19714"/>
                </a:lnTo>
                <a:lnTo>
                  <a:pt x="1068320" y="5685"/>
                </a:lnTo>
                <a:lnTo>
                  <a:pt x="1062634" y="0"/>
                </a:lnTo>
                <a:close/>
              </a:path>
              <a:path w="2085975" h="380364">
                <a:moveTo>
                  <a:pt x="1113459" y="0"/>
                </a:moveTo>
                <a:lnTo>
                  <a:pt x="1099405" y="0"/>
                </a:lnTo>
                <a:lnTo>
                  <a:pt x="1093720" y="5685"/>
                </a:lnTo>
                <a:lnTo>
                  <a:pt x="1093720" y="19714"/>
                </a:lnTo>
                <a:lnTo>
                  <a:pt x="1099405" y="25400"/>
                </a:lnTo>
                <a:lnTo>
                  <a:pt x="1113459" y="25400"/>
                </a:lnTo>
                <a:lnTo>
                  <a:pt x="1119145" y="19714"/>
                </a:lnTo>
                <a:lnTo>
                  <a:pt x="1119145" y="5685"/>
                </a:lnTo>
                <a:lnTo>
                  <a:pt x="1113459" y="0"/>
                </a:lnTo>
                <a:close/>
              </a:path>
              <a:path w="2085975" h="380364">
                <a:moveTo>
                  <a:pt x="1164285" y="0"/>
                </a:moveTo>
                <a:lnTo>
                  <a:pt x="1150231" y="0"/>
                </a:lnTo>
                <a:lnTo>
                  <a:pt x="1144545" y="5685"/>
                </a:lnTo>
                <a:lnTo>
                  <a:pt x="1144545" y="19714"/>
                </a:lnTo>
                <a:lnTo>
                  <a:pt x="1150231" y="25400"/>
                </a:lnTo>
                <a:lnTo>
                  <a:pt x="1164285" y="25400"/>
                </a:lnTo>
                <a:lnTo>
                  <a:pt x="1169970" y="19714"/>
                </a:lnTo>
                <a:lnTo>
                  <a:pt x="1169970" y="5685"/>
                </a:lnTo>
                <a:lnTo>
                  <a:pt x="1164285" y="0"/>
                </a:lnTo>
                <a:close/>
              </a:path>
              <a:path w="2085975" h="380364">
                <a:moveTo>
                  <a:pt x="1215110" y="0"/>
                </a:moveTo>
                <a:lnTo>
                  <a:pt x="1201056" y="0"/>
                </a:lnTo>
                <a:lnTo>
                  <a:pt x="1195370" y="5685"/>
                </a:lnTo>
                <a:lnTo>
                  <a:pt x="1195370" y="19714"/>
                </a:lnTo>
                <a:lnTo>
                  <a:pt x="1201056" y="25400"/>
                </a:lnTo>
                <a:lnTo>
                  <a:pt x="1215110" y="25400"/>
                </a:lnTo>
                <a:lnTo>
                  <a:pt x="1220796" y="19714"/>
                </a:lnTo>
                <a:lnTo>
                  <a:pt x="1220796" y="5685"/>
                </a:lnTo>
                <a:lnTo>
                  <a:pt x="1215110" y="0"/>
                </a:lnTo>
                <a:close/>
              </a:path>
              <a:path w="2085975" h="380364">
                <a:moveTo>
                  <a:pt x="1265936" y="0"/>
                </a:moveTo>
                <a:lnTo>
                  <a:pt x="1251882" y="0"/>
                </a:lnTo>
                <a:lnTo>
                  <a:pt x="1246196" y="5685"/>
                </a:lnTo>
                <a:lnTo>
                  <a:pt x="1246196" y="19714"/>
                </a:lnTo>
                <a:lnTo>
                  <a:pt x="1251882" y="25400"/>
                </a:lnTo>
                <a:lnTo>
                  <a:pt x="1265936" y="25400"/>
                </a:lnTo>
                <a:lnTo>
                  <a:pt x="1271621" y="19714"/>
                </a:lnTo>
                <a:lnTo>
                  <a:pt x="1271621" y="5685"/>
                </a:lnTo>
                <a:lnTo>
                  <a:pt x="1265936" y="0"/>
                </a:lnTo>
                <a:close/>
              </a:path>
              <a:path w="2085975" h="380364">
                <a:moveTo>
                  <a:pt x="1316761" y="0"/>
                </a:moveTo>
                <a:lnTo>
                  <a:pt x="1302707" y="0"/>
                </a:lnTo>
                <a:lnTo>
                  <a:pt x="1297021" y="5685"/>
                </a:lnTo>
                <a:lnTo>
                  <a:pt x="1297021" y="19714"/>
                </a:lnTo>
                <a:lnTo>
                  <a:pt x="1302707" y="25400"/>
                </a:lnTo>
                <a:lnTo>
                  <a:pt x="1316761" y="25400"/>
                </a:lnTo>
                <a:lnTo>
                  <a:pt x="1322447" y="19714"/>
                </a:lnTo>
                <a:lnTo>
                  <a:pt x="1322447" y="5685"/>
                </a:lnTo>
                <a:lnTo>
                  <a:pt x="1316761" y="0"/>
                </a:lnTo>
                <a:close/>
              </a:path>
              <a:path w="2085975" h="380364">
                <a:moveTo>
                  <a:pt x="1367586" y="0"/>
                </a:moveTo>
                <a:lnTo>
                  <a:pt x="1353532" y="0"/>
                </a:lnTo>
                <a:lnTo>
                  <a:pt x="1347847" y="5685"/>
                </a:lnTo>
                <a:lnTo>
                  <a:pt x="1347847" y="19714"/>
                </a:lnTo>
                <a:lnTo>
                  <a:pt x="1353532" y="25400"/>
                </a:lnTo>
                <a:lnTo>
                  <a:pt x="1367586" y="25400"/>
                </a:lnTo>
                <a:lnTo>
                  <a:pt x="1373272" y="19714"/>
                </a:lnTo>
                <a:lnTo>
                  <a:pt x="1373272" y="5685"/>
                </a:lnTo>
                <a:lnTo>
                  <a:pt x="1367586" y="0"/>
                </a:lnTo>
                <a:close/>
              </a:path>
              <a:path w="2085975" h="380364">
                <a:moveTo>
                  <a:pt x="1418412" y="0"/>
                </a:moveTo>
                <a:lnTo>
                  <a:pt x="1404358" y="0"/>
                </a:lnTo>
                <a:lnTo>
                  <a:pt x="1398672" y="5685"/>
                </a:lnTo>
                <a:lnTo>
                  <a:pt x="1398672" y="19714"/>
                </a:lnTo>
                <a:lnTo>
                  <a:pt x="1404358" y="25400"/>
                </a:lnTo>
                <a:lnTo>
                  <a:pt x="1418412" y="25400"/>
                </a:lnTo>
                <a:lnTo>
                  <a:pt x="1424097" y="19714"/>
                </a:lnTo>
                <a:lnTo>
                  <a:pt x="1424097" y="5685"/>
                </a:lnTo>
                <a:lnTo>
                  <a:pt x="1418412" y="0"/>
                </a:lnTo>
                <a:close/>
              </a:path>
              <a:path w="2085975" h="380364">
                <a:moveTo>
                  <a:pt x="1469237" y="0"/>
                </a:moveTo>
                <a:lnTo>
                  <a:pt x="1455183" y="0"/>
                </a:lnTo>
                <a:lnTo>
                  <a:pt x="1449497" y="5685"/>
                </a:lnTo>
                <a:lnTo>
                  <a:pt x="1449497" y="19714"/>
                </a:lnTo>
                <a:lnTo>
                  <a:pt x="1455183" y="25400"/>
                </a:lnTo>
                <a:lnTo>
                  <a:pt x="1469237" y="25400"/>
                </a:lnTo>
                <a:lnTo>
                  <a:pt x="1474923" y="19714"/>
                </a:lnTo>
                <a:lnTo>
                  <a:pt x="1474923" y="5685"/>
                </a:lnTo>
                <a:lnTo>
                  <a:pt x="1469237" y="0"/>
                </a:lnTo>
                <a:close/>
              </a:path>
              <a:path w="2085975" h="380364">
                <a:moveTo>
                  <a:pt x="1520063" y="0"/>
                </a:moveTo>
                <a:lnTo>
                  <a:pt x="1506009" y="0"/>
                </a:lnTo>
                <a:lnTo>
                  <a:pt x="1500323" y="5685"/>
                </a:lnTo>
                <a:lnTo>
                  <a:pt x="1500323" y="19714"/>
                </a:lnTo>
                <a:lnTo>
                  <a:pt x="1506009" y="25400"/>
                </a:lnTo>
                <a:lnTo>
                  <a:pt x="1520063" y="25400"/>
                </a:lnTo>
                <a:lnTo>
                  <a:pt x="1525748" y="19714"/>
                </a:lnTo>
                <a:lnTo>
                  <a:pt x="1525748" y="5685"/>
                </a:lnTo>
                <a:lnTo>
                  <a:pt x="1520063" y="0"/>
                </a:lnTo>
                <a:close/>
              </a:path>
              <a:path w="2085975" h="380364">
                <a:moveTo>
                  <a:pt x="1570888" y="0"/>
                </a:moveTo>
                <a:lnTo>
                  <a:pt x="1556834" y="0"/>
                </a:lnTo>
                <a:lnTo>
                  <a:pt x="1551148" y="5685"/>
                </a:lnTo>
                <a:lnTo>
                  <a:pt x="1551148" y="19714"/>
                </a:lnTo>
                <a:lnTo>
                  <a:pt x="1556834" y="25400"/>
                </a:lnTo>
                <a:lnTo>
                  <a:pt x="1570888" y="25400"/>
                </a:lnTo>
                <a:lnTo>
                  <a:pt x="1576574" y="19714"/>
                </a:lnTo>
                <a:lnTo>
                  <a:pt x="1576574" y="5685"/>
                </a:lnTo>
                <a:lnTo>
                  <a:pt x="1570888" y="0"/>
                </a:lnTo>
                <a:close/>
              </a:path>
              <a:path w="2085975" h="380364">
                <a:moveTo>
                  <a:pt x="1621713" y="0"/>
                </a:moveTo>
                <a:lnTo>
                  <a:pt x="1607659" y="0"/>
                </a:lnTo>
                <a:lnTo>
                  <a:pt x="1601974" y="5685"/>
                </a:lnTo>
                <a:lnTo>
                  <a:pt x="1601974" y="19714"/>
                </a:lnTo>
                <a:lnTo>
                  <a:pt x="1607659" y="25400"/>
                </a:lnTo>
                <a:lnTo>
                  <a:pt x="1621713" y="25400"/>
                </a:lnTo>
                <a:lnTo>
                  <a:pt x="1627399" y="19714"/>
                </a:lnTo>
                <a:lnTo>
                  <a:pt x="1627399" y="5685"/>
                </a:lnTo>
                <a:lnTo>
                  <a:pt x="1621713" y="0"/>
                </a:lnTo>
                <a:close/>
              </a:path>
              <a:path w="2085975" h="380364">
                <a:moveTo>
                  <a:pt x="1672539" y="0"/>
                </a:moveTo>
                <a:lnTo>
                  <a:pt x="1658485" y="0"/>
                </a:lnTo>
                <a:lnTo>
                  <a:pt x="1652799" y="5685"/>
                </a:lnTo>
                <a:lnTo>
                  <a:pt x="1652799" y="19714"/>
                </a:lnTo>
                <a:lnTo>
                  <a:pt x="1658485" y="25400"/>
                </a:lnTo>
                <a:lnTo>
                  <a:pt x="1672539" y="25400"/>
                </a:lnTo>
                <a:lnTo>
                  <a:pt x="1678224" y="19714"/>
                </a:lnTo>
                <a:lnTo>
                  <a:pt x="1678224" y="5685"/>
                </a:lnTo>
                <a:lnTo>
                  <a:pt x="1672539" y="0"/>
                </a:lnTo>
                <a:close/>
              </a:path>
              <a:path w="2085975" h="380364">
                <a:moveTo>
                  <a:pt x="1723364" y="0"/>
                </a:moveTo>
                <a:lnTo>
                  <a:pt x="1709310" y="0"/>
                </a:lnTo>
                <a:lnTo>
                  <a:pt x="1703624" y="5685"/>
                </a:lnTo>
                <a:lnTo>
                  <a:pt x="1703624" y="19714"/>
                </a:lnTo>
                <a:lnTo>
                  <a:pt x="1709310" y="25400"/>
                </a:lnTo>
                <a:lnTo>
                  <a:pt x="1723364" y="25400"/>
                </a:lnTo>
                <a:lnTo>
                  <a:pt x="1729050" y="19714"/>
                </a:lnTo>
                <a:lnTo>
                  <a:pt x="1729050" y="5685"/>
                </a:lnTo>
                <a:lnTo>
                  <a:pt x="1723364" y="0"/>
                </a:lnTo>
                <a:close/>
              </a:path>
              <a:path w="2085975" h="380364">
                <a:moveTo>
                  <a:pt x="1774189" y="0"/>
                </a:moveTo>
                <a:lnTo>
                  <a:pt x="1760136" y="0"/>
                </a:lnTo>
                <a:lnTo>
                  <a:pt x="1754450" y="5685"/>
                </a:lnTo>
                <a:lnTo>
                  <a:pt x="1754450" y="19714"/>
                </a:lnTo>
                <a:lnTo>
                  <a:pt x="1760136" y="25400"/>
                </a:lnTo>
                <a:lnTo>
                  <a:pt x="1774189" y="25400"/>
                </a:lnTo>
                <a:lnTo>
                  <a:pt x="1779875" y="19714"/>
                </a:lnTo>
                <a:lnTo>
                  <a:pt x="1779875" y="5685"/>
                </a:lnTo>
                <a:lnTo>
                  <a:pt x="1774189" y="0"/>
                </a:lnTo>
                <a:close/>
              </a:path>
              <a:path w="2085975" h="380364">
                <a:moveTo>
                  <a:pt x="1825015" y="0"/>
                </a:moveTo>
                <a:lnTo>
                  <a:pt x="1810961" y="0"/>
                </a:lnTo>
                <a:lnTo>
                  <a:pt x="1805275" y="5685"/>
                </a:lnTo>
                <a:lnTo>
                  <a:pt x="1805275" y="19714"/>
                </a:lnTo>
                <a:lnTo>
                  <a:pt x="1810961" y="25400"/>
                </a:lnTo>
                <a:lnTo>
                  <a:pt x="1825015" y="25400"/>
                </a:lnTo>
                <a:lnTo>
                  <a:pt x="1830701" y="19714"/>
                </a:lnTo>
                <a:lnTo>
                  <a:pt x="1830701" y="5685"/>
                </a:lnTo>
                <a:lnTo>
                  <a:pt x="1825015" y="0"/>
                </a:lnTo>
                <a:close/>
              </a:path>
              <a:path w="2085975" h="380364">
                <a:moveTo>
                  <a:pt x="1875840" y="0"/>
                </a:moveTo>
                <a:lnTo>
                  <a:pt x="1861786" y="0"/>
                </a:lnTo>
                <a:lnTo>
                  <a:pt x="1856101" y="5685"/>
                </a:lnTo>
                <a:lnTo>
                  <a:pt x="1856101" y="19714"/>
                </a:lnTo>
                <a:lnTo>
                  <a:pt x="1861786" y="25400"/>
                </a:lnTo>
                <a:lnTo>
                  <a:pt x="1875840" y="25400"/>
                </a:lnTo>
                <a:lnTo>
                  <a:pt x="1881526" y="19714"/>
                </a:lnTo>
                <a:lnTo>
                  <a:pt x="1881526" y="5685"/>
                </a:lnTo>
                <a:lnTo>
                  <a:pt x="1875840" y="0"/>
                </a:lnTo>
                <a:close/>
              </a:path>
              <a:path w="2085975" h="380364">
                <a:moveTo>
                  <a:pt x="1926666" y="0"/>
                </a:moveTo>
                <a:lnTo>
                  <a:pt x="1912612" y="0"/>
                </a:lnTo>
                <a:lnTo>
                  <a:pt x="1906926" y="5685"/>
                </a:lnTo>
                <a:lnTo>
                  <a:pt x="1906926" y="19714"/>
                </a:lnTo>
                <a:lnTo>
                  <a:pt x="1912612" y="25400"/>
                </a:lnTo>
                <a:lnTo>
                  <a:pt x="1926666" y="25400"/>
                </a:lnTo>
                <a:lnTo>
                  <a:pt x="1932351" y="19714"/>
                </a:lnTo>
                <a:lnTo>
                  <a:pt x="1932351" y="5685"/>
                </a:lnTo>
                <a:lnTo>
                  <a:pt x="1926666" y="0"/>
                </a:lnTo>
                <a:close/>
              </a:path>
              <a:path w="2085975" h="380364">
                <a:moveTo>
                  <a:pt x="1977491" y="0"/>
                </a:moveTo>
                <a:lnTo>
                  <a:pt x="1963437" y="0"/>
                </a:lnTo>
                <a:lnTo>
                  <a:pt x="1957751" y="5685"/>
                </a:lnTo>
                <a:lnTo>
                  <a:pt x="1957751" y="19714"/>
                </a:lnTo>
                <a:lnTo>
                  <a:pt x="1963437" y="25400"/>
                </a:lnTo>
                <a:lnTo>
                  <a:pt x="1977491" y="25400"/>
                </a:lnTo>
                <a:lnTo>
                  <a:pt x="1983177" y="19714"/>
                </a:lnTo>
                <a:lnTo>
                  <a:pt x="1983177" y="5685"/>
                </a:lnTo>
                <a:lnTo>
                  <a:pt x="1977491" y="0"/>
                </a:lnTo>
                <a:close/>
              </a:path>
              <a:path w="2085975" h="380364">
                <a:moveTo>
                  <a:pt x="2028316" y="0"/>
                </a:moveTo>
                <a:lnTo>
                  <a:pt x="2014263" y="0"/>
                </a:lnTo>
                <a:lnTo>
                  <a:pt x="2008577" y="5685"/>
                </a:lnTo>
                <a:lnTo>
                  <a:pt x="2008577" y="19714"/>
                </a:lnTo>
                <a:lnTo>
                  <a:pt x="2014263" y="25400"/>
                </a:lnTo>
                <a:lnTo>
                  <a:pt x="2028316" y="25400"/>
                </a:lnTo>
                <a:lnTo>
                  <a:pt x="2034002" y="19714"/>
                </a:lnTo>
                <a:lnTo>
                  <a:pt x="2034002" y="5685"/>
                </a:lnTo>
                <a:lnTo>
                  <a:pt x="2028316" y="0"/>
                </a:lnTo>
                <a:close/>
              </a:path>
              <a:path w="2085975" h="380364">
                <a:moveTo>
                  <a:pt x="2079142" y="0"/>
                </a:moveTo>
                <a:lnTo>
                  <a:pt x="2065088" y="0"/>
                </a:lnTo>
                <a:lnTo>
                  <a:pt x="2059402" y="5685"/>
                </a:lnTo>
                <a:lnTo>
                  <a:pt x="2059402" y="19714"/>
                </a:lnTo>
                <a:lnTo>
                  <a:pt x="2065088" y="25400"/>
                </a:lnTo>
                <a:lnTo>
                  <a:pt x="2079142" y="25400"/>
                </a:lnTo>
                <a:lnTo>
                  <a:pt x="2084828" y="19714"/>
                </a:lnTo>
                <a:lnTo>
                  <a:pt x="2084828" y="5685"/>
                </a:lnTo>
                <a:lnTo>
                  <a:pt x="2079142" y="0"/>
                </a:lnTo>
                <a:close/>
              </a:path>
              <a:path w="2085975" h="380364">
                <a:moveTo>
                  <a:pt x="2079936" y="50006"/>
                </a:moveTo>
                <a:lnTo>
                  <a:pt x="2065907" y="50006"/>
                </a:lnTo>
                <a:lnTo>
                  <a:pt x="2060221" y="55692"/>
                </a:lnTo>
                <a:lnTo>
                  <a:pt x="2060221" y="69745"/>
                </a:lnTo>
                <a:lnTo>
                  <a:pt x="2065907" y="75431"/>
                </a:lnTo>
                <a:lnTo>
                  <a:pt x="2079936" y="75431"/>
                </a:lnTo>
                <a:lnTo>
                  <a:pt x="2085621" y="69745"/>
                </a:lnTo>
                <a:lnTo>
                  <a:pt x="2085621" y="55692"/>
                </a:lnTo>
                <a:lnTo>
                  <a:pt x="2079936" y="50006"/>
                </a:lnTo>
                <a:close/>
              </a:path>
              <a:path w="2085975" h="380364">
                <a:moveTo>
                  <a:pt x="2079936" y="100831"/>
                </a:moveTo>
                <a:lnTo>
                  <a:pt x="2065907" y="100831"/>
                </a:lnTo>
                <a:lnTo>
                  <a:pt x="2060221" y="106517"/>
                </a:lnTo>
                <a:lnTo>
                  <a:pt x="2060221" y="120571"/>
                </a:lnTo>
                <a:lnTo>
                  <a:pt x="2065907" y="126257"/>
                </a:lnTo>
                <a:lnTo>
                  <a:pt x="2079936" y="126257"/>
                </a:lnTo>
                <a:lnTo>
                  <a:pt x="2085621" y="120571"/>
                </a:lnTo>
                <a:lnTo>
                  <a:pt x="2085621" y="106517"/>
                </a:lnTo>
                <a:lnTo>
                  <a:pt x="2079936" y="100831"/>
                </a:lnTo>
                <a:close/>
              </a:path>
              <a:path w="2085975" h="380364">
                <a:moveTo>
                  <a:pt x="2079936" y="151657"/>
                </a:moveTo>
                <a:lnTo>
                  <a:pt x="2065907" y="151657"/>
                </a:lnTo>
                <a:lnTo>
                  <a:pt x="2060221" y="157342"/>
                </a:lnTo>
                <a:lnTo>
                  <a:pt x="2060221" y="171396"/>
                </a:lnTo>
                <a:lnTo>
                  <a:pt x="2065907" y="177082"/>
                </a:lnTo>
                <a:lnTo>
                  <a:pt x="2079936" y="177082"/>
                </a:lnTo>
                <a:lnTo>
                  <a:pt x="2085621" y="171396"/>
                </a:lnTo>
                <a:lnTo>
                  <a:pt x="2085621" y="157342"/>
                </a:lnTo>
                <a:lnTo>
                  <a:pt x="2079936" y="151657"/>
                </a:lnTo>
                <a:close/>
              </a:path>
              <a:path w="2085975" h="380364">
                <a:moveTo>
                  <a:pt x="2079936" y="202482"/>
                </a:moveTo>
                <a:lnTo>
                  <a:pt x="2065907" y="202482"/>
                </a:lnTo>
                <a:lnTo>
                  <a:pt x="2060221" y="208168"/>
                </a:lnTo>
                <a:lnTo>
                  <a:pt x="2060221" y="222222"/>
                </a:lnTo>
                <a:lnTo>
                  <a:pt x="2065907" y="227907"/>
                </a:lnTo>
                <a:lnTo>
                  <a:pt x="2079936" y="227907"/>
                </a:lnTo>
                <a:lnTo>
                  <a:pt x="2085621" y="222222"/>
                </a:lnTo>
                <a:lnTo>
                  <a:pt x="2085621" y="208168"/>
                </a:lnTo>
                <a:lnTo>
                  <a:pt x="2079936" y="202482"/>
                </a:lnTo>
                <a:close/>
              </a:path>
              <a:path w="2085975" h="380364">
                <a:moveTo>
                  <a:pt x="2079936" y="253307"/>
                </a:moveTo>
                <a:lnTo>
                  <a:pt x="2065907" y="253307"/>
                </a:lnTo>
                <a:lnTo>
                  <a:pt x="2060221" y="258993"/>
                </a:lnTo>
                <a:lnTo>
                  <a:pt x="2060221" y="273047"/>
                </a:lnTo>
                <a:lnTo>
                  <a:pt x="2065907" y="278733"/>
                </a:lnTo>
                <a:lnTo>
                  <a:pt x="2079936" y="278733"/>
                </a:lnTo>
                <a:lnTo>
                  <a:pt x="2085621" y="273047"/>
                </a:lnTo>
                <a:lnTo>
                  <a:pt x="2085621" y="258993"/>
                </a:lnTo>
                <a:lnTo>
                  <a:pt x="2079936" y="253307"/>
                </a:lnTo>
                <a:close/>
              </a:path>
              <a:path w="2085975" h="380364">
                <a:moveTo>
                  <a:pt x="2079936" y="304133"/>
                </a:moveTo>
                <a:lnTo>
                  <a:pt x="2065907" y="304133"/>
                </a:lnTo>
                <a:lnTo>
                  <a:pt x="2060221" y="309819"/>
                </a:lnTo>
                <a:lnTo>
                  <a:pt x="2060221" y="323872"/>
                </a:lnTo>
                <a:lnTo>
                  <a:pt x="2065907" y="329558"/>
                </a:lnTo>
                <a:lnTo>
                  <a:pt x="2079936" y="329558"/>
                </a:lnTo>
                <a:lnTo>
                  <a:pt x="2085621" y="323872"/>
                </a:lnTo>
                <a:lnTo>
                  <a:pt x="2085621" y="309819"/>
                </a:lnTo>
                <a:lnTo>
                  <a:pt x="2079936" y="304133"/>
                </a:lnTo>
                <a:close/>
              </a:path>
              <a:path w="2085975" h="380364">
                <a:moveTo>
                  <a:pt x="2079767" y="354789"/>
                </a:moveTo>
                <a:lnTo>
                  <a:pt x="2065713" y="354789"/>
                </a:lnTo>
                <a:lnTo>
                  <a:pt x="2060027" y="360475"/>
                </a:lnTo>
                <a:lnTo>
                  <a:pt x="2060027" y="374503"/>
                </a:lnTo>
                <a:lnTo>
                  <a:pt x="2065713" y="380189"/>
                </a:lnTo>
                <a:lnTo>
                  <a:pt x="2079767" y="380189"/>
                </a:lnTo>
                <a:lnTo>
                  <a:pt x="2085453" y="374503"/>
                </a:lnTo>
                <a:lnTo>
                  <a:pt x="2085453" y="360475"/>
                </a:lnTo>
                <a:lnTo>
                  <a:pt x="2079767" y="354789"/>
                </a:lnTo>
                <a:close/>
              </a:path>
              <a:path w="2085975" h="380364">
                <a:moveTo>
                  <a:pt x="2028941" y="354789"/>
                </a:moveTo>
                <a:lnTo>
                  <a:pt x="2014888" y="354789"/>
                </a:lnTo>
                <a:lnTo>
                  <a:pt x="2009202" y="360475"/>
                </a:lnTo>
                <a:lnTo>
                  <a:pt x="2009202" y="374503"/>
                </a:lnTo>
                <a:lnTo>
                  <a:pt x="2014888" y="380189"/>
                </a:lnTo>
                <a:lnTo>
                  <a:pt x="2028941" y="380189"/>
                </a:lnTo>
                <a:lnTo>
                  <a:pt x="2034627" y="374503"/>
                </a:lnTo>
                <a:lnTo>
                  <a:pt x="2034627" y="360475"/>
                </a:lnTo>
                <a:lnTo>
                  <a:pt x="2028941" y="354789"/>
                </a:lnTo>
                <a:close/>
              </a:path>
              <a:path w="2085975" h="380364">
                <a:moveTo>
                  <a:pt x="1978116" y="354789"/>
                </a:moveTo>
                <a:lnTo>
                  <a:pt x="1964062" y="354789"/>
                </a:lnTo>
                <a:lnTo>
                  <a:pt x="1958376" y="360475"/>
                </a:lnTo>
                <a:lnTo>
                  <a:pt x="1958376" y="374503"/>
                </a:lnTo>
                <a:lnTo>
                  <a:pt x="1964062" y="380189"/>
                </a:lnTo>
                <a:lnTo>
                  <a:pt x="1978116" y="380189"/>
                </a:lnTo>
                <a:lnTo>
                  <a:pt x="1983802" y="374503"/>
                </a:lnTo>
                <a:lnTo>
                  <a:pt x="1983802" y="360475"/>
                </a:lnTo>
                <a:lnTo>
                  <a:pt x="1978116" y="354789"/>
                </a:lnTo>
                <a:close/>
              </a:path>
              <a:path w="2085975" h="380364">
                <a:moveTo>
                  <a:pt x="1927291" y="354789"/>
                </a:moveTo>
                <a:lnTo>
                  <a:pt x="1913237" y="354789"/>
                </a:lnTo>
                <a:lnTo>
                  <a:pt x="1907551" y="360475"/>
                </a:lnTo>
                <a:lnTo>
                  <a:pt x="1907551" y="374503"/>
                </a:lnTo>
                <a:lnTo>
                  <a:pt x="1913237" y="380189"/>
                </a:lnTo>
                <a:lnTo>
                  <a:pt x="1927291" y="380189"/>
                </a:lnTo>
                <a:lnTo>
                  <a:pt x="1932976" y="374503"/>
                </a:lnTo>
                <a:lnTo>
                  <a:pt x="1932976" y="360475"/>
                </a:lnTo>
                <a:lnTo>
                  <a:pt x="1927291" y="354789"/>
                </a:lnTo>
                <a:close/>
              </a:path>
              <a:path w="2085975" h="380364">
                <a:moveTo>
                  <a:pt x="1876465" y="354789"/>
                </a:moveTo>
                <a:lnTo>
                  <a:pt x="1862411" y="354789"/>
                </a:lnTo>
                <a:lnTo>
                  <a:pt x="1856726" y="360475"/>
                </a:lnTo>
                <a:lnTo>
                  <a:pt x="1856726" y="374503"/>
                </a:lnTo>
                <a:lnTo>
                  <a:pt x="1862411" y="380189"/>
                </a:lnTo>
                <a:lnTo>
                  <a:pt x="1876465" y="380189"/>
                </a:lnTo>
                <a:lnTo>
                  <a:pt x="1882151" y="374503"/>
                </a:lnTo>
                <a:lnTo>
                  <a:pt x="1882151" y="360475"/>
                </a:lnTo>
                <a:lnTo>
                  <a:pt x="1876465" y="354789"/>
                </a:lnTo>
                <a:close/>
              </a:path>
              <a:path w="2085975" h="380364">
                <a:moveTo>
                  <a:pt x="1825640" y="354789"/>
                </a:moveTo>
                <a:lnTo>
                  <a:pt x="1811586" y="354789"/>
                </a:lnTo>
                <a:lnTo>
                  <a:pt x="1805900" y="360475"/>
                </a:lnTo>
                <a:lnTo>
                  <a:pt x="1805900" y="374503"/>
                </a:lnTo>
                <a:lnTo>
                  <a:pt x="1811586" y="380189"/>
                </a:lnTo>
                <a:lnTo>
                  <a:pt x="1825640" y="380189"/>
                </a:lnTo>
                <a:lnTo>
                  <a:pt x="1831326" y="374503"/>
                </a:lnTo>
                <a:lnTo>
                  <a:pt x="1831326" y="360475"/>
                </a:lnTo>
                <a:lnTo>
                  <a:pt x="1825640" y="354789"/>
                </a:lnTo>
                <a:close/>
              </a:path>
              <a:path w="2085975" h="380364">
                <a:moveTo>
                  <a:pt x="1774814" y="354789"/>
                </a:moveTo>
                <a:lnTo>
                  <a:pt x="1760761" y="354789"/>
                </a:lnTo>
                <a:lnTo>
                  <a:pt x="1755075" y="360475"/>
                </a:lnTo>
                <a:lnTo>
                  <a:pt x="1755075" y="374503"/>
                </a:lnTo>
                <a:lnTo>
                  <a:pt x="1760761" y="380189"/>
                </a:lnTo>
                <a:lnTo>
                  <a:pt x="1774814" y="380189"/>
                </a:lnTo>
                <a:lnTo>
                  <a:pt x="1780500" y="374503"/>
                </a:lnTo>
                <a:lnTo>
                  <a:pt x="1780500" y="360475"/>
                </a:lnTo>
                <a:lnTo>
                  <a:pt x="1774814" y="354789"/>
                </a:lnTo>
                <a:close/>
              </a:path>
              <a:path w="2085975" h="380364">
                <a:moveTo>
                  <a:pt x="1723989" y="354789"/>
                </a:moveTo>
                <a:lnTo>
                  <a:pt x="1709935" y="354789"/>
                </a:lnTo>
                <a:lnTo>
                  <a:pt x="1704249" y="360475"/>
                </a:lnTo>
                <a:lnTo>
                  <a:pt x="1704249" y="374503"/>
                </a:lnTo>
                <a:lnTo>
                  <a:pt x="1709935" y="380189"/>
                </a:lnTo>
                <a:lnTo>
                  <a:pt x="1723989" y="380189"/>
                </a:lnTo>
                <a:lnTo>
                  <a:pt x="1729675" y="374503"/>
                </a:lnTo>
                <a:lnTo>
                  <a:pt x="1729675" y="360475"/>
                </a:lnTo>
                <a:lnTo>
                  <a:pt x="1723989" y="354789"/>
                </a:lnTo>
                <a:close/>
              </a:path>
              <a:path w="2085975" h="380364">
                <a:moveTo>
                  <a:pt x="1673164" y="354789"/>
                </a:moveTo>
                <a:lnTo>
                  <a:pt x="1659110" y="354789"/>
                </a:lnTo>
                <a:lnTo>
                  <a:pt x="1653424" y="360475"/>
                </a:lnTo>
                <a:lnTo>
                  <a:pt x="1653424" y="374503"/>
                </a:lnTo>
                <a:lnTo>
                  <a:pt x="1659110" y="380189"/>
                </a:lnTo>
                <a:lnTo>
                  <a:pt x="1673164" y="380189"/>
                </a:lnTo>
                <a:lnTo>
                  <a:pt x="1678849" y="374503"/>
                </a:lnTo>
                <a:lnTo>
                  <a:pt x="1678849" y="360475"/>
                </a:lnTo>
                <a:lnTo>
                  <a:pt x="1673164" y="354789"/>
                </a:lnTo>
                <a:close/>
              </a:path>
              <a:path w="2085975" h="380364">
                <a:moveTo>
                  <a:pt x="1622338" y="354789"/>
                </a:moveTo>
                <a:lnTo>
                  <a:pt x="1608284" y="354789"/>
                </a:lnTo>
                <a:lnTo>
                  <a:pt x="1602599" y="360475"/>
                </a:lnTo>
                <a:lnTo>
                  <a:pt x="1602599" y="374503"/>
                </a:lnTo>
                <a:lnTo>
                  <a:pt x="1608284" y="380189"/>
                </a:lnTo>
                <a:lnTo>
                  <a:pt x="1622338" y="380189"/>
                </a:lnTo>
                <a:lnTo>
                  <a:pt x="1628024" y="374503"/>
                </a:lnTo>
                <a:lnTo>
                  <a:pt x="1628024" y="360475"/>
                </a:lnTo>
                <a:lnTo>
                  <a:pt x="1622338" y="354789"/>
                </a:lnTo>
                <a:close/>
              </a:path>
              <a:path w="2085975" h="380364">
                <a:moveTo>
                  <a:pt x="1571513" y="354789"/>
                </a:moveTo>
                <a:lnTo>
                  <a:pt x="1557459" y="354789"/>
                </a:lnTo>
                <a:lnTo>
                  <a:pt x="1551773" y="360475"/>
                </a:lnTo>
                <a:lnTo>
                  <a:pt x="1551773" y="374503"/>
                </a:lnTo>
                <a:lnTo>
                  <a:pt x="1557459" y="380189"/>
                </a:lnTo>
                <a:lnTo>
                  <a:pt x="1571513" y="380189"/>
                </a:lnTo>
                <a:lnTo>
                  <a:pt x="1577199" y="374503"/>
                </a:lnTo>
                <a:lnTo>
                  <a:pt x="1577199" y="360475"/>
                </a:lnTo>
                <a:lnTo>
                  <a:pt x="1571513" y="354789"/>
                </a:lnTo>
                <a:close/>
              </a:path>
              <a:path w="2085975" h="380364">
                <a:moveTo>
                  <a:pt x="1520687" y="354789"/>
                </a:moveTo>
                <a:lnTo>
                  <a:pt x="1506634" y="354789"/>
                </a:lnTo>
                <a:lnTo>
                  <a:pt x="1500948" y="360475"/>
                </a:lnTo>
                <a:lnTo>
                  <a:pt x="1500948" y="374503"/>
                </a:lnTo>
                <a:lnTo>
                  <a:pt x="1506634" y="380189"/>
                </a:lnTo>
                <a:lnTo>
                  <a:pt x="1520687" y="380189"/>
                </a:lnTo>
                <a:lnTo>
                  <a:pt x="1526373" y="374503"/>
                </a:lnTo>
                <a:lnTo>
                  <a:pt x="1526373" y="360475"/>
                </a:lnTo>
                <a:lnTo>
                  <a:pt x="1520687" y="354789"/>
                </a:lnTo>
                <a:close/>
              </a:path>
              <a:path w="2085975" h="380364">
                <a:moveTo>
                  <a:pt x="1469862" y="354789"/>
                </a:moveTo>
                <a:lnTo>
                  <a:pt x="1455808" y="354789"/>
                </a:lnTo>
                <a:lnTo>
                  <a:pt x="1450122" y="360475"/>
                </a:lnTo>
                <a:lnTo>
                  <a:pt x="1450122" y="374503"/>
                </a:lnTo>
                <a:lnTo>
                  <a:pt x="1455808" y="380189"/>
                </a:lnTo>
                <a:lnTo>
                  <a:pt x="1469862" y="380189"/>
                </a:lnTo>
                <a:lnTo>
                  <a:pt x="1475548" y="374503"/>
                </a:lnTo>
                <a:lnTo>
                  <a:pt x="1475548" y="360475"/>
                </a:lnTo>
                <a:lnTo>
                  <a:pt x="1469862" y="354789"/>
                </a:lnTo>
                <a:close/>
              </a:path>
              <a:path w="2085975" h="380364">
                <a:moveTo>
                  <a:pt x="1419037" y="354789"/>
                </a:moveTo>
                <a:lnTo>
                  <a:pt x="1404983" y="354789"/>
                </a:lnTo>
                <a:lnTo>
                  <a:pt x="1399297" y="360475"/>
                </a:lnTo>
                <a:lnTo>
                  <a:pt x="1399297" y="374503"/>
                </a:lnTo>
                <a:lnTo>
                  <a:pt x="1404983" y="380189"/>
                </a:lnTo>
                <a:lnTo>
                  <a:pt x="1419037" y="380189"/>
                </a:lnTo>
                <a:lnTo>
                  <a:pt x="1424722" y="374503"/>
                </a:lnTo>
                <a:lnTo>
                  <a:pt x="1424722" y="360475"/>
                </a:lnTo>
                <a:lnTo>
                  <a:pt x="1419037" y="354789"/>
                </a:lnTo>
                <a:close/>
              </a:path>
              <a:path w="2085975" h="380364">
                <a:moveTo>
                  <a:pt x="1368211" y="354789"/>
                </a:moveTo>
                <a:lnTo>
                  <a:pt x="1354157" y="354789"/>
                </a:lnTo>
                <a:lnTo>
                  <a:pt x="1348472" y="360475"/>
                </a:lnTo>
                <a:lnTo>
                  <a:pt x="1348472" y="374503"/>
                </a:lnTo>
                <a:lnTo>
                  <a:pt x="1354157" y="380189"/>
                </a:lnTo>
                <a:lnTo>
                  <a:pt x="1368211" y="380189"/>
                </a:lnTo>
                <a:lnTo>
                  <a:pt x="1373897" y="374503"/>
                </a:lnTo>
                <a:lnTo>
                  <a:pt x="1373897" y="360475"/>
                </a:lnTo>
                <a:lnTo>
                  <a:pt x="1368211" y="354789"/>
                </a:lnTo>
                <a:close/>
              </a:path>
              <a:path w="2085975" h="380364">
                <a:moveTo>
                  <a:pt x="1317386" y="354789"/>
                </a:moveTo>
                <a:lnTo>
                  <a:pt x="1303332" y="354789"/>
                </a:lnTo>
                <a:lnTo>
                  <a:pt x="1297646" y="360475"/>
                </a:lnTo>
                <a:lnTo>
                  <a:pt x="1297646" y="374503"/>
                </a:lnTo>
                <a:lnTo>
                  <a:pt x="1303332" y="380189"/>
                </a:lnTo>
                <a:lnTo>
                  <a:pt x="1317386" y="380189"/>
                </a:lnTo>
                <a:lnTo>
                  <a:pt x="1323072" y="374503"/>
                </a:lnTo>
                <a:lnTo>
                  <a:pt x="1323072" y="360475"/>
                </a:lnTo>
                <a:lnTo>
                  <a:pt x="1317386" y="354789"/>
                </a:lnTo>
                <a:close/>
              </a:path>
              <a:path w="2085975" h="380364">
                <a:moveTo>
                  <a:pt x="1266560" y="354789"/>
                </a:moveTo>
                <a:lnTo>
                  <a:pt x="1252507" y="354789"/>
                </a:lnTo>
                <a:lnTo>
                  <a:pt x="1246821" y="360475"/>
                </a:lnTo>
                <a:lnTo>
                  <a:pt x="1246821" y="374503"/>
                </a:lnTo>
                <a:lnTo>
                  <a:pt x="1252507" y="380189"/>
                </a:lnTo>
                <a:lnTo>
                  <a:pt x="1266560" y="380189"/>
                </a:lnTo>
                <a:lnTo>
                  <a:pt x="1272246" y="374503"/>
                </a:lnTo>
                <a:lnTo>
                  <a:pt x="1272246" y="360475"/>
                </a:lnTo>
                <a:lnTo>
                  <a:pt x="1266560" y="354789"/>
                </a:lnTo>
                <a:close/>
              </a:path>
              <a:path w="2085975" h="380364">
                <a:moveTo>
                  <a:pt x="1215735" y="354789"/>
                </a:moveTo>
                <a:lnTo>
                  <a:pt x="1201681" y="354789"/>
                </a:lnTo>
                <a:lnTo>
                  <a:pt x="1195995" y="360475"/>
                </a:lnTo>
                <a:lnTo>
                  <a:pt x="1195995" y="374503"/>
                </a:lnTo>
                <a:lnTo>
                  <a:pt x="1201681" y="380189"/>
                </a:lnTo>
                <a:lnTo>
                  <a:pt x="1215735" y="380189"/>
                </a:lnTo>
                <a:lnTo>
                  <a:pt x="1221421" y="374503"/>
                </a:lnTo>
                <a:lnTo>
                  <a:pt x="1221421" y="360475"/>
                </a:lnTo>
                <a:lnTo>
                  <a:pt x="1215735" y="354789"/>
                </a:lnTo>
                <a:close/>
              </a:path>
              <a:path w="2085975" h="380364">
                <a:moveTo>
                  <a:pt x="1164910" y="354789"/>
                </a:moveTo>
                <a:lnTo>
                  <a:pt x="1150856" y="354789"/>
                </a:lnTo>
                <a:lnTo>
                  <a:pt x="1145170" y="360475"/>
                </a:lnTo>
                <a:lnTo>
                  <a:pt x="1145170" y="374503"/>
                </a:lnTo>
                <a:lnTo>
                  <a:pt x="1150856" y="380189"/>
                </a:lnTo>
                <a:lnTo>
                  <a:pt x="1164910" y="380189"/>
                </a:lnTo>
                <a:lnTo>
                  <a:pt x="1170595" y="374503"/>
                </a:lnTo>
                <a:lnTo>
                  <a:pt x="1170595" y="360475"/>
                </a:lnTo>
                <a:lnTo>
                  <a:pt x="1164910" y="354789"/>
                </a:lnTo>
                <a:close/>
              </a:path>
              <a:path w="2085975" h="380364">
                <a:moveTo>
                  <a:pt x="1114084" y="354789"/>
                </a:moveTo>
                <a:lnTo>
                  <a:pt x="1100030" y="354789"/>
                </a:lnTo>
                <a:lnTo>
                  <a:pt x="1094345" y="360475"/>
                </a:lnTo>
                <a:lnTo>
                  <a:pt x="1094345" y="374503"/>
                </a:lnTo>
                <a:lnTo>
                  <a:pt x="1100030" y="380189"/>
                </a:lnTo>
                <a:lnTo>
                  <a:pt x="1114084" y="380189"/>
                </a:lnTo>
                <a:lnTo>
                  <a:pt x="1119770" y="374503"/>
                </a:lnTo>
                <a:lnTo>
                  <a:pt x="1119770" y="360475"/>
                </a:lnTo>
                <a:lnTo>
                  <a:pt x="1114084" y="354789"/>
                </a:lnTo>
                <a:close/>
              </a:path>
              <a:path w="2085975" h="380364">
                <a:moveTo>
                  <a:pt x="1063259" y="354789"/>
                </a:moveTo>
                <a:lnTo>
                  <a:pt x="1049205" y="354789"/>
                </a:lnTo>
                <a:lnTo>
                  <a:pt x="1043519" y="360475"/>
                </a:lnTo>
                <a:lnTo>
                  <a:pt x="1043519" y="374503"/>
                </a:lnTo>
                <a:lnTo>
                  <a:pt x="1049205" y="380189"/>
                </a:lnTo>
                <a:lnTo>
                  <a:pt x="1063259" y="380189"/>
                </a:lnTo>
                <a:lnTo>
                  <a:pt x="1068945" y="374503"/>
                </a:lnTo>
                <a:lnTo>
                  <a:pt x="1068945" y="360475"/>
                </a:lnTo>
                <a:lnTo>
                  <a:pt x="1063259" y="354789"/>
                </a:lnTo>
                <a:close/>
              </a:path>
              <a:path w="2085975" h="380364">
                <a:moveTo>
                  <a:pt x="1012433" y="354789"/>
                </a:moveTo>
                <a:lnTo>
                  <a:pt x="998380" y="354789"/>
                </a:lnTo>
                <a:lnTo>
                  <a:pt x="992694" y="360475"/>
                </a:lnTo>
                <a:lnTo>
                  <a:pt x="992694" y="374503"/>
                </a:lnTo>
                <a:lnTo>
                  <a:pt x="998380" y="380189"/>
                </a:lnTo>
                <a:lnTo>
                  <a:pt x="1012433" y="380189"/>
                </a:lnTo>
                <a:lnTo>
                  <a:pt x="1018119" y="374503"/>
                </a:lnTo>
                <a:lnTo>
                  <a:pt x="1018119" y="360475"/>
                </a:lnTo>
                <a:lnTo>
                  <a:pt x="1012433" y="354789"/>
                </a:lnTo>
                <a:close/>
              </a:path>
              <a:path w="2085975" h="380364">
                <a:moveTo>
                  <a:pt x="961608" y="354789"/>
                </a:moveTo>
                <a:lnTo>
                  <a:pt x="947554" y="354789"/>
                </a:lnTo>
                <a:lnTo>
                  <a:pt x="941868" y="360475"/>
                </a:lnTo>
                <a:lnTo>
                  <a:pt x="941868" y="374503"/>
                </a:lnTo>
                <a:lnTo>
                  <a:pt x="947554" y="380189"/>
                </a:lnTo>
                <a:lnTo>
                  <a:pt x="961608" y="380189"/>
                </a:lnTo>
                <a:lnTo>
                  <a:pt x="967294" y="374503"/>
                </a:lnTo>
                <a:lnTo>
                  <a:pt x="967294" y="360475"/>
                </a:lnTo>
                <a:lnTo>
                  <a:pt x="961608" y="354789"/>
                </a:lnTo>
                <a:close/>
              </a:path>
              <a:path w="2085975" h="380364">
                <a:moveTo>
                  <a:pt x="910783" y="354789"/>
                </a:moveTo>
                <a:lnTo>
                  <a:pt x="896729" y="354789"/>
                </a:lnTo>
                <a:lnTo>
                  <a:pt x="891043" y="360475"/>
                </a:lnTo>
                <a:lnTo>
                  <a:pt x="891043" y="374503"/>
                </a:lnTo>
                <a:lnTo>
                  <a:pt x="896729" y="380189"/>
                </a:lnTo>
                <a:lnTo>
                  <a:pt x="910783" y="380189"/>
                </a:lnTo>
                <a:lnTo>
                  <a:pt x="916468" y="374503"/>
                </a:lnTo>
                <a:lnTo>
                  <a:pt x="916468" y="360475"/>
                </a:lnTo>
                <a:lnTo>
                  <a:pt x="910783" y="354789"/>
                </a:lnTo>
                <a:close/>
              </a:path>
              <a:path w="2085975" h="380364">
                <a:moveTo>
                  <a:pt x="859957" y="354789"/>
                </a:moveTo>
                <a:lnTo>
                  <a:pt x="845903" y="354789"/>
                </a:lnTo>
                <a:lnTo>
                  <a:pt x="840218" y="360475"/>
                </a:lnTo>
                <a:lnTo>
                  <a:pt x="840218" y="374503"/>
                </a:lnTo>
                <a:lnTo>
                  <a:pt x="845903" y="380189"/>
                </a:lnTo>
                <a:lnTo>
                  <a:pt x="859957" y="380189"/>
                </a:lnTo>
                <a:lnTo>
                  <a:pt x="865643" y="374503"/>
                </a:lnTo>
                <a:lnTo>
                  <a:pt x="865643" y="360475"/>
                </a:lnTo>
                <a:lnTo>
                  <a:pt x="859957" y="354789"/>
                </a:lnTo>
                <a:close/>
              </a:path>
              <a:path w="2085975" h="380364">
                <a:moveTo>
                  <a:pt x="809132" y="354789"/>
                </a:moveTo>
                <a:lnTo>
                  <a:pt x="795078" y="354789"/>
                </a:lnTo>
                <a:lnTo>
                  <a:pt x="789392" y="360475"/>
                </a:lnTo>
                <a:lnTo>
                  <a:pt x="789392" y="374503"/>
                </a:lnTo>
                <a:lnTo>
                  <a:pt x="795078" y="380189"/>
                </a:lnTo>
                <a:lnTo>
                  <a:pt x="809132" y="380189"/>
                </a:lnTo>
                <a:lnTo>
                  <a:pt x="814818" y="374503"/>
                </a:lnTo>
                <a:lnTo>
                  <a:pt x="814818" y="360475"/>
                </a:lnTo>
                <a:lnTo>
                  <a:pt x="809132" y="354789"/>
                </a:lnTo>
                <a:close/>
              </a:path>
              <a:path w="2085975" h="380364">
                <a:moveTo>
                  <a:pt x="758306" y="354789"/>
                </a:moveTo>
                <a:lnTo>
                  <a:pt x="744253" y="354789"/>
                </a:lnTo>
                <a:lnTo>
                  <a:pt x="738567" y="360475"/>
                </a:lnTo>
                <a:lnTo>
                  <a:pt x="738567" y="374503"/>
                </a:lnTo>
                <a:lnTo>
                  <a:pt x="744253" y="380189"/>
                </a:lnTo>
                <a:lnTo>
                  <a:pt x="758306" y="380189"/>
                </a:lnTo>
                <a:lnTo>
                  <a:pt x="763992" y="374503"/>
                </a:lnTo>
                <a:lnTo>
                  <a:pt x="763992" y="360475"/>
                </a:lnTo>
                <a:lnTo>
                  <a:pt x="758306" y="354789"/>
                </a:lnTo>
                <a:close/>
              </a:path>
              <a:path w="2085975" h="380364">
                <a:moveTo>
                  <a:pt x="707481" y="354789"/>
                </a:moveTo>
                <a:lnTo>
                  <a:pt x="693427" y="354789"/>
                </a:lnTo>
                <a:lnTo>
                  <a:pt x="687741" y="360475"/>
                </a:lnTo>
                <a:lnTo>
                  <a:pt x="687741" y="374503"/>
                </a:lnTo>
                <a:lnTo>
                  <a:pt x="693427" y="380189"/>
                </a:lnTo>
                <a:lnTo>
                  <a:pt x="707481" y="380189"/>
                </a:lnTo>
                <a:lnTo>
                  <a:pt x="713167" y="374503"/>
                </a:lnTo>
                <a:lnTo>
                  <a:pt x="713167" y="360475"/>
                </a:lnTo>
                <a:lnTo>
                  <a:pt x="707481" y="354789"/>
                </a:lnTo>
                <a:close/>
              </a:path>
              <a:path w="2085975" h="380364">
                <a:moveTo>
                  <a:pt x="656656" y="354789"/>
                </a:moveTo>
                <a:lnTo>
                  <a:pt x="642602" y="354789"/>
                </a:lnTo>
                <a:lnTo>
                  <a:pt x="636916" y="360475"/>
                </a:lnTo>
                <a:lnTo>
                  <a:pt x="636916" y="374503"/>
                </a:lnTo>
                <a:lnTo>
                  <a:pt x="642602" y="380189"/>
                </a:lnTo>
                <a:lnTo>
                  <a:pt x="656656" y="380189"/>
                </a:lnTo>
                <a:lnTo>
                  <a:pt x="662341" y="374503"/>
                </a:lnTo>
                <a:lnTo>
                  <a:pt x="662341" y="360475"/>
                </a:lnTo>
                <a:lnTo>
                  <a:pt x="656656" y="354789"/>
                </a:lnTo>
                <a:close/>
              </a:path>
              <a:path w="2085975" h="380364">
                <a:moveTo>
                  <a:pt x="605830" y="354789"/>
                </a:moveTo>
                <a:lnTo>
                  <a:pt x="591776" y="354789"/>
                </a:lnTo>
                <a:lnTo>
                  <a:pt x="586091" y="360475"/>
                </a:lnTo>
                <a:lnTo>
                  <a:pt x="586091" y="374503"/>
                </a:lnTo>
                <a:lnTo>
                  <a:pt x="591776" y="380189"/>
                </a:lnTo>
                <a:lnTo>
                  <a:pt x="605830" y="380189"/>
                </a:lnTo>
                <a:lnTo>
                  <a:pt x="611516" y="374503"/>
                </a:lnTo>
                <a:lnTo>
                  <a:pt x="611516" y="360475"/>
                </a:lnTo>
                <a:lnTo>
                  <a:pt x="605830" y="354789"/>
                </a:lnTo>
                <a:close/>
              </a:path>
              <a:path w="2085975" h="380364">
                <a:moveTo>
                  <a:pt x="555005" y="354789"/>
                </a:moveTo>
                <a:lnTo>
                  <a:pt x="540951" y="354789"/>
                </a:lnTo>
                <a:lnTo>
                  <a:pt x="535265" y="360475"/>
                </a:lnTo>
                <a:lnTo>
                  <a:pt x="535265" y="374503"/>
                </a:lnTo>
                <a:lnTo>
                  <a:pt x="540951" y="380189"/>
                </a:lnTo>
                <a:lnTo>
                  <a:pt x="555005" y="380189"/>
                </a:lnTo>
                <a:lnTo>
                  <a:pt x="560691" y="374503"/>
                </a:lnTo>
                <a:lnTo>
                  <a:pt x="560691" y="360475"/>
                </a:lnTo>
                <a:lnTo>
                  <a:pt x="555005" y="354789"/>
                </a:lnTo>
                <a:close/>
              </a:path>
              <a:path w="2085975" h="380364">
                <a:moveTo>
                  <a:pt x="504179" y="354789"/>
                </a:moveTo>
                <a:lnTo>
                  <a:pt x="490126" y="354789"/>
                </a:lnTo>
                <a:lnTo>
                  <a:pt x="484440" y="360475"/>
                </a:lnTo>
                <a:lnTo>
                  <a:pt x="484440" y="374503"/>
                </a:lnTo>
                <a:lnTo>
                  <a:pt x="490126" y="380189"/>
                </a:lnTo>
                <a:lnTo>
                  <a:pt x="504179" y="380189"/>
                </a:lnTo>
                <a:lnTo>
                  <a:pt x="509865" y="374503"/>
                </a:lnTo>
                <a:lnTo>
                  <a:pt x="509865" y="360475"/>
                </a:lnTo>
                <a:lnTo>
                  <a:pt x="504179" y="354789"/>
                </a:lnTo>
                <a:close/>
              </a:path>
              <a:path w="2085975" h="380364">
                <a:moveTo>
                  <a:pt x="453354" y="354789"/>
                </a:moveTo>
                <a:lnTo>
                  <a:pt x="439300" y="354789"/>
                </a:lnTo>
                <a:lnTo>
                  <a:pt x="433614" y="360475"/>
                </a:lnTo>
                <a:lnTo>
                  <a:pt x="433614" y="374503"/>
                </a:lnTo>
                <a:lnTo>
                  <a:pt x="439300" y="380189"/>
                </a:lnTo>
                <a:lnTo>
                  <a:pt x="453354" y="380189"/>
                </a:lnTo>
                <a:lnTo>
                  <a:pt x="459040" y="374503"/>
                </a:lnTo>
                <a:lnTo>
                  <a:pt x="459040" y="360475"/>
                </a:lnTo>
                <a:lnTo>
                  <a:pt x="453354" y="354789"/>
                </a:lnTo>
                <a:close/>
              </a:path>
              <a:path w="2085975" h="380364">
                <a:moveTo>
                  <a:pt x="402529" y="354789"/>
                </a:moveTo>
                <a:lnTo>
                  <a:pt x="388475" y="354789"/>
                </a:lnTo>
                <a:lnTo>
                  <a:pt x="382789" y="360475"/>
                </a:lnTo>
                <a:lnTo>
                  <a:pt x="382789" y="374503"/>
                </a:lnTo>
                <a:lnTo>
                  <a:pt x="388475" y="380189"/>
                </a:lnTo>
                <a:lnTo>
                  <a:pt x="402529" y="380189"/>
                </a:lnTo>
                <a:lnTo>
                  <a:pt x="408214" y="374503"/>
                </a:lnTo>
                <a:lnTo>
                  <a:pt x="408214" y="360475"/>
                </a:lnTo>
                <a:lnTo>
                  <a:pt x="402529" y="354789"/>
                </a:lnTo>
                <a:close/>
              </a:path>
              <a:path w="2085975" h="380364">
                <a:moveTo>
                  <a:pt x="351703" y="354789"/>
                </a:moveTo>
                <a:lnTo>
                  <a:pt x="337649" y="354789"/>
                </a:lnTo>
                <a:lnTo>
                  <a:pt x="331964" y="360475"/>
                </a:lnTo>
                <a:lnTo>
                  <a:pt x="331964" y="374503"/>
                </a:lnTo>
                <a:lnTo>
                  <a:pt x="337649" y="380189"/>
                </a:lnTo>
                <a:lnTo>
                  <a:pt x="351703" y="380189"/>
                </a:lnTo>
                <a:lnTo>
                  <a:pt x="357389" y="374503"/>
                </a:lnTo>
                <a:lnTo>
                  <a:pt x="357389" y="360475"/>
                </a:lnTo>
                <a:lnTo>
                  <a:pt x="351703" y="354789"/>
                </a:lnTo>
                <a:close/>
              </a:path>
              <a:path w="2085975" h="380364">
                <a:moveTo>
                  <a:pt x="300878" y="354789"/>
                </a:moveTo>
                <a:lnTo>
                  <a:pt x="286824" y="354789"/>
                </a:lnTo>
                <a:lnTo>
                  <a:pt x="281138" y="360475"/>
                </a:lnTo>
                <a:lnTo>
                  <a:pt x="281138" y="374503"/>
                </a:lnTo>
                <a:lnTo>
                  <a:pt x="286824" y="380189"/>
                </a:lnTo>
                <a:lnTo>
                  <a:pt x="300878" y="380189"/>
                </a:lnTo>
                <a:lnTo>
                  <a:pt x="306564" y="374503"/>
                </a:lnTo>
                <a:lnTo>
                  <a:pt x="306564" y="360475"/>
                </a:lnTo>
                <a:lnTo>
                  <a:pt x="300878" y="354789"/>
                </a:lnTo>
                <a:close/>
              </a:path>
              <a:path w="2085975" h="380364">
                <a:moveTo>
                  <a:pt x="250052" y="354789"/>
                </a:moveTo>
                <a:lnTo>
                  <a:pt x="235999" y="354789"/>
                </a:lnTo>
                <a:lnTo>
                  <a:pt x="230313" y="360475"/>
                </a:lnTo>
                <a:lnTo>
                  <a:pt x="230313" y="374503"/>
                </a:lnTo>
                <a:lnTo>
                  <a:pt x="235999" y="380189"/>
                </a:lnTo>
                <a:lnTo>
                  <a:pt x="250052" y="380189"/>
                </a:lnTo>
                <a:lnTo>
                  <a:pt x="255738" y="374503"/>
                </a:lnTo>
                <a:lnTo>
                  <a:pt x="255738" y="360475"/>
                </a:lnTo>
                <a:lnTo>
                  <a:pt x="250052" y="354789"/>
                </a:lnTo>
                <a:close/>
              </a:path>
              <a:path w="2085975" h="380364">
                <a:moveTo>
                  <a:pt x="199227" y="354789"/>
                </a:moveTo>
                <a:lnTo>
                  <a:pt x="185173" y="354789"/>
                </a:lnTo>
                <a:lnTo>
                  <a:pt x="179487" y="360475"/>
                </a:lnTo>
                <a:lnTo>
                  <a:pt x="179487" y="374503"/>
                </a:lnTo>
                <a:lnTo>
                  <a:pt x="185173" y="380189"/>
                </a:lnTo>
                <a:lnTo>
                  <a:pt x="199227" y="380189"/>
                </a:lnTo>
                <a:lnTo>
                  <a:pt x="204913" y="374503"/>
                </a:lnTo>
                <a:lnTo>
                  <a:pt x="204913" y="360475"/>
                </a:lnTo>
                <a:lnTo>
                  <a:pt x="199227" y="354789"/>
                </a:lnTo>
                <a:close/>
              </a:path>
              <a:path w="2085975" h="380364">
                <a:moveTo>
                  <a:pt x="148402" y="354789"/>
                </a:moveTo>
                <a:lnTo>
                  <a:pt x="134348" y="354789"/>
                </a:lnTo>
                <a:lnTo>
                  <a:pt x="128662" y="360475"/>
                </a:lnTo>
                <a:lnTo>
                  <a:pt x="128662" y="374503"/>
                </a:lnTo>
                <a:lnTo>
                  <a:pt x="134348" y="380189"/>
                </a:lnTo>
                <a:lnTo>
                  <a:pt x="148402" y="380189"/>
                </a:lnTo>
                <a:lnTo>
                  <a:pt x="154087" y="374503"/>
                </a:lnTo>
                <a:lnTo>
                  <a:pt x="154087" y="360475"/>
                </a:lnTo>
                <a:lnTo>
                  <a:pt x="148402" y="354789"/>
                </a:lnTo>
                <a:close/>
              </a:path>
              <a:path w="2085975" h="380364">
                <a:moveTo>
                  <a:pt x="97576" y="354789"/>
                </a:moveTo>
                <a:lnTo>
                  <a:pt x="83522" y="354789"/>
                </a:lnTo>
                <a:lnTo>
                  <a:pt x="77837" y="360475"/>
                </a:lnTo>
                <a:lnTo>
                  <a:pt x="77837" y="374503"/>
                </a:lnTo>
                <a:lnTo>
                  <a:pt x="83522" y="380189"/>
                </a:lnTo>
                <a:lnTo>
                  <a:pt x="97576" y="380189"/>
                </a:lnTo>
                <a:lnTo>
                  <a:pt x="103262" y="374503"/>
                </a:lnTo>
                <a:lnTo>
                  <a:pt x="103262" y="360475"/>
                </a:lnTo>
                <a:lnTo>
                  <a:pt x="97576" y="354789"/>
                </a:lnTo>
                <a:close/>
              </a:path>
              <a:path w="2085975" h="380364">
                <a:moveTo>
                  <a:pt x="46751" y="354789"/>
                </a:moveTo>
                <a:lnTo>
                  <a:pt x="32697" y="354789"/>
                </a:lnTo>
                <a:lnTo>
                  <a:pt x="27011" y="360475"/>
                </a:lnTo>
                <a:lnTo>
                  <a:pt x="27011" y="374503"/>
                </a:lnTo>
                <a:lnTo>
                  <a:pt x="32697" y="380189"/>
                </a:lnTo>
                <a:lnTo>
                  <a:pt x="46751" y="380189"/>
                </a:lnTo>
                <a:lnTo>
                  <a:pt x="52437" y="374503"/>
                </a:lnTo>
                <a:lnTo>
                  <a:pt x="52437" y="360475"/>
                </a:lnTo>
                <a:lnTo>
                  <a:pt x="46751" y="354789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697532" y="3984244"/>
            <a:ext cx="1149350" cy="11169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9525">
              <a:lnSpc>
                <a:spcPts val="1900"/>
              </a:lnSpc>
              <a:spcBef>
                <a:spcPts val="180"/>
              </a:spcBef>
            </a:pPr>
            <a:r>
              <a:rPr dirty="0" sz="1600" spc="65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6203" sz="1800" spc="97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sz="1600" spc="65">
                <a:solidFill>
                  <a:srgbClr val="C00000"/>
                </a:solidFill>
                <a:latin typeface="Arial"/>
                <a:cs typeface="Arial"/>
              </a:rPr>
              <a:t>’s</a:t>
            </a:r>
            <a:r>
              <a:rPr dirty="0" sz="1600" spc="-6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C00000"/>
                </a:solidFill>
                <a:latin typeface="Arial"/>
                <a:cs typeface="Arial"/>
              </a:rPr>
              <a:t>Position  encoding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ts val="1900"/>
              </a:lnSpc>
              <a:spcBef>
                <a:spcPts val="980"/>
              </a:spcBef>
            </a:pPr>
            <a:r>
              <a:rPr dirty="0" sz="1600" spc="-20">
                <a:solidFill>
                  <a:srgbClr val="0070C0"/>
                </a:solidFill>
                <a:latin typeface="Cambria Math"/>
                <a:cs typeface="Cambria Math"/>
              </a:rPr>
              <a:t>𝑣</a:t>
            </a:r>
            <a:r>
              <a:rPr dirty="0" baseline="-13888" sz="1800" spc="-30">
                <a:solidFill>
                  <a:srgbClr val="0070C0"/>
                </a:solidFill>
                <a:latin typeface="Cambria Math"/>
                <a:cs typeface="Cambria Math"/>
              </a:rPr>
              <a:t>#</a:t>
            </a:r>
            <a:r>
              <a:rPr dirty="0" sz="1600" spc="-20">
                <a:solidFill>
                  <a:srgbClr val="0070C0"/>
                </a:solidFill>
                <a:latin typeface="Arial"/>
                <a:cs typeface="Arial"/>
              </a:rPr>
              <a:t>’s</a:t>
            </a:r>
            <a:r>
              <a:rPr dirty="0" sz="1600" spc="-6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70C0"/>
                </a:solidFill>
                <a:latin typeface="Arial"/>
                <a:cs typeface="Arial"/>
              </a:rPr>
              <a:t>Position  encoding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85549" y="4676649"/>
            <a:ext cx="2085975" cy="380365"/>
          </a:xfrm>
          <a:custGeom>
            <a:avLst/>
            <a:gdLst/>
            <a:ahLst/>
            <a:cxnLst/>
            <a:rect l="l" t="t" r="r" b="b"/>
            <a:pathLst>
              <a:path w="2085975" h="380364">
                <a:moveTo>
                  <a:pt x="19714" y="329364"/>
                </a:moveTo>
                <a:lnTo>
                  <a:pt x="5685" y="329364"/>
                </a:lnTo>
                <a:lnTo>
                  <a:pt x="0" y="335050"/>
                </a:lnTo>
                <a:lnTo>
                  <a:pt x="0" y="349103"/>
                </a:lnTo>
                <a:lnTo>
                  <a:pt x="5685" y="354789"/>
                </a:lnTo>
                <a:lnTo>
                  <a:pt x="19714" y="354789"/>
                </a:lnTo>
                <a:lnTo>
                  <a:pt x="25400" y="349103"/>
                </a:lnTo>
                <a:lnTo>
                  <a:pt x="25400" y="335050"/>
                </a:lnTo>
                <a:lnTo>
                  <a:pt x="19714" y="329364"/>
                </a:lnTo>
                <a:close/>
              </a:path>
              <a:path w="2085975" h="380364">
                <a:moveTo>
                  <a:pt x="19714" y="278538"/>
                </a:moveTo>
                <a:lnTo>
                  <a:pt x="5685" y="278538"/>
                </a:lnTo>
                <a:lnTo>
                  <a:pt x="0" y="284224"/>
                </a:lnTo>
                <a:lnTo>
                  <a:pt x="0" y="298278"/>
                </a:lnTo>
                <a:lnTo>
                  <a:pt x="5685" y="303964"/>
                </a:lnTo>
                <a:lnTo>
                  <a:pt x="19714" y="303964"/>
                </a:lnTo>
                <a:lnTo>
                  <a:pt x="25400" y="298278"/>
                </a:lnTo>
                <a:lnTo>
                  <a:pt x="25400" y="284224"/>
                </a:lnTo>
                <a:lnTo>
                  <a:pt x="19714" y="278538"/>
                </a:lnTo>
                <a:close/>
              </a:path>
              <a:path w="2085975" h="380364">
                <a:moveTo>
                  <a:pt x="19714" y="227713"/>
                </a:moveTo>
                <a:lnTo>
                  <a:pt x="5685" y="227713"/>
                </a:lnTo>
                <a:lnTo>
                  <a:pt x="0" y="233399"/>
                </a:lnTo>
                <a:lnTo>
                  <a:pt x="0" y="247453"/>
                </a:lnTo>
                <a:lnTo>
                  <a:pt x="5685" y="253138"/>
                </a:lnTo>
                <a:lnTo>
                  <a:pt x="19714" y="253138"/>
                </a:lnTo>
                <a:lnTo>
                  <a:pt x="25400" y="247453"/>
                </a:lnTo>
                <a:lnTo>
                  <a:pt x="25400" y="233399"/>
                </a:lnTo>
                <a:lnTo>
                  <a:pt x="19714" y="227713"/>
                </a:lnTo>
                <a:close/>
              </a:path>
              <a:path w="2085975" h="380364">
                <a:moveTo>
                  <a:pt x="19714" y="176888"/>
                </a:moveTo>
                <a:lnTo>
                  <a:pt x="5685" y="176888"/>
                </a:lnTo>
                <a:lnTo>
                  <a:pt x="0" y="182573"/>
                </a:lnTo>
                <a:lnTo>
                  <a:pt x="0" y="196627"/>
                </a:lnTo>
                <a:lnTo>
                  <a:pt x="5685" y="202313"/>
                </a:lnTo>
                <a:lnTo>
                  <a:pt x="19714" y="202313"/>
                </a:lnTo>
                <a:lnTo>
                  <a:pt x="25400" y="196627"/>
                </a:lnTo>
                <a:lnTo>
                  <a:pt x="25400" y="182573"/>
                </a:lnTo>
                <a:lnTo>
                  <a:pt x="19714" y="176888"/>
                </a:lnTo>
                <a:close/>
              </a:path>
              <a:path w="2085975" h="380364">
                <a:moveTo>
                  <a:pt x="19714" y="126062"/>
                </a:moveTo>
                <a:lnTo>
                  <a:pt x="5685" y="126062"/>
                </a:lnTo>
                <a:lnTo>
                  <a:pt x="0" y="131748"/>
                </a:lnTo>
                <a:lnTo>
                  <a:pt x="0" y="145802"/>
                </a:lnTo>
                <a:lnTo>
                  <a:pt x="5685" y="151488"/>
                </a:lnTo>
                <a:lnTo>
                  <a:pt x="19714" y="151488"/>
                </a:lnTo>
                <a:lnTo>
                  <a:pt x="25400" y="145802"/>
                </a:lnTo>
                <a:lnTo>
                  <a:pt x="25400" y="131748"/>
                </a:lnTo>
                <a:lnTo>
                  <a:pt x="19714" y="126062"/>
                </a:lnTo>
                <a:close/>
              </a:path>
              <a:path w="2085975" h="380364">
                <a:moveTo>
                  <a:pt x="19714" y="75237"/>
                </a:moveTo>
                <a:lnTo>
                  <a:pt x="5685" y="75237"/>
                </a:lnTo>
                <a:lnTo>
                  <a:pt x="0" y="80923"/>
                </a:lnTo>
                <a:lnTo>
                  <a:pt x="0" y="94976"/>
                </a:lnTo>
                <a:lnTo>
                  <a:pt x="5685" y="100662"/>
                </a:lnTo>
                <a:lnTo>
                  <a:pt x="19714" y="100662"/>
                </a:lnTo>
                <a:lnTo>
                  <a:pt x="25400" y="94976"/>
                </a:lnTo>
                <a:lnTo>
                  <a:pt x="25400" y="80923"/>
                </a:lnTo>
                <a:lnTo>
                  <a:pt x="19714" y="75237"/>
                </a:lnTo>
                <a:close/>
              </a:path>
              <a:path w="2085975" h="380364">
                <a:moveTo>
                  <a:pt x="19714" y="24411"/>
                </a:moveTo>
                <a:lnTo>
                  <a:pt x="5685" y="24411"/>
                </a:lnTo>
                <a:lnTo>
                  <a:pt x="0" y="30097"/>
                </a:lnTo>
                <a:lnTo>
                  <a:pt x="0" y="44151"/>
                </a:lnTo>
                <a:lnTo>
                  <a:pt x="5685" y="49837"/>
                </a:lnTo>
                <a:lnTo>
                  <a:pt x="19714" y="49837"/>
                </a:lnTo>
                <a:lnTo>
                  <a:pt x="25400" y="44151"/>
                </a:lnTo>
                <a:lnTo>
                  <a:pt x="25400" y="30097"/>
                </a:lnTo>
                <a:lnTo>
                  <a:pt x="19714" y="24411"/>
                </a:lnTo>
                <a:close/>
              </a:path>
              <a:path w="2085975" h="380364">
                <a:moveTo>
                  <a:pt x="46126" y="0"/>
                </a:moveTo>
                <a:lnTo>
                  <a:pt x="32073" y="0"/>
                </a:lnTo>
                <a:lnTo>
                  <a:pt x="26388" y="5685"/>
                </a:lnTo>
                <a:lnTo>
                  <a:pt x="26388" y="19714"/>
                </a:lnTo>
                <a:lnTo>
                  <a:pt x="32073" y="25400"/>
                </a:lnTo>
                <a:lnTo>
                  <a:pt x="46126" y="25400"/>
                </a:lnTo>
                <a:lnTo>
                  <a:pt x="51813" y="19714"/>
                </a:lnTo>
                <a:lnTo>
                  <a:pt x="51813" y="5685"/>
                </a:lnTo>
                <a:lnTo>
                  <a:pt x="46126" y="0"/>
                </a:lnTo>
                <a:close/>
              </a:path>
              <a:path w="2085975" h="380364">
                <a:moveTo>
                  <a:pt x="96951" y="0"/>
                </a:moveTo>
                <a:lnTo>
                  <a:pt x="82899" y="0"/>
                </a:lnTo>
                <a:lnTo>
                  <a:pt x="77213" y="5685"/>
                </a:lnTo>
                <a:lnTo>
                  <a:pt x="77213" y="19714"/>
                </a:lnTo>
                <a:lnTo>
                  <a:pt x="82899" y="25400"/>
                </a:lnTo>
                <a:lnTo>
                  <a:pt x="96951" y="25400"/>
                </a:lnTo>
                <a:lnTo>
                  <a:pt x="102638" y="19714"/>
                </a:lnTo>
                <a:lnTo>
                  <a:pt x="102638" y="5685"/>
                </a:lnTo>
                <a:lnTo>
                  <a:pt x="96951" y="0"/>
                </a:lnTo>
                <a:close/>
              </a:path>
              <a:path w="2085975" h="380364">
                <a:moveTo>
                  <a:pt x="147777" y="0"/>
                </a:moveTo>
                <a:lnTo>
                  <a:pt x="133724" y="0"/>
                </a:lnTo>
                <a:lnTo>
                  <a:pt x="128038" y="5685"/>
                </a:lnTo>
                <a:lnTo>
                  <a:pt x="128038" y="19714"/>
                </a:lnTo>
                <a:lnTo>
                  <a:pt x="133724" y="25400"/>
                </a:lnTo>
                <a:lnTo>
                  <a:pt x="147777" y="25400"/>
                </a:lnTo>
                <a:lnTo>
                  <a:pt x="153464" y="19714"/>
                </a:lnTo>
                <a:lnTo>
                  <a:pt x="153464" y="5685"/>
                </a:lnTo>
                <a:lnTo>
                  <a:pt x="147777" y="0"/>
                </a:lnTo>
                <a:close/>
              </a:path>
              <a:path w="2085975" h="380364">
                <a:moveTo>
                  <a:pt x="198602" y="0"/>
                </a:moveTo>
                <a:lnTo>
                  <a:pt x="184550" y="0"/>
                </a:lnTo>
                <a:lnTo>
                  <a:pt x="178864" y="5685"/>
                </a:lnTo>
                <a:lnTo>
                  <a:pt x="178864" y="19714"/>
                </a:lnTo>
                <a:lnTo>
                  <a:pt x="184550" y="25400"/>
                </a:lnTo>
                <a:lnTo>
                  <a:pt x="198602" y="25400"/>
                </a:lnTo>
                <a:lnTo>
                  <a:pt x="204289" y="19714"/>
                </a:lnTo>
                <a:lnTo>
                  <a:pt x="204289" y="5685"/>
                </a:lnTo>
                <a:lnTo>
                  <a:pt x="198602" y="0"/>
                </a:lnTo>
                <a:close/>
              </a:path>
              <a:path w="2085975" h="380364">
                <a:moveTo>
                  <a:pt x="249427" y="0"/>
                </a:moveTo>
                <a:lnTo>
                  <a:pt x="235375" y="0"/>
                </a:lnTo>
                <a:lnTo>
                  <a:pt x="229689" y="5685"/>
                </a:lnTo>
                <a:lnTo>
                  <a:pt x="229689" y="19714"/>
                </a:lnTo>
                <a:lnTo>
                  <a:pt x="235375" y="25400"/>
                </a:lnTo>
                <a:lnTo>
                  <a:pt x="249427" y="25400"/>
                </a:lnTo>
                <a:lnTo>
                  <a:pt x="255115" y="19714"/>
                </a:lnTo>
                <a:lnTo>
                  <a:pt x="255115" y="5685"/>
                </a:lnTo>
                <a:lnTo>
                  <a:pt x="249427" y="0"/>
                </a:lnTo>
                <a:close/>
              </a:path>
              <a:path w="2085975" h="380364">
                <a:moveTo>
                  <a:pt x="300253" y="0"/>
                </a:moveTo>
                <a:lnTo>
                  <a:pt x="286200" y="0"/>
                </a:lnTo>
                <a:lnTo>
                  <a:pt x="280515" y="5685"/>
                </a:lnTo>
                <a:lnTo>
                  <a:pt x="280515" y="19714"/>
                </a:lnTo>
                <a:lnTo>
                  <a:pt x="286200" y="25400"/>
                </a:lnTo>
                <a:lnTo>
                  <a:pt x="300253" y="25400"/>
                </a:lnTo>
                <a:lnTo>
                  <a:pt x="305940" y="19714"/>
                </a:lnTo>
                <a:lnTo>
                  <a:pt x="305940" y="5685"/>
                </a:lnTo>
                <a:lnTo>
                  <a:pt x="300253" y="0"/>
                </a:lnTo>
                <a:close/>
              </a:path>
              <a:path w="2085975" h="380364">
                <a:moveTo>
                  <a:pt x="351078" y="0"/>
                </a:moveTo>
                <a:lnTo>
                  <a:pt x="337026" y="0"/>
                </a:lnTo>
                <a:lnTo>
                  <a:pt x="331340" y="5685"/>
                </a:lnTo>
                <a:lnTo>
                  <a:pt x="331340" y="19714"/>
                </a:lnTo>
                <a:lnTo>
                  <a:pt x="337026" y="25400"/>
                </a:lnTo>
                <a:lnTo>
                  <a:pt x="351078" y="25400"/>
                </a:lnTo>
                <a:lnTo>
                  <a:pt x="356765" y="19714"/>
                </a:lnTo>
                <a:lnTo>
                  <a:pt x="356765" y="5685"/>
                </a:lnTo>
                <a:lnTo>
                  <a:pt x="351078" y="0"/>
                </a:lnTo>
                <a:close/>
              </a:path>
              <a:path w="2085975" h="380364">
                <a:moveTo>
                  <a:pt x="401904" y="0"/>
                </a:moveTo>
                <a:lnTo>
                  <a:pt x="387851" y="0"/>
                </a:lnTo>
                <a:lnTo>
                  <a:pt x="382165" y="5685"/>
                </a:lnTo>
                <a:lnTo>
                  <a:pt x="382165" y="19714"/>
                </a:lnTo>
                <a:lnTo>
                  <a:pt x="387851" y="25400"/>
                </a:lnTo>
                <a:lnTo>
                  <a:pt x="401904" y="25400"/>
                </a:lnTo>
                <a:lnTo>
                  <a:pt x="407591" y="19714"/>
                </a:lnTo>
                <a:lnTo>
                  <a:pt x="407591" y="5685"/>
                </a:lnTo>
                <a:lnTo>
                  <a:pt x="401904" y="0"/>
                </a:lnTo>
                <a:close/>
              </a:path>
              <a:path w="2085975" h="380364">
                <a:moveTo>
                  <a:pt x="452729" y="0"/>
                </a:moveTo>
                <a:lnTo>
                  <a:pt x="438677" y="0"/>
                </a:lnTo>
                <a:lnTo>
                  <a:pt x="432991" y="5685"/>
                </a:lnTo>
                <a:lnTo>
                  <a:pt x="432991" y="19714"/>
                </a:lnTo>
                <a:lnTo>
                  <a:pt x="438677" y="25400"/>
                </a:lnTo>
                <a:lnTo>
                  <a:pt x="452729" y="25400"/>
                </a:lnTo>
                <a:lnTo>
                  <a:pt x="458416" y="19714"/>
                </a:lnTo>
                <a:lnTo>
                  <a:pt x="458416" y="5685"/>
                </a:lnTo>
                <a:lnTo>
                  <a:pt x="452729" y="0"/>
                </a:lnTo>
                <a:close/>
              </a:path>
              <a:path w="2085975" h="380364">
                <a:moveTo>
                  <a:pt x="503554" y="0"/>
                </a:moveTo>
                <a:lnTo>
                  <a:pt x="489502" y="0"/>
                </a:lnTo>
                <a:lnTo>
                  <a:pt x="483816" y="5685"/>
                </a:lnTo>
                <a:lnTo>
                  <a:pt x="483816" y="19714"/>
                </a:lnTo>
                <a:lnTo>
                  <a:pt x="489502" y="25400"/>
                </a:lnTo>
                <a:lnTo>
                  <a:pt x="503554" y="25400"/>
                </a:lnTo>
                <a:lnTo>
                  <a:pt x="509242" y="19714"/>
                </a:lnTo>
                <a:lnTo>
                  <a:pt x="509242" y="5685"/>
                </a:lnTo>
                <a:lnTo>
                  <a:pt x="503554" y="0"/>
                </a:lnTo>
                <a:close/>
              </a:path>
              <a:path w="2085975" h="380364">
                <a:moveTo>
                  <a:pt x="554380" y="0"/>
                </a:moveTo>
                <a:lnTo>
                  <a:pt x="540327" y="0"/>
                </a:lnTo>
                <a:lnTo>
                  <a:pt x="534642" y="5685"/>
                </a:lnTo>
                <a:lnTo>
                  <a:pt x="534642" y="19714"/>
                </a:lnTo>
                <a:lnTo>
                  <a:pt x="540327" y="25400"/>
                </a:lnTo>
                <a:lnTo>
                  <a:pt x="554380" y="25400"/>
                </a:lnTo>
                <a:lnTo>
                  <a:pt x="560067" y="19714"/>
                </a:lnTo>
                <a:lnTo>
                  <a:pt x="560067" y="5685"/>
                </a:lnTo>
                <a:lnTo>
                  <a:pt x="554380" y="0"/>
                </a:lnTo>
                <a:close/>
              </a:path>
              <a:path w="2085975" h="380364">
                <a:moveTo>
                  <a:pt x="605205" y="0"/>
                </a:moveTo>
                <a:lnTo>
                  <a:pt x="591153" y="0"/>
                </a:lnTo>
                <a:lnTo>
                  <a:pt x="585467" y="5685"/>
                </a:lnTo>
                <a:lnTo>
                  <a:pt x="585467" y="19714"/>
                </a:lnTo>
                <a:lnTo>
                  <a:pt x="591153" y="25400"/>
                </a:lnTo>
                <a:lnTo>
                  <a:pt x="605205" y="25400"/>
                </a:lnTo>
                <a:lnTo>
                  <a:pt x="610892" y="19714"/>
                </a:lnTo>
                <a:lnTo>
                  <a:pt x="610892" y="5685"/>
                </a:lnTo>
                <a:lnTo>
                  <a:pt x="605205" y="0"/>
                </a:lnTo>
                <a:close/>
              </a:path>
              <a:path w="2085975" h="380364">
                <a:moveTo>
                  <a:pt x="656031" y="0"/>
                </a:moveTo>
                <a:lnTo>
                  <a:pt x="641978" y="0"/>
                </a:lnTo>
                <a:lnTo>
                  <a:pt x="636292" y="5685"/>
                </a:lnTo>
                <a:lnTo>
                  <a:pt x="636292" y="19714"/>
                </a:lnTo>
                <a:lnTo>
                  <a:pt x="641978" y="25400"/>
                </a:lnTo>
                <a:lnTo>
                  <a:pt x="656031" y="25400"/>
                </a:lnTo>
                <a:lnTo>
                  <a:pt x="661716" y="19714"/>
                </a:lnTo>
                <a:lnTo>
                  <a:pt x="661716" y="5685"/>
                </a:lnTo>
                <a:lnTo>
                  <a:pt x="656031" y="0"/>
                </a:lnTo>
                <a:close/>
              </a:path>
              <a:path w="2085975" h="380364">
                <a:moveTo>
                  <a:pt x="706856" y="0"/>
                </a:moveTo>
                <a:lnTo>
                  <a:pt x="692804" y="0"/>
                </a:lnTo>
                <a:lnTo>
                  <a:pt x="687116" y="5685"/>
                </a:lnTo>
                <a:lnTo>
                  <a:pt x="687116" y="19714"/>
                </a:lnTo>
                <a:lnTo>
                  <a:pt x="692804" y="25400"/>
                </a:lnTo>
                <a:lnTo>
                  <a:pt x="706856" y="25400"/>
                </a:lnTo>
                <a:lnTo>
                  <a:pt x="712542" y="19714"/>
                </a:lnTo>
                <a:lnTo>
                  <a:pt x="712542" y="5685"/>
                </a:lnTo>
                <a:lnTo>
                  <a:pt x="706856" y="0"/>
                </a:lnTo>
                <a:close/>
              </a:path>
              <a:path w="2085975" h="380364">
                <a:moveTo>
                  <a:pt x="757681" y="0"/>
                </a:moveTo>
                <a:lnTo>
                  <a:pt x="743629" y="0"/>
                </a:lnTo>
                <a:lnTo>
                  <a:pt x="737942" y="5685"/>
                </a:lnTo>
                <a:lnTo>
                  <a:pt x="737942" y="19714"/>
                </a:lnTo>
                <a:lnTo>
                  <a:pt x="743629" y="25400"/>
                </a:lnTo>
                <a:lnTo>
                  <a:pt x="757681" y="25400"/>
                </a:lnTo>
                <a:lnTo>
                  <a:pt x="763367" y="19714"/>
                </a:lnTo>
                <a:lnTo>
                  <a:pt x="763367" y="5685"/>
                </a:lnTo>
                <a:lnTo>
                  <a:pt x="757681" y="0"/>
                </a:lnTo>
                <a:close/>
              </a:path>
              <a:path w="2085975" h="380364">
                <a:moveTo>
                  <a:pt x="808507" y="0"/>
                </a:moveTo>
                <a:lnTo>
                  <a:pt x="794454" y="0"/>
                </a:lnTo>
                <a:lnTo>
                  <a:pt x="788767" y="5685"/>
                </a:lnTo>
                <a:lnTo>
                  <a:pt x="788767" y="19714"/>
                </a:lnTo>
                <a:lnTo>
                  <a:pt x="794454" y="25400"/>
                </a:lnTo>
                <a:lnTo>
                  <a:pt x="808507" y="25400"/>
                </a:lnTo>
                <a:lnTo>
                  <a:pt x="814193" y="19714"/>
                </a:lnTo>
                <a:lnTo>
                  <a:pt x="814193" y="5685"/>
                </a:lnTo>
                <a:lnTo>
                  <a:pt x="808507" y="0"/>
                </a:lnTo>
                <a:close/>
              </a:path>
              <a:path w="2085975" h="380364">
                <a:moveTo>
                  <a:pt x="859332" y="0"/>
                </a:moveTo>
                <a:lnTo>
                  <a:pt x="845280" y="0"/>
                </a:lnTo>
                <a:lnTo>
                  <a:pt x="839593" y="5685"/>
                </a:lnTo>
                <a:lnTo>
                  <a:pt x="839593" y="19714"/>
                </a:lnTo>
                <a:lnTo>
                  <a:pt x="845280" y="25400"/>
                </a:lnTo>
                <a:lnTo>
                  <a:pt x="859332" y="25400"/>
                </a:lnTo>
                <a:lnTo>
                  <a:pt x="865018" y="19714"/>
                </a:lnTo>
                <a:lnTo>
                  <a:pt x="865018" y="5685"/>
                </a:lnTo>
                <a:lnTo>
                  <a:pt x="859332" y="0"/>
                </a:lnTo>
                <a:close/>
              </a:path>
              <a:path w="2085975" h="380364">
                <a:moveTo>
                  <a:pt x="910158" y="0"/>
                </a:moveTo>
                <a:lnTo>
                  <a:pt x="896105" y="0"/>
                </a:lnTo>
                <a:lnTo>
                  <a:pt x="890418" y="5685"/>
                </a:lnTo>
                <a:lnTo>
                  <a:pt x="890418" y="19714"/>
                </a:lnTo>
                <a:lnTo>
                  <a:pt x="896105" y="25400"/>
                </a:lnTo>
                <a:lnTo>
                  <a:pt x="910158" y="25400"/>
                </a:lnTo>
                <a:lnTo>
                  <a:pt x="915843" y="19714"/>
                </a:lnTo>
                <a:lnTo>
                  <a:pt x="915843" y="5685"/>
                </a:lnTo>
                <a:lnTo>
                  <a:pt x="910158" y="0"/>
                </a:lnTo>
                <a:close/>
              </a:path>
              <a:path w="2085975" h="380364">
                <a:moveTo>
                  <a:pt x="960983" y="0"/>
                </a:moveTo>
                <a:lnTo>
                  <a:pt x="946931" y="0"/>
                </a:lnTo>
                <a:lnTo>
                  <a:pt x="941243" y="5685"/>
                </a:lnTo>
                <a:lnTo>
                  <a:pt x="941243" y="19714"/>
                </a:lnTo>
                <a:lnTo>
                  <a:pt x="946931" y="25400"/>
                </a:lnTo>
                <a:lnTo>
                  <a:pt x="960983" y="25400"/>
                </a:lnTo>
                <a:lnTo>
                  <a:pt x="966669" y="19714"/>
                </a:lnTo>
                <a:lnTo>
                  <a:pt x="966669" y="5685"/>
                </a:lnTo>
                <a:lnTo>
                  <a:pt x="960983" y="0"/>
                </a:lnTo>
                <a:close/>
              </a:path>
              <a:path w="2085975" h="380364">
                <a:moveTo>
                  <a:pt x="1011808" y="0"/>
                </a:moveTo>
                <a:lnTo>
                  <a:pt x="997756" y="0"/>
                </a:lnTo>
                <a:lnTo>
                  <a:pt x="992069" y="5685"/>
                </a:lnTo>
                <a:lnTo>
                  <a:pt x="992069" y="19714"/>
                </a:lnTo>
                <a:lnTo>
                  <a:pt x="997756" y="25400"/>
                </a:lnTo>
                <a:lnTo>
                  <a:pt x="1011808" y="25400"/>
                </a:lnTo>
                <a:lnTo>
                  <a:pt x="1017494" y="19714"/>
                </a:lnTo>
                <a:lnTo>
                  <a:pt x="1017494" y="5685"/>
                </a:lnTo>
                <a:lnTo>
                  <a:pt x="1011808" y="0"/>
                </a:lnTo>
                <a:close/>
              </a:path>
              <a:path w="2085975" h="380364">
                <a:moveTo>
                  <a:pt x="1062634" y="0"/>
                </a:moveTo>
                <a:lnTo>
                  <a:pt x="1048581" y="0"/>
                </a:lnTo>
                <a:lnTo>
                  <a:pt x="1042894" y="5685"/>
                </a:lnTo>
                <a:lnTo>
                  <a:pt x="1042894" y="19714"/>
                </a:lnTo>
                <a:lnTo>
                  <a:pt x="1048581" y="25400"/>
                </a:lnTo>
                <a:lnTo>
                  <a:pt x="1062634" y="25400"/>
                </a:lnTo>
                <a:lnTo>
                  <a:pt x="1068320" y="19714"/>
                </a:lnTo>
                <a:lnTo>
                  <a:pt x="1068320" y="5685"/>
                </a:lnTo>
                <a:lnTo>
                  <a:pt x="1062634" y="0"/>
                </a:lnTo>
                <a:close/>
              </a:path>
              <a:path w="2085975" h="380364">
                <a:moveTo>
                  <a:pt x="1113459" y="0"/>
                </a:moveTo>
                <a:lnTo>
                  <a:pt x="1099405" y="0"/>
                </a:lnTo>
                <a:lnTo>
                  <a:pt x="1093720" y="5685"/>
                </a:lnTo>
                <a:lnTo>
                  <a:pt x="1093720" y="19714"/>
                </a:lnTo>
                <a:lnTo>
                  <a:pt x="1099405" y="25400"/>
                </a:lnTo>
                <a:lnTo>
                  <a:pt x="1113459" y="25400"/>
                </a:lnTo>
                <a:lnTo>
                  <a:pt x="1119145" y="19714"/>
                </a:lnTo>
                <a:lnTo>
                  <a:pt x="1119145" y="5685"/>
                </a:lnTo>
                <a:lnTo>
                  <a:pt x="1113459" y="0"/>
                </a:lnTo>
                <a:close/>
              </a:path>
              <a:path w="2085975" h="380364">
                <a:moveTo>
                  <a:pt x="1164285" y="0"/>
                </a:moveTo>
                <a:lnTo>
                  <a:pt x="1150231" y="0"/>
                </a:lnTo>
                <a:lnTo>
                  <a:pt x="1144545" y="5685"/>
                </a:lnTo>
                <a:lnTo>
                  <a:pt x="1144545" y="19714"/>
                </a:lnTo>
                <a:lnTo>
                  <a:pt x="1150231" y="25400"/>
                </a:lnTo>
                <a:lnTo>
                  <a:pt x="1164285" y="25400"/>
                </a:lnTo>
                <a:lnTo>
                  <a:pt x="1169970" y="19714"/>
                </a:lnTo>
                <a:lnTo>
                  <a:pt x="1169970" y="5685"/>
                </a:lnTo>
                <a:lnTo>
                  <a:pt x="1164285" y="0"/>
                </a:lnTo>
                <a:close/>
              </a:path>
              <a:path w="2085975" h="380364">
                <a:moveTo>
                  <a:pt x="1215110" y="0"/>
                </a:moveTo>
                <a:lnTo>
                  <a:pt x="1201056" y="0"/>
                </a:lnTo>
                <a:lnTo>
                  <a:pt x="1195370" y="5685"/>
                </a:lnTo>
                <a:lnTo>
                  <a:pt x="1195370" y="19714"/>
                </a:lnTo>
                <a:lnTo>
                  <a:pt x="1201056" y="25400"/>
                </a:lnTo>
                <a:lnTo>
                  <a:pt x="1215110" y="25400"/>
                </a:lnTo>
                <a:lnTo>
                  <a:pt x="1220796" y="19714"/>
                </a:lnTo>
                <a:lnTo>
                  <a:pt x="1220796" y="5685"/>
                </a:lnTo>
                <a:lnTo>
                  <a:pt x="1215110" y="0"/>
                </a:lnTo>
                <a:close/>
              </a:path>
              <a:path w="2085975" h="380364">
                <a:moveTo>
                  <a:pt x="1265936" y="0"/>
                </a:moveTo>
                <a:lnTo>
                  <a:pt x="1251882" y="0"/>
                </a:lnTo>
                <a:lnTo>
                  <a:pt x="1246196" y="5685"/>
                </a:lnTo>
                <a:lnTo>
                  <a:pt x="1246196" y="19714"/>
                </a:lnTo>
                <a:lnTo>
                  <a:pt x="1251882" y="25400"/>
                </a:lnTo>
                <a:lnTo>
                  <a:pt x="1265936" y="25400"/>
                </a:lnTo>
                <a:lnTo>
                  <a:pt x="1271621" y="19714"/>
                </a:lnTo>
                <a:lnTo>
                  <a:pt x="1271621" y="5685"/>
                </a:lnTo>
                <a:lnTo>
                  <a:pt x="1265936" y="0"/>
                </a:lnTo>
                <a:close/>
              </a:path>
              <a:path w="2085975" h="380364">
                <a:moveTo>
                  <a:pt x="1316761" y="0"/>
                </a:moveTo>
                <a:lnTo>
                  <a:pt x="1302707" y="0"/>
                </a:lnTo>
                <a:lnTo>
                  <a:pt x="1297021" y="5685"/>
                </a:lnTo>
                <a:lnTo>
                  <a:pt x="1297021" y="19714"/>
                </a:lnTo>
                <a:lnTo>
                  <a:pt x="1302707" y="25400"/>
                </a:lnTo>
                <a:lnTo>
                  <a:pt x="1316761" y="25400"/>
                </a:lnTo>
                <a:lnTo>
                  <a:pt x="1322447" y="19714"/>
                </a:lnTo>
                <a:lnTo>
                  <a:pt x="1322447" y="5685"/>
                </a:lnTo>
                <a:lnTo>
                  <a:pt x="1316761" y="0"/>
                </a:lnTo>
                <a:close/>
              </a:path>
              <a:path w="2085975" h="380364">
                <a:moveTo>
                  <a:pt x="1367586" y="0"/>
                </a:moveTo>
                <a:lnTo>
                  <a:pt x="1353532" y="0"/>
                </a:lnTo>
                <a:lnTo>
                  <a:pt x="1347847" y="5685"/>
                </a:lnTo>
                <a:lnTo>
                  <a:pt x="1347847" y="19714"/>
                </a:lnTo>
                <a:lnTo>
                  <a:pt x="1353532" y="25400"/>
                </a:lnTo>
                <a:lnTo>
                  <a:pt x="1367586" y="25400"/>
                </a:lnTo>
                <a:lnTo>
                  <a:pt x="1373272" y="19714"/>
                </a:lnTo>
                <a:lnTo>
                  <a:pt x="1373272" y="5685"/>
                </a:lnTo>
                <a:lnTo>
                  <a:pt x="1367586" y="0"/>
                </a:lnTo>
                <a:close/>
              </a:path>
              <a:path w="2085975" h="380364">
                <a:moveTo>
                  <a:pt x="1418412" y="0"/>
                </a:moveTo>
                <a:lnTo>
                  <a:pt x="1404358" y="0"/>
                </a:lnTo>
                <a:lnTo>
                  <a:pt x="1398672" y="5685"/>
                </a:lnTo>
                <a:lnTo>
                  <a:pt x="1398672" y="19714"/>
                </a:lnTo>
                <a:lnTo>
                  <a:pt x="1404358" y="25400"/>
                </a:lnTo>
                <a:lnTo>
                  <a:pt x="1418412" y="25400"/>
                </a:lnTo>
                <a:lnTo>
                  <a:pt x="1424097" y="19714"/>
                </a:lnTo>
                <a:lnTo>
                  <a:pt x="1424097" y="5685"/>
                </a:lnTo>
                <a:lnTo>
                  <a:pt x="1418412" y="0"/>
                </a:lnTo>
                <a:close/>
              </a:path>
              <a:path w="2085975" h="380364">
                <a:moveTo>
                  <a:pt x="1469237" y="0"/>
                </a:moveTo>
                <a:lnTo>
                  <a:pt x="1455183" y="0"/>
                </a:lnTo>
                <a:lnTo>
                  <a:pt x="1449497" y="5685"/>
                </a:lnTo>
                <a:lnTo>
                  <a:pt x="1449497" y="19714"/>
                </a:lnTo>
                <a:lnTo>
                  <a:pt x="1455183" y="25400"/>
                </a:lnTo>
                <a:lnTo>
                  <a:pt x="1469237" y="25400"/>
                </a:lnTo>
                <a:lnTo>
                  <a:pt x="1474923" y="19714"/>
                </a:lnTo>
                <a:lnTo>
                  <a:pt x="1474923" y="5685"/>
                </a:lnTo>
                <a:lnTo>
                  <a:pt x="1469237" y="0"/>
                </a:lnTo>
                <a:close/>
              </a:path>
              <a:path w="2085975" h="380364">
                <a:moveTo>
                  <a:pt x="1520063" y="0"/>
                </a:moveTo>
                <a:lnTo>
                  <a:pt x="1506009" y="0"/>
                </a:lnTo>
                <a:lnTo>
                  <a:pt x="1500323" y="5685"/>
                </a:lnTo>
                <a:lnTo>
                  <a:pt x="1500323" y="19714"/>
                </a:lnTo>
                <a:lnTo>
                  <a:pt x="1506009" y="25400"/>
                </a:lnTo>
                <a:lnTo>
                  <a:pt x="1520063" y="25400"/>
                </a:lnTo>
                <a:lnTo>
                  <a:pt x="1525748" y="19714"/>
                </a:lnTo>
                <a:lnTo>
                  <a:pt x="1525748" y="5685"/>
                </a:lnTo>
                <a:lnTo>
                  <a:pt x="1520063" y="0"/>
                </a:lnTo>
                <a:close/>
              </a:path>
              <a:path w="2085975" h="380364">
                <a:moveTo>
                  <a:pt x="1570888" y="0"/>
                </a:moveTo>
                <a:lnTo>
                  <a:pt x="1556834" y="0"/>
                </a:lnTo>
                <a:lnTo>
                  <a:pt x="1551148" y="5685"/>
                </a:lnTo>
                <a:lnTo>
                  <a:pt x="1551148" y="19714"/>
                </a:lnTo>
                <a:lnTo>
                  <a:pt x="1556834" y="25400"/>
                </a:lnTo>
                <a:lnTo>
                  <a:pt x="1570888" y="25400"/>
                </a:lnTo>
                <a:lnTo>
                  <a:pt x="1576574" y="19714"/>
                </a:lnTo>
                <a:lnTo>
                  <a:pt x="1576574" y="5685"/>
                </a:lnTo>
                <a:lnTo>
                  <a:pt x="1570888" y="0"/>
                </a:lnTo>
                <a:close/>
              </a:path>
              <a:path w="2085975" h="380364">
                <a:moveTo>
                  <a:pt x="1621713" y="0"/>
                </a:moveTo>
                <a:lnTo>
                  <a:pt x="1607659" y="0"/>
                </a:lnTo>
                <a:lnTo>
                  <a:pt x="1601974" y="5685"/>
                </a:lnTo>
                <a:lnTo>
                  <a:pt x="1601974" y="19714"/>
                </a:lnTo>
                <a:lnTo>
                  <a:pt x="1607659" y="25400"/>
                </a:lnTo>
                <a:lnTo>
                  <a:pt x="1621713" y="25400"/>
                </a:lnTo>
                <a:lnTo>
                  <a:pt x="1627399" y="19714"/>
                </a:lnTo>
                <a:lnTo>
                  <a:pt x="1627399" y="5685"/>
                </a:lnTo>
                <a:lnTo>
                  <a:pt x="1621713" y="0"/>
                </a:lnTo>
                <a:close/>
              </a:path>
              <a:path w="2085975" h="380364">
                <a:moveTo>
                  <a:pt x="1672539" y="0"/>
                </a:moveTo>
                <a:lnTo>
                  <a:pt x="1658485" y="0"/>
                </a:lnTo>
                <a:lnTo>
                  <a:pt x="1652799" y="5685"/>
                </a:lnTo>
                <a:lnTo>
                  <a:pt x="1652799" y="19714"/>
                </a:lnTo>
                <a:lnTo>
                  <a:pt x="1658485" y="25400"/>
                </a:lnTo>
                <a:lnTo>
                  <a:pt x="1672539" y="25400"/>
                </a:lnTo>
                <a:lnTo>
                  <a:pt x="1678224" y="19714"/>
                </a:lnTo>
                <a:lnTo>
                  <a:pt x="1678224" y="5685"/>
                </a:lnTo>
                <a:lnTo>
                  <a:pt x="1672539" y="0"/>
                </a:lnTo>
                <a:close/>
              </a:path>
              <a:path w="2085975" h="380364">
                <a:moveTo>
                  <a:pt x="1723364" y="0"/>
                </a:moveTo>
                <a:lnTo>
                  <a:pt x="1709310" y="0"/>
                </a:lnTo>
                <a:lnTo>
                  <a:pt x="1703624" y="5685"/>
                </a:lnTo>
                <a:lnTo>
                  <a:pt x="1703624" y="19714"/>
                </a:lnTo>
                <a:lnTo>
                  <a:pt x="1709310" y="25400"/>
                </a:lnTo>
                <a:lnTo>
                  <a:pt x="1723364" y="25400"/>
                </a:lnTo>
                <a:lnTo>
                  <a:pt x="1729050" y="19714"/>
                </a:lnTo>
                <a:lnTo>
                  <a:pt x="1729050" y="5685"/>
                </a:lnTo>
                <a:lnTo>
                  <a:pt x="1723364" y="0"/>
                </a:lnTo>
                <a:close/>
              </a:path>
              <a:path w="2085975" h="380364">
                <a:moveTo>
                  <a:pt x="1774189" y="0"/>
                </a:moveTo>
                <a:lnTo>
                  <a:pt x="1760136" y="0"/>
                </a:lnTo>
                <a:lnTo>
                  <a:pt x="1754450" y="5685"/>
                </a:lnTo>
                <a:lnTo>
                  <a:pt x="1754450" y="19714"/>
                </a:lnTo>
                <a:lnTo>
                  <a:pt x="1760136" y="25400"/>
                </a:lnTo>
                <a:lnTo>
                  <a:pt x="1774189" y="25400"/>
                </a:lnTo>
                <a:lnTo>
                  <a:pt x="1779875" y="19714"/>
                </a:lnTo>
                <a:lnTo>
                  <a:pt x="1779875" y="5685"/>
                </a:lnTo>
                <a:lnTo>
                  <a:pt x="1774189" y="0"/>
                </a:lnTo>
                <a:close/>
              </a:path>
              <a:path w="2085975" h="380364">
                <a:moveTo>
                  <a:pt x="1825015" y="0"/>
                </a:moveTo>
                <a:lnTo>
                  <a:pt x="1810961" y="0"/>
                </a:lnTo>
                <a:lnTo>
                  <a:pt x="1805275" y="5685"/>
                </a:lnTo>
                <a:lnTo>
                  <a:pt x="1805275" y="19714"/>
                </a:lnTo>
                <a:lnTo>
                  <a:pt x="1810961" y="25400"/>
                </a:lnTo>
                <a:lnTo>
                  <a:pt x="1825015" y="25400"/>
                </a:lnTo>
                <a:lnTo>
                  <a:pt x="1830701" y="19714"/>
                </a:lnTo>
                <a:lnTo>
                  <a:pt x="1830701" y="5685"/>
                </a:lnTo>
                <a:lnTo>
                  <a:pt x="1825015" y="0"/>
                </a:lnTo>
                <a:close/>
              </a:path>
              <a:path w="2085975" h="380364">
                <a:moveTo>
                  <a:pt x="1875840" y="0"/>
                </a:moveTo>
                <a:lnTo>
                  <a:pt x="1861786" y="0"/>
                </a:lnTo>
                <a:lnTo>
                  <a:pt x="1856101" y="5685"/>
                </a:lnTo>
                <a:lnTo>
                  <a:pt x="1856101" y="19714"/>
                </a:lnTo>
                <a:lnTo>
                  <a:pt x="1861786" y="25400"/>
                </a:lnTo>
                <a:lnTo>
                  <a:pt x="1875840" y="25400"/>
                </a:lnTo>
                <a:lnTo>
                  <a:pt x="1881526" y="19714"/>
                </a:lnTo>
                <a:lnTo>
                  <a:pt x="1881526" y="5685"/>
                </a:lnTo>
                <a:lnTo>
                  <a:pt x="1875840" y="0"/>
                </a:lnTo>
                <a:close/>
              </a:path>
              <a:path w="2085975" h="380364">
                <a:moveTo>
                  <a:pt x="1926666" y="0"/>
                </a:moveTo>
                <a:lnTo>
                  <a:pt x="1912612" y="0"/>
                </a:lnTo>
                <a:lnTo>
                  <a:pt x="1906926" y="5685"/>
                </a:lnTo>
                <a:lnTo>
                  <a:pt x="1906926" y="19714"/>
                </a:lnTo>
                <a:lnTo>
                  <a:pt x="1912612" y="25400"/>
                </a:lnTo>
                <a:lnTo>
                  <a:pt x="1926666" y="25400"/>
                </a:lnTo>
                <a:lnTo>
                  <a:pt x="1932351" y="19714"/>
                </a:lnTo>
                <a:lnTo>
                  <a:pt x="1932351" y="5685"/>
                </a:lnTo>
                <a:lnTo>
                  <a:pt x="1926666" y="0"/>
                </a:lnTo>
                <a:close/>
              </a:path>
              <a:path w="2085975" h="380364">
                <a:moveTo>
                  <a:pt x="1977491" y="0"/>
                </a:moveTo>
                <a:lnTo>
                  <a:pt x="1963437" y="0"/>
                </a:lnTo>
                <a:lnTo>
                  <a:pt x="1957751" y="5685"/>
                </a:lnTo>
                <a:lnTo>
                  <a:pt x="1957751" y="19714"/>
                </a:lnTo>
                <a:lnTo>
                  <a:pt x="1963437" y="25400"/>
                </a:lnTo>
                <a:lnTo>
                  <a:pt x="1977491" y="25400"/>
                </a:lnTo>
                <a:lnTo>
                  <a:pt x="1983177" y="19714"/>
                </a:lnTo>
                <a:lnTo>
                  <a:pt x="1983177" y="5685"/>
                </a:lnTo>
                <a:lnTo>
                  <a:pt x="1977491" y="0"/>
                </a:lnTo>
                <a:close/>
              </a:path>
              <a:path w="2085975" h="380364">
                <a:moveTo>
                  <a:pt x="2028316" y="0"/>
                </a:moveTo>
                <a:lnTo>
                  <a:pt x="2014263" y="0"/>
                </a:lnTo>
                <a:lnTo>
                  <a:pt x="2008577" y="5685"/>
                </a:lnTo>
                <a:lnTo>
                  <a:pt x="2008577" y="19714"/>
                </a:lnTo>
                <a:lnTo>
                  <a:pt x="2014263" y="25400"/>
                </a:lnTo>
                <a:lnTo>
                  <a:pt x="2028316" y="25400"/>
                </a:lnTo>
                <a:lnTo>
                  <a:pt x="2034002" y="19714"/>
                </a:lnTo>
                <a:lnTo>
                  <a:pt x="2034002" y="5685"/>
                </a:lnTo>
                <a:lnTo>
                  <a:pt x="2028316" y="0"/>
                </a:lnTo>
                <a:close/>
              </a:path>
              <a:path w="2085975" h="380364">
                <a:moveTo>
                  <a:pt x="2079142" y="0"/>
                </a:moveTo>
                <a:lnTo>
                  <a:pt x="2065088" y="0"/>
                </a:lnTo>
                <a:lnTo>
                  <a:pt x="2059402" y="5685"/>
                </a:lnTo>
                <a:lnTo>
                  <a:pt x="2059402" y="19714"/>
                </a:lnTo>
                <a:lnTo>
                  <a:pt x="2065088" y="25400"/>
                </a:lnTo>
                <a:lnTo>
                  <a:pt x="2079142" y="25400"/>
                </a:lnTo>
                <a:lnTo>
                  <a:pt x="2084828" y="19714"/>
                </a:lnTo>
                <a:lnTo>
                  <a:pt x="2084828" y="5685"/>
                </a:lnTo>
                <a:lnTo>
                  <a:pt x="2079142" y="0"/>
                </a:lnTo>
                <a:close/>
              </a:path>
              <a:path w="2085975" h="380364">
                <a:moveTo>
                  <a:pt x="2079936" y="50006"/>
                </a:moveTo>
                <a:lnTo>
                  <a:pt x="2065907" y="50006"/>
                </a:lnTo>
                <a:lnTo>
                  <a:pt x="2060221" y="55692"/>
                </a:lnTo>
                <a:lnTo>
                  <a:pt x="2060221" y="69745"/>
                </a:lnTo>
                <a:lnTo>
                  <a:pt x="2065907" y="75431"/>
                </a:lnTo>
                <a:lnTo>
                  <a:pt x="2079936" y="75431"/>
                </a:lnTo>
                <a:lnTo>
                  <a:pt x="2085621" y="69745"/>
                </a:lnTo>
                <a:lnTo>
                  <a:pt x="2085621" y="55692"/>
                </a:lnTo>
                <a:lnTo>
                  <a:pt x="2079936" y="50006"/>
                </a:lnTo>
                <a:close/>
              </a:path>
              <a:path w="2085975" h="380364">
                <a:moveTo>
                  <a:pt x="2079936" y="100831"/>
                </a:moveTo>
                <a:lnTo>
                  <a:pt x="2065907" y="100831"/>
                </a:lnTo>
                <a:lnTo>
                  <a:pt x="2060221" y="106517"/>
                </a:lnTo>
                <a:lnTo>
                  <a:pt x="2060221" y="120571"/>
                </a:lnTo>
                <a:lnTo>
                  <a:pt x="2065907" y="126257"/>
                </a:lnTo>
                <a:lnTo>
                  <a:pt x="2079936" y="126257"/>
                </a:lnTo>
                <a:lnTo>
                  <a:pt x="2085621" y="120571"/>
                </a:lnTo>
                <a:lnTo>
                  <a:pt x="2085621" y="106517"/>
                </a:lnTo>
                <a:lnTo>
                  <a:pt x="2079936" y="100831"/>
                </a:lnTo>
                <a:close/>
              </a:path>
              <a:path w="2085975" h="380364">
                <a:moveTo>
                  <a:pt x="2079936" y="151657"/>
                </a:moveTo>
                <a:lnTo>
                  <a:pt x="2065907" y="151657"/>
                </a:lnTo>
                <a:lnTo>
                  <a:pt x="2060221" y="157342"/>
                </a:lnTo>
                <a:lnTo>
                  <a:pt x="2060221" y="171396"/>
                </a:lnTo>
                <a:lnTo>
                  <a:pt x="2065907" y="177082"/>
                </a:lnTo>
                <a:lnTo>
                  <a:pt x="2079936" y="177082"/>
                </a:lnTo>
                <a:lnTo>
                  <a:pt x="2085621" y="171396"/>
                </a:lnTo>
                <a:lnTo>
                  <a:pt x="2085621" y="157342"/>
                </a:lnTo>
                <a:lnTo>
                  <a:pt x="2079936" y="151657"/>
                </a:lnTo>
                <a:close/>
              </a:path>
              <a:path w="2085975" h="380364">
                <a:moveTo>
                  <a:pt x="2079936" y="202482"/>
                </a:moveTo>
                <a:lnTo>
                  <a:pt x="2065907" y="202482"/>
                </a:lnTo>
                <a:lnTo>
                  <a:pt x="2060221" y="208168"/>
                </a:lnTo>
                <a:lnTo>
                  <a:pt x="2060221" y="222222"/>
                </a:lnTo>
                <a:lnTo>
                  <a:pt x="2065907" y="227907"/>
                </a:lnTo>
                <a:lnTo>
                  <a:pt x="2079936" y="227907"/>
                </a:lnTo>
                <a:lnTo>
                  <a:pt x="2085621" y="222222"/>
                </a:lnTo>
                <a:lnTo>
                  <a:pt x="2085621" y="208168"/>
                </a:lnTo>
                <a:lnTo>
                  <a:pt x="2079936" y="202482"/>
                </a:lnTo>
                <a:close/>
              </a:path>
              <a:path w="2085975" h="380364">
                <a:moveTo>
                  <a:pt x="2079936" y="253307"/>
                </a:moveTo>
                <a:lnTo>
                  <a:pt x="2065907" y="253307"/>
                </a:lnTo>
                <a:lnTo>
                  <a:pt x="2060221" y="258993"/>
                </a:lnTo>
                <a:lnTo>
                  <a:pt x="2060221" y="273047"/>
                </a:lnTo>
                <a:lnTo>
                  <a:pt x="2065907" y="278733"/>
                </a:lnTo>
                <a:lnTo>
                  <a:pt x="2079936" y="278733"/>
                </a:lnTo>
                <a:lnTo>
                  <a:pt x="2085621" y="273047"/>
                </a:lnTo>
                <a:lnTo>
                  <a:pt x="2085621" y="258993"/>
                </a:lnTo>
                <a:lnTo>
                  <a:pt x="2079936" y="253307"/>
                </a:lnTo>
                <a:close/>
              </a:path>
              <a:path w="2085975" h="380364">
                <a:moveTo>
                  <a:pt x="2079936" y="304133"/>
                </a:moveTo>
                <a:lnTo>
                  <a:pt x="2065907" y="304133"/>
                </a:lnTo>
                <a:lnTo>
                  <a:pt x="2060221" y="309819"/>
                </a:lnTo>
                <a:lnTo>
                  <a:pt x="2060221" y="323872"/>
                </a:lnTo>
                <a:lnTo>
                  <a:pt x="2065907" y="329558"/>
                </a:lnTo>
                <a:lnTo>
                  <a:pt x="2079936" y="329558"/>
                </a:lnTo>
                <a:lnTo>
                  <a:pt x="2085621" y="323872"/>
                </a:lnTo>
                <a:lnTo>
                  <a:pt x="2085621" y="309819"/>
                </a:lnTo>
                <a:lnTo>
                  <a:pt x="2079936" y="304133"/>
                </a:lnTo>
                <a:close/>
              </a:path>
              <a:path w="2085975" h="380364">
                <a:moveTo>
                  <a:pt x="2079767" y="354789"/>
                </a:moveTo>
                <a:lnTo>
                  <a:pt x="2065713" y="354789"/>
                </a:lnTo>
                <a:lnTo>
                  <a:pt x="2060027" y="360475"/>
                </a:lnTo>
                <a:lnTo>
                  <a:pt x="2060027" y="374503"/>
                </a:lnTo>
                <a:lnTo>
                  <a:pt x="2065713" y="380189"/>
                </a:lnTo>
                <a:lnTo>
                  <a:pt x="2079767" y="380189"/>
                </a:lnTo>
                <a:lnTo>
                  <a:pt x="2085453" y="374503"/>
                </a:lnTo>
                <a:lnTo>
                  <a:pt x="2085453" y="360475"/>
                </a:lnTo>
                <a:lnTo>
                  <a:pt x="2079767" y="354789"/>
                </a:lnTo>
                <a:close/>
              </a:path>
              <a:path w="2085975" h="380364">
                <a:moveTo>
                  <a:pt x="2028941" y="354789"/>
                </a:moveTo>
                <a:lnTo>
                  <a:pt x="2014888" y="354789"/>
                </a:lnTo>
                <a:lnTo>
                  <a:pt x="2009202" y="360475"/>
                </a:lnTo>
                <a:lnTo>
                  <a:pt x="2009202" y="374503"/>
                </a:lnTo>
                <a:lnTo>
                  <a:pt x="2014888" y="380189"/>
                </a:lnTo>
                <a:lnTo>
                  <a:pt x="2028941" y="380189"/>
                </a:lnTo>
                <a:lnTo>
                  <a:pt x="2034627" y="374503"/>
                </a:lnTo>
                <a:lnTo>
                  <a:pt x="2034627" y="360475"/>
                </a:lnTo>
                <a:lnTo>
                  <a:pt x="2028941" y="354789"/>
                </a:lnTo>
                <a:close/>
              </a:path>
              <a:path w="2085975" h="380364">
                <a:moveTo>
                  <a:pt x="1978116" y="354789"/>
                </a:moveTo>
                <a:lnTo>
                  <a:pt x="1964062" y="354789"/>
                </a:lnTo>
                <a:lnTo>
                  <a:pt x="1958376" y="360475"/>
                </a:lnTo>
                <a:lnTo>
                  <a:pt x="1958376" y="374503"/>
                </a:lnTo>
                <a:lnTo>
                  <a:pt x="1964062" y="380189"/>
                </a:lnTo>
                <a:lnTo>
                  <a:pt x="1978116" y="380189"/>
                </a:lnTo>
                <a:lnTo>
                  <a:pt x="1983802" y="374503"/>
                </a:lnTo>
                <a:lnTo>
                  <a:pt x="1983802" y="360475"/>
                </a:lnTo>
                <a:lnTo>
                  <a:pt x="1978116" y="354789"/>
                </a:lnTo>
                <a:close/>
              </a:path>
              <a:path w="2085975" h="380364">
                <a:moveTo>
                  <a:pt x="1927291" y="354789"/>
                </a:moveTo>
                <a:lnTo>
                  <a:pt x="1913237" y="354789"/>
                </a:lnTo>
                <a:lnTo>
                  <a:pt x="1907551" y="360475"/>
                </a:lnTo>
                <a:lnTo>
                  <a:pt x="1907551" y="374503"/>
                </a:lnTo>
                <a:lnTo>
                  <a:pt x="1913237" y="380189"/>
                </a:lnTo>
                <a:lnTo>
                  <a:pt x="1927291" y="380189"/>
                </a:lnTo>
                <a:lnTo>
                  <a:pt x="1932976" y="374503"/>
                </a:lnTo>
                <a:lnTo>
                  <a:pt x="1932976" y="360475"/>
                </a:lnTo>
                <a:lnTo>
                  <a:pt x="1927291" y="354789"/>
                </a:lnTo>
                <a:close/>
              </a:path>
              <a:path w="2085975" h="380364">
                <a:moveTo>
                  <a:pt x="1876465" y="354789"/>
                </a:moveTo>
                <a:lnTo>
                  <a:pt x="1862411" y="354789"/>
                </a:lnTo>
                <a:lnTo>
                  <a:pt x="1856726" y="360475"/>
                </a:lnTo>
                <a:lnTo>
                  <a:pt x="1856726" y="374503"/>
                </a:lnTo>
                <a:lnTo>
                  <a:pt x="1862411" y="380189"/>
                </a:lnTo>
                <a:lnTo>
                  <a:pt x="1876465" y="380189"/>
                </a:lnTo>
                <a:lnTo>
                  <a:pt x="1882151" y="374503"/>
                </a:lnTo>
                <a:lnTo>
                  <a:pt x="1882151" y="360475"/>
                </a:lnTo>
                <a:lnTo>
                  <a:pt x="1876465" y="354789"/>
                </a:lnTo>
                <a:close/>
              </a:path>
              <a:path w="2085975" h="380364">
                <a:moveTo>
                  <a:pt x="1825640" y="354789"/>
                </a:moveTo>
                <a:lnTo>
                  <a:pt x="1811586" y="354789"/>
                </a:lnTo>
                <a:lnTo>
                  <a:pt x="1805900" y="360475"/>
                </a:lnTo>
                <a:lnTo>
                  <a:pt x="1805900" y="374503"/>
                </a:lnTo>
                <a:lnTo>
                  <a:pt x="1811586" y="380189"/>
                </a:lnTo>
                <a:lnTo>
                  <a:pt x="1825640" y="380189"/>
                </a:lnTo>
                <a:lnTo>
                  <a:pt x="1831326" y="374503"/>
                </a:lnTo>
                <a:lnTo>
                  <a:pt x="1831326" y="360475"/>
                </a:lnTo>
                <a:lnTo>
                  <a:pt x="1825640" y="354789"/>
                </a:lnTo>
                <a:close/>
              </a:path>
              <a:path w="2085975" h="380364">
                <a:moveTo>
                  <a:pt x="1774814" y="354789"/>
                </a:moveTo>
                <a:lnTo>
                  <a:pt x="1760761" y="354789"/>
                </a:lnTo>
                <a:lnTo>
                  <a:pt x="1755075" y="360475"/>
                </a:lnTo>
                <a:lnTo>
                  <a:pt x="1755075" y="374503"/>
                </a:lnTo>
                <a:lnTo>
                  <a:pt x="1760761" y="380189"/>
                </a:lnTo>
                <a:lnTo>
                  <a:pt x="1774814" y="380189"/>
                </a:lnTo>
                <a:lnTo>
                  <a:pt x="1780500" y="374503"/>
                </a:lnTo>
                <a:lnTo>
                  <a:pt x="1780500" y="360475"/>
                </a:lnTo>
                <a:lnTo>
                  <a:pt x="1774814" y="354789"/>
                </a:lnTo>
                <a:close/>
              </a:path>
              <a:path w="2085975" h="380364">
                <a:moveTo>
                  <a:pt x="1723989" y="354789"/>
                </a:moveTo>
                <a:lnTo>
                  <a:pt x="1709935" y="354789"/>
                </a:lnTo>
                <a:lnTo>
                  <a:pt x="1704249" y="360475"/>
                </a:lnTo>
                <a:lnTo>
                  <a:pt x="1704249" y="374503"/>
                </a:lnTo>
                <a:lnTo>
                  <a:pt x="1709935" y="380189"/>
                </a:lnTo>
                <a:lnTo>
                  <a:pt x="1723989" y="380189"/>
                </a:lnTo>
                <a:lnTo>
                  <a:pt x="1729675" y="374503"/>
                </a:lnTo>
                <a:lnTo>
                  <a:pt x="1729675" y="360475"/>
                </a:lnTo>
                <a:lnTo>
                  <a:pt x="1723989" y="354789"/>
                </a:lnTo>
                <a:close/>
              </a:path>
              <a:path w="2085975" h="380364">
                <a:moveTo>
                  <a:pt x="1673164" y="354789"/>
                </a:moveTo>
                <a:lnTo>
                  <a:pt x="1659110" y="354789"/>
                </a:lnTo>
                <a:lnTo>
                  <a:pt x="1653424" y="360475"/>
                </a:lnTo>
                <a:lnTo>
                  <a:pt x="1653424" y="374503"/>
                </a:lnTo>
                <a:lnTo>
                  <a:pt x="1659110" y="380189"/>
                </a:lnTo>
                <a:lnTo>
                  <a:pt x="1673164" y="380189"/>
                </a:lnTo>
                <a:lnTo>
                  <a:pt x="1678849" y="374503"/>
                </a:lnTo>
                <a:lnTo>
                  <a:pt x="1678849" y="360475"/>
                </a:lnTo>
                <a:lnTo>
                  <a:pt x="1673164" y="354789"/>
                </a:lnTo>
                <a:close/>
              </a:path>
              <a:path w="2085975" h="380364">
                <a:moveTo>
                  <a:pt x="1622338" y="354789"/>
                </a:moveTo>
                <a:lnTo>
                  <a:pt x="1608284" y="354789"/>
                </a:lnTo>
                <a:lnTo>
                  <a:pt x="1602599" y="360475"/>
                </a:lnTo>
                <a:lnTo>
                  <a:pt x="1602599" y="374503"/>
                </a:lnTo>
                <a:lnTo>
                  <a:pt x="1608284" y="380189"/>
                </a:lnTo>
                <a:lnTo>
                  <a:pt x="1622338" y="380189"/>
                </a:lnTo>
                <a:lnTo>
                  <a:pt x="1628024" y="374503"/>
                </a:lnTo>
                <a:lnTo>
                  <a:pt x="1628024" y="360475"/>
                </a:lnTo>
                <a:lnTo>
                  <a:pt x="1622338" y="354789"/>
                </a:lnTo>
                <a:close/>
              </a:path>
              <a:path w="2085975" h="380364">
                <a:moveTo>
                  <a:pt x="1571513" y="354789"/>
                </a:moveTo>
                <a:lnTo>
                  <a:pt x="1557459" y="354789"/>
                </a:lnTo>
                <a:lnTo>
                  <a:pt x="1551773" y="360475"/>
                </a:lnTo>
                <a:lnTo>
                  <a:pt x="1551773" y="374503"/>
                </a:lnTo>
                <a:lnTo>
                  <a:pt x="1557459" y="380189"/>
                </a:lnTo>
                <a:lnTo>
                  <a:pt x="1571513" y="380189"/>
                </a:lnTo>
                <a:lnTo>
                  <a:pt x="1577199" y="374503"/>
                </a:lnTo>
                <a:lnTo>
                  <a:pt x="1577199" y="360475"/>
                </a:lnTo>
                <a:lnTo>
                  <a:pt x="1571513" y="354789"/>
                </a:lnTo>
                <a:close/>
              </a:path>
              <a:path w="2085975" h="380364">
                <a:moveTo>
                  <a:pt x="1520687" y="354789"/>
                </a:moveTo>
                <a:lnTo>
                  <a:pt x="1506634" y="354789"/>
                </a:lnTo>
                <a:lnTo>
                  <a:pt x="1500948" y="360475"/>
                </a:lnTo>
                <a:lnTo>
                  <a:pt x="1500948" y="374503"/>
                </a:lnTo>
                <a:lnTo>
                  <a:pt x="1506634" y="380189"/>
                </a:lnTo>
                <a:lnTo>
                  <a:pt x="1520687" y="380189"/>
                </a:lnTo>
                <a:lnTo>
                  <a:pt x="1526373" y="374503"/>
                </a:lnTo>
                <a:lnTo>
                  <a:pt x="1526373" y="360475"/>
                </a:lnTo>
                <a:lnTo>
                  <a:pt x="1520687" y="354789"/>
                </a:lnTo>
                <a:close/>
              </a:path>
              <a:path w="2085975" h="380364">
                <a:moveTo>
                  <a:pt x="1469862" y="354789"/>
                </a:moveTo>
                <a:lnTo>
                  <a:pt x="1455808" y="354789"/>
                </a:lnTo>
                <a:lnTo>
                  <a:pt x="1450122" y="360475"/>
                </a:lnTo>
                <a:lnTo>
                  <a:pt x="1450122" y="374503"/>
                </a:lnTo>
                <a:lnTo>
                  <a:pt x="1455808" y="380189"/>
                </a:lnTo>
                <a:lnTo>
                  <a:pt x="1469862" y="380189"/>
                </a:lnTo>
                <a:lnTo>
                  <a:pt x="1475548" y="374503"/>
                </a:lnTo>
                <a:lnTo>
                  <a:pt x="1475548" y="360475"/>
                </a:lnTo>
                <a:lnTo>
                  <a:pt x="1469862" y="354789"/>
                </a:lnTo>
                <a:close/>
              </a:path>
              <a:path w="2085975" h="380364">
                <a:moveTo>
                  <a:pt x="1419037" y="354789"/>
                </a:moveTo>
                <a:lnTo>
                  <a:pt x="1404983" y="354789"/>
                </a:lnTo>
                <a:lnTo>
                  <a:pt x="1399297" y="360475"/>
                </a:lnTo>
                <a:lnTo>
                  <a:pt x="1399297" y="374503"/>
                </a:lnTo>
                <a:lnTo>
                  <a:pt x="1404983" y="380189"/>
                </a:lnTo>
                <a:lnTo>
                  <a:pt x="1419037" y="380189"/>
                </a:lnTo>
                <a:lnTo>
                  <a:pt x="1424722" y="374503"/>
                </a:lnTo>
                <a:lnTo>
                  <a:pt x="1424722" y="360475"/>
                </a:lnTo>
                <a:lnTo>
                  <a:pt x="1419037" y="354789"/>
                </a:lnTo>
                <a:close/>
              </a:path>
              <a:path w="2085975" h="380364">
                <a:moveTo>
                  <a:pt x="1368211" y="354789"/>
                </a:moveTo>
                <a:lnTo>
                  <a:pt x="1354157" y="354789"/>
                </a:lnTo>
                <a:lnTo>
                  <a:pt x="1348472" y="360475"/>
                </a:lnTo>
                <a:lnTo>
                  <a:pt x="1348472" y="374503"/>
                </a:lnTo>
                <a:lnTo>
                  <a:pt x="1354157" y="380189"/>
                </a:lnTo>
                <a:lnTo>
                  <a:pt x="1368211" y="380189"/>
                </a:lnTo>
                <a:lnTo>
                  <a:pt x="1373897" y="374503"/>
                </a:lnTo>
                <a:lnTo>
                  <a:pt x="1373897" y="360475"/>
                </a:lnTo>
                <a:lnTo>
                  <a:pt x="1368211" y="354789"/>
                </a:lnTo>
                <a:close/>
              </a:path>
              <a:path w="2085975" h="380364">
                <a:moveTo>
                  <a:pt x="1317386" y="354789"/>
                </a:moveTo>
                <a:lnTo>
                  <a:pt x="1303332" y="354789"/>
                </a:lnTo>
                <a:lnTo>
                  <a:pt x="1297646" y="360475"/>
                </a:lnTo>
                <a:lnTo>
                  <a:pt x="1297646" y="374503"/>
                </a:lnTo>
                <a:lnTo>
                  <a:pt x="1303332" y="380189"/>
                </a:lnTo>
                <a:lnTo>
                  <a:pt x="1317386" y="380189"/>
                </a:lnTo>
                <a:lnTo>
                  <a:pt x="1323072" y="374503"/>
                </a:lnTo>
                <a:lnTo>
                  <a:pt x="1323072" y="360475"/>
                </a:lnTo>
                <a:lnTo>
                  <a:pt x="1317386" y="354789"/>
                </a:lnTo>
                <a:close/>
              </a:path>
              <a:path w="2085975" h="380364">
                <a:moveTo>
                  <a:pt x="1266560" y="354789"/>
                </a:moveTo>
                <a:lnTo>
                  <a:pt x="1252507" y="354789"/>
                </a:lnTo>
                <a:lnTo>
                  <a:pt x="1246821" y="360475"/>
                </a:lnTo>
                <a:lnTo>
                  <a:pt x="1246821" y="374503"/>
                </a:lnTo>
                <a:lnTo>
                  <a:pt x="1252507" y="380189"/>
                </a:lnTo>
                <a:lnTo>
                  <a:pt x="1266560" y="380189"/>
                </a:lnTo>
                <a:lnTo>
                  <a:pt x="1272246" y="374503"/>
                </a:lnTo>
                <a:lnTo>
                  <a:pt x="1272246" y="360475"/>
                </a:lnTo>
                <a:lnTo>
                  <a:pt x="1266560" y="354789"/>
                </a:lnTo>
                <a:close/>
              </a:path>
              <a:path w="2085975" h="380364">
                <a:moveTo>
                  <a:pt x="1215735" y="354789"/>
                </a:moveTo>
                <a:lnTo>
                  <a:pt x="1201681" y="354789"/>
                </a:lnTo>
                <a:lnTo>
                  <a:pt x="1195995" y="360475"/>
                </a:lnTo>
                <a:lnTo>
                  <a:pt x="1195995" y="374503"/>
                </a:lnTo>
                <a:lnTo>
                  <a:pt x="1201681" y="380189"/>
                </a:lnTo>
                <a:lnTo>
                  <a:pt x="1215735" y="380189"/>
                </a:lnTo>
                <a:lnTo>
                  <a:pt x="1221421" y="374503"/>
                </a:lnTo>
                <a:lnTo>
                  <a:pt x="1221421" y="360475"/>
                </a:lnTo>
                <a:lnTo>
                  <a:pt x="1215735" y="354789"/>
                </a:lnTo>
                <a:close/>
              </a:path>
              <a:path w="2085975" h="380364">
                <a:moveTo>
                  <a:pt x="1164910" y="354789"/>
                </a:moveTo>
                <a:lnTo>
                  <a:pt x="1150856" y="354789"/>
                </a:lnTo>
                <a:lnTo>
                  <a:pt x="1145170" y="360475"/>
                </a:lnTo>
                <a:lnTo>
                  <a:pt x="1145170" y="374503"/>
                </a:lnTo>
                <a:lnTo>
                  <a:pt x="1150856" y="380189"/>
                </a:lnTo>
                <a:lnTo>
                  <a:pt x="1164910" y="380189"/>
                </a:lnTo>
                <a:lnTo>
                  <a:pt x="1170595" y="374503"/>
                </a:lnTo>
                <a:lnTo>
                  <a:pt x="1170595" y="360475"/>
                </a:lnTo>
                <a:lnTo>
                  <a:pt x="1164910" y="354789"/>
                </a:lnTo>
                <a:close/>
              </a:path>
              <a:path w="2085975" h="380364">
                <a:moveTo>
                  <a:pt x="1114084" y="354789"/>
                </a:moveTo>
                <a:lnTo>
                  <a:pt x="1100030" y="354789"/>
                </a:lnTo>
                <a:lnTo>
                  <a:pt x="1094345" y="360475"/>
                </a:lnTo>
                <a:lnTo>
                  <a:pt x="1094345" y="374503"/>
                </a:lnTo>
                <a:lnTo>
                  <a:pt x="1100030" y="380189"/>
                </a:lnTo>
                <a:lnTo>
                  <a:pt x="1114084" y="380189"/>
                </a:lnTo>
                <a:lnTo>
                  <a:pt x="1119770" y="374503"/>
                </a:lnTo>
                <a:lnTo>
                  <a:pt x="1119770" y="360475"/>
                </a:lnTo>
                <a:lnTo>
                  <a:pt x="1114084" y="354789"/>
                </a:lnTo>
                <a:close/>
              </a:path>
              <a:path w="2085975" h="380364">
                <a:moveTo>
                  <a:pt x="1063259" y="354789"/>
                </a:moveTo>
                <a:lnTo>
                  <a:pt x="1049205" y="354789"/>
                </a:lnTo>
                <a:lnTo>
                  <a:pt x="1043519" y="360475"/>
                </a:lnTo>
                <a:lnTo>
                  <a:pt x="1043519" y="374503"/>
                </a:lnTo>
                <a:lnTo>
                  <a:pt x="1049205" y="380189"/>
                </a:lnTo>
                <a:lnTo>
                  <a:pt x="1063259" y="380189"/>
                </a:lnTo>
                <a:lnTo>
                  <a:pt x="1068945" y="374503"/>
                </a:lnTo>
                <a:lnTo>
                  <a:pt x="1068945" y="360475"/>
                </a:lnTo>
                <a:lnTo>
                  <a:pt x="1063259" y="354789"/>
                </a:lnTo>
                <a:close/>
              </a:path>
              <a:path w="2085975" h="380364">
                <a:moveTo>
                  <a:pt x="1012433" y="354789"/>
                </a:moveTo>
                <a:lnTo>
                  <a:pt x="998380" y="354789"/>
                </a:lnTo>
                <a:lnTo>
                  <a:pt x="992694" y="360475"/>
                </a:lnTo>
                <a:lnTo>
                  <a:pt x="992694" y="374503"/>
                </a:lnTo>
                <a:lnTo>
                  <a:pt x="998380" y="380189"/>
                </a:lnTo>
                <a:lnTo>
                  <a:pt x="1012433" y="380189"/>
                </a:lnTo>
                <a:lnTo>
                  <a:pt x="1018119" y="374503"/>
                </a:lnTo>
                <a:lnTo>
                  <a:pt x="1018119" y="360475"/>
                </a:lnTo>
                <a:lnTo>
                  <a:pt x="1012433" y="354789"/>
                </a:lnTo>
                <a:close/>
              </a:path>
              <a:path w="2085975" h="380364">
                <a:moveTo>
                  <a:pt x="961608" y="354789"/>
                </a:moveTo>
                <a:lnTo>
                  <a:pt x="947554" y="354789"/>
                </a:lnTo>
                <a:lnTo>
                  <a:pt x="941868" y="360475"/>
                </a:lnTo>
                <a:lnTo>
                  <a:pt x="941868" y="374503"/>
                </a:lnTo>
                <a:lnTo>
                  <a:pt x="947554" y="380189"/>
                </a:lnTo>
                <a:lnTo>
                  <a:pt x="961608" y="380189"/>
                </a:lnTo>
                <a:lnTo>
                  <a:pt x="967294" y="374503"/>
                </a:lnTo>
                <a:lnTo>
                  <a:pt x="967294" y="360475"/>
                </a:lnTo>
                <a:lnTo>
                  <a:pt x="961608" y="354789"/>
                </a:lnTo>
                <a:close/>
              </a:path>
              <a:path w="2085975" h="380364">
                <a:moveTo>
                  <a:pt x="910783" y="354789"/>
                </a:moveTo>
                <a:lnTo>
                  <a:pt x="896729" y="354789"/>
                </a:lnTo>
                <a:lnTo>
                  <a:pt x="891043" y="360475"/>
                </a:lnTo>
                <a:lnTo>
                  <a:pt x="891043" y="374503"/>
                </a:lnTo>
                <a:lnTo>
                  <a:pt x="896729" y="380189"/>
                </a:lnTo>
                <a:lnTo>
                  <a:pt x="910783" y="380189"/>
                </a:lnTo>
                <a:lnTo>
                  <a:pt x="916468" y="374503"/>
                </a:lnTo>
                <a:lnTo>
                  <a:pt x="916468" y="360475"/>
                </a:lnTo>
                <a:lnTo>
                  <a:pt x="910783" y="354789"/>
                </a:lnTo>
                <a:close/>
              </a:path>
              <a:path w="2085975" h="380364">
                <a:moveTo>
                  <a:pt x="859957" y="354789"/>
                </a:moveTo>
                <a:lnTo>
                  <a:pt x="845903" y="354789"/>
                </a:lnTo>
                <a:lnTo>
                  <a:pt x="840218" y="360475"/>
                </a:lnTo>
                <a:lnTo>
                  <a:pt x="840218" y="374503"/>
                </a:lnTo>
                <a:lnTo>
                  <a:pt x="845903" y="380189"/>
                </a:lnTo>
                <a:lnTo>
                  <a:pt x="859957" y="380189"/>
                </a:lnTo>
                <a:lnTo>
                  <a:pt x="865643" y="374503"/>
                </a:lnTo>
                <a:lnTo>
                  <a:pt x="865643" y="360475"/>
                </a:lnTo>
                <a:lnTo>
                  <a:pt x="859957" y="354789"/>
                </a:lnTo>
                <a:close/>
              </a:path>
              <a:path w="2085975" h="380364">
                <a:moveTo>
                  <a:pt x="809132" y="354789"/>
                </a:moveTo>
                <a:lnTo>
                  <a:pt x="795078" y="354789"/>
                </a:lnTo>
                <a:lnTo>
                  <a:pt x="789392" y="360475"/>
                </a:lnTo>
                <a:lnTo>
                  <a:pt x="789392" y="374503"/>
                </a:lnTo>
                <a:lnTo>
                  <a:pt x="795078" y="380189"/>
                </a:lnTo>
                <a:lnTo>
                  <a:pt x="809132" y="380189"/>
                </a:lnTo>
                <a:lnTo>
                  <a:pt x="814818" y="374503"/>
                </a:lnTo>
                <a:lnTo>
                  <a:pt x="814818" y="360475"/>
                </a:lnTo>
                <a:lnTo>
                  <a:pt x="809132" y="354789"/>
                </a:lnTo>
                <a:close/>
              </a:path>
              <a:path w="2085975" h="380364">
                <a:moveTo>
                  <a:pt x="758306" y="354789"/>
                </a:moveTo>
                <a:lnTo>
                  <a:pt x="744253" y="354789"/>
                </a:lnTo>
                <a:lnTo>
                  <a:pt x="738567" y="360475"/>
                </a:lnTo>
                <a:lnTo>
                  <a:pt x="738567" y="374503"/>
                </a:lnTo>
                <a:lnTo>
                  <a:pt x="744253" y="380189"/>
                </a:lnTo>
                <a:lnTo>
                  <a:pt x="758306" y="380189"/>
                </a:lnTo>
                <a:lnTo>
                  <a:pt x="763992" y="374503"/>
                </a:lnTo>
                <a:lnTo>
                  <a:pt x="763992" y="360475"/>
                </a:lnTo>
                <a:lnTo>
                  <a:pt x="758306" y="354789"/>
                </a:lnTo>
                <a:close/>
              </a:path>
              <a:path w="2085975" h="380364">
                <a:moveTo>
                  <a:pt x="707481" y="354789"/>
                </a:moveTo>
                <a:lnTo>
                  <a:pt x="693427" y="354789"/>
                </a:lnTo>
                <a:lnTo>
                  <a:pt x="687741" y="360475"/>
                </a:lnTo>
                <a:lnTo>
                  <a:pt x="687741" y="374503"/>
                </a:lnTo>
                <a:lnTo>
                  <a:pt x="693427" y="380189"/>
                </a:lnTo>
                <a:lnTo>
                  <a:pt x="707481" y="380189"/>
                </a:lnTo>
                <a:lnTo>
                  <a:pt x="713167" y="374503"/>
                </a:lnTo>
                <a:lnTo>
                  <a:pt x="713167" y="360475"/>
                </a:lnTo>
                <a:lnTo>
                  <a:pt x="707481" y="354789"/>
                </a:lnTo>
                <a:close/>
              </a:path>
              <a:path w="2085975" h="380364">
                <a:moveTo>
                  <a:pt x="656656" y="354789"/>
                </a:moveTo>
                <a:lnTo>
                  <a:pt x="642602" y="354789"/>
                </a:lnTo>
                <a:lnTo>
                  <a:pt x="636916" y="360475"/>
                </a:lnTo>
                <a:lnTo>
                  <a:pt x="636916" y="374503"/>
                </a:lnTo>
                <a:lnTo>
                  <a:pt x="642602" y="380189"/>
                </a:lnTo>
                <a:lnTo>
                  <a:pt x="656656" y="380189"/>
                </a:lnTo>
                <a:lnTo>
                  <a:pt x="662341" y="374503"/>
                </a:lnTo>
                <a:lnTo>
                  <a:pt x="662341" y="360475"/>
                </a:lnTo>
                <a:lnTo>
                  <a:pt x="656656" y="354789"/>
                </a:lnTo>
                <a:close/>
              </a:path>
              <a:path w="2085975" h="380364">
                <a:moveTo>
                  <a:pt x="605830" y="354789"/>
                </a:moveTo>
                <a:lnTo>
                  <a:pt x="591776" y="354789"/>
                </a:lnTo>
                <a:lnTo>
                  <a:pt x="586091" y="360475"/>
                </a:lnTo>
                <a:lnTo>
                  <a:pt x="586091" y="374503"/>
                </a:lnTo>
                <a:lnTo>
                  <a:pt x="591776" y="380189"/>
                </a:lnTo>
                <a:lnTo>
                  <a:pt x="605830" y="380189"/>
                </a:lnTo>
                <a:lnTo>
                  <a:pt x="611516" y="374503"/>
                </a:lnTo>
                <a:lnTo>
                  <a:pt x="611516" y="360475"/>
                </a:lnTo>
                <a:lnTo>
                  <a:pt x="605830" y="354789"/>
                </a:lnTo>
                <a:close/>
              </a:path>
              <a:path w="2085975" h="380364">
                <a:moveTo>
                  <a:pt x="555005" y="354789"/>
                </a:moveTo>
                <a:lnTo>
                  <a:pt x="540951" y="354789"/>
                </a:lnTo>
                <a:lnTo>
                  <a:pt x="535265" y="360475"/>
                </a:lnTo>
                <a:lnTo>
                  <a:pt x="535265" y="374503"/>
                </a:lnTo>
                <a:lnTo>
                  <a:pt x="540951" y="380189"/>
                </a:lnTo>
                <a:lnTo>
                  <a:pt x="555005" y="380189"/>
                </a:lnTo>
                <a:lnTo>
                  <a:pt x="560691" y="374503"/>
                </a:lnTo>
                <a:lnTo>
                  <a:pt x="560691" y="360475"/>
                </a:lnTo>
                <a:lnTo>
                  <a:pt x="555005" y="354789"/>
                </a:lnTo>
                <a:close/>
              </a:path>
              <a:path w="2085975" h="380364">
                <a:moveTo>
                  <a:pt x="504179" y="354789"/>
                </a:moveTo>
                <a:lnTo>
                  <a:pt x="490126" y="354789"/>
                </a:lnTo>
                <a:lnTo>
                  <a:pt x="484440" y="360475"/>
                </a:lnTo>
                <a:lnTo>
                  <a:pt x="484440" y="374503"/>
                </a:lnTo>
                <a:lnTo>
                  <a:pt x="490126" y="380189"/>
                </a:lnTo>
                <a:lnTo>
                  <a:pt x="504179" y="380189"/>
                </a:lnTo>
                <a:lnTo>
                  <a:pt x="509865" y="374503"/>
                </a:lnTo>
                <a:lnTo>
                  <a:pt x="509865" y="360475"/>
                </a:lnTo>
                <a:lnTo>
                  <a:pt x="504179" y="354789"/>
                </a:lnTo>
                <a:close/>
              </a:path>
              <a:path w="2085975" h="380364">
                <a:moveTo>
                  <a:pt x="453354" y="354789"/>
                </a:moveTo>
                <a:lnTo>
                  <a:pt x="439300" y="354789"/>
                </a:lnTo>
                <a:lnTo>
                  <a:pt x="433614" y="360475"/>
                </a:lnTo>
                <a:lnTo>
                  <a:pt x="433614" y="374503"/>
                </a:lnTo>
                <a:lnTo>
                  <a:pt x="439300" y="380189"/>
                </a:lnTo>
                <a:lnTo>
                  <a:pt x="453354" y="380189"/>
                </a:lnTo>
                <a:lnTo>
                  <a:pt x="459040" y="374503"/>
                </a:lnTo>
                <a:lnTo>
                  <a:pt x="459040" y="360475"/>
                </a:lnTo>
                <a:lnTo>
                  <a:pt x="453354" y="354789"/>
                </a:lnTo>
                <a:close/>
              </a:path>
              <a:path w="2085975" h="380364">
                <a:moveTo>
                  <a:pt x="402529" y="354789"/>
                </a:moveTo>
                <a:lnTo>
                  <a:pt x="388475" y="354789"/>
                </a:lnTo>
                <a:lnTo>
                  <a:pt x="382789" y="360475"/>
                </a:lnTo>
                <a:lnTo>
                  <a:pt x="382789" y="374503"/>
                </a:lnTo>
                <a:lnTo>
                  <a:pt x="388475" y="380189"/>
                </a:lnTo>
                <a:lnTo>
                  <a:pt x="402529" y="380189"/>
                </a:lnTo>
                <a:lnTo>
                  <a:pt x="408214" y="374503"/>
                </a:lnTo>
                <a:lnTo>
                  <a:pt x="408214" y="360475"/>
                </a:lnTo>
                <a:lnTo>
                  <a:pt x="402529" y="354789"/>
                </a:lnTo>
                <a:close/>
              </a:path>
              <a:path w="2085975" h="380364">
                <a:moveTo>
                  <a:pt x="351703" y="354789"/>
                </a:moveTo>
                <a:lnTo>
                  <a:pt x="337649" y="354789"/>
                </a:lnTo>
                <a:lnTo>
                  <a:pt x="331964" y="360475"/>
                </a:lnTo>
                <a:lnTo>
                  <a:pt x="331964" y="374503"/>
                </a:lnTo>
                <a:lnTo>
                  <a:pt x="337649" y="380189"/>
                </a:lnTo>
                <a:lnTo>
                  <a:pt x="351703" y="380189"/>
                </a:lnTo>
                <a:lnTo>
                  <a:pt x="357389" y="374503"/>
                </a:lnTo>
                <a:lnTo>
                  <a:pt x="357389" y="360475"/>
                </a:lnTo>
                <a:lnTo>
                  <a:pt x="351703" y="354789"/>
                </a:lnTo>
                <a:close/>
              </a:path>
              <a:path w="2085975" h="380364">
                <a:moveTo>
                  <a:pt x="300878" y="354789"/>
                </a:moveTo>
                <a:lnTo>
                  <a:pt x="286824" y="354789"/>
                </a:lnTo>
                <a:lnTo>
                  <a:pt x="281138" y="360475"/>
                </a:lnTo>
                <a:lnTo>
                  <a:pt x="281138" y="374503"/>
                </a:lnTo>
                <a:lnTo>
                  <a:pt x="286824" y="380189"/>
                </a:lnTo>
                <a:lnTo>
                  <a:pt x="300878" y="380189"/>
                </a:lnTo>
                <a:lnTo>
                  <a:pt x="306564" y="374503"/>
                </a:lnTo>
                <a:lnTo>
                  <a:pt x="306564" y="360475"/>
                </a:lnTo>
                <a:lnTo>
                  <a:pt x="300878" y="354789"/>
                </a:lnTo>
                <a:close/>
              </a:path>
              <a:path w="2085975" h="380364">
                <a:moveTo>
                  <a:pt x="250052" y="354789"/>
                </a:moveTo>
                <a:lnTo>
                  <a:pt x="235999" y="354789"/>
                </a:lnTo>
                <a:lnTo>
                  <a:pt x="230313" y="360475"/>
                </a:lnTo>
                <a:lnTo>
                  <a:pt x="230313" y="374503"/>
                </a:lnTo>
                <a:lnTo>
                  <a:pt x="235999" y="380189"/>
                </a:lnTo>
                <a:lnTo>
                  <a:pt x="250052" y="380189"/>
                </a:lnTo>
                <a:lnTo>
                  <a:pt x="255738" y="374503"/>
                </a:lnTo>
                <a:lnTo>
                  <a:pt x="255738" y="360475"/>
                </a:lnTo>
                <a:lnTo>
                  <a:pt x="250052" y="354789"/>
                </a:lnTo>
                <a:close/>
              </a:path>
              <a:path w="2085975" h="380364">
                <a:moveTo>
                  <a:pt x="199227" y="354789"/>
                </a:moveTo>
                <a:lnTo>
                  <a:pt x="185173" y="354789"/>
                </a:lnTo>
                <a:lnTo>
                  <a:pt x="179487" y="360475"/>
                </a:lnTo>
                <a:lnTo>
                  <a:pt x="179487" y="374503"/>
                </a:lnTo>
                <a:lnTo>
                  <a:pt x="185173" y="380189"/>
                </a:lnTo>
                <a:lnTo>
                  <a:pt x="199227" y="380189"/>
                </a:lnTo>
                <a:lnTo>
                  <a:pt x="204913" y="374503"/>
                </a:lnTo>
                <a:lnTo>
                  <a:pt x="204913" y="360475"/>
                </a:lnTo>
                <a:lnTo>
                  <a:pt x="199227" y="354789"/>
                </a:lnTo>
                <a:close/>
              </a:path>
              <a:path w="2085975" h="380364">
                <a:moveTo>
                  <a:pt x="148402" y="354789"/>
                </a:moveTo>
                <a:lnTo>
                  <a:pt x="134348" y="354789"/>
                </a:lnTo>
                <a:lnTo>
                  <a:pt x="128662" y="360475"/>
                </a:lnTo>
                <a:lnTo>
                  <a:pt x="128662" y="374503"/>
                </a:lnTo>
                <a:lnTo>
                  <a:pt x="134348" y="380189"/>
                </a:lnTo>
                <a:lnTo>
                  <a:pt x="148402" y="380189"/>
                </a:lnTo>
                <a:lnTo>
                  <a:pt x="154087" y="374503"/>
                </a:lnTo>
                <a:lnTo>
                  <a:pt x="154087" y="360475"/>
                </a:lnTo>
                <a:lnTo>
                  <a:pt x="148402" y="354789"/>
                </a:lnTo>
                <a:close/>
              </a:path>
              <a:path w="2085975" h="380364">
                <a:moveTo>
                  <a:pt x="97576" y="354789"/>
                </a:moveTo>
                <a:lnTo>
                  <a:pt x="83522" y="354789"/>
                </a:lnTo>
                <a:lnTo>
                  <a:pt x="77837" y="360475"/>
                </a:lnTo>
                <a:lnTo>
                  <a:pt x="77837" y="374503"/>
                </a:lnTo>
                <a:lnTo>
                  <a:pt x="83522" y="380189"/>
                </a:lnTo>
                <a:lnTo>
                  <a:pt x="97576" y="380189"/>
                </a:lnTo>
                <a:lnTo>
                  <a:pt x="103262" y="374503"/>
                </a:lnTo>
                <a:lnTo>
                  <a:pt x="103262" y="360475"/>
                </a:lnTo>
                <a:lnTo>
                  <a:pt x="97576" y="354789"/>
                </a:lnTo>
                <a:close/>
              </a:path>
              <a:path w="2085975" h="380364">
                <a:moveTo>
                  <a:pt x="46751" y="354789"/>
                </a:moveTo>
                <a:lnTo>
                  <a:pt x="32697" y="354789"/>
                </a:lnTo>
                <a:lnTo>
                  <a:pt x="27011" y="360475"/>
                </a:lnTo>
                <a:lnTo>
                  <a:pt x="27011" y="374503"/>
                </a:lnTo>
                <a:lnTo>
                  <a:pt x="32697" y="380189"/>
                </a:lnTo>
                <a:lnTo>
                  <a:pt x="46751" y="380189"/>
                </a:lnTo>
                <a:lnTo>
                  <a:pt x="52437" y="374503"/>
                </a:lnTo>
                <a:lnTo>
                  <a:pt x="52437" y="360475"/>
                </a:lnTo>
                <a:lnTo>
                  <a:pt x="46751" y="35478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21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961376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6160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The simple </a:t>
            </a:r>
            <a:r>
              <a:rPr dirty="0" sz="3200" spc="-30"/>
              <a:t>way: </a:t>
            </a:r>
            <a:r>
              <a:rPr dirty="0" sz="3200" spc="-5" b="0">
                <a:latin typeface="Calibri"/>
                <a:cs typeface="Calibri"/>
              </a:rPr>
              <a:t>Use position encoding </a:t>
            </a:r>
            <a:r>
              <a:rPr dirty="0" sz="3200" b="0">
                <a:latin typeface="Calibri"/>
                <a:cs typeface="Calibri"/>
              </a:rPr>
              <a:t>as </a:t>
            </a:r>
            <a:r>
              <a:rPr dirty="0" sz="3200" b="0">
                <a:solidFill>
                  <a:srgbClr val="0070C0"/>
                </a:solidFill>
                <a:latin typeface="Calibri"/>
                <a:cs typeface="Calibri"/>
              </a:rPr>
              <a:t>an  </a:t>
            </a:r>
            <a:r>
              <a:rPr dirty="0" sz="3200" spc="-10" b="0">
                <a:solidFill>
                  <a:srgbClr val="0070C0"/>
                </a:solidFill>
                <a:latin typeface="Calibri"/>
                <a:cs typeface="Calibri"/>
              </a:rPr>
              <a:t>augmented </a:t>
            </a:r>
            <a:r>
              <a:rPr dirty="0" sz="3200" b="0">
                <a:solidFill>
                  <a:srgbClr val="0070C0"/>
                </a:solidFill>
                <a:latin typeface="Calibri"/>
                <a:cs typeface="Calibri"/>
              </a:rPr>
              <a:t>node </a:t>
            </a:r>
            <a:r>
              <a:rPr dirty="0" sz="3200" spc="-25" b="0">
                <a:solidFill>
                  <a:srgbClr val="0070C0"/>
                </a:solidFill>
                <a:latin typeface="Calibri"/>
                <a:cs typeface="Calibri"/>
              </a:rPr>
              <a:t>feature </a:t>
            </a:r>
            <a:r>
              <a:rPr dirty="0" sz="3200" spc="-15" b="0">
                <a:latin typeface="Calibri"/>
                <a:cs typeface="Calibri"/>
              </a:rPr>
              <a:t>(works </a:t>
            </a:r>
            <a:r>
              <a:rPr dirty="0" sz="3200" spc="-10" b="0">
                <a:latin typeface="Calibri"/>
                <a:cs typeface="Calibri"/>
              </a:rPr>
              <a:t>well </a:t>
            </a:r>
            <a:r>
              <a:rPr dirty="0" sz="3200" b="0">
                <a:latin typeface="Calibri"/>
                <a:cs typeface="Calibri"/>
              </a:rPr>
              <a:t>in  </a:t>
            </a:r>
            <a:r>
              <a:rPr dirty="0" sz="3200" spc="-10" b="0">
                <a:latin typeface="Calibri"/>
                <a:cs typeface="Calibri"/>
              </a:rPr>
              <a:t>practice)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21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899155"/>
            <a:ext cx="7651115" cy="2674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Issue: </a:t>
            </a:r>
            <a:r>
              <a:rPr dirty="0" sz="2800" spc="-5">
                <a:latin typeface="Calibri"/>
                <a:cs typeface="Calibri"/>
              </a:rPr>
              <a:t>since each dimension of position encoding is  </a:t>
            </a:r>
            <a:r>
              <a:rPr dirty="0" sz="2800" spc="-10">
                <a:latin typeface="Calibri"/>
                <a:cs typeface="Calibri"/>
              </a:rPr>
              <a:t>tied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random </a:t>
            </a:r>
            <a:r>
              <a:rPr dirty="0" sz="2800" spc="-40">
                <a:latin typeface="Calibri"/>
                <a:cs typeface="Calibri"/>
              </a:rPr>
              <a:t>anchor,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dimensions of positional  </a:t>
            </a:r>
            <a:r>
              <a:rPr dirty="0" sz="2800" spc="-10">
                <a:solidFill>
                  <a:srgbClr val="0070C0"/>
                </a:solidFill>
                <a:latin typeface="Calibri"/>
                <a:cs typeface="Calibri"/>
              </a:rPr>
              <a:t>encoding can </a:t>
            </a:r>
            <a:r>
              <a:rPr dirty="0" sz="2800">
                <a:solidFill>
                  <a:srgbClr val="0070C0"/>
                </a:solidFill>
                <a:latin typeface="Calibri"/>
                <a:cs typeface="Calibri"/>
              </a:rPr>
              <a:t>be </a:t>
            </a:r>
            <a:r>
              <a:rPr dirty="0" sz="2800" spc="-10">
                <a:solidFill>
                  <a:srgbClr val="0070C0"/>
                </a:solidFill>
                <a:latin typeface="Calibri"/>
                <a:cs typeface="Calibri"/>
              </a:rPr>
              <a:t>randomly permuted,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without  changing its</a:t>
            </a:r>
            <a:r>
              <a:rPr dirty="0" sz="2800" spc="-3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meaning</a:t>
            </a:r>
            <a:endParaRPr sz="2800">
              <a:latin typeface="Calibri"/>
              <a:cs typeface="Calibri"/>
            </a:endParaRPr>
          </a:p>
          <a:p>
            <a:pPr marL="287020" marR="490855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Imagine </a:t>
            </a:r>
            <a:r>
              <a:rPr dirty="0" sz="2800" spc="-15">
                <a:latin typeface="Calibri"/>
                <a:cs typeface="Calibri"/>
              </a:rPr>
              <a:t>you </a:t>
            </a:r>
            <a:r>
              <a:rPr dirty="0" sz="2800" spc="-10">
                <a:latin typeface="Calibri"/>
                <a:cs typeface="Calibri"/>
              </a:rPr>
              <a:t>permute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input dimensions of </a:t>
            </a:r>
            <a:r>
              <a:rPr dirty="0" sz="2800">
                <a:latin typeface="Calibri"/>
                <a:cs typeface="Calibri"/>
              </a:rPr>
              <a:t>a  </a:t>
            </a:r>
            <a:r>
              <a:rPr dirty="0" sz="2800" spc="-5">
                <a:latin typeface="Calibri"/>
                <a:cs typeface="Calibri"/>
              </a:rPr>
              <a:t>normal </a:t>
            </a:r>
            <a:r>
              <a:rPr dirty="0" sz="2800">
                <a:latin typeface="Calibri"/>
                <a:cs typeface="Calibri"/>
              </a:rPr>
              <a:t>NN, </a:t>
            </a:r>
            <a:r>
              <a:rPr dirty="0" sz="2800" spc="-5">
                <a:latin typeface="Calibri"/>
                <a:cs typeface="Calibri"/>
              </a:rPr>
              <a:t>the output </a:t>
            </a:r>
            <a:r>
              <a:rPr dirty="0" sz="2800" spc="-10">
                <a:latin typeface="Calibri"/>
                <a:cs typeface="Calibri"/>
              </a:rPr>
              <a:t>will surely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change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961376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9937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C00000"/>
                </a:solidFill>
              </a:rPr>
              <a:t>The </a:t>
            </a:r>
            <a:r>
              <a:rPr dirty="0" sz="3200" spc="-15">
                <a:solidFill>
                  <a:srgbClr val="C00000"/>
                </a:solidFill>
              </a:rPr>
              <a:t>rigorous </a:t>
            </a:r>
            <a:r>
              <a:rPr dirty="0" sz="3200" spc="-5">
                <a:solidFill>
                  <a:srgbClr val="C00000"/>
                </a:solidFill>
              </a:rPr>
              <a:t>solution: </a:t>
            </a:r>
            <a:r>
              <a:rPr dirty="0" sz="3200" spc="-15" b="0">
                <a:latin typeface="Calibri"/>
                <a:cs typeface="Calibri"/>
              </a:rPr>
              <a:t>requires </a:t>
            </a:r>
            <a:r>
              <a:rPr dirty="0" sz="3200" b="0">
                <a:latin typeface="Calibri"/>
                <a:cs typeface="Calibri"/>
              </a:rPr>
              <a:t>a </a:t>
            </a:r>
            <a:r>
              <a:rPr dirty="0" sz="3200" spc="-5" b="0">
                <a:latin typeface="Calibri"/>
                <a:cs typeface="Calibri"/>
              </a:rPr>
              <a:t>special NN  </a:t>
            </a:r>
            <a:r>
              <a:rPr dirty="0" sz="3200" spc="-10" b="0">
                <a:latin typeface="Calibri"/>
                <a:cs typeface="Calibri"/>
              </a:rPr>
              <a:t>that can maintain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10">
                <a:solidFill>
                  <a:srgbClr val="C00000"/>
                </a:solidFill>
              </a:rPr>
              <a:t>permutation </a:t>
            </a:r>
            <a:r>
              <a:rPr dirty="0" sz="3200" spc="-20">
                <a:solidFill>
                  <a:srgbClr val="C00000"/>
                </a:solidFill>
              </a:rPr>
              <a:t>invariant  </a:t>
            </a:r>
            <a:r>
              <a:rPr dirty="0" sz="3200" spc="-10">
                <a:solidFill>
                  <a:srgbClr val="C00000"/>
                </a:solidFill>
              </a:rPr>
              <a:t>property </a:t>
            </a:r>
            <a:r>
              <a:rPr dirty="0" sz="3200">
                <a:solidFill>
                  <a:srgbClr val="C00000"/>
                </a:solidFill>
              </a:rPr>
              <a:t>of </a:t>
            </a:r>
            <a:r>
              <a:rPr dirty="0" sz="3200" spc="-5">
                <a:solidFill>
                  <a:srgbClr val="C00000"/>
                </a:solidFill>
              </a:rPr>
              <a:t>position</a:t>
            </a:r>
            <a:r>
              <a:rPr dirty="0" sz="3200" spc="-15">
                <a:solidFill>
                  <a:srgbClr val="C00000"/>
                </a:solidFill>
              </a:rPr>
              <a:t> </a:t>
            </a:r>
            <a:r>
              <a:rPr dirty="0" sz="3200" spc="-5">
                <a:solidFill>
                  <a:srgbClr val="C00000"/>
                </a:solidFill>
              </a:rPr>
              <a:t>encoding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21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899155"/>
            <a:ext cx="7620000" cy="2241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5080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Permuting </a:t>
            </a:r>
            <a:r>
              <a:rPr dirty="0" sz="2800" spc="-5">
                <a:latin typeface="Calibri"/>
                <a:cs typeface="Calibri"/>
              </a:rPr>
              <a:t>the input </a:t>
            </a:r>
            <a:r>
              <a:rPr dirty="0" sz="2800" spc="-25">
                <a:latin typeface="Calibri"/>
                <a:cs typeface="Calibri"/>
              </a:rPr>
              <a:t>feature </a:t>
            </a:r>
            <a:r>
              <a:rPr dirty="0" sz="2800" spc="-5">
                <a:latin typeface="Calibri"/>
                <a:cs typeface="Calibri"/>
              </a:rPr>
              <a:t>dimension will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only 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result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permutation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output dimension</a:t>
            </a:r>
            <a:r>
              <a:rPr dirty="0" sz="2800" spc="-5">
                <a:latin typeface="Calibri"/>
                <a:cs typeface="Calibri"/>
              </a:rPr>
              <a:t>,  the </a:t>
            </a:r>
            <a:r>
              <a:rPr dirty="0" sz="2800" spc="-15">
                <a:latin typeface="Calibri"/>
                <a:cs typeface="Calibri"/>
              </a:rPr>
              <a:t>value </a:t>
            </a:r>
            <a:r>
              <a:rPr dirty="0" sz="2800" spc="-5">
                <a:latin typeface="Calibri"/>
                <a:cs typeface="Calibri"/>
              </a:rPr>
              <a:t>in each dimension </a:t>
            </a:r>
            <a:r>
              <a:rPr dirty="0" sz="2800" spc="-10">
                <a:latin typeface="Calibri"/>
                <a:cs typeface="Calibri"/>
              </a:rPr>
              <a:t>won’t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change</a:t>
            </a:r>
            <a:endParaRPr sz="2800">
              <a:latin typeface="Calibri"/>
              <a:cs typeface="Calibri"/>
            </a:endParaRPr>
          </a:p>
          <a:p>
            <a:pPr marL="287020" marR="353060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35">
                <a:latin typeface="Calibri"/>
                <a:cs typeface="Calibri"/>
              </a:rPr>
              <a:t>Refer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Position-aware </a:t>
            </a:r>
            <a:r>
              <a:rPr dirty="0" sz="2800" spc="-5">
                <a:latin typeface="Calibri"/>
                <a:cs typeface="Calibri"/>
              </a:rPr>
              <a:t>GNN paper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5">
                <a:latin typeface="Calibri"/>
                <a:cs typeface="Calibri"/>
              </a:rPr>
              <a:t>more  details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2706623"/>
            <a:ext cx="6931152" cy="2304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906768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2096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131889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0">
                <a:latin typeface="Calibri"/>
                <a:cs typeface="Calibri"/>
              </a:rPr>
              <a:t>We </a:t>
            </a:r>
            <a:r>
              <a:rPr dirty="0" sz="3200" spc="-5" b="0">
                <a:latin typeface="Calibri"/>
                <a:cs typeface="Calibri"/>
              </a:rPr>
              <a:t>learned </a:t>
            </a:r>
            <a:r>
              <a:rPr dirty="0" sz="3200" spc="-10" b="0">
                <a:latin typeface="Calibri"/>
                <a:cs typeface="Calibri"/>
              </a:rPr>
              <a:t>that </a:t>
            </a:r>
            <a:r>
              <a:rPr dirty="0" sz="3200" spc="-5"/>
              <a:t>GNNs </a:t>
            </a:r>
            <a:r>
              <a:rPr dirty="0" sz="3200" spc="-10"/>
              <a:t>would </a:t>
            </a:r>
            <a:r>
              <a:rPr dirty="0" sz="3200" spc="-20"/>
              <a:t>fail for  </a:t>
            </a:r>
            <a:r>
              <a:rPr dirty="0" sz="3200" spc="-10"/>
              <a:t>position-aware</a:t>
            </a:r>
            <a:r>
              <a:rPr dirty="0" sz="3200" spc="-70"/>
              <a:t> </a:t>
            </a:r>
            <a:r>
              <a:rPr dirty="0" sz="3200" spc="-15"/>
              <a:t>tasks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0070C0"/>
                </a:solidFill>
              </a:rPr>
              <a:t>But </a:t>
            </a:r>
            <a:r>
              <a:rPr dirty="0" sz="3200" spc="-10">
                <a:solidFill>
                  <a:srgbClr val="0070C0"/>
                </a:solidFill>
              </a:rPr>
              <a:t>can </a:t>
            </a:r>
            <a:r>
              <a:rPr dirty="0" sz="3200" spc="-5">
                <a:solidFill>
                  <a:srgbClr val="0070C0"/>
                </a:solidFill>
              </a:rPr>
              <a:t>GNN </a:t>
            </a:r>
            <a:r>
              <a:rPr dirty="0" sz="3200" spc="-10">
                <a:solidFill>
                  <a:srgbClr val="0070C0"/>
                </a:solidFill>
              </a:rPr>
              <a:t>perform perfectly </a:t>
            </a:r>
            <a:r>
              <a:rPr dirty="0" sz="3200">
                <a:solidFill>
                  <a:srgbClr val="0070C0"/>
                </a:solidFill>
              </a:rPr>
              <a:t>in </a:t>
            </a:r>
            <a:r>
              <a:rPr dirty="0" sz="3200" spc="-10">
                <a:solidFill>
                  <a:srgbClr val="0070C0"/>
                </a:solidFill>
              </a:rPr>
              <a:t>structure-  </a:t>
            </a:r>
            <a:r>
              <a:rPr dirty="0" sz="3200" spc="-25">
                <a:solidFill>
                  <a:srgbClr val="0070C0"/>
                </a:solidFill>
              </a:rPr>
              <a:t>aware</a:t>
            </a:r>
            <a:r>
              <a:rPr dirty="0" sz="3200" spc="-60">
                <a:solidFill>
                  <a:srgbClr val="0070C0"/>
                </a:solidFill>
              </a:rPr>
              <a:t> </a:t>
            </a:r>
            <a:r>
              <a:rPr dirty="0" sz="3200" spc="-15">
                <a:solidFill>
                  <a:srgbClr val="0070C0"/>
                </a:solidFill>
              </a:rPr>
              <a:t>tasks?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392932"/>
            <a:ext cx="7449820" cy="295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30">
                <a:solidFill>
                  <a:srgbClr val="C00000"/>
                </a:solidFill>
                <a:latin typeface="Calibri"/>
                <a:cs typeface="Calibri"/>
              </a:rPr>
              <a:t>Unfortunately,</a:t>
            </a:r>
            <a:r>
              <a:rPr dirty="0" sz="28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820"/>
              </a:lnSpc>
              <a:spcBef>
                <a:spcPts val="11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GNNs </a:t>
            </a:r>
            <a:r>
              <a:rPr dirty="0" sz="3200" spc="-10">
                <a:latin typeface="Calibri"/>
                <a:cs typeface="Calibri"/>
              </a:rPr>
              <a:t>exhibit </a:t>
            </a:r>
            <a:r>
              <a:rPr dirty="0" sz="3200" spc="-15">
                <a:latin typeface="Calibri"/>
                <a:cs typeface="Calibri"/>
              </a:rPr>
              <a:t>three levels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20">
                <a:latin typeface="Calibri"/>
                <a:cs typeface="Calibri"/>
              </a:rPr>
              <a:t>failure </a:t>
            </a:r>
            <a:r>
              <a:rPr dirty="0" sz="3200" spc="-10">
                <a:latin typeface="Calibri"/>
                <a:cs typeface="Calibri"/>
              </a:rPr>
              <a:t>cases </a:t>
            </a:r>
            <a:r>
              <a:rPr dirty="0" sz="3200">
                <a:latin typeface="Calibri"/>
                <a:cs typeface="Calibri"/>
              </a:rPr>
              <a:t>in  </a:t>
            </a:r>
            <a:r>
              <a:rPr dirty="0" sz="3200" spc="-15">
                <a:latin typeface="Calibri"/>
                <a:cs typeface="Calibri"/>
              </a:rPr>
              <a:t>structure-aware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tasks: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Edge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level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2413" y="20827"/>
            <a:ext cx="6031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Gomes-Selman,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10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Identity-aware</a:t>
            </a:r>
            <a:r>
              <a:rPr dirty="0" sz="1200" spc="-5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Neural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dirty="0" sz="12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AAAI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2021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79068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9637" y="4574540"/>
            <a:ext cx="182562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10">
                <a:latin typeface="Calibri"/>
                <a:cs typeface="Calibri"/>
              </a:rPr>
              <a:t>Existing </a:t>
            </a:r>
            <a:r>
              <a:rPr dirty="0" sz="2400" spc="-5">
                <a:latin typeface="Calibri"/>
                <a:cs typeface="Calibri"/>
              </a:rPr>
              <a:t>GNNs’  </a:t>
            </a:r>
            <a:r>
              <a:rPr dirty="0" sz="2400" spc="-25">
                <a:latin typeface="Calibri"/>
                <a:cs typeface="Calibri"/>
              </a:rPr>
              <a:t>c</a:t>
            </a:r>
            <a:r>
              <a:rPr dirty="0" sz="2400" spc="-5">
                <a:latin typeface="Calibri"/>
                <a:cs typeface="Calibri"/>
              </a:rPr>
              <a:t>o</a:t>
            </a:r>
            <a:r>
              <a:rPr dirty="0" sz="2400" spc="-10">
                <a:latin typeface="Calibri"/>
                <a:cs typeface="Calibri"/>
              </a:rPr>
              <a:t>m</a:t>
            </a:r>
            <a:r>
              <a:rPr dirty="0" sz="2400">
                <a:latin typeface="Calibri"/>
                <a:cs typeface="Calibri"/>
              </a:rPr>
              <a:t>pu</a:t>
            </a:r>
            <a:r>
              <a:rPr dirty="0" sz="2400" spc="-35">
                <a:latin typeface="Calibri"/>
                <a:cs typeface="Calibri"/>
              </a:rPr>
              <a:t>t</a:t>
            </a:r>
            <a:r>
              <a:rPr dirty="0" sz="2400" spc="-25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t</a:t>
            </a:r>
            <a:r>
              <a:rPr dirty="0" sz="2400">
                <a:latin typeface="Calibri"/>
                <a:cs typeface="Calibri"/>
              </a:rPr>
              <a:t>i</a:t>
            </a:r>
            <a:r>
              <a:rPr dirty="0" sz="2400" spc="-5">
                <a:latin typeface="Calibri"/>
                <a:cs typeface="Calibri"/>
              </a:rPr>
              <a:t>o</a:t>
            </a:r>
            <a:r>
              <a:rPr dirty="0" sz="2400">
                <a:latin typeface="Calibri"/>
                <a:cs typeface="Calibri"/>
              </a:rPr>
              <a:t>nal  </a:t>
            </a:r>
            <a:r>
              <a:rPr dirty="0" sz="2400" spc="-10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20535" y="2354340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20535" y="3527485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77119" y="2934139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64948" y="2643167"/>
            <a:ext cx="0" cy="884555"/>
          </a:xfrm>
          <a:custGeom>
            <a:avLst/>
            <a:gdLst/>
            <a:ahLst/>
            <a:cxnLst/>
            <a:rect l="l" t="t" r="r" b="b"/>
            <a:pathLst>
              <a:path w="0" h="884554">
                <a:moveTo>
                  <a:pt x="0" y="0"/>
                </a:moveTo>
                <a:lnTo>
                  <a:pt x="1" y="88431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09361" y="2498754"/>
            <a:ext cx="910590" cy="478155"/>
          </a:xfrm>
          <a:custGeom>
            <a:avLst/>
            <a:gdLst/>
            <a:ahLst/>
            <a:cxnLst/>
            <a:rect l="l" t="t" r="r" b="b"/>
            <a:pathLst>
              <a:path w="910589" h="478155">
                <a:moveTo>
                  <a:pt x="0" y="0"/>
                </a:moveTo>
                <a:lnTo>
                  <a:pt x="910055" y="47768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09361" y="3180669"/>
            <a:ext cx="910590" cy="491490"/>
          </a:xfrm>
          <a:custGeom>
            <a:avLst/>
            <a:gdLst/>
            <a:ahLst/>
            <a:cxnLst/>
            <a:rect l="l" t="t" r="r" b="b"/>
            <a:pathLst>
              <a:path w="910589" h="491489">
                <a:moveTo>
                  <a:pt x="0" y="491231"/>
                </a:moveTo>
                <a:lnTo>
                  <a:pt x="91005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48259" y="2366478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48259" y="3533310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88437" y="2369677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92671" y="2655303"/>
            <a:ext cx="0" cy="878205"/>
          </a:xfrm>
          <a:custGeom>
            <a:avLst/>
            <a:gdLst/>
            <a:ahLst/>
            <a:cxnLst/>
            <a:rect l="l" t="t" r="r" b="b"/>
            <a:pathLst>
              <a:path w="0" h="878204">
                <a:moveTo>
                  <a:pt x="0" y="0"/>
                </a:moveTo>
                <a:lnTo>
                  <a:pt x="1" y="87800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32850" y="2658502"/>
            <a:ext cx="0" cy="875030"/>
          </a:xfrm>
          <a:custGeom>
            <a:avLst/>
            <a:gdLst/>
            <a:ahLst/>
            <a:cxnLst/>
            <a:rect l="l" t="t" r="r" b="b"/>
            <a:pathLst>
              <a:path w="0" h="875029">
                <a:moveTo>
                  <a:pt x="0" y="874806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86068" y="2287523"/>
            <a:ext cx="51180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7020" algn="l"/>
              </a:tabLst>
            </a:pPr>
            <a:r>
              <a:rPr dirty="0" baseline="-5555" sz="3000">
                <a:solidFill>
                  <a:srgbClr val="F79646"/>
                </a:solidFill>
                <a:latin typeface="Calibri"/>
                <a:cs typeface="Calibri"/>
              </a:rPr>
              <a:t>A	</a:t>
            </a:r>
            <a:r>
              <a:rPr dirty="0" sz="1800" spc="-65">
                <a:latin typeface="Cambria Math"/>
                <a:cs typeface="Cambria Math"/>
              </a:rPr>
              <a:t>𝑣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71365" y="2351532"/>
            <a:ext cx="4978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4BACC6"/>
                </a:solidFill>
                <a:latin typeface="Calibri"/>
                <a:cs typeface="Calibri"/>
              </a:rPr>
              <a:t>B</a:t>
            </a:r>
            <a:r>
              <a:rPr dirty="0" sz="2000" spc="365">
                <a:solidFill>
                  <a:srgbClr val="4BACC6"/>
                </a:solidFill>
                <a:latin typeface="Calibri"/>
                <a:cs typeface="Calibri"/>
              </a:rPr>
              <a:t> </a:t>
            </a:r>
            <a:r>
              <a:rPr dirty="0" baseline="12345" sz="2700" spc="150">
                <a:latin typeface="Cambria Math"/>
                <a:cs typeface="Cambria Math"/>
              </a:rPr>
              <a:t>𝑣</a:t>
            </a:r>
            <a:r>
              <a:rPr dirty="0" sz="1300" spc="100">
                <a:latin typeface="Cambria Math"/>
                <a:cs typeface="Cambria Math"/>
              </a:rPr>
              <a:t>"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35429" y="4642611"/>
            <a:ext cx="2914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93062" y="5975604"/>
            <a:ext cx="3314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…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88437" y="3533310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77263" y="2510890"/>
            <a:ext cx="971550" cy="3810"/>
          </a:xfrm>
          <a:custGeom>
            <a:avLst/>
            <a:gdLst/>
            <a:ahLst/>
            <a:cxnLst/>
            <a:rect l="l" t="t" r="r" b="b"/>
            <a:pathLst>
              <a:path w="971550" h="3810">
                <a:moveTo>
                  <a:pt x="970994" y="0"/>
                </a:moveTo>
                <a:lnTo>
                  <a:pt x="0" y="319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77263" y="3677722"/>
            <a:ext cx="971550" cy="0"/>
          </a:xfrm>
          <a:custGeom>
            <a:avLst/>
            <a:gdLst/>
            <a:ahLst/>
            <a:cxnLst/>
            <a:rect l="l" t="t" r="r" b="b"/>
            <a:pathLst>
              <a:path w="971550" h="0">
                <a:moveTo>
                  <a:pt x="97099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40827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997848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20111" y="54173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68918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25940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48202" y="54173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54873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711894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34157" y="54173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82962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139986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62247" y="54173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180062" y="4989734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05619" y="4986976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92205" y="4609338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932127" y="4568444"/>
            <a:ext cx="237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Cambria Math"/>
                <a:cs typeface="Cambria Math"/>
              </a:rPr>
              <a:t>𝑣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426594" y="4855865"/>
            <a:ext cx="508000" cy="176530"/>
          </a:xfrm>
          <a:custGeom>
            <a:avLst/>
            <a:gdLst/>
            <a:ahLst/>
            <a:cxnLst/>
            <a:rect l="l" t="t" r="r" b="b"/>
            <a:pathLst>
              <a:path w="508000" h="176529">
                <a:moveTo>
                  <a:pt x="0" y="176167"/>
                </a:moveTo>
                <a:lnTo>
                  <a:pt x="50791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38733" y="4855865"/>
            <a:ext cx="509270" cy="173990"/>
          </a:xfrm>
          <a:custGeom>
            <a:avLst/>
            <a:gdLst/>
            <a:ahLst/>
            <a:cxnLst/>
            <a:rect l="l" t="t" r="r" b="b"/>
            <a:pathLst>
              <a:path w="509270" h="173989">
                <a:moveTo>
                  <a:pt x="0" y="0"/>
                </a:moveTo>
                <a:lnTo>
                  <a:pt x="509182" y="17340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964525" y="5236263"/>
            <a:ext cx="258445" cy="181610"/>
          </a:xfrm>
          <a:custGeom>
            <a:avLst/>
            <a:gdLst/>
            <a:ahLst/>
            <a:cxnLst/>
            <a:rect l="l" t="t" r="r" b="b"/>
            <a:pathLst>
              <a:path w="258444" h="181610">
                <a:moveTo>
                  <a:pt x="257836" y="0"/>
                </a:moveTo>
                <a:lnTo>
                  <a:pt x="0" y="18109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426594" y="5236263"/>
            <a:ext cx="252095" cy="181610"/>
          </a:xfrm>
          <a:custGeom>
            <a:avLst/>
            <a:gdLst/>
            <a:ahLst/>
            <a:cxnLst/>
            <a:rect l="l" t="t" r="r" b="b"/>
            <a:pathLst>
              <a:path w="252094" h="181610">
                <a:moveTo>
                  <a:pt x="0" y="0"/>
                </a:moveTo>
                <a:lnTo>
                  <a:pt x="251979" y="18109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392616" y="5233504"/>
            <a:ext cx="255904" cy="184150"/>
          </a:xfrm>
          <a:custGeom>
            <a:avLst/>
            <a:gdLst/>
            <a:ahLst/>
            <a:cxnLst/>
            <a:rect l="l" t="t" r="r" b="b"/>
            <a:pathLst>
              <a:path w="255904" h="184150">
                <a:moveTo>
                  <a:pt x="255300" y="0"/>
                </a:moveTo>
                <a:lnTo>
                  <a:pt x="0" y="18385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852147" y="5233504"/>
            <a:ext cx="254635" cy="184150"/>
          </a:xfrm>
          <a:custGeom>
            <a:avLst/>
            <a:gdLst/>
            <a:ahLst/>
            <a:cxnLst/>
            <a:rect l="l" t="t" r="r" b="b"/>
            <a:pathLst>
              <a:path w="254635" h="184150">
                <a:moveTo>
                  <a:pt x="0" y="0"/>
                </a:moveTo>
                <a:lnTo>
                  <a:pt x="254513" y="18385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85241" y="5663891"/>
            <a:ext cx="77470" cy="205740"/>
          </a:xfrm>
          <a:custGeom>
            <a:avLst/>
            <a:gdLst/>
            <a:ahLst/>
            <a:cxnLst/>
            <a:rect l="l" t="t" r="r" b="b"/>
            <a:pathLst>
              <a:path w="77469" h="205739">
                <a:moveTo>
                  <a:pt x="77169" y="0"/>
                </a:moveTo>
                <a:lnTo>
                  <a:pt x="0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066640" y="5663891"/>
            <a:ext cx="76200" cy="205740"/>
          </a:xfrm>
          <a:custGeom>
            <a:avLst/>
            <a:gdLst/>
            <a:ahLst/>
            <a:cxnLst/>
            <a:rect l="l" t="t" r="r" b="b"/>
            <a:pathLst>
              <a:path w="76200" h="205739">
                <a:moveTo>
                  <a:pt x="0" y="0"/>
                </a:moveTo>
                <a:lnTo>
                  <a:pt x="75622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499286" y="5663891"/>
            <a:ext cx="77470" cy="205740"/>
          </a:xfrm>
          <a:custGeom>
            <a:avLst/>
            <a:gdLst/>
            <a:ahLst/>
            <a:cxnLst/>
            <a:rect l="l" t="t" r="r" b="b"/>
            <a:pathLst>
              <a:path w="77469" h="205739">
                <a:moveTo>
                  <a:pt x="77169" y="0"/>
                </a:moveTo>
                <a:lnTo>
                  <a:pt x="0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780686" y="5663891"/>
            <a:ext cx="76200" cy="205740"/>
          </a:xfrm>
          <a:custGeom>
            <a:avLst/>
            <a:gdLst/>
            <a:ahLst/>
            <a:cxnLst/>
            <a:rect l="l" t="t" r="r" b="b"/>
            <a:pathLst>
              <a:path w="76200" h="205739">
                <a:moveTo>
                  <a:pt x="0" y="0"/>
                </a:moveTo>
                <a:lnTo>
                  <a:pt x="75622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213332" y="5663891"/>
            <a:ext cx="77470" cy="205740"/>
          </a:xfrm>
          <a:custGeom>
            <a:avLst/>
            <a:gdLst/>
            <a:ahLst/>
            <a:cxnLst/>
            <a:rect l="l" t="t" r="r" b="b"/>
            <a:pathLst>
              <a:path w="77470" h="205739">
                <a:moveTo>
                  <a:pt x="77169" y="0"/>
                </a:moveTo>
                <a:lnTo>
                  <a:pt x="0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494732" y="5663891"/>
            <a:ext cx="76200" cy="205740"/>
          </a:xfrm>
          <a:custGeom>
            <a:avLst/>
            <a:gdLst/>
            <a:ahLst/>
            <a:cxnLst/>
            <a:rect l="l" t="t" r="r" b="b"/>
            <a:pathLst>
              <a:path w="76200" h="205739">
                <a:moveTo>
                  <a:pt x="0" y="0"/>
                </a:moveTo>
                <a:lnTo>
                  <a:pt x="75622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927377" y="5663891"/>
            <a:ext cx="77470" cy="205740"/>
          </a:xfrm>
          <a:custGeom>
            <a:avLst/>
            <a:gdLst/>
            <a:ahLst/>
            <a:cxnLst/>
            <a:rect l="l" t="t" r="r" b="b"/>
            <a:pathLst>
              <a:path w="77470" h="205739">
                <a:moveTo>
                  <a:pt x="77169" y="0"/>
                </a:moveTo>
                <a:lnTo>
                  <a:pt x="0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208778" y="5663891"/>
            <a:ext cx="76200" cy="205740"/>
          </a:xfrm>
          <a:custGeom>
            <a:avLst/>
            <a:gdLst/>
            <a:ahLst/>
            <a:cxnLst/>
            <a:rect l="l" t="t" r="r" b="b"/>
            <a:pathLst>
              <a:path w="76200" h="205739">
                <a:moveTo>
                  <a:pt x="0" y="0"/>
                </a:moveTo>
                <a:lnTo>
                  <a:pt x="75622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967421" y="5975604"/>
            <a:ext cx="3314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…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715187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072208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894472" y="54173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143278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500300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322562" y="54173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429232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786254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608518" y="54173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857323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214345" y="5869381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036607" y="5417363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254423" y="4989734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679979" y="4986976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966565" y="4609338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0" y="144413"/>
                </a:moveTo>
                <a:lnTo>
                  <a:pt x="7362" y="98767"/>
                </a:lnTo>
                <a:lnTo>
                  <a:pt x="27863" y="59124"/>
                </a:lnTo>
                <a:lnTo>
                  <a:pt x="59124" y="27863"/>
                </a:lnTo>
                <a:lnTo>
                  <a:pt x="98767" y="7362"/>
                </a:lnTo>
                <a:lnTo>
                  <a:pt x="144413" y="0"/>
                </a:lnTo>
                <a:lnTo>
                  <a:pt x="190058" y="7362"/>
                </a:lnTo>
                <a:lnTo>
                  <a:pt x="229701" y="27863"/>
                </a:lnTo>
                <a:lnTo>
                  <a:pt x="260962" y="59124"/>
                </a:lnTo>
                <a:lnTo>
                  <a:pt x="281463" y="98767"/>
                </a:lnTo>
                <a:lnTo>
                  <a:pt x="288826" y="144413"/>
                </a:lnTo>
                <a:lnTo>
                  <a:pt x="281463" y="190058"/>
                </a:lnTo>
                <a:lnTo>
                  <a:pt x="260962" y="229701"/>
                </a:lnTo>
                <a:lnTo>
                  <a:pt x="229701" y="260962"/>
                </a:lnTo>
                <a:lnTo>
                  <a:pt x="190058" y="281463"/>
                </a:lnTo>
                <a:lnTo>
                  <a:pt x="144413" y="288826"/>
                </a:lnTo>
                <a:lnTo>
                  <a:pt x="98767" y="281463"/>
                </a:lnTo>
                <a:lnTo>
                  <a:pt x="59124" y="260962"/>
                </a:lnTo>
                <a:lnTo>
                  <a:pt x="27863" y="229701"/>
                </a:lnTo>
                <a:lnTo>
                  <a:pt x="7362" y="190058"/>
                </a:lnTo>
                <a:lnTo>
                  <a:pt x="0" y="14441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6003852" y="4568444"/>
            <a:ext cx="242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35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500954" y="4855865"/>
            <a:ext cx="508000" cy="176530"/>
          </a:xfrm>
          <a:custGeom>
            <a:avLst/>
            <a:gdLst/>
            <a:ahLst/>
            <a:cxnLst/>
            <a:rect l="l" t="t" r="r" b="b"/>
            <a:pathLst>
              <a:path w="508000" h="176529">
                <a:moveTo>
                  <a:pt x="0" y="176167"/>
                </a:moveTo>
                <a:lnTo>
                  <a:pt x="50791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213094" y="4855865"/>
            <a:ext cx="509270" cy="173990"/>
          </a:xfrm>
          <a:custGeom>
            <a:avLst/>
            <a:gdLst/>
            <a:ahLst/>
            <a:cxnLst/>
            <a:rect l="l" t="t" r="r" b="b"/>
            <a:pathLst>
              <a:path w="509270" h="173989">
                <a:moveTo>
                  <a:pt x="0" y="0"/>
                </a:moveTo>
                <a:lnTo>
                  <a:pt x="509182" y="17340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038885" y="5236263"/>
            <a:ext cx="258445" cy="181610"/>
          </a:xfrm>
          <a:custGeom>
            <a:avLst/>
            <a:gdLst/>
            <a:ahLst/>
            <a:cxnLst/>
            <a:rect l="l" t="t" r="r" b="b"/>
            <a:pathLst>
              <a:path w="258445" h="181610">
                <a:moveTo>
                  <a:pt x="257836" y="0"/>
                </a:moveTo>
                <a:lnTo>
                  <a:pt x="0" y="18109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500954" y="5236263"/>
            <a:ext cx="252095" cy="181610"/>
          </a:xfrm>
          <a:custGeom>
            <a:avLst/>
            <a:gdLst/>
            <a:ahLst/>
            <a:cxnLst/>
            <a:rect l="l" t="t" r="r" b="b"/>
            <a:pathLst>
              <a:path w="252095" h="181610">
                <a:moveTo>
                  <a:pt x="0" y="0"/>
                </a:moveTo>
                <a:lnTo>
                  <a:pt x="251979" y="18109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466976" y="5233504"/>
            <a:ext cx="255904" cy="184150"/>
          </a:xfrm>
          <a:custGeom>
            <a:avLst/>
            <a:gdLst/>
            <a:ahLst/>
            <a:cxnLst/>
            <a:rect l="l" t="t" r="r" b="b"/>
            <a:pathLst>
              <a:path w="255904" h="184150">
                <a:moveTo>
                  <a:pt x="255300" y="0"/>
                </a:moveTo>
                <a:lnTo>
                  <a:pt x="0" y="18385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926507" y="5233504"/>
            <a:ext cx="254635" cy="184150"/>
          </a:xfrm>
          <a:custGeom>
            <a:avLst/>
            <a:gdLst/>
            <a:ahLst/>
            <a:cxnLst/>
            <a:rect l="l" t="t" r="r" b="b"/>
            <a:pathLst>
              <a:path w="254634" h="184150">
                <a:moveTo>
                  <a:pt x="0" y="0"/>
                </a:moveTo>
                <a:lnTo>
                  <a:pt x="254513" y="18385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859600" y="5663891"/>
            <a:ext cx="77470" cy="205740"/>
          </a:xfrm>
          <a:custGeom>
            <a:avLst/>
            <a:gdLst/>
            <a:ahLst/>
            <a:cxnLst/>
            <a:rect l="l" t="t" r="r" b="b"/>
            <a:pathLst>
              <a:path w="77470" h="205739">
                <a:moveTo>
                  <a:pt x="77169" y="0"/>
                </a:moveTo>
                <a:lnTo>
                  <a:pt x="0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141000" y="5663891"/>
            <a:ext cx="76200" cy="205740"/>
          </a:xfrm>
          <a:custGeom>
            <a:avLst/>
            <a:gdLst/>
            <a:ahLst/>
            <a:cxnLst/>
            <a:rect l="l" t="t" r="r" b="b"/>
            <a:pathLst>
              <a:path w="76200" h="205739">
                <a:moveTo>
                  <a:pt x="0" y="0"/>
                </a:moveTo>
                <a:lnTo>
                  <a:pt x="75622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573645" y="5663891"/>
            <a:ext cx="77470" cy="205740"/>
          </a:xfrm>
          <a:custGeom>
            <a:avLst/>
            <a:gdLst/>
            <a:ahLst/>
            <a:cxnLst/>
            <a:rect l="l" t="t" r="r" b="b"/>
            <a:pathLst>
              <a:path w="77470" h="205739">
                <a:moveTo>
                  <a:pt x="77169" y="0"/>
                </a:moveTo>
                <a:lnTo>
                  <a:pt x="0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855046" y="5663891"/>
            <a:ext cx="76200" cy="205740"/>
          </a:xfrm>
          <a:custGeom>
            <a:avLst/>
            <a:gdLst/>
            <a:ahLst/>
            <a:cxnLst/>
            <a:rect l="l" t="t" r="r" b="b"/>
            <a:pathLst>
              <a:path w="76200" h="205739">
                <a:moveTo>
                  <a:pt x="0" y="0"/>
                </a:moveTo>
                <a:lnTo>
                  <a:pt x="75622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287691" y="5663891"/>
            <a:ext cx="77470" cy="205740"/>
          </a:xfrm>
          <a:custGeom>
            <a:avLst/>
            <a:gdLst/>
            <a:ahLst/>
            <a:cxnLst/>
            <a:rect l="l" t="t" r="r" b="b"/>
            <a:pathLst>
              <a:path w="77470" h="205739">
                <a:moveTo>
                  <a:pt x="77169" y="0"/>
                </a:moveTo>
                <a:lnTo>
                  <a:pt x="0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569092" y="5663891"/>
            <a:ext cx="76200" cy="205740"/>
          </a:xfrm>
          <a:custGeom>
            <a:avLst/>
            <a:gdLst/>
            <a:ahLst/>
            <a:cxnLst/>
            <a:rect l="l" t="t" r="r" b="b"/>
            <a:pathLst>
              <a:path w="76200" h="205739">
                <a:moveTo>
                  <a:pt x="0" y="0"/>
                </a:moveTo>
                <a:lnTo>
                  <a:pt x="75622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001736" y="5663891"/>
            <a:ext cx="77470" cy="205740"/>
          </a:xfrm>
          <a:custGeom>
            <a:avLst/>
            <a:gdLst/>
            <a:ahLst/>
            <a:cxnLst/>
            <a:rect l="l" t="t" r="r" b="b"/>
            <a:pathLst>
              <a:path w="77470" h="205739">
                <a:moveTo>
                  <a:pt x="77169" y="0"/>
                </a:moveTo>
                <a:lnTo>
                  <a:pt x="0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283139" y="5663891"/>
            <a:ext cx="76200" cy="205740"/>
          </a:xfrm>
          <a:custGeom>
            <a:avLst/>
            <a:gdLst/>
            <a:ahLst/>
            <a:cxnLst/>
            <a:rect l="l" t="t" r="r" b="b"/>
            <a:pathLst>
              <a:path w="76200" h="205739">
                <a:moveTo>
                  <a:pt x="0" y="0"/>
                </a:moveTo>
                <a:lnTo>
                  <a:pt x="75622" y="20549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3313329" y="4594859"/>
            <a:ext cx="172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79646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7" name="object 8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693936" y="4600955"/>
            <a:ext cx="1638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4BACC6"/>
                </a:solidFill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86006" y="2568955"/>
            <a:ext cx="179387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latin typeface="Calibri"/>
                <a:cs typeface="Calibri"/>
              </a:rPr>
              <a:t>Example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input  </a:t>
            </a:r>
            <a:r>
              <a:rPr dirty="0" sz="2400" spc="-10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14521" y="1553972"/>
            <a:ext cx="8083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Different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Inputs but the same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computational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baseline="1182" sz="3525" spc="1552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182" sz="3525" spc="-7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fails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7022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42021" y="2334341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42021" y="3784385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1217" y="2345554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21486" y="2693269"/>
            <a:ext cx="0" cy="1091565"/>
          </a:xfrm>
          <a:custGeom>
            <a:avLst/>
            <a:gdLst/>
            <a:ahLst/>
            <a:cxnLst/>
            <a:rect l="l" t="t" r="r" b="b"/>
            <a:pathLst>
              <a:path w="0" h="1091564">
                <a:moveTo>
                  <a:pt x="0" y="0"/>
                </a:moveTo>
                <a:lnTo>
                  <a:pt x="1" y="109111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90681" y="2704482"/>
            <a:ext cx="0" cy="1087755"/>
          </a:xfrm>
          <a:custGeom>
            <a:avLst/>
            <a:gdLst/>
            <a:ahLst/>
            <a:cxnLst/>
            <a:rect l="l" t="t" r="r" b="b"/>
            <a:pathLst>
              <a:path w="0" h="1087754">
                <a:moveTo>
                  <a:pt x="0" y="1087139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759279" y="2843276"/>
            <a:ext cx="191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11217" y="3791623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68858" y="3771900"/>
            <a:ext cx="271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Cambria Math"/>
                <a:cs typeface="Cambria Math"/>
              </a:rPr>
              <a:t>𝑣</a:t>
            </a:r>
            <a:r>
              <a:rPr dirty="0" baseline="-14814" sz="2250" spc="150">
                <a:latin typeface="Cambria Math"/>
                <a:cs typeface="Cambria Math"/>
              </a:rPr>
              <a:t>$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0147" y="2525019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52595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96101" y="2345554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98741" y="2345554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457614" y="6013196"/>
            <a:ext cx="3695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…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46602" y="4787295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506401" y="4765547"/>
            <a:ext cx="2654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70">
                <a:latin typeface="Cambria Math"/>
                <a:cs typeface="Cambria Math"/>
              </a:rPr>
              <a:t>𝑣</a:t>
            </a:r>
            <a:r>
              <a:rPr dirty="0" baseline="-14814" sz="2250" spc="412">
                <a:latin typeface="Cambria Math"/>
                <a:cs typeface="Cambria Math"/>
              </a:rPr>
              <a:t>"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25255" y="5093661"/>
            <a:ext cx="374015" cy="215900"/>
          </a:xfrm>
          <a:custGeom>
            <a:avLst/>
            <a:gdLst/>
            <a:ahLst/>
            <a:cxnLst/>
            <a:rect l="l" t="t" r="r" b="b"/>
            <a:pathLst>
              <a:path w="374014" h="215900">
                <a:moveTo>
                  <a:pt x="0" y="215497"/>
                </a:moveTo>
                <a:lnTo>
                  <a:pt x="37391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52968" y="5093661"/>
            <a:ext cx="421640" cy="215900"/>
          </a:xfrm>
          <a:custGeom>
            <a:avLst/>
            <a:gdLst/>
            <a:ahLst/>
            <a:cxnLst/>
            <a:rect l="l" t="t" r="r" b="b"/>
            <a:pathLst>
              <a:path w="421639" h="215900">
                <a:moveTo>
                  <a:pt x="0" y="0"/>
                </a:moveTo>
                <a:lnTo>
                  <a:pt x="421419" y="21549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22989" y="587089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66667" y="587089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45790" y="5309158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02454" y="5615525"/>
            <a:ext cx="96520" cy="255904"/>
          </a:xfrm>
          <a:custGeom>
            <a:avLst/>
            <a:gdLst/>
            <a:ahLst/>
            <a:cxnLst/>
            <a:rect l="l" t="t" r="r" b="b"/>
            <a:pathLst>
              <a:path w="96519" h="255904">
                <a:moveTo>
                  <a:pt x="95900" y="0"/>
                </a:moveTo>
                <a:lnTo>
                  <a:pt x="0" y="25536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52157" y="5615525"/>
            <a:ext cx="93980" cy="255904"/>
          </a:xfrm>
          <a:custGeom>
            <a:avLst/>
            <a:gdLst/>
            <a:ahLst/>
            <a:cxnLst/>
            <a:rect l="l" t="t" r="r" b="b"/>
            <a:pathLst>
              <a:path w="93979" h="255904">
                <a:moveTo>
                  <a:pt x="0" y="0"/>
                </a:moveTo>
                <a:lnTo>
                  <a:pt x="93977" y="25536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772120" y="587089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15799" y="587089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94922" y="5309158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951586" y="5615525"/>
            <a:ext cx="96520" cy="255904"/>
          </a:xfrm>
          <a:custGeom>
            <a:avLst/>
            <a:gdLst/>
            <a:ahLst/>
            <a:cxnLst/>
            <a:rect l="l" t="t" r="r" b="b"/>
            <a:pathLst>
              <a:path w="96520" h="255904">
                <a:moveTo>
                  <a:pt x="95900" y="0"/>
                </a:moveTo>
                <a:lnTo>
                  <a:pt x="0" y="25536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01289" y="5615525"/>
            <a:ext cx="93980" cy="255904"/>
          </a:xfrm>
          <a:custGeom>
            <a:avLst/>
            <a:gdLst/>
            <a:ahLst/>
            <a:cxnLst/>
            <a:rect l="l" t="t" r="r" b="b"/>
            <a:pathLst>
              <a:path w="93979" h="255904">
                <a:moveTo>
                  <a:pt x="0" y="0"/>
                </a:moveTo>
                <a:lnTo>
                  <a:pt x="93977" y="25536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273565" y="4748276"/>
            <a:ext cx="191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26134" y="6013196"/>
            <a:ext cx="3695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…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15120" y="4787295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671967" y="4765547"/>
            <a:ext cx="271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Cambria Math"/>
                <a:cs typeface="Cambria Math"/>
              </a:rPr>
              <a:t>𝑣</a:t>
            </a:r>
            <a:r>
              <a:rPr dirty="0" baseline="-14814" sz="2250" spc="-97">
                <a:latin typeface="Cambria Math"/>
                <a:cs typeface="Cambria Math"/>
              </a:rPr>
              <a:t>#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293774" y="5093661"/>
            <a:ext cx="374015" cy="215900"/>
          </a:xfrm>
          <a:custGeom>
            <a:avLst/>
            <a:gdLst/>
            <a:ahLst/>
            <a:cxnLst/>
            <a:rect l="l" t="t" r="r" b="b"/>
            <a:pathLst>
              <a:path w="374014" h="215900">
                <a:moveTo>
                  <a:pt x="0" y="215497"/>
                </a:moveTo>
                <a:lnTo>
                  <a:pt x="37391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21486" y="5093661"/>
            <a:ext cx="421640" cy="215900"/>
          </a:xfrm>
          <a:custGeom>
            <a:avLst/>
            <a:gdLst/>
            <a:ahLst/>
            <a:cxnLst/>
            <a:rect l="l" t="t" r="r" b="b"/>
            <a:pathLst>
              <a:path w="421639" h="215900">
                <a:moveTo>
                  <a:pt x="0" y="0"/>
                </a:moveTo>
                <a:lnTo>
                  <a:pt x="421419" y="21549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91508" y="587089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335186" y="587089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114309" y="5309158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070973" y="5615525"/>
            <a:ext cx="96520" cy="255904"/>
          </a:xfrm>
          <a:custGeom>
            <a:avLst/>
            <a:gdLst/>
            <a:ahLst/>
            <a:cxnLst/>
            <a:rect l="l" t="t" r="r" b="b"/>
            <a:pathLst>
              <a:path w="96520" h="255904">
                <a:moveTo>
                  <a:pt x="95900" y="0"/>
                </a:moveTo>
                <a:lnTo>
                  <a:pt x="0" y="25536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420677" y="5615525"/>
            <a:ext cx="93980" cy="255904"/>
          </a:xfrm>
          <a:custGeom>
            <a:avLst/>
            <a:gdLst/>
            <a:ahLst/>
            <a:cxnLst/>
            <a:rect l="l" t="t" r="r" b="b"/>
            <a:pathLst>
              <a:path w="93979" h="255904">
                <a:moveTo>
                  <a:pt x="0" y="0"/>
                </a:moveTo>
                <a:lnTo>
                  <a:pt x="93977" y="25536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940639" y="587089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384319" y="587089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163440" y="5309158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0" y="179465"/>
                </a:moveTo>
                <a:lnTo>
                  <a:pt x="6410" y="131756"/>
                </a:lnTo>
                <a:lnTo>
                  <a:pt x="24502" y="88885"/>
                </a:lnTo>
                <a:lnTo>
                  <a:pt x="52564" y="52564"/>
                </a:lnTo>
                <a:lnTo>
                  <a:pt x="88885" y="24502"/>
                </a:lnTo>
                <a:lnTo>
                  <a:pt x="131756" y="6410"/>
                </a:lnTo>
                <a:lnTo>
                  <a:pt x="179465" y="0"/>
                </a:lnTo>
                <a:lnTo>
                  <a:pt x="227173" y="6410"/>
                </a:lnTo>
                <a:lnTo>
                  <a:pt x="270044" y="24502"/>
                </a:lnTo>
                <a:lnTo>
                  <a:pt x="306365" y="52564"/>
                </a:lnTo>
                <a:lnTo>
                  <a:pt x="334427" y="88885"/>
                </a:lnTo>
                <a:lnTo>
                  <a:pt x="352519" y="131756"/>
                </a:lnTo>
                <a:lnTo>
                  <a:pt x="358930" y="179465"/>
                </a:lnTo>
                <a:lnTo>
                  <a:pt x="352519" y="227173"/>
                </a:lnTo>
                <a:lnTo>
                  <a:pt x="334427" y="270044"/>
                </a:lnTo>
                <a:lnTo>
                  <a:pt x="306365" y="306365"/>
                </a:lnTo>
                <a:lnTo>
                  <a:pt x="270044" y="334427"/>
                </a:lnTo>
                <a:lnTo>
                  <a:pt x="227173" y="352519"/>
                </a:lnTo>
                <a:lnTo>
                  <a:pt x="179465" y="358930"/>
                </a:lnTo>
                <a:lnTo>
                  <a:pt x="131756" y="352519"/>
                </a:lnTo>
                <a:lnTo>
                  <a:pt x="88885" y="334427"/>
                </a:lnTo>
                <a:lnTo>
                  <a:pt x="52564" y="306365"/>
                </a:lnTo>
                <a:lnTo>
                  <a:pt x="24502" y="270044"/>
                </a:lnTo>
                <a:lnTo>
                  <a:pt x="6410" y="227173"/>
                </a:lnTo>
                <a:lnTo>
                  <a:pt x="0" y="17946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120106" y="5615525"/>
            <a:ext cx="96520" cy="255904"/>
          </a:xfrm>
          <a:custGeom>
            <a:avLst/>
            <a:gdLst/>
            <a:ahLst/>
            <a:cxnLst/>
            <a:rect l="l" t="t" r="r" b="b"/>
            <a:pathLst>
              <a:path w="96520" h="255904">
                <a:moveTo>
                  <a:pt x="95900" y="0"/>
                </a:moveTo>
                <a:lnTo>
                  <a:pt x="0" y="25536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469809" y="5615525"/>
            <a:ext cx="93980" cy="255904"/>
          </a:xfrm>
          <a:custGeom>
            <a:avLst/>
            <a:gdLst/>
            <a:ahLst/>
            <a:cxnLst/>
            <a:rect l="l" t="t" r="r" b="b"/>
            <a:pathLst>
              <a:path w="93979" h="255904">
                <a:moveTo>
                  <a:pt x="0" y="0"/>
                </a:moveTo>
                <a:lnTo>
                  <a:pt x="93977" y="25536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455031" y="2525019"/>
            <a:ext cx="443865" cy="0"/>
          </a:xfrm>
          <a:custGeom>
            <a:avLst/>
            <a:gdLst/>
            <a:ahLst/>
            <a:cxnLst/>
            <a:rect l="l" t="t" r="r" b="b"/>
            <a:pathLst>
              <a:path w="443864" h="0">
                <a:moveTo>
                  <a:pt x="443710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257671" y="2513806"/>
            <a:ext cx="484505" cy="11430"/>
          </a:xfrm>
          <a:custGeom>
            <a:avLst/>
            <a:gdLst/>
            <a:ahLst/>
            <a:cxnLst/>
            <a:rect l="l" t="t" r="r" b="b"/>
            <a:pathLst>
              <a:path w="484504" h="11430">
                <a:moveTo>
                  <a:pt x="484350" y="0"/>
                </a:moveTo>
                <a:lnTo>
                  <a:pt x="0" y="1121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627621" y="2828035"/>
            <a:ext cx="201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79646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517583" y="2651920"/>
            <a:ext cx="631190" cy="1192530"/>
          </a:xfrm>
          <a:custGeom>
            <a:avLst/>
            <a:gdLst/>
            <a:ahLst/>
            <a:cxnLst/>
            <a:rect l="l" t="t" r="r" b="b"/>
            <a:pathLst>
              <a:path w="631189" h="1192529">
                <a:moveTo>
                  <a:pt x="0" y="1192267"/>
                </a:moveTo>
                <a:lnTo>
                  <a:pt x="63108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517583" y="2651920"/>
            <a:ext cx="1433830" cy="1192530"/>
          </a:xfrm>
          <a:custGeom>
            <a:avLst/>
            <a:gdLst/>
            <a:ahLst/>
            <a:cxnLst/>
            <a:rect l="l" t="t" r="r" b="b"/>
            <a:pathLst>
              <a:path w="1433829" h="1192529">
                <a:moveTo>
                  <a:pt x="0" y="1192267"/>
                </a:moveTo>
                <a:lnTo>
                  <a:pt x="143372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950829" y="4658867"/>
            <a:ext cx="9023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4835" algn="l"/>
              </a:tabLst>
            </a:pPr>
            <a:r>
              <a:rPr dirty="0" baseline="1157" sz="3600">
                <a:solidFill>
                  <a:srgbClr val="F79646"/>
                </a:solidFill>
                <a:latin typeface="Calibri"/>
                <a:cs typeface="Calibri"/>
              </a:rPr>
              <a:t>A	</a:t>
            </a: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14521" y="1553972"/>
            <a:ext cx="8083550" cy="1100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Different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Inputs but the same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computational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baseline="1182" sz="3525" spc="1552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182" sz="3525" spc="-7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fails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Times New Roman"/>
              <a:cs typeface="Times New Roman"/>
            </a:endParaRPr>
          </a:p>
          <a:p>
            <a:pPr algn="ctr" marL="71755">
              <a:lnSpc>
                <a:spcPct val="100000"/>
              </a:lnSpc>
              <a:tabLst>
                <a:tab pos="871219" algn="l"/>
              </a:tabLst>
            </a:pPr>
            <a:r>
              <a:rPr dirty="0" sz="2000" spc="100">
                <a:latin typeface="Cambria Math"/>
                <a:cs typeface="Cambria Math"/>
              </a:rPr>
              <a:t>𝑣</a:t>
            </a:r>
            <a:r>
              <a:rPr dirty="0" baseline="-14814" sz="2250" spc="150">
                <a:latin typeface="Cambria Math"/>
                <a:cs typeface="Cambria Math"/>
              </a:rPr>
              <a:t>"	</a:t>
            </a:r>
            <a:r>
              <a:rPr dirty="0" sz="2000" spc="-45">
                <a:latin typeface="Cambria Math"/>
                <a:cs typeface="Cambria Math"/>
              </a:rPr>
              <a:t>𝑣</a:t>
            </a:r>
            <a:r>
              <a:rPr dirty="0" baseline="-14814" sz="2250" spc="-67">
                <a:latin typeface="Cambria Math"/>
                <a:cs typeface="Cambria Math"/>
              </a:rPr>
              <a:t>#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9637" y="4574540"/>
            <a:ext cx="182562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10">
                <a:latin typeface="Calibri"/>
                <a:cs typeface="Calibri"/>
              </a:rPr>
              <a:t>Existing </a:t>
            </a:r>
            <a:r>
              <a:rPr dirty="0" sz="2400" spc="-5">
                <a:latin typeface="Calibri"/>
                <a:cs typeface="Calibri"/>
              </a:rPr>
              <a:t>GNNs’  </a:t>
            </a:r>
            <a:r>
              <a:rPr dirty="0" sz="2400" spc="-25">
                <a:latin typeface="Calibri"/>
                <a:cs typeface="Calibri"/>
              </a:rPr>
              <a:t>c</a:t>
            </a:r>
            <a:r>
              <a:rPr dirty="0" sz="2400" spc="-5">
                <a:latin typeface="Calibri"/>
                <a:cs typeface="Calibri"/>
              </a:rPr>
              <a:t>o</a:t>
            </a:r>
            <a:r>
              <a:rPr dirty="0" sz="2400" spc="-10">
                <a:latin typeface="Calibri"/>
                <a:cs typeface="Calibri"/>
              </a:rPr>
              <a:t>m</a:t>
            </a:r>
            <a:r>
              <a:rPr dirty="0" sz="2400">
                <a:latin typeface="Calibri"/>
                <a:cs typeface="Calibri"/>
              </a:rPr>
              <a:t>pu</a:t>
            </a:r>
            <a:r>
              <a:rPr dirty="0" sz="2400" spc="-35">
                <a:latin typeface="Calibri"/>
                <a:cs typeface="Calibri"/>
              </a:rPr>
              <a:t>t</a:t>
            </a:r>
            <a:r>
              <a:rPr dirty="0" sz="2400" spc="-25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t</a:t>
            </a:r>
            <a:r>
              <a:rPr dirty="0" sz="2400">
                <a:latin typeface="Calibri"/>
                <a:cs typeface="Calibri"/>
              </a:rPr>
              <a:t>i</a:t>
            </a:r>
            <a:r>
              <a:rPr dirty="0" sz="2400" spc="-5">
                <a:latin typeface="Calibri"/>
                <a:cs typeface="Calibri"/>
              </a:rPr>
              <a:t>o</a:t>
            </a:r>
            <a:r>
              <a:rPr dirty="0" sz="2400">
                <a:latin typeface="Calibri"/>
                <a:cs typeface="Calibri"/>
              </a:rPr>
              <a:t>nal  </a:t>
            </a:r>
            <a:r>
              <a:rPr dirty="0" sz="2400" spc="-10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86006" y="2568955"/>
            <a:ext cx="179387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latin typeface="Calibri"/>
                <a:cs typeface="Calibri"/>
              </a:rPr>
              <a:t>Example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input  </a:t>
            </a:r>
            <a:r>
              <a:rPr dirty="0" sz="2400" spc="-10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30817" y="2767076"/>
            <a:ext cx="2409190" cy="111061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368935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Edge </a:t>
            </a:r>
            <a:r>
              <a:rPr dirty="0" sz="1800">
                <a:solidFill>
                  <a:srgbClr val="E88651"/>
                </a:solidFill>
                <a:latin typeface="Arial"/>
                <a:cs typeface="Arial"/>
              </a:rPr>
              <a:t>A </a:t>
            </a:r>
            <a:r>
              <a:rPr dirty="0" sz="1800" spc="-5"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60B5CC"/>
                </a:solidFill>
                <a:latin typeface="Arial"/>
                <a:cs typeface="Arial"/>
              </a:rPr>
              <a:t>B</a:t>
            </a:r>
            <a:r>
              <a:rPr dirty="0" sz="1800" spc="-285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share  node</a:t>
            </a:r>
            <a:r>
              <a:rPr dirty="0" sz="1800" spc="-100">
                <a:latin typeface="Arial"/>
                <a:cs typeface="Arial"/>
              </a:rPr>
              <a:t> </a:t>
            </a:r>
            <a:r>
              <a:rPr dirty="0" sz="1800" spc="-85">
                <a:latin typeface="Cambria Math"/>
                <a:cs typeface="Cambria Math"/>
              </a:rPr>
              <a:t>𝑣</a:t>
            </a:r>
            <a:r>
              <a:rPr dirty="0" baseline="-14957" sz="1950" spc="-127">
                <a:latin typeface="Cambria Math"/>
                <a:cs typeface="Cambria Math"/>
              </a:rPr>
              <a:t>&amp;</a:t>
            </a:r>
            <a:endParaRPr baseline="-14957" sz="1950">
              <a:latin typeface="Cambria Math"/>
              <a:cs typeface="Cambria Math"/>
            </a:endParaRPr>
          </a:p>
          <a:p>
            <a:pPr marL="12700" marR="5080">
              <a:lnSpc>
                <a:spcPts val="2090"/>
              </a:lnSpc>
              <a:spcBef>
                <a:spcPts val="115"/>
              </a:spcBef>
            </a:pPr>
            <a:r>
              <a:rPr dirty="0" sz="1800" spc="-20">
                <a:solidFill>
                  <a:srgbClr val="0070C0"/>
                </a:solidFill>
                <a:latin typeface="Arial"/>
                <a:cs typeface="Arial"/>
              </a:rPr>
              <a:t>We 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look at embeddings  for </a:t>
            </a:r>
            <a:r>
              <a:rPr dirty="0" sz="1800" spc="150">
                <a:solidFill>
                  <a:srgbClr val="0070C0"/>
                </a:solidFill>
                <a:latin typeface="Cambria Math"/>
                <a:cs typeface="Cambria Math"/>
              </a:rPr>
              <a:t>𝑣</a:t>
            </a:r>
            <a:r>
              <a:rPr dirty="0" baseline="-17094" sz="1950" spc="225">
                <a:solidFill>
                  <a:srgbClr val="0070C0"/>
                </a:solidFill>
                <a:latin typeface="Cambria Math"/>
                <a:cs typeface="Cambria Math"/>
              </a:rPr>
              <a:t>! 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and</a:t>
            </a:r>
            <a:r>
              <a:rPr dirty="0" sz="1800" spc="-10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0070C0"/>
                </a:solidFill>
                <a:latin typeface="Cambria Math"/>
                <a:cs typeface="Cambria Math"/>
              </a:rPr>
              <a:t>𝑣</a:t>
            </a:r>
            <a:r>
              <a:rPr dirty="0" baseline="-17094" sz="1950" spc="150">
                <a:solidFill>
                  <a:srgbClr val="0070C0"/>
                </a:solidFill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93394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52180" y="4389120"/>
            <a:ext cx="2194560" cy="21945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94747" y="4389120"/>
            <a:ext cx="2194560" cy="21945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8065" y="4891532"/>
            <a:ext cx="1825625" cy="11290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latin typeface="Calibri"/>
                <a:cs typeface="Calibri"/>
              </a:rPr>
              <a:t>Existing </a:t>
            </a:r>
            <a:r>
              <a:rPr dirty="0" sz="2400" spc="-5">
                <a:latin typeface="Calibri"/>
                <a:cs typeface="Calibri"/>
              </a:rPr>
              <a:t>GNNs’  </a:t>
            </a:r>
            <a:r>
              <a:rPr dirty="0" sz="2400" spc="-25">
                <a:latin typeface="Calibri"/>
                <a:cs typeface="Calibri"/>
              </a:rPr>
              <a:t>c</a:t>
            </a:r>
            <a:r>
              <a:rPr dirty="0" sz="2400" spc="-5">
                <a:latin typeface="Calibri"/>
                <a:cs typeface="Calibri"/>
              </a:rPr>
              <a:t>o</a:t>
            </a:r>
            <a:r>
              <a:rPr dirty="0" sz="2400" spc="-10">
                <a:latin typeface="Calibri"/>
                <a:cs typeface="Calibri"/>
              </a:rPr>
              <a:t>m</a:t>
            </a:r>
            <a:r>
              <a:rPr dirty="0" sz="2400">
                <a:latin typeface="Calibri"/>
                <a:cs typeface="Calibri"/>
              </a:rPr>
              <a:t>pu</a:t>
            </a:r>
            <a:r>
              <a:rPr dirty="0" sz="2400" spc="-35">
                <a:latin typeface="Calibri"/>
                <a:cs typeface="Calibri"/>
              </a:rPr>
              <a:t>t</a:t>
            </a:r>
            <a:r>
              <a:rPr dirty="0" sz="2400" spc="-25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t</a:t>
            </a:r>
            <a:r>
              <a:rPr dirty="0" sz="2400">
                <a:latin typeface="Calibri"/>
                <a:cs typeface="Calibri"/>
              </a:rPr>
              <a:t>i</a:t>
            </a:r>
            <a:r>
              <a:rPr dirty="0" sz="2400" spc="-5">
                <a:latin typeface="Calibri"/>
                <a:cs typeface="Calibri"/>
              </a:rPr>
              <a:t>o</a:t>
            </a:r>
            <a:r>
              <a:rPr dirty="0" sz="2400">
                <a:latin typeface="Calibri"/>
                <a:cs typeface="Calibri"/>
              </a:rPr>
              <a:t>nal  </a:t>
            </a:r>
            <a:r>
              <a:rPr dirty="0" sz="2400" spc="-10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94747" y="1757047"/>
            <a:ext cx="2249577" cy="2194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34806" y="1704483"/>
            <a:ext cx="2269589" cy="2194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656983" y="1855723"/>
            <a:ext cx="1484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5560" algn="l"/>
              </a:tabLst>
            </a:pPr>
            <a:r>
              <a:rPr dirty="0" sz="2400">
                <a:solidFill>
                  <a:srgbClr val="F79646"/>
                </a:solidFill>
                <a:latin typeface="Calibri"/>
                <a:cs typeface="Calibri"/>
              </a:rPr>
              <a:t>A	</a:t>
            </a:r>
            <a:r>
              <a:rPr dirty="0" sz="2400">
                <a:solidFill>
                  <a:srgbClr val="4BACC6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25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3802379"/>
            <a:ext cx="24549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40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000" spc="-5">
                <a:solidFill>
                  <a:srgbClr val="0070C0"/>
                </a:solidFill>
                <a:latin typeface="Calibri"/>
                <a:cs typeface="Calibri"/>
              </a:rPr>
              <a:t>look </a:t>
            </a:r>
            <a:r>
              <a:rPr dirty="0" sz="2000" spc="-10">
                <a:solidFill>
                  <a:srgbClr val="0070C0"/>
                </a:solidFill>
                <a:latin typeface="Calibri"/>
                <a:cs typeface="Calibri"/>
              </a:rPr>
              <a:t>at </a:t>
            </a:r>
            <a:r>
              <a:rPr dirty="0" sz="2000" spc="-5">
                <a:solidFill>
                  <a:srgbClr val="0070C0"/>
                </a:solidFill>
                <a:latin typeface="Calibri"/>
                <a:cs typeface="Calibri"/>
              </a:rPr>
              <a:t>embeddings  </a:t>
            </a:r>
            <a:r>
              <a:rPr dirty="0" sz="2000" spc="-15">
                <a:solidFill>
                  <a:srgbClr val="0070C0"/>
                </a:solidFill>
                <a:latin typeface="Calibri"/>
                <a:cs typeface="Calibri"/>
              </a:rPr>
              <a:t>for </a:t>
            </a:r>
            <a:r>
              <a:rPr dirty="0" sz="2000">
                <a:solidFill>
                  <a:srgbClr val="0070C0"/>
                </a:solidFill>
                <a:latin typeface="Calibri"/>
                <a:cs typeface="Calibri"/>
              </a:rPr>
              <a:t>each</a:t>
            </a:r>
            <a:r>
              <a:rPr dirty="0" sz="2000" spc="-9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0070C0"/>
                </a:solidFill>
                <a:latin typeface="Calibri"/>
                <a:cs typeface="Calibri"/>
              </a:rPr>
              <a:t>node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4294" y="5442204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8103" y="4507484"/>
            <a:ext cx="201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79646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3861" y="4507484"/>
            <a:ext cx="191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BACC6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563" y="2544572"/>
            <a:ext cx="179387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latin typeface="Calibri"/>
                <a:cs typeface="Calibri"/>
              </a:rPr>
              <a:t>Example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input  </a:t>
            </a:r>
            <a:r>
              <a:rPr dirty="0" sz="2400" spc="-10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99381" y="1249172"/>
            <a:ext cx="8083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C00000"/>
                </a:solidFill>
              </a:rPr>
              <a:t>Different </a:t>
            </a:r>
            <a:r>
              <a:rPr dirty="0" sz="2400" spc="-5">
                <a:solidFill>
                  <a:srgbClr val="C00000"/>
                </a:solidFill>
              </a:rPr>
              <a:t>Inputs but the same </a:t>
            </a:r>
            <a:r>
              <a:rPr dirty="0" sz="2400" spc="-10">
                <a:solidFill>
                  <a:srgbClr val="C00000"/>
                </a:solidFill>
              </a:rPr>
              <a:t>computational </a:t>
            </a:r>
            <a:r>
              <a:rPr dirty="0" sz="2400" spc="-15">
                <a:solidFill>
                  <a:srgbClr val="C00000"/>
                </a:solidFill>
              </a:rPr>
              <a:t>graph </a:t>
            </a:r>
            <a:r>
              <a:rPr dirty="0" baseline="1182" sz="3525" spc="1552" b="0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1182" sz="3525" spc="-75" b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C00000"/>
                </a:solidFill>
              </a:rPr>
              <a:t>GNN </a:t>
            </a:r>
            <a:r>
              <a:rPr dirty="0" sz="2400" spc="-15">
                <a:solidFill>
                  <a:srgbClr val="C00000"/>
                </a:solidFill>
              </a:rPr>
              <a:t>fails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8844" y="4064508"/>
            <a:ext cx="15614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node: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41358" y="4064508"/>
            <a:ext cx="15614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node: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146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1807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D60093"/>
                </a:solidFill>
              </a:rPr>
              <a:t>Idea: </a:t>
            </a:r>
            <a:r>
              <a:rPr dirty="0" sz="3200" spc="-60" b="0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z="3200" spc="-10" b="0">
                <a:solidFill>
                  <a:srgbClr val="D60093"/>
                </a:solidFill>
                <a:latin typeface="Calibri"/>
                <a:cs typeface="Calibri"/>
              </a:rPr>
              <a:t>can </a:t>
            </a:r>
            <a:r>
              <a:rPr dirty="0" sz="3200" spc="-5" b="0">
                <a:solidFill>
                  <a:srgbClr val="D60093"/>
                </a:solidFill>
                <a:latin typeface="Calibri"/>
                <a:cs typeface="Calibri"/>
              </a:rPr>
              <a:t>assign </a:t>
            </a:r>
            <a:r>
              <a:rPr dirty="0" sz="3200" b="0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3200" spc="-10" b="0">
                <a:solidFill>
                  <a:srgbClr val="D60093"/>
                </a:solidFill>
                <a:latin typeface="Calibri"/>
                <a:cs typeface="Calibri"/>
              </a:rPr>
              <a:t>color </a:t>
            </a:r>
            <a:r>
              <a:rPr dirty="0" sz="3200" spc="-15" b="0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3200" b="0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5" b="0">
                <a:solidFill>
                  <a:srgbClr val="D60093"/>
                </a:solidFill>
                <a:latin typeface="Calibri"/>
                <a:cs typeface="Calibri"/>
              </a:rPr>
              <a:t>node </a:t>
            </a:r>
            <a:r>
              <a:rPr dirty="0" sz="3200" spc="-15" b="0">
                <a:solidFill>
                  <a:srgbClr val="D60093"/>
                </a:solidFill>
                <a:latin typeface="Calibri"/>
                <a:cs typeface="Calibri"/>
              </a:rPr>
              <a:t>we  </a:t>
            </a:r>
            <a:r>
              <a:rPr dirty="0" sz="3200" spc="-20" b="0">
                <a:solidFill>
                  <a:srgbClr val="D60093"/>
                </a:solidFill>
                <a:latin typeface="Calibri"/>
                <a:cs typeface="Calibri"/>
              </a:rPr>
              <a:t>want </a:t>
            </a:r>
            <a:r>
              <a:rPr dirty="0" sz="3200" spc="-15" b="0">
                <a:solidFill>
                  <a:srgbClr val="D60093"/>
                </a:solidFill>
                <a:latin typeface="Calibri"/>
                <a:cs typeface="Calibri"/>
              </a:rPr>
              <a:t>to</a:t>
            </a:r>
            <a:r>
              <a:rPr dirty="0" sz="3200" spc="-35" b="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0">
                <a:solidFill>
                  <a:srgbClr val="D60093"/>
                </a:solidFill>
                <a:latin typeface="Calibri"/>
                <a:cs typeface="Calibri"/>
              </a:rPr>
              <a:t>embed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15317" y="328025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2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6"/>
                </a:lnTo>
                <a:lnTo>
                  <a:pt x="79652" y="250586"/>
                </a:lnTo>
                <a:lnTo>
                  <a:pt x="130417" y="260835"/>
                </a:lnTo>
                <a:lnTo>
                  <a:pt x="181182" y="250586"/>
                </a:lnTo>
                <a:lnTo>
                  <a:pt x="222637" y="222636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2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15317" y="328025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15317" y="433971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70360" y="4314444"/>
            <a:ext cx="1943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latin typeface="Cambria Math"/>
                <a:cs typeface="Cambria Math"/>
              </a:rPr>
              <a:t>𝑣</a:t>
            </a:r>
            <a:r>
              <a:rPr dirty="0" baseline="-16666" sz="1500" spc="270">
                <a:latin typeface="Cambria Math"/>
                <a:cs typeface="Cambria Math"/>
              </a:rPr>
              <a:t>"</a:t>
            </a:r>
            <a:endParaRPr baseline="-16666" sz="15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59818" y="3803867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45734" y="3541091"/>
            <a:ext cx="0" cy="798830"/>
          </a:xfrm>
          <a:custGeom>
            <a:avLst/>
            <a:gdLst/>
            <a:ahLst/>
            <a:cxnLst/>
            <a:rect l="l" t="t" r="r" b="b"/>
            <a:pathLst>
              <a:path w="0" h="798829">
                <a:moveTo>
                  <a:pt x="0" y="0"/>
                </a:moveTo>
                <a:lnTo>
                  <a:pt x="1" y="7986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76152" y="3410673"/>
            <a:ext cx="822325" cy="431800"/>
          </a:xfrm>
          <a:custGeom>
            <a:avLst/>
            <a:gdLst/>
            <a:ahLst/>
            <a:cxnLst/>
            <a:rect l="l" t="t" r="r" b="b"/>
            <a:pathLst>
              <a:path w="822325" h="431800">
                <a:moveTo>
                  <a:pt x="0" y="0"/>
                </a:moveTo>
                <a:lnTo>
                  <a:pt x="821863" y="43139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76152" y="4026504"/>
            <a:ext cx="822325" cy="443865"/>
          </a:xfrm>
          <a:custGeom>
            <a:avLst/>
            <a:gdLst/>
            <a:ahLst/>
            <a:cxnLst/>
            <a:rect l="l" t="t" r="r" b="b"/>
            <a:pathLst>
              <a:path w="822325" h="443864">
                <a:moveTo>
                  <a:pt x="0" y="443626"/>
                </a:moveTo>
                <a:lnTo>
                  <a:pt x="821863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51521" y="6117844"/>
            <a:ext cx="2933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…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22842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45266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684753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2" y="250587"/>
                </a:lnTo>
                <a:lnTo>
                  <a:pt x="222637" y="222637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3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84753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12539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34962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130417" y="0"/>
                </a:moveTo>
                <a:lnTo>
                  <a:pt x="79653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8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3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7" y="222637"/>
                </a:lnTo>
                <a:lnTo>
                  <a:pt x="250587" y="181182"/>
                </a:lnTo>
                <a:lnTo>
                  <a:pt x="260836" y="130418"/>
                </a:lnTo>
                <a:lnTo>
                  <a:pt x="250587" y="79653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34962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74450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67690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8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3" y="250587"/>
                </a:lnTo>
                <a:lnTo>
                  <a:pt x="222638" y="222637"/>
                </a:lnTo>
                <a:lnTo>
                  <a:pt x="250587" y="181182"/>
                </a:lnTo>
                <a:lnTo>
                  <a:pt x="260836" y="130418"/>
                </a:lnTo>
                <a:lnTo>
                  <a:pt x="250587" y="79653"/>
                </a:lnTo>
                <a:lnTo>
                  <a:pt x="222638" y="38198"/>
                </a:lnTo>
                <a:lnTo>
                  <a:pt x="181183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67690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90113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29602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457386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79810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561598" y="5986779"/>
            <a:ext cx="24809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3888" sz="1800" spc="150">
                <a:latin typeface="Cambria Math"/>
                <a:cs typeface="Cambria Math"/>
              </a:rPr>
              <a:t>"  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3888" sz="1800" spc="-52">
                <a:latin typeface="Cambria Math"/>
                <a:cs typeface="Cambria Math"/>
              </a:rPr>
              <a:t>#   </a:t>
            </a: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3888" sz="1800" spc="225">
                <a:latin typeface="Cambria Math"/>
                <a:cs typeface="Cambria Math"/>
              </a:rPr>
              <a:t>!  </a:t>
            </a: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3888" sz="1800" spc="150">
                <a:latin typeface="Cambria Math"/>
                <a:cs typeface="Cambria Math"/>
              </a:rPr>
              <a:t>"  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3888" sz="1800" spc="-52">
                <a:latin typeface="Cambria Math"/>
                <a:cs typeface="Cambria Math"/>
              </a:rPr>
              <a:t>#   </a:t>
            </a: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3888" sz="1800" spc="225">
                <a:latin typeface="Cambria Math"/>
                <a:cs typeface="Cambria Math"/>
              </a:rPr>
              <a:t>!  </a:t>
            </a: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3888" sz="1800" spc="150">
                <a:latin typeface="Cambria Math"/>
                <a:cs typeface="Cambria Math"/>
              </a:rPr>
              <a:t>"</a:t>
            </a:r>
            <a:r>
              <a:rPr dirty="0" baseline="-13888" sz="1800" spc="607">
                <a:latin typeface="Cambria Math"/>
                <a:cs typeface="Cambria Math"/>
              </a:rPr>
              <a:t> 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3888" sz="1800" spc="-52">
                <a:latin typeface="Cambria Math"/>
                <a:cs typeface="Cambria Math"/>
              </a:rPr>
              <a:t>#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619297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3" y="250587"/>
                </a:lnTo>
                <a:lnTo>
                  <a:pt x="222638" y="222637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3"/>
                </a:lnTo>
                <a:lnTo>
                  <a:pt x="222638" y="38198"/>
                </a:lnTo>
                <a:lnTo>
                  <a:pt x="181183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19297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09822" y="523149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297228" y="522900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26653" y="5047996"/>
            <a:ext cx="2152650" cy="80010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225"/>
              </a:spcBef>
              <a:tabLst>
                <a:tab pos="1290320" algn="l"/>
              </a:tabLst>
            </a:pP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6203" sz="1800" spc="150">
                <a:latin typeface="Cambria Math"/>
                <a:cs typeface="Cambria Math"/>
              </a:rPr>
              <a:t>"	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3888" sz="1800" spc="-52">
                <a:latin typeface="Cambria Math"/>
                <a:cs typeface="Cambria Math"/>
              </a:rPr>
              <a:t>#</a:t>
            </a:r>
            <a:endParaRPr baseline="-13888"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641985" algn="l"/>
                <a:tab pos="1285875" algn="l"/>
                <a:tab pos="1934210" algn="l"/>
              </a:tabLst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3888" sz="1800" spc="525">
                <a:latin typeface="Cambria Math"/>
                <a:cs typeface="Cambria Math"/>
              </a:rPr>
              <a:t>!</a:t>
            </a:r>
            <a:r>
              <a:rPr dirty="0" baseline="-13888" sz="1800">
                <a:latin typeface="Cambria Math"/>
                <a:cs typeface="Cambria Math"/>
              </a:rPr>
              <a:t>	</a:t>
            </a: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3888" sz="1800" spc="-75">
                <a:latin typeface="Cambria Math"/>
                <a:cs typeface="Cambria Math"/>
              </a:rPr>
              <a:t>#</a:t>
            </a:r>
            <a:r>
              <a:rPr dirty="0" baseline="-13888" sz="1800">
                <a:latin typeface="Cambria Math"/>
                <a:cs typeface="Cambria Math"/>
              </a:rPr>
              <a:t>	</a:t>
            </a: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3888" sz="1800" spc="322">
                <a:latin typeface="Cambria Math"/>
                <a:cs typeface="Cambria Math"/>
              </a:rPr>
              <a:t>"</a:t>
            </a:r>
            <a:r>
              <a:rPr dirty="0" baseline="-13888" sz="1800">
                <a:latin typeface="Cambria Math"/>
                <a:cs typeface="Cambria Math"/>
              </a:rPr>
              <a:t>	</a:t>
            </a: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3888" sz="1800" spc="525">
                <a:latin typeface="Cambria Math"/>
                <a:cs typeface="Cambria Math"/>
              </a:rPr>
              <a:t>!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652950" y="4887964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4"/>
                </a:lnTo>
                <a:lnTo>
                  <a:pt x="0" y="130418"/>
                </a:lnTo>
                <a:lnTo>
                  <a:pt x="10248" y="181183"/>
                </a:lnTo>
                <a:lnTo>
                  <a:pt x="38198" y="222638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2" y="250587"/>
                </a:lnTo>
                <a:lnTo>
                  <a:pt x="222637" y="222638"/>
                </a:lnTo>
                <a:lnTo>
                  <a:pt x="250587" y="181183"/>
                </a:lnTo>
                <a:lnTo>
                  <a:pt x="260836" y="130418"/>
                </a:lnTo>
                <a:lnTo>
                  <a:pt x="250587" y="79654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52950" y="4887964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694055" y="4846828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232461" y="5110602"/>
            <a:ext cx="459105" cy="159385"/>
          </a:xfrm>
          <a:custGeom>
            <a:avLst/>
            <a:gdLst/>
            <a:ahLst/>
            <a:cxnLst/>
            <a:rect l="l" t="t" r="r" b="b"/>
            <a:pathLst>
              <a:path w="459104" h="159385">
                <a:moveTo>
                  <a:pt x="0" y="159095"/>
                </a:moveTo>
                <a:lnTo>
                  <a:pt x="45868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875589" y="5110602"/>
            <a:ext cx="460375" cy="156845"/>
          </a:xfrm>
          <a:custGeom>
            <a:avLst/>
            <a:gdLst/>
            <a:ahLst/>
            <a:cxnLst/>
            <a:rect l="l" t="t" r="r" b="b"/>
            <a:pathLst>
              <a:path w="460375" h="156845">
                <a:moveTo>
                  <a:pt x="0" y="0"/>
                </a:moveTo>
                <a:lnTo>
                  <a:pt x="459838" y="15660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815172" y="5454136"/>
            <a:ext cx="233045" cy="163830"/>
          </a:xfrm>
          <a:custGeom>
            <a:avLst/>
            <a:gdLst/>
            <a:ahLst/>
            <a:cxnLst/>
            <a:rect l="l" t="t" r="r" b="b"/>
            <a:pathLst>
              <a:path w="233045" h="163829">
                <a:moveTo>
                  <a:pt x="232849" y="0"/>
                </a:moveTo>
                <a:lnTo>
                  <a:pt x="0" y="16354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232461" y="5454136"/>
            <a:ext cx="227965" cy="163830"/>
          </a:xfrm>
          <a:custGeom>
            <a:avLst/>
            <a:gdLst/>
            <a:ahLst/>
            <a:cxnLst/>
            <a:rect l="l" t="t" r="r" b="b"/>
            <a:pathLst>
              <a:path w="227964" h="163829">
                <a:moveTo>
                  <a:pt x="0" y="0"/>
                </a:moveTo>
                <a:lnTo>
                  <a:pt x="227560" y="16354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04867" y="5451645"/>
            <a:ext cx="231140" cy="166370"/>
          </a:xfrm>
          <a:custGeom>
            <a:avLst/>
            <a:gdLst/>
            <a:ahLst/>
            <a:cxnLst/>
            <a:rect l="l" t="t" r="r" b="b"/>
            <a:pathLst>
              <a:path w="231140" h="166370">
                <a:moveTo>
                  <a:pt x="230560" y="0"/>
                </a:moveTo>
                <a:lnTo>
                  <a:pt x="0" y="1660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519866" y="5451645"/>
            <a:ext cx="229870" cy="166370"/>
          </a:xfrm>
          <a:custGeom>
            <a:avLst/>
            <a:gdLst/>
            <a:ahLst/>
            <a:cxnLst/>
            <a:rect l="l" t="t" r="r" b="b"/>
            <a:pathLst>
              <a:path w="229870" h="166370">
                <a:moveTo>
                  <a:pt x="0" y="0"/>
                </a:moveTo>
                <a:lnTo>
                  <a:pt x="229849" y="1660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653261" y="584032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907392" y="584032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298109" y="584032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552239" y="584032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942958" y="584032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197088" y="584032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587805" y="584032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841936" y="584032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721968" y="4267708"/>
            <a:ext cx="221551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90">
                <a:solidFill>
                  <a:srgbClr val="0070C0"/>
                </a:solidFill>
                <a:latin typeface="Arial"/>
                <a:cs typeface="Arial"/>
              </a:rPr>
              <a:t>To </a:t>
            </a:r>
            <a:r>
              <a:rPr dirty="0" sz="1600" spc="-5">
                <a:solidFill>
                  <a:srgbClr val="0070C0"/>
                </a:solidFill>
                <a:latin typeface="Arial"/>
                <a:cs typeface="Arial"/>
              </a:rPr>
              <a:t>assist understanding,  we label the</a:t>
            </a:r>
            <a:r>
              <a:rPr dirty="0" sz="1600" spc="-7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70C0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467720" y="327673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6" y="222637"/>
                </a:lnTo>
                <a:lnTo>
                  <a:pt x="250586" y="181182"/>
                </a:lnTo>
                <a:lnTo>
                  <a:pt x="260835" y="130417"/>
                </a:lnTo>
                <a:lnTo>
                  <a:pt x="250586" y="79653"/>
                </a:lnTo>
                <a:lnTo>
                  <a:pt x="222636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467720" y="327673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467720" y="4336187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512220" y="3800342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598138" y="3537567"/>
            <a:ext cx="0" cy="798830"/>
          </a:xfrm>
          <a:custGeom>
            <a:avLst/>
            <a:gdLst/>
            <a:ahLst/>
            <a:cxnLst/>
            <a:rect l="l" t="t" r="r" b="b"/>
            <a:pathLst>
              <a:path w="0" h="798829">
                <a:moveTo>
                  <a:pt x="0" y="0"/>
                </a:moveTo>
                <a:lnTo>
                  <a:pt x="1" y="7986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728555" y="3407149"/>
            <a:ext cx="822325" cy="431800"/>
          </a:xfrm>
          <a:custGeom>
            <a:avLst/>
            <a:gdLst/>
            <a:ahLst/>
            <a:cxnLst/>
            <a:rect l="l" t="t" r="r" b="b"/>
            <a:pathLst>
              <a:path w="822325" h="431800">
                <a:moveTo>
                  <a:pt x="0" y="0"/>
                </a:moveTo>
                <a:lnTo>
                  <a:pt x="821863" y="43139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728555" y="4022980"/>
            <a:ext cx="822325" cy="443865"/>
          </a:xfrm>
          <a:custGeom>
            <a:avLst/>
            <a:gdLst/>
            <a:ahLst/>
            <a:cxnLst/>
            <a:rect l="l" t="t" r="r" b="b"/>
            <a:pathLst>
              <a:path w="822325" h="443864">
                <a:moveTo>
                  <a:pt x="0" y="443626"/>
                </a:moveTo>
                <a:lnTo>
                  <a:pt x="821863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603924" y="6114795"/>
            <a:ext cx="2933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…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475245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97669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637157" y="561416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7" y="222637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3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637157" y="561416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764942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087366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8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6" y="222637"/>
                </a:lnTo>
                <a:lnTo>
                  <a:pt x="250586" y="181182"/>
                </a:lnTo>
                <a:lnTo>
                  <a:pt x="260835" y="130418"/>
                </a:lnTo>
                <a:lnTo>
                  <a:pt x="250586" y="79653"/>
                </a:lnTo>
                <a:lnTo>
                  <a:pt x="222636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087366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926853" y="561416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120093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8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3" y="250587"/>
                </a:lnTo>
                <a:lnTo>
                  <a:pt x="222638" y="222637"/>
                </a:lnTo>
                <a:lnTo>
                  <a:pt x="250587" y="181182"/>
                </a:lnTo>
                <a:lnTo>
                  <a:pt x="260836" y="130418"/>
                </a:lnTo>
                <a:lnTo>
                  <a:pt x="250587" y="79653"/>
                </a:lnTo>
                <a:lnTo>
                  <a:pt x="222638" y="38198"/>
                </a:lnTo>
                <a:lnTo>
                  <a:pt x="181183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120093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442518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282004" y="561416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409789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732213" y="60223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571700" y="561416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6" y="222637"/>
                </a:lnTo>
                <a:lnTo>
                  <a:pt x="250586" y="181182"/>
                </a:lnTo>
                <a:lnTo>
                  <a:pt x="260835" y="130417"/>
                </a:lnTo>
                <a:lnTo>
                  <a:pt x="250586" y="79653"/>
                </a:lnTo>
                <a:lnTo>
                  <a:pt x="222636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571700" y="561416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962226" y="522797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249631" y="5225483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605354" y="488444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4"/>
                </a:lnTo>
                <a:lnTo>
                  <a:pt x="0" y="130418"/>
                </a:lnTo>
                <a:lnTo>
                  <a:pt x="10248" y="181183"/>
                </a:lnTo>
                <a:lnTo>
                  <a:pt x="38198" y="222638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7" y="222638"/>
                </a:lnTo>
                <a:lnTo>
                  <a:pt x="250587" y="181183"/>
                </a:lnTo>
                <a:lnTo>
                  <a:pt x="260836" y="130418"/>
                </a:lnTo>
                <a:lnTo>
                  <a:pt x="250587" y="79654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605354" y="488444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646459" y="4843779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184864" y="5107078"/>
            <a:ext cx="459105" cy="159385"/>
          </a:xfrm>
          <a:custGeom>
            <a:avLst/>
            <a:gdLst/>
            <a:ahLst/>
            <a:cxnLst/>
            <a:rect l="l" t="t" r="r" b="b"/>
            <a:pathLst>
              <a:path w="459105" h="159385">
                <a:moveTo>
                  <a:pt x="0" y="159095"/>
                </a:moveTo>
                <a:lnTo>
                  <a:pt x="45868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827991" y="5107077"/>
            <a:ext cx="460375" cy="156845"/>
          </a:xfrm>
          <a:custGeom>
            <a:avLst/>
            <a:gdLst/>
            <a:ahLst/>
            <a:cxnLst/>
            <a:rect l="l" t="t" r="r" b="b"/>
            <a:pathLst>
              <a:path w="460375" h="156845">
                <a:moveTo>
                  <a:pt x="0" y="0"/>
                </a:moveTo>
                <a:lnTo>
                  <a:pt x="459838" y="15660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767576" y="5450612"/>
            <a:ext cx="233045" cy="163830"/>
          </a:xfrm>
          <a:custGeom>
            <a:avLst/>
            <a:gdLst/>
            <a:ahLst/>
            <a:cxnLst/>
            <a:rect l="l" t="t" r="r" b="b"/>
            <a:pathLst>
              <a:path w="233044" h="163829">
                <a:moveTo>
                  <a:pt x="232849" y="0"/>
                </a:moveTo>
                <a:lnTo>
                  <a:pt x="0" y="16354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184864" y="5450612"/>
            <a:ext cx="227965" cy="163830"/>
          </a:xfrm>
          <a:custGeom>
            <a:avLst/>
            <a:gdLst/>
            <a:ahLst/>
            <a:cxnLst/>
            <a:rect l="l" t="t" r="r" b="b"/>
            <a:pathLst>
              <a:path w="227964" h="163829">
                <a:moveTo>
                  <a:pt x="0" y="0"/>
                </a:moveTo>
                <a:lnTo>
                  <a:pt x="227560" y="16354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057270" y="5448120"/>
            <a:ext cx="231140" cy="166370"/>
          </a:xfrm>
          <a:custGeom>
            <a:avLst/>
            <a:gdLst/>
            <a:ahLst/>
            <a:cxnLst/>
            <a:rect l="l" t="t" r="r" b="b"/>
            <a:pathLst>
              <a:path w="231139" h="166370">
                <a:moveTo>
                  <a:pt x="230560" y="0"/>
                </a:moveTo>
                <a:lnTo>
                  <a:pt x="0" y="1660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472270" y="5448120"/>
            <a:ext cx="229870" cy="166370"/>
          </a:xfrm>
          <a:custGeom>
            <a:avLst/>
            <a:gdLst/>
            <a:ahLst/>
            <a:cxnLst/>
            <a:rect l="l" t="t" r="r" b="b"/>
            <a:pathLst>
              <a:path w="229870" h="166370">
                <a:moveTo>
                  <a:pt x="0" y="0"/>
                </a:moveTo>
                <a:lnTo>
                  <a:pt x="229849" y="1660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605665" y="5836799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859794" y="5836799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80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250511" y="5836799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504643" y="5836799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80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895361" y="5836799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149492" y="5836799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80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540209" y="5836799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794338" y="5836799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448696" y="255651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2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6" y="222637"/>
                </a:lnTo>
                <a:lnTo>
                  <a:pt x="250586" y="181182"/>
                </a:lnTo>
                <a:lnTo>
                  <a:pt x="260835" y="130417"/>
                </a:lnTo>
                <a:lnTo>
                  <a:pt x="250586" y="79652"/>
                </a:lnTo>
                <a:lnTo>
                  <a:pt x="222636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448696" y="255651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795650" y="2542539"/>
            <a:ext cx="7013575" cy="148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9345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The node we want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embed</a:t>
            </a:r>
            <a:endParaRPr sz="1600">
              <a:latin typeface="Arial"/>
              <a:cs typeface="Arial"/>
            </a:endParaRPr>
          </a:p>
          <a:p>
            <a:pPr marL="1122680">
              <a:lnSpc>
                <a:spcPct val="100000"/>
              </a:lnSpc>
              <a:spcBef>
                <a:spcPts val="1150"/>
              </a:spcBef>
            </a:pPr>
            <a:r>
              <a:rPr dirty="0" sz="1600" spc="-5">
                <a:latin typeface="Arial"/>
                <a:cs typeface="Arial"/>
              </a:rPr>
              <a:t>The rest of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  <a:p>
            <a:pPr marL="1741805">
              <a:lnSpc>
                <a:spcPct val="100000"/>
              </a:lnSpc>
              <a:spcBef>
                <a:spcPts val="630"/>
              </a:spcBef>
              <a:tabLst>
                <a:tab pos="5789295" algn="l"/>
              </a:tabLst>
            </a:pPr>
            <a:r>
              <a:rPr dirty="0" baseline="1984" sz="2100" spc="172">
                <a:latin typeface="Cambria Math"/>
                <a:cs typeface="Cambria Math"/>
              </a:rPr>
              <a:t>𝑣</a:t>
            </a:r>
            <a:r>
              <a:rPr dirty="0" baseline="-13888" sz="1500" spc="172">
                <a:latin typeface="Cambria Math"/>
                <a:cs typeface="Cambria Math"/>
              </a:rPr>
              <a:t>!	</a:t>
            </a:r>
            <a:r>
              <a:rPr dirty="0" sz="1400" spc="114">
                <a:latin typeface="Cambria Math"/>
                <a:cs typeface="Cambria Math"/>
              </a:rPr>
              <a:t>𝑣</a:t>
            </a:r>
            <a:r>
              <a:rPr dirty="0" baseline="-16666" sz="1500" spc="172">
                <a:latin typeface="Cambria Math"/>
                <a:cs typeface="Cambria Math"/>
              </a:rPr>
              <a:t>!</a:t>
            </a:r>
            <a:endParaRPr baseline="-16666" sz="15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831330" algn="l"/>
              </a:tabLst>
            </a:pPr>
            <a:r>
              <a:rPr dirty="0" sz="1600" spc="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npu</a:t>
            </a:r>
            <a:r>
              <a:rPr dirty="0" sz="1600">
                <a:latin typeface="Arial"/>
                <a:cs typeface="Arial"/>
              </a:rPr>
              <a:t>t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g</a:t>
            </a:r>
            <a:r>
              <a:rPr dirty="0" sz="1600" spc="0">
                <a:latin typeface="Arial"/>
                <a:cs typeface="Arial"/>
              </a:rPr>
              <a:t>r</a:t>
            </a:r>
            <a:r>
              <a:rPr dirty="0" sz="1600" spc="-5">
                <a:latin typeface="Arial"/>
                <a:cs typeface="Arial"/>
              </a:rPr>
              <a:t>ap</a:t>
            </a:r>
            <a:r>
              <a:rPr dirty="0" sz="1600">
                <a:latin typeface="Arial"/>
                <a:cs typeface="Arial"/>
              </a:rPr>
              <a:t>h	</a:t>
            </a:r>
            <a:r>
              <a:rPr dirty="0" baseline="1984" sz="2100" spc="-22">
                <a:latin typeface="Cambria Math"/>
                <a:cs typeface="Cambria Math"/>
              </a:rPr>
              <a:t>𝑣</a:t>
            </a:r>
            <a:r>
              <a:rPr dirty="0" baseline="-13888" sz="1500" spc="-67">
                <a:latin typeface="Cambria Math"/>
                <a:cs typeface="Cambria Math"/>
              </a:rPr>
              <a:t>#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461465" y="294531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366949" y="5249164"/>
            <a:ext cx="13347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o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pu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ona</a:t>
            </a:r>
            <a:r>
              <a:rPr dirty="0" sz="1600">
                <a:latin typeface="Arial"/>
                <a:cs typeface="Arial"/>
              </a:rPr>
              <a:t>l  </a:t>
            </a:r>
            <a:r>
              <a:rPr dirty="0" sz="1600" spc="-5">
                <a:latin typeface="Arial"/>
                <a:cs typeface="Arial"/>
              </a:rPr>
              <a:t>graph</a:t>
            </a:r>
            <a:endParaRPr sz="160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081856" y="4885147"/>
            <a:ext cx="1505585" cy="85725"/>
          </a:xfrm>
          <a:custGeom>
            <a:avLst/>
            <a:gdLst/>
            <a:ahLst/>
            <a:cxnLst/>
            <a:rect l="l" t="t" r="r" b="b"/>
            <a:pathLst>
              <a:path w="1505585" h="85725">
                <a:moveTo>
                  <a:pt x="1419543" y="57149"/>
                </a:moveTo>
                <a:lnTo>
                  <a:pt x="1419543" y="85725"/>
                </a:lnTo>
                <a:lnTo>
                  <a:pt x="1476693" y="57150"/>
                </a:lnTo>
                <a:lnTo>
                  <a:pt x="1419543" y="57149"/>
                </a:lnTo>
                <a:close/>
              </a:path>
              <a:path w="1505585" h="85725">
                <a:moveTo>
                  <a:pt x="1419543" y="28574"/>
                </a:moveTo>
                <a:lnTo>
                  <a:pt x="1419543" y="57149"/>
                </a:lnTo>
                <a:lnTo>
                  <a:pt x="1441723" y="57148"/>
                </a:lnTo>
                <a:lnTo>
                  <a:pt x="1448118" y="50753"/>
                </a:lnTo>
                <a:lnTo>
                  <a:pt x="1448117" y="34970"/>
                </a:lnTo>
                <a:lnTo>
                  <a:pt x="1441721" y="28575"/>
                </a:lnTo>
                <a:lnTo>
                  <a:pt x="1419543" y="28574"/>
                </a:lnTo>
                <a:close/>
              </a:path>
              <a:path w="1505585" h="85725">
                <a:moveTo>
                  <a:pt x="1419543" y="0"/>
                </a:moveTo>
                <a:lnTo>
                  <a:pt x="1419543" y="28574"/>
                </a:lnTo>
                <a:lnTo>
                  <a:pt x="1433831" y="28575"/>
                </a:lnTo>
                <a:lnTo>
                  <a:pt x="1441721" y="28575"/>
                </a:lnTo>
                <a:lnTo>
                  <a:pt x="1448117" y="34970"/>
                </a:lnTo>
                <a:lnTo>
                  <a:pt x="1448118" y="50753"/>
                </a:lnTo>
                <a:lnTo>
                  <a:pt x="1441721" y="57150"/>
                </a:lnTo>
                <a:lnTo>
                  <a:pt x="1476696" y="57148"/>
                </a:lnTo>
                <a:lnTo>
                  <a:pt x="1505268" y="42862"/>
                </a:lnTo>
                <a:lnTo>
                  <a:pt x="1419543" y="0"/>
                </a:lnTo>
                <a:close/>
              </a:path>
              <a:path w="1505585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419543" y="57149"/>
                </a:lnTo>
                <a:lnTo>
                  <a:pt x="14195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01" name="object 10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2" name="object 102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25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146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5370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0">
                <a:latin typeface="Calibri"/>
                <a:cs typeface="Calibri"/>
              </a:rPr>
              <a:t>This </a:t>
            </a:r>
            <a:r>
              <a:rPr dirty="0" sz="3200" spc="-10" b="0">
                <a:latin typeface="Calibri"/>
                <a:cs typeface="Calibri"/>
              </a:rPr>
              <a:t>coloring </a:t>
            </a:r>
            <a:r>
              <a:rPr dirty="0" sz="3200" b="0">
                <a:latin typeface="Calibri"/>
                <a:cs typeface="Calibri"/>
              </a:rPr>
              <a:t>is </a:t>
            </a:r>
            <a:r>
              <a:rPr dirty="0" sz="3200" spc="-10">
                <a:solidFill>
                  <a:srgbClr val="C00000"/>
                </a:solidFill>
              </a:rPr>
              <a:t>inductive</a:t>
            </a:r>
            <a:r>
              <a:rPr dirty="0" sz="3200" spc="-10" b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15317" y="328025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2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6"/>
                </a:lnTo>
                <a:lnTo>
                  <a:pt x="79652" y="250586"/>
                </a:lnTo>
                <a:lnTo>
                  <a:pt x="130417" y="260835"/>
                </a:lnTo>
                <a:lnTo>
                  <a:pt x="181182" y="250586"/>
                </a:lnTo>
                <a:lnTo>
                  <a:pt x="222637" y="222636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2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15317" y="328025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15317" y="433971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59818" y="3803867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14861" y="3777996"/>
            <a:ext cx="1943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latin typeface="Cambria Math"/>
                <a:cs typeface="Cambria Math"/>
              </a:rPr>
              <a:t>𝑣</a:t>
            </a:r>
            <a:r>
              <a:rPr dirty="0" baseline="-16666" sz="1500" spc="270">
                <a:latin typeface="Cambria Math"/>
                <a:cs typeface="Cambria Math"/>
              </a:rPr>
              <a:t>"</a:t>
            </a:r>
            <a:endParaRPr baseline="-16666"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45734" y="3541091"/>
            <a:ext cx="0" cy="798830"/>
          </a:xfrm>
          <a:custGeom>
            <a:avLst/>
            <a:gdLst/>
            <a:ahLst/>
            <a:cxnLst/>
            <a:rect l="l" t="t" r="r" b="b"/>
            <a:pathLst>
              <a:path w="0" h="798829">
                <a:moveTo>
                  <a:pt x="0" y="0"/>
                </a:moveTo>
                <a:lnTo>
                  <a:pt x="1" y="7986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76152" y="3410673"/>
            <a:ext cx="822325" cy="431800"/>
          </a:xfrm>
          <a:custGeom>
            <a:avLst/>
            <a:gdLst/>
            <a:ahLst/>
            <a:cxnLst/>
            <a:rect l="l" t="t" r="r" b="b"/>
            <a:pathLst>
              <a:path w="822325" h="431800">
                <a:moveTo>
                  <a:pt x="0" y="0"/>
                </a:moveTo>
                <a:lnTo>
                  <a:pt x="821863" y="43139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76152" y="4026504"/>
            <a:ext cx="822325" cy="443865"/>
          </a:xfrm>
          <a:custGeom>
            <a:avLst/>
            <a:gdLst/>
            <a:ahLst/>
            <a:cxnLst/>
            <a:rect l="l" t="t" r="r" b="b"/>
            <a:pathLst>
              <a:path w="822325" h="443864">
                <a:moveTo>
                  <a:pt x="0" y="443626"/>
                </a:moveTo>
                <a:lnTo>
                  <a:pt x="821863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22842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45266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84753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2" y="250587"/>
                </a:lnTo>
                <a:lnTo>
                  <a:pt x="222637" y="222637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3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684753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726653" y="5578347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3888" sz="1800" spc="525">
                <a:latin typeface="Cambria Math"/>
                <a:cs typeface="Cambria Math"/>
              </a:rPr>
              <a:t>!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12539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34962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130417" y="0"/>
                </a:moveTo>
                <a:lnTo>
                  <a:pt x="79653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8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3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7" y="222637"/>
                </a:lnTo>
                <a:lnTo>
                  <a:pt x="250587" y="181182"/>
                </a:lnTo>
                <a:lnTo>
                  <a:pt x="260836" y="130418"/>
                </a:lnTo>
                <a:lnTo>
                  <a:pt x="250587" y="79653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34962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74450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013205" y="5578347"/>
            <a:ext cx="22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3888" sz="1800" spc="-75">
                <a:latin typeface="Cambria Math"/>
                <a:cs typeface="Cambria Math"/>
              </a:rPr>
              <a:t>#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67690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8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3" y="250587"/>
                </a:lnTo>
                <a:lnTo>
                  <a:pt x="222638" y="222637"/>
                </a:lnTo>
                <a:lnTo>
                  <a:pt x="250587" y="181182"/>
                </a:lnTo>
                <a:lnTo>
                  <a:pt x="260836" y="130418"/>
                </a:lnTo>
                <a:lnTo>
                  <a:pt x="250587" y="79653"/>
                </a:lnTo>
                <a:lnTo>
                  <a:pt x="222638" y="38198"/>
                </a:lnTo>
                <a:lnTo>
                  <a:pt x="181183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67690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490113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29602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369151" y="5578347"/>
            <a:ext cx="22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3888" sz="1800" spc="322">
                <a:latin typeface="Cambria Math"/>
                <a:cs typeface="Cambria Math"/>
              </a:rPr>
              <a:t>"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57386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79810" y="602589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561598" y="5986779"/>
            <a:ext cx="24809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3888" sz="1800" spc="-52">
                <a:latin typeface="Cambria Math"/>
                <a:cs typeface="Cambria Math"/>
              </a:rPr>
              <a:t>#   </a:t>
            </a: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3888" sz="1800" spc="150">
                <a:latin typeface="Cambria Math"/>
                <a:cs typeface="Cambria Math"/>
              </a:rPr>
              <a:t>"  </a:t>
            </a: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3888" sz="1800" spc="225">
                <a:latin typeface="Cambria Math"/>
                <a:cs typeface="Cambria Math"/>
              </a:rPr>
              <a:t>!  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3888" sz="1800" spc="-52">
                <a:latin typeface="Cambria Math"/>
                <a:cs typeface="Cambria Math"/>
              </a:rPr>
              <a:t>#   </a:t>
            </a: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3888" sz="1800" spc="150">
                <a:latin typeface="Cambria Math"/>
                <a:cs typeface="Cambria Math"/>
              </a:rPr>
              <a:t>"  </a:t>
            </a: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3888" sz="1800" spc="225">
                <a:latin typeface="Cambria Math"/>
                <a:cs typeface="Cambria Math"/>
              </a:rPr>
              <a:t>!  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3888" sz="1800" spc="-52">
                <a:latin typeface="Cambria Math"/>
                <a:cs typeface="Cambria Math"/>
              </a:rPr>
              <a:t># </a:t>
            </a:r>
            <a:r>
              <a:rPr dirty="0" baseline="-13888" sz="1800" spc="262">
                <a:latin typeface="Cambria Math"/>
                <a:cs typeface="Cambria Math"/>
              </a:rPr>
              <a:t> </a:t>
            </a: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3888" sz="1800" spc="150">
                <a:latin typeface="Cambria Math"/>
                <a:cs typeface="Cambria Math"/>
              </a:rPr>
              <a:t>"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619297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3" y="250587"/>
                </a:lnTo>
                <a:lnTo>
                  <a:pt x="222638" y="222637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3"/>
                </a:lnTo>
                <a:lnTo>
                  <a:pt x="222638" y="38198"/>
                </a:lnTo>
                <a:lnTo>
                  <a:pt x="181183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19297" y="56176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7661197" y="5578347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3888" sz="1800" spc="525">
                <a:latin typeface="Cambria Math"/>
                <a:cs typeface="Cambria Math"/>
              </a:rPr>
              <a:t>!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09822" y="523149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048578" y="5191252"/>
            <a:ext cx="22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6203" sz="1800" spc="-75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297228" y="522900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336778" y="5188203"/>
            <a:ext cx="22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6203" sz="1800" spc="322">
                <a:latin typeface="Cambria Math"/>
                <a:cs typeface="Cambria Math"/>
              </a:rPr>
              <a:t>"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652950" y="4887964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4"/>
                </a:lnTo>
                <a:lnTo>
                  <a:pt x="0" y="130418"/>
                </a:lnTo>
                <a:lnTo>
                  <a:pt x="10248" y="181183"/>
                </a:lnTo>
                <a:lnTo>
                  <a:pt x="38198" y="222638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2" y="250587"/>
                </a:lnTo>
                <a:lnTo>
                  <a:pt x="222637" y="222638"/>
                </a:lnTo>
                <a:lnTo>
                  <a:pt x="250587" y="181183"/>
                </a:lnTo>
                <a:lnTo>
                  <a:pt x="260836" y="130418"/>
                </a:lnTo>
                <a:lnTo>
                  <a:pt x="250587" y="79654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652950" y="4887964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4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232461" y="5110602"/>
            <a:ext cx="459105" cy="159385"/>
          </a:xfrm>
          <a:custGeom>
            <a:avLst/>
            <a:gdLst/>
            <a:ahLst/>
            <a:cxnLst/>
            <a:rect l="l" t="t" r="r" b="b"/>
            <a:pathLst>
              <a:path w="459104" h="159385">
                <a:moveTo>
                  <a:pt x="0" y="159095"/>
                </a:moveTo>
                <a:lnTo>
                  <a:pt x="45868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875589" y="5110602"/>
            <a:ext cx="460375" cy="156845"/>
          </a:xfrm>
          <a:custGeom>
            <a:avLst/>
            <a:gdLst/>
            <a:ahLst/>
            <a:cxnLst/>
            <a:rect l="l" t="t" r="r" b="b"/>
            <a:pathLst>
              <a:path w="460375" h="156845">
                <a:moveTo>
                  <a:pt x="0" y="0"/>
                </a:moveTo>
                <a:lnTo>
                  <a:pt x="459838" y="15660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15172" y="5454136"/>
            <a:ext cx="233045" cy="163830"/>
          </a:xfrm>
          <a:custGeom>
            <a:avLst/>
            <a:gdLst/>
            <a:ahLst/>
            <a:cxnLst/>
            <a:rect l="l" t="t" r="r" b="b"/>
            <a:pathLst>
              <a:path w="233045" h="163829">
                <a:moveTo>
                  <a:pt x="232849" y="0"/>
                </a:moveTo>
                <a:lnTo>
                  <a:pt x="0" y="16354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232461" y="5454136"/>
            <a:ext cx="227965" cy="163830"/>
          </a:xfrm>
          <a:custGeom>
            <a:avLst/>
            <a:gdLst/>
            <a:ahLst/>
            <a:cxnLst/>
            <a:rect l="l" t="t" r="r" b="b"/>
            <a:pathLst>
              <a:path w="227964" h="163829">
                <a:moveTo>
                  <a:pt x="0" y="0"/>
                </a:moveTo>
                <a:lnTo>
                  <a:pt x="227560" y="16354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104867" y="5451645"/>
            <a:ext cx="231140" cy="166370"/>
          </a:xfrm>
          <a:custGeom>
            <a:avLst/>
            <a:gdLst/>
            <a:ahLst/>
            <a:cxnLst/>
            <a:rect l="l" t="t" r="r" b="b"/>
            <a:pathLst>
              <a:path w="231140" h="166370">
                <a:moveTo>
                  <a:pt x="230560" y="0"/>
                </a:moveTo>
                <a:lnTo>
                  <a:pt x="0" y="1660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19866" y="5451645"/>
            <a:ext cx="229870" cy="166370"/>
          </a:xfrm>
          <a:custGeom>
            <a:avLst/>
            <a:gdLst/>
            <a:ahLst/>
            <a:cxnLst/>
            <a:rect l="l" t="t" r="r" b="b"/>
            <a:pathLst>
              <a:path w="229870" h="166370">
                <a:moveTo>
                  <a:pt x="0" y="0"/>
                </a:moveTo>
                <a:lnTo>
                  <a:pt x="229849" y="1660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653261" y="584032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07392" y="584032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298109" y="584032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52239" y="584032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942958" y="584032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197088" y="584032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587805" y="584032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41936" y="584032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765006" y="4289044"/>
            <a:ext cx="3147695" cy="827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70"/>
              </a:lnSpc>
              <a:spcBef>
                <a:spcPts val="100"/>
              </a:spcBef>
              <a:tabLst>
                <a:tab pos="2817495" algn="l"/>
              </a:tabLst>
            </a:pPr>
            <a:r>
              <a:rPr dirty="0" baseline="1736" sz="2400" spc="-7" b="1">
                <a:solidFill>
                  <a:srgbClr val="0070C0"/>
                </a:solidFill>
                <a:latin typeface="Arial"/>
                <a:cs typeface="Arial"/>
              </a:rPr>
              <a:t>Permute the</a:t>
            </a:r>
            <a:r>
              <a:rPr dirty="0" baseline="1736" sz="2400" spc="37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baseline="1736" sz="2400" spc="-7" b="1">
                <a:solidFill>
                  <a:srgbClr val="0070C0"/>
                </a:solidFill>
                <a:latin typeface="Arial"/>
                <a:cs typeface="Arial"/>
              </a:rPr>
              <a:t>node</a:t>
            </a:r>
            <a:r>
              <a:rPr dirty="0" baseline="1736" sz="2400" spc="7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baseline="1736" sz="2400" spc="-7" b="1">
                <a:solidFill>
                  <a:srgbClr val="0070C0"/>
                </a:solidFill>
                <a:latin typeface="Arial"/>
                <a:cs typeface="Arial"/>
              </a:rPr>
              <a:t>ordering	</a:t>
            </a:r>
            <a:r>
              <a:rPr dirty="0" sz="1400" spc="-30">
                <a:latin typeface="Cambria Math"/>
                <a:cs typeface="Cambria Math"/>
              </a:rPr>
              <a:t>𝑣</a:t>
            </a:r>
            <a:r>
              <a:rPr dirty="0" baseline="-16666" sz="1500" spc="-44">
                <a:latin typeface="Cambria Math"/>
                <a:cs typeface="Cambria Math"/>
              </a:rPr>
              <a:t>#</a:t>
            </a:r>
            <a:endParaRPr baseline="-16666" sz="1500">
              <a:latin typeface="Cambria Math"/>
              <a:cs typeface="Cambria Math"/>
            </a:endParaRPr>
          </a:p>
          <a:p>
            <a:pPr marL="12700">
              <a:lnSpc>
                <a:spcPts val="1870"/>
              </a:lnSpc>
            </a:pPr>
            <a:r>
              <a:rPr dirty="0" sz="1600" spc="-5">
                <a:solidFill>
                  <a:srgbClr val="0070C0"/>
                </a:solidFill>
                <a:latin typeface="Arial"/>
                <a:cs typeface="Arial"/>
              </a:rPr>
              <a:t>between </a:t>
            </a:r>
            <a:r>
              <a:rPr dirty="0" sz="1600" spc="100">
                <a:solidFill>
                  <a:srgbClr val="0070C0"/>
                </a:solidFill>
                <a:latin typeface="Cambria Math"/>
                <a:cs typeface="Cambria Math"/>
              </a:rPr>
              <a:t>𝑣</a:t>
            </a:r>
            <a:r>
              <a:rPr dirty="0" baseline="-13888" sz="1800" spc="150">
                <a:solidFill>
                  <a:srgbClr val="0070C0"/>
                </a:solidFill>
                <a:latin typeface="Cambria Math"/>
                <a:cs typeface="Cambria Math"/>
              </a:rPr>
              <a:t>" </a:t>
            </a:r>
            <a:r>
              <a:rPr dirty="0" sz="1600" spc="-5">
                <a:solidFill>
                  <a:srgbClr val="0070C0"/>
                </a:solidFill>
                <a:latin typeface="Arial"/>
                <a:cs typeface="Arial"/>
              </a:rPr>
              <a:t>and</a:t>
            </a:r>
            <a:r>
              <a:rPr dirty="0" sz="1600" spc="-6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600" spc="-35">
                <a:solidFill>
                  <a:srgbClr val="0070C0"/>
                </a:solidFill>
                <a:latin typeface="Cambria Math"/>
                <a:cs typeface="Cambria Math"/>
              </a:rPr>
              <a:t>𝑣</a:t>
            </a:r>
            <a:r>
              <a:rPr dirty="0" baseline="-13888" sz="1800" spc="-52">
                <a:solidFill>
                  <a:srgbClr val="0070C0"/>
                </a:solidFill>
                <a:latin typeface="Cambria Math"/>
                <a:cs typeface="Cambria Math"/>
              </a:rPr>
              <a:t>#</a:t>
            </a:r>
            <a:endParaRPr baseline="-13888" sz="18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645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448696" y="255651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2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6" y="222637"/>
                </a:lnTo>
                <a:lnTo>
                  <a:pt x="250586" y="181182"/>
                </a:lnTo>
                <a:lnTo>
                  <a:pt x="260835" y="130417"/>
                </a:lnTo>
                <a:lnTo>
                  <a:pt x="250586" y="79652"/>
                </a:lnTo>
                <a:lnTo>
                  <a:pt x="222636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448696" y="255651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461465" y="294531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366949" y="5249164"/>
            <a:ext cx="13347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5">
                <a:latin typeface="Arial"/>
                <a:cs typeface="Arial"/>
              </a:rPr>
              <a:t>o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pu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5">
                <a:latin typeface="Arial"/>
                <a:cs typeface="Arial"/>
              </a:rPr>
              <a:t>a</a:t>
            </a:r>
            <a:r>
              <a:rPr dirty="0" sz="1600" spc="0">
                <a:latin typeface="Arial"/>
                <a:cs typeface="Arial"/>
              </a:rPr>
              <a:t>t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ona</a:t>
            </a:r>
            <a:r>
              <a:rPr dirty="0" sz="1600">
                <a:latin typeface="Arial"/>
                <a:cs typeface="Arial"/>
              </a:rPr>
              <a:t>l  </a:t>
            </a:r>
            <a:r>
              <a:rPr dirty="0" sz="1600" spc="-5">
                <a:latin typeface="Arial"/>
                <a:cs typeface="Arial"/>
              </a:rPr>
              <a:t>graph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081856" y="4885147"/>
            <a:ext cx="1505585" cy="85725"/>
          </a:xfrm>
          <a:custGeom>
            <a:avLst/>
            <a:gdLst/>
            <a:ahLst/>
            <a:cxnLst/>
            <a:rect l="l" t="t" r="r" b="b"/>
            <a:pathLst>
              <a:path w="1505585" h="85725">
                <a:moveTo>
                  <a:pt x="1419543" y="57149"/>
                </a:moveTo>
                <a:lnTo>
                  <a:pt x="1419543" y="85725"/>
                </a:lnTo>
                <a:lnTo>
                  <a:pt x="1476693" y="57150"/>
                </a:lnTo>
                <a:lnTo>
                  <a:pt x="1419543" y="57149"/>
                </a:lnTo>
                <a:close/>
              </a:path>
              <a:path w="1505585" h="85725">
                <a:moveTo>
                  <a:pt x="1419543" y="28574"/>
                </a:moveTo>
                <a:lnTo>
                  <a:pt x="1419543" y="57149"/>
                </a:lnTo>
                <a:lnTo>
                  <a:pt x="1441723" y="57148"/>
                </a:lnTo>
                <a:lnTo>
                  <a:pt x="1448118" y="50753"/>
                </a:lnTo>
                <a:lnTo>
                  <a:pt x="1448117" y="34970"/>
                </a:lnTo>
                <a:lnTo>
                  <a:pt x="1441721" y="28575"/>
                </a:lnTo>
                <a:lnTo>
                  <a:pt x="1419543" y="28574"/>
                </a:lnTo>
                <a:close/>
              </a:path>
              <a:path w="1505585" h="85725">
                <a:moveTo>
                  <a:pt x="1419543" y="0"/>
                </a:moveTo>
                <a:lnTo>
                  <a:pt x="1419543" y="28574"/>
                </a:lnTo>
                <a:lnTo>
                  <a:pt x="1433831" y="28575"/>
                </a:lnTo>
                <a:lnTo>
                  <a:pt x="1441721" y="28575"/>
                </a:lnTo>
                <a:lnTo>
                  <a:pt x="1448117" y="34970"/>
                </a:lnTo>
                <a:lnTo>
                  <a:pt x="1448118" y="50753"/>
                </a:lnTo>
                <a:lnTo>
                  <a:pt x="1441721" y="57150"/>
                </a:lnTo>
                <a:lnTo>
                  <a:pt x="1476696" y="57148"/>
                </a:lnTo>
                <a:lnTo>
                  <a:pt x="1505268" y="42862"/>
                </a:lnTo>
                <a:lnTo>
                  <a:pt x="1419543" y="0"/>
                </a:lnTo>
                <a:close/>
              </a:path>
              <a:path w="1505585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419543" y="57149"/>
                </a:lnTo>
                <a:lnTo>
                  <a:pt x="14195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512990" y="328798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4"/>
                </a:lnTo>
                <a:lnTo>
                  <a:pt x="0" y="130418"/>
                </a:lnTo>
                <a:lnTo>
                  <a:pt x="10248" y="181183"/>
                </a:lnTo>
                <a:lnTo>
                  <a:pt x="38198" y="222638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7" y="222638"/>
                </a:lnTo>
                <a:lnTo>
                  <a:pt x="250587" y="181183"/>
                </a:lnTo>
                <a:lnTo>
                  <a:pt x="260836" y="130418"/>
                </a:lnTo>
                <a:lnTo>
                  <a:pt x="250587" y="79654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512990" y="3287985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512990" y="4347442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568033" y="4323588"/>
            <a:ext cx="1943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latin typeface="Cambria Math"/>
                <a:cs typeface="Cambria Math"/>
              </a:rPr>
              <a:t>𝑣</a:t>
            </a:r>
            <a:r>
              <a:rPr dirty="0" baseline="-16666" sz="1500" spc="270">
                <a:latin typeface="Cambria Math"/>
                <a:cs typeface="Cambria Math"/>
              </a:rPr>
              <a:t>"</a:t>
            </a:r>
            <a:endParaRPr baseline="-16666" sz="1500">
              <a:latin typeface="Cambria Math"/>
              <a:cs typeface="Cambria Math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557492" y="3811597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795650" y="1920747"/>
            <a:ext cx="6322695" cy="2110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76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448309" algn="l"/>
              </a:tabLst>
            </a:pPr>
            <a:r>
              <a:rPr dirty="0" sz="2800" spc="-5">
                <a:latin typeface="Calibri"/>
                <a:cs typeface="Calibri"/>
              </a:rPr>
              <a:t>It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invariant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80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ordering/identities</a:t>
            </a:r>
            <a:endParaRPr sz="2800">
              <a:latin typeface="Calibri"/>
              <a:cs typeface="Calibri"/>
            </a:endParaRPr>
          </a:p>
          <a:p>
            <a:pPr marL="1122680" marR="2642235" indent="-13335">
              <a:lnSpc>
                <a:spcPct val="160000"/>
              </a:lnSpc>
              <a:spcBef>
                <a:spcPts val="384"/>
              </a:spcBef>
            </a:pPr>
            <a:r>
              <a:rPr dirty="0" sz="1600" spc="-5">
                <a:latin typeface="Arial"/>
                <a:cs typeface="Arial"/>
              </a:rPr>
              <a:t>The node we want </a:t>
            </a:r>
            <a:r>
              <a:rPr dirty="0" sz="1600">
                <a:latin typeface="Arial"/>
                <a:cs typeface="Arial"/>
              </a:rPr>
              <a:t>to </a:t>
            </a:r>
            <a:r>
              <a:rPr dirty="0" sz="1600" spc="-5">
                <a:latin typeface="Arial"/>
                <a:cs typeface="Arial"/>
              </a:rPr>
              <a:t>embed  The rest of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  <a:p>
            <a:pPr marL="1786889">
              <a:lnSpc>
                <a:spcPct val="100000"/>
              </a:lnSpc>
              <a:spcBef>
                <a:spcPts val="680"/>
              </a:spcBef>
              <a:tabLst>
                <a:tab pos="5789295" algn="l"/>
              </a:tabLst>
            </a:pPr>
            <a:r>
              <a:rPr dirty="0" sz="1400" spc="114">
                <a:latin typeface="Cambria Math"/>
                <a:cs typeface="Cambria Math"/>
              </a:rPr>
              <a:t>𝑣</a:t>
            </a:r>
            <a:r>
              <a:rPr dirty="0" baseline="-16666" sz="1500" spc="172">
                <a:latin typeface="Cambria Math"/>
                <a:cs typeface="Cambria Math"/>
              </a:rPr>
              <a:t>!	</a:t>
            </a:r>
            <a:r>
              <a:rPr dirty="0" baseline="1984" sz="2100" spc="172">
                <a:latin typeface="Cambria Math"/>
                <a:cs typeface="Cambria Math"/>
              </a:rPr>
              <a:t>𝑣</a:t>
            </a:r>
            <a:r>
              <a:rPr dirty="0" baseline="-13888" sz="1500" spc="172">
                <a:latin typeface="Cambria Math"/>
                <a:cs typeface="Cambria Math"/>
              </a:rPr>
              <a:t>!</a:t>
            </a:r>
            <a:endParaRPr baseline="-13888" sz="15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828925" algn="l"/>
              </a:tabLst>
            </a:pPr>
            <a:r>
              <a:rPr dirty="0" sz="1600" spc="-5">
                <a:latin typeface="Arial"/>
                <a:cs typeface="Arial"/>
              </a:rPr>
              <a:t>Input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graph	</a:t>
            </a:r>
            <a:r>
              <a:rPr dirty="0" sz="1400" spc="-30">
                <a:latin typeface="Cambria Math"/>
                <a:cs typeface="Cambria Math"/>
              </a:rPr>
              <a:t>𝑣</a:t>
            </a:r>
            <a:r>
              <a:rPr dirty="0" baseline="-16666" sz="1500" spc="-44">
                <a:latin typeface="Cambria Math"/>
                <a:cs typeface="Cambria Math"/>
              </a:rPr>
              <a:t>#</a:t>
            </a:r>
            <a:endParaRPr baseline="-16666" sz="1500">
              <a:latin typeface="Cambria Math"/>
              <a:cs typeface="Cambria Math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643408" y="3548823"/>
            <a:ext cx="0" cy="798830"/>
          </a:xfrm>
          <a:custGeom>
            <a:avLst/>
            <a:gdLst/>
            <a:ahLst/>
            <a:cxnLst/>
            <a:rect l="l" t="t" r="r" b="b"/>
            <a:pathLst>
              <a:path w="0" h="798829">
                <a:moveTo>
                  <a:pt x="0" y="0"/>
                </a:moveTo>
                <a:lnTo>
                  <a:pt x="1" y="7986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773827" y="3418404"/>
            <a:ext cx="822325" cy="431800"/>
          </a:xfrm>
          <a:custGeom>
            <a:avLst/>
            <a:gdLst/>
            <a:ahLst/>
            <a:cxnLst/>
            <a:rect l="l" t="t" r="r" b="b"/>
            <a:pathLst>
              <a:path w="822325" h="431800">
                <a:moveTo>
                  <a:pt x="0" y="0"/>
                </a:moveTo>
                <a:lnTo>
                  <a:pt x="821863" y="43139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773827" y="4034236"/>
            <a:ext cx="822325" cy="443865"/>
          </a:xfrm>
          <a:custGeom>
            <a:avLst/>
            <a:gdLst/>
            <a:ahLst/>
            <a:cxnLst/>
            <a:rect l="l" t="t" r="r" b="b"/>
            <a:pathLst>
              <a:path w="822325" h="443864">
                <a:moveTo>
                  <a:pt x="0" y="443626"/>
                </a:moveTo>
                <a:lnTo>
                  <a:pt x="821863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2649194" y="6126988"/>
            <a:ext cx="2933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…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520516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842941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682427" y="562541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3" y="250587"/>
                </a:lnTo>
                <a:lnTo>
                  <a:pt x="222638" y="222637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3"/>
                </a:lnTo>
                <a:lnTo>
                  <a:pt x="222638" y="38198"/>
                </a:lnTo>
                <a:lnTo>
                  <a:pt x="181183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682427" y="562541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810212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132636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8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4" y="250587"/>
                </a:lnTo>
                <a:lnTo>
                  <a:pt x="130418" y="260836"/>
                </a:lnTo>
                <a:lnTo>
                  <a:pt x="181182" y="250587"/>
                </a:lnTo>
                <a:lnTo>
                  <a:pt x="222637" y="222637"/>
                </a:lnTo>
                <a:lnTo>
                  <a:pt x="250587" y="181182"/>
                </a:lnTo>
                <a:lnTo>
                  <a:pt x="260836" y="130418"/>
                </a:lnTo>
                <a:lnTo>
                  <a:pt x="250587" y="79653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132636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972123" y="562541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165365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8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6" y="222637"/>
                </a:lnTo>
                <a:lnTo>
                  <a:pt x="250586" y="181182"/>
                </a:lnTo>
                <a:lnTo>
                  <a:pt x="260835" y="130418"/>
                </a:lnTo>
                <a:lnTo>
                  <a:pt x="250586" y="79653"/>
                </a:lnTo>
                <a:lnTo>
                  <a:pt x="222636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65365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487789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1559272" y="5992876"/>
            <a:ext cx="18338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6203" sz="1800" spc="150">
                <a:latin typeface="Cambria Math"/>
                <a:cs typeface="Cambria Math"/>
              </a:rPr>
              <a:t>"  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6203" sz="1800" spc="-52">
                <a:latin typeface="Cambria Math"/>
                <a:cs typeface="Cambria Math"/>
              </a:rPr>
              <a:t>#   </a:t>
            </a: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6203" sz="1800" spc="225">
                <a:latin typeface="Cambria Math"/>
                <a:cs typeface="Cambria Math"/>
              </a:rPr>
              <a:t>!  </a:t>
            </a: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6203" sz="1800" spc="150">
                <a:latin typeface="Cambria Math"/>
                <a:cs typeface="Cambria Math"/>
              </a:rPr>
              <a:t>"  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6203" sz="1800" spc="-52">
                <a:latin typeface="Cambria Math"/>
                <a:cs typeface="Cambria Math"/>
              </a:rPr>
              <a:t># </a:t>
            </a:r>
            <a:r>
              <a:rPr dirty="0" baseline="-16203" sz="1800" spc="277">
                <a:latin typeface="Cambria Math"/>
                <a:cs typeface="Cambria Math"/>
              </a:rPr>
              <a:t> </a:t>
            </a: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6203" sz="1800" spc="2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2327276" y="562541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455060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777485" y="6033629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616972" y="562541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7" y="0"/>
                </a:moveTo>
                <a:lnTo>
                  <a:pt x="79652" y="10248"/>
                </a:lnTo>
                <a:lnTo>
                  <a:pt x="38198" y="38198"/>
                </a:lnTo>
                <a:lnTo>
                  <a:pt x="10248" y="79653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7"/>
                </a:lnTo>
                <a:lnTo>
                  <a:pt x="79652" y="250587"/>
                </a:lnTo>
                <a:lnTo>
                  <a:pt x="130417" y="260836"/>
                </a:lnTo>
                <a:lnTo>
                  <a:pt x="181182" y="250587"/>
                </a:lnTo>
                <a:lnTo>
                  <a:pt x="222636" y="222637"/>
                </a:lnTo>
                <a:lnTo>
                  <a:pt x="250586" y="181182"/>
                </a:lnTo>
                <a:lnTo>
                  <a:pt x="260835" y="130417"/>
                </a:lnTo>
                <a:lnTo>
                  <a:pt x="250586" y="79653"/>
                </a:lnTo>
                <a:lnTo>
                  <a:pt x="222636" y="38198"/>
                </a:lnTo>
                <a:lnTo>
                  <a:pt x="181182" y="10248"/>
                </a:lnTo>
                <a:lnTo>
                  <a:pt x="13041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616972" y="562541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3493815" y="5584444"/>
            <a:ext cx="546100" cy="678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600" spc="150">
                <a:latin typeface="Cambria Math"/>
                <a:cs typeface="Cambria Math"/>
              </a:rPr>
              <a:t>𝑣</a:t>
            </a:r>
            <a:r>
              <a:rPr dirty="0" baseline="-16203" sz="1800" spc="2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6203" sz="1800" spc="150">
                <a:latin typeface="Cambria Math"/>
                <a:cs typeface="Cambria Math"/>
              </a:rPr>
              <a:t>"</a:t>
            </a:r>
            <a:r>
              <a:rPr dirty="0" baseline="-16203" sz="1800" spc="577">
                <a:latin typeface="Cambria Math"/>
                <a:cs typeface="Cambria Math"/>
              </a:rPr>
              <a:t> </a:t>
            </a:r>
            <a:r>
              <a:rPr dirty="0" sz="1600" spc="-35">
                <a:latin typeface="Cambria Math"/>
                <a:cs typeface="Cambria Math"/>
              </a:rPr>
              <a:t>𝑣</a:t>
            </a:r>
            <a:r>
              <a:rPr dirty="0" baseline="-16203" sz="1800" spc="-52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2007496" y="5239230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724327" y="5060188"/>
            <a:ext cx="1509395" cy="79375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334010">
              <a:lnSpc>
                <a:spcPct val="100000"/>
              </a:lnSpc>
              <a:spcBef>
                <a:spcPts val="1205"/>
              </a:spcBef>
            </a:pPr>
            <a:r>
              <a:rPr dirty="0" sz="1600" spc="100">
                <a:latin typeface="Cambria Math"/>
                <a:cs typeface="Cambria Math"/>
              </a:rPr>
              <a:t>𝑣</a:t>
            </a:r>
            <a:r>
              <a:rPr dirty="0" baseline="-13888" sz="1800" spc="150">
                <a:latin typeface="Cambria Math"/>
                <a:cs typeface="Cambria Math"/>
              </a:rPr>
              <a:t>"</a:t>
            </a:r>
            <a:endParaRPr baseline="-13888"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654685" algn="l"/>
                <a:tab pos="1298575" algn="l"/>
              </a:tabLst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r>
              <a:rPr dirty="0" baseline="-16203" sz="1800">
                <a:latin typeface="Cambria Math"/>
                <a:cs typeface="Cambria Math"/>
              </a:rPr>
              <a:t>	</a:t>
            </a: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6203" sz="1800" spc="-75">
                <a:latin typeface="Cambria Math"/>
                <a:cs typeface="Cambria Math"/>
              </a:rPr>
              <a:t>#</a:t>
            </a:r>
            <a:r>
              <a:rPr dirty="0" baseline="-16203" sz="1800">
                <a:latin typeface="Cambria Math"/>
                <a:cs typeface="Cambria Math"/>
              </a:rPr>
              <a:t>	</a:t>
            </a: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6203" sz="1800" spc="322">
                <a:latin typeface="Cambria Math"/>
                <a:cs typeface="Cambria Math"/>
              </a:rPr>
              <a:t>"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294903" y="5236738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3334452" y="5197347"/>
            <a:ext cx="22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Cambria Math"/>
                <a:cs typeface="Cambria Math"/>
              </a:rPr>
              <a:t>𝑣</a:t>
            </a:r>
            <a:r>
              <a:rPr dirty="0" baseline="-13888" sz="1800" spc="-75">
                <a:latin typeface="Cambria Math"/>
                <a:cs typeface="Cambria Math"/>
              </a:rPr>
              <a:t>#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650624" y="489569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130418" y="0"/>
                </a:moveTo>
                <a:lnTo>
                  <a:pt x="79654" y="10248"/>
                </a:lnTo>
                <a:lnTo>
                  <a:pt x="38198" y="38198"/>
                </a:lnTo>
                <a:lnTo>
                  <a:pt x="10248" y="79652"/>
                </a:lnTo>
                <a:lnTo>
                  <a:pt x="0" y="130417"/>
                </a:lnTo>
                <a:lnTo>
                  <a:pt x="10248" y="181182"/>
                </a:lnTo>
                <a:lnTo>
                  <a:pt x="38198" y="222636"/>
                </a:lnTo>
                <a:lnTo>
                  <a:pt x="79654" y="250586"/>
                </a:lnTo>
                <a:lnTo>
                  <a:pt x="130418" y="260835"/>
                </a:lnTo>
                <a:lnTo>
                  <a:pt x="181182" y="250586"/>
                </a:lnTo>
                <a:lnTo>
                  <a:pt x="222637" y="222636"/>
                </a:lnTo>
                <a:lnTo>
                  <a:pt x="250587" y="181182"/>
                </a:lnTo>
                <a:lnTo>
                  <a:pt x="260836" y="130417"/>
                </a:lnTo>
                <a:lnTo>
                  <a:pt x="250587" y="79652"/>
                </a:lnTo>
                <a:lnTo>
                  <a:pt x="222637" y="38198"/>
                </a:lnTo>
                <a:lnTo>
                  <a:pt x="181182" y="10248"/>
                </a:lnTo>
                <a:lnTo>
                  <a:pt x="13041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650624" y="489569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5">
                <a:moveTo>
                  <a:pt x="0" y="130418"/>
                </a:moveTo>
                <a:lnTo>
                  <a:pt x="10248" y="79653"/>
                </a:lnTo>
                <a:lnTo>
                  <a:pt x="38198" y="38198"/>
                </a:lnTo>
                <a:lnTo>
                  <a:pt x="79653" y="10248"/>
                </a:lnTo>
                <a:lnTo>
                  <a:pt x="130418" y="0"/>
                </a:lnTo>
                <a:lnTo>
                  <a:pt x="181182" y="10248"/>
                </a:lnTo>
                <a:lnTo>
                  <a:pt x="222637" y="38198"/>
                </a:lnTo>
                <a:lnTo>
                  <a:pt x="250587" y="79653"/>
                </a:lnTo>
                <a:lnTo>
                  <a:pt x="260836" y="130418"/>
                </a:lnTo>
                <a:lnTo>
                  <a:pt x="250587" y="181182"/>
                </a:lnTo>
                <a:lnTo>
                  <a:pt x="222637" y="222637"/>
                </a:lnTo>
                <a:lnTo>
                  <a:pt x="181182" y="250587"/>
                </a:lnTo>
                <a:lnTo>
                  <a:pt x="130418" y="260836"/>
                </a:lnTo>
                <a:lnTo>
                  <a:pt x="79653" y="250587"/>
                </a:lnTo>
                <a:lnTo>
                  <a:pt x="38198" y="222637"/>
                </a:lnTo>
                <a:lnTo>
                  <a:pt x="10248" y="181182"/>
                </a:lnTo>
                <a:lnTo>
                  <a:pt x="0" y="13041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2691729" y="4855972"/>
            <a:ext cx="2184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 Math"/>
                <a:cs typeface="Cambria Math"/>
              </a:rPr>
              <a:t>𝑣</a:t>
            </a:r>
            <a:r>
              <a:rPr dirty="0" baseline="-16203" sz="1800" spc="525">
                <a:latin typeface="Cambria Math"/>
                <a:cs typeface="Cambria Math"/>
              </a:rPr>
              <a:t>!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2230136" y="5118332"/>
            <a:ext cx="459105" cy="159385"/>
          </a:xfrm>
          <a:custGeom>
            <a:avLst/>
            <a:gdLst/>
            <a:ahLst/>
            <a:cxnLst/>
            <a:rect l="l" t="t" r="r" b="b"/>
            <a:pathLst>
              <a:path w="459105" h="159385">
                <a:moveTo>
                  <a:pt x="0" y="159095"/>
                </a:moveTo>
                <a:lnTo>
                  <a:pt x="45868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873263" y="5118333"/>
            <a:ext cx="460375" cy="156845"/>
          </a:xfrm>
          <a:custGeom>
            <a:avLst/>
            <a:gdLst/>
            <a:ahLst/>
            <a:cxnLst/>
            <a:rect l="l" t="t" r="r" b="b"/>
            <a:pathLst>
              <a:path w="460375" h="156845">
                <a:moveTo>
                  <a:pt x="0" y="0"/>
                </a:moveTo>
                <a:lnTo>
                  <a:pt x="459838" y="15660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1812846" y="5461867"/>
            <a:ext cx="233045" cy="163830"/>
          </a:xfrm>
          <a:custGeom>
            <a:avLst/>
            <a:gdLst/>
            <a:ahLst/>
            <a:cxnLst/>
            <a:rect l="l" t="t" r="r" b="b"/>
            <a:pathLst>
              <a:path w="233044" h="163829">
                <a:moveTo>
                  <a:pt x="232849" y="0"/>
                </a:moveTo>
                <a:lnTo>
                  <a:pt x="0" y="16354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230136" y="5461867"/>
            <a:ext cx="227965" cy="163830"/>
          </a:xfrm>
          <a:custGeom>
            <a:avLst/>
            <a:gdLst/>
            <a:ahLst/>
            <a:cxnLst/>
            <a:rect l="l" t="t" r="r" b="b"/>
            <a:pathLst>
              <a:path w="227964" h="163829">
                <a:moveTo>
                  <a:pt x="0" y="0"/>
                </a:moveTo>
                <a:lnTo>
                  <a:pt x="227560" y="16354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102542" y="5459375"/>
            <a:ext cx="231140" cy="166370"/>
          </a:xfrm>
          <a:custGeom>
            <a:avLst/>
            <a:gdLst/>
            <a:ahLst/>
            <a:cxnLst/>
            <a:rect l="l" t="t" r="r" b="b"/>
            <a:pathLst>
              <a:path w="231139" h="166370">
                <a:moveTo>
                  <a:pt x="230560" y="0"/>
                </a:moveTo>
                <a:lnTo>
                  <a:pt x="0" y="1660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517540" y="5459375"/>
            <a:ext cx="229870" cy="166370"/>
          </a:xfrm>
          <a:custGeom>
            <a:avLst/>
            <a:gdLst/>
            <a:ahLst/>
            <a:cxnLst/>
            <a:rect l="l" t="t" r="r" b="b"/>
            <a:pathLst>
              <a:path w="229870" h="166370">
                <a:moveTo>
                  <a:pt x="0" y="0"/>
                </a:moveTo>
                <a:lnTo>
                  <a:pt x="229849" y="16604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650935" y="584805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905066" y="584805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80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295783" y="584805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549913" y="584805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80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940631" y="584805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3194762" y="584805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585479" y="5848054"/>
            <a:ext cx="69850" cy="186055"/>
          </a:xfrm>
          <a:custGeom>
            <a:avLst/>
            <a:gdLst/>
            <a:ahLst/>
            <a:cxnLst/>
            <a:rect l="l" t="t" r="r" b="b"/>
            <a:pathLst>
              <a:path w="69850" h="186054">
                <a:moveTo>
                  <a:pt x="69691" y="0"/>
                </a:moveTo>
                <a:lnTo>
                  <a:pt x="0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839610" y="5848054"/>
            <a:ext cx="68580" cy="186055"/>
          </a:xfrm>
          <a:custGeom>
            <a:avLst/>
            <a:gdLst/>
            <a:ahLst/>
            <a:cxnLst/>
            <a:rect l="l" t="t" r="r" b="b"/>
            <a:pathLst>
              <a:path w="68579" h="186054">
                <a:moveTo>
                  <a:pt x="0" y="0"/>
                </a:moveTo>
                <a:lnTo>
                  <a:pt x="68294" y="1855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4798912" y="6117844"/>
            <a:ext cx="3698240" cy="62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9720">
              <a:lnSpc>
                <a:spcPts val="3095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…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ts val="1655"/>
              </a:lnSpc>
            </a:pPr>
            <a:r>
              <a:rPr dirty="0" sz="1600" spc="-5">
                <a:solidFill>
                  <a:srgbClr val="C00000"/>
                </a:solidFill>
                <a:latin typeface="Arial"/>
                <a:cs typeface="Arial"/>
              </a:rPr>
              <a:t>The computational graph stays the</a:t>
            </a:r>
            <a:r>
              <a:rPr dirty="0" sz="1600" spc="2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C00000"/>
                </a:solidFill>
                <a:latin typeface="Arial"/>
                <a:cs typeface="Arial"/>
              </a:rPr>
              <a:t>same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10" name="object 1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1" name="object 111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8199120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8505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Inductive node </a:t>
            </a:r>
            <a:r>
              <a:rPr dirty="0" spc="-10" b="0">
                <a:latin typeface="Calibri"/>
                <a:cs typeface="Calibri"/>
              </a:rPr>
              <a:t>coloring can </a:t>
            </a:r>
            <a:r>
              <a:rPr dirty="0" spc="-5" b="0">
                <a:latin typeface="Calibri"/>
                <a:cs typeface="Calibri"/>
              </a:rPr>
              <a:t>help </a:t>
            </a:r>
            <a:r>
              <a:rPr dirty="0" spc="-5">
                <a:solidFill>
                  <a:srgbClr val="C00000"/>
                </a:solidFill>
              </a:rPr>
              <a:t>node</a:t>
            </a:r>
            <a:r>
              <a:rPr dirty="0" spc="15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065" y="4681896"/>
            <a:ext cx="1301750" cy="807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">
                <a:solidFill>
                  <a:srgbClr val="C00000"/>
                </a:solidFill>
                <a:latin typeface="Calibri"/>
                <a:cs typeface="Calibri"/>
              </a:rPr>
              <a:t>ID-GNNs’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</a:pPr>
            <a:r>
              <a:rPr dirty="0" sz="1700" spc="-2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1700" spc="-5">
                <a:solidFill>
                  <a:srgbClr val="C00000"/>
                </a:solidFill>
                <a:latin typeface="Calibri"/>
                <a:cs typeface="Calibri"/>
              </a:rPr>
              <a:t>om</a:t>
            </a:r>
            <a:r>
              <a:rPr dirty="0" sz="1700">
                <a:solidFill>
                  <a:srgbClr val="C00000"/>
                </a:solidFill>
                <a:latin typeface="Calibri"/>
                <a:cs typeface="Calibri"/>
              </a:rPr>
              <a:t>pu</a:t>
            </a:r>
            <a:r>
              <a:rPr dirty="0" sz="1700" spc="-2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700" spc="-2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1700" spc="-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70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1700" spc="-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1700">
                <a:solidFill>
                  <a:srgbClr val="C00000"/>
                </a:solidFill>
                <a:latin typeface="Calibri"/>
                <a:cs typeface="Calibri"/>
              </a:rPr>
              <a:t>nal  </a:t>
            </a:r>
            <a:r>
              <a:rPr dirty="0" sz="1700" spc="-10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2606" y="4285652"/>
            <a:ext cx="241300" cy="371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5">
                <a:latin typeface="Cambria Math"/>
                <a:cs typeface="Cambria Math"/>
              </a:rPr>
              <a:t>≠</a:t>
            </a:r>
            <a:endParaRPr sz="22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4814" y="5456371"/>
            <a:ext cx="269240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>
                <a:latin typeface="Cambria Math"/>
                <a:cs typeface="Cambria Math"/>
              </a:rPr>
              <a:t>…</a:t>
            </a:r>
            <a:endParaRPr sz="25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1045" y="5361005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19" h="252729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16239" y="5361005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19" h="252729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63146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126076" y="0"/>
                </a:moveTo>
                <a:lnTo>
                  <a:pt x="77001" y="9907"/>
                </a:lnTo>
                <a:lnTo>
                  <a:pt x="36926" y="36926"/>
                </a:lnTo>
                <a:lnTo>
                  <a:pt x="9907" y="77001"/>
                </a:lnTo>
                <a:lnTo>
                  <a:pt x="0" y="126076"/>
                </a:lnTo>
                <a:lnTo>
                  <a:pt x="9907" y="175151"/>
                </a:lnTo>
                <a:lnTo>
                  <a:pt x="36926" y="215227"/>
                </a:lnTo>
                <a:lnTo>
                  <a:pt x="77001" y="242246"/>
                </a:lnTo>
                <a:lnTo>
                  <a:pt x="126076" y="252154"/>
                </a:lnTo>
                <a:lnTo>
                  <a:pt x="175151" y="242246"/>
                </a:lnTo>
                <a:lnTo>
                  <a:pt x="215227" y="215227"/>
                </a:lnTo>
                <a:lnTo>
                  <a:pt x="242246" y="175151"/>
                </a:lnTo>
                <a:lnTo>
                  <a:pt x="252154" y="126076"/>
                </a:lnTo>
                <a:lnTo>
                  <a:pt x="242246" y="77001"/>
                </a:lnTo>
                <a:lnTo>
                  <a:pt x="215227" y="36926"/>
                </a:lnTo>
                <a:lnTo>
                  <a:pt x="175151" y="9907"/>
                </a:lnTo>
                <a:lnTo>
                  <a:pt x="126076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63146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61819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77012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126077" y="0"/>
                </a:moveTo>
                <a:lnTo>
                  <a:pt x="77002" y="9907"/>
                </a:lnTo>
                <a:lnTo>
                  <a:pt x="36927" y="36927"/>
                </a:lnTo>
                <a:lnTo>
                  <a:pt x="9907" y="77002"/>
                </a:lnTo>
                <a:lnTo>
                  <a:pt x="0" y="126077"/>
                </a:lnTo>
                <a:lnTo>
                  <a:pt x="9907" y="175152"/>
                </a:lnTo>
                <a:lnTo>
                  <a:pt x="36927" y="215227"/>
                </a:lnTo>
                <a:lnTo>
                  <a:pt x="77002" y="242247"/>
                </a:lnTo>
                <a:lnTo>
                  <a:pt x="126077" y="252154"/>
                </a:lnTo>
                <a:lnTo>
                  <a:pt x="175152" y="242247"/>
                </a:lnTo>
                <a:lnTo>
                  <a:pt x="215227" y="215227"/>
                </a:lnTo>
                <a:lnTo>
                  <a:pt x="242246" y="175152"/>
                </a:lnTo>
                <a:lnTo>
                  <a:pt x="252154" y="126077"/>
                </a:lnTo>
                <a:lnTo>
                  <a:pt x="242246" y="77002"/>
                </a:lnTo>
                <a:lnTo>
                  <a:pt x="215227" y="36927"/>
                </a:lnTo>
                <a:lnTo>
                  <a:pt x="175152" y="9907"/>
                </a:lnTo>
                <a:lnTo>
                  <a:pt x="12607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77012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23919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31433" y="5361005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19" h="252729">
                <a:moveTo>
                  <a:pt x="130580" y="0"/>
                </a:moveTo>
                <a:lnTo>
                  <a:pt x="79752" y="9907"/>
                </a:lnTo>
                <a:lnTo>
                  <a:pt x="38246" y="36927"/>
                </a:lnTo>
                <a:lnTo>
                  <a:pt x="10261" y="77002"/>
                </a:lnTo>
                <a:lnTo>
                  <a:pt x="0" y="126077"/>
                </a:lnTo>
                <a:lnTo>
                  <a:pt x="10261" y="175152"/>
                </a:lnTo>
                <a:lnTo>
                  <a:pt x="38246" y="215227"/>
                </a:lnTo>
                <a:lnTo>
                  <a:pt x="79752" y="242247"/>
                </a:lnTo>
                <a:lnTo>
                  <a:pt x="130580" y="252154"/>
                </a:lnTo>
                <a:lnTo>
                  <a:pt x="181407" y="242247"/>
                </a:lnTo>
                <a:lnTo>
                  <a:pt x="222914" y="215227"/>
                </a:lnTo>
                <a:lnTo>
                  <a:pt x="250898" y="175152"/>
                </a:lnTo>
                <a:lnTo>
                  <a:pt x="261160" y="126077"/>
                </a:lnTo>
                <a:lnTo>
                  <a:pt x="250898" y="77002"/>
                </a:lnTo>
                <a:lnTo>
                  <a:pt x="222914" y="36927"/>
                </a:lnTo>
                <a:lnTo>
                  <a:pt x="181407" y="9907"/>
                </a:lnTo>
                <a:lnTo>
                  <a:pt x="13058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31433" y="5361005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19" h="252729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46626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93532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92206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07400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54305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126077" y="0"/>
                </a:moveTo>
                <a:lnTo>
                  <a:pt x="77002" y="9907"/>
                </a:lnTo>
                <a:lnTo>
                  <a:pt x="36927" y="36926"/>
                </a:lnTo>
                <a:lnTo>
                  <a:pt x="9907" y="77001"/>
                </a:lnTo>
                <a:lnTo>
                  <a:pt x="0" y="126076"/>
                </a:lnTo>
                <a:lnTo>
                  <a:pt x="9907" y="175151"/>
                </a:lnTo>
                <a:lnTo>
                  <a:pt x="36927" y="215227"/>
                </a:lnTo>
                <a:lnTo>
                  <a:pt x="77002" y="242246"/>
                </a:lnTo>
                <a:lnTo>
                  <a:pt x="126077" y="252154"/>
                </a:lnTo>
                <a:lnTo>
                  <a:pt x="175152" y="242246"/>
                </a:lnTo>
                <a:lnTo>
                  <a:pt x="215227" y="215227"/>
                </a:lnTo>
                <a:lnTo>
                  <a:pt x="242246" y="175151"/>
                </a:lnTo>
                <a:lnTo>
                  <a:pt x="252154" y="126076"/>
                </a:lnTo>
                <a:lnTo>
                  <a:pt x="242246" y="77001"/>
                </a:lnTo>
                <a:lnTo>
                  <a:pt x="215227" y="36926"/>
                </a:lnTo>
                <a:lnTo>
                  <a:pt x="175152" y="9907"/>
                </a:lnTo>
                <a:lnTo>
                  <a:pt x="12607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54305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78338" y="4586530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339112" y="4586530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708725" y="425332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126076" y="0"/>
                </a:moveTo>
                <a:lnTo>
                  <a:pt x="77001" y="9907"/>
                </a:lnTo>
                <a:lnTo>
                  <a:pt x="36926" y="36927"/>
                </a:lnTo>
                <a:lnTo>
                  <a:pt x="9907" y="77002"/>
                </a:lnTo>
                <a:lnTo>
                  <a:pt x="0" y="126077"/>
                </a:lnTo>
                <a:lnTo>
                  <a:pt x="9907" y="175152"/>
                </a:lnTo>
                <a:lnTo>
                  <a:pt x="36926" y="215227"/>
                </a:lnTo>
                <a:lnTo>
                  <a:pt x="77001" y="242246"/>
                </a:lnTo>
                <a:lnTo>
                  <a:pt x="126076" y="252154"/>
                </a:lnTo>
                <a:lnTo>
                  <a:pt x="175152" y="242246"/>
                </a:lnTo>
                <a:lnTo>
                  <a:pt x="215227" y="215227"/>
                </a:lnTo>
                <a:lnTo>
                  <a:pt x="242246" y="175152"/>
                </a:lnTo>
                <a:lnTo>
                  <a:pt x="252154" y="126077"/>
                </a:lnTo>
                <a:lnTo>
                  <a:pt x="242246" y="77002"/>
                </a:lnTo>
                <a:lnTo>
                  <a:pt x="215227" y="36927"/>
                </a:lnTo>
                <a:lnTo>
                  <a:pt x="175152" y="9907"/>
                </a:lnTo>
                <a:lnTo>
                  <a:pt x="126076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08725" y="425332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30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746174" y="4231620"/>
            <a:ext cx="195580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315">
                <a:latin typeface="Cambria Math"/>
                <a:cs typeface="Cambria Math"/>
              </a:rPr>
              <a:t>!</a:t>
            </a:r>
            <a:r>
              <a:rPr dirty="0" baseline="-15873" sz="1575" spc="465">
                <a:latin typeface="Cambria Math"/>
                <a:cs typeface="Cambria Math"/>
              </a:rPr>
              <a:t>!</a:t>
            </a:r>
            <a:endParaRPr baseline="-15873" sz="1575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94470" y="4469458"/>
            <a:ext cx="447675" cy="155575"/>
          </a:xfrm>
          <a:custGeom>
            <a:avLst/>
            <a:gdLst/>
            <a:ahLst/>
            <a:cxnLst/>
            <a:rect l="l" t="t" r="r" b="b"/>
            <a:pathLst>
              <a:path w="447675" h="155575">
                <a:moveTo>
                  <a:pt x="0" y="155239"/>
                </a:moveTo>
                <a:lnTo>
                  <a:pt x="447574" y="0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24858" y="4469457"/>
            <a:ext cx="448945" cy="153035"/>
          </a:xfrm>
          <a:custGeom>
            <a:avLst/>
            <a:gdLst/>
            <a:ahLst/>
            <a:cxnLst/>
            <a:rect l="l" t="t" r="r" b="b"/>
            <a:pathLst>
              <a:path w="448945" h="153035">
                <a:moveTo>
                  <a:pt x="0" y="0"/>
                </a:moveTo>
                <a:lnTo>
                  <a:pt x="448695" y="152808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89223" y="4802662"/>
            <a:ext cx="227329" cy="160020"/>
          </a:xfrm>
          <a:custGeom>
            <a:avLst/>
            <a:gdLst/>
            <a:ahLst/>
            <a:cxnLst/>
            <a:rect l="l" t="t" r="r" b="b"/>
            <a:pathLst>
              <a:path w="227330" h="160020">
                <a:moveTo>
                  <a:pt x="227207" y="0"/>
                </a:moveTo>
                <a:lnTo>
                  <a:pt x="0" y="159585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294470" y="4802662"/>
            <a:ext cx="222250" cy="160020"/>
          </a:xfrm>
          <a:custGeom>
            <a:avLst/>
            <a:gdLst/>
            <a:ahLst/>
            <a:cxnLst/>
            <a:rect l="l" t="t" r="r" b="b"/>
            <a:pathLst>
              <a:path w="222250" h="160020">
                <a:moveTo>
                  <a:pt x="0" y="0"/>
                </a:moveTo>
                <a:lnTo>
                  <a:pt x="222045" y="159585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149997" y="4802662"/>
            <a:ext cx="225425" cy="162560"/>
          </a:xfrm>
          <a:custGeom>
            <a:avLst/>
            <a:gdLst/>
            <a:ahLst/>
            <a:cxnLst/>
            <a:rect l="l" t="t" r="r" b="b"/>
            <a:pathLst>
              <a:path w="225425" h="162560">
                <a:moveTo>
                  <a:pt x="224972" y="0"/>
                </a:moveTo>
                <a:lnTo>
                  <a:pt x="0" y="162017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55245" y="4802662"/>
            <a:ext cx="224790" cy="162560"/>
          </a:xfrm>
          <a:custGeom>
            <a:avLst/>
            <a:gdLst/>
            <a:ahLst/>
            <a:cxnLst/>
            <a:rect l="l" t="t" r="r" b="b"/>
            <a:pathLst>
              <a:path w="224789" h="162560">
                <a:moveTo>
                  <a:pt x="0" y="0"/>
                </a:moveTo>
                <a:lnTo>
                  <a:pt x="224279" y="162017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36129" y="5180895"/>
            <a:ext cx="68580" cy="181610"/>
          </a:xfrm>
          <a:custGeom>
            <a:avLst/>
            <a:gdLst/>
            <a:ahLst/>
            <a:cxnLst/>
            <a:rect l="l" t="t" r="r" b="b"/>
            <a:pathLst>
              <a:path w="68580" h="181610">
                <a:moveTo>
                  <a:pt x="68002" y="0"/>
                </a:moveTo>
                <a:lnTo>
                  <a:pt x="0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79278" y="5180895"/>
            <a:ext cx="66675" cy="181610"/>
          </a:xfrm>
          <a:custGeom>
            <a:avLst/>
            <a:gdLst/>
            <a:ahLst/>
            <a:cxnLst/>
            <a:rect l="l" t="t" r="r" b="b"/>
            <a:pathLst>
              <a:path w="66675" h="181610">
                <a:moveTo>
                  <a:pt x="0" y="0"/>
                </a:moveTo>
                <a:lnTo>
                  <a:pt x="66638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57510" y="5180895"/>
            <a:ext cx="68580" cy="181610"/>
          </a:xfrm>
          <a:custGeom>
            <a:avLst/>
            <a:gdLst/>
            <a:ahLst/>
            <a:cxnLst/>
            <a:rect l="l" t="t" r="r" b="b"/>
            <a:pathLst>
              <a:path w="68580" h="181610">
                <a:moveTo>
                  <a:pt x="68002" y="0"/>
                </a:moveTo>
                <a:lnTo>
                  <a:pt x="0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09664" y="5180895"/>
            <a:ext cx="66675" cy="181610"/>
          </a:xfrm>
          <a:custGeom>
            <a:avLst/>
            <a:gdLst/>
            <a:ahLst/>
            <a:cxnLst/>
            <a:rect l="l" t="t" r="r" b="b"/>
            <a:pathLst>
              <a:path w="66675" h="181610">
                <a:moveTo>
                  <a:pt x="0" y="0"/>
                </a:moveTo>
                <a:lnTo>
                  <a:pt x="66638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87897" y="5180895"/>
            <a:ext cx="68580" cy="181610"/>
          </a:xfrm>
          <a:custGeom>
            <a:avLst/>
            <a:gdLst/>
            <a:ahLst/>
            <a:cxnLst/>
            <a:rect l="l" t="t" r="r" b="b"/>
            <a:pathLst>
              <a:path w="68580" h="181610">
                <a:moveTo>
                  <a:pt x="68002" y="0"/>
                </a:moveTo>
                <a:lnTo>
                  <a:pt x="0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240051" y="5180895"/>
            <a:ext cx="66675" cy="181610"/>
          </a:xfrm>
          <a:custGeom>
            <a:avLst/>
            <a:gdLst/>
            <a:ahLst/>
            <a:cxnLst/>
            <a:rect l="l" t="t" r="r" b="b"/>
            <a:pathLst>
              <a:path w="66675" h="181610">
                <a:moveTo>
                  <a:pt x="0" y="0"/>
                </a:moveTo>
                <a:lnTo>
                  <a:pt x="66638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18284" y="5180895"/>
            <a:ext cx="68580" cy="181610"/>
          </a:xfrm>
          <a:custGeom>
            <a:avLst/>
            <a:gdLst/>
            <a:ahLst/>
            <a:cxnLst/>
            <a:rect l="l" t="t" r="r" b="b"/>
            <a:pathLst>
              <a:path w="68579" h="181610">
                <a:moveTo>
                  <a:pt x="68002" y="0"/>
                </a:moveTo>
                <a:lnTo>
                  <a:pt x="0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870438" y="5180895"/>
            <a:ext cx="66675" cy="181610"/>
          </a:xfrm>
          <a:custGeom>
            <a:avLst/>
            <a:gdLst/>
            <a:ahLst/>
            <a:cxnLst/>
            <a:rect l="l" t="t" r="r" b="b"/>
            <a:pathLst>
              <a:path w="66675" h="181610">
                <a:moveTo>
                  <a:pt x="0" y="0"/>
                </a:moveTo>
                <a:lnTo>
                  <a:pt x="66638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423965" y="5456371"/>
            <a:ext cx="269240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>
                <a:latin typeface="Cambria Math"/>
                <a:cs typeface="Cambria Math"/>
              </a:rPr>
              <a:t>…</a:t>
            </a:r>
            <a:endParaRPr sz="255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311709" y="5361005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20" h="252729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626902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473808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126077" y="0"/>
                </a:moveTo>
                <a:lnTo>
                  <a:pt x="77002" y="9907"/>
                </a:lnTo>
                <a:lnTo>
                  <a:pt x="36927" y="36926"/>
                </a:lnTo>
                <a:lnTo>
                  <a:pt x="9907" y="77001"/>
                </a:lnTo>
                <a:lnTo>
                  <a:pt x="0" y="126076"/>
                </a:lnTo>
                <a:lnTo>
                  <a:pt x="9907" y="175151"/>
                </a:lnTo>
                <a:lnTo>
                  <a:pt x="36927" y="215227"/>
                </a:lnTo>
                <a:lnTo>
                  <a:pt x="77002" y="242246"/>
                </a:lnTo>
                <a:lnTo>
                  <a:pt x="126077" y="252154"/>
                </a:lnTo>
                <a:lnTo>
                  <a:pt x="175152" y="242246"/>
                </a:lnTo>
                <a:lnTo>
                  <a:pt x="215227" y="215227"/>
                </a:lnTo>
                <a:lnTo>
                  <a:pt x="242246" y="175151"/>
                </a:lnTo>
                <a:lnTo>
                  <a:pt x="252154" y="126076"/>
                </a:lnTo>
                <a:lnTo>
                  <a:pt x="242246" y="77001"/>
                </a:lnTo>
                <a:lnTo>
                  <a:pt x="215227" y="36926"/>
                </a:lnTo>
                <a:lnTo>
                  <a:pt x="175152" y="9907"/>
                </a:lnTo>
                <a:lnTo>
                  <a:pt x="12607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473808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572483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887676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734582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942095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257289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104196" y="496476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202869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518062" y="536100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355963" y="4964762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20" h="252729">
                <a:moveTo>
                  <a:pt x="130580" y="0"/>
                </a:moveTo>
                <a:lnTo>
                  <a:pt x="79752" y="9907"/>
                </a:lnTo>
                <a:lnTo>
                  <a:pt x="38246" y="36926"/>
                </a:lnTo>
                <a:lnTo>
                  <a:pt x="10261" y="77001"/>
                </a:lnTo>
                <a:lnTo>
                  <a:pt x="0" y="126076"/>
                </a:lnTo>
                <a:lnTo>
                  <a:pt x="10261" y="175151"/>
                </a:lnTo>
                <a:lnTo>
                  <a:pt x="38246" y="215227"/>
                </a:lnTo>
                <a:lnTo>
                  <a:pt x="79752" y="242246"/>
                </a:lnTo>
                <a:lnTo>
                  <a:pt x="130580" y="252154"/>
                </a:lnTo>
                <a:lnTo>
                  <a:pt x="181407" y="242246"/>
                </a:lnTo>
                <a:lnTo>
                  <a:pt x="222914" y="215227"/>
                </a:lnTo>
                <a:lnTo>
                  <a:pt x="250898" y="175151"/>
                </a:lnTo>
                <a:lnTo>
                  <a:pt x="261160" y="126076"/>
                </a:lnTo>
                <a:lnTo>
                  <a:pt x="250898" y="77001"/>
                </a:lnTo>
                <a:lnTo>
                  <a:pt x="222914" y="36926"/>
                </a:lnTo>
                <a:lnTo>
                  <a:pt x="181407" y="9907"/>
                </a:lnTo>
                <a:lnTo>
                  <a:pt x="13058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355963" y="4964762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20" h="252729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789002" y="4586530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049775" y="4586530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419388" y="425332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126077" y="0"/>
                </a:moveTo>
                <a:lnTo>
                  <a:pt x="77003" y="9907"/>
                </a:lnTo>
                <a:lnTo>
                  <a:pt x="36927" y="36927"/>
                </a:lnTo>
                <a:lnTo>
                  <a:pt x="9907" y="77002"/>
                </a:lnTo>
                <a:lnTo>
                  <a:pt x="0" y="126077"/>
                </a:lnTo>
                <a:lnTo>
                  <a:pt x="9907" y="175152"/>
                </a:lnTo>
                <a:lnTo>
                  <a:pt x="36927" y="215227"/>
                </a:lnTo>
                <a:lnTo>
                  <a:pt x="77003" y="242246"/>
                </a:lnTo>
                <a:lnTo>
                  <a:pt x="126077" y="252154"/>
                </a:lnTo>
                <a:lnTo>
                  <a:pt x="175152" y="242246"/>
                </a:lnTo>
                <a:lnTo>
                  <a:pt x="215227" y="215227"/>
                </a:lnTo>
                <a:lnTo>
                  <a:pt x="242246" y="175152"/>
                </a:lnTo>
                <a:lnTo>
                  <a:pt x="252154" y="126077"/>
                </a:lnTo>
                <a:lnTo>
                  <a:pt x="242246" y="77002"/>
                </a:lnTo>
                <a:lnTo>
                  <a:pt x="215227" y="36927"/>
                </a:lnTo>
                <a:lnTo>
                  <a:pt x="175152" y="9907"/>
                </a:lnTo>
                <a:lnTo>
                  <a:pt x="12607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419388" y="4253325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5453232" y="4231620"/>
            <a:ext cx="20002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350">
                <a:latin typeface="Cambria Math"/>
                <a:cs typeface="Cambria Math"/>
              </a:rPr>
              <a:t>!</a:t>
            </a:r>
            <a:r>
              <a:rPr dirty="0" baseline="-15873" sz="1575" spc="300">
                <a:latin typeface="Cambria Math"/>
                <a:cs typeface="Cambria Math"/>
              </a:rPr>
              <a:t>"</a:t>
            </a:r>
            <a:endParaRPr baseline="-15873" sz="1575">
              <a:latin typeface="Cambria Math"/>
              <a:cs typeface="Cambria Math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005134" y="4469458"/>
            <a:ext cx="447675" cy="155575"/>
          </a:xfrm>
          <a:custGeom>
            <a:avLst/>
            <a:gdLst/>
            <a:ahLst/>
            <a:cxnLst/>
            <a:rect l="l" t="t" r="r" b="b"/>
            <a:pathLst>
              <a:path w="447675" h="155575">
                <a:moveTo>
                  <a:pt x="0" y="155239"/>
                </a:moveTo>
                <a:lnTo>
                  <a:pt x="447574" y="0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635522" y="4469457"/>
            <a:ext cx="448945" cy="153035"/>
          </a:xfrm>
          <a:custGeom>
            <a:avLst/>
            <a:gdLst/>
            <a:ahLst/>
            <a:cxnLst/>
            <a:rect l="l" t="t" r="r" b="b"/>
            <a:pathLst>
              <a:path w="448945" h="153035">
                <a:moveTo>
                  <a:pt x="0" y="0"/>
                </a:moveTo>
                <a:lnTo>
                  <a:pt x="448695" y="152808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599884" y="4802662"/>
            <a:ext cx="227329" cy="160020"/>
          </a:xfrm>
          <a:custGeom>
            <a:avLst/>
            <a:gdLst/>
            <a:ahLst/>
            <a:cxnLst/>
            <a:rect l="l" t="t" r="r" b="b"/>
            <a:pathLst>
              <a:path w="227329" h="160020">
                <a:moveTo>
                  <a:pt x="227207" y="0"/>
                </a:moveTo>
                <a:lnTo>
                  <a:pt x="0" y="159585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005134" y="4802662"/>
            <a:ext cx="222250" cy="160020"/>
          </a:xfrm>
          <a:custGeom>
            <a:avLst/>
            <a:gdLst/>
            <a:ahLst/>
            <a:cxnLst/>
            <a:rect l="l" t="t" r="r" b="b"/>
            <a:pathLst>
              <a:path w="222250" h="160020">
                <a:moveTo>
                  <a:pt x="0" y="0"/>
                </a:moveTo>
                <a:lnTo>
                  <a:pt x="222045" y="159585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860658" y="4802662"/>
            <a:ext cx="225425" cy="162560"/>
          </a:xfrm>
          <a:custGeom>
            <a:avLst/>
            <a:gdLst/>
            <a:ahLst/>
            <a:cxnLst/>
            <a:rect l="l" t="t" r="r" b="b"/>
            <a:pathLst>
              <a:path w="225425" h="162560">
                <a:moveTo>
                  <a:pt x="224972" y="0"/>
                </a:moveTo>
                <a:lnTo>
                  <a:pt x="0" y="162017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265908" y="4802662"/>
            <a:ext cx="224790" cy="162560"/>
          </a:xfrm>
          <a:custGeom>
            <a:avLst/>
            <a:gdLst/>
            <a:ahLst/>
            <a:cxnLst/>
            <a:rect l="l" t="t" r="r" b="b"/>
            <a:pathLst>
              <a:path w="224789" h="162560">
                <a:moveTo>
                  <a:pt x="0" y="0"/>
                </a:moveTo>
                <a:lnTo>
                  <a:pt x="224279" y="162017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437786" y="5180895"/>
            <a:ext cx="68580" cy="181610"/>
          </a:xfrm>
          <a:custGeom>
            <a:avLst/>
            <a:gdLst/>
            <a:ahLst/>
            <a:cxnLst/>
            <a:rect l="l" t="t" r="r" b="b"/>
            <a:pathLst>
              <a:path w="68579" h="181610">
                <a:moveTo>
                  <a:pt x="68002" y="0"/>
                </a:moveTo>
                <a:lnTo>
                  <a:pt x="0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689941" y="5180895"/>
            <a:ext cx="66675" cy="181610"/>
          </a:xfrm>
          <a:custGeom>
            <a:avLst/>
            <a:gdLst/>
            <a:ahLst/>
            <a:cxnLst/>
            <a:rect l="l" t="t" r="r" b="b"/>
            <a:pathLst>
              <a:path w="66675" h="181610">
                <a:moveTo>
                  <a:pt x="0" y="0"/>
                </a:moveTo>
                <a:lnTo>
                  <a:pt x="66638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068173" y="5180895"/>
            <a:ext cx="68580" cy="181610"/>
          </a:xfrm>
          <a:custGeom>
            <a:avLst/>
            <a:gdLst/>
            <a:ahLst/>
            <a:cxnLst/>
            <a:rect l="l" t="t" r="r" b="b"/>
            <a:pathLst>
              <a:path w="68579" h="181610">
                <a:moveTo>
                  <a:pt x="68002" y="0"/>
                </a:moveTo>
                <a:lnTo>
                  <a:pt x="0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320328" y="5180895"/>
            <a:ext cx="66675" cy="181610"/>
          </a:xfrm>
          <a:custGeom>
            <a:avLst/>
            <a:gdLst/>
            <a:ahLst/>
            <a:cxnLst/>
            <a:rect l="l" t="t" r="r" b="b"/>
            <a:pathLst>
              <a:path w="66675" h="181610">
                <a:moveTo>
                  <a:pt x="0" y="0"/>
                </a:moveTo>
                <a:lnTo>
                  <a:pt x="66638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698561" y="5180895"/>
            <a:ext cx="68580" cy="181610"/>
          </a:xfrm>
          <a:custGeom>
            <a:avLst/>
            <a:gdLst/>
            <a:ahLst/>
            <a:cxnLst/>
            <a:rect l="l" t="t" r="r" b="b"/>
            <a:pathLst>
              <a:path w="68579" h="181610">
                <a:moveTo>
                  <a:pt x="68002" y="0"/>
                </a:moveTo>
                <a:lnTo>
                  <a:pt x="0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950714" y="5180895"/>
            <a:ext cx="66675" cy="181610"/>
          </a:xfrm>
          <a:custGeom>
            <a:avLst/>
            <a:gdLst/>
            <a:ahLst/>
            <a:cxnLst/>
            <a:rect l="l" t="t" r="r" b="b"/>
            <a:pathLst>
              <a:path w="66675" h="181610">
                <a:moveTo>
                  <a:pt x="0" y="0"/>
                </a:moveTo>
                <a:lnTo>
                  <a:pt x="66638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328947" y="5180895"/>
            <a:ext cx="68580" cy="181610"/>
          </a:xfrm>
          <a:custGeom>
            <a:avLst/>
            <a:gdLst/>
            <a:ahLst/>
            <a:cxnLst/>
            <a:rect l="l" t="t" r="r" b="b"/>
            <a:pathLst>
              <a:path w="68579" h="181610">
                <a:moveTo>
                  <a:pt x="68002" y="0"/>
                </a:moveTo>
                <a:lnTo>
                  <a:pt x="0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581102" y="5180895"/>
            <a:ext cx="66675" cy="181610"/>
          </a:xfrm>
          <a:custGeom>
            <a:avLst/>
            <a:gdLst/>
            <a:ahLst/>
            <a:cxnLst/>
            <a:rect l="l" t="t" r="r" b="b"/>
            <a:pathLst>
              <a:path w="66675" h="181610">
                <a:moveTo>
                  <a:pt x="0" y="0"/>
                </a:moveTo>
                <a:lnTo>
                  <a:pt x="66638" y="18107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3105454" y="4231620"/>
            <a:ext cx="22409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105" algn="l"/>
              </a:tabLst>
            </a:pPr>
            <a:r>
              <a:rPr dirty="0" sz="1700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r>
              <a:rPr dirty="0" sz="1700">
                <a:solidFill>
                  <a:srgbClr val="70AD47"/>
                </a:solidFill>
                <a:latin typeface="Calibri"/>
                <a:cs typeface="Calibri"/>
              </a:rPr>
              <a:t>	</a:t>
            </a:r>
            <a:r>
              <a:rPr dirty="0" sz="170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447178" y="5955370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126077" y="0"/>
                </a:moveTo>
                <a:lnTo>
                  <a:pt x="77002" y="9907"/>
                </a:lnTo>
                <a:lnTo>
                  <a:pt x="36927" y="36927"/>
                </a:lnTo>
                <a:lnTo>
                  <a:pt x="9907" y="77002"/>
                </a:lnTo>
                <a:lnTo>
                  <a:pt x="0" y="126077"/>
                </a:lnTo>
                <a:lnTo>
                  <a:pt x="9907" y="175152"/>
                </a:lnTo>
                <a:lnTo>
                  <a:pt x="36927" y="215227"/>
                </a:lnTo>
                <a:lnTo>
                  <a:pt x="77002" y="242246"/>
                </a:lnTo>
                <a:lnTo>
                  <a:pt x="126077" y="252154"/>
                </a:lnTo>
                <a:lnTo>
                  <a:pt x="175152" y="242246"/>
                </a:lnTo>
                <a:lnTo>
                  <a:pt x="215227" y="215227"/>
                </a:lnTo>
                <a:lnTo>
                  <a:pt x="242246" y="175152"/>
                </a:lnTo>
                <a:lnTo>
                  <a:pt x="252154" y="126077"/>
                </a:lnTo>
                <a:lnTo>
                  <a:pt x="242246" y="77002"/>
                </a:lnTo>
                <a:lnTo>
                  <a:pt x="215227" y="36927"/>
                </a:lnTo>
                <a:lnTo>
                  <a:pt x="175152" y="9907"/>
                </a:lnTo>
                <a:lnTo>
                  <a:pt x="12607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447178" y="5955370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506188" y="3754326"/>
            <a:ext cx="355028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1950" spc="0" b="1">
                <a:solidFill>
                  <a:srgbClr val="C00000"/>
                </a:solidFill>
                <a:latin typeface="Calibri"/>
                <a:cs typeface="Calibri"/>
              </a:rPr>
              <a:t>color root </a:t>
            </a:r>
            <a:r>
              <a:rPr dirty="0" sz="1950" spc="5" b="1">
                <a:solidFill>
                  <a:srgbClr val="C00000"/>
                </a:solidFill>
                <a:latin typeface="Calibri"/>
                <a:cs typeface="Calibri"/>
              </a:rPr>
              <a:t>nodes </a:t>
            </a:r>
            <a:r>
              <a:rPr dirty="0" sz="1950" spc="10" b="1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1950" spc="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50" spc="0" b="1">
                <a:solidFill>
                  <a:srgbClr val="C00000"/>
                </a:solidFill>
                <a:latin typeface="Calibri"/>
                <a:cs typeface="Calibri"/>
              </a:rPr>
              <a:t>identity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663698" y="2299126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19" h="252730">
                <a:moveTo>
                  <a:pt x="130580" y="0"/>
                </a:moveTo>
                <a:lnTo>
                  <a:pt x="79752" y="9907"/>
                </a:lnTo>
                <a:lnTo>
                  <a:pt x="38246" y="36926"/>
                </a:lnTo>
                <a:lnTo>
                  <a:pt x="10261" y="77001"/>
                </a:lnTo>
                <a:lnTo>
                  <a:pt x="0" y="126076"/>
                </a:lnTo>
                <a:lnTo>
                  <a:pt x="10261" y="175152"/>
                </a:lnTo>
                <a:lnTo>
                  <a:pt x="38246" y="215227"/>
                </a:lnTo>
                <a:lnTo>
                  <a:pt x="79752" y="242246"/>
                </a:lnTo>
                <a:lnTo>
                  <a:pt x="130580" y="252154"/>
                </a:lnTo>
                <a:lnTo>
                  <a:pt x="181407" y="242246"/>
                </a:lnTo>
                <a:lnTo>
                  <a:pt x="222914" y="215227"/>
                </a:lnTo>
                <a:lnTo>
                  <a:pt x="250898" y="175152"/>
                </a:lnTo>
                <a:lnTo>
                  <a:pt x="261160" y="126076"/>
                </a:lnTo>
                <a:lnTo>
                  <a:pt x="250898" y="77001"/>
                </a:lnTo>
                <a:lnTo>
                  <a:pt x="222914" y="36926"/>
                </a:lnTo>
                <a:lnTo>
                  <a:pt x="181407" y="9907"/>
                </a:lnTo>
                <a:lnTo>
                  <a:pt x="13058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663698" y="2299126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19" h="252730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663698" y="3334762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19" h="252729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681322" y="2812441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20" h="252730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789776" y="2551281"/>
            <a:ext cx="0" cy="779780"/>
          </a:xfrm>
          <a:custGeom>
            <a:avLst/>
            <a:gdLst/>
            <a:ahLst/>
            <a:cxnLst/>
            <a:rect l="l" t="t" r="r" b="b"/>
            <a:pathLst>
              <a:path w="0" h="779779">
                <a:moveTo>
                  <a:pt x="0" y="0"/>
                </a:moveTo>
                <a:lnTo>
                  <a:pt x="0" y="77926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924858" y="2425203"/>
            <a:ext cx="802005" cy="421005"/>
          </a:xfrm>
          <a:custGeom>
            <a:avLst/>
            <a:gdLst/>
            <a:ahLst/>
            <a:cxnLst/>
            <a:rect l="l" t="t" r="r" b="b"/>
            <a:pathLst>
              <a:path w="802004" h="421005">
                <a:moveTo>
                  <a:pt x="0" y="0"/>
                </a:moveTo>
                <a:lnTo>
                  <a:pt x="801948" y="420938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924858" y="3028574"/>
            <a:ext cx="802005" cy="433070"/>
          </a:xfrm>
          <a:custGeom>
            <a:avLst/>
            <a:gdLst/>
            <a:ahLst/>
            <a:cxnLst/>
            <a:rect l="l" t="t" r="r" b="b"/>
            <a:pathLst>
              <a:path w="802004" h="433070">
                <a:moveTo>
                  <a:pt x="0" y="432876"/>
                </a:moveTo>
                <a:lnTo>
                  <a:pt x="801948" y="0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860660" y="2308132"/>
            <a:ext cx="261620" cy="261620"/>
          </a:xfrm>
          <a:custGeom>
            <a:avLst/>
            <a:gdLst/>
            <a:ahLst/>
            <a:cxnLst/>
            <a:rect l="l" t="t" r="r" b="b"/>
            <a:pathLst>
              <a:path w="261620" h="261619">
                <a:moveTo>
                  <a:pt x="0" y="130580"/>
                </a:moveTo>
                <a:lnTo>
                  <a:pt x="10261" y="79752"/>
                </a:lnTo>
                <a:lnTo>
                  <a:pt x="38246" y="38246"/>
                </a:lnTo>
                <a:lnTo>
                  <a:pt x="79752" y="10261"/>
                </a:lnTo>
                <a:lnTo>
                  <a:pt x="130580" y="0"/>
                </a:lnTo>
                <a:lnTo>
                  <a:pt x="181407" y="10261"/>
                </a:lnTo>
                <a:lnTo>
                  <a:pt x="222914" y="38246"/>
                </a:lnTo>
                <a:lnTo>
                  <a:pt x="250898" y="79752"/>
                </a:lnTo>
                <a:lnTo>
                  <a:pt x="261160" y="130580"/>
                </a:lnTo>
                <a:lnTo>
                  <a:pt x="250898" y="181407"/>
                </a:lnTo>
                <a:lnTo>
                  <a:pt x="222914" y="222914"/>
                </a:lnTo>
                <a:lnTo>
                  <a:pt x="181407" y="250898"/>
                </a:lnTo>
                <a:lnTo>
                  <a:pt x="130580" y="261160"/>
                </a:lnTo>
                <a:lnTo>
                  <a:pt x="79752" y="250898"/>
                </a:lnTo>
                <a:lnTo>
                  <a:pt x="38246" y="222914"/>
                </a:lnTo>
                <a:lnTo>
                  <a:pt x="10261" y="181407"/>
                </a:lnTo>
                <a:lnTo>
                  <a:pt x="0" y="130580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860660" y="3343767"/>
            <a:ext cx="261620" cy="252729"/>
          </a:xfrm>
          <a:custGeom>
            <a:avLst/>
            <a:gdLst/>
            <a:ahLst/>
            <a:cxnLst/>
            <a:rect l="l" t="t" r="r" b="b"/>
            <a:pathLst>
              <a:path w="261620" h="252729">
                <a:moveTo>
                  <a:pt x="0" y="126077"/>
                </a:moveTo>
                <a:lnTo>
                  <a:pt x="10261" y="77002"/>
                </a:lnTo>
                <a:lnTo>
                  <a:pt x="38246" y="36927"/>
                </a:lnTo>
                <a:lnTo>
                  <a:pt x="79752" y="9907"/>
                </a:lnTo>
                <a:lnTo>
                  <a:pt x="130580" y="0"/>
                </a:lnTo>
                <a:lnTo>
                  <a:pt x="181407" y="9907"/>
                </a:lnTo>
                <a:lnTo>
                  <a:pt x="222914" y="36927"/>
                </a:lnTo>
                <a:lnTo>
                  <a:pt x="250898" y="77002"/>
                </a:lnTo>
                <a:lnTo>
                  <a:pt x="261160" y="126077"/>
                </a:lnTo>
                <a:lnTo>
                  <a:pt x="250898" y="175152"/>
                </a:lnTo>
                <a:lnTo>
                  <a:pt x="222914" y="215227"/>
                </a:lnTo>
                <a:lnTo>
                  <a:pt x="181407" y="242246"/>
                </a:lnTo>
                <a:lnTo>
                  <a:pt x="130580" y="252154"/>
                </a:lnTo>
                <a:lnTo>
                  <a:pt x="79752" y="242246"/>
                </a:lnTo>
                <a:lnTo>
                  <a:pt x="38246" y="215227"/>
                </a:lnTo>
                <a:lnTo>
                  <a:pt x="10261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752980" y="2317137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30">
                <a:moveTo>
                  <a:pt x="126076" y="0"/>
                </a:moveTo>
                <a:lnTo>
                  <a:pt x="77001" y="9907"/>
                </a:lnTo>
                <a:lnTo>
                  <a:pt x="36926" y="36926"/>
                </a:lnTo>
                <a:lnTo>
                  <a:pt x="9907" y="77001"/>
                </a:lnTo>
                <a:lnTo>
                  <a:pt x="0" y="126076"/>
                </a:lnTo>
                <a:lnTo>
                  <a:pt x="9907" y="175151"/>
                </a:lnTo>
                <a:lnTo>
                  <a:pt x="36926" y="215227"/>
                </a:lnTo>
                <a:lnTo>
                  <a:pt x="77001" y="242246"/>
                </a:lnTo>
                <a:lnTo>
                  <a:pt x="126076" y="252154"/>
                </a:lnTo>
                <a:lnTo>
                  <a:pt x="175152" y="242246"/>
                </a:lnTo>
                <a:lnTo>
                  <a:pt x="215227" y="215227"/>
                </a:lnTo>
                <a:lnTo>
                  <a:pt x="242246" y="175151"/>
                </a:lnTo>
                <a:lnTo>
                  <a:pt x="252154" y="126076"/>
                </a:lnTo>
                <a:lnTo>
                  <a:pt x="242246" y="77001"/>
                </a:lnTo>
                <a:lnTo>
                  <a:pt x="215227" y="36926"/>
                </a:lnTo>
                <a:lnTo>
                  <a:pt x="175152" y="9907"/>
                </a:lnTo>
                <a:lnTo>
                  <a:pt x="126076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752980" y="2317137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30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4790041" y="2295431"/>
            <a:ext cx="20002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350">
                <a:latin typeface="Cambria Math"/>
                <a:cs typeface="Cambria Math"/>
              </a:rPr>
              <a:t>!</a:t>
            </a:r>
            <a:r>
              <a:rPr dirty="0" baseline="-15873" sz="1575" spc="300">
                <a:latin typeface="Cambria Math"/>
                <a:cs typeface="Cambria Math"/>
              </a:rPr>
              <a:t>"</a:t>
            </a:r>
            <a:endParaRPr baseline="-15873" sz="1575">
              <a:latin typeface="Cambria Math"/>
              <a:cs typeface="Cambria Math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5986736" y="2569292"/>
            <a:ext cx="0" cy="774065"/>
          </a:xfrm>
          <a:custGeom>
            <a:avLst/>
            <a:gdLst/>
            <a:ahLst/>
            <a:cxnLst/>
            <a:rect l="l" t="t" r="r" b="b"/>
            <a:pathLst>
              <a:path w="0" h="774064">
                <a:moveTo>
                  <a:pt x="0" y="0"/>
                </a:moveTo>
                <a:lnTo>
                  <a:pt x="0" y="773705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879056" y="2569292"/>
            <a:ext cx="0" cy="770890"/>
          </a:xfrm>
          <a:custGeom>
            <a:avLst/>
            <a:gdLst/>
            <a:ahLst/>
            <a:cxnLst/>
            <a:rect l="l" t="t" r="r" b="b"/>
            <a:pathLst>
              <a:path w="0" h="770889">
                <a:moveTo>
                  <a:pt x="0" y="770886"/>
                </a:moveTo>
                <a:lnTo>
                  <a:pt x="0" y="0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442385" y="2250403"/>
            <a:ext cx="45910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5590" algn="l"/>
              </a:tabLst>
            </a:pPr>
            <a:r>
              <a:rPr dirty="0" sz="1700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r>
              <a:rPr dirty="0" sz="1700">
                <a:solidFill>
                  <a:srgbClr val="70AD47"/>
                </a:solidFill>
                <a:latin typeface="Calibri"/>
                <a:cs typeface="Calibri"/>
              </a:rPr>
              <a:t>	</a:t>
            </a:r>
            <a:r>
              <a:rPr dirty="0" sz="1400" spc="315">
                <a:latin typeface="Cambria Math"/>
                <a:cs typeface="Cambria Math"/>
              </a:rPr>
              <a:t>!</a:t>
            </a:r>
            <a:r>
              <a:rPr dirty="0" baseline="-15873" sz="1575" spc="465">
                <a:latin typeface="Cambria Math"/>
                <a:cs typeface="Cambria Math"/>
              </a:rPr>
              <a:t>!</a:t>
            </a:r>
            <a:endParaRPr baseline="-15873" sz="1575">
              <a:latin typeface="Cambria Math"/>
              <a:cs typeface="Cambria Math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544330" y="2286426"/>
            <a:ext cx="14351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4752980" y="3343767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005134" y="2443214"/>
            <a:ext cx="855980" cy="3175"/>
          </a:xfrm>
          <a:custGeom>
            <a:avLst/>
            <a:gdLst/>
            <a:ahLst/>
            <a:cxnLst/>
            <a:rect l="l" t="t" r="r" b="b"/>
            <a:pathLst>
              <a:path w="855979" h="3175">
                <a:moveTo>
                  <a:pt x="855648" y="0"/>
                </a:moveTo>
                <a:lnTo>
                  <a:pt x="0" y="2819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005134" y="3469844"/>
            <a:ext cx="855980" cy="0"/>
          </a:xfrm>
          <a:custGeom>
            <a:avLst/>
            <a:gdLst/>
            <a:ahLst/>
            <a:cxnLst/>
            <a:rect l="l" t="t" r="r" b="b"/>
            <a:pathLst>
              <a:path w="855979" h="0">
                <a:moveTo>
                  <a:pt x="855648" y="0"/>
                </a:moveTo>
                <a:lnTo>
                  <a:pt x="0" y="0"/>
                </a:lnTo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3265347" y="1854160"/>
            <a:ext cx="170942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" b="1">
                <a:latin typeface="Calibri"/>
                <a:cs typeface="Calibri"/>
              </a:rPr>
              <a:t>Node</a:t>
            </a:r>
            <a:r>
              <a:rPr dirty="0" sz="1700" spc="-75" b="1">
                <a:latin typeface="Calibri"/>
                <a:cs typeface="Calibri"/>
              </a:rPr>
              <a:t> </a:t>
            </a:r>
            <a:r>
              <a:rPr dirty="0" sz="1700" spc="-5" b="1">
                <a:latin typeface="Calibri"/>
                <a:cs typeface="Calibri"/>
              </a:rPr>
              <a:t>classification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79379" y="2448525"/>
            <a:ext cx="1279525" cy="5461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700" spc="-5">
                <a:latin typeface="Calibri"/>
                <a:cs typeface="Calibri"/>
              </a:rPr>
              <a:t>Example</a:t>
            </a:r>
            <a:r>
              <a:rPr dirty="0" sz="1700" spc="-9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input  </a:t>
            </a:r>
            <a:r>
              <a:rPr dirty="0" sz="1700" spc="-10">
                <a:latin typeface="Calibri"/>
                <a:cs typeface="Calibri"/>
              </a:rPr>
              <a:t>graphs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3447178" y="6333602"/>
            <a:ext cx="252729" cy="252729"/>
          </a:xfrm>
          <a:custGeom>
            <a:avLst/>
            <a:gdLst/>
            <a:ahLst/>
            <a:cxnLst/>
            <a:rect l="l" t="t" r="r" b="b"/>
            <a:pathLst>
              <a:path w="252729" h="252729">
                <a:moveTo>
                  <a:pt x="0" y="126077"/>
                </a:moveTo>
                <a:lnTo>
                  <a:pt x="9907" y="77002"/>
                </a:lnTo>
                <a:lnTo>
                  <a:pt x="36927" y="36927"/>
                </a:lnTo>
                <a:lnTo>
                  <a:pt x="77002" y="9907"/>
                </a:lnTo>
                <a:lnTo>
                  <a:pt x="126077" y="0"/>
                </a:lnTo>
                <a:lnTo>
                  <a:pt x="175152" y="9907"/>
                </a:lnTo>
                <a:lnTo>
                  <a:pt x="215227" y="36927"/>
                </a:lnTo>
                <a:lnTo>
                  <a:pt x="242246" y="77002"/>
                </a:lnTo>
                <a:lnTo>
                  <a:pt x="252154" y="126077"/>
                </a:lnTo>
                <a:lnTo>
                  <a:pt x="242246" y="175152"/>
                </a:lnTo>
                <a:lnTo>
                  <a:pt x="215227" y="215227"/>
                </a:lnTo>
                <a:lnTo>
                  <a:pt x="175152" y="242246"/>
                </a:lnTo>
                <a:lnTo>
                  <a:pt x="126077" y="252154"/>
                </a:lnTo>
                <a:lnTo>
                  <a:pt x="77002" y="242246"/>
                </a:lnTo>
                <a:lnTo>
                  <a:pt x="36927" y="215227"/>
                </a:lnTo>
                <a:lnTo>
                  <a:pt x="9907" y="175152"/>
                </a:lnTo>
                <a:lnTo>
                  <a:pt x="0" y="126077"/>
                </a:lnTo>
                <a:close/>
              </a:path>
            </a:pathLst>
          </a:custGeom>
          <a:ln w="180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6580406" y="3339084"/>
            <a:ext cx="227711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Different 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computational graphs  </a:t>
            </a:r>
            <a:r>
              <a:rPr dirty="0" sz="2000" spc="840">
                <a:solidFill>
                  <a:srgbClr val="C00000"/>
                </a:solidFill>
                <a:latin typeface="Arial"/>
                <a:cs typeface="Arial"/>
              </a:rPr>
              <a:t>à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Successfully 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differentiate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nodes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688110" y="6000094"/>
            <a:ext cx="2950845" cy="65913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650" spc="5">
                <a:latin typeface="Calibri"/>
                <a:cs typeface="Calibri"/>
              </a:rPr>
              <a:t>node </a:t>
            </a:r>
            <a:r>
              <a:rPr dirty="0" sz="1650" spc="0">
                <a:latin typeface="Calibri"/>
                <a:cs typeface="Calibri"/>
              </a:rPr>
              <a:t>with augmented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0">
                <a:latin typeface="Calibri"/>
                <a:cs typeface="Calibri"/>
              </a:rPr>
              <a:t>identity</a:t>
            </a:r>
            <a:endParaRPr sz="165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960"/>
              </a:spcBef>
            </a:pPr>
            <a:r>
              <a:rPr dirty="0" sz="1650" spc="5">
                <a:latin typeface="Calibri"/>
                <a:cs typeface="Calibri"/>
              </a:rPr>
              <a:t>node without </a:t>
            </a:r>
            <a:r>
              <a:rPr dirty="0" sz="1650" spc="0">
                <a:latin typeface="Calibri"/>
                <a:cs typeface="Calibri"/>
              </a:rPr>
              <a:t>augmented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0">
                <a:latin typeface="Calibri"/>
                <a:cs typeface="Calibri"/>
              </a:rPr>
              <a:t>identity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002111" y="6161759"/>
            <a:ext cx="2096770" cy="32956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950" spc="-25" b="1">
                <a:solidFill>
                  <a:srgbClr val="C00000"/>
                </a:solidFill>
                <a:latin typeface="Calibri"/>
                <a:cs typeface="Calibri"/>
              </a:rPr>
              <a:t>Two </a:t>
            </a:r>
            <a:r>
              <a:rPr dirty="0" sz="1950" b="1">
                <a:solidFill>
                  <a:srgbClr val="C00000"/>
                </a:solidFill>
                <a:latin typeface="Calibri"/>
                <a:cs typeface="Calibri"/>
              </a:rPr>
              <a:t>types of</a:t>
            </a:r>
            <a:r>
              <a:rPr dirty="0" sz="195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C00000"/>
                </a:solidFill>
                <a:latin typeface="Calibri"/>
                <a:cs typeface="Calibri"/>
              </a:rPr>
              <a:t>nodes: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05" name="object 10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06" name="object 1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344" y="371856"/>
            <a:ext cx="8482584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94321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Inductive node </a:t>
            </a:r>
            <a:r>
              <a:rPr dirty="0" spc="-10" b="0">
                <a:latin typeface="Calibri"/>
                <a:cs typeface="Calibri"/>
              </a:rPr>
              <a:t>coloring can </a:t>
            </a:r>
            <a:r>
              <a:rPr dirty="0" spc="-5" b="0">
                <a:latin typeface="Calibri"/>
                <a:cs typeface="Calibri"/>
              </a:rPr>
              <a:t>help </a:t>
            </a:r>
            <a:r>
              <a:rPr dirty="0" spc="-15">
                <a:solidFill>
                  <a:srgbClr val="C00000"/>
                </a:solidFill>
              </a:rPr>
              <a:t>graph</a:t>
            </a:r>
            <a:r>
              <a:rPr dirty="0" spc="55">
                <a:solidFill>
                  <a:srgbClr val="C00000"/>
                </a:solidFill>
              </a:rPr>
              <a:t> </a:t>
            </a:r>
            <a:r>
              <a:rPr dirty="0" spc="-10">
                <a:solidFill>
                  <a:srgbClr val="C00000"/>
                </a:solidFill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845" y="4763504"/>
            <a:ext cx="1285240" cy="7969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5">
                <a:solidFill>
                  <a:srgbClr val="C00000"/>
                </a:solidFill>
                <a:latin typeface="Calibri"/>
                <a:cs typeface="Calibri"/>
              </a:rPr>
              <a:t>ID-GNNs’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02499"/>
              </a:lnSpc>
            </a:pPr>
            <a:r>
              <a:rPr dirty="0" sz="1650" spc="-1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1650" spc="5">
                <a:solidFill>
                  <a:srgbClr val="C00000"/>
                </a:solidFill>
                <a:latin typeface="Calibri"/>
                <a:cs typeface="Calibri"/>
              </a:rPr>
              <a:t>om</a:t>
            </a:r>
            <a:r>
              <a:rPr dirty="0" sz="1650" spc="10">
                <a:solidFill>
                  <a:srgbClr val="C00000"/>
                </a:solidFill>
                <a:latin typeface="Calibri"/>
                <a:cs typeface="Calibri"/>
              </a:rPr>
              <a:t>pu</a:t>
            </a:r>
            <a:r>
              <a:rPr dirty="0" sz="1650" spc="-2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650" spc="-1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165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650" spc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1650" spc="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1650" spc="0">
                <a:solidFill>
                  <a:srgbClr val="C00000"/>
                </a:solidFill>
                <a:latin typeface="Calibri"/>
                <a:cs typeface="Calibri"/>
              </a:rPr>
              <a:t>nal  </a:t>
            </a:r>
            <a:r>
              <a:rPr dirty="0" sz="1650" spc="0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10704" y="6020362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124416" y="0"/>
                </a:moveTo>
                <a:lnTo>
                  <a:pt x="75988" y="9777"/>
                </a:lnTo>
                <a:lnTo>
                  <a:pt x="36440" y="36440"/>
                </a:lnTo>
                <a:lnTo>
                  <a:pt x="9777" y="75987"/>
                </a:lnTo>
                <a:lnTo>
                  <a:pt x="0" y="124415"/>
                </a:lnTo>
                <a:lnTo>
                  <a:pt x="9777" y="172844"/>
                </a:lnTo>
                <a:lnTo>
                  <a:pt x="36440" y="212391"/>
                </a:lnTo>
                <a:lnTo>
                  <a:pt x="75988" y="239054"/>
                </a:lnTo>
                <a:lnTo>
                  <a:pt x="124416" y="248831"/>
                </a:lnTo>
                <a:lnTo>
                  <a:pt x="172844" y="239054"/>
                </a:lnTo>
                <a:lnTo>
                  <a:pt x="212391" y="212391"/>
                </a:lnTo>
                <a:lnTo>
                  <a:pt x="239055" y="172844"/>
                </a:lnTo>
                <a:lnTo>
                  <a:pt x="248832" y="124415"/>
                </a:lnTo>
                <a:lnTo>
                  <a:pt x="239055" y="75987"/>
                </a:lnTo>
                <a:lnTo>
                  <a:pt x="212391" y="36440"/>
                </a:lnTo>
                <a:lnTo>
                  <a:pt x="172844" y="9777"/>
                </a:lnTo>
                <a:lnTo>
                  <a:pt x="124416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10704" y="6020362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124415"/>
                </a:moveTo>
                <a:lnTo>
                  <a:pt x="9777" y="75987"/>
                </a:lnTo>
                <a:lnTo>
                  <a:pt x="36440" y="36440"/>
                </a:lnTo>
                <a:lnTo>
                  <a:pt x="75987" y="9777"/>
                </a:lnTo>
                <a:lnTo>
                  <a:pt x="124415" y="0"/>
                </a:lnTo>
                <a:lnTo>
                  <a:pt x="172844" y="9777"/>
                </a:lnTo>
                <a:lnTo>
                  <a:pt x="212391" y="36440"/>
                </a:lnTo>
                <a:lnTo>
                  <a:pt x="239054" y="75987"/>
                </a:lnTo>
                <a:lnTo>
                  <a:pt x="248831" y="124415"/>
                </a:lnTo>
                <a:lnTo>
                  <a:pt x="239054" y="172844"/>
                </a:lnTo>
                <a:lnTo>
                  <a:pt x="212391" y="212391"/>
                </a:lnTo>
                <a:lnTo>
                  <a:pt x="172844" y="239054"/>
                </a:lnTo>
                <a:lnTo>
                  <a:pt x="124415" y="248831"/>
                </a:lnTo>
                <a:lnTo>
                  <a:pt x="75987" y="239054"/>
                </a:lnTo>
                <a:lnTo>
                  <a:pt x="36440" y="212391"/>
                </a:lnTo>
                <a:lnTo>
                  <a:pt x="9777" y="172844"/>
                </a:lnTo>
                <a:lnTo>
                  <a:pt x="0" y="124415"/>
                </a:lnTo>
                <a:close/>
              </a:path>
            </a:pathLst>
          </a:custGeom>
          <a:ln w="177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3166" y="2559565"/>
            <a:ext cx="1263015" cy="5391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80"/>
              </a:spcBef>
            </a:pPr>
            <a:r>
              <a:rPr dirty="0" sz="1650" spc="0">
                <a:latin typeface="Calibri"/>
                <a:cs typeface="Calibri"/>
              </a:rPr>
              <a:t>Example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5">
                <a:latin typeface="Calibri"/>
                <a:cs typeface="Calibri"/>
              </a:rPr>
              <a:t>input  </a:t>
            </a:r>
            <a:r>
              <a:rPr dirty="0" sz="1650" spc="0">
                <a:latin typeface="Calibri"/>
                <a:cs typeface="Calibri"/>
              </a:rPr>
              <a:t>graphs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10704" y="639361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124415"/>
                </a:moveTo>
                <a:lnTo>
                  <a:pt x="9777" y="75987"/>
                </a:lnTo>
                <a:lnTo>
                  <a:pt x="36440" y="36440"/>
                </a:lnTo>
                <a:lnTo>
                  <a:pt x="75987" y="9777"/>
                </a:lnTo>
                <a:lnTo>
                  <a:pt x="124415" y="0"/>
                </a:lnTo>
                <a:lnTo>
                  <a:pt x="172844" y="9777"/>
                </a:lnTo>
                <a:lnTo>
                  <a:pt x="212391" y="36440"/>
                </a:lnTo>
                <a:lnTo>
                  <a:pt x="239054" y="75987"/>
                </a:lnTo>
                <a:lnTo>
                  <a:pt x="248831" y="124415"/>
                </a:lnTo>
                <a:lnTo>
                  <a:pt x="239054" y="172844"/>
                </a:lnTo>
                <a:lnTo>
                  <a:pt x="212391" y="212391"/>
                </a:lnTo>
                <a:lnTo>
                  <a:pt x="172844" y="239054"/>
                </a:lnTo>
                <a:lnTo>
                  <a:pt x="124415" y="248831"/>
                </a:lnTo>
                <a:lnTo>
                  <a:pt x="75987" y="239054"/>
                </a:lnTo>
                <a:lnTo>
                  <a:pt x="36440" y="212391"/>
                </a:lnTo>
                <a:lnTo>
                  <a:pt x="9777" y="172844"/>
                </a:lnTo>
                <a:lnTo>
                  <a:pt x="0" y="124415"/>
                </a:lnTo>
                <a:close/>
              </a:path>
            </a:pathLst>
          </a:custGeom>
          <a:ln w="177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73188" y="4296314"/>
            <a:ext cx="1599632" cy="1599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19316" y="4296314"/>
            <a:ext cx="1599632" cy="15996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041366" y="4879033"/>
            <a:ext cx="238125" cy="3670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200" spc="25">
                <a:latin typeface="Cambria Math"/>
                <a:cs typeface="Cambria Math"/>
              </a:rPr>
              <a:t>≠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19867" y="2278999"/>
            <a:ext cx="1644067" cy="15996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48221" y="2270113"/>
            <a:ext cx="1661840" cy="15996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40749" y="3759289"/>
            <a:ext cx="3503929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3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1950" spc="-5" b="1">
                <a:solidFill>
                  <a:srgbClr val="C00000"/>
                </a:solidFill>
                <a:latin typeface="Calibri"/>
                <a:cs typeface="Calibri"/>
              </a:rPr>
              <a:t>color root </a:t>
            </a:r>
            <a:r>
              <a:rPr dirty="0" sz="1950" b="1">
                <a:solidFill>
                  <a:srgbClr val="C00000"/>
                </a:solidFill>
                <a:latin typeface="Calibri"/>
                <a:cs typeface="Calibri"/>
              </a:rPr>
              <a:t>nodes with</a:t>
            </a:r>
            <a:r>
              <a:rPr dirty="0" sz="195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50" spc="-5" b="1">
                <a:solidFill>
                  <a:srgbClr val="C00000"/>
                </a:solidFill>
                <a:latin typeface="Calibri"/>
                <a:cs typeface="Calibri"/>
              </a:rPr>
              <a:t>identity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88110" y="6000094"/>
            <a:ext cx="2950845" cy="65913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650" spc="5">
                <a:latin typeface="Calibri"/>
                <a:cs typeface="Calibri"/>
              </a:rPr>
              <a:t>node </a:t>
            </a:r>
            <a:r>
              <a:rPr dirty="0" sz="1650" spc="0">
                <a:latin typeface="Calibri"/>
                <a:cs typeface="Calibri"/>
              </a:rPr>
              <a:t>with augmented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0">
                <a:latin typeface="Calibri"/>
                <a:cs typeface="Calibri"/>
              </a:rPr>
              <a:t>identity</a:t>
            </a:r>
            <a:endParaRPr sz="165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960"/>
              </a:spcBef>
            </a:pPr>
            <a:r>
              <a:rPr dirty="0" sz="1650" spc="5">
                <a:latin typeface="Calibri"/>
                <a:cs typeface="Calibri"/>
              </a:rPr>
              <a:t>node without </a:t>
            </a:r>
            <a:r>
              <a:rPr dirty="0" sz="1650" spc="0">
                <a:latin typeface="Calibri"/>
                <a:cs typeface="Calibri"/>
              </a:rPr>
              <a:t>augmented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0">
                <a:latin typeface="Calibri"/>
                <a:cs typeface="Calibri"/>
              </a:rPr>
              <a:t>identity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2111" y="6161759"/>
            <a:ext cx="2096770" cy="32956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950" spc="-25" b="1">
                <a:solidFill>
                  <a:srgbClr val="C00000"/>
                </a:solidFill>
                <a:latin typeface="Calibri"/>
                <a:cs typeface="Calibri"/>
              </a:rPr>
              <a:t>Two </a:t>
            </a:r>
            <a:r>
              <a:rPr dirty="0" sz="1950" b="1">
                <a:solidFill>
                  <a:srgbClr val="C00000"/>
                </a:solidFill>
                <a:latin typeface="Calibri"/>
                <a:cs typeface="Calibri"/>
              </a:rPr>
              <a:t>types of</a:t>
            </a:r>
            <a:r>
              <a:rPr dirty="0" sz="195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C00000"/>
                </a:solidFill>
                <a:latin typeface="Calibri"/>
                <a:cs typeface="Calibri"/>
              </a:rPr>
              <a:t>nodes: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47471" y="1900161"/>
            <a:ext cx="1750060" cy="73660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dirty="0" sz="1650" spc="0" b="1">
                <a:latin typeface="Calibri"/>
                <a:cs typeface="Calibri"/>
              </a:rPr>
              <a:t>Graph</a:t>
            </a:r>
            <a:r>
              <a:rPr dirty="0" sz="1650" spc="-85" b="1">
                <a:latin typeface="Calibri"/>
                <a:cs typeface="Calibri"/>
              </a:rPr>
              <a:t> </a:t>
            </a:r>
            <a:r>
              <a:rPr dirty="0" sz="1650" spc="0" b="1">
                <a:latin typeface="Calibri"/>
                <a:cs typeface="Calibri"/>
              </a:rPr>
              <a:t>classification</a:t>
            </a:r>
            <a:endParaRPr sz="1650">
              <a:latin typeface="Calibri"/>
              <a:cs typeface="Calibri"/>
            </a:endParaRPr>
          </a:p>
          <a:p>
            <a:pPr algn="ctr" marR="58419">
              <a:lnSpc>
                <a:spcPct val="100000"/>
              </a:lnSpc>
              <a:spcBef>
                <a:spcPts val="815"/>
              </a:spcBef>
              <a:tabLst>
                <a:tab pos="1033780" algn="l"/>
              </a:tabLst>
            </a:pPr>
            <a:r>
              <a:rPr dirty="0" sz="1650" spc="10">
                <a:solidFill>
                  <a:srgbClr val="70AD47"/>
                </a:solidFill>
                <a:latin typeface="Calibri"/>
                <a:cs typeface="Calibri"/>
              </a:rPr>
              <a:t>A	</a:t>
            </a:r>
            <a:r>
              <a:rPr dirty="0" sz="165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90904" y="4096990"/>
            <a:ext cx="1211580" cy="476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25"/>
              </a:lnSpc>
              <a:spcBef>
                <a:spcPts val="100"/>
              </a:spcBef>
            </a:pPr>
            <a:r>
              <a:rPr dirty="0" sz="1400" spc="-10">
                <a:latin typeface="Calibri"/>
                <a:cs typeface="Calibri"/>
              </a:rPr>
              <a:t>For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node:</a:t>
            </a:r>
            <a:endParaRPr sz="1400">
              <a:latin typeface="Calibri"/>
              <a:cs typeface="Calibri"/>
            </a:endParaRPr>
          </a:p>
          <a:p>
            <a:pPr algn="r" marR="5080">
              <a:lnSpc>
                <a:spcPts val="1925"/>
              </a:lnSpc>
            </a:pPr>
            <a:r>
              <a:rPr dirty="0" sz="1650" spc="10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7448" y="4096990"/>
            <a:ext cx="1200785" cy="476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030">
              <a:lnSpc>
                <a:spcPts val="1625"/>
              </a:lnSpc>
              <a:spcBef>
                <a:spcPts val="100"/>
              </a:spcBef>
            </a:pPr>
            <a:r>
              <a:rPr dirty="0" sz="1400" spc="-10">
                <a:latin typeface="Calibri"/>
                <a:cs typeface="Calibri"/>
              </a:rPr>
              <a:t>For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node: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925"/>
              </a:lnSpc>
            </a:pPr>
            <a:r>
              <a:rPr dirty="0" sz="165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59128" y="3448811"/>
            <a:ext cx="227711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Different 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computational graphs  </a:t>
            </a:r>
            <a:r>
              <a:rPr dirty="0" sz="2000" spc="840">
                <a:solidFill>
                  <a:srgbClr val="C00000"/>
                </a:solidFill>
                <a:latin typeface="Arial"/>
                <a:cs typeface="Arial"/>
              </a:rPr>
              <a:t>à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Successful 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differentiate</a:t>
            </a:r>
            <a:r>
              <a:rPr dirty="0" sz="20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8260080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252334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Inductive node </a:t>
            </a:r>
            <a:r>
              <a:rPr dirty="0" spc="-10" b="0">
                <a:latin typeface="Calibri"/>
                <a:cs typeface="Calibri"/>
              </a:rPr>
              <a:t>coloring can </a:t>
            </a:r>
            <a:r>
              <a:rPr dirty="0" spc="-5" b="0">
                <a:latin typeface="Calibri"/>
                <a:cs typeface="Calibri"/>
              </a:rPr>
              <a:t>help </a:t>
            </a:r>
            <a:r>
              <a:rPr dirty="0" spc="-5">
                <a:solidFill>
                  <a:srgbClr val="C00000"/>
                </a:solidFill>
              </a:rPr>
              <a:t>link</a:t>
            </a:r>
            <a:r>
              <a:rPr dirty="0" spc="50">
                <a:solidFill>
                  <a:srgbClr val="C00000"/>
                </a:solidFill>
              </a:rPr>
              <a:t> </a:t>
            </a:r>
            <a:r>
              <a:rPr dirty="0" spc="-10">
                <a:solidFill>
                  <a:srgbClr val="C00000"/>
                </a:solidFill>
              </a:rPr>
              <a:t>prediction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147" y="4609560"/>
            <a:ext cx="1252855" cy="7772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5">
                <a:solidFill>
                  <a:srgbClr val="C00000"/>
                </a:solidFill>
                <a:latin typeface="Calibri"/>
                <a:cs typeface="Calibri"/>
              </a:rPr>
              <a:t>ID-GNNs’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3000"/>
              </a:lnSpc>
            </a:pPr>
            <a:r>
              <a:rPr dirty="0" sz="1600" spc="-5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1600" spc="10">
                <a:solidFill>
                  <a:srgbClr val="C00000"/>
                </a:solidFill>
                <a:latin typeface="Calibri"/>
                <a:cs typeface="Calibri"/>
              </a:rPr>
              <a:t>om</a:t>
            </a:r>
            <a:r>
              <a:rPr dirty="0" sz="1600" spc="10">
                <a:solidFill>
                  <a:srgbClr val="C00000"/>
                </a:solidFill>
                <a:latin typeface="Calibri"/>
                <a:cs typeface="Calibri"/>
              </a:rPr>
              <a:t>pu</a:t>
            </a:r>
            <a:r>
              <a:rPr dirty="0" sz="1600" spc="-1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600" spc="-5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1600" spc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600" spc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1600" spc="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1600" spc="5">
                <a:solidFill>
                  <a:srgbClr val="C00000"/>
                </a:solidFill>
                <a:latin typeface="Calibri"/>
                <a:cs typeface="Calibri"/>
              </a:rPr>
              <a:t>nal  </a:t>
            </a:r>
            <a:r>
              <a:rPr dirty="0" sz="1600" spc="0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2807" y="5817192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121224" y="0"/>
                </a:moveTo>
                <a:lnTo>
                  <a:pt x="74038" y="9526"/>
                </a:lnTo>
                <a:lnTo>
                  <a:pt x="35505" y="35505"/>
                </a:lnTo>
                <a:lnTo>
                  <a:pt x="9526" y="74038"/>
                </a:lnTo>
                <a:lnTo>
                  <a:pt x="0" y="121224"/>
                </a:lnTo>
                <a:lnTo>
                  <a:pt x="9526" y="168411"/>
                </a:lnTo>
                <a:lnTo>
                  <a:pt x="35505" y="206943"/>
                </a:lnTo>
                <a:lnTo>
                  <a:pt x="74038" y="232923"/>
                </a:lnTo>
                <a:lnTo>
                  <a:pt x="121224" y="242449"/>
                </a:lnTo>
                <a:lnTo>
                  <a:pt x="168410" y="232923"/>
                </a:lnTo>
                <a:lnTo>
                  <a:pt x="206943" y="206943"/>
                </a:lnTo>
                <a:lnTo>
                  <a:pt x="232923" y="168411"/>
                </a:lnTo>
                <a:lnTo>
                  <a:pt x="242449" y="121224"/>
                </a:lnTo>
                <a:lnTo>
                  <a:pt x="232923" y="74038"/>
                </a:lnTo>
                <a:lnTo>
                  <a:pt x="206943" y="35505"/>
                </a:lnTo>
                <a:lnTo>
                  <a:pt x="168410" y="9526"/>
                </a:lnTo>
                <a:lnTo>
                  <a:pt x="121224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02807" y="5817192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8562" y="2453488"/>
            <a:ext cx="1231265" cy="5264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dirty="0" sz="1600" spc="5">
                <a:latin typeface="Calibri"/>
                <a:cs typeface="Calibri"/>
              </a:rPr>
              <a:t>Example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 spc="10">
                <a:latin typeface="Calibri"/>
                <a:cs typeface="Calibri"/>
              </a:rPr>
              <a:t>input  </a:t>
            </a:r>
            <a:r>
              <a:rPr dirty="0" sz="1600" spc="0">
                <a:latin typeface="Calibri"/>
                <a:cs typeface="Calibri"/>
              </a:rPr>
              <a:t>graphs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097" y="5943034"/>
            <a:ext cx="204343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25" b="1">
                <a:solidFill>
                  <a:srgbClr val="C00000"/>
                </a:solidFill>
                <a:latin typeface="Calibri"/>
                <a:cs typeface="Calibri"/>
              </a:rPr>
              <a:t>Two </a:t>
            </a:r>
            <a:r>
              <a:rPr dirty="0" sz="1900" b="1">
                <a:solidFill>
                  <a:srgbClr val="C00000"/>
                </a:solidFill>
                <a:latin typeface="Calibri"/>
                <a:cs typeface="Calibri"/>
              </a:rPr>
              <a:t>types of</a:t>
            </a:r>
            <a:r>
              <a:rPr dirty="0" sz="19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C00000"/>
                </a:solidFill>
                <a:latin typeface="Calibri"/>
                <a:cs typeface="Calibri"/>
              </a:rPr>
              <a:t>nodes: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02807" y="6180866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970207" y="5672876"/>
            <a:ext cx="2875915" cy="753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80" marR="5080" indent="-5715">
              <a:lnSpc>
                <a:spcPct val="149100"/>
              </a:lnSpc>
              <a:spcBef>
                <a:spcPts val="90"/>
              </a:spcBef>
            </a:pPr>
            <a:r>
              <a:rPr dirty="0" sz="1600" spc="10">
                <a:latin typeface="Calibri"/>
                <a:cs typeface="Calibri"/>
              </a:rPr>
              <a:t>node </a:t>
            </a:r>
            <a:r>
              <a:rPr dirty="0" sz="1600" spc="5">
                <a:latin typeface="Calibri"/>
                <a:cs typeface="Calibri"/>
              </a:rPr>
              <a:t>with augmented </a:t>
            </a:r>
            <a:r>
              <a:rPr dirty="0" sz="1600" spc="0">
                <a:latin typeface="Calibri"/>
                <a:cs typeface="Calibri"/>
              </a:rPr>
              <a:t>identity  </a:t>
            </a:r>
            <a:r>
              <a:rPr dirty="0" sz="1600" spc="10">
                <a:latin typeface="Calibri"/>
                <a:cs typeface="Calibri"/>
              </a:rPr>
              <a:t>node </a:t>
            </a:r>
            <a:r>
              <a:rPr dirty="0" sz="1600" spc="5">
                <a:latin typeface="Calibri"/>
                <a:cs typeface="Calibri"/>
              </a:rPr>
              <a:t>without augmented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0">
                <a:latin typeface="Calibri"/>
                <a:cs typeface="Calibri"/>
              </a:rPr>
              <a:t>identity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87390" y="2327645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69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87390" y="3314762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64264" y="2327645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69" h="251460">
                <a:moveTo>
                  <a:pt x="0" y="125554"/>
                </a:moveTo>
                <a:lnTo>
                  <a:pt x="9526" y="76682"/>
                </a:lnTo>
                <a:lnTo>
                  <a:pt x="35505" y="36774"/>
                </a:lnTo>
                <a:lnTo>
                  <a:pt x="74038" y="9866"/>
                </a:lnTo>
                <a:lnTo>
                  <a:pt x="121224" y="0"/>
                </a:lnTo>
                <a:lnTo>
                  <a:pt x="168411" y="9866"/>
                </a:lnTo>
                <a:lnTo>
                  <a:pt x="206943" y="36774"/>
                </a:lnTo>
                <a:lnTo>
                  <a:pt x="232923" y="76682"/>
                </a:lnTo>
                <a:lnTo>
                  <a:pt x="242449" y="125554"/>
                </a:lnTo>
                <a:lnTo>
                  <a:pt x="232923" y="174425"/>
                </a:lnTo>
                <a:lnTo>
                  <a:pt x="206943" y="214334"/>
                </a:lnTo>
                <a:lnTo>
                  <a:pt x="168411" y="241242"/>
                </a:lnTo>
                <a:lnTo>
                  <a:pt x="121224" y="251108"/>
                </a:lnTo>
                <a:lnTo>
                  <a:pt x="74038" y="241242"/>
                </a:lnTo>
                <a:lnTo>
                  <a:pt x="35505" y="214334"/>
                </a:lnTo>
                <a:lnTo>
                  <a:pt x="9526" y="174425"/>
                </a:lnTo>
                <a:lnTo>
                  <a:pt x="0" y="12555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17274" y="2570095"/>
            <a:ext cx="0" cy="744220"/>
          </a:xfrm>
          <a:custGeom>
            <a:avLst/>
            <a:gdLst/>
            <a:ahLst/>
            <a:cxnLst/>
            <a:rect l="l" t="t" r="r" b="b"/>
            <a:pathLst>
              <a:path w="0" h="744220">
                <a:moveTo>
                  <a:pt x="0" y="0"/>
                </a:moveTo>
                <a:lnTo>
                  <a:pt x="0" y="743927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85490" y="2578753"/>
            <a:ext cx="0" cy="741680"/>
          </a:xfrm>
          <a:custGeom>
            <a:avLst/>
            <a:gdLst/>
            <a:ahLst/>
            <a:cxnLst/>
            <a:rect l="l" t="t" r="r" b="b"/>
            <a:pathLst>
              <a:path w="0" h="741679">
                <a:moveTo>
                  <a:pt x="0" y="741216"/>
                </a:moveTo>
                <a:lnTo>
                  <a:pt x="0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517588" y="2669961"/>
            <a:ext cx="13906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64264" y="3314762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69" h="251460">
                <a:moveTo>
                  <a:pt x="121225" y="0"/>
                </a:moveTo>
                <a:lnTo>
                  <a:pt x="74038" y="9866"/>
                </a:lnTo>
                <a:lnTo>
                  <a:pt x="35505" y="36774"/>
                </a:lnTo>
                <a:lnTo>
                  <a:pt x="9526" y="76683"/>
                </a:lnTo>
                <a:lnTo>
                  <a:pt x="0" y="125554"/>
                </a:lnTo>
                <a:lnTo>
                  <a:pt x="9526" y="174426"/>
                </a:lnTo>
                <a:lnTo>
                  <a:pt x="35505" y="214335"/>
                </a:lnTo>
                <a:lnTo>
                  <a:pt x="74038" y="241242"/>
                </a:lnTo>
                <a:lnTo>
                  <a:pt x="121225" y="251109"/>
                </a:lnTo>
                <a:lnTo>
                  <a:pt x="168411" y="241242"/>
                </a:lnTo>
                <a:lnTo>
                  <a:pt x="206943" y="214335"/>
                </a:lnTo>
                <a:lnTo>
                  <a:pt x="232923" y="174426"/>
                </a:lnTo>
                <a:lnTo>
                  <a:pt x="242449" y="125554"/>
                </a:lnTo>
                <a:lnTo>
                  <a:pt x="232923" y="76683"/>
                </a:lnTo>
                <a:lnTo>
                  <a:pt x="206943" y="36774"/>
                </a:lnTo>
                <a:lnTo>
                  <a:pt x="168411" y="9866"/>
                </a:lnTo>
                <a:lnTo>
                  <a:pt x="1212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64264" y="3314762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69" h="251460">
                <a:moveTo>
                  <a:pt x="0" y="125554"/>
                </a:moveTo>
                <a:lnTo>
                  <a:pt x="9526" y="76682"/>
                </a:lnTo>
                <a:lnTo>
                  <a:pt x="35505" y="36774"/>
                </a:lnTo>
                <a:lnTo>
                  <a:pt x="74038" y="9866"/>
                </a:lnTo>
                <a:lnTo>
                  <a:pt x="121224" y="0"/>
                </a:lnTo>
                <a:lnTo>
                  <a:pt x="168411" y="9866"/>
                </a:lnTo>
                <a:lnTo>
                  <a:pt x="206943" y="36774"/>
                </a:lnTo>
                <a:lnTo>
                  <a:pt x="232923" y="76682"/>
                </a:lnTo>
                <a:lnTo>
                  <a:pt x="242449" y="125554"/>
                </a:lnTo>
                <a:lnTo>
                  <a:pt x="232923" y="174425"/>
                </a:lnTo>
                <a:lnTo>
                  <a:pt x="206943" y="214334"/>
                </a:lnTo>
                <a:lnTo>
                  <a:pt x="168411" y="241242"/>
                </a:lnTo>
                <a:lnTo>
                  <a:pt x="121224" y="251108"/>
                </a:lnTo>
                <a:lnTo>
                  <a:pt x="74038" y="241242"/>
                </a:lnTo>
                <a:lnTo>
                  <a:pt x="35505" y="214334"/>
                </a:lnTo>
                <a:lnTo>
                  <a:pt x="9526" y="174425"/>
                </a:lnTo>
                <a:lnTo>
                  <a:pt x="0" y="12555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501412" y="3302062"/>
            <a:ext cx="193040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340">
                <a:latin typeface="Cambria Math"/>
                <a:cs typeface="Cambria Math"/>
              </a:rPr>
              <a:t>!</a:t>
            </a:r>
            <a:r>
              <a:rPr dirty="0" baseline="-13888" sz="1500" spc="450">
                <a:latin typeface="Cambria Math"/>
                <a:cs typeface="Cambria Math"/>
              </a:rPr>
              <a:t>!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06714" y="2457528"/>
            <a:ext cx="358775" cy="0"/>
          </a:xfrm>
          <a:custGeom>
            <a:avLst/>
            <a:gdLst/>
            <a:ahLst/>
            <a:cxnLst/>
            <a:rect l="l" t="t" r="r" b="b"/>
            <a:pathLst>
              <a:path w="358775" h="0">
                <a:moveTo>
                  <a:pt x="358598" y="0"/>
                </a:moveTo>
                <a:lnTo>
                  <a:pt x="0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0388" y="2327645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70" h="251460">
                <a:moveTo>
                  <a:pt x="0" y="125554"/>
                </a:moveTo>
                <a:lnTo>
                  <a:pt x="9526" y="76682"/>
                </a:lnTo>
                <a:lnTo>
                  <a:pt x="35505" y="36774"/>
                </a:lnTo>
                <a:lnTo>
                  <a:pt x="74038" y="9866"/>
                </a:lnTo>
                <a:lnTo>
                  <a:pt x="121224" y="0"/>
                </a:lnTo>
                <a:lnTo>
                  <a:pt x="168411" y="9866"/>
                </a:lnTo>
                <a:lnTo>
                  <a:pt x="206943" y="36774"/>
                </a:lnTo>
                <a:lnTo>
                  <a:pt x="232923" y="76682"/>
                </a:lnTo>
                <a:lnTo>
                  <a:pt x="242449" y="125554"/>
                </a:lnTo>
                <a:lnTo>
                  <a:pt x="232923" y="174425"/>
                </a:lnTo>
                <a:lnTo>
                  <a:pt x="206943" y="214334"/>
                </a:lnTo>
                <a:lnTo>
                  <a:pt x="168411" y="241242"/>
                </a:lnTo>
                <a:lnTo>
                  <a:pt x="121224" y="251108"/>
                </a:lnTo>
                <a:lnTo>
                  <a:pt x="74038" y="241242"/>
                </a:lnTo>
                <a:lnTo>
                  <a:pt x="35505" y="214334"/>
                </a:lnTo>
                <a:lnTo>
                  <a:pt x="9526" y="174425"/>
                </a:lnTo>
                <a:lnTo>
                  <a:pt x="0" y="12555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15902" y="2327645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70" h="251460">
                <a:moveTo>
                  <a:pt x="0" y="125554"/>
                </a:moveTo>
                <a:lnTo>
                  <a:pt x="9526" y="76682"/>
                </a:lnTo>
                <a:lnTo>
                  <a:pt x="35505" y="36774"/>
                </a:lnTo>
                <a:lnTo>
                  <a:pt x="74038" y="9866"/>
                </a:lnTo>
                <a:lnTo>
                  <a:pt x="121224" y="0"/>
                </a:lnTo>
                <a:lnTo>
                  <a:pt x="168411" y="9866"/>
                </a:lnTo>
                <a:lnTo>
                  <a:pt x="206943" y="36774"/>
                </a:lnTo>
                <a:lnTo>
                  <a:pt x="232923" y="76682"/>
                </a:lnTo>
                <a:lnTo>
                  <a:pt x="242449" y="125554"/>
                </a:lnTo>
                <a:lnTo>
                  <a:pt x="232923" y="174425"/>
                </a:lnTo>
                <a:lnTo>
                  <a:pt x="206943" y="214334"/>
                </a:lnTo>
                <a:lnTo>
                  <a:pt x="168411" y="241242"/>
                </a:lnTo>
                <a:lnTo>
                  <a:pt x="121224" y="251108"/>
                </a:lnTo>
                <a:lnTo>
                  <a:pt x="74038" y="241242"/>
                </a:lnTo>
                <a:lnTo>
                  <a:pt x="35505" y="214334"/>
                </a:lnTo>
                <a:lnTo>
                  <a:pt x="9526" y="174425"/>
                </a:lnTo>
                <a:lnTo>
                  <a:pt x="0" y="12555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06743" y="2314945"/>
            <a:ext cx="738505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57530" algn="l"/>
              </a:tabLst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284">
                <a:latin typeface="Cambria Math"/>
                <a:cs typeface="Cambria Math"/>
              </a:rPr>
              <a:t>"</a:t>
            </a:r>
            <a:r>
              <a:rPr dirty="0" baseline="-13888" sz="1500">
                <a:latin typeface="Cambria Math"/>
                <a:cs typeface="Cambria Math"/>
              </a:rPr>
              <a:t>	</a:t>
            </a:r>
            <a:r>
              <a:rPr dirty="0" sz="1350" spc="340">
                <a:latin typeface="Cambria Math"/>
                <a:cs typeface="Cambria Math"/>
              </a:rPr>
              <a:t>!</a:t>
            </a:r>
            <a:r>
              <a:rPr dirty="0" baseline="-13888" sz="1500" spc="-44">
                <a:latin typeface="Cambria Math"/>
                <a:cs typeface="Cambria Math"/>
              </a:rPr>
              <a:t>#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87204" y="1847363"/>
            <a:ext cx="130492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5" b="1">
                <a:latin typeface="Calibri"/>
                <a:cs typeface="Calibri"/>
              </a:rPr>
              <a:t>Link</a:t>
            </a:r>
            <a:r>
              <a:rPr dirty="0" sz="1600" spc="-85" b="1">
                <a:latin typeface="Calibri"/>
                <a:cs typeface="Calibri"/>
              </a:rPr>
              <a:t> </a:t>
            </a:r>
            <a:r>
              <a:rPr dirty="0" sz="1600" spc="5" b="1">
                <a:latin typeface="Calibri"/>
                <a:cs typeface="Calibri"/>
              </a:rPr>
              <a:t>prediction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12839" y="2457528"/>
            <a:ext cx="302895" cy="0"/>
          </a:xfrm>
          <a:custGeom>
            <a:avLst/>
            <a:gdLst/>
            <a:ahLst/>
            <a:cxnLst/>
            <a:rect l="l" t="t" r="r" b="b"/>
            <a:pathLst>
              <a:path w="302895" h="0">
                <a:moveTo>
                  <a:pt x="302523" y="0"/>
                </a:moveTo>
                <a:lnTo>
                  <a:pt x="0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58352" y="2448869"/>
            <a:ext cx="330835" cy="8255"/>
          </a:xfrm>
          <a:custGeom>
            <a:avLst/>
            <a:gdLst/>
            <a:ahLst/>
            <a:cxnLst/>
            <a:rect l="l" t="t" r="r" b="b"/>
            <a:pathLst>
              <a:path w="330835" h="8255">
                <a:moveTo>
                  <a:pt x="330232" y="0"/>
                </a:moveTo>
                <a:lnTo>
                  <a:pt x="0" y="7645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746019" y="2652643"/>
            <a:ext cx="146050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15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672078" y="2544118"/>
            <a:ext cx="430530" cy="813435"/>
          </a:xfrm>
          <a:custGeom>
            <a:avLst/>
            <a:gdLst/>
            <a:ahLst/>
            <a:cxnLst/>
            <a:rect l="l" t="t" r="r" b="b"/>
            <a:pathLst>
              <a:path w="430530" h="813435">
                <a:moveTo>
                  <a:pt x="0" y="812893"/>
                </a:moveTo>
                <a:lnTo>
                  <a:pt x="430274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72078" y="2544118"/>
            <a:ext cx="977900" cy="813435"/>
          </a:xfrm>
          <a:custGeom>
            <a:avLst/>
            <a:gdLst/>
            <a:ahLst/>
            <a:cxnLst/>
            <a:rect l="l" t="t" r="r" b="b"/>
            <a:pathLst>
              <a:path w="977900" h="813435">
                <a:moveTo>
                  <a:pt x="0" y="812893"/>
                </a:moveTo>
                <a:lnTo>
                  <a:pt x="977519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582823" y="5103119"/>
            <a:ext cx="26035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>
                <a:latin typeface="Cambria Math"/>
                <a:cs typeface="Cambria Math"/>
              </a:rPr>
              <a:t>…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76831" y="4275903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616085" y="4254544"/>
            <a:ext cx="189230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284">
                <a:latin typeface="Cambria Math"/>
                <a:cs typeface="Cambria Math"/>
              </a:rPr>
              <a:t>"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60357" y="4483717"/>
            <a:ext cx="255270" cy="147320"/>
          </a:xfrm>
          <a:custGeom>
            <a:avLst/>
            <a:gdLst/>
            <a:ahLst/>
            <a:cxnLst/>
            <a:rect l="l" t="t" r="r" b="b"/>
            <a:pathLst>
              <a:path w="255269" h="147320">
                <a:moveTo>
                  <a:pt x="0" y="146926"/>
                </a:moveTo>
                <a:lnTo>
                  <a:pt x="254934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84645" y="4483717"/>
            <a:ext cx="287655" cy="147320"/>
          </a:xfrm>
          <a:custGeom>
            <a:avLst/>
            <a:gdLst/>
            <a:ahLst/>
            <a:cxnLst/>
            <a:rect l="l" t="t" r="r" b="b"/>
            <a:pathLst>
              <a:path w="287655" h="147320">
                <a:moveTo>
                  <a:pt x="0" y="0"/>
                </a:moveTo>
                <a:lnTo>
                  <a:pt x="287325" y="146926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919100" y="4245885"/>
            <a:ext cx="146050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15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083272" y="5011911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125553" y="0"/>
                </a:moveTo>
                <a:lnTo>
                  <a:pt x="76682" y="9526"/>
                </a:lnTo>
                <a:lnTo>
                  <a:pt x="36773" y="35506"/>
                </a:lnTo>
                <a:lnTo>
                  <a:pt x="9866" y="74039"/>
                </a:lnTo>
                <a:lnTo>
                  <a:pt x="0" y="121225"/>
                </a:lnTo>
                <a:lnTo>
                  <a:pt x="9866" y="168411"/>
                </a:lnTo>
                <a:lnTo>
                  <a:pt x="36773" y="206944"/>
                </a:lnTo>
                <a:lnTo>
                  <a:pt x="76682" y="232924"/>
                </a:lnTo>
                <a:lnTo>
                  <a:pt x="125553" y="242450"/>
                </a:lnTo>
                <a:lnTo>
                  <a:pt x="174425" y="232924"/>
                </a:lnTo>
                <a:lnTo>
                  <a:pt x="214334" y="206944"/>
                </a:lnTo>
                <a:lnTo>
                  <a:pt x="241241" y="168411"/>
                </a:lnTo>
                <a:lnTo>
                  <a:pt x="251108" y="121225"/>
                </a:lnTo>
                <a:lnTo>
                  <a:pt x="241241" y="74039"/>
                </a:lnTo>
                <a:lnTo>
                  <a:pt x="214334" y="35506"/>
                </a:lnTo>
                <a:lnTo>
                  <a:pt x="174425" y="9526"/>
                </a:lnTo>
                <a:lnTo>
                  <a:pt x="125553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083272" y="5011911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86333" y="5011911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39133" y="4630919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204497" y="4838732"/>
            <a:ext cx="65405" cy="174625"/>
          </a:xfrm>
          <a:custGeom>
            <a:avLst/>
            <a:gdLst/>
            <a:ahLst/>
            <a:cxnLst/>
            <a:rect l="l" t="t" r="r" b="b"/>
            <a:pathLst>
              <a:path w="65405" h="174625">
                <a:moveTo>
                  <a:pt x="65385" y="0"/>
                </a:moveTo>
                <a:lnTo>
                  <a:pt x="0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446947" y="4838732"/>
            <a:ext cx="64135" cy="174625"/>
          </a:xfrm>
          <a:custGeom>
            <a:avLst/>
            <a:gdLst/>
            <a:ahLst/>
            <a:cxnLst/>
            <a:rect l="l" t="t" r="r" b="b"/>
            <a:pathLst>
              <a:path w="64135" h="174625">
                <a:moveTo>
                  <a:pt x="0" y="0"/>
                </a:moveTo>
                <a:lnTo>
                  <a:pt x="64074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801962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105025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949164" y="4630919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923187" y="4838732"/>
            <a:ext cx="65405" cy="174625"/>
          </a:xfrm>
          <a:custGeom>
            <a:avLst/>
            <a:gdLst/>
            <a:ahLst/>
            <a:cxnLst/>
            <a:rect l="l" t="t" r="r" b="b"/>
            <a:pathLst>
              <a:path w="65405" h="174625">
                <a:moveTo>
                  <a:pt x="65385" y="0"/>
                </a:moveTo>
                <a:lnTo>
                  <a:pt x="0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165637" y="4838732"/>
            <a:ext cx="64135" cy="174625"/>
          </a:xfrm>
          <a:custGeom>
            <a:avLst/>
            <a:gdLst/>
            <a:ahLst/>
            <a:cxnLst/>
            <a:rect l="l" t="t" r="r" b="b"/>
            <a:pathLst>
              <a:path w="64135" h="174625">
                <a:moveTo>
                  <a:pt x="0" y="0"/>
                </a:moveTo>
                <a:lnTo>
                  <a:pt x="64074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820948" y="4237226"/>
            <a:ext cx="13906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61331" y="5103119"/>
            <a:ext cx="26035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>
                <a:latin typeface="Cambria Math"/>
                <a:cs typeface="Cambria Math"/>
              </a:rPr>
              <a:t>…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057506" y="4275903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092581" y="4254544"/>
            <a:ext cx="193040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340">
                <a:latin typeface="Cambria Math"/>
                <a:cs typeface="Cambria Math"/>
              </a:rPr>
              <a:t>!</a:t>
            </a:r>
            <a:r>
              <a:rPr dirty="0" baseline="-13888" sz="1500" spc="-44">
                <a:latin typeface="Cambria Math"/>
                <a:cs typeface="Cambria Math"/>
              </a:rPr>
              <a:t>#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841033" y="4483717"/>
            <a:ext cx="255270" cy="147320"/>
          </a:xfrm>
          <a:custGeom>
            <a:avLst/>
            <a:gdLst/>
            <a:ahLst/>
            <a:cxnLst/>
            <a:rect l="l" t="t" r="r" b="b"/>
            <a:pathLst>
              <a:path w="255270" h="147320">
                <a:moveTo>
                  <a:pt x="0" y="146926"/>
                </a:moveTo>
                <a:lnTo>
                  <a:pt x="254934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265321" y="4483717"/>
            <a:ext cx="287655" cy="147320"/>
          </a:xfrm>
          <a:custGeom>
            <a:avLst/>
            <a:gdLst/>
            <a:ahLst/>
            <a:cxnLst/>
            <a:rect l="l" t="t" r="r" b="b"/>
            <a:pathLst>
              <a:path w="287654" h="147320">
                <a:moveTo>
                  <a:pt x="0" y="0"/>
                </a:moveTo>
                <a:lnTo>
                  <a:pt x="287325" y="146926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563947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867010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719808" y="4630919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685173" y="4838732"/>
            <a:ext cx="65405" cy="174625"/>
          </a:xfrm>
          <a:custGeom>
            <a:avLst/>
            <a:gdLst/>
            <a:ahLst/>
            <a:cxnLst/>
            <a:rect l="l" t="t" r="r" b="b"/>
            <a:pathLst>
              <a:path w="65404" h="174625">
                <a:moveTo>
                  <a:pt x="65385" y="0"/>
                </a:moveTo>
                <a:lnTo>
                  <a:pt x="0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927623" y="4838732"/>
            <a:ext cx="64135" cy="174625"/>
          </a:xfrm>
          <a:custGeom>
            <a:avLst/>
            <a:gdLst/>
            <a:ahLst/>
            <a:cxnLst/>
            <a:rect l="l" t="t" r="r" b="b"/>
            <a:pathLst>
              <a:path w="64135" h="174625">
                <a:moveTo>
                  <a:pt x="0" y="0"/>
                </a:moveTo>
                <a:lnTo>
                  <a:pt x="64074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282639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585700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429841" y="4630919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403864" y="4838732"/>
            <a:ext cx="65405" cy="174625"/>
          </a:xfrm>
          <a:custGeom>
            <a:avLst/>
            <a:gdLst/>
            <a:ahLst/>
            <a:cxnLst/>
            <a:rect l="l" t="t" r="r" b="b"/>
            <a:pathLst>
              <a:path w="65404" h="174625">
                <a:moveTo>
                  <a:pt x="65385" y="0"/>
                </a:moveTo>
                <a:lnTo>
                  <a:pt x="0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637655" y="4838732"/>
            <a:ext cx="64135" cy="174625"/>
          </a:xfrm>
          <a:custGeom>
            <a:avLst/>
            <a:gdLst/>
            <a:ahLst/>
            <a:cxnLst/>
            <a:rect l="l" t="t" r="r" b="b"/>
            <a:pathLst>
              <a:path w="64135" h="174625">
                <a:moveTo>
                  <a:pt x="0" y="0"/>
                </a:moveTo>
                <a:lnTo>
                  <a:pt x="64074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3366526" y="4193931"/>
            <a:ext cx="232410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spc="15">
                <a:latin typeface="Cambria Math"/>
                <a:cs typeface="Cambria Math"/>
              </a:rPr>
              <a:t>≠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33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54270" marR="1065530">
              <a:lnSpc>
                <a:spcPct val="100000"/>
              </a:lnSpc>
              <a:spcBef>
                <a:spcPts val="100"/>
              </a:spcBef>
            </a:pPr>
            <a:r>
              <a:rPr dirty="0"/>
              <a:t>An </a:t>
            </a:r>
            <a:r>
              <a:rPr dirty="0" spc="-5"/>
              <a:t>edge-level </a:t>
            </a:r>
            <a:r>
              <a:rPr dirty="0" spc="-10"/>
              <a:t>task</a:t>
            </a:r>
            <a:r>
              <a:rPr dirty="0" spc="-70"/>
              <a:t> </a:t>
            </a:r>
            <a:r>
              <a:rPr dirty="0" spc="-10"/>
              <a:t>involves  </a:t>
            </a:r>
            <a:r>
              <a:rPr dirty="0" spc="-5"/>
              <a:t>classifying </a:t>
            </a:r>
            <a:r>
              <a:rPr dirty="0">
                <a:solidFill>
                  <a:srgbClr val="C00000"/>
                </a:solidFill>
              </a:rPr>
              <a:t>a </a:t>
            </a:r>
            <a:r>
              <a:rPr dirty="0" spc="-5">
                <a:solidFill>
                  <a:srgbClr val="C00000"/>
                </a:solidFill>
              </a:rPr>
              <a:t>pair </a:t>
            </a:r>
            <a:r>
              <a:rPr dirty="0">
                <a:solidFill>
                  <a:srgbClr val="C00000"/>
                </a:solidFill>
              </a:rPr>
              <a:t>of</a:t>
            </a:r>
            <a:r>
              <a:rPr dirty="0" spc="-3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nodes:</a:t>
            </a:r>
          </a:p>
          <a:p>
            <a:pPr marL="4954270">
              <a:lnSpc>
                <a:spcPts val="2125"/>
              </a:lnSpc>
              <a:spcBef>
                <a:spcPts val="5"/>
              </a:spcBef>
              <a:buClr>
                <a:srgbClr val="000000"/>
              </a:buClr>
              <a:buAutoNum type="arabicPeriod"/>
              <a:tabLst>
                <a:tab pos="5180330" algn="l"/>
              </a:tabLst>
            </a:pPr>
            <a:r>
              <a:rPr dirty="0" sz="1800" spc="-35" b="0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1800" spc="-5" b="0">
                <a:solidFill>
                  <a:srgbClr val="0070C0"/>
                </a:solidFill>
                <a:latin typeface="Calibri"/>
                <a:cs typeface="Calibri"/>
              </a:rPr>
              <a:t>color </a:t>
            </a:r>
            <a:r>
              <a:rPr dirty="0" sz="1800" b="0">
                <a:solidFill>
                  <a:srgbClr val="0070C0"/>
                </a:solidFill>
                <a:latin typeface="Calibri"/>
                <a:cs typeface="Calibri"/>
              </a:rPr>
              <a:t>one of </a:t>
            </a:r>
            <a:r>
              <a:rPr dirty="0" sz="1800" spc="-5" b="0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1800" b="0">
                <a:solidFill>
                  <a:srgbClr val="0070C0"/>
                </a:solidFill>
                <a:latin typeface="Calibri"/>
                <a:cs typeface="Calibri"/>
              </a:rPr>
              <a:t>node</a:t>
            </a:r>
            <a:r>
              <a:rPr dirty="0" sz="1800" spc="35" b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1800" spc="-25" b="0">
                <a:solidFill>
                  <a:srgbClr val="0070C0"/>
                </a:solidFill>
                <a:latin typeface="Calibri"/>
                <a:cs typeface="Calibri"/>
              </a:rPr>
              <a:t>(</a:t>
            </a:r>
            <a:r>
              <a:rPr dirty="0" sz="1800" spc="-25" b="0">
                <a:solidFill>
                  <a:srgbClr val="0070C0"/>
                </a:solidFill>
                <a:latin typeface="Cambria Math"/>
                <a:cs typeface="Cambria Math"/>
              </a:rPr>
              <a:t>v</a:t>
            </a:r>
            <a:r>
              <a:rPr dirty="0" baseline="-14957" sz="1950" spc="-37" b="0">
                <a:solidFill>
                  <a:srgbClr val="0070C0"/>
                </a:solidFill>
                <a:latin typeface="Cambria Math"/>
                <a:cs typeface="Cambria Math"/>
              </a:rPr>
              <a:t>&amp;</a:t>
            </a:r>
            <a:r>
              <a:rPr dirty="0" sz="1800" spc="-25" b="0">
                <a:solidFill>
                  <a:srgbClr val="0070C0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5179695" indent="-225425">
              <a:lnSpc>
                <a:spcPts val="2125"/>
              </a:lnSpc>
              <a:buAutoNum type="arabicPeriod"/>
              <a:tabLst>
                <a:tab pos="5180965" algn="l"/>
              </a:tabLst>
            </a:pPr>
            <a:r>
              <a:rPr dirty="0" sz="1800" spc="-35" b="0">
                <a:latin typeface="Calibri"/>
                <a:cs typeface="Calibri"/>
              </a:rPr>
              <a:t>We </a:t>
            </a:r>
            <a:r>
              <a:rPr dirty="0" sz="1800" spc="-5" b="0">
                <a:latin typeface="Calibri"/>
                <a:cs typeface="Calibri"/>
              </a:rPr>
              <a:t>then </a:t>
            </a:r>
            <a:r>
              <a:rPr dirty="0" sz="1800" b="0">
                <a:solidFill>
                  <a:srgbClr val="E88651"/>
                </a:solidFill>
                <a:latin typeface="Calibri"/>
                <a:cs typeface="Calibri"/>
              </a:rPr>
              <a:t>embed </a:t>
            </a:r>
            <a:r>
              <a:rPr dirty="0" sz="1800" spc="-5" b="0">
                <a:solidFill>
                  <a:srgbClr val="E88651"/>
                </a:solidFill>
                <a:latin typeface="Calibri"/>
                <a:cs typeface="Calibri"/>
              </a:rPr>
              <a:t>the other </a:t>
            </a:r>
            <a:r>
              <a:rPr dirty="0" sz="1800" b="0">
                <a:solidFill>
                  <a:srgbClr val="E88651"/>
                </a:solidFill>
                <a:latin typeface="Calibri"/>
                <a:cs typeface="Calibri"/>
              </a:rPr>
              <a:t>node </a:t>
            </a:r>
            <a:r>
              <a:rPr dirty="0" sz="1800" spc="-5" b="0">
                <a:solidFill>
                  <a:srgbClr val="E88651"/>
                </a:solidFill>
                <a:latin typeface="Calibri"/>
                <a:cs typeface="Calibri"/>
              </a:rPr>
              <a:t>in</a:t>
            </a:r>
            <a:r>
              <a:rPr dirty="0" sz="1800" spc="50" b="0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1800" spc="-5" b="0">
                <a:solidFill>
                  <a:srgbClr val="E88651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4954270">
              <a:lnSpc>
                <a:spcPct val="100000"/>
              </a:lnSpc>
              <a:spcBef>
                <a:spcPts val="50"/>
              </a:spcBef>
            </a:pPr>
            <a:r>
              <a:rPr dirty="0" sz="1800" b="0">
                <a:solidFill>
                  <a:srgbClr val="E88651"/>
                </a:solidFill>
                <a:latin typeface="Calibri"/>
                <a:cs typeface="Calibri"/>
              </a:rPr>
              <a:t>node </a:t>
            </a:r>
            <a:r>
              <a:rPr dirty="0" sz="1800" spc="-5" b="0">
                <a:solidFill>
                  <a:srgbClr val="E88651"/>
                </a:solidFill>
                <a:latin typeface="Calibri"/>
                <a:cs typeface="Calibri"/>
              </a:rPr>
              <a:t>pair </a:t>
            </a:r>
            <a:r>
              <a:rPr dirty="0" sz="1800" spc="110" b="0">
                <a:solidFill>
                  <a:srgbClr val="E88651"/>
                </a:solidFill>
                <a:latin typeface="Calibri"/>
                <a:cs typeface="Calibri"/>
              </a:rPr>
              <a:t>(</a:t>
            </a:r>
            <a:r>
              <a:rPr dirty="0" sz="1800" spc="110" b="0">
                <a:solidFill>
                  <a:srgbClr val="E88651"/>
                </a:solidFill>
                <a:latin typeface="Cambria Math"/>
                <a:cs typeface="Cambria Math"/>
              </a:rPr>
              <a:t>v</a:t>
            </a:r>
            <a:r>
              <a:rPr dirty="0" baseline="-14957" sz="1950" spc="165" b="0">
                <a:solidFill>
                  <a:srgbClr val="E88651"/>
                </a:solidFill>
                <a:latin typeface="Cambria Math"/>
                <a:cs typeface="Cambria Math"/>
              </a:rPr>
              <a:t>! </a:t>
            </a:r>
            <a:r>
              <a:rPr dirty="0" sz="1800" b="0">
                <a:solidFill>
                  <a:srgbClr val="E88651"/>
                </a:solidFill>
                <a:latin typeface="Calibri"/>
                <a:cs typeface="Calibri"/>
              </a:rPr>
              <a:t>or</a:t>
            </a:r>
            <a:r>
              <a:rPr dirty="0" sz="1800" spc="-110" b="0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1800" spc="90" b="0">
                <a:solidFill>
                  <a:srgbClr val="E88651"/>
                </a:solidFill>
                <a:latin typeface="Cambria Math"/>
                <a:cs typeface="Cambria Math"/>
              </a:rPr>
              <a:t>v</a:t>
            </a:r>
            <a:r>
              <a:rPr dirty="0" baseline="-14957" sz="1950" spc="135" b="0">
                <a:solidFill>
                  <a:srgbClr val="E88651"/>
                </a:solidFill>
                <a:latin typeface="Cambria Math"/>
                <a:cs typeface="Cambria Math"/>
              </a:rPr>
              <a:t>"</a:t>
            </a:r>
            <a:r>
              <a:rPr dirty="0" sz="1800" spc="90" b="0">
                <a:solidFill>
                  <a:srgbClr val="E88651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4954270" marR="508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5180965" algn="l"/>
              </a:tabLst>
            </a:pPr>
            <a:r>
              <a:rPr dirty="0" sz="1800" spc="-35" b="0">
                <a:latin typeface="Calibri"/>
                <a:cs typeface="Calibri"/>
              </a:rPr>
              <a:t>We </a:t>
            </a:r>
            <a:r>
              <a:rPr dirty="0" sz="1800" spc="-5" b="0">
                <a:latin typeface="Calibri"/>
                <a:cs typeface="Calibri"/>
              </a:rPr>
              <a:t>use the </a:t>
            </a:r>
            <a:r>
              <a:rPr dirty="0" sz="1800" b="0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1800" spc="-5" b="0">
                <a:solidFill>
                  <a:srgbClr val="C00000"/>
                </a:solidFill>
                <a:latin typeface="Calibri"/>
                <a:cs typeface="Calibri"/>
              </a:rPr>
              <a:t>embedding </a:t>
            </a:r>
            <a:r>
              <a:rPr dirty="0" sz="1800" spc="-15" b="0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1800" spc="165" b="0">
                <a:solidFill>
                  <a:srgbClr val="C00000"/>
                </a:solidFill>
                <a:latin typeface="Cambria Math"/>
                <a:cs typeface="Cambria Math"/>
              </a:rPr>
              <a:t>v</a:t>
            </a:r>
            <a:r>
              <a:rPr dirty="0" baseline="-17094" sz="1950" spc="247" b="0">
                <a:solidFill>
                  <a:srgbClr val="C00000"/>
                </a:solidFill>
                <a:latin typeface="Cambria Math"/>
                <a:cs typeface="Cambria Math"/>
              </a:rPr>
              <a:t>! </a:t>
            </a:r>
            <a:r>
              <a:rPr dirty="0" sz="1800" b="0">
                <a:solidFill>
                  <a:srgbClr val="C00000"/>
                </a:solidFill>
                <a:latin typeface="Calibri"/>
                <a:cs typeface="Calibri"/>
              </a:rPr>
              <a:t>or  </a:t>
            </a:r>
            <a:r>
              <a:rPr dirty="0" sz="1800" spc="114" b="0">
                <a:solidFill>
                  <a:srgbClr val="C00000"/>
                </a:solidFill>
                <a:latin typeface="Cambria Math"/>
                <a:cs typeface="Cambria Math"/>
              </a:rPr>
              <a:t>v</a:t>
            </a:r>
            <a:r>
              <a:rPr dirty="0" baseline="-14957" sz="1950" spc="172" b="0">
                <a:solidFill>
                  <a:srgbClr val="C00000"/>
                </a:solidFill>
                <a:latin typeface="Cambria Math"/>
                <a:cs typeface="Cambria Math"/>
              </a:rPr>
              <a:t>" </a:t>
            </a:r>
            <a:r>
              <a:rPr dirty="0" sz="1800" spc="-5" b="0">
                <a:solidFill>
                  <a:srgbClr val="C00000"/>
                </a:solidFill>
                <a:latin typeface="Calibri"/>
                <a:cs typeface="Calibri"/>
              </a:rPr>
              <a:t>conditioned </a:t>
            </a:r>
            <a:r>
              <a:rPr dirty="0" sz="1800" b="0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dirty="0" sz="1800" spc="-85" b="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-127" b="0">
                <a:solidFill>
                  <a:srgbClr val="C00000"/>
                </a:solidFill>
                <a:latin typeface="Cambria Math"/>
                <a:cs typeface="Cambria Math"/>
              </a:rPr>
              <a:t>&amp; </a:t>
            </a:r>
            <a:r>
              <a:rPr dirty="0" sz="1800" spc="-5" b="0">
                <a:solidFill>
                  <a:srgbClr val="C00000"/>
                </a:solidFill>
                <a:latin typeface="Calibri"/>
                <a:cs typeface="Calibri"/>
              </a:rPr>
              <a:t>being </a:t>
            </a:r>
            <a:r>
              <a:rPr dirty="0" sz="1800" spc="-10" b="0">
                <a:solidFill>
                  <a:srgbClr val="C00000"/>
                </a:solidFill>
                <a:latin typeface="Calibri"/>
                <a:cs typeface="Calibri"/>
              </a:rPr>
              <a:t>colored </a:t>
            </a:r>
            <a:r>
              <a:rPr dirty="0" sz="1800" b="0">
                <a:solidFill>
                  <a:srgbClr val="C00000"/>
                </a:solidFill>
                <a:latin typeface="Calibri"/>
                <a:cs typeface="Calibri"/>
              </a:rPr>
              <a:t>or not </a:t>
            </a:r>
            <a:r>
              <a:rPr dirty="0" sz="1800" b="0">
                <a:latin typeface="Calibri"/>
                <a:cs typeface="Calibri"/>
              </a:rPr>
              <a:t> </a:t>
            </a:r>
            <a:r>
              <a:rPr dirty="0" sz="1800" spc="-15" b="0">
                <a:latin typeface="Calibri"/>
                <a:cs typeface="Calibri"/>
              </a:rPr>
              <a:t>to </a:t>
            </a:r>
            <a:r>
              <a:rPr dirty="0" sz="1800" spc="-20" b="0">
                <a:latin typeface="Calibri"/>
                <a:cs typeface="Calibri"/>
              </a:rPr>
              <a:t>make </a:t>
            </a:r>
            <a:r>
              <a:rPr dirty="0" sz="1800" spc="-10" b="0">
                <a:latin typeface="Calibri"/>
                <a:cs typeface="Calibri"/>
              </a:rPr>
              <a:t>edge-level</a:t>
            </a:r>
            <a:r>
              <a:rPr dirty="0" sz="1800" spc="15" b="0">
                <a:latin typeface="Calibri"/>
                <a:cs typeface="Calibri"/>
              </a:rPr>
              <a:t> </a:t>
            </a:r>
            <a:r>
              <a:rPr dirty="0" sz="1800" spc="-5" b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374665" y="5198364"/>
            <a:ext cx="227711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Different 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computational graphs  </a:t>
            </a:r>
            <a:r>
              <a:rPr dirty="0" sz="2000" spc="840">
                <a:solidFill>
                  <a:srgbClr val="C00000"/>
                </a:solidFill>
                <a:latin typeface="Arial"/>
                <a:cs typeface="Arial"/>
              </a:rPr>
              <a:t>à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Successfully 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differentiate</a:t>
            </a:r>
            <a:r>
              <a:rPr dirty="0" sz="20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edges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8260080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252334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Inductive node </a:t>
            </a:r>
            <a:r>
              <a:rPr dirty="0" spc="-10" b="0">
                <a:latin typeface="Calibri"/>
                <a:cs typeface="Calibri"/>
              </a:rPr>
              <a:t>coloring can </a:t>
            </a:r>
            <a:r>
              <a:rPr dirty="0" spc="-5" b="0">
                <a:latin typeface="Calibri"/>
                <a:cs typeface="Calibri"/>
              </a:rPr>
              <a:t>help </a:t>
            </a:r>
            <a:r>
              <a:rPr dirty="0" spc="-5">
                <a:solidFill>
                  <a:srgbClr val="C00000"/>
                </a:solidFill>
              </a:rPr>
              <a:t>link</a:t>
            </a:r>
            <a:r>
              <a:rPr dirty="0" spc="50">
                <a:solidFill>
                  <a:srgbClr val="C00000"/>
                </a:solidFill>
              </a:rPr>
              <a:t> </a:t>
            </a:r>
            <a:r>
              <a:rPr dirty="0" spc="-10">
                <a:solidFill>
                  <a:srgbClr val="C00000"/>
                </a:solidFill>
              </a:rPr>
              <a:t>prediction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147" y="4609560"/>
            <a:ext cx="1252855" cy="7772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5">
                <a:solidFill>
                  <a:srgbClr val="C00000"/>
                </a:solidFill>
                <a:latin typeface="Calibri"/>
                <a:cs typeface="Calibri"/>
              </a:rPr>
              <a:t>ID-GNNs’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3000"/>
              </a:lnSpc>
            </a:pPr>
            <a:r>
              <a:rPr dirty="0" sz="1600" spc="-5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1600" spc="10">
                <a:solidFill>
                  <a:srgbClr val="C00000"/>
                </a:solidFill>
                <a:latin typeface="Calibri"/>
                <a:cs typeface="Calibri"/>
              </a:rPr>
              <a:t>om</a:t>
            </a:r>
            <a:r>
              <a:rPr dirty="0" sz="1600" spc="10">
                <a:solidFill>
                  <a:srgbClr val="C00000"/>
                </a:solidFill>
                <a:latin typeface="Calibri"/>
                <a:cs typeface="Calibri"/>
              </a:rPr>
              <a:t>pu</a:t>
            </a:r>
            <a:r>
              <a:rPr dirty="0" sz="1600" spc="-1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600" spc="-5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1600" spc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600" spc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1600" spc="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1600" spc="5">
                <a:solidFill>
                  <a:srgbClr val="C00000"/>
                </a:solidFill>
                <a:latin typeface="Calibri"/>
                <a:cs typeface="Calibri"/>
              </a:rPr>
              <a:t>nal  </a:t>
            </a:r>
            <a:r>
              <a:rPr dirty="0" sz="1600" spc="0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2807" y="5817192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121224" y="0"/>
                </a:moveTo>
                <a:lnTo>
                  <a:pt x="74038" y="9526"/>
                </a:lnTo>
                <a:lnTo>
                  <a:pt x="35505" y="35505"/>
                </a:lnTo>
                <a:lnTo>
                  <a:pt x="9526" y="74038"/>
                </a:lnTo>
                <a:lnTo>
                  <a:pt x="0" y="121224"/>
                </a:lnTo>
                <a:lnTo>
                  <a:pt x="9526" y="168411"/>
                </a:lnTo>
                <a:lnTo>
                  <a:pt x="35505" y="206943"/>
                </a:lnTo>
                <a:lnTo>
                  <a:pt x="74038" y="232923"/>
                </a:lnTo>
                <a:lnTo>
                  <a:pt x="121224" y="242449"/>
                </a:lnTo>
                <a:lnTo>
                  <a:pt x="168410" y="232923"/>
                </a:lnTo>
                <a:lnTo>
                  <a:pt x="206943" y="206943"/>
                </a:lnTo>
                <a:lnTo>
                  <a:pt x="232923" y="168411"/>
                </a:lnTo>
                <a:lnTo>
                  <a:pt x="242449" y="121224"/>
                </a:lnTo>
                <a:lnTo>
                  <a:pt x="232923" y="74038"/>
                </a:lnTo>
                <a:lnTo>
                  <a:pt x="206943" y="35505"/>
                </a:lnTo>
                <a:lnTo>
                  <a:pt x="168410" y="9526"/>
                </a:lnTo>
                <a:lnTo>
                  <a:pt x="121224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02807" y="5817192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8562" y="2453488"/>
            <a:ext cx="1231265" cy="5264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dirty="0" sz="1600" spc="5">
                <a:latin typeface="Calibri"/>
                <a:cs typeface="Calibri"/>
              </a:rPr>
              <a:t>Example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 spc="10">
                <a:latin typeface="Calibri"/>
                <a:cs typeface="Calibri"/>
              </a:rPr>
              <a:t>input  </a:t>
            </a:r>
            <a:r>
              <a:rPr dirty="0" sz="1600" spc="0">
                <a:latin typeface="Calibri"/>
                <a:cs typeface="Calibri"/>
              </a:rPr>
              <a:t>graphs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097" y="5943034"/>
            <a:ext cx="44767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60" b="1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1900" spc="-15" b="1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dirty="0" sz="1900" b="1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02807" y="6180866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87390" y="2327645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69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87390" y="3314762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64264" y="2327645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69" h="251460">
                <a:moveTo>
                  <a:pt x="0" y="125554"/>
                </a:moveTo>
                <a:lnTo>
                  <a:pt x="9526" y="76682"/>
                </a:lnTo>
                <a:lnTo>
                  <a:pt x="35505" y="36774"/>
                </a:lnTo>
                <a:lnTo>
                  <a:pt x="74038" y="9866"/>
                </a:lnTo>
                <a:lnTo>
                  <a:pt x="121224" y="0"/>
                </a:lnTo>
                <a:lnTo>
                  <a:pt x="168411" y="9866"/>
                </a:lnTo>
                <a:lnTo>
                  <a:pt x="206943" y="36774"/>
                </a:lnTo>
                <a:lnTo>
                  <a:pt x="232923" y="76682"/>
                </a:lnTo>
                <a:lnTo>
                  <a:pt x="242449" y="125554"/>
                </a:lnTo>
                <a:lnTo>
                  <a:pt x="232923" y="174425"/>
                </a:lnTo>
                <a:lnTo>
                  <a:pt x="206943" y="214334"/>
                </a:lnTo>
                <a:lnTo>
                  <a:pt x="168411" y="241242"/>
                </a:lnTo>
                <a:lnTo>
                  <a:pt x="121224" y="251108"/>
                </a:lnTo>
                <a:lnTo>
                  <a:pt x="74038" y="241242"/>
                </a:lnTo>
                <a:lnTo>
                  <a:pt x="35505" y="214334"/>
                </a:lnTo>
                <a:lnTo>
                  <a:pt x="9526" y="174425"/>
                </a:lnTo>
                <a:lnTo>
                  <a:pt x="0" y="12555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17274" y="2570095"/>
            <a:ext cx="0" cy="744220"/>
          </a:xfrm>
          <a:custGeom>
            <a:avLst/>
            <a:gdLst/>
            <a:ahLst/>
            <a:cxnLst/>
            <a:rect l="l" t="t" r="r" b="b"/>
            <a:pathLst>
              <a:path w="0" h="744220">
                <a:moveTo>
                  <a:pt x="0" y="0"/>
                </a:moveTo>
                <a:lnTo>
                  <a:pt x="0" y="743927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85490" y="2578753"/>
            <a:ext cx="0" cy="741680"/>
          </a:xfrm>
          <a:custGeom>
            <a:avLst/>
            <a:gdLst/>
            <a:ahLst/>
            <a:cxnLst/>
            <a:rect l="l" t="t" r="r" b="b"/>
            <a:pathLst>
              <a:path w="0" h="741679">
                <a:moveTo>
                  <a:pt x="0" y="741216"/>
                </a:moveTo>
                <a:lnTo>
                  <a:pt x="0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517588" y="2669961"/>
            <a:ext cx="13906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64264" y="3314762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69" h="251460">
                <a:moveTo>
                  <a:pt x="121225" y="0"/>
                </a:moveTo>
                <a:lnTo>
                  <a:pt x="74038" y="9866"/>
                </a:lnTo>
                <a:lnTo>
                  <a:pt x="35505" y="36774"/>
                </a:lnTo>
                <a:lnTo>
                  <a:pt x="9526" y="76683"/>
                </a:lnTo>
                <a:lnTo>
                  <a:pt x="0" y="125554"/>
                </a:lnTo>
                <a:lnTo>
                  <a:pt x="9526" y="174426"/>
                </a:lnTo>
                <a:lnTo>
                  <a:pt x="35505" y="214335"/>
                </a:lnTo>
                <a:lnTo>
                  <a:pt x="74038" y="241242"/>
                </a:lnTo>
                <a:lnTo>
                  <a:pt x="121225" y="251109"/>
                </a:lnTo>
                <a:lnTo>
                  <a:pt x="168411" y="241242"/>
                </a:lnTo>
                <a:lnTo>
                  <a:pt x="206943" y="214335"/>
                </a:lnTo>
                <a:lnTo>
                  <a:pt x="232923" y="174426"/>
                </a:lnTo>
                <a:lnTo>
                  <a:pt x="242449" y="125554"/>
                </a:lnTo>
                <a:lnTo>
                  <a:pt x="232923" y="76683"/>
                </a:lnTo>
                <a:lnTo>
                  <a:pt x="206943" y="36774"/>
                </a:lnTo>
                <a:lnTo>
                  <a:pt x="168411" y="9866"/>
                </a:lnTo>
                <a:lnTo>
                  <a:pt x="1212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64264" y="3314762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69" h="251460">
                <a:moveTo>
                  <a:pt x="0" y="125554"/>
                </a:moveTo>
                <a:lnTo>
                  <a:pt x="9526" y="76682"/>
                </a:lnTo>
                <a:lnTo>
                  <a:pt x="35505" y="36774"/>
                </a:lnTo>
                <a:lnTo>
                  <a:pt x="74038" y="9866"/>
                </a:lnTo>
                <a:lnTo>
                  <a:pt x="121224" y="0"/>
                </a:lnTo>
                <a:lnTo>
                  <a:pt x="168411" y="9866"/>
                </a:lnTo>
                <a:lnTo>
                  <a:pt x="206943" y="36774"/>
                </a:lnTo>
                <a:lnTo>
                  <a:pt x="232923" y="76682"/>
                </a:lnTo>
                <a:lnTo>
                  <a:pt x="242449" y="125554"/>
                </a:lnTo>
                <a:lnTo>
                  <a:pt x="232923" y="174425"/>
                </a:lnTo>
                <a:lnTo>
                  <a:pt x="206943" y="214334"/>
                </a:lnTo>
                <a:lnTo>
                  <a:pt x="168411" y="241242"/>
                </a:lnTo>
                <a:lnTo>
                  <a:pt x="121224" y="251108"/>
                </a:lnTo>
                <a:lnTo>
                  <a:pt x="74038" y="241242"/>
                </a:lnTo>
                <a:lnTo>
                  <a:pt x="35505" y="214334"/>
                </a:lnTo>
                <a:lnTo>
                  <a:pt x="9526" y="174425"/>
                </a:lnTo>
                <a:lnTo>
                  <a:pt x="0" y="12555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501412" y="3302062"/>
            <a:ext cx="193040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340">
                <a:latin typeface="Cambria Math"/>
                <a:cs typeface="Cambria Math"/>
              </a:rPr>
              <a:t>!</a:t>
            </a:r>
            <a:r>
              <a:rPr dirty="0" baseline="-13888" sz="1500" spc="450">
                <a:latin typeface="Cambria Math"/>
                <a:cs typeface="Cambria Math"/>
              </a:rPr>
              <a:t>!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06714" y="2457528"/>
            <a:ext cx="358775" cy="0"/>
          </a:xfrm>
          <a:custGeom>
            <a:avLst/>
            <a:gdLst/>
            <a:ahLst/>
            <a:cxnLst/>
            <a:rect l="l" t="t" r="r" b="b"/>
            <a:pathLst>
              <a:path w="358775" h="0">
                <a:moveTo>
                  <a:pt x="358598" y="0"/>
                </a:moveTo>
                <a:lnTo>
                  <a:pt x="0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0388" y="2327645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70" h="251460">
                <a:moveTo>
                  <a:pt x="0" y="125554"/>
                </a:moveTo>
                <a:lnTo>
                  <a:pt x="9526" y="76682"/>
                </a:lnTo>
                <a:lnTo>
                  <a:pt x="35505" y="36774"/>
                </a:lnTo>
                <a:lnTo>
                  <a:pt x="74038" y="9866"/>
                </a:lnTo>
                <a:lnTo>
                  <a:pt x="121224" y="0"/>
                </a:lnTo>
                <a:lnTo>
                  <a:pt x="168411" y="9866"/>
                </a:lnTo>
                <a:lnTo>
                  <a:pt x="206943" y="36774"/>
                </a:lnTo>
                <a:lnTo>
                  <a:pt x="232923" y="76682"/>
                </a:lnTo>
                <a:lnTo>
                  <a:pt x="242449" y="125554"/>
                </a:lnTo>
                <a:lnTo>
                  <a:pt x="232923" y="174425"/>
                </a:lnTo>
                <a:lnTo>
                  <a:pt x="206943" y="214334"/>
                </a:lnTo>
                <a:lnTo>
                  <a:pt x="168411" y="241242"/>
                </a:lnTo>
                <a:lnTo>
                  <a:pt x="121224" y="251108"/>
                </a:lnTo>
                <a:lnTo>
                  <a:pt x="74038" y="241242"/>
                </a:lnTo>
                <a:lnTo>
                  <a:pt x="35505" y="214334"/>
                </a:lnTo>
                <a:lnTo>
                  <a:pt x="9526" y="174425"/>
                </a:lnTo>
                <a:lnTo>
                  <a:pt x="0" y="12555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15902" y="2327645"/>
            <a:ext cx="242570" cy="251460"/>
          </a:xfrm>
          <a:custGeom>
            <a:avLst/>
            <a:gdLst/>
            <a:ahLst/>
            <a:cxnLst/>
            <a:rect l="l" t="t" r="r" b="b"/>
            <a:pathLst>
              <a:path w="242570" h="251460">
                <a:moveTo>
                  <a:pt x="0" y="125554"/>
                </a:moveTo>
                <a:lnTo>
                  <a:pt x="9526" y="76682"/>
                </a:lnTo>
                <a:lnTo>
                  <a:pt x="35505" y="36774"/>
                </a:lnTo>
                <a:lnTo>
                  <a:pt x="74038" y="9866"/>
                </a:lnTo>
                <a:lnTo>
                  <a:pt x="121224" y="0"/>
                </a:lnTo>
                <a:lnTo>
                  <a:pt x="168411" y="9866"/>
                </a:lnTo>
                <a:lnTo>
                  <a:pt x="206943" y="36774"/>
                </a:lnTo>
                <a:lnTo>
                  <a:pt x="232923" y="76682"/>
                </a:lnTo>
                <a:lnTo>
                  <a:pt x="242449" y="125554"/>
                </a:lnTo>
                <a:lnTo>
                  <a:pt x="232923" y="174425"/>
                </a:lnTo>
                <a:lnTo>
                  <a:pt x="206943" y="214334"/>
                </a:lnTo>
                <a:lnTo>
                  <a:pt x="168411" y="241242"/>
                </a:lnTo>
                <a:lnTo>
                  <a:pt x="121224" y="251108"/>
                </a:lnTo>
                <a:lnTo>
                  <a:pt x="74038" y="241242"/>
                </a:lnTo>
                <a:lnTo>
                  <a:pt x="35505" y="214334"/>
                </a:lnTo>
                <a:lnTo>
                  <a:pt x="9526" y="174425"/>
                </a:lnTo>
                <a:lnTo>
                  <a:pt x="0" y="12555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106743" y="2314945"/>
            <a:ext cx="738505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57530" algn="l"/>
              </a:tabLst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284">
                <a:latin typeface="Cambria Math"/>
                <a:cs typeface="Cambria Math"/>
              </a:rPr>
              <a:t>"</a:t>
            </a:r>
            <a:r>
              <a:rPr dirty="0" baseline="-13888" sz="1500">
                <a:latin typeface="Cambria Math"/>
                <a:cs typeface="Cambria Math"/>
              </a:rPr>
              <a:t>	</a:t>
            </a:r>
            <a:r>
              <a:rPr dirty="0" sz="1350" spc="340">
                <a:latin typeface="Cambria Math"/>
                <a:cs typeface="Cambria Math"/>
              </a:rPr>
              <a:t>!</a:t>
            </a:r>
            <a:r>
              <a:rPr dirty="0" baseline="-13888" sz="1500" spc="-44">
                <a:latin typeface="Cambria Math"/>
                <a:cs typeface="Cambria Math"/>
              </a:rPr>
              <a:t>#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87204" y="1847363"/>
            <a:ext cx="130492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5" b="1">
                <a:latin typeface="Calibri"/>
                <a:cs typeface="Calibri"/>
              </a:rPr>
              <a:t>Link</a:t>
            </a:r>
            <a:r>
              <a:rPr dirty="0" sz="1600" spc="-85" b="1">
                <a:latin typeface="Calibri"/>
                <a:cs typeface="Calibri"/>
              </a:rPr>
              <a:t> </a:t>
            </a:r>
            <a:r>
              <a:rPr dirty="0" sz="1600" spc="5" b="1">
                <a:latin typeface="Calibri"/>
                <a:cs typeface="Calibri"/>
              </a:rPr>
              <a:t>prediction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12839" y="2457528"/>
            <a:ext cx="302895" cy="0"/>
          </a:xfrm>
          <a:custGeom>
            <a:avLst/>
            <a:gdLst/>
            <a:ahLst/>
            <a:cxnLst/>
            <a:rect l="l" t="t" r="r" b="b"/>
            <a:pathLst>
              <a:path w="302895" h="0">
                <a:moveTo>
                  <a:pt x="302523" y="0"/>
                </a:moveTo>
                <a:lnTo>
                  <a:pt x="0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58352" y="2448869"/>
            <a:ext cx="330835" cy="8255"/>
          </a:xfrm>
          <a:custGeom>
            <a:avLst/>
            <a:gdLst/>
            <a:ahLst/>
            <a:cxnLst/>
            <a:rect l="l" t="t" r="r" b="b"/>
            <a:pathLst>
              <a:path w="330835" h="8255">
                <a:moveTo>
                  <a:pt x="330232" y="0"/>
                </a:moveTo>
                <a:lnTo>
                  <a:pt x="0" y="7645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746019" y="2652643"/>
            <a:ext cx="146050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15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72078" y="2544118"/>
            <a:ext cx="430530" cy="813435"/>
          </a:xfrm>
          <a:custGeom>
            <a:avLst/>
            <a:gdLst/>
            <a:ahLst/>
            <a:cxnLst/>
            <a:rect l="l" t="t" r="r" b="b"/>
            <a:pathLst>
              <a:path w="430530" h="813435">
                <a:moveTo>
                  <a:pt x="0" y="812893"/>
                </a:moveTo>
                <a:lnTo>
                  <a:pt x="430274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72078" y="2544118"/>
            <a:ext cx="977900" cy="813435"/>
          </a:xfrm>
          <a:custGeom>
            <a:avLst/>
            <a:gdLst/>
            <a:ahLst/>
            <a:cxnLst/>
            <a:rect l="l" t="t" r="r" b="b"/>
            <a:pathLst>
              <a:path w="977900" h="813435">
                <a:moveTo>
                  <a:pt x="0" y="812893"/>
                </a:moveTo>
                <a:lnTo>
                  <a:pt x="977519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576831" y="4275903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616085" y="4254544"/>
            <a:ext cx="189230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300">
                <a:latin typeface="Cambria Math"/>
                <a:cs typeface="Cambria Math"/>
              </a:rPr>
              <a:t>!</a:t>
            </a:r>
            <a:r>
              <a:rPr dirty="0" baseline="-13888" sz="1500" spc="284">
                <a:latin typeface="Cambria Math"/>
                <a:cs typeface="Cambria Math"/>
              </a:rPr>
              <a:t>"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360357" y="4483717"/>
            <a:ext cx="255270" cy="147320"/>
          </a:xfrm>
          <a:custGeom>
            <a:avLst/>
            <a:gdLst/>
            <a:ahLst/>
            <a:cxnLst/>
            <a:rect l="l" t="t" r="r" b="b"/>
            <a:pathLst>
              <a:path w="255269" h="147320">
                <a:moveTo>
                  <a:pt x="0" y="146926"/>
                </a:moveTo>
                <a:lnTo>
                  <a:pt x="254934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84645" y="4483717"/>
            <a:ext cx="287655" cy="147320"/>
          </a:xfrm>
          <a:custGeom>
            <a:avLst/>
            <a:gdLst/>
            <a:ahLst/>
            <a:cxnLst/>
            <a:rect l="l" t="t" r="r" b="b"/>
            <a:pathLst>
              <a:path w="287655" h="147320">
                <a:moveTo>
                  <a:pt x="0" y="0"/>
                </a:moveTo>
                <a:lnTo>
                  <a:pt x="287325" y="146926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919100" y="4245885"/>
            <a:ext cx="146050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15">
                <a:solidFill>
                  <a:srgbClr val="70AD47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083272" y="5011911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125553" y="0"/>
                </a:moveTo>
                <a:lnTo>
                  <a:pt x="76682" y="9526"/>
                </a:lnTo>
                <a:lnTo>
                  <a:pt x="36773" y="35506"/>
                </a:lnTo>
                <a:lnTo>
                  <a:pt x="9866" y="74039"/>
                </a:lnTo>
                <a:lnTo>
                  <a:pt x="0" y="121225"/>
                </a:lnTo>
                <a:lnTo>
                  <a:pt x="9866" y="168411"/>
                </a:lnTo>
                <a:lnTo>
                  <a:pt x="36773" y="206944"/>
                </a:lnTo>
                <a:lnTo>
                  <a:pt x="76682" y="232924"/>
                </a:lnTo>
                <a:lnTo>
                  <a:pt x="125553" y="242450"/>
                </a:lnTo>
                <a:lnTo>
                  <a:pt x="174425" y="232924"/>
                </a:lnTo>
                <a:lnTo>
                  <a:pt x="214334" y="206944"/>
                </a:lnTo>
                <a:lnTo>
                  <a:pt x="241241" y="168411"/>
                </a:lnTo>
                <a:lnTo>
                  <a:pt x="251108" y="121225"/>
                </a:lnTo>
                <a:lnTo>
                  <a:pt x="241241" y="74039"/>
                </a:lnTo>
                <a:lnTo>
                  <a:pt x="214334" y="35506"/>
                </a:lnTo>
                <a:lnTo>
                  <a:pt x="174425" y="9526"/>
                </a:lnTo>
                <a:lnTo>
                  <a:pt x="125553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83272" y="5011911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86333" y="5011911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39133" y="4630919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04497" y="4838732"/>
            <a:ext cx="65405" cy="174625"/>
          </a:xfrm>
          <a:custGeom>
            <a:avLst/>
            <a:gdLst/>
            <a:ahLst/>
            <a:cxnLst/>
            <a:rect l="l" t="t" r="r" b="b"/>
            <a:pathLst>
              <a:path w="65405" h="174625">
                <a:moveTo>
                  <a:pt x="65385" y="0"/>
                </a:moveTo>
                <a:lnTo>
                  <a:pt x="0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446947" y="4838732"/>
            <a:ext cx="64135" cy="174625"/>
          </a:xfrm>
          <a:custGeom>
            <a:avLst/>
            <a:gdLst/>
            <a:ahLst/>
            <a:cxnLst/>
            <a:rect l="l" t="t" r="r" b="b"/>
            <a:pathLst>
              <a:path w="64135" h="174625">
                <a:moveTo>
                  <a:pt x="0" y="0"/>
                </a:moveTo>
                <a:lnTo>
                  <a:pt x="64074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01962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69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105025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949164" y="4630919"/>
            <a:ext cx="251460" cy="242570"/>
          </a:xfrm>
          <a:custGeom>
            <a:avLst/>
            <a:gdLst/>
            <a:ahLst/>
            <a:cxnLst/>
            <a:rect l="l" t="t" r="r" b="b"/>
            <a:pathLst>
              <a:path w="251460" h="242570">
                <a:moveTo>
                  <a:pt x="0" y="121224"/>
                </a:moveTo>
                <a:lnTo>
                  <a:pt x="9866" y="74038"/>
                </a:lnTo>
                <a:lnTo>
                  <a:pt x="36774" y="35505"/>
                </a:lnTo>
                <a:lnTo>
                  <a:pt x="76682" y="9526"/>
                </a:lnTo>
                <a:lnTo>
                  <a:pt x="125554" y="0"/>
                </a:lnTo>
                <a:lnTo>
                  <a:pt x="174425" y="9526"/>
                </a:lnTo>
                <a:lnTo>
                  <a:pt x="214334" y="35505"/>
                </a:lnTo>
                <a:lnTo>
                  <a:pt x="241242" y="74038"/>
                </a:lnTo>
                <a:lnTo>
                  <a:pt x="251108" y="121224"/>
                </a:lnTo>
                <a:lnTo>
                  <a:pt x="241242" y="168411"/>
                </a:lnTo>
                <a:lnTo>
                  <a:pt x="214334" y="206943"/>
                </a:lnTo>
                <a:lnTo>
                  <a:pt x="174425" y="232923"/>
                </a:lnTo>
                <a:lnTo>
                  <a:pt x="125554" y="242449"/>
                </a:lnTo>
                <a:lnTo>
                  <a:pt x="76682" y="232923"/>
                </a:lnTo>
                <a:lnTo>
                  <a:pt x="36774" y="206943"/>
                </a:lnTo>
                <a:lnTo>
                  <a:pt x="986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923187" y="4838732"/>
            <a:ext cx="65405" cy="174625"/>
          </a:xfrm>
          <a:custGeom>
            <a:avLst/>
            <a:gdLst/>
            <a:ahLst/>
            <a:cxnLst/>
            <a:rect l="l" t="t" r="r" b="b"/>
            <a:pathLst>
              <a:path w="65405" h="174625">
                <a:moveTo>
                  <a:pt x="65385" y="0"/>
                </a:moveTo>
                <a:lnTo>
                  <a:pt x="0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65637" y="4838732"/>
            <a:ext cx="64135" cy="174625"/>
          </a:xfrm>
          <a:custGeom>
            <a:avLst/>
            <a:gdLst/>
            <a:ahLst/>
            <a:cxnLst/>
            <a:rect l="l" t="t" r="r" b="b"/>
            <a:pathLst>
              <a:path w="64135" h="174625">
                <a:moveTo>
                  <a:pt x="0" y="0"/>
                </a:moveTo>
                <a:lnTo>
                  <a:pt x="64074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820948" y="4237226"/>
            <a:ext cx="139065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10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82823" y="5103119"/>
            <a:ext cx="173863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90980" algn="l"/>
              </a:tabLst>
            </a:pPr>
            <a:r>
              <a:rPr dirty="0" sz="2450">
                <a:latin typeface="Cambria Math"/>
                <a:cs typeface="Cambria Math"/>
              </a:rPr>
              <a:t>…</a:t>
            </a:r>
            <a:r>
              <a:rPr dirty="0" sz="2450">
                <a:latin typeface="Cambria Math"/>
                <a:cs typeface="Cambria Math"/>
              </a:rPr>
              <a:t>	</a:t>
            </a:r>
            <a:r>
              <a:rPr dirty="0" sz="2450">
                <a:latin typeface="Cambria Math"/>
                <a:cs typeface="Cambria Math"/>
              </a:rPr>
              <a:t>…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057506" y="4275903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4092581" y="4254544"/>
            <a:ext cx="193040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340">
                <a:latin typeface="Cambria Math"/>
                <a:cs typeface="Cambria Math"/>
              </a:rPr>
              <a:t>!</a:t>
            </a:r>
            <a:r>
              <a:rPr dirty="0" baseline="-13888" sz="1500" spc="-44">
                <a:latin typeface="Cambria Math"/>
                <a:cs typeface="Cambria Math"/>
              </a:rPr>
              <a:t>#</a:t>
            </a:r>
            <a:endParaRPr baseline="-13888" sz="150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841033" y="4483717"/>
            <a:ext cx="255270" cy="147320"/>
          </a:xfrm>
          <a:custGeom>
            <a:avLst/>
            <a:gdLst/>
            <a:ahLst/>
            <a:cxnLst/>
            <a:rect l="l" t="t" r="r" b="b"/>
            <a:pathLst>
              <a:path w="255270" h="147320">
                <a:moveTo>
                  <a:pt x="0" y="146926"/>
                </a:moveTo>
                <a:lnTo>
                  <a:pt x="254934" y="0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265321" y="4483717"/>
            <a:ext cx="287655" cy="147320"/>
          </a:xfrm>
          <a:custGeom>
            <a:avLst/>
            <a:gdLst/>
            <a:ahLst/>
            <a:cxnLst/>
            <a:rect l="l" t="t" r="r" b="b"/>
            <a:pathLst>
              <a:path w="287654" h="147320">
                <a:moveTo>
                  <a:pt x="0" y="0"/>
                </a:moveTo>
                <a:lnTo>
                  <a:pt x="287325" y="146926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563947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867010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719808" y="4630919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85173" y="4838732"/>
            <a:ext cx="65405" cy="174625"/>
          </a:xfrm>
          <a:custGeom>
            <a:avLst/>
            <a:gdLst/>
            <a:ahLst/>
            <a:cxnLst/>
            <a:rect l="l" t="t" r="r" b="b"/>
            <a:pathLst>
              <a:path w="65404" h="174625">
                <a:moveTo>
                  <a:pt x="65385" y="0"/>
                </a:moveTo>
                <a:lnTo>
                  <a:pt x="0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927623" y="4838732"/>
            <a:ext cx="64135" cy="174625"/>
          </a:xfrm>
          <a:custGeom>
            <a:avLst/>
            <a:gdLst/>
            <a:ahLst/>
            <a:cxnLst/>
            <a:rect l="l" t="t" r="r" b="b"/>
            <a:pathLst>
              <a:path w="64135" h="174625">
                <a:moveTo>
                  <a:pt x="0" y="0"/>
                </a:moveTo>
                <a:lnTo>
                  <a:pt x="64074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282639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585700" y="5011911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429841" y="4630919"/>
            <a:ext cx="242570" cy="242570"/>
          </a:xfrm>
          <a:custGeom>
            <a:avLst/>
            <a:gdLst/>
            <a:ahLst/>
            <a:cxnLst/>
            <a:rect l="l" t="t" r="r" b="b"/>
            <a:pathLst>
              <a:path w="242570" h="242570">
                <a:moveTo>
                  <a:pt x="0" y="121224"/>
                </a:moveTo>
                <a:lnTo>
                  <a:pt x="9526" y="74038"/>
                </a:lnTo>
                <a:lnTo>
                  <a:pt x="35505" y="35505"/>
                </a:lnTo>
                <a:lnTo>
                  <a:pt x="74038" y="9526"/>
                </a:lnTo>
                <a:lnTo>
                  <a:pt x="121224" y="0"/>
                </a:lnTo>
                <a:lnTo>
                  <a:pt x="168411" y="9526"/>
                </a:lnTo>
                <a:lnTo>
                  <a:pt x="206943" y="35505"/>
                </a:lnTo>
                <a:lnTo>
                  <a:pt x="232923" y="74038"/>
                </a:lnTo>
                <a:lnTo>
                  <a:pt x="242449" y="121224"/>
                </a:lnTo>
                <a:lnTo>
                  <a:pt x="232923" y="168411"/>
                </a:lnTo>
                <a:lnTo>
                  <a:pt x="206943" y="206943"/>
                </a:lnTo>
                <a:lnTo>
                  <a:pt x="168411" y="232923"/>
                </a:lnTo>
                <a:lnTo>
                  <a:pt x="121224" y="242449"/>
                </a:lnTo>
                <a:lnTo>
                  <a:pt x="74038" y="232923"/>
                </a:lnTo>
                <a:lnTo>
                  <a:pt x="35505" y="206943"/>
                </a:lnTo>
                <a:lnTo>
                  <a:pt x="9526" y="168411"/>
                </a:lnTo>
                <a:lnTo>
                  <a:pt x="0" y="121224"/>
                </a:lnTo>
                <a:close/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403864" y="4838732"/>
            <a:ext cx="65405" cy="174625"/>
          </a:xfrm>
          <a:custGeom>
            <a:avLst/>
            <a:gdLst/>
            <a:ahLst/>
            <a:cxnLst/>
            <a:rect l="l" t="t" r="r" b="b"/>
            <a:pathLst>
              <a:path w="65404" h="174625">
                <a:moveTo>
                  <a:pt x="65385" y="0"/>
                </a:moveTo>
                <a:lnTo>
                  <a:pt x="0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637655" y="4838732"/>
            <a:ext cx="64135" cy="174625"/>
          </a:xfrm>
          <a:custGeom>
            <a:avLst/>
            <a:gdLst/>
            <a:ahLst/>
            <a:cxnLst/>
            <a:rect l="l" t="t" r="r" b="b"/>
            <a:pathLst>
              <a:path w="64135" h="174625">
                <a:moveTo>
                  <a:pt x="0" y="0"/>
                </a:moveTo>
                <a:lnTo>
                  <a:pt x="64074" y="174109"/>
                </a:lnTo>
              </a:path>
            </a:pathLst>
          </a:custGeom>
          <a:ln w="17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366526" y="4193931"/>
            <a:ext cx="232410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spc="15">
                <a:latin typeface="Cambria Math"/>
                <a:cs typeface="Cambria Math"/>
              </a:rPr>
              <a:t>≠</a:t>
            </a:r>
            <a:endParaRPr sz="215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54270" marR="1065530">
              <a:lnSpc>
                <a:spcPct val="100000"/>
              </a:lnSpc>
              <a:spcBef>
                <a:spcPts val="100"/>
              </a:spcBef>
            </a:pPr>
            <a:r>
              <a:rPr dirty="0"/>
              <a:t>An </a:t>
            </a:r>
            <a:r>
              <a:rPr dirty="0" spc="-5"/>
              <a:t>edge-level </a:t>
            </a:r>
            <a:r>
              <a:rPr dirty="0" spc="-10"/>
              <a:t>task</a:t>
            </a:r>
            <a:r>
              <a:rPr dirty="0" spc="-70"/>
              <a:t> </a:t>
            </a:r>
            <a:r>
              <a:rPr dirty="0" spc="-10"/>
              <a:t>involves  </a:t>
            </a:r>
            <a:r>
              <a:rPr dirty="0" spc="-5"/>
              <a:t>classifying </a:t>
            </a:r>
            <a:r>
              <a:rPr dirty="0">
                <a:solidFill>
                  <a:srgbClr val="C00000"/>
                </a:solidFill>
              </a:rPr>
              <a:t>a </a:t>
            </a:r>
            <a:r>
              <a:rPr dirty="0" spc="-5">
                <a:solidFill>
                  <a:srgbClr val="C00000"/>
                </a:solidFill>
              </a:rPr>
              <a:t>pair </a:t>
            </a:r>
            <a:r>
              <a:rPr dirty="0">
                <a:solidFill>
                  <a:srgbClr val="C00000"/>
                </a:solidFill>
              </a:rPr>
              <a:t>of</a:t>
            </a:r>
            <a:r>
              <a:rPr dirty="0" spc="-3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nodes:</a:t>
            </a:r>
          </a:p>
          <a:p>
            <a:pPr marL="4954270">
              <a:lnSpc>
                <a:spcPts val="2125"/>
              </a:lnSpc>
              <a:spcBef>
                <a:spcPts val="5"/>
              </a:spcBef>
              <a:buClr>
                <a:srgbClr val="000000"/>
              </a:buClr>
              <a:buAutoNum type="arabicPeriod"/>
              <a:tabLst>
                <a:tab pos="5180330" algn="l"/>
              </a:tabLst>
            </a:pPr>
            <a:r>
              <a:rPr dirty="0" sz="1800" spc="-35" b="0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1800" spc="-5" b="0">
                <a:solidFill>
                  <a:srgbClr val="0070C0"/>
                </a:solidFill>
                <a:latin typeface="Calibri"/>
                <a:cs typeface="Calibri"/>
              </a:rPr>
              <a:t>color </a:t>
            </a:r>
            <a:r>
              <a:rPr dirty="0" sz="1800" b="0">
                <a:solidFill>
                  <a:srgbClr val="0070C0"/>
                </a:solidFill>
                <a:latin typeface="Calibri"/>
                <a:cs typeface="Calibri"/>
              </a:rPr>
              <a:t>one of </a:t>
            </a:r>
            <a:r>
              <a:rPr dirty="0" sz="1800" spc="-5" b="0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1800" b="0">
                <a:solidFill>
                  <a:srgbClr val="0070C0"/>
                </a:solidFill>
                <a:latin typeface="Calibri"/>
                <a:cs typeface="Calibri"/>
              </a:rPr>
              <a:t>node</a:t>
            </a:r>
            <a:r>
              <a:rPr dirty="0" sz="1800" spc="35" b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1800" spc="-25" b="0">
                <a:solidFill>
                  <a:srgbClr val="0070C0"/>
                </a:solidFill>
                <a:latin typeface="Calibri"/>
                <a:cs typeface="Calibri"/>
              </a:rPr>
              <a:t>(</a:t>
            </a:r>
            <a:r>
              <a:rPr dirty="0" sz="1800" spc="-25" b="0">
                <a:solidFill>
                  <a:srgbClr val="0070C0"/>
                </a:solidFill>
                <a:latin typeface="Cambria Math"/>
                <a:cs typeface="Cambria Math"/>
              </a:rPr>
              <a:t>v</a:t>
            </a:r>
            <a:r>
              <a:rPr dirty="0" baseline="-14957" sz="1950" spc="-37" b="0">
                <a:solidFill>
                  <a:srgbClr val="0070C0"/>
                </a:solidFill>
                <a:latin typeface="Cambria Math"/>
                <a:cs typeface="Cambria Math"/>
              </a:rPr>
              <a:t>&amp;</a:t>
            </a:r>
            <a:r>
              <a:rPr dirty="0" sz="1800" spc="-25" b="0">
                <a:solidFill>
                  <a:srgbClr val="0070C0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5179695" indent="-225425">
              <a:lnSpc>
                <a:spcPts val="2125"/>
              </a:lnSpc>
              <a:buAutoNum type="arabicPeriod"/>
              <a:tabLst>
                <a:tab pos="5180965" algn="l"/>
              </a:tabLst>
            </a:pPr>
            <a:r>
              <a:rPr dirty="0" sz="1800" spc="-35" b="0">
                <a:latin typeface="Calibri"/>
                <a:cs typeface="Calibri"/>
              </a:rPr>
              <a:t>We </a:t>
            </a:r>
            <a:r>
              <a:rPr dirty="0" sz="1800" spc="-5" b="0">
                <a:latin typeface="Calibri"/>
                <a:cs typeface="Calibri"/>
              </a:rPr>
              <a:t>then </a:t>
            </a:r>
            <a:r>
              <a:rPr dirty="0" sz="1800" b="0">
                <a:solidFill>
                  <a:srgbClr val="E88651"/>
                </a:solidFill>
                <a:latin typeface="Calibri"/>
                <a:cs typeface="Calibri"/>
              </a:rPr>
              <a:t>embed </a:t>
            </a:r>
            <a:r>
              <a:rPr dirty="0" sz="1800" spc="-5" b="0">
                <a:solidFill>
                  <a:srgbClr val="E88651"/>
                </a:solidFill>
                <a:latin typeface="Calibri"/>
                <a:cs typeface="Calibri"/>
              </a:rPr>
              <a:t>the other </a:t>
            </a:r>
            <a:r>
              <a:rPr dirty="0" sz="1800" b="0">
                <a:solidFill>
                  <a:srgbClr val="E88651"/>
                </a:solidFill>
                <a:latin typeface="Calibri"/>
                <a:cs typeface="Calibri"/>
              </a:rPr>
              <a:t>node </a:t>
            </a:r>
            <a:r>
              <a:rPr dirty="0" sz="1800" spc="-5" b="0">
                <a:solidFill>
                  <a:srgbClr val="E88651"/>
                </a:solidFill>
                <a:latin typeface="Calibri"/>
                <a:cs typeface="Calibri"/>
              </a:rPr>
              <a:t>in</a:t>
            </a:r>
            <a:r>
              <a:rPr dirty="0" sz="1800" spc="50" b="0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1800" spc="-5" b="0">
                <a:solidFill>
                  <a:srgbClr val="E88651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4954270">
              <a:lnSpc>
                <a:spcPct val="100000"/>
              </a:lnSpc>
              <a:spcBef>
                <a:spcPts val="50"/>
              </a:spcBef>
            </a:pPr>
            <a:r>
              <a:rPr dirty="0" sz="1800" b="0">
                <a:solidFill>
                  <a:srgbClr val="E88651"/>
                </a:solidFill>
                <a:latin typeface="Calibri"/>
                <a:cs typeface="Calibri"/>
              </a:rPr>
              <a:t>node </a:t>
            </a:r>
            <a:r>
              <a:rPr dirty="0" sz="1800" spc="-5" b="0">
                <a:solidFill>
                  <a:srgbClr val="E88651"/>
                </a:solidFill>
                <a:latin typeface="Calibri"/>
                <a:cs typeface="Calibri"/>
              </a:rPr>
              <a:t>pair </a:t>
            </a:r>
            <a:r>
              <a:rPr dirty="0" sz="1800" spc="110" b="0">
                <a:solidFill>
                  <a:srgbClr val="E88651"/>
                </a:solidFill>
                <a:latin typeface="Calibri"/>
                <a:cs typeface="Calibri"/>
              </a:rPr>
              <a:t>(</a:t>
            </a:r>
            <a:r>
              <a:rPr dirty="0" sz="1800" spc="110" b="0">
                <a:solidFill>
                  <a:srgbClr val="E88651"/>
                </a:solidFill>
                <a:latin typeface="Cambria Math"/>
                <a:cs typeface="Cambria Math"/>
              </a:rPr>
              <a:t>v</a:t>
            </a:r>
            <a:r>
              <a:rPr dirty="0" baseline="-14957" sz="1950" spc="165" b="0">
                <a:solidFill>
                  <a:srgbClr val="E88651"/>
                </a:solidFill>
                <a:latin typeface="Cambria Math"/>
                <a:cs typeface="Cambria Math"/>
              </a:rPr>
              <a:t>! </a:t>
            </a:r>
            <a:r>
              <a:rPr dirty="0" sz="1800" b="0">
                <a:solidFill>
                  <a:srgbClr val="E88651"/>
                </a:solidFill>
                <a:latin typeface="Calibri"/>
                <a:cs typeface="Calibri"/>
              </a:rPr>
              <a:t>or</a:t>
            </a:r>
            <a:r>
              <a:rPr dirty="0" sz="1800" spc="-110" b="0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1800" spc="90" b="0">
                <a:solidFill>
                  <a:srgbClr val="E88651"/>
                </a:solidFill>
                <a:latin typeface="Cambria Math"/>
                <a:cs typeface="Cambria Math"/>
              </a:rPr>
              <a:t>v</a:t>
            </a:r>
            <a:r>
              <a:rPr dirty="0" baseline="-14957" sz="1950" spc="135" b="0">
                <a:solidFill>
                  <a:srgbClr val="E88651"/>
                </a:solidFill>
                <a:latin typeface="Cambria Math"/>
                <a:cs typeface="Cambria Math"/>
              </a:rPr>
              <a:t>"</a:t>
            </a:r>
            <a:r>
              <a:rPr dirty="0" sz="1800" spc="90" b="0">
                <a:solidFill>
                  <a:srgbClr val="E88651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4954270" marR="5080">
              <a:lnSpc>
                <a:spcPct val="100000"/>
              </a:lnSpc>
              <a:spcBef>
                <a:spcPts val="20"/>
              </a:spcBef>
              <a:buAutoNum type="arabicPeriod" startAt="3"/>
              <a:tabLst>
                <a:tab pos="5180965" algn="l"/>
              </a:tabLst>
            </a:pPr>
            <a:r>
              <a:rPr dirty="0" sz="1800" spc="-35" b="0">
                <a:latin typeface="Calibri"/>
                <a:cs typeface="Calibri"/>
              </a:rPr>
              <a:t>We </a:t>
            </a:r>
            <a:r>
              <a:rPr dirty="0" sz="1800" spc="-5" b="0">
                <a:latin typeface="Calibri"/>
                <a:cs typeface="Calibri"/>
              </a:rPr>
              <a:t>use the </a:t>
            </a:r>
            <a:r>
              <a:rPr dirty="0" sz="1800" b="0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1800" spc="-5" b="0">
                <a:solidFill>
                  <a:srgbClr val="C00000"/>
                </a:solidFill>
                <a:latin typeface="Calibri"/>
                <a:cs typeface="Calibri"/>
              </a:rPr>
              <a:t>embedding </a:t>
            </a:r>
            <a:r>
              <a:rPr dirty="0" sz="1800" spc="-15" b="0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1800" spc="165" b="0">
                <a:solidFill>
                  <a:srgbClr val="C00000"/>
                </a:solidFill>
                <a:latin typeface="Cambria Math"/>
                <a:cs typeface="Cambria Math"/>
              </a:rPr>
              <a:t>v</a:t>
            </a:r>
            <a:r>
              <a:rPr dirty="0" baseline="-17094" sz="1950" spc="247" b="0">
                <a:solidFill>
                  <a:srgbClr val="C00000"/>
                </a:solidFill>
                <a:latin typeface="Cambria Math"/>
                <a:cs typeface="Cambria Math"/>
              </a:rPr>
              <a:t>! </a:t>
            </a:r>
            <a:r>
              <a:rPr dirty="0" sz="1800" b="0">
                <a:solidFill>
                  <a:srgbClr val="C00000"/>
                </a:solidFill>
                <a:latin typeface="Calibri"/>
                <a:cs typeface="Calibri"/>
              </a:rPr>
              <a:t>or  </a:t>
            </a:r>
            <a:r>
              <a:rPr dirty="0" sz="1800" spc="114" b="0">
                <a:solidFill>
                  <a:srgbClr val="C00000"/>
                </a:solidFill>
                <a:latin typeface="Cambria Math"/>
                <a:cs typeface="Cambria Math"/>
              </a:rPr>
              <a:t>v</a:t>
            </a:r>
            <a:r>
              <a:rPr dirty="0" baseline="-14957" sz="1950" spc="172" b="0">
                <a:solidFill>
                  <a:srgbClr val="C00000"/>
                </a:solidFill>
                <a:latin typeface="Cambria Math"/>
                <a:cs typeface="Cambria Math"/>
              </a:rPr>
              <a:t>" </a:t>
            </a:r>
            <a:r>
              <a:rPr dirty="0" sz="1800" spc="-5" b="0">
                <a:solidFill>
                  <a:srgbClr val="C00000"/>
                </a:solidFill>
                <a:latin typeface="Calibri"/>
                <a:cs typeface="Calibri"/>
              </a:rPr>
              <a:t>conditioned </a:t>
            </a:r>
            <a:r>
              <a:rPr dirty="0" sz="1800" b="0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dirty="0" sz="1800" spc="-85" b="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-127" b="0">
                <a:solidFill>
                  <a:srgbClr val="C00000"/>
                </a:solidFill>
                <a:latin typeface="Cambria Math"/>
                <a:cs typeface="Cambria Math"/>
              </a:rPr>
              <a:t>&amp; </a:t>
            </a:r>
            <a:r>
              <a:rPr dirty="0" sz="1800" spc="-5" b="0">
                <a:solidFill>
                  <a:srgbClr val="C00000"/>
                </a:solidFill>
                <a:latin typeface="Calibri"/>
                <a:cs typeface="Calibri"/>
              </a:rPr>
              <a:t>being </a:t>
            </a:r>
            <a:r>
              <a:rPr dirty="0" sz="1800" spc="-10" b="0">
                <a:solidFill>
                  <a:srgbClr val="C00000"/>
                </a:solidFill>
                <a:latin typeface="Calibri"/>
                <a:cs typeface="Calibri"/>
              </a:rPr>
              <a:t>colored </a:t>
            </a:r>
            <a:r>
              <a:rPr dirty="0" sz="1800" b="0">
                <a:solidFill>
                  <a:srgbClr val="C00000"/>
                </a:solidFill>
                <a:latin typeface="Calibri"/>
                <a:cs typeface="Calibri"/>
              </a:rPr>
              <a:t>or not </a:t>
            </a:r>
            <a:r>
              <a:rPr dirty="0" sz="1800" b="0">
                <a:latin typeface="Calibri"/>
                <a:cs typeface="Calibri"/>
              </a:rPr>
              <a:t> </a:t>
            </a:r>
            <a:r>
              <a:rPr dirty="0" sz="1800" spc="-15" b="0">
                <a:latin typeface="Calibri"/>
                <a:cs typeface="Calibri"/>
              </a:rPr>
              <a:t>to </a:t>
            </a:r>
            <a:r>
              <a:rPr dirty="0" sz="1800" spc="-20" b="0">
                <a:latin typeface="Calibri"/>
                <a:cs typeface="Calibri"/>
              </a:rPr>
              <a:t>make </a:t>
            </a:r>
            <a:r>
              <a:rPr dirty="0" sz="1800" spc="-10" b="0">
                <a:latin typeface="Calibri"/>
                <a:cs typeface="Calibri"/>
              </a:rPr>
              <a:t>edge-level</a:t>
            </a:r>
            <a:r>
              <a:rPr dirty="0" sz="1800" spc="15" b="0">
                <a:latin typeface="Calibri"/>
                <a:cs typeface="Calibri"/>
              </a:rPr>
              <a:t> </a:t>
            </a:r>
            <a:r>
              <a:rPr dirty="0" sz="1800" spc="-5" b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80406" y="5198364"/>
            <a:ext cx="942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dirty="0" sz="2000" spc="-5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dirty="0" sz="2000" spc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2000" spc="-25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dirty="0" sz="2000" spc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2000" spc="-2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260180" y="5503164"/>
            <a:ext cx="5975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raphs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49189" y="5807964"/>
            <a:ext cx="8064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2000" spc="-30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42890" y="5528018"/>
            <a:ext cx="7465059" cy="920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139950" indent="3609975">
              <a:lnSpc>
                <a:spcPts val="2039"/>
              </a:lnSpc>
            </a:pP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computational</a:t>
            </a:r>
            <a:r>
              <a:rPr dirty="0" sz="20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  <a:p>
            <a:pPr marL="2139950">
              <a:lnSpc>
                <a:spcPts val="1735"/>
              </a:lnSpc>
              <a:tabLst>
                <a:tab pos="5749925" algn="l"/>
              </a:tabLst>
            </a:pPr>
            <a:r>
              <a:rPr dirty="0" sz="1600" spc="10">
                <a:latin typeface="Calibri"/>
                <a:cs typeface="Calibri"/>
              </a:rPr>
              <a:t>node </a:t>
            </a:r>
            <a:r>
              <a:rPr dirty="0" sz="1600" spc="5">
                <a:latin typeface="Calibri"/>
                <a:cs typeface="Calibri"/>
              </a:rPr>
              <a:t>with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 spc="5">
                <a:latin typeface="Calibri"/>
                <a:cs typeface="Calibri"/>
              </a:rPr>
              <a:t>augmented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 spc="0">
                <a:latin typeface="Calibri"/>
                <a:cs typeface="Calibri"/>
              </a:rPr>
              <a:t>identity	</a:t>
            </a:r>
            <a:r>
              <a:rPr dirty="0" baseline="-15277" sz="3000" spc="1260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dirty="0" baseline="-15277" sz="3000" spc="-24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-15277" sz="3000" spc="-7">
                <a:solidFill>
                  <a:srgbClr val="C00000"/>
                </a:solidFill>
                <a:latin typeface="Calibri"/>
                <a:cs typeface="Calibri"/>
              </a:rPr>
              <a:t>Successful </a:t>
            </a:r>
            <a:r>
              <a:rPr dirty="0" baseline="-15277" sz="3000" spc="-15">
                <a:solidFill>
                  <a:srgbClr val="C00000"/>
                </a:solidFill>
                <a:latin typeface="Calibri"/>
                <a:cs typeface="Calibri"/>
              </a:rPr>
              <a:t>ov</a:t>
            </a:r>
            <a:endParaRPr baseline="-15277" sz="3000">
              <a:latin typeface="Calibri"/>
              <a:cs typeface="Calibri"/>
            </a:endParaRPr>
          </a:p>
          <a:p>
            <a:pPr>
              <a:lnSpc>
                <a:spcPts val="1405"/>
              </a:lnSpc>
            </a:pPr>
            <a:r>
              <a:rPr dirty="0" sz="1900" b="1">
                <a:solidFill>
                  <a:srgbClr val="C00000"/>
                </a:solidFill>
                <a:latin typeface="Calibri"/>
                <a:cs typeface="Calibri"/>
              </a:rPr>
              <a:t>types of</a:t>
            </a:r>
            <a:r>
              <a:rPr dirty="0" sz="19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C00000"/>
                </a:solidFill>
                <a:latin typeface="Calibri"/>
                <a:cs typeface="Calibri"/>
              </a:rPr>
              <a:t>nodes:</a:t>
            </a:r>
            <a:endParaRPr sz="1900">
              <a:latin typeface="Calibri"/>
              <a:cs typeface="Calibri"/>
            </a:endParaRPr>
          </a:p>
          <a:p>
            <a:pPr marL="2145030">
              <a:lnSpc>
                <a:spcPts val="1925"/>
              </a:lnSpc>
              <a:tabLst>
                <a:tab pos="5749925" algn="l"/>
              </a:tabLst>
            </a:pPr>
            <a:r>
              <a:rPr dirty="0" baseline="1736" sz="2400" spc="15">
                <a:latin typeface="Calibri"/>
                <a:cs typeface="Calibri"/>
              </a:rPr>
              <a:t>node </a:t>
            </a:r>
            <a:r>
              <a:rPr dirty="0" baseline="1736" sz="2400" spc="7">
                <a:latin typeface="Calibri"/>
                <a:cs typeface="Calibri"/>
              </a:rPr>
              <a:t>without</a:t>
            </a:r>
            <a:r>
              <a:rPr dirty="0" baseline="1736" sz="2400" spc="22">
                <a:latin typeface="Calibri"/>
                <a:cs typeface="Calibri"/>
              </a:rPr>
              <a:t> </a:t>
            </a:r>
            <a:r>
              <a:rPr dirty="0" baseline="1736" sz="2400" spc="7">
                <a:latin typeface="Calibri"/>
                <a:cs typeface="Calibri"/>
              </a:rPr>
              <a:t>augmented</a:t>
            </a:r>
            <a:r>
              <a:rPr dirty="0" baseline="1736" sz="2400" spc="22">
                <a:latin typeface="Calibri"/>
                <a:cs typeface="Calibri"/>
              </a:rPr>
              <a:t> </a:t>
            </a:r>
            <a:r>
              <a:rPr dirty="0" baseline="1736" sz="2400" spc="0">
                <a:latin typeface="Calibri"/>
                <a:cs typeface="Calibri"/>
              </a:rPr>
              <a:t>identity	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failure</a:t>
            </a:r>
            <a:r>
              <a:rPr dirty="0" sz="2000" spc="-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case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25873" y="5425537"/>
            <a:ext cx="7492365" cy="1212215"/>
          </a:xfrm>
          <a:custGeom>
            <a:avLst/>
            <a:gdLst/>
            <a:ahLst/>
            <a:cxnLst/>
            <a:rect l="l" t="t" r="r" b="b"/>
            <a:pathLst>
              <a:path w="7492365" h="1212215">
                <a:moveTo>
                  <a:pt x="0" y="0"/>
                </a:moveTo>
                <a:lnTo>
                  <a:pt x="7492252" y="0"/>
                </a:lnTo>
                <a:lnTo>
                  <a:pt x="7492252" y="1212135"/>
                </a:lnTo>
                <a:lnTo>
                  <a:pt x="0" y="1212135"/>
                </a:lnTo>
                <a:lnTo>
                  <a:pt x="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135855" y="5750052"/>
            <a:ext cx="68732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FFFFFF"/>
                </a:solidFill>
                <a:latin typeface="Corbel"/>
                <a:cs typeface="Corbel"/>
              </a:rPr>
              <a:t>How to </a:t>
            </a:r>
            <a:r>
              <a:rPr dirty="0" sz="3200" spc="-5">
                <a:solidFill>
                  <a:srgbClr val="FFFFFF"/>
                </a:solidFill>
                <a:latin typeface="Corbel"/>
                <a:cs typeface="Corbel"/>
              </a:rPr>
              <a:t>build </a:t>
            </a:r>
            <a:r>
              <a:rPr dirty="0" sz="3200">
                <a:solidFill>
                  <a:srgbClr val="FFFFFF"/>
                </a:solidFill>
                <a:latin typeface="Corbel"/>
                <a:cs typeface="Corbel"/>
              </a:rPr>
              <a:t>a </a:t>
            </a:r>
            <a:r>
              <a:rPr dirty="0" sz="3200" spc="-5">
                <a:solidFill>
                  <a:srgbClr val="FFFFFF"/>
                </a:solidFill>
                <a:latin typeface="Corbel"/>
                <a:cs typeface="Corbel"/>
              </a:rPr>
              <a:t>GNN using node</a:t>
            </a:r>
            <a:r>
              <a:rPr dirty="0" sz="3200" spc="-1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200" spc="-5">
                <a:solidFill>
                  <a:srgbClr val="FFFFFF"/>
                </a:solidFill>
                <a:latin typeface="Corbel"/>
                <a:cs typeface="Corbel"/>
              </a:rPr>
              <a:t>coloring?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70" name="object 7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33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950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270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C00000"/>
                </a:solidFill>
              </a:rPr>
              <a:t>Utilize inductive </a:t>
            </a:r>
            <a:r>
              <a:rPr dirty="0" sz="3200" spc="-5">
                <a:solidFill>
                  <a:srgbClr val="C00000"/>
                </a:solidFill>
              </a:rPr>
              <a:t>node coloring </a:t>
            </a:r>
            <a:r>
              <a:rPr dirty="0" sz="3200" b="0">
                <a:latin typeface="Calibri"/>
                <a:cs typeface="Calibri"/>
              </a:rPr>
              <a:t>in </a:t>
            </a:r>
            <a:r>
              <a:rPr dirty="0" sz="3200" spc="-5" b="0">
                <a:latin typeface="Calibri"/>
                <a:cs typeface="Calibri"/>
              </a:rPr>
              <a:t>embedding  </a:t>
            </a:r>
            <a:r>
              <a:rPr dirty="0" sz="3200" spc="-10" b="0">
                <a:latin typeface="Calibri"/>
                <a:cs typeface="Calibri"/>
              </a:rPr>
              <a:t>computation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333921"/>
            <a:ext cx="7580630" cy="133667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Idea: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Heterogenous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r>
              <a:rPr dirty="0" sz="28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passing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52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25">
                <a:latin typeface="Calibri"/>
                <a:cs typeface="Calibri"/>
              </a:rPr>
              <a:t>Normally,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GNN applies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the same </a:t>
            </a:r>
            <a:r>
              <a:rPr dirty="0" sz="2400" spc="-40" b="1">
                <a:solidFill>
                  <a:srgbClr val="0070C0"/>
                </a:solidFill>
                <a:latin typeface="Calibri"/>
                <a:cs typeface="Calibri"/>
              </a:rPr>
              <a:t>message/aggregation 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computation to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all </a:t>
            </a:r>
            <a:r>
              <a:rPr dirty="0" sz="2400" b="1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dirty="0" sz="2400" spc="-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9039" y="591801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74291" y="591801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2499" y="543025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30052" y="591801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15305" y="591801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23513" y="543025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59545" y="591801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44799" y="591801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53006" y="543025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00558" y="591801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85812" y="591801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94019" y="543025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70914" y="4968812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09191" y="496583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39365" y="4558336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490707" y="4528820"/>
            <a:ext cx="237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Cambria Math"/>
                <a:cs typeface="Cambria Math"/>
              </a:rPr>
              <a:t>𝑣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36938" y="4824357"/>
            <a:ext cx="548640" cy="190500"/>
          </a:xfrm>
          <a:custGeom>
            <a:avLst/>
            <a:gdLst/>
            <a:ahLst/>
            <a:cxnLst/>
            <a:rect l="l" t="t" r="r" b="b"/>
            <a:pathLst>
              <a:path w="548639" h="190500">
                <a:moveTo>
                  <a:pt x="0" y="190097"/>
                </a:moveTo>
                <a:lnTo>
                  <a:pt x="54807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05388" y="4824356"/>
            <a:ext cx="549910" cy="187325"/>
          </a:xfrm>
          <a:custGeom>
            <a:avLst/>
            <a:gdLst/>
            <a:ahLst/>
            <a:cxnLst/>
            <a:rect l="l" t="t" r="r" b="b"/>
            <a:pathLst>
              <a:path w="549910" h="187325">
                <a:moveTo>
                  <a:pt x="0" y="0"/>
                </a:moveTo>
                <a:lnTo>
                  <a:pt x="549444" y="1871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38332" y="5234834"/>
            <a:ext cx="278765" cy="195580"/>
          </a:xfrm>
          <a:custGeom>
            <a:avLst/>
            <a:gdLst/>
            <a:ahLst/>
            <a:cxnLst/>
            <a:rect l="l" t="t" r="r" b="b"/>
            <a:pathLst>
              <a:path w="278764" h="195579">
                <a:moveTo>
                  <a:pt x="278224" y="0"/>
                </a:moveTo>
                <a:lnTo>
                  <a:pt x="0" y="19541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36938" y="5234834"/>
            <a:ext cx="272415" cy="195580"/>
          </a:xfrm>
          <a:custGeom>
            <a:avLst/>
            <a:gdLst/>
            <a:ahLst/>
            <a:cxnLst/>
            <a:rect l="l" t="t" r="r" b="b"/>
            <a:pathLst>
              <a:path w="272414" h="195579">
                <a:moveTo>
                  <a:pt x="0" y="0"/>
                </a:moveTo>
                <a:lnTo>
                  <a:pt x="271903" y="19541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79345" y="5231857"/>
            <a:ext cx="275590" cy="198755"/>
          </a:xfrm>
          <a:custGeom>
            <a:avLst/>
            <a:gdLst/>
            <a:ahLst/>
            <a:cxnLst/>
            <a:rect l="l" t="t" r="r" b="b"/>
            <a:pathLst>
              <a:path w="275589" h="198754">
                <a:moveTo>
                  <a:pt x="275488" y="0"/>
                </a:moveTo>
                <a:lnTo>
                  <a:pt x="0" y="1983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75213" y="5231857"/>
            <a:ext cx="274955" cy="198755"/>
          </a:xfrm>
          <a:custGeom>
            <a:avLst/>
            <a:gdLst/>
            <a:ahLst/>
            <a:cxnLst/>
            <a:rect l="l" t="t" r="r" b="b"/>
            <a:pathLst>
              <a:path w="274954" h="198754">
                <a:moveTo>
                  <a:pt x="0" y="0"/>
                </a:moveTo>
                <a:lnTo>
                  <a:pt x="274638" y="1983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244871" y="5696276"/>
            <a:ext cx="83820" cy="222250"/>
          </a:xfrm>
          <a:custGeom>
            <a:avLst/>
            <a:gdLst/>
            <a:ahLst/>
            <a:cxnLst/>
            <a:rect l="l" t="t" r="r" b="b"/>
            <a:pathLst>
              <a:path w="83819" h="222250">
                <a:moveTo>
                  <a:pt x="83271" y="0"/>
                </a:moveTo>
                <a:lnTo>
                  <a:pt x="0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48522" y="5696276"/>
            <a:ext cx="81915" cy="222250"/>
          </a:xfrm>
          <a:custGeom>
            <a:avLst/>
            <a:gdLst/>
            <a:ahLst/>
            <a:cxnLst/>
            <a:rect l="l" t="t" r="r" b="b"/>
            <a:pathLst>
              <a:path w="81914" h="222250">
                <a:moveTo>
                  <a:pt x="0" y="0"/>
                </a:moveTo>
                <a:lnTo>
                  <a:pt x="81602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15377" y="5696276"/>
            <a:ext cx="83820" cy="222250"/>
          </a:xfrm>
          <a:custGeom>
            <a:avLst/>
            <a:gdLst/>
            <a:ahLst/>
            <a:cxnLst/>
            <a:rect l="l" t="t" r="r" b="b"/>
            <a:pathLst>
              <a:path w="83819" h="222250">
                <a:moveTo>
                  <a:pt x="83271" y="0"/>
                </a:moveTo>
                <a:lnTo>
                  <a:pt x="0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319030" y="5696276"/>
            <a:ext cx="81915" cy="222250"/>
          </a:xfrm>
          <a:custGeom>
            <a:avLst/>
            <a:gdLst/>
            <a:ahLst/>
            <a:cxnLst/>
            <a:rect l="l" t="t" r="r" b="b"/>
            <a:pathLst>
              <a:path w="81914" h="222250">
                <a:moveTo>
                  <a:pt x="0" y="0"/>
                </a:moveTo>
                <a:lnTo>
                  <a:pt x="81602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85884" y="5696276"/>
            <a:ext cx="83820" cy="222250"/>
          </a:xfrm>
          <a:custGeom>
            <a:avLst/>
            <a:gdLst/>
            <a:ahLst/>
            <a:cxnLst/>
            <a:rect l="l" t="t" r="r" b="b"/>
            <a:pathLst>
              <a:path w="83820" h="222250">
                <a:moveTo>
                  <a:pt x="83271" y="0"/>
                </a:moveTo>
                <a:lnTo>
                  <a:pt x="0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89537" y="5696276"/>
            <a:ext cx="81915" cy="222250"/>
          </a:xfrm>
          <a:custGeom>
            <a:avLst/>
            <a:gdLst/>
            <a:ahLst/>
            <a:cxnLst/>
            <a:rect l="l" t="t" r="r" b="b"/>
            <a:pathLst>
              <a:path w="81914" h="222250">
                <a:moveTo>
                  <a:pt x="0" y="0"/>
                </a:moveTo>
                <a:lnTo>
                  <a:pt x="81602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56392" y="5696276"/>
            <a:ext cx="83820" cy="222250"/>
          </a:xfrm>
          <a:custGeom>
            <a:avLst/>
            <a:gdLst/>
            <a:ahLst/>
            <a:cxnLst/>
            <a:rect l="l" t="t" r="r" b="b"/>
            <a:pathLst>
              <a:path w="83820" h="222250">
                <a:moveTo>
                  <a:pt x="83271" y="0"/>
                </a:moveTo>
                <a:lnTo>
                  <a:pt x="0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860043" y="5696276"/>
            <a:ext cx="81915" cy="222250"/>
          </a:xfrm>
          <a:custGeom>
            <a:avLst/>
            <a:gdLst/>
            <a:ahLst/>
            <a:cxnLst/>
            <a:rect l="l" t="t" r="r" b="b"/>
            <a:pathLst>
              <a:path w="81914" h="222250">
                <a:moveTo>
                  <a:pt x="0" y="0"/>
                </a:moveTo>
                <a:lnTo>
                  <a:pt x="81602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865371" y="3932788"/>
            <a:ext cx="1380490" cy="434340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5969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470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Neural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Net</a:t>
            </a:r>
            <a:r>
              <a:rPr dirty="0" sz="1800" spc="-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436152" y="4378921"/>
            <a:ext cx="504190" cy="1052195"/>
          </a:xfrm>
          <a:custGeom>
            <a:avLst/>
            <a:gdLst/>
            <a:ahLst/>
            <a:cxnLst/>
            <a:rect l="l" t="t" r="r" b="b"/>
            <a:pathLst>
              <a:path w="504189" h="1052195">
                <a:moveTo>
                  <a:pt x="0" y="966797"/>
                </a:moveTo>
                <a:lnTo>
                  <a:pt x="2179" y="1051963"/>
                </a:lnTo>
                <a:lnTo>
                  <a:pt x="68083" y="999848"/>
                </a:lnTo>
                <a:lnTo>
                  <a:pt x="40615" y="999848"/>
                </a:lnTo>
                <a:lnTo>
                  <a:pt x="17613" y="989073"/>
                </a:lnTo>
                <a:lnTo>
                  <a:pt x="23001" y="977571"/>
                </a:lnTo>
                <a:lnTo>
                  <a:pt x="0" y="966797"/>
                </a:lnTo>
                <a:close/>
              </a:path>
              <a:path w="504189" h="1052195">
                <a:moveTo>
                  <a:pt x="23001" y="977571"/>
                </a:moveTo>
                <a:lnTo>
                  <a:pt x="17613" y="989073"/>
                </a:lnTo>
                <a:lnTo>
                  <a:pt x="40615" y="999848"/>
                </a:lnTo>
                <a:lnTo>
                  <a:pt x="46002" y="988346"/>
                </a:lnTo>
                <a:lnTo>
                  <a:pt x="23001" y="977571"/>
                </a:lnTo>
                <a:close/>
              </a:path>
              <a:path w="504189" h="1052195">
                <a:moveTo>
                  <a:pt x="46002" y="988346"/>
                </a:moveTo>
                <a:lnTo>
                  <a:pt x="40615" y="999848"/>
                </a:lnTo>
                <a:lnTo>
                  <a:pt x="68083" y="999848"/>
                </a:lnTo>
                <a:lnTo>
                  <a:pt x="69004" y="999120"/>
                </a:lnTo>
                <a:lnTo>
                  <a:pt x="46002" y="988346"/>
                </a:lnTo>
                <a:close/>
              </a:path>
              <a:path w="504189" h="1052195">
                <a:moveTo>
                  <a:pt x="28388" y="966071"/>
                </a:moveTo>
                <a:lnTo>
                  <a:pt x="23001" y="977571"/>
                </a:lnTo>
                <a:lnTo>
                  <a:pt x="46002" y="988346"/>
                </a:lnTo>
                <a:lnTo>
                  <a:pt x="51389" y="976845"/>
                </a:lnTo>
                <a:lnTo>
                  <a:pt x="28388" y="966071"/>
                </a:lnTo>
                <a:close/>
              </a:path>
              <a:path w="504189" h="1052195">
                <a:moveTo>
                  <a:pt x="49936" y="920068"/>
                </a:moveTo>
                <a:lnTo>
                  <a:pt x="39161" y="943070"/>
                </a:lnTo>
                <a:lnTo>
                  <a:pt x="62163" y="953843"/>
                </a:lnTo>
                <a:lnTo>
                  <a:pt x="72937" y="930842"/>
                </a:lnTo>
                <a:lnTo>
                  <a:pt x="49936" y="920068"/>
                </a:lnTo>
                <a:close/>
              </a:path>
              <a:path w="504189" h="1052195">
                <a:moveTo>
                  <a:pt x="71484" y="874064"/>
                </a:moveTo>
                <a:lnTo>
                  <a:pt x="60709" y="897067"/>
                </a:lnTo>
                <a:lnTo>
                  <a:pt x="83712" y="907840"/>
                </a:lnTo>
                <a:lnTo>
                  <a:pt x="94485" y="884839"/>
                </a:lnTo>
                <a:lnTo>
                  <a:pt x="71484" y="874064"/>
                </a:lnTo>
                <a:close/>
              </a:path>
              <a:path w="504189" h="1052195">
                <a:moveTo>
                  <a:pt x="93032" y="828061"/>
                </a:moveTo>
                <a:lnTo>
                  <a:pt x="82257" y="851063"/>
                </a:lnTo>
                <a:lnTo>
                  <a:pt x="105260" y="861837"/>
                </a:lnTo>
                <a:lnTo>
                  <a:pt x="116033" y="838834"/>
                </a:lnTo>
                <a:lnTo>
                  <a:pt x="93032" y="828061"/>
                </a:lnTo>
                <a:close/>
              </a:path>
              <a:path w="504189" h="1052195">
                <a:moveTo>
                  <a:pt x="114580" y="782058"/>
                </a:moveTo>
                <a:lnTo>
                  <a:pt x="103805" y="805059"/>
                </a:lnTo>
                <a:lnTo>
                  <a:pt x="126808" y="815834"/>
                </a:lnTo>
                <a:lnTo>
                  <a:pt x="137581" y="792831"/>
                </a:lnTo>
                <a:lnTo>
                  <a:pt x="114580" y="782058"/>
                </a:lnTo>
                <a:close/>
              </a:path>
              <a:path w="504189" h="1052195">
                <a:moveTo>
                  <a:pt x="136128" y="736055"/>
                </a:moveTo>
                <a:lnTo>
                  <a:pt x="125354" y="759056"/>
                </a:lnTo>
                <a:lnTo>
                  <a:pt x="148356" y="769830"/>
                </a:lnTo>
                <a:lnTo>
                  <a:pt x="159131" y="746828"/>
                </a:lnTo>
                <a:lnTo>
                  <a:pt x="136128" y="736055"/>
                </a:lnTo>
                <a:close/>
              </a:path>
              <a:path w="504189" h="1052195">
                <a:moveTo>
                  <a:pt x="157676" y="690050"/>
                </a:moveTo>
                <a:lnTo>
                  <a:pt x="146902" y="713052"/>
                </a:lnTo>
                <a:lnTo>
                  <a:pt x="169904" y="723827"/>
                </a:lnTo>
                <a:lnTo>
                  <a:pt x="180679" y="700825"/>
                </a:lnTo>
                <a:lnTo>
                  <a:pt x="157676" y="690050"/>
                </a:lnTo>
                <a:close/>
              </a:path>
              <a:path w="504189" h="1052195">
                <a:moveTo>
                  <a:pt x="179224" y="644047"/>
                </a:moveTo>
                <a:lnTo>
                  <a:pt x="168451" y="667049"/>
                </a:lnTo>
                <a:lnTo>
                  <a:pt x="191452" y="677823"/>
                </a:lnTo>
                <a:lnTo>
                  <a:pt x="202227" y="654822"/>
                </a:lnTo>
                <a:lnTo>
                  <a:pt x="179224" y="644047"/>
                </a:lnTo>
                <a:close/>
              </a:path>
              <a:path w="504189" h="1052195">
                <a:moveTo>
                  <a:pt x="200773" y="598044"/>
                </a:moveTo>
                <a:lnTo>
                  <a:pt x="189999" y="621046"/>
                </a:lnTo>
                <a:lnTo>
                  <a:pt x="213000" y="631819"/>
                </a:lnTo>
                <a:lnTo>
                  <a:pt x="223775" y="608818"/>
                </a:lnTo>
                <a:lnTo>
                  <a:pt x="200773" y="598044"/>
                </a:lnTo>
                <a:close/>
              </a:path>
              <a:path w="504189" h="1052195">
                <a:moveTo>
                  <a:pt x="222321" y="552041"/>
                </a:moveTo>
                <a:lnTo>
                  <a:pt x="211547" y="575042"/>
                </a:lnTo>
                <a:lnTo>
                  <a:pt x="234548" y="585816"/>
                </a:lnTo>
                <a:lnTo>
                  <a:pt x="245323" y="562814"/>
                </a:lnTo>
                <a:lnTo>
                  <a:pt x="222321" y="552041"/>
                </a:lnTo>
                <a:close/>
              </a:path>
              <a:path w="504189" h="1052195">
                <a:moveTo>
                  <a:pt x="243869" y="506037"/>
                </a:moveTo>
                <a:lnTo>
                  <a:pt x="233095" y="529038"/>
                </a:lnTo>
                <a:lnTo>
                  <a:pt x="256096" y="539813"/>
                </a:lnTo>
                <a:lnTo>
                  <a:pt x="266871" y="516811"/>
                </a:lnTo>
                <a:lnTo>
                  <a:pt x="243869" y="506037"/>
                </a:lnTo>
                <a:close/>
              </a:path>
              <a:path w="504189" h="1052195">
                <a:moveTo>
                  <a:pt x="265417" y="460034"/>
                </a:moveTo>
                <a:lnTo>
                  <a:pt x="254643" y="483035"/>
                </a:lnTo>
                <a:lnTo>
                  <a:pt x="277644" y="493810"/>
                </a:lnTo>
                <a:lnTo>
                  <a:pt x="288419" y="470808"/>
                </a:lnTo>
                <a:lnTo>
                  <a:pt x="265417" y="460034"/>
                </a:lnTo>
                <a:close/>
              </a:path>
              <a:path w="504189" h="1052195">
                <a:moveTo>
                  <a:pt x="286965" y="414030"/>
                </a:moveTo>
                <a:lnTo>
                  <a:pt x="276191" y="437032"/>
                </a:lnTo>
                <a:lnTo>
                  <a:pt x="299194" y="447807"/>
                </a:lnTo>
                <a:lnTo>
                  <a:pt x="309967" y="424804"/>
                </a:lnTo>
                <a:lnTo>
                  <a:pt x="286965" y="414030"/>
                </a:lnTo>
                <a:close/>
              </a:path>
              <a:path w="504189" h="1052195">
                <a:moveTo>
                  <a:pt x="308514" y="368026"/>
                </a:moveTo>
                <a:lnTo>
                  <a:pt x="297740" y="391029"/>
                </a:lnTo>
                <a:lnTo>
                  <a:pt x="320742" y="401802"/>
                </a:lnTo>
                <a:lnTo>
                  <a:pt x="331515" y="378801"/>
                </a:lnTo>
                <a:lnTo>
                  <a:pt x="308514" y="368026"/>
                </a:lnTo>
                <a:close/>
              </a:path>
              <a:path w="504189" h="1052195">
                <a:moveTo>
                  <a:pt x="330062" y="322023"/>
                </a:moveTo>
                <a:lnTo>
                  <a:pt x="319288" y="345025"/>
                </a:lnTo>
                <a:lnTo>
                  <a:pt x="342290" y="355799"/>
                </a:lnTo>
                <a:lnTo>
                  <a:pt x="353063" y="332798"/>
                </a:lnTo>
                <a:lnTo>
                  <a:pt x="330062" y="322023"/>
                </a:lnTo>
                <a:close/>
              </a:path>
              <a:path w="504189" h="1052195">
                <a:moveTo>
                  <a:pt x="351610" y="276020"/>
                </a:moveTo>
                <a:lnTo>
                  <a:pt x="340836" y="299021"/>
                </a:lnTo>
                <a:lnTo>
                  <a:pt x="363838" y="309796"/>
                </a:lnTo>
                <a:lnTo>
                  <a:pt x="374611" y="286793"/>
                </a:lnTo>
                <a:lnTo>
                  <a:pt x="351610" y="276020"/>
                </a:lnTo>
                <a:close/>
              </a:path>
              <a:path w="504189" h="1052195">
                <a:moveTo>
                  <a:pt x="373159" y="230017"/>
                </a:moveTo>
                <a:lnTo>
                  <a:pt x="362384" y="253018"/>
                </a:lnTo>
                <a:lnTo>
                  <a:pt x="385386" y="263792"/>
                </a:lnTo>
                <a:lnTo>
                  <a:pt x="396159" y="240790"/>
                </a:lnTo>
                <a:lnTo>
                  <a:pt x="373159" y="230017"/>
                </a:lnTo>
                <a:close/>
              </a:path>
              <a:path w="504189" h="1052195">
                <a:moveTo>
                  <a:pt x="394707" y="184014"/>
                </a:moveTo>
                <a:lnTo>
                  <a:pt x="383932" y="207015"/>
                </a:lnTo>
                <a:lnTo>
                  <a:pt x="406934" y="217789"/>
                </a:lnTo>
                <a:lnTo>
                  <a:pt x="417708" y="194787"/>
                </a:lnTo>
                <a:lnTo>
                  <a:pt x="394707" y="184014"/>
                </a:lnTo>
                <a:close/>
              </a:path>
              <a:path w="504189" h="1052195">
                <a:moveTo>
                  <a:pt x="416255" y="138009"/>
                </a:moveTo>
                <a:lnTo>
                  <a:pt x="405480" y="161011"/>
                </a:lnTo>
                <a:lnTo>
                  <a:pt x="428482" y="171786"/>
                </a:lnTo>
                <a:lnTo>
                  <a:pt x="439257" y="148784"/>
                </a:lnTo>
                <a:lnTo>
                  <a:pt x="416255" y="138009"/>
                </a:lnTo>
                <a:close/>
              </a:path>
              <a:path w="504189" h="1052195">
                <a:moveTo>
                  <a:pt x="437803" y="92006"/>
                </a:moveTo>
                <a:lnTo>
                  <a:pt x="427028" y="115008"/>
                </a:lnTo>
                <a:lnTo>
                  <a:pt x="450030" y="125782"/>
                </a:lnTo>
                <a:lnTo>
                  <a:pt x="460805" y="102781"/>
                </a:lnTo>
                <a:lnTo>
                  <a:pt x="437803" y="92006"/>
                </a:lnTo>
                <a:close/>
              </a:path>
              <a:path w="504189" h="1052195">
                <a:moveTo>
                  <a:pt x="459351" y="46003"/>
                </a:moveTo>
                <a:lnTo>
                  <a:pt x="448577" y="69005"/>
                </a:lnTo>
                <a:lnTo>
                  <a:pt x="471578" y="79778"/>
                </a:lnTo>
                <a:lnTo>
                  <a:pt x="482353" y="56776"/>
                </a:lnTo>
                <a:lnTo>
                  <a:pt x="459351" y="46003"/>
                </a:lnTo>
                <a:close/>
              </a:path>
              <a:path w="504189" h="1052195">
                <a:moveTo>
                  <a:pt x="480899" y="0"/>
                </a:moveTo>
                <a:lnTo>
                  <a:pt x="470126" y="23000"/>
                </a:lnTo>
                <a:lnTo>
                  <a:pt x="493127" y="33775"/>
                </a:lnTo>
                <a:lnTo>
                  <a:pt x="503901" y="10773"/>
                </a:lnTo>
                <a:lnTo>
                  <a:pt x="48089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180845" y="4365733"/>
            <a:ext cx="102870" cy="1049655"/>
          </a:xfrm>
          <a:custGeom>
            <a:avLst/>
            <a:gdLst/>
            <a:ahLst/>
            <a:cxnLst/>
            <a:rect l="l" t="t" r="r" b="b"/>
            <a:pathLst>
              <a:path w="102870" h="1049654">
                <a:moveTo>
                  <a:pt x="0" y="971395"/>
                </a:moveTo>
                <a:lnTo>
                  <a:pt x="34004" y="1049508"/>
                </a:lnTo>
                <a:lnTo>
                  <a:pt x="69650" y="986773"/>
                </a:lnTo>
                <a:lnTo>
                  <a:pt x="50054" y="986773"/>
                </a:lnTo>
                <a:lnTo>
                  <a:pt x="24690" y="985426"/>
                </a:lnTo>
                <a:lnTo>
                  <a:pt x="25363" y="972742"/>
                </a:lnTo>
                <a:lnTo>
                  <a:pt x="0" y="971395"/>
                </a:lnTo>
                <a:close/>
              </a:path>
              <a:path w="102870" h="1049654">
                <a:moveTo>
                  <a:pt x="25363" y="972742"/>
                </a:moveTo>
                <a:lnTo>
                  <a:pt x="24690" y="985426"/>
                </a:lnTo>
                <a:lnTo>
                  <a:pt x="50054" y="986773"/>
                </a:lnTo>
                <a:lnTo>
                  <a:pt x="50728" y="974090"/>
                </a:lnTo>
                <a:lnTo>
                  <a:pt x="25363" y="972742"/>
                </a:lnTo>
                <a:close/>
              </a:path>
              <a:path w="102870" h="1049654">
                <a:moveTo>
                  <a:pt x="50728" y="974090"/>
                </a:moveTo>
                <a:lnTo>
                  <a:pt x="50054" y="986773"/>
                </a:lnTo>
                <a:lnTo>
                  <a:pt x="69650" y="986773"/>
                </a:lnTo>
                <a:lnTo>
                  <a:pt x="76092" y="975437"/>
                </a:lnTo>
                <a:lnTo>
                  <a:pt x="50728" y="974090"/>
                </a:lnTo>
                <a:close/>
              </a:path>
              <a:path w="102870" h="1049654">
                <a:moveTo>
                  <a:pt x="26037" y="960061"/>
                </a:moveTo>
                <a:lnTo>
                  <a:pt x="25363" y="972742"/>
                </a:lnTo>
                <a:lnTo>
                  <a:pt x="50728" y="974090"/>
                </a:lnTo>
                <a:lnTo>
                  <a:pt x="51401" y="961409"/>
                </a:lnTo>
                <a:lnTo>
                  <a:pt x="26037" y="960061"/>
                </a:lnTo>
                <a:close/>
              </a:path>
              <a:path w="102870" h="1049654">
                <a:moveTo>
                  <a:pt x="28732" y="909332"/>
                </a:moveTo>
                <a:lnTo>
                  <a:pt x="27385" y="934697"/>
                </a:lnTo>
                <a:lnTo>
                  <a:pt x="52749" y="936044"/>
                </a:lnTo>
                <a:lnTo>
                  <a:pt x="54096" y="910680"/>
                </a:lnTo>
                <a:lnTo>
                  <a:pt x="28732" y="909332"/>
                </a:lnTo>
                <a:close/>
              </a:path>
              <a:path w="102870" h="1049654">
                <a:moveTo>
                  <a:pt x="31427" y="858605"/>
                </a:moveTo>
                <a:lnTo>
                  <a:pt x="30079" y="883969"/>
                </a:lnTo>
                <a:lnTo>
                  <a:pt x="55444" y="885315"/>
                </a:lnTo>
                <a:lnTo>
                  <a:pt x="56791" y="859952"/>
                </a:lnTo>
                <a:lnTo>
                  <a:pt x="31427" y="858605"/>
                </a:lnTo>
                <a:close/>
              </a:path>
              <a:path w="102870" h="1049654">
                <a:moveTo>
                  <a:pt x="34122" y="807876"/>
                </a:moveTo>
                <a:lnTo>
                  <a:pt x="32774" y="833240"/>
                </a:lnTo>
                <a:lnTo>
                  <a:pt x="58139" y="834588"/>
                </a:lnTo>
                <a:lnTo>
                  <a:pt x="59485" y="809223"/>
                </a:lnTo>
                <a:lnTo>
                  <a:pt x="34122" y="807876"/>
                </a:lnTo>
                <a:close/>
              </a:path>
              <a:path w="102870" h="1049654">
                <a:moveTo>
                  <a:pt x="36816" y="757147"/>
                </a:moveTo>
                <a:lnTo>
                  <a:pt x="35468" y="782511"/>
                </a:lnTo>
                <a:lnTo>
                  <a:pt x="60833" y="783859"/>
                </a:lnTo>
                <a:lnTo>
                  <a:pt x="62180" y="758494"/>
                </a:lnTo>
                <a:lnTo>
                  <a:pt x="36816" y="757147"/>
                </a:lnTo>
                <a:close/>
              </a:path>
              <a:path w="102870" h="1049654">
                <a:moveTo>
                  <a:pt x="39510" y="706419"/>
                </a:moveTo>
                <a:lnTo>
                  <a:pt x="38163" y="731782"/>
                </a:lnTo>
                <a:lnTo>
                  <a:pt x="63527" y="733130"/>
                </a:lnTo>
                <a:lnTo>
                  <a:pt x="64875" y="707767"/>
                </a:lnTo>
                <a:lnTo>
                  <a:pt x="39510" y="706419"/>
                </a:lnTo>
                <a:close/>
              </a:path>
              <a:path w="102870" h="1049654">
                <a:moveTo>
                  <a:pt x="42205" y="655690"/>
                </a:moveTo>
                <a:lnTo>
                  <a:pt x="40858" y="681055"/>
                </a:lnTo>
                <a:lnTo>
                  <a:pt x="66222" y="682402"/>
                </a:lnTo>
                <a:lnTo>
                  <a:pt x="67570" y="657038"/>
                </a:lnTo>
                <a:lnTo>
                  <a:pt x="42205" y="655690"/>
                </a:lnTo>
                <a:close/>
              </a:path>
              <a:path w="102870" h="1049654">
                <a:moveTo>
                  <a:pt x="44900" y="604961"/>
                </a:moveTo>
                <a:lnTo>
                  <a:pt x="43553" y="630326"/>
                </a:lnTo>
                <a:lnTo>
                  <a:pt x="68917" y="631673"/>
                </a:lnTo>
                <a:lnTo>
                  <a:pt x="70265" y="606309"/>
                </a:lnTo>
                <a:lnTo>
                  <a:pt x="44900" y="604961"/>
                </a:lnTo>
                <a:close/>
              </a:path>
              <a:path w="102870" h="1049654">
                <a:moveTo>
                  <a:pt x="47595" y="554234"/>
                </a:moveTo>
                <a:lnTo>
                  <a:pt x="46248" y="579597"/>
                </a:lnTo>
                <a:lnTo>
                  <a:pt x="71612" y="580944"/>
                </a:lnTo>
                <a:lnTo>
                  <a:pt x="72958" y="555580"/>
                </a:lnTo>
                <a:lnTo>
                  <a:pt x="47595" y="554234"/>
                </a:lnTo>
                <a:close/>
              </a:path>
              <a:path w="102870" h="1049654">
                <a:moveTo>
                  <a:pt x="50289" y="503505"/>
                </a:moveTo>
                <a:lnTo>
                  <a:pt x="48941" y="528869"/>
                </a:lnTo>
                <a:lnTo>
                  <a:pt x="74306" y="530217"/>
                </a:lnTo>
                <a:lnTo>
                  <a:pt x="75653" y="504852"/>
                </a:lnTo>
                <a:lnTo>
                  <a:pt x="50289" y="503505"/>
                </a:lnTo>
                <a:close/>
              </a:path>
              <a:path w="102870" h="1049654">
                <a:moveTo>
                  <a:pt x="52984" y="452776"/>
                </a:moveTo>
                <a:lnTo>
                  <a:pt x="51636" y="478141"/>
                </a:lnTo>
                <a:lnTo>
                  <a:pt x="77001" y="479488"/>
                </a:lnTo>
                <a:lnTo>
                  <a:pt x="78348" y="454124"/>
                </a:lnTo>
                <a:lnTo>
                  <a:pt x="52984" y="452776"/>
                </a:lnTo>
                <a:close/>
              </a:path>
              <a:path w="102870" h="1049654">
                <a:moveTo>
                  <a:pt x="55679" y="402047"/>
                </a:moveTo>
                <a:lnTo>
                  <a:pt x="54331" y="427412"/>
                </a:lnTo>
                <a:lnTo>
                  <a:pt x="79696" y="428759"/>
                </a:lnTo>
                <a:lnTo>
                  <a:pt x="81043" y="403395"/>
                </a:lnTo>
                <a:lnTo>
                  <a:pt x="55679" y="402047"/>
                </a:lnTo>
                <a:close/>
              </a:path>
              <a:path w="102870" h="1049654">
                <a:moveTo>
                  <a:pt x="58374" y="351320"/>
                </a:moveTo>
                <a:lnTo>
                  <a:pt x="57026" y="376684"/>
                </a:lnTo>
                <a:lnTo>
                  <a:pt x="82391" y="378032"/>
                </a:lnTo>
                <a:lnTo>
                  <a:pt x="83738" y="352667"/>
                </a:lnTo>
                <a:lnTo>
                  <a:pt x="58374" y="351320"/>
                </a:lnTo>
                <a:close/>
              </a:path>
              <a:path w="102870" h="1049654">
                <a:moveTo>
                  <a:pt x="61069" y="300591"/>
                </a:moveTo>
                <a:lnTo>
                  <a:pt x="59721" y="325955"/>
                </a:lnTo>
                <a:lnTo>
                  <a:pt x="85086" y="327303"/>
                </a:lnTo>
                <a:lnTo>
                  <a:pt x="86432" y="301938"/>
                </a:lnTo>
                <a:lnTo>
                  <a:pt x="61069" y="300591"/>
                </a:lnTo>
                <a:close/>
              </a:path>
              <a:path w="102870" h="1049654">
                <a:moveTo>
                  <a:pt x="63762" y="249862"/>
                </a:moveTo>
                <a:lnTo>
                  <a:pt x="62416" y="275226"/>
                </a:lnTo>
                <a:lnTo>
                  <a:pt x="87779" y="276574"/>
                </a:lnTo>
                <a:lnTo>
                  <a:pt x="89127" y="251209"/>
                </a:lnTo>
                <a:lnTo>
                  <a:pt x="63762" y="249862"/>
                </a:lnTo>
                <a:close/>
              </a:path>
              <a:path w="102870" h="1049654">
                <a:moveTo>
                  <a:pt x="66457" y="199134"/>
                </a:moveTo>
                <a:lnTo>
                  <a:pt x="65110" y="224499"/>
                </a:lnTo>
                <a:lnTo>
                  <a:pt x="90474" y="225845"/>
                </a:lnTo>
                <a:lnTo>
                  <a:pt x="91822" y="200482"/>
                </a:lnTo>
                <a:lnTo>
                  <a:pt x="66457" y="199134"/>
                </a:lnTo>
                <a:close/>
              </a:path>
              <a:path w="102870" h="1049654">
                <a:moveTo>
                  <a:pt x="69152" y="148405"/>
                </a:moveTo>
                <a:lnTo>
                  <a:pt x="67805" y="173770"/>
                </a:lnTo>
                <a:lnTo>
                  <a:pt x="93169" y="175117"/>
                </a:lnTo>
                <a:lnTo>
                  <a:pt x="94517" y="149753"/>
                </a:lnTo>
                <a:lnTo>
                  <a:pt x="69152" y="148405"/>
                </a:lnTo>
                <a:close/>
              </a:path>
              <a:path w="102870" h="1049654">
                <a:moveTo>
                  <a:pt x="71847" y="97676"/>
                </a:moveTo>
                <a:lnTo>
                  <a:pt x="70500" y="123041"/>
                </a:lnTo>
                <a:lnTo>
                  <a:pt x="95864" y="124388"/>
                </a:lnTo>
                <a:lnTo>
                  <a:pt x="97212" y="99024"/>
                </a:lnTo>
                <a:lnTo>
                  <a:pt x="71847" y="97676"/>
                </a:lnTo>
                <a:close/>
              </a:path>
              <a:path w="102870" h="1049654">
                <a:moveTo>
                  <a:pt x="74542" y="46949"/>
                </a:moveTo>
                <a:lnTo>
                  <a:pt x="73195" y="72313"/>
                </a:lnTo>
                <a:lnTo>
                  <a:pt x="98559" y="73659"/>
                </a:lnTo>
                <a:lnTo>
                  <a:pt x="99905" y="48296"/>
                </a:lnTo>
                <a:lnTo>
                  <a:pt x="74542" y="46949"/>
                </a:lnTo>
                <a:close/>
              </a:path>
              <a:path w="102870" h="1049654">
                <a:moveTo>
                  <a:pt x="77035" y="0"/>
                </a:moveTo>
                <a:lnTo>
                  <a:pt x="75890" y="21584"/>
                </a:lnTo>
                <a:lnTo>
                  <a:pt x="101253" y="22932"/>
                </a:lnTo>
                <a:lnTo>
                  <a:pt x="102400" y="1347"/>
                </a:lnTo>
                <a:lnTo>
                  <a:pt x="770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871548" y="4385283"/>
            <a:ext cx="139065" cy="1045210"/>
          </a:xfrm>
          <a:custGeom>
            <a:avLst/>
            <a:gdLst/>
            <a:ahLst/>
            <a:cxnLst/>
            <a:rect l="l" t="t" r="r" b="b"/>
            <a:pathLst>
              <a:path w="139064" h="1045210">
                <a:moveTo>
                  <a:pt x="88233" y="970238"/>
                </a:moveTo>
                <a:lnTo>
                  <a:pt x="62937" y="972544"/>
                </a:lnTo>
                <a:lnTo>
                  <a:pt x="107797" y="1044971"/>
                </a:lnTo>
                <a:lnTo>
                  <a:pt x="132074" y="982887"/>
                </a:lnTo>
                <a:lnTo>
                  <a:pt x="89386" y="982887"/>
                </a:lnTo>
                <a:lnTo>
                  <a:pt x="88233" y="970238"/>
                </a:lnTo>
                <a:close/>
              </a:path>
              <a:path w="139064" h="1045210">
                <a:moveTo>
                  <a:pt x="113527" y="967933"/>
                </a:moveTo>
                <a:lnTo>
                  <a:pt x="88233" y="970238"/>
                </a:lnTo>
                <a:lnTo>
                  <a:pt x="89386" y="982887"/>
                </a:lnTo>
                <a:lnTo>
                  <a:pt x="114681" y="980580"/>
                </a:lnTo>
                <a:lnTo>
                  <a:pt x="113527" y="967933"/>
                </a:lnTo>
                <a:close/>
              </a:path>
              <a:path w="139064" h="1045210">
                <a:moveTo>
                  <a:pt x="138823" y="965627"/>
                </a:moveTo>
                <a:lnTo>
                  <a:pt x="113527" y="967933"/>
                </a:lnTo>
                <a:lnTo>
                  <a:pt x="114681" y="980580"/>
                </a:lnTo>
                <a:lnTo>
                  <a:pt x="89386" y="982887"/>
                </a:lnTo>
                <a:lnTo>
                  <a:pt x="132074" y="982887"/>
                </a:lnTo>
                <a:lnTo>
                  <a:pt x="138823" y="965627"/>
                </a:lnTo>
                <a:close/>
              </a:path>
              <a:path w="139064" h="1045210">
                <a:moveTo>
                  <a:pt x="112374" y="955286"/>
                </a:moveTo>
                <a:lnTo>
                  <a:pt x="87080" y="957592"/>
                </a:lnTo>
                <a:lnTo>
                  <a:pt x="88233" y="970238"/>
                </a:lnTo>
                <a:lnTo>
                  <a:pt x="113527" y="967933"/>
                </a:lnTo>
                <a:lnTo>
                  <a:pt x="112374" y="955286"/>
                </a:lnTo>
                <a:close/>
              </a:path>
              <a:path w="139064" h="1045210">
                <a:moveTo>
                  <a:pt x="107763" y="904695"/>
                </a:moveTo>
                <a:lnTo>
                  <a:pt x="82468" y="907002"/>
                </a:lnTo>
                <a:lnTo>
                  <a:pt x="84773" y="932296"/>
                </a:lnTo>
                <a:lnTo>
                  <a:pt x="110069" y="929991"/>
                </a:lnTo>
                <a:lnTo>
                  <a:pt x="107763" y="904695"/>
                </a:lnTo>
                <a:close/>
              </a:path>
              <a:path w="139064" h="1045210">
                <a:moveTo>
                  <a:pt x="103151" y="854105"/>
                </a:moveTo>
                <a:lnTo>
                  <a:pt x="77857" y="856411"/>
                </a:lnTo>
                <a:lnTo>
                  <a:pt x="80162" y="881706"/>
                </a:lnTo>
                <a:lnTo>
                  <a:pt x="105458" y="879401"/>
                </a:lnTo>
                <a:lnTo>
                  <a:pt x="103151" y="854105"/>
                </a:lnTo>
                <a:close/>
              </a:path>
              <a:path w="139064" h="1045210">
                <a:moveTo>
                  <a:pt x="98540" y="803515"/>
                </a:moveTo>
                <a:lnTo>
                  <a:pt x="73244" y="805821"/>
                </a:lnTo>
                <a:lnTo>
                  <a:pt x="75551" y="831115"/>
                </a:lnTo>
                <a:lnTo>
                  <a:pt x="100845" y="828810"/>
                </a:lnTo>
                <a:lnTo>
                  <a:pt x="98540" y="803515"/>
                </a:lnTo>
                <a:close/>
              </a:path>
              <a:path w="139064" h="1045210">
                <a:moveTo>
                  <a:pt x="93929" y="752925"/>
                </a:moveTo>
                <a:lnTo>
                  <a:pt x="68633" y="755230"/>
                </a:lnTo>
                <a:lnTo>
                  <a:pt x="70939" y="780526"/>
                </a:lnTo>
                <a:lnTo>
                  <a:pt x="96234" y="778220"/>
                </a:lnTo>
                <a:lnTo>
                  <a:pt x="93929" y="752925"/>
                </a:lnTo>
                <a:close/>
              </a:path>
              <a:path w="139064" h="1045210">
                <a:moveTo>
                  <a:pt x="89317" y="702335"/>
                </a:moveTo>
                <a:lnTo>
                  <a:pt x="64021" y="704640"/>
                </a:lnTo>
                <a:lnTo>
                  <a:pt x="66328" y="729936"/>
                </a:lnTo>
                <a:lnTo>
                  <a:pt x="91622" y="727629"/>
                </a:lnTo>
                <a:lnTo>
                  <a:pt x="89317" y="702335"/>
                </a:lnTo>
                <a:close/>
              </a:path>
              <a:path w="139064" h="1045210">
                <a:moveTo>
                  <a:pt x="84705" y="651744"/>
                </a:moveTo>
                <a:lnTo>
                  <a:pt x="59410" y="654051"/>
                </a:lnTo>
                <a:lnTo>
                  <a:pt x="61716" y="679345"/>
                </a:lnTo>
                <a:lnTo>
                  <a:pt x="87011" y="677039"/>
                </a:lnTo>
                <a:lnTo>
                  <a:pt x="84705" y="651744"/>
                </a:lnTo>
                <a:close/>
              </a:path>
              <a:path w="139064" h="1045210">
                <a:moveTo>
                  <a:pt x="80093" y="601154"/>
                </a:moveTo>
                <a:lnTo>
                  <a:pt x="54799" y="603460"/>
                </a:lnTo>
                <a:lnTo>
                  <a:pt x="57104" y="628755"/>
                </a:lnTo>
                <a:lnTo>
                  <a:pt x="82400" y="626450"/>
                </a:lnTo>
                <a:lnTo>
                  <a:pt x="80093" y="601154"/>
                </a:lnTo>
                <a:close/>
              </a:path>
              <a:path w="139064" h="1045210">
                <a:moveTo>
                  <a:pt x="75482" y="550564"/>
                </a:moveTo>
                <a:lnTo>
                  <a:pt x="50187" y="552870"/>
                </a:lnTo>
                <a:lnTo>
                  <a:pt x="52492" y="578164"/>
                </a:lnTo>
                <a:lnTo>
                  <a:pt x="77788" y="575859"/>
                </a:lnTo>
                <a:lnTo>
                  <a:pt x="75482" y="550564"/>
                </a:lnTo>
                <a:close/>
              </a:path>
              <a:path w="139064" h="1045210">
                <a:moveTo>
                  <a:pt x="70871" y="499973"/>
                </a:moveTo>
                <a:lnTo>
                  <a:pt x="45575" y="502279"/>
                </a:lnTo>
                <a:lnTo>
                  <a:pt x="47881" y="527574"/>
                </a:lnTo>
                <a:lnTo>
                  <a:pt x="73176" y="525269"/>
                </a:lnTo>
                <a:lnTo>
                  <a:pt x="70871" y="499973"/>
                </a:lnTo>
                <a:close/>
              </a:path>
              <a:path w="139064" h="1045210">
                <a:moveTo>
                  <a:pt x="66259" y="449384"/>
                </a:moveTo>
                <a:lnTo>
                  <a:pt x="40963" y="451689"/>
                </a:lnTo>
                <a:lnTo>
                  <a:pt x="43270" y="476985"/>
                </a:lnTo>
                <a:lnTo>
                  <a:pt x="68564" y="474679"/>
                </a:lnTo>
                <a:lnTo>
                  <a:pt x="66259" y="449384"/>
                </a:lnTo>
                <a:close/>
              </a:path>
              <a:path w="139064" h="1045210">
                <a:moveTo>
                  <a:pt x="61648" y="398793"/>
                </a:moveTo>
                <a:lnTo>
                  <a:pt x="36352" y="401099"/>
                </a:lnTo>
                <a:lnTo>
                  <a:pt x="38658" y="426394"/>
                </a:lnTo>
                <a:lnTo>
                  <a:pt x="63953" y="424088"/>
                </a:lnTo>
                <a:lnTo>
                  <a:pt x="61648" y="398793"/>
                </a:lnTo>
                <a:close/>
              </a:path>
              <a:path w="139064" h="1045210">
                <a:moveTo>
                  <a:pt x="57035" y="348203"/>
                </a:moveTo>
                <a:lnTo>
                  <a:pt x="31741" y="350508"/>
                </a:lnTo>
                <a:lnTo>
                  <a:pt x="34047" y="375804"/>
                </a:lnTo>
                <a:lnTo>
                  <a:pt x="59342" y="373498"/>
                </a:lnTo>
                <a:lnTo>
                  <a:pt x="57035" y="348203"/>
                </a:lnTo>
                <a:close/>
              </a:path>
              <a:path w="139064" h="1045210">
                <a:moveTo>
                  <a:pt x="52424" y="297613"/>
                </a:moveTo>
                <a:lnTo>
                  <a:pt x="27129" y="299919"/>
                </a:lnTo>
                <a:lnTo>
                  <a:pt x="29434" y="325213"/>
                </a:lnTo>
                <a:lnTo>
                  <a:pt x="54730" y="322907"/>
                </a:lnTo>
                <a:lnTo>
                  <a:pt x="52424" y="297613"/>
                </a:lnTo>
                <a:close/>
              </a:path>
              <a:path w="139064" h="1045210">
                <a:moveTo>
                  <a:pt x="47812" y="247022"/>
                </a:moveTo>
                <a:lnTo>
                  <a:pt x="22518" y="249328"/>
                </a:lnTo>
                <a:lnTo>
                  <a:pt x="24823" y="274623"/>
                </a:lnTo>
                <a:lnTo>
                  <a:pt x="50119" y="272318"/>
                </a:lnTo>
                <a:lnTo>
                  <a:pt x="47812" y="247022"/>
                </a:lnTo>
                <a:close/>
              </a:path>
              <a:path w="139064" h="1045210">
                <a:moveTo>
                  <a:pt x="43201" y="196432"/>
                </a:moveTo>
                <a:lnTo>
                  <a:pt x="17905" y="198738"/>
                </a:lnTo>
                <a:lnTo>
                  <a:pt x="20212" y="224033"/>
                </a:lnTo>
                <a:lnTo>
                  <a:pt x="45506" y="221728"/>
                </a:lnTo>
                <a:lnTo>
                  <a:pt x="43201" y="196432"/>
                </a:lnTo>
                <a:close/>
              </a:path>
              <a:path w="139064" h="1045210">
                <a:moveTo>
                  <a:pt x="38590" y="145842"/>
                </a:moveTo>
                <a:lnTo>
                  <a:pt x="13294" y="148148"/>
                </a:lnTo>
                <a:lnTo>
                  <a:pt x="15600" y="173443"/>
                </a:lnTo>
                <a:lnTo>
                  <a:pt x="40895" y="171137"/>
                </a:lnTo>
                <a:lnTo>
                  <a:pt x="38590" y="145842"/>
                </a:lnTo>
                <a:close/>
              </a:path>
              <a:path w="139064" h="1045210">
                <a:moveTo>
                  <a:pt x="33977" y="95252"/>
                </a:moveTo>
                <a:lnTo>
                  <a:pt x="8682" y="97557"/>
                </a:lnTo>
                <a:lnTo>
                  <a:pt x="10989" y="122853"/>
                </a:lnTo>
                <a:lnTo>
                  <a:pt x="36283" y="120547"/>
                </a:lnTo>
                <a:lnTo>
                  <a:pt x="33977" y="95252"/>
                </a:lnTo>
                <a:close/>
              </a:path>
              <a:path w="139064" h="1045210">
                <a:moveTo>
                  <a:pt x="29366" y="44662"/>
                </a:moveTo>
                <a:lnTo>
                  <a:pt x="4071" y="46967"/>
                </a:lnTo>
                <a:lnTo>
                  <a:pt x="6376" y="72262"/>
                </a:lnTo>
                <a:lnTo>
                  <a:pt x="31672" y="69956"/>
                </a:lnTo>
                <a:lnTo>
                  <a:pt x="29366" y="44662"/>
                </a:lnTo>
                <a:close/>
              </a:path>
              <a:path w="139064" h="1045210">
                <a:moveTo>
                  <a:pt x="25295" y="0"/>
                </a:moveTo>
                <a:lnTo>
                  <a:pt x="0" y="2305"/>
                </a:lnTo>
                <a:lnTo>
                  <a:pt x="1765" y="21672"/>
                </a:lnTo>
                <a:lnTo>
                  <a:pt x="27061" y="19366"/>
                </a:lnTo>
                <a:lnTo>
                  <a:pt x="252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40772" y="4381700"/>
            <a:ext cx="511175" cy="1049020"/>
          </a:xfrm>
          <a:custGeom>
            <a:avLst/>
            <a:gdLst/>
            <a:ahLst/>
            <a:cxnLst/>
            <a:rect l="l" t="t" r="r" b="b"/>
            <a:pathLst>
              <a:path w="511175" h="1049020">
                <a:moveTo>
                  <a:pt x="464806" y="985248"/>
                </a:moveTo>
                <a:lnTo>
                  <a:pt x="441882" y="996184"/>
                </a:lnTo>
                <a:lnTo>
                  <a:pt x="509079" y="1048553"/>
                </a:lnTo>
                <a:lnTo>
                  <a:pt x="510039" y="996707"/>
                </a:lnTo>
                <a:lnTo>
                  <a:pt x="470273" y="996707"/>
                </a:lnTo>
                <a:lnTo>
                  <a:pt x="464806" y="985248"/>
                </a:lnTo>
                <a:close/>
              </a:path>
              <a:path w="511175" h="1049020">
                <a:moveTo>
                  <a:pt x="487731" y="974311"/>
                </a:moveTo>
                <a:lnTo>
                  <a:pt x="464806" y="985248"/>
                </a:lnTo>
                <a:lnTo>
                  <a:pt x="470273" y="996707"/>
                </a:lnTo>
                <a:lnTo>
                  <a:pt x="493199" y="985771"/>
                </a:lnTo>
                <a:lnTo>
                  <a:pt x="487731" y="974311"/>
                </a:lnTo>
                <a:close/>
              </a:path>
              <a:path w="511175" h="1049020">
                <a:moveTo>
                  <a:pt x="510656" y="963375"/>
                </a:moveTo>
                <a:lnTo>
                  <a:pt x="487731" y="974311"/>
                </a:lnTo>
                <a:lnTo>
                  <a:pt x="493199" y="985771"/>
                </a:lnTo>
                <a:lnTo>
                  <a:pt x="470273" y="996707"/>
                </a:lnTo>
                <a:lnTo>
                  <a:pt x="510039" y="996707"/>
                </a:lnTo>
                <a:lnTo>
                  <a:pt x="510656" y="963375"/>
                </a:lnTo>
                <a:close/>
              </a:path>
              <a:path w="511175" h="1049020">
                <a:moveTo>
                  <a:pt x="482262" y="962846"/>
                </a:moveTo>
                <a:lnTo>
                  <a:pt x="459337" y="973782"/>
                </a:lnTo>
                <a:lnTo>
                  <a:pt x="464806" y="985248"/>
                </a:lnTo>
                <a:lnTo>
                  <a:pt x="487731" y="974311"/>
                </a:lnTo>
                <a:lnTo>
                  <a:pt x="482262" y="962846"/>
                </a:lnTo>
                <a:close/>
              </a:path>
              <a:path w="511175" h="1049020">
                <a:moveTo>
                  <a:pt x="460388" y="916995"/>
                </a:moveTo>
                <a:lnTo>
                  <a:pt x="437464" y="927933"/>
                </a:lnTo>
                <a:lnTo>
                  <a:pt x="448401" y="950857"/>
                </a:lnTo>
                <a:lnTo>
                  <a:pt x="471326" y="939920"/>
                </a:lnTo>
                <a:lnTo>
                  <a:pt x="460388" y="916995"/>
                </a:lnTo>
                <a:close/>
              </a:path>
              <a:path w="511175" h="1049020">
                <a:moveTo>
                  <a:pt x="438515" y="871146"/>
                </a:moveTo>
                <a:lnTo>
                  <a:pt x="415590" y="882083"/>
                </a:lnTo>
                <a:lnTo>
                  <a:pt x="426528" y="905008"/>
                </a:lnTo>
                <a:lnTo>
                  <a:pt x="449452" y="894071"/>
                </a:lnTo>
                <a:lnTo>
                  <a:pt x="438515" y="871146"/>
                </a:lnTo>
                <a:close/>
              </a:path>
              <a:path w="511175" h="1049020">
                <a:moveTo>
                  <a:pt x="416642" y="825296"/>
                </a:moveTo>
                <a:lnTo>
                  <a:pt x="393717" y="836232"/>
                </a:lnTo>
                <a:lnTo>
                  <a:pt x="404655" y="859158"/>
                </a:lnTo>
                <a:lnTo>
                  <a:pt x="427579" y="848221"/>
                </a:lnTo>
                <a:lnTo>
                  <a:pt x="416642" y="825296"/>
                </a:lnTo>
                <a:close/>
              </a:path>
              <a:path w="511175" h="1049020">
                <a:moveTo>
                  <a:pt x="394769" y="779447"/>
                </a:moveTo>
                <a:lnTo>
                  <a:pt x="371844" y="790383"/>
                </a:lnTo>
                <a:lnTo>
                  <a:pt x="382781" y="813307"/>
                </a:lnTo>
                <a:lnTo>
                  <a:pt x="405706" y="802372"/>
                </a:lnTo>
                <a:lnTo>
                  <a:pt x="394769" y="779447"/>
                </a:lnTo>
                <a:close/>
              </a:path>
              <a:path w="511175" h="1049020">
                <a:moveTo>
                  <a:pt x="372896" y="733597"/>
                </a:moveTo>
                <a:lnTo>
                  <a:pt x="349971" y="744533"/>
                </a:lnTo>
                <a:lnTo>
                  <a:pt x="360908" y="767458"/>
                </a:lnTo>
                <a:lnTo>
                  <a:pt x="383833" y="756522"/>
                </a:lnTo>
                <a:lnTo>
                  <a:pt x="372896" y="733597"/>
                </a:lnTo>
                <a:close/>
              </a:path>
              <a:path w="511175" h="1049020">
                <a:moveTo>
                  <a:pt x="351022" y="687746"/>
                </a:moveTo>
                <a:lnTo>
                  <a:pt x="328098" y="698684"/>
                </a:lnTo>
                <a:lnTo>
                  <a:pt x="339035" y="721608"/>
                </a:lnTo>
                <a:lnTo>
                  <a:pt x="361960" y="710671"/>
                </a:lnTo>
                <a:lnTo>
                  <a:pt x="351022" y="687746"/>
                </a:lnTo>
                <a:close/>
              </a:path>
              <a:path w="511175" h="1049020">
                <a:moveTo>
                  <a:pt x="329149" y="641897"/>
                </a:moveTo>
                <a:lnTo>
                  <a:pt x="306224" y="652834"/>
                </a:lnTo>
                <a:lnTo>
                  <a:pt x="317162" y="675759"/>
                </a:lnTo>
                <a:lnTo>
                  <a:pt x="340086" y="664822"/>
                </a:lnTo>
                <a:lnTo>
                  <a:pt x="329149" y="641897"/>
                </a:lnTo>
                <a:close/>
              </a:path>
              <a:path w="511175" h="1049020">
                <a:moveTo>
                  <a:pt x="307276" y="596047"/>
                </a:moveTo>
                <a:lnTo>
                  <a:pt x="284351" y="606983"/>
                </a:lnTo>
                <a:lnTo>
                  <a:pt x="295288" y="629908"/>
                </a:lnTo>
                <a:lnTo>
                  <a:pt x="318213" y="618972"/>
                </a:lnTo>
                <a:lnTo>
                  <a:pt x="307276" y="596047"/>
                </a:lnTo>
                <a:close/>
              </a:path>
              <a:path w="511175" h="1049020">
                <a:moveTo>
                  <a:pt x="285403" y="550198"/>
                </a:moveTo>
                <a:lnTo>
                  <a:pt x="262478" y="561134"/>
                </a:lnTo>
                <a:lnTo>
                  <a:pt x="273415" y="584059"/>
                </a:lnTo>
                <a:lnTo>
                  <a:pt x="296340" y="573123"/>
                </a:lnTo>
                <a:lnTo>
                  <a:pt x="285403" y="550198"/>
                </a:lnTo>
                <a:close/>
              </a:path>
              <a:path w="511175" h="1049020">
                <a:moveTo>
                  <a:pt x="263530" y="504347"/>
                </a:moveTo>
                <a:lnTo>
                  <a:pt x="240605" y="515284"/>
                </a:lnTo>
                <a:lnTo>
                  <a:pt x="251542" y="538209"/>
                </a:lnTo>
                <a:lnTo>
                  <a:pt x="274467" y="527273"/>
                </a:lnTo>
                <a:lnTo>
                  <a:pt x="263530" y="504347"/>
                </a:lnTo>
                <a:close/>
              </a:path>
              <a:path w="511175" h="1049020">
                <a:moveTo>
                  <a:pt x="241656" y="458497"/>
                </a:moveTo>
                <a:lnTo>
                  <a:pt x="218732" y="469435"/>
                </a:lnTo>
                <a:lnTo>
                  <a:pt x="229669" y="492359"/>
                </a:lnTo>
                <a:lnTo>
                  <a:pt x="252594" y="481422"/>
                </a:lnTo>
                <a:lnTo>
                  <a:pt x="241656" y="458497"/>
                </a:lnTo>
                <a:close/>
              </a:path>
              <a:path w="511175" h="1049020">
                <a:moveTo>
                  <a:pt x="219783" y="412648"/>
                </a:moveTo>
                <a:lnTo>
                  <a:pt x="196858" y="423585"/>
                </a:lnTo>
                <a:lnTo>
                  <a:pt x="207796" y="446510"/>
                </a:lnTo>
                <a:lnTo>
                  <a:pt x="230720" y="435573"/>
                </a:lnTo>
                <a:lnTo>
                  <a:pt x="219783" y="412648"/>
                </a:lnTo>
                <a:close/>
              </a:path>
              <a:path w="511175" h="1049020">
                <a:moveTo>
                  <a:pt x="197910" y="366798"/>
                </a:moveTo>
                <a:lnTo>
                  <a:pt x="174985" y="377734"/>
                </a:lnTo>
                <a:lnTo>
                  <a:pt x="185922" y="400660"/>
                </a:lnTo>
                <a:lnTo>
                  <a:pt x="208847" y="389723"/>
                </a:lnTo>
                <a:lnTo>
                  <a:pt x="197910" y="366798"/>
                </a:lnTo>
                <a:close/>
              </a:path>
              <a:path w="511175" h="1049020">
                <a:moveTo>
                  <a:pt x="176037" y="320949"/>
                </a:moveTo>
                <a:lnTo>
                  <a:pt x="153112" y="331885"/>
                </a:lnTo>
                <a:lnTo>
                  <a:pt x="164049" y="354810"/>
                </a:lnTo>
                <a:lnTo>
                  <a:pt x="186974" y="343874"/>
                </a:lnTo>
                <a:lnTo>
                  <a:pt x="176037" y="320949"/>
                </a:lnTo>
                <a:close/>
              </a:path>
              <a:path w="511175" h="1049020">
                <a:moveTo>
                  <a:pt x="154164" y="275099"/>
                </a:moveTo>
                <a:lnTo>
                  <a:pt x="131239" y="286035"/>
                </a:lnTo>
                <a:lnTo>
                  <a:pt x="142176" y="308960"/>
                </a:lnTo>
                <a:lnTo>
                  <a:pt x="165101" y="298024"/>
                </a:lnTo>
                <a:lnTo>
                  <a:pt x="154164" y="275099"/>
                </a:lnTo>
                <a:close/>
              </a:path>
              <a:path w="511175" h="1049020">
                <a:moveTo>
                  <a:pt x="132290" y="229248"/>
                </a:moveTo>
                <a:lnTo>
                  <a:pt x="109366" y="240186"/>
                </a:lnTo>
                <a:lnTo>
                  <a:pt x="120303" y="263110"/>
                </a:lnTo>
                <a:lnTo>
                  <a:pt x="143228" y="252173"/>
                </a:lnTo>
                <a:lnTo>
                  <a:pt x="132290" y="229248"/>
                </a:lnTo>
                <a:close/>
              </a:path>
              <a:path w="511175" h="1049020">
                <a:moveTo>
                  <a:pt x="110417" y="183399"/>
                </a:moveTo>
                <a:lnTo>
                  <a:pt x="87492" y="194336"/>
                </a:lnTo>
                <a:lnTo>
                  <a:pt x="98430" y="217261"/>
                </a:lnTo>
                <a:lnTo>
                  <a:pt x="121354" y="206324"/>
                </a:lnTo>
                <a:lnTo>
                  <a:pt x="110417" y="183399"/>
                </a:lnTo>
                <a:close/>
              </a:path>
              <a:path w="511175" h="1049020">
                <a:moveTo>
                  <a:pt x="88544" y="137549"/>
                </a:moveTo>
                <a:lnTo>
                  <a:pt x="65619" y="148485"/>
                </a:lnTo>
                <a:lnTo>
                  <a:pt x="76556" y="171411"/>
                </a:lnTo>
                <a:lnTo>
                  <a:pt x="99481" y="160474"/>
                </a:lnTo>
                <a:lnTo>
                  <a:pt x="88544" y="137549"/>
                </a:lnTo>
                <a:close/>
              </a:path>
              <a:path w="511175" h="1049020">
                <a:moveTo>
                  <a:pt x="66672" y="91700"/>
                </a:moveTo>
                <a:lnTo>
                  <a:pt x="43746" y="102636"/>
                </a:lnTo>
                <a:lnTo>
                  <a:pt x="54683" y="125561"/>
                </a:lnTo>
                <a:lnTo>
                  <a:pt x="77608" y="114625"/>
                </a:lnTo>
                <a:lnTo>
                  <a:pt x="66672" y="91700"/>
                </a:lnTo>
                <a:close/>
              </a:path>
              <a:path w="511175" h="1049020">
                <a:moveTo>
                  <a:pt x="44799" y="45849"/>
                </a:moveTo>
                <a:lnTo>
                  <a:pt x="21873" y="56786"/>
                </a:lnTo>
                <a:lnTo>
                  <a:pt x="32810" y="79711"/>
                </a:lnTo>
                <a:lnTo>
                  <a:pt x="55735" y="68775"/>
                </a:lnTo>
                <a:lnTo>
                  <a:pt x="44799" y="45849"/>
                </a:lnTo>
                <a:close/>
              </a:path>
              <a:path w="511175" h="1049020">
                <a:moveTo>
                  <a:pt x="22926" y="0"/>
                </a:moveTo>
                <a:lnTo>
                  <a:pt x="0" y="10937"/>
                </a:lnTo>
                <a:lnTo>
                  <a:pt x="10937" y="33862"/>
                </a:lnTo>
                <a:lnTo>
                  <a:pt x="33862" y="22924"/>
                </a:lnTo>
                <a:lnTo>
                  <a:pt x="2292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524489" y="4818379"/>
            <a:ext cx="34804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GNN: 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At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given </a:t>
            </a:r>
            <a:r>
              <a:rPr dirty="0" sz="1800" spc="-20">
                <a:solidFill>
                  <a:srgbClr val="0070C0"/>
                </a:solidFill>
                <a:latin typeface="Arial"/>
                <a:cs typeface="Arial"/>
              </a:rPr>
              <a:t>layer, </a:t>
            </a:r>
            <a:r>
              <a:rPr dirty="0" sz="1800">
                <a:solidFill>
                  <a:srgbClr val="0070C0"/>
                </a:solidFill>
                <a:latin typeface="Arial"/>
                <a:cs typeface="Arial"/>
              </a:rPr>
              <a:t>we 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apply  the same message/aggregation to  each</a:t>
            </a:r>
            <a:r>
              <a:rPr dirty="0" sz="1800" spc="-9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659404" y="3766260"/>
            <a:ext cx="487915" cy="770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49966" y="4477614"/>
            <a:ext cx="164465" cy="128270"/>
          </a:xfrm>
          <a:custGeom>
            <a:avLst/>
            <a:gdLst/>
            <a:ahLst/>
            <a:cxnLst/>
            <a:rect l="l" t="t" r="r" b="b"/>
            <a:pathLst>
              <a:path w="164464" h="128270">
                <a:moveTo>
                  <a:pt x="0" y="127678"/>
                </a:moveTo>
                <a:lnTo>
                  <a:pt x="164158" y="127678"/>
                </a:lnTo>
                <a:lnTo>
                  <a:pt x="164158" y="0"/>
                </a:lnTo>
                <a:lnTo>
                  <a:pt x="0" y="0"/>
                </a:lnTo>
                <a:lnTo>
                  <a:pt x="0" y="127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097440" y="3990678"/>
            <a:ext cx="607060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700" spc="-5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89280">
              <a:lnSpc>
                <a:spcPts val="3779"/>
              </a:lnSpc>
            </a:pPr>
            <a:r>
              <a:rPr dirty="0" sz="3200">
                <a:solidFill>
                  <a:srgbClr val="000000"/>
                </a:solidFill>
                <a:latin typeface="Cambria Math"/>
                <a:cs typeface="Cambria Math"/>
              </a:rPr>
              <a:t>…</a:t>
            </a:r>
            <a:endParaRPr sz="3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97440" y="4218676"/>
            <a:ext cx="4819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700" spc="-8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02413" y="20827"/>
            <a:ext cx="6031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Gomes-Selman,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</a:t>
            </a:r>
            <a:r>
              <a:rPr dirty="0" sz="12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10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Identity-aware</a:t>
            </a:r>
            <a:r>
              <a:rPr dirty="0" sz="1200" spc="-5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Graph Neural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dirty="0" sz="12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AAAI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2021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950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5347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Idea: </a:t>
            </a:r>
            <a:r>
              <a:rPr dirty="0" sz="3200" spc="-15">
                <a:solidFill>
                  <a:srgbClr val="C00000"/>
                </a:solidFill>
              </a:rPr>
              <a:t>Heterogenous </a:t>
            </a:r>
            <a:r>
              <a:rPr dirty="0" sz="3200" spc="-10">
                <a:solidFill>
                  <a:srgbClr val="C00000"/>
                </a:solidFill>
              </a:rPr>
              <a:t>message passing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629525" cy="18237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11430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Heterogenous: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5">
                <a:latin typeface="Calibri"/>
                <a:cs typeface="Calibri"/>
              </a:rPr>
              <a:t>types of </a:t>
            </a:r>
            <a:r>
              <a:rPr dirty="0" sz="2800" spc="-10">
                <a:latin typeface="Calibri"/>
                <a:cs typeface="Calibri"/>
              </a:rPr>
              <a:t>message </a:t>
            </a:r>
            <a:r>
              <a:rPr dirty="0" sz="2800" spc="-5">
                <a:latin typeface="Calibri"/>
                <a:cs typeface="Calibri"/>
              </a:rPr>
              <a:t>passing  is applied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different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b="1">
                <a:latin typeface="Calibri"/>
                <a:cs typeface="Calibri"/>
              </a:rPr>
              <a:t>An </a:t>
            </a:r>
            <a:r>
              <a:rPr dirty="0" sz="2800" spc="-5" b="1">
                <a:latin typeface="Calibri"/>
                <a:cs typeface="Calibri"/>
              </a:rPr>
              <a:t>ID-GNN </a:t>
            </a:r>
            <a:r>
              <a:rPr dirty="0" sz="2800" spc="-5">
                <a:latin typeface="Calibri"/>
                <a:cs typeface="Calibri"/>
              </a:rPr>
              <a:t>applies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different message/aggregation  to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nodes with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colorings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16995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95964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07300" y="5521444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4">
                <a:moveTo>
                  <a:pt x="153290" y="0"/>
                </a:moveTo>
                <a:lnTo>
                  <a:pt x="104838" y="7814"/>
                </a:lnTo>
                <a:lnTo>
                  <a:pt x="62759" y="29576"/>
                </a:lnTo>
                <a:lnTo>
                  <a:pt x="29576" y="62759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6" y="243821"/>
                </a:lnTo>
                <a:lnTo>
                  <a:pt x="62759" y="277004"/>
                </a:lnTo>
                <a:lnTo>
                  <a:pt x="104838" y="298765"/>
                </a:lnTo>
                <a:lnTo>
                  <a:pt x="153290" y="306580"/>
                </a:lnTo>
                <a:lnTo>
                  <a:pt x="201741" y="298765"/>
                </a:lnTo>
                <a:lnTo>
                  <a:pt x="243821" y="277004"/>
                </a:lnTo>
                <a:lnTo>
                  <a:pt x="277004" y="243821"/>
                </a:lnTo>
                <a:lnTo>
                  <a:pt x="298765" y="201741"/>
                </a:lnTo>
                <a:lnTo>
                  <a:pt x="306580" y="153290"/>
                </a:lnTo>
                <a:lnTo>
                  <a:pt x="298765" y="104838"/>
                </a:lnTo>
                <a:lnTo>
                  <a:pt x="277004" y="62759"/>
                </a:lnTo>
                <a:lnTo>
                  <a:pt x="243821" y="29576"/>
                </a:lnTo>
                <a:lnTo>
                  <a:pt x="201741" y="7814"/>
                </a:lnTo>
                <a:lnTo>
                  <a:pt x="1532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07300" y="5521444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32871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11841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153288" y="0"/>
                </a:moveTo>
                <a:lnTo>
                  <a:pt x="104837" y="7814"/>
                </a:lnTo>
                <a:lnTo>
                  <a:pt x="62758" y="29576"/>
                </a:lnTo>
                <a:lnTo>
                  <a:pt x="29575" y="62758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5" y="243821"/>
                </a:lnTo>
                <a:lnTo>
                  <a:pt x="62758" y="277003"/>
                </a:lnTo>
                <a:lnTo>
                  <a:pt x="104837" y="298765"/>
                </a:lnTo>
                <a:lnTo>
                  <a:pt x="153288" y="306579"/>
                </a:lnTo>
                <a:lnTo>
                  <a:pt x="201740" y="298765"/>
                </a:lnTo>
                <a:lnTo>
                  <a:pt x="243820" y="277003"/>
                </a:lnTo>
                <a:lnTo>
                  <a:pt x="277003" y="243821"/>
                </a:lnTo>
                <a:lnTo>
                  <a:pt x="298764" y="201741"/>
                </a:lnTo>
                <a:lnTo>
                  <a:pt x="306579" y="153290"/>
                </a:lnTo>
                <a:lnTo>
                  <a:pt x="298764" y="104838"/>
                </a:lnTo>
                <a:lnTo>
                  <a:pt x="277003" y="62758"/>
                </a:lnTo>
                <a:lnTo>
                  <a:pt x="243820" y="29576"/>
                </a:lnTo>
                <a:lnTo>
                  <a:pt x="201740" y="7814"/>
                </a:lnTo>
                <a:lnTo>
                  <a:pt x="15328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11841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23178" y="5521444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74933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4">
                <a:moveTo>
                  <a:pt x="153290" y="0"/>
                </a:moveTo>
                <a:lnTo>
                  <a:pt x="104838" y="7814"/>
                </a:lnTo>
                <a:lnTo>
                  <a:pt x="62759" y="29576"/>
                </a:lnTo>
                <a:lnTo>
                  <a:pt x="29576" y="62758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6" y="243821"/>
                </a:lnTo>
                <a:lnTo>
                  <a:pt x="62759" y="277003"/>
                </a:lnTo>
                <a:lnTo>
                  <a:pt x="104838" y="298765"/>
                </a:lnTo>
                <a:lnTo>
                  <a:pt x="153290" y="306579"/>
                </a:lnTo>
                <a:lnTo>
                  <a:pt x="201741" y="298765"/>
                </a:lnTo>
                <a:lnTo>
                  <a:pt x="243821" y="277003"/>
                </a:lnTo>
                <a:lnTo>
                  <a:pt x="277004" y="243821"/>
                </a:lnTo>
                <a:lnTo>
                  <a:pt x="298765" y="201741"/>
                </a:lnTo>
                <a:lnTo>
                  <a:pt x="306580" y="153290"/>
                </a:lnTo>
                <a:lnTo>
                  <a:pt x="298765" y="104838"/>
                </a:lnTo>
                <a:lnTo>
                  <a:pt x="277004" y="62758"/>
                </a:lnTo>
                <a:lnTo>
                  <a:pt x="243821" y="29576"/>
                </a:lnTo>
                <a:lnTo>
                  <a:pt x="201741" y="7814"/>
                </a:lnTo>
                <a:lnTo>
                  <a:pt x="1532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74933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53901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65239" y="5521444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90809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69778" y="600124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81115" y="5521444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153288" y="0"/>
                </a:moveTo>
                <a:lnTo>
                  <a:pt x="104837" y="7814"/>
                </a:lnTo>
                <a:lnTo>
                  <a:pt x="62758" y="29576"/>
                </a:lnTo>
                <a:lnTo>
                  <a:pt x="29575" y="62759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5" y="243821"/>
                </a:lnTo>
                <a:lnTo>
                  <a:pt x="62758" y="277004"/>
                </a:lnTo>
                <a:lnTo>
                  <a:pt x="104837" y="298765"/>
                </a:lnTo>
                <a:lnTo>
                  <a:pt x="153288" y="306580"/>
                </a:lnTo>
                <a:lnTo>
                  <a:pt x="201740" y="298765"/>
                </a:lnTo>
                <a:lnTo>
                  <a:pt x="243820" y="277004"/>
                </a:lnTo>
                <a:lnTo>
                  <a:pt x="277003" y="243821"/>
                </a:lnTo>
                <a:lnTo>
                  <a:pt x="298764" y="201741"/>
                </a:lnTo>
                <a:lnTo>
                  <a:pt x="306579" y="153290"/>
                </a:lnTo>
                <a:lnTo>
                  <a:pt x="298764" y="104838"/>
                </a:lnTo>
                <a:lnTo>
                  <a:pt x="277003" y="62759"/>
                </a:lnTo>
                <a:lnTo>
                  <a:pt x="243820" y="29576"/>
                </a:lnTo>
                <a:lnTo>
                  <a:pt x="201740" y="7814"/>
                </a:lnTo>
                <a:lnTo>
                  <a:pt x="15328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81115" y="5521444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89380" y="5067530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02563" y="5064602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45295" y="4663749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153290" y="0"/>
                </a:moveTo>
                <a:lnTo>
                  <a:pt x="104838" y="7814"/>
                </a:lnTo>
                <a:lnTo>
                  <a:pt x="62759" y="29576"/>
                </a:lnTo>
                <a:lnTo>
                  <a:pt x="29576" y="62759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6" y="243821"/>
                </a:lnTo>
                <a:lnTo>
                  <a:pt x="62759" y="277004"/>
                </a:lnTo>
                <a:lnTo>
                  <a:pt x="104838" y="298765"/>
                </a:lnTo>
                <a:lnTo>
                  <a:pt x="153290" y="306580"/>
                </a:lnTo>
                <a:lnTo>
                  <a:pt x="201741" y="298765"/>
                </a:lnTo>
                <a:lnTo>
                  <a:pt x="243821" y="277004"/>
                </a:lnTo>
                <a:lnTo>
                  <a:pt x="277004" y="243821"/>
                </a:lnTo>
                <a:lnTo>
                  <a:pt x="298765" y="201741"/>
                </a:lnTo>
                <a:lnTo>
                  <a:pt x="306580" y="153290"/>
                </a:lnTo>
                <a:lnTo>
                  <a:pt x="298765" y="104838"/>
                </a:lnTo>
                <a:lnTo>
                  <a:pt x="277004" y="62759"/>
                </a:lnTo>
                <a:lnTo>
                  <a:pt x="243821" y="29576"/>
                </a:lnTo>
                <a:lnTo>
                  <a:pt x="201741" y="7814"/>
                </a:lnTo>
                <a:lnTo>
                  <a:pt x="1532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45295" y="4663749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294096" y="4632452"/>
            <a:ext cx="237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Cambria Math"/>
                <a:cs typeface="Cambria Math"/>
              </a:rPr>
              <a:t>𝑣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751062" y="4925432"/>
            <a:ext cx="539750" cy="187325"/>
          </a:xfrm>
          <a:custGeom>
            <a:avLst/>
            <a:gdLst/>
            <a:ahLst/>
            <a:cxnLst/>
            <a:rect l="l" t="t" r="r" b="b"/>
            <a:pathLst>
              <a:path w="539750" h="187325">
                <a:moveTo>
                  <a:pt x="0" y="186996"/>
                </a:moveTo>
                <a:lnTo>
                  <a:pt x="53913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06979" y="4925432"/>
            <a:ext cx="541020" cy="184150"/>
          </a:xfrm>
          <a:custGeom>
            <a:avLst/>
            <a:gdLst/>
            <a:ahLst/>
            <a:cxnLst/>
            <a:rect l="l" t="t" r="r" b="b"/>
            <a:pathLst>
              <a:path w="541020" h="184150">
                <a:moveTo>
                  <a:pt x="0" y="0"/>
                </a:moveTo>
                <a:lnTo>
                  <a:pt x="540482" y="18406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60592" y="5329213"/>
            <a:ext cx="273685" cy="192405"/>
          </a:xfrm>
          <a:custGeom>
            <a:avLst/>
            <a:gdLst/>
            <a:ahLst/>
            <a:cxnLst/>
            <a:rect l="l" t="t" r="r" b="b"/>
            <a:pathLst>
              <a:path w="273685" h="192404">
                <a:moveTo>
                  <a:pt x="273685" y="0"/>
                </a:moveTo>
                <a:lnTo>
                  <a:pt x="0" y="19223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751062" y="5329213"/>
            <a:ext cx="267970" cy="192405"/>
          </a:xfrm>
          <a:custGeom>
            <a:avLst/>
            <a:gdLst/>
            <a:ahLst/>
            <a:cxnLst/>
            <a:rect l="l" t="t" r="r" b="b"/>
            <a:pathLst>
              <a:path w="267969" h="192404">
                <a:moveTo>
                  <a:pt x="0" y="0"/>
                </a:moveTo>
                <a:lnTo>
                  <a:pt x="267468" y="19223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76467" y="5326283"/>
            <a:ext cx="271145" cy="195580"/>
          </a:xfrm>
          <a:custGeom>
            <a:avLst/>
            <a:gdLst/>
            <a:ahLst/>
            <a:cxnLst/>
            <a:rect l="l" t="t" r="r" b="b"/>
            <a:pathLst>
              <a:path w="271145" h="195579">
                <a:moveTo>
                  <a:pt x="270994" y="0"/>
                </a:moveTo>
                <a:lnTo>
                  <a:pt x="0" y="19516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64247" y="5326283"/>
            <a:ext cx="270510" cy="195580"/>
          </a:xfrm>
          <a:custGeom>
            <a:avLst/>
            <a:gdLst/>
            <a:ahLst/>
            <a:cxnLst/>
            <a:rect l="l" t="t" r="r" b="b"/>
            <a:pathLst>
              <a:path w="270510" h="195579">
                <a:moveTo>
                  <a:pt x="0" y="0"/>
                </a:moveTo>
                <a:lnTo>
                  <a:pt x="270159" y="19516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070286" y="5783127"/>
            <a:ext cx="81915" cy="218440"/>
          </a:xfrm>
          <a:custGeom>
            <a:avLst/>
            <a:gdLst/>
            <a:ahLst/>
            <a:cxnLst/>
            <a:rect l="l" t="t" r="r" b="b"/>
            <a:pathLst>
              <a:path w="81914" h="218439">
                <a:moveTo>
                  <a:pt x="81913" y="0"/>
                </a:moveTo>
                <a:lnTo>
                  <a:pt x="0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368984" y="5783127"/>
            <a:ext cx="80645" cy="218440"/>
          </a:xfrm>
          <a:custGeom>
            <a:avLst/>
            <a:gdLst/>
            <a:ahLst/>
            <a:cxnLst/>
            <a:rect l="l" t="t" r="r" b="b"/>
            <a:pathLst>
              <a:path w="80644" h="218439">
                <a:moveTo>
                  <a:pt x="0" y="0"/>
                </a:moveTo>
                <a:lnTo>
                  <a:pt x="80271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28223" y="5783127"/>
            <a:ext cx="81915" cy="218440"/>
          </a:xfrm>
          <a:custGeom>
            <a:avLst/>
            <a:gdLst/>
            <a:ahLst/>
            <a:cxnLst/>
            <a:rect l="l" t="t" r="r" b="b"/>
            <a:pathLst>
              <a:path w="81914" h="218439">
                <a:moveTo>
                  <a:pt x="81913" y="0"/>
                </a:moveTo>
                <a:lnTo>
                  <a:pt x="0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126922" y="5783127"/>
            <a:ext cx="80645" cy="218440"/>
          </a:xfrm>
          <a:custGeom>
            <a:avLst/>
            <a:gdLst/>
            <a:ahLst/>
            <a:cxnLst/>
            <a:rect l="l" t="t" r="r" b="b"/>
            <a:pathLst>
              <a:path w="80644" h="218439">
                <a:moveTo>
                  <a:pt x="0" y="0"/>
                </a:moveTo>
                <a:lnTo>
                  <a:pt x="80271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586162" y="5783127"/>
            <a:ext cx="81915" cy="218440"/>
          </a:xfrm>
          <a:custGeom>
            <a:avLst/>
            <a:gdLst/>
            <a:ahLst/>
            <a:cxnLst/>
            <a:rect l="l" t="t" r="r" b="b"/>
            <a:pathLst>
              <a:path w="81914" h="218439">
                <a:moveTo>
                  <a:pt x="81913" y="0"/>
                </a:moveTo>
                <a:lnTo>
                  <a:pt x="0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884861" y="5783127"/>
            <a:ext cx="80645" cy="218440"/>
          </a:xfrm>
          <a:custGeom>
            <a:avLst/>
            <a:gdLst/>
            <a:ahLst/>
            <a:cxnLst/>
            <a:rect l="l" t="t" r="r" b="b"/>
            <a:pathLst>
              <a:path w="80645" h="218439">
                <a:moveTo>
                  <a:pt x="0" y="0"/>
                </a:moveTo>
                <a:lnTo>
                  <a:pt x="80271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44100" y="5783127"/>
            <a:ext cx="81915" cy="218440"/>
          </a:xfrm>
          <a:custGeom>
            <a:avLst/>
            <a:gdLst/>
            <a:ahLst/>
            <a:cxnLst/>
            <a:rect l="l" t="t" r="r" b="b"/>
            <a:pathLst>
              <a:path w="81914" h="218439">
                <a:moveTo>
                  <a:pt x="81913" y="0"/>
                </a:moveTo>
                <a:lnTo>
                  <a:pt x="0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642798" y="5783127"/>
            <a:ext cx="80645" cy="218440"/>
          </a:xfrm>
          <a:custGeom>
            <a:avLst/>
            <a:gdLst/>
            <a:ahLst/>
            <a:cxnLst/>
            <a:rect l="l" t="t" r="r" b="b"/>
            <a:pathLst>
              <a:path w="80645" h="218439">
                <a:moveTo>
                  <a:pt x="0" y="0"/>
                </a:moveTo>
                <a:lnTo>
                  <a:pt x="80271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07995" y="4510285"/>
            <a:ext cx="464820" cy="1014730"/>
          </a:xfrm>
          <a:custGeom>
            <a:avLst/>
            <a:gdLst/>
            <a:ahLst/>
            <a:cxnLst/>
            <a:rect l="l" t="t" r="r" b="b"/>
            <a:pathLst>
              <a:path w="464820" h="1014729">
                <a:moveTo>
                  <a:pt x="0" y="929603"/>
                </a:moveTo>
                <a:lnTo>
                  <a:pt x="3845" y="1014709"/>
                </a:lnTo>
                <a:lnTo>
                  <a:pt x="68067" y="961851"/>
                </a:lnTo>
                <a:lnTo>
                  <a:pt x="41254" y="961851"/>
                </a:lnTo>
                <a:lnTo>
                  <a:pt x="18046" y="951528"/>
                </a:lnTo>
                <a:lnTo>
                  <a:pt x="23207" y="939925"/>
                </a:lnTo>
                <a:lnTo>
                  <a:pt x="0" y="929603"/>
                </a:lnTo>
                <a:close/>
              </a:path>
              <a:path w="464820" h="1014729">
                <a:moveTo>
                  <a:pt x="23207" y="939925"/>
                </a:moveTo>
                <a:lnTo>
                  <a:pt x="18046" y="951528"/>
                </a:lnTo>
                <a:lnTo>
                  <a:pt x="41254" y="961851"/>
                </a:lnTo>
                <a:lnTo>
                  <a:pt x="46415" y="950247"/>
                </a:lnTo>
                <a:lnTo>
                  <a:pt x="23207" y="939925"/>
                </a:lnTo>
                <a:close/>
              </a:path>
              <a:path w="464820" h="1014729">
                <a:moveTo>
                  <a:pt x="46415" y="950247"/>
                </a:moveTo>
                <a:lnTo>
                  <a:pt x="41254" y="961851"/>
                </a:lnTo>
                <a:lnTo>
                  <a:pt x="68067" y="961851"/>
                </a:lnTo>
                <a:lnTo>
                  <a:pt x="69623" y="960569"/>
                </a:lnTo>
                <a:lnTo>
                  <a:pt x="46415" y="950247"/>
                </a:lnTo>
                <a:close/>
              </a:path>
              <a:path w="464820" h="1014729">
                <a:moveTo>
                  <a:pt x="28369" y="928320"/>
                </a:moveTo>
                <a:lnTo>
                  <a:pt x="23207" y="939925"/>
                </a:lnTo>
                <a:lnTo>
                  <a:pt x="46415" y="950247"/>
                </a:lnTo>
                <a:lnTo>
                  <a:pt x="51577" y="938643"/>
                </a:lnTo>
                <a:lnTo>
                  <a:pt x="28369" y="928320"/>
                </a:lnTo>
                <a:close/>
              </a:path>
              <a:path w="464820" h="1014729">
                <a:moveTo>
                  <a:pt x="49013" y="881904"/>
                </a:moveTo>
                <a:lnTo>
                  <a:pt x="38690" y="905112"/>
                </a:lnTo>
                <a:lnTo>
                  <a:pt x="61898" y="915435"/>
                </a:lnTo>
                <a:lnTo>
                  <a:pt x="72221" y="892227"/>
                </a:lnTo>
                <a:lnTo>
                  <a:pt x="49013" y="881904"/>
                </a:lnTo>
                <a:close/>
              </a:path>
              <a:path w="464820" h="1014729">
                <a:moveTo>
                  <a:pt x="69658" y="835488"/>
                </a:moveTo>
                <a:lnTo>
                  <a:pt x="59335" y="858696"/>
                </a:lnTo>
                <a:lnTo>
                  <a:pt x="82543" y="869019"/>
                </a:lnTo>
                <a:lnTo>
                  <a:pt x="92866" y="845811"/>
                </a:lnTo>
                <a:lnTo>
                  <a:pt x="69658" y="835488"/>
                </a:lnTo>
                <a:close/>
              </a:path>
              <a:path w="464820" h="1014729">
                <a:moveTo>
                  <a:pt x="90302" y="789072"/>
                </a:moveTo>
                <a:lnTo>
                  <a:pt x="79979" y="812280"/>
                </a:lnTo>
                <a:lnTo>
                  <a:pt x="103187" y="822603"/>
                </a:lnTo>
                <a:lnTo>
                  <a:pt x="113510" y="799395"/>
                </a:lnTo>
                <a:lnTo>
                  <a:pt x="90302" y="789072"/>
                </a:lnTo>
                <a:close/>
              </a:path>
              <a:path w="464820" h="1014729">
                <a:moveTo>
                  <a:pt x="110947" y="742656"/>
                </a:moveTo>
                <a:lnTo>
                  <a:pt x="100624" y="765864"/>
                </a:lnTo>
                <a:lnTo>
                  <a:pt x="123832" y="776187"/>
                </a:lnTo>
                <a:lnTo>
                  <a:pt x="134155" y="752979"/>
                </a:lnTo>
                <a:lnTo>
                  <a:pt x="110947" y="742656"/>
                </a:lnTo>
                <a:close/>
              </a:path>
              <a:path w="464820" h="1014729">
                <a:moveTo>
                  <a:pt x="131591" y="696240"/>
                </a:moveTo>
                <a:lnTo>
                  <a:pt x="121268" y="719448"/>
                </a:lnTo>
                <a:lnTo>
                  <a:pt x="144476" y="729771"/>
                </a:lnTo>
                <a:lnTo>
                  <a:pt x="154799" y="706563"/>
                </a:lnTo>
                <a:lnTo>
                  <a:pt x="131591" y="696240"/>
                </a:lnTo>
                <a:close/>
              </a:path>
              <a:path w="464820" h="1014729">
                <a:moveTo>
                  <a:pt x="152236" y="649824"/>
                </a:moveTo>
                <a:lnTo>
                  <a:pt x="141913" y="673032"/>
                </a:lnTo>
                <a:lnTo>
                  <a:pt x="165121" y="683355"/>
                </a:lnTo>
                <a:lnTo>
                  <a:pt x="175444" y="660147"/>
                </a:lnTo>
                <a:lnTo>
                  <a:pt x="152236" y="649824"/>
                </a:lnTo>
                <a:close/>
              </a:path>
              <a:path w="464820" h="1014729">
                <a:moveTo>
                  <a:pt x="172880" y="603408"/>
                </a:moveTo>
                <a:lnTo>
                  <a:pt x="162557" y="626616"/>
                </a:lnTo>
                <a:lnTo>
                  <a:pt x="185765" y="636939"/>
                </a:lnTo>
                <a:lnTo>
                  <a:pt x="196087" y="613731"/>
                </a:lnTo>
                <a:lnTo>
                  <a:pt x="172880" y="603408"/>
                </a:lnTo>
                <a:close/>
              </a:path>
              <a:path w="464820" h="1014729">
                <a:moveTo>
                  <a:pt x="193525" y="556992"/>
                </a:moveTo>
                <a:lnTo>
                  <a:pt x="183202" y="580200"/>
                </a:lnTo>
                <a:lnTo>
                  <a:pt x="206410" y="590523"/>
                </a:lnTo>
                <a:lnTo>
                  <a:pt x="216733" y="567315"/>
                </a:lnTo>
                <a:lnTo>
                  <a:pt x="193525" y="556992"/>
                </a:lnTo>
                <a:close/>
              </a:path>
              <a:path w="464820" h="1014729">
                <a:moveTo>
                  <a:pt x="214168" y="510576"/>
                </a:moveTo>
                <a:lnTo>
                  <a:pt x="203846" y="533784"/>
                </a:lnTo>
                <a:lnTo>
                  <a:pt x="227054" y="544107"/>
                </a:lnTo>
                <a:lnTo>
                  <a:pt x="237376" y="520899"/>
                </a:lnTo>
                <a:lnTo>
                  <a:pt x="214168" y="510576"/>
                </a:lnTo>
                <a:close/>
              </a:path>
              <a:path w="464820" h="1014729">
                <a:moveTo>
                  <a:pt x="234814" y="464160"/>
                </a:moveTo>
                <a:lnTo>
                  <a:pt x="224491" y="487368"/>
                </a:lnTo>
                <a:lnTo>
                  <a:pt x="247699" y="497691"/>
                </a:lnTo>
                <a:lnTo>
                  <a:pt x="258022" y="474483"/>
                </a:lnTo>
                <a:lnTo>
                  <a:pt x="234814" y="464160"/>
                </a:lnTo>
                <a:close/>
              </a:path>
              <a:path w="464820" h="1014729">
                <a:moveTo>
                  <a:pt x="255457" y="417744"/>
                </a:moveTo>
                <a:lnTo>
                  <a:pt x="245135" y="440952"/>
                </a:lnTo>
                <a:lnTo>
                  <a:pt x="268343" y="451275"/>
                </a:lnTo>
                <a:lnTo>
                  <a:pt x="278665" y="428067"/>
                </a:lnTo>
                <a:lnTo>
                  <a:pt x="255457" y="417744"/>
                </a:lnTo>
                <a:close/>
              </a:path>
              <a:path w="464820" h="1014729">
                <a:moveTo>
                  <a:pt x="276101" y="371328"/>
                </a:moveTo>
                <a:lnTo>
                  <a:pt x="265780" y="394536"/>
                </a:lnTo>
                <a:lnTo>
                  <a:pt x="288988" y="404859"/>
                </a:lnTo>
                <a:lnTo>
                  <a:pt x="299309" y="381651"/>
                </a:lnTo>
                <a:lnTo>
                  <a:pt x="276101" y="371328"/>
                </a:lnTo>
                <a:close/>
              </a:path>
              <a:path w="464820" h="1014729">
                <a:moveTo>
                  <a:pt x="296746" y="324912"/>
                </a:moveTo>
                <a:lnTo>
                  <a:pt x="286424" y="348120"/>
                </a:lnTo>
                <a:lnTo>
                  <a:pt x="309632" y="358443"/>
                </a:lnTo>
                <a:lnTo>
                  <a:pt x="319954" y="335235"/>
                </a:lnTo>
                <a:lnTo>
                  <a:pt x="296746" y="324912"/>
                </a:lnTo>
                <a:close/>
              </a:path>
              <a:path w="464820" h="1014729">
                <a:moveTo>
                  <a:pt x="317390" y="278497"/>
                </a:moveTo>
                <a:lnTo>
                  <a:pt x="307069" y="301705"/>
                </a:lnTo>
                <a:lnTo>
                  <a:pt x="330277" y="312027"/>
                </a:lnTo>
                <a:lnTo>
                  <a:pt x="340598" y="288819"/>
                </a:lnTo>
                <a:lnTo>
                  <a:pt x="317390" y="278497"/>
                </a:lnTo>
                <a:close/>
              </a:path>
              <a:path w="464820" h="1014729">
                <a:moveTo>
                  <a:pt x="338035" y="232081"/>
                </a:moveTo>
                <a:lnTo>
                  <a:pt x="327713" y="255289"/>
                </a:lnTo>
                <a:lnTo>
                  <a:pt x="350921" y="265611"/>
                </a:lnTo>
                <a:lnTo>
                  <a:pt x="361243" y="242403"/>
                </a:lnTo>
                <a:lnTo>
                  <a:pt x="338035" y="232081"/>
                </a:lnTo>
                <a:close/>
              </a:path>
              <a:path w="464820" h="1014729">
                <a:moveTo>
                  <a:pt x="358679" y="185665"/>
                </a:moveTo>
                <a:lnTo>
                  <a:pt x="348358" y="208873"/>
                </a:lnTo>
                <a:lnTo>
                  <a:pt x="371566" y="219195"/>
                </a:lnTo>
                <a:lnTo>
                  <a:pt x="381887" y="195987"/>
                </a:lnTo>
                <a:lnTo>
                  <a:pt x="358679" y="185665"/>
                </a:lnTo>
                <a:close/>
              </a:path>
              <a:path w="464820" h="1014729">
                <a:moveTo>
                  <a:pt x="379324" y="139249"/>
                </a:moveTo>
                <a:lnTo>
                  <a:pt x="369002" y="162457"/>
                </a:lnTo>
                <a:lnTo>
                  <a:pt x="392210" y="172779"/>
                </a:lnTo>
                <a:lnTo>
                  <a:pt x="402532" y="149570"/>
                </a:lnTo>
                <a:lnTo>
                  <a:pt x="379324" y="139249"/>
                </a:lnTo>
                <a:close/>
              </a:path>
              <a:path w="464820" h="1014729">
                <a:moveTo>
                  <a:pt x="399968" y="92833"/>
                </a:moveTo>
                <a:lnTo>
                  <a:pt x="389647" y="116041"/>
                </a:lnTo>
                <a:lnTo>
                  <a:pt x="412855" y="126362"/>
                </a:lnTo>
                <a:lnTo>
                  <a:pt x="423176" y="103154"/>
                </a:lnTo>
                <a:lnTo>
                  <a:pt x="399968" y="92833"/>
                </a:lnTo>
                <a:close/>
              </a:path>
              <a:path w="464820" h="1014729">
                <a:moveTo>
                  <a:pt x="420613" y="46417"/>
                </a:moveTo>
                <a:lnTo>
                  <a:pt x="410291" y="69625"/>
                </a:lnTo>
                <a:lnTo>
                  <a:pt x="433499" y="79946"/>
                </a:lnTo>
                <a:lnTo>
                  <a:pt x="443821" y="56738"/>
                </a:lnTo>
                <a:lnTo>
                  <a:pt x="420613" y="46417"/>
                </a:lnTo>
                <a:close/>
              </a:path>
              <a:path w="464820" h="1014729">
                <a:moveTo>
                  <a:pt x="441257" y="0"/>
                </a:moveTo>
                <a:lnTo>
                  <a:pt x="430936" y="23209"/>
                </a:lnTo>
                <a:lnTo>
                  <a:pt x="454144" y="33530"/>
                </a:lnTo>
                <a:lnTo>
                  <a:pt x="464465" y="10322"/>
                </a:lnTo>
                <a:lnTo>
                  <a:pt x="441257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222493" y="4514234"/>
            <a:ext cx="76200" cy="1003300"/>
          </a:xfrm>
          <a:custGeom>
            <a:avLst/>
            <a:gdLst/>
            <a:ahLst/>
            <a:cxnLst/>
            <a:rect l="l" t="t" r="r" b="b"/>
            <a:pathLst>
              <a:path w="76200" h="1003300">
                <a:moveTo>
                  <a:pt x="25399" y="927098"/>
                </a:moveTo>
                <a:lnTo>
                  <a:pt x="0" y="927098"/>
                </a:lnTo>
                <a:lnTo>
                  <a:pt x="38098" y="1003298"/>
                </a:lnTo>
                <a:lnTo>
                  <a:pt x="69849" y="939799"/>
                </a:lnTo>
                <a:lnTo>
                  <a:pt x="25398" y="939799"/>
                </a:lnTo>
                <a:lnTo>
                  <a:pt x="25399" y="927098"/>
                </a:lnTo>
                <a:close/>
              </a:path>
              <a:path w="76200" h="1003300">
                <a:moveTo>
                  <a:pt x="50800" y="914399"/>
                </a:moveTo>
                <a:lnTo>
                  <a:pt x="25400" y="914399"/>
                </a:lnTo>
                <a:lnTo>
                  <a:pt x="25398" y="939799"/>
                </a:lnTo>
                <a:lnTo>
                  <a:pt x="50798" y="939799"/>
                </a:lnTo>
                <a:lnTo>
                  <a:pt x="50800" y="914399"/>
                </a:lnTo>
                <a:close/>
              </a:path>
              <a:path w="76200" h="1003300">
                <a:moveTo>
                  <a:pt x="76200" y="927098"/>
                </a:moveTo>
                <a:lnTo>
                  <a:pt x="50799" y="927098"/>
                </a:lnTo>
                <a:lnTo>
                  <a:pt x="50798" y="939799"/>
                </a:lnTo>
                <a:lnTo>
                  <a:pt x="69849" y="939799"/>
                </a:lnTo>
                <a:lnTo>
                  <a:pt x="76200" y="927098"/>
                </a:lnTo>
                <a:close/>
              </a:path>
              <a:path w="76200" h="1003300">
                <a:moveTo>
                  <a:pt x="50800" y="863599"/>
                </a:moveTo>
                <a:lnTo>
                  <a:pt x="25400" y="863599"/>
                </a:lnTo>
                <a:lnTo>
                  <a:pt x="25400" y="888999"/>
                </a:lnTo>
                <a:lnTo>
                  <a:pt x="50800" y="888999"/>
                </a:lnTo>
                <a:lnTo>
                  <a:pt x="50800" y="863599"/>
                </a:lnTo>
                <a:close/>
              </a:path>
              <a:path w="76200" h="1003300">
                <a:moveTo>
                  <a:pt x="50800" y="812799"/>
                </a:moveTo>
                <a:lnTo>
                  <a:pt x="25400" y="812799"/>
                </a:lnTo>
                <a:lnTo>
                  <a:pt x="25400" y="838199"/>
                </a:lnTo>
                <a:lnTo>
                  <a:pt x="50800" y="838199"/>
                </a:lnTo>
                <a:lnTo>
                  <a:pt x="50800" y="812799"/>
                </a:lnTo>
                <a:close/>
              </a:path>
              <a:path w="76200" h="1003300">
                <a:moveTo>
                  <a:pt x="50800" y="761999"/>
                </a:moveTo>
                <a:lnTo>
                  <a:pt x="25400" y="761999"/>
                </a:lnTo>
                <a:lnTo>
                  <a:pt x="25400" y="787399"/>
                </a:lnTo>
                <a:lnTo>
                  <a:pt x="50800" y="787399"/>
                </a:lnTo>
                <a:lnTo>
                  <a:pt x="50800" y="761999"/>
                </a:lnTo>
                <a:close/>
              </a:path>
              <a:path w="76200" h="1003300">
                <a:moveTo>
                  <a:pt x="50800" y="711200"/>
                </a:moveTo>
                <a:lnTo>
                  <a:pt x="25400" y="711200"/>
                </a:lnTo>
                <a:lnTo>
                  <a:pt x="25400" y="736599"/>
                </a:lnTo>
                <a:lnTo>
                  <a:pt x="50800" y="736599"/>
                </a:lnTo>
                <a:lnTo>
                  <a:pt x="50800" y="711200"/>
                </a:lnTo>
                <a:close/>
              </a:path>
              <a:path w="76200" h="1003300">
                <a:moveTo>
                  <a:pt x="50800" y="660400"/>
                </a:moveTo>
                <a:lnTo>
                  <a:pt x="25400" y="660400"/>
                </a:lnTo>
                <a:lnTo>
                  <a:pt x="25400" y="685800"/>
                </a:lnTo>
                <a:lnTo>
                  <a:pt x="50800" y="685800"/>
                </a:lnTo>
                <a:lnTo>
                  <a:pt x="50800" y="660400"/>
                </a:lnTo>
                <a:close/>
              </a:path>
              <a:path w="76200" h="1003300">
                <a:moveTo>
                  <a:pt x="50800" y="609600"/>
                </a:moveTo>
                <a:lnTo>
                  <a:pt x="25400" y="609600"/>
                </a:lnTo>
                <a:lnTo>
                  <a:pt x="25400" y="635000"/>
                </a:lnTo>
                <a:lnTo>
                  <a:pt x="50800" y="635000"/>
                </a:lnTo>
                <a:lnTo>
                  <a:pt x="50800" y="609600"/>
                </a:lnTo>
                <a:close/>
              </a:path>
              <a:path w="76200" h="1003300">
                <a:moveTo>
                  <a:pt x="50800" y="558800"/>
                </a:moveTo>
                <a:lnTo>
                  <a:pt x="25400" y="558800"/>
                </a:lnTo>
                <a:lnTo>
                  <a:pt x="25400" y="584200"/>
                </a:lnTo>
                <a:lnTo>
                  <a:pt x="50800" y="584200"/>
                </a:lnTo>
                <a:lnTo>
                  <a:pt x="50800" y="558800"/>
                </a:lnTo>
                <a:close/>
              </a:path>
              <a:path w="76200" h="1003300">
                <a:moveTo>
                  <a:pt x="50800" y="508000"/>
                </a:moveTo>
                <a:lnTo>
                  <a:pt x="25400" y="508000"/>
                </a:lnTo>
                <a:lnTo>
                  <a:pt x="25400" y="533400"/>
                </a:lnTo>
                <a:lnTo>
                  <a:pt x="50800" y="533400"/>
                </a:lnTo>
                <a:lnTo>
                  <a:pt x="50800" y="508000"/>
                </a:lnTo>
                <a:close/>
              </a:path>
              <a:path w="76200" h="1003300">
                <a:moveTo>
                  <a:pt x="50800" y="457200"/>
                </a:moveTo>
                <a:lnTo>
                  <a:pt x="25400" y="457200"/>
                </a:lnTo>
                <a:lnTo>
                  <a:pt x="25400" y="482600"/>
                </a:lnTo>
                <a:lnTo>
                  <a:pt x="50800" y="482600"/>
                </a:lnTo>
                <a:lnTo>
                  <a:pt x="50800" y="457200"/>
                </a:lnTo>
                <a:close/>
              </a:path>
              <a:path w="76200" h="1003300">
                <a:moveTo>
                  <a:pt x="50800" y="406400"/>
                </a:moveTo>
                <a:lnTo>
                  <a:pt x="25400" y="406400"/>
                </a:lnTo>
                <a:lnTo>
                  <a:pt x="25400" y="431800"/>
                </a:lnTo>
                <a:lnTo>
                  <a:pt x="50800" y="431800"/>
                </a:lnTo>
                <a:lnTo>
                  <a:pt x="50800" y="406400"/>
                </a:lnTo>
                <a:close/>
              </a:path>
              <a:path w="76200" h="1003300">
                <a:moveTo>
                  <a:pt x="50800" y="355600"/>
                </a:moveTo>
                <a:lnTo>
                  <a:pt x="25400" y="355600"/>
                </a:lnTo>
                <a:lnTo>
                  <a:pt x="25400" y="381000"/>
                </a:lnTo>
                <a:lnTo>
                  <a:pt x="50800" y="381000"/>
                </a:lnTo>
                <a:lnTo>
                  <a:pt x="50800" y="355600"/>
                </a:lnTo>
                <a:close/>
              </a:path>
              <a:path w="76200" h="1003300">
                <a:moveTo>
                  <a:pt x="50800" y="304800"/>
                </a:moveTo>
                <a:lnTo>
                  <a:pt x="25400" y="304800"/>
                </a:lnTo>
                <a:lnTo>
                  <a:pt x="25400" y="330200"/>
                </a:lnTo>
                <a:lnTo>
                  <a:pt x="50800" y="330200"/>
                </a:lnTo>
                <a:lnTo>
                  <a:pt x="50800" y="304800"/>
                </a:lnTo>
                <a:close/>
              </a:path>
              <a:path w="76200" h="1003300">
                <a:moveTo>
                  <a:pt x="50800" y="254000"/>
                </a:moveTo>
                <a:lnTo>
                  <a:pt x="25400" y="254000"/>
                </a:lnTo>
                <a:lnTo>
                  <a:pt x="25400" y="279400"/>
                </a:lnTo>
                <a:lnTo>
                  <a:pt x="50800" y="279400"/>
                </a:lnTo>
                <a:lnTo>
                  <a:pt x="50800" y="254000"/>
                </a:lnTo>
                <a:close/>
              </a:path>
              <a:path w="76200" h="1003300">
                <a:moveTo>
                  <a:pt x="50800" y="203200"/>
                </a:moveTo>
                <a:lnTo>
                  <a:pt x="25400" y="203200"/>
                </a:lnTo>
                <a:lnTo>
                  <a:pt x="25400" y="228600"/>
                </a:lnTo>
                <a:lnTo>
                  <a:pt x="50800" y="228600"/>
                </a:lnTo>
                <a:lnTo>
                  <a:pt x="50800" y="203200"/>
                </a:lnTo>
                <a:close/>
              </a:path>
              <a:path w="76200" h="1003300">
                <a:moveTo>
                  <a:pt x="50800" y="152400"/>
                </a:moveTo>
                <a:lnTo>
                  <a:pt x="25400" y="152400"/>
                </a:lnTo>
                <a:lnTo>
                  <a:pt x="25400" y="177800"/>
                </a:lnTo>
                <a:lnTo>
                  <a:pt x="50800" y="177800"/>
                </a:lnTo>
                <a:lnTo>
                  <a:pt x="50800" y="152400"/>
                </a:lnTo>
                <a:close/>
              </a:path>
              <a:path w="76200" h="1003300">
                <a:moveTo>
                  <a:pt x="50800" y="101600"/>
                </a:moveTo>
                <a:lnTo>
                  <a:pt x="25400" y="101600"/>
                </a:lnTo>
                <a:lnTo>
                  <a:pt x="25400" y="127000"/>
                </a:lnTo>
                <a:lnTo>
                  <a:pt x="50800" y="127000"/>
                </a:lnTo>
                <a:lnTo>
                  <a:pt x="50800" y="101600"/>
                </a:lnTo>
                <a:close/>
              </a:path>
              <a:path w="76200" h="1003300">
                <a:moveTo>
                  <a:pt x="50800" y="50800"/>
                </a:moveTo>
                <a:lnTo>
                  <a:pt x="25400" y="50800"/>
                </a:lnTo>
                <a:lnTo>
                  <a:pt x="25400" y="76200"/>
                </a:lnTo>
                <a:lnTo>
                  <a:pt x="50800" y="76200"/>
                </a:lnTo>
                <a:lnTo>
                  <a:pt x="50800" y="50800"/>
                </a:lnTo>
                <a:close/>
              </a:path>
              <a:path w="76200" h="1003300">
                <a:moveTo>
                  <a:pt x="50800" y="0"/>
                </a:moveTo>
                <a:lnTo>
                  <a:pt x="25400" y="0"/>
                </a:lnTo>
                <a:lnTo>
                  <a:pt x="25400" y="25400"/>
                </a:lnTo>
                <a:lnTo>
                  <a:pt x="50800" y="25400"/>
                </a:lnTo>
                <a:lnTo>
                  <a:pt x="508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690729" y="4056265"/>
            <a:ext cx="1358265" cy="427355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525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Neural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Net</a:t>
            </a:r>
            <a:r>
              <a:rPr dirty="0" sz="1800" spc="-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12392" y="4063230"/>
            <a:ext cx="1358265" cy="427355"/>
          </a:xfrm>
          <a:prstGeom prst="rect">
            <a:avLst/>
          </a:prstGeom>
          <a:ln w="25400">
            <a:solidFill>
              <a:srgbClr val="4F81BD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355"/>
              </a:spcBef>
            </a:pPr>
            <a:r>
              <a:rPr dirty="0" sz="1800" spc="-5">
                <a:solidFill>
                  <a:srgbClr val="4F81BD"/>
                </a:solidFill>
                <a:latin typeface="Calibri"/>
                <a:cs typeface="Calibri"/>
              </a:rPr>
              <a:t>Neural </a:t>
            </a:r>
            <a:r>
              <a:rPr dirty="0" sz="1800">
                <a:solidFill>
                  <a:srgbClr val="4F81BD"/>
                </a:solidFill>
                <a:latin typeface="Calibri"/>
                <a:cs typeface="Calibri"/>
              </a:rPr>
              <a:t>Net</a:t>
            </a:r>
            <a:r>
              <a:rPr dirty="0" sz="1800" spc="-7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018528" y="4499937"/>
            <a:ext cx="1130935" cy="1021715"/>
          </a:xfrm>
          <a:custGeom>
            <a:avLst/>
            <a:gdLst/>
            <a:ahLst/>
            <a:cxnLst/>
            <a:rect l="l" t="t" r="r" b="b"/>
            <a:pathLst>
              <a:path w="1130935" h="1021714">
                <a:moveTo>
                  <a:pt x="31076" y="942182"/>
                </a:moveTo>
                <a:lnTo>
                  <a:pt x="0" y="1021506"/>
                </a:lnTo>
                <a:lnTo>
                  <a:pt x="82105" y="998773"/>
                </a:lnTo>
                <a:lnTo>
                  <a:pt x="72762" y="988411"/>
                </a:lnTo>
                <a:lnTo>
                  <a:pt x="55667" y="988411"/>
                </a:lnTo>
                <a:lnTo>
                  <a:pt x="38657" y="969548"/>
                </a:lnTo>
                <a:lnTo>
                  <a:pt x="48086" y="961046"/>
                </a:lnTo>
                <a:lnTo>
                  <a:pt x="31076" y="942182"/>
                </a:lnTo>
                <a:close/>
              </a:path>
              <a:path w="1130935" h="1021714">
                <a:moveTo>
                  <a:pt x="48086" y="961046"/>
                </a:moveTo>
                <a:lnTo>
                  <a:pt x="38657" y="969548"/>
                </a:lnTo>
                <a:lnTo>
                  <a:pt x="55667" y="988411"/>
                </a:lnTo>
                <a:lnTo>
                  <a:pt x="65096" y="979910"/>
                </a:lnTo>
                <a:lnTo>
                  <a:pt x="48086" y="961046"/>
                </a:lnTo>
                <a:close/>
              </a:path>
              <a:path w="1130935" h="1021714">
                <a:moveTo>
                  <a:pt x="65096" y="979910"/>
                </a:moveTo>
                <a:lnTo>
                  <a:pt x="55667" y="988411"/>
                </a:lnTo>
                <a:lnTo>
                  <a:pt x="72762" y="988411"/>
                </a:lnTo>
                <a:lnTo>
                  <a:pt x="65096" y="979910"/>
                </a:lnTo>
                <a:close/>
              </a:path>
              <a:path w="1130935" h="1021714">
                <a:moveTo>
                  <a:pt x="57520" y="952539"/>
                </a:moveTo>
                <a:lnTo>
                  <a:pt x="48086" y="961046"/>
                </a:lnTo>
                <a:lnTo>
                  <a:pt x="65096" y="979910"/>
                </a:lnTo>
                <a:lnTo>
                  <a:pt x="74531" y="971402"/>
                </a:lnTo>
                <a:lnTo>
                  <a:pt x="57520" y="952539"/>
                </a:lnTo>
                <a:close/>
              </a:path>
              <a:path w="1130935" h="1021714">
                <a:moveTo>
                  <a:pt x="95248" y="918519"/>
                </a:moveTo>
                <a:lnTo>
                  <a:pt x="76385" y="935528"/>
                </a:lnTo>
                <a:lnTo>
                  <a:pt x="93394" y="954392"/>
                </a:lnTo>
                <a:lnTo>
                  <a:pt x="112257" y="937383"/>
                </a:lnTo>
                <a:lnTo>
                  <a:pt x="95248" y="918519"/>
                </a:lnTo>
                <a:close/>
              </a:path>
              <a:path w="1130935" h="1021714">
                <a:moveTo>
                  <a:pt x="132975" y="884500"/>
                </a:moveTo>
                <a:lnTo>
                  <a:pt x="114112" y="901509"/>
                </a:lnTo>
                <a:lnTo>
                  <a:pt x="131121" y="920374"/>
                </a:lnTo>
                <a:lnTo>
                  <a:pt x="149984" y="903363"/>
                </a:lnTo>
                <a:lnTo>
                  <a:pt x="132975" y="884500"/>
                </a:lnTo>
                <a:close/>
              </a:path>
              <a:path w="1130935" h="1021714">
                <a:moveTo>
                  <a:pt x="170701" y="850480"/>
                </a:moveTo>
                <a:lnTo>
                  <a:pt x="151838" y="867491"/>
                </a:lnTo>
                <a:lnTo>
                  <a:pt x="168849" y="886354"/>
                </a:lnTo>
                <a:lnTo>
                  <a:pt x="187712" y="869344"/>
                </a:lnTo>
                <a:lnTo>
                  <a:pt x="170701" y="850480"/>
                </a:lnTo>
                <a:close/>
              </a:path>
              <a:path w="1130935" h="1021714">
                <a:moveTo>
                  <a:pt x="208429" y="816461"/>
                </a:moveTo>
                <a:lnTo>
                  <a:pt x="189566" y="833471"/>
                </a:lnTo>
                <a:lnTo>
                  <a:pt x="206575" y="852335"/>
                </a:lnTo>
                <a:lnTo>
                  <a:pt x="225438" y="835324"/>
                </a:lnTo>
                <a:lnTo>
                  <a:pt x="208429" y="816461"/>
                </a:lnTo>
                <a:close/>
              </a:path>
              <a:path w="1130935" h="1021714">
                <a:moveTo>
                  <a:pt x="246156" y="782443"/>
                </a:moveTo>
                <a:lnTo>
                  <a:pt x="227293" y="799452"/>
                </a:lnTo>
                <a:lnTo>
                  <a:pt x="244302" y="818315"/>
                </a:lnTo>
                <a:lnTo>
                  <a:pt x="263166" y="801306"/>
                </a:lnTo>
                <a:lnTo>
                  <a:pt x="246156" y="782443"/>
                </a:lnTo>
                <a:close/>
              </a:path>
              <a:path w="1130935" h="1021714">
                <a:moveTo>
                  <a:pt x="283883" y="748423"/>
                </a:moveTo>
                <a:lnTo>
                  <a:pt x="265019" y="765432"/>
                </a:lnTo>
                <a:lnTo>
                  <a:pt x="282030" y="784296"/>
                </a:lnTo>
                <a:lnTo>
                  <a:pt x="300893" y="767287"/>
                </a:lnTo>
                <a:lnTo>
                  <a:pt x="283883" y="748423"/>
                </a:lnTo>
                <a:close/>
              </a:path>
              <a:path w="1130935" h="1021714">
                <a:moveTo>
                  <a:pt x="321610" y="714404"/>
                </a:moveTo>
                <a:lnTo>
                  <a:pt x="302747" y="731413"/>
                </a:lnTo>
                <a:lnTo>
                  <a:pt x="319756" y="750276"/>
                </a:lnTo>
                <a:lnTo>
                  <a:pt x="338620" y="733267"/>
                </a:lnTo>
                <a:lnTo>
                  <a:pt x="321610" y="714404"/>
                </a:lnTo>
                <a:close/>
              </a:path>
              <a:path w="1130935" h="1021714">
                <a:moveTo>
                  <a:pt x="359337" y="680384"/>
                </a:moveTo>
                <a:lnTo>
                  <a:pt x="340474" y="697395"/>
                </a:lnTo>
                <a:lnTo>
                  <a:pt x="357483" y="716258"/>
                </a:lnTo>
                <a:lnTo>
                  <a:pt x="376347" y="699248"/>
                </a:lnTo>
                <a:lnTo>
                  <a:pt x="359337" y="680384"/>
                </a:lnTo>
                <a:close/>
              </a:path>
              <a:path w="1130935" h="1021714">
                <a:moveTo>
                  <a:pt x="397064" y="646365"/>
                </a:moveTo>
                <a:lnTo>
                  <a:pt x="378200" y="663375"/>
                </a:lnTo>
                <a:lnTo>
                  <a:pt x="395211" y="682238"/>
                </a:lnTo>
                <a:lnTo>
                  <a:pt x="414074" y="665228"/>
                </a:lnTo>
                <a:lnTo>
                  <a:pt x="397064" y="646365"/>
                </a:lnTo>
                <a:close/>
              </a:path>
              <a:path w="1130935" h="1021714">
                <a:moveTo>
                  <a:pt x="434792" y="612345"/>
                </a:moveTo>
                <a:lnTo>
                  <a:pt x="415928" y="629356"/>
                </a:lnTo>
                <a:lnTo>
                  <a:pt x="432937" y="648219"/>
                </a:lnTo>
                <a:lnTo>
                  <a:pt x="451801" y="631210"/>
                </a:lnTo>
                <a:lnTo>
                  <a:pt x="434792" y="612345"/>
                </a:lnTo>
                <a:close/>
              </a:path>
              <a:path w="1130935" h="1021714">
                <a:moveTo>
                  <a:pt x="472518" y="578327"/>
                </a:moveTo>
                <a:lnTo>
                  <a:pt x="453655" y="595336"/>
                </a:lnTo>
                <a:lnTo>
                  <a:pt x="470664" y="614199"/>
                </a:lnTo>
                <a:lnTo>
                  <a:pt x="489529" y="597190"/>
                </a:lnTo>
                <a:lnTo>
                  <a:pt x="472518" y="578327"/>
                </a:lnTo>
                <a:close/>
              </a:path>
              <a:path w="1130935" h="1021714">
                <a:moveTo>
                  <a:pt x="510246" y="544308"/>
                </a:moveTo>
                <a:lnTo>
                  <a:pt x="491382" y="561317"/>
                </a:lnTo>
                <a:lnTo>
                  <a:pt x="508392" y="580180"/>
                </a:lnTo>
                <a:lnTo>
                  <a:pt x="527255" y="563171"/>
                </a:lnTo>
                <a:lnTo>
                  <a:pt x="510246" y="544308"/>
                </a:lnTo>
                <a:close/>
              </a:path>
              <a:path w="1130935" h="1021714">
                <a:moveTo>
                  <a:pt x="547973" y="510288"/>
                </a:moveTo>
                <a:lnTo>
                  <a:pt x="529109" y="527297"/>
                </a:lnTo>
                <a:lnTo>
                  <a:pt x="546119" y="546162"/>
                </a:lnTo>
                <a:lnTo>
                  <a:pt x="564982" y="529151"/>
                </a:lnTo>
                <a:lnTo>
                  <a:pt x="547973" y="510288"/>
                </a:lnTo>
                <a:close/>
              </a:path>
              <a:path w="1130935" h="1021714">
                <a:moveTo>
                  <a:pt x="585699" y="476269"/>
                </a:moveTo>
                <a:lnTo>
                  <a:pt x="566836" y="493279"/>
                </a:lnTo>
                <a:lnTo>
                  <a:pt x="583845" y="512142"/>
                </a:lnTo>
                <a:lnTo>
                  <a:pt x="602710" y="495132"/>
                </a:lnTo>
                <a:lnTo>
                  <a:pt x="585699" y="476269"/>
                </a:lnTo>
                <a:close/>
              </a:path>
              <a:path w="1130935" h="1021714">
                <a:moveTo>
                  <a:pt x="623427" y="442249"/>
                </a:moveTo>
                <a:lnTo>
                  <a:pt x="604563" y="459259"/>
                </a:lnTo>
                <a:lnTo>
                  <a:pt x="621573" y="478123"/>
                </a:lnTo>
                <a:lnTo>
                  <a:pt x="640436" y="461114"/>
                </a:lnTo>
                <a:lnTo>
                  <a:pt x="623427" y="442249"/>
                </a:lnTo>
                <a:close/>
              </a:path>
              <a:path w="1130935" h="1021714">
                <a:moveTo>
                  <a:pt x="661154" y="408231"/>
                </a:moveTo>
                <a:lnTo>
                  <a:pt x="642291" y="425240"/>
                </a:lnTo>
                <a:lnTo>
                  <a:pt x="659300" y="444103"/>
                </a:lnTo>
                <a:lnTo>
                  <a:pt x="678163" y="427094"/>
                </a:lnTo>
                <a:lnTo>
                  <a:pt x="661154" y="408231"/>
                </a:lnTo>
                <a:close/>
              </a:path>
              <a:path w="1130935" h="1021714">
                <a:moveTo>
                  <a:pt x="698881" y="374211"/>
                </a:moveTo>
                <a:lnTo>
                  <a:pt x="680017" y="391220"/>
                </a:lnTo>
                <a:lnTo>
                  <a:pt x="697028" y="410084"/>
                </a:lnTo>
                <a:lnTo>
                  <a:pt x="715891" y="393075"/>
                </a:lnTo>
                <a:lnTo>
                  <a:pt x="698881" y="374211"/>
                </a:lnTo>
                <a:close/>
              </a:path>
              <a:path w="1130935" h="1021714">
                <a:moveTo>
                  <a:pt x="736608" y="340192"/>
                </a:moveTo>
                <a:lnTo>
                  <a:pt x="717744" y="357201"/>
                </a:lnTo>
                <a:lnTo>
                  <a:pt x="734754" y="376066"/>
                </a:lnTo>
                <a:lnTo>
                  <a:pt x="753618" y="359055"/>
                </a:lnTo>
                <a:lnTo>
                  <a:pt x="736608" y="340192"/>
                </a:lnTo>
                <a:close/>
              </a:path>
              <a:path w="1130935" h="1021714">
                <a:moveTo>
                  <a:pt x="774335" y="306172"/>
                </a:moveTo>
                <a:lnTo>
                  <a:pt x="755472" y="323183"/>
                </a:lnTo>
                <a:lnTo>
                  <a:pt x="772481" y="342046"/>
                </a:lnTo>
                <a:lnTo>
                  <a:pt x="791344" y="325036"/>
                </a:lnTo>
                <a:lnTo>
                  <a:pt x="774335" y="306172"/>
                </a:lnTo>
                <a:close/>
              </a:path>
              <a:path w="1130935" h="1021714">
                <a:moveTo>
                  <a:pt x="812062" y="272153"/>
                </a:moveTo>
                <a:lnTo>
                  <a:pt x="793198" y="289163"/>
                </a:lnTo>
                <a:lnTo>
                  <a:pt x="810209" y="308027"/>
                </a:lnTo>
                <a:lnTo>
                  <a:pt x="829072" y="291017"/>
                </a:lnTo>
                <a:lnTo>
                  <a:pt x="812062" y="272153"/>
                </a:lnTo>
                <a:close/>
              </a:path>
              <a:path w="1130935" h="1021714">
                <a:moveTo>
                  <a:pt x="849790" y="238135"/>
                </a:moveTo>
                <a:lnTo>
                  <a:pt x="830926" y="255144"/>
                </a:lnTo>
                <a:lnTo>
                  <a:pt x="847935" y="274007"/>
                </a:lnTo>
                <a:lnTo>
                  <a:pt x="866799" y="256998"/>
                </a:lnTo>
                <a:lnTo>
                  <a:pt x="849790" y="238135"/>
                </a:lnTo>
                <a:close/>
              </a:path>
              <a:path w="1130935" h="1021714">
                <a:moveTo>
                  <a:pt x="887516" y="204115"/>
                </a:moveTo>
                <a:lnTo>
                  <a:pt x="868653" y="221124"/>
                </a:lnTo>
                <a:lnTo>
                  <a:pt x="885662" y="239988"/>
                </a:lnTo>
                <a:lnTo>
                  <a:pt x="904525" y="222978"/>
                </a:lnTo>
                <a:lnTo>
                  <a:pt x="887516" y="204115"/>
                </a:lnTo>
                <a:close/>
              </a:path>
              <a:path w="1130935" h="1021714">
                <a:moveTo>
                  <a:pt x="925243" y="170096"/>
                </a:moveTo>
                <a:lnTo>
                  <a:pt x="906379" y="187105"/>
                </a:lnTo>
                <a:lnTo>
                  <a:pt x="923390" y="205968"/>
                </a:lnTo>
                <a:lnTo>
                  <a:pt x="942253" y="188959"/>
                </a:lnTo>
                <a:lnTo>
                  <a:pt x="925243" y="170096"/>
                </a:lnTo>
                <a:close/>
              </a:path>
              <a:path w="1130935" h="1021714">
                <a:moveTo>
                  <a:pt x="962971" y="136076"/>
                </a:moveTo>
                <a:lnTo>
                  <a:pt x="944107" y="153087"/>
                </a:lnTo>
                <a:lnTo>
                  <a:pt x="961116" y="171950"/>
                </a:lnTo>
                <a:lnTo>
                  <a:pt x="979980" y="154940"/>
                </a:lnTo>
                <a:lnTo>
                  <a:pt x="962971" y="136076"/>
                </a:lnTo>
                <a:close/>
              </a:path>
              <a:path w="1130935" h="1021714">
                <a:moveTo>
                  <a:pt x="1000697" y="102057"/>
                </a:moveTo>
                <a:lnTo>
                  <a:pt x="981834" y="119067"/>
                </a:lnTo>
                <a:lnTo>
                  <a:pt x="998843" y="137930"/>
                </a:lnTo>
                <a:lnTo>
                  <a:pt x="1017708" y="120921"/>
                </a:lnTo>
                <a:lnTo>
                  <a:pt x="1000697" y="102057"/>
                </a:lnTo>
                <a:close/>
              </a:path>
              <a:path w="1130935" h="1021714">
                <a:moveTo>
                  <a:pt x="1038424" y="68038"/>
                </a:moveTo>
                <a:lnTo>
                  <a:pt x="1019561" y="85048"/>
                </a:lnTo>
                <a:lnTo>
                  <a:pt x="1036571" y="103911"/>
                </a:lnTo>
                <a:lnTo>
                  <a:pt x="1055434" y="86902"/>
                </a:lnTo>
                <a:lnTo>
                  <a:pt x="1038424" y="68038"/>
                </a:lnTo>
                <a:close/>
              </a:path>
              <a:path w="1130935" h="1021714">
                <a:moveTo>
                  <a:pt x="1076152" y="34019"/>
                </a:moveTo>
                <a:lnTo>
                  <a:pt x="1057288" y="51028"/>
                </a:lnTo>
                <a:lnTo>
                  <a:pt x="1074298" y="69891"/>
                </a:lnTo>
                <a:lnTo>
                  <a:pt x="1093161" y="52882"/>
                </a:lnTo>
                <a:lnTo>
                  <a:pt x="1076152" y="34019"/>
                </a:lnTo>
                <a:close/>
              </a:path>
              <a:path w="1130935" h="1021714">
                <a:moveTo>
                  <a:pt x="1113878" y="0"/>
                </a:moveTo>
                <a:lnTo>
                  <a:pt x="1095015" y="17009"/>
                </a:lnTo>
                <a:lnTo>
                  <a:pt x="1112024" y="35873"/>
                </a:lnTo>
                <a:lnTo>
                  <a:pt x="1130888" y="18863"/>
                </a:lnTo>
                <a:lnTo>
                  <a:pt x="1113878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412254" y="4550632"/>
            <a:ext cx="2122170" cy="974090"/>
          </a:xfrm>
          <a:custGeom>
            <a:avLst/>
            <a:gdLst/>
            <a:ahLst/>
            <a:cxnLst/>
            <a:rect l="l" t="t" r="r" b="b"/>
            <a:pathLst>
              <a:path w="2122170" h="974089">
                <a:moveTo>
                  <a:pt x="2047502" y="950929"/>
                </a:moveTo>
                <a:lnTo>
                  <a:pt x="2037017" y="974065"/>
                </a:lnTo>
                <a:lnTo>
                  <a:pt x="2122149" y="970812"/>
                </a:lnTo>
                <a:lnTo>
                  <a:pt x="2110268" y="956170"/>
                </a:lnTo>
                <a:lnTo>
                  <a:pt x="2059067" y="956170"/>
                </a:lnTo>
                <a:lnTo>
                  <a:pt x="2047502" y="950929"/>
                </a:lnTo>
                <a:close/>
              </a:path>
              <a:path w="2122170" h="974089">
                <a:moveTo>
                  <a:pt x="2057985" y="927794"/>
                </a:moveTo>
                <a:lnTo>
                  <a:pt x="2047502" y="950929"/>
                </a:lnTo>
                <a:lnTo>
                  <a:pt x="2059067" y="956170"/>
                </a:lnTo>
                <a:lnTo>
                  <a:pt x="2069550" y="933034"/>
                </a:lnTo>
                <a:lnTo>
                  <a:pt x="2057985" y="927794"/>
                </a:lnTo>
                <a:close/>
              </a:path>
              <a:path w="2122170" h="974089">
                <a:moveTo>
                  <a:pt x="2068469" y="904659"/>
                </a:moveTo>
                <a:lnTo>
                  <a:pt x="2057985" y="927794"/>
                </a:lnTo>
                <a:lnTo>
                  <a:pt x="2069550" y="933034"/>
                </a:lnTo>
                <a:lnTo>
                  <a:pt x="2059067" y="956170"/>
                </a:lnTo>
                <a:lnTo>
                  <a:pt x="2110268" y="956170"/>
                </a:lnTo>
                <a:lnTo>
                  <a:pt x="2068469" y="904659"/>
                </a:lnTo>
                <a:close/>
              </a:path>
              <a:path w="2122170" h="974089">
                <a:moveTo>
                  <a:pt x="2046414" y="922550"/>
                </a:moveTo>
                <a:lnTo>
                  <a:pt x="2035931" y="945686"/>
                </a:lnTo>
                <a:lnTo>
                  <a:pt x="2047502" y="950929"/>
                </a:lnTo>
                <a:lnTo>
                  <a:pt x="2057985" y="927794"/>
                </a:lnTo>
                <a:lnTo>
                  <a:pt x="2046414" y="922550"/>
                </a:lnTo>
                <a:close/>
              </a:path>
              <a:path w="2122170" h="974089">
                <a:moveTo>
                  <a:pt x="2000143" y="901584"/>
                </a:moveTo>
                <a:lnTo>
                  <a:pt x="1989660" y="924720"/>
                </a:lnTo>
                <a:lnTo>
                  <a:pt x="2012796" y="935202"/>
                </a:lnTo>
                <a:lnTo>
                  <a:pt x="2023278" y="912067"/>
                </a:lnTo>
                <a:lnTo>
                  <a:pt x="2000143" y="901584"/>
                </a:lnTo>
                <a:close/>
              </a:path>
              <a:path w="2122170" h="974089">
                <a:moveTo>
                  <a:pt x="1953872" y="880616"/>
                </a:moveTo>
                <a:lnTo>
                  <a:pt x="1943389" y="903752"/>
                </a:lnTo>
                <a:lnTo>
                  <a:pt x="1966525" y="914236"/>
                </a:lnTo>
                <a:lnTo>
                  <a:pt x="1977007" y="891100"/>
                </a:lnTo>
                <a:lnTo>
                  <a:pt x="1953872" y="880616"/>
                </a:lnTo>
                <a:close/>
              </a:path>
              <a:path w="2122170" h="974089">
                <a:moveTo>
                  <a:pt x="1907600" y="859650"/>
                </a:moveTo>
                <a:lnTo>
                  <a:pt x="1897118" y="882785"/>
                </a:lnTo>
                <a:lnTo>
                  <a:pt x="1920253" y="893269"/>
                </a:lnTo>
                <a:lnTo>
                  <a:pt x="1930736" y="870132"/>
                </a:lnTo>
                <a:lnTo>
                  <a:pt x="1907600" y="859650"/>
                </a:lnTo>
                <a:close/>
              </a:path>
              <a:path w="2122170" h="974089">
                <a:moveTo>
                  <a:pt x="1861329" y="838682"/>
                </a:moveTo>
                <a:lnTo>
                  <a:pt x="1850847" y="861818"/>
                </a:lnTo>
                <a:lnTo>
                  <a:pt x="1873982" y="872302"/>
                </a:lnTo>
                <a:lnTo>
                  <a:pt x="1884465" y="849166"/>
                </a:lnTo>
                <a:lnTo>
                  <a:pt x="1861329" y="838682"/>
                </a:lnTo>
                <a:close/>
              </a:path>
              <a:path w="2122170" h="974089">
                <a:moveTo>
                  <a:pt x="1815058" y="817716"/>
                </a:moveTo>
                <a:lnTo>
                  <a:pt x="1804576" y="840851"/>
                </a:lnTo>
                <a:lnTo>
                  <a:pt x="1827711" y="851335"/>
                </a:lnTo>
                <a:lnTo>
                  <a:pt x="1838194" y="828200"/>
                </a:lnTo>
                <a:lnTo>
                  <a:pt x="1815058" y="817716"/>
                </a:lnTo>
                <a:close/>
              </a:path>
              <a:path w="2122170" h="974089">
                <a:moveTo>
                  <a:pt x="1768787" y="796748"/>
                </a:moveTo>
                <a:lnTo>
                  <a:pt x="1758304" y="819884"/>
                </a:lnTo>
                <a:lnTo>
                  <a:pt x="1781440" y="830367"/>
                </a:lnTo>
                <a:lnTo>
                  <a:pt x="1791923" y="807232"/>
                </a:lnTo>
                <a:lnTo>
                  <a:pt x="1768787" y="796748"/>
                </a:lnTo>
                <a:close/>
              </a:path>
              <a:path w="2122170" h="974089">
                <a:moveTo>
                  <a:pt x="1722516" y="775782"/>
                </a:moveTo>
                <a:lnTo>
                  <a:pt x="1712033" y="798917"/>
                </a:lnTo>
                <a:lnTo>
                  <a:pt x="1735169" y="809401"/>
                </a:lnTo>
                <a:lnTo>
                  <a:pt x="1745651" y="786265"/>
                </a:lnTo>
                <a:lnTo>
                  <a:pt x="1722516" y="775782"/>
                </a:lnTo>
                <a:close/>
              </a:path>
              <a:path w="2122170" h="974089">
                <a:moveTo>
                  <a:pt x="1676245" y="754814"/>
                </a:moveTo>
                <a:lnTo>
                  <a:pt x="1665762" y="777949"/>
                </a:lnTo>
                <a:lnTo>
                  <a:pt x="1688898" y="788433"/>
                </a:lnTo>
                <a:lnTo>
                  <a:pt x="1699380" y="765298"/>
                </a:lnTo>
                <a:lnTo>
                  <a:pt x="1676245" y="754814"/>
                </a:lnTo>
                <a:close/>
              </a:path>
              <a:path w="2122170" h="974089">
                <a:moveTo>
                  <a:pt x="1629973" y="733847"/>
                </a:moveTo>
                <a:lnTo>
                  <a:pt x="1619491" y="756983"/>
                </a:lnTo>
                <a:lnTo>
                  <a:pt x="1642626" y="767467"/>
                </a:lnTo>
                <a:lnTo>
                  <a:pt x="1653109" y="744331"/>
                </a:lnTo>
                <a:lnTo>
                  <a:pt x="1629973" y="733847"/>
                </a:lnTo>
                <a:close/>
              </a:path>
              <a:path w="2122170" h="974089">
                <a:moveTo>
                  <a:pt x="1583702" y="712880"/>
                </a:moveTo>
                <a:lnTo>
                  <a:pt x="1573220" y="736015"/>
                </a:lnTo>
                <a:lnTo>
                  <a:pt x="1596355" y="746499"/>
                </a:lnTo>
                <a:lnTo>
                  <a:pt x="1606838" y="723364"/>
                </a:lnTo>
                <a:lnTo>
                  <a:pt x="1583702" y="712880"/>
                </a:lnTo>
                <a:close/>
              </a:path>
              <a:path w="2122170" h="974089">
                <a:moveTo>
                  <a:pt x="1537431" y="691913"/>
                </a:moveTo>
                <a:lnTo>
                  <a:pt x="1526948" y="715049"/>
                </a:lnTo>
                <a:lnTo>
                  <a:pt x="1550084" y="725533"/>
                </a:lnTo>
                <a:lnTo>
                  <a:pt x="1560567" y="702397"/>
                </a:lnTo>
                <a:lnTo>
                  <a:pt x="1537431" y="691913"/>
                </a:lnTo>
                <a:close/>
              </a:path>
              <a:path w="2122170" h="974089">
                <a:moveTo>
                  <a:pt x="1491160" y="670946"/>
                </a:moveTo>
                <a:lnTo>
                  <a:pt x="1480677" y="694081"/>
                </a:lnTo>
                <a:lnTo>
                  <a:pt x="1503813" y="704565"/>
                </a:lnTo>
                <a:lnTo>
                  <a:pt x="1514295" y="681429"/>
                </a:lnTo>
                <a:lnTo>
                  <a:pt x="1491160" y="670946"/>
                </a:lnTo>
                <a:close/>
              </a:path>
              <a:path w="2122170" h="974089">
                <a:moveTo>
                  <a:pt x="1444889" y="649979"/>
                </a:moveTo>
                <a:lnTo>
                  <a:pt x="1434406" y="673115"/>
                </a:lnTo>
                <a:lnTo>
                  <a:pt x="1457542" y="683599"/>
                </a:lnTo>
                <a:lnTo>
                  <a:pt x="1468024" y="660463"/>
                </a:lnTo>
                <a:lnTo>
                  <a:pt x="1444889" y="649979"/>
                </a:lnTo>
                <a:close/>
              </a:path>
              <a:path w="2122170" h="974089">
                <a:moveTo>
                  <a:pt x="1398617" y="629011"/>
                </a:moveTo>
                <a:lnTo>
                  <a:pt x="1388135" y="652147"/>
                </a:lnTo>
                <a:lnTo>
                  <a:pt x="1411270" y="662631"/>
                </a:lnTo>
                <a:lnTo>
                  <a:pt x="1421753" y="639495"/>
                </a:lnTo>
                <a:lnTo>
                  <a:pt x="1398617" y="629011"/>
                </a:lnTo>
                <a:close/>
              </a:path>
              <a:path w="2122170" h="974089">
                <a:moveTo>
                  <a:pt x="1352346" y="608045"/>
                </a:moveTo>
                <a:lnTo>
                  <a:pt x="1341864" y="631181"/>
                </a:lnTo>
                <a:lnTo>
                  <a:pt x="1364999" y="641664"/>
                </a:lnTo>
                <a:lnTo>
                  <a:pt x="1375482" y="618529"/>
                </a:lnTo>
                <a:lnTo>
                  <a:pt x="1352346" y="608045"/>
                </a:lnTo>
                <a:close/>
              </a:path>
              <a:path w="2122170" h="974089">
                <a:moveTo>
                  <a:pt x="1306076" y="587077"/>
                </a:moveTo>
                <a:lnTo>
                  <a:pt x="1295593" y="610213"/>
                </a:lnTo>
                <a:lnTo>
                  <a:pt x="1318728" y="620697"/>
                </a:lnTo>
                <a:lnTo>
                  <a:pt x="1329212" y="597561"/>
                </a:lnTo>
                <a:lnTo>
                  <a:pt x="1306076" y="587077"/>
                </a:lnTo>
                <a:close/>
              </a:path>
              <a:path w="2122170" h="974089">
                <a:moveTo>
                  <a:pt x="1259804" y="566111"/>
                </a:moveTo>
                <a:lnTo>
                  <a:pt x="1249321" y="589246"/>
                </a:lnTo>
                <a:lnTo>
                  <a:pt x="1272457" y="599730"/>
                </a:lnTo>
                <a:lnTo>
                  <a:pt x="1282941" y="576595"/>
                </a:lnTo>
                <a:lnTo>
                  <a:pt x="1259804" y="566111"/>
                </a:lnTo>
                <a:close/>
              </a:path>
              <a:path w="2122170" h="974089">
                <a:moveTo>
                  <a:pt x="1213533" y="545143"/>
                </a:moveTo>
                <a:lnTo>
                  <a:pt x="1203050" y="568279"/>
                </a:lnTo>
                <a:lnTo>
                  <a:pt x="1226186" y="578763"/>
                </a:lnTo>
                <a:lnTo>
                  <a:pt x="1236670" y="555627"/>
                </a:lnTo>
                <a:lnTo>
                  <a:pt x="1213533" y="545143"/>
                </a:lnTo>
                <a:close/>
              </a:path>
              <a:path w="2122170" h="974089">
                <a:moveTo>
                  <a:pt x="1167262" y="524177"/>
                </a:moveTo>
                <a:lnTo>
                  <a:pt x="1156779" y="547312"/>
                </a:lnTo>
                <a:lnTo>
                  <a:pt x="1179915" y="557796"/>
                </a:lnTo>
                <a:lnTo>
                  <a:pt x="1190398" y="534661"/>
                </a:lnTo>
                <a:lnTo>
                  <a:pt x="1167262" y="524177"/>
                </a:lnTo>
                <a:close/>
              </a:path>
              <a:path w="2122170" h="974089">
                <a:moveTo>
                  <a:pt x="1120992" y="503209"/>
                </a:moveTo>
                <a:lnTo>
                  <a:pt x="1110508" y="526345"/>
                </a:lnTo>
                <a:lnTo>
                  <a:pt x="1133643" y="536829"/>
                </a:lnTo>
                <a:lnTo>
                  <a:pt x="1144127" y="513693"/>
                </a:lnTo>
                <a:lnTo>
                  <a:pt x="1120992" y="503209"/>
                </a:lnTo>
                <a:close/>
              </a:path>
              <a:path w="2122170" h="974089">
                <a:moveTo>
                  <a:pt x="1074720" y="482243"/>
                </a:moveTo>
                <a:lnTo>
                  <a:pt x="1064237" y="505378"/>
                </a:lnTo>
                <a:lnTo>
                  <a:pt x="1087372" y="515862"/>
                </a:lnTo>
                <a:lnTo>
                  <a:pt x="1097856" y="492726"/>
                </a:lnTo>
                <a:lnTo>
                  <a:pt x="1074720" y="482243"/>
                </a:lnTo>
                <a:close/>
              </a:path>
              <a:path w="2122170" h="974089">
                <a:moveTo>
                  <a:pt x="1028449" y="461275"/>
                </a:moveTo>
                <a:lnTo>
                  <a:pt x="1017965" y="484411"/>
                </a:lnTo>
                <a:lnTo>
                  <a:pt x="1041101" y="494894"/>
                </a:lnTo>
                <a:lnTo>
                  <a:pt x="1051585" y="471759"/>
                </a:lnTo>
                <a:lnTo>
                  <a:pt x="1028449" y="461275"/>
                </a:lnTo>
                <a:close/>
              </a:path>
              <a:path w="2122170" h="974089">
                <a:moveTo>
                  <a:pt x="982177" y="440309"/>
                </a:moveTo>
                <a:lnTo>
                  <a:pt x="971694" y="463444"/>
                </a:lnTo>
                <a:lnTo>
                  <a:pt x="994830" y="473928"/>
                </a:lnTo>
                <a:lnTo>
                  <a:pt x="1005312" y="450792"/>
                </a:lnTo>
                <a:lnTo>
                  <a:pt x="982177" y="440309"/>
                </a:lnTo>
                <a:close/>
              </a:path>
              <a:path w="2122170" h="974089">
                <a:moveTo>
                  <a:pt x="935906" y="419341"/>
                </a:moveTo>
                <a:lnTo>
                  <a:pt x="925423" y="442476"/>
                </a:lnTo>
                <a:lnTo>
                  <a:pt x="948559" y="452960"/>
                </a:lnTo>
                <a:lnTo>
                  <a:pt x="959041" y="429825"/>
                </a:lnTo>
                <a:lnTo>
                  <a:pt x="935906" y="419341"/>
                </a:lnTo>
                <a:close/>
              </a:path>
              <a:path w="2122170" h="974089">
                <a:moveTo>
                  <a:pt x="889635" y="398374"/>
                </a:moveTo>
                <a:lnTo>
                  <a:pt x="879152" y="421510"/>
                </a:lnTo>
                <a:lnTo>
                  <a:pt x="902288" y="431994"/>
                </a:lnTo>
                <a:lnTo>
                  <a:pt x="912770" y="408857"/>
                </a:lnTo>
                <a:lnTo>
                  <a:pt x="889635" y="398374"/>
                </a:lnTo>
                <a:close/>
              </a:path>
              <a:path w="2122170" h="974089">
                <a:moveTo>
                  <a:pt x="843363" y="377407"/>
                </a:moveTo>
                <a:lnTo>
                  <a:pt x="832881" y="400542"/>
                </a:lnTo>
                <a:lnTo>
                  <a:pt x="856016" y="411026"/>
                </a:lnTo>
                <a:lnTo>
                  <a:pt x="866499" y="387891"/>
                </a:lnTo>
                <a:lnTo>
                  <a:pt x="843363" y="377407"/>
                </a:lnTo>
                <a:close/>
              </a:path>
              <a:path w="2122170" h="974089">
                <a:moveTo>
                  <a:pt x="797092" y="356440"/>
                </a:moveTo>
                <a:lnTo>
                  <a:pt x="786610" y="379576"/>
                </a:lnTo>
                <a:lnTo>
                  <a:pt x="809745" y="390058"/>
                </a:lnTo>
                <a:lnTo>
                  <a:pt x="820228" y="366923"/>
                </a:lnTo>
                <a:lnTo>
                  <a:pt x="797092" y="356440"/>
                </a:lnTo>
                <a:close/>
              </a:path>
              <a:path w="2122170" h="974089">
                <a:moveTo>
                  <a:pt x="750821" y="335473"/>
                </a:moveTo>
                <a:lnTo>
                  <a:pt x="740337" y="358608"/>
                </a:lnTo>
                <a:lnTo>
                  <a:pt x="763473" y="369092"/>
                </a:lnTo>
                <a:lnTo>
                  <a:pt x="773957" y="345956"/>
                </a:lnTo>
                <a:lnTo>
                  <a:pt x="750821" y="335473"/>
                </a:lnTo>
                <a:close/>
              </a:path>
              <a:path w="2122170" h="974089">
                <a:moveTo>
                  <a:pt x="704550" y="314506"/>
                </a:moveTo>
                <a:lnTo>
                  <a:pt x="694066" y="337642"/>
                </a:lnTo>
                <a:lnTo>
                  <a:pt x="717202" y="348124"/>
                </a:lnTo>
                <a:lnTo>
                  <a:pt x="727685" y="324989"/>
                </a:lnTo>
                <a:lnTo>
                  <a:pt x="704550" y="314506"/>
                </a:lnTo>
                <a:close/>
              </a:path>
              <a:path w="2122170" h="974089">
                <a:moveTo>
                  <a:pt x="658279" y="293538"/>
                </a:moveTo>
                <a:lnTo>
                  <a:pt x="647795" y="316674"/>
                </a:lnTo>
                <a:lnTo>
                  <a:pt x="670930" y="327158"/>
                </a:lnTo>
                <a:lnTo>
                  <a:pt x="681414" y="304022"/>
                </a:lnTo>
                <a:lnTo>
                  <a:pt x="658279" y="293538"/>
                </a:lnTo>
                <a:close/>
              </a:path>
              <a:path w="2122170" h="974089">
                <a:moveTo>
                  <a:pt x="612007" y="272572"/>
                </a:moveTo>
                <a:lnTo>
                  <a:pt x="601524" y="295708"/>
                </a:lnTo>
                <a:lnTo>
                  <a:pt x="624659" y="306190"/>
                </a:lnTo>
                <a:lnTo>
                  <a:pt x="635143" y="283055"/>
                </a:lnTo>
                <a:lnTo>
                  <a:pt x="612007" y="272572"/>
                </a:lnTo>
                <a:close/>
              </a:path>
              <a:path w="2122170" h="974089">
                <a:moveTo>
                  <a:pt x="565736" y="251604"/>
                </a:moveTo>
                <a:lnTo>
                  <a:pt x="555252" y="274740"/>
                </a:lnTo>
                <a:lnTo>
                  <a:pt x="578388" y="285224"/>
                </a:lnTo>
                <a:lnTo>
                  <a:pt x="588872" y="262088"/>
                </a:lnTo>
                <a:lnTo>
                  <a:pt x="565736" y="251604"/>
                </a:lnTo>
                <a:close/>
              </a:path>
              <a:path w="2122170" h="974089">
                <a:moveTo>
                  <a:pt x="519465" y="230638"/>
                </a:moveTo>
                <a:lnTo>
                  <a:pt x="508981" y="253773"/>
                </a:lnTo>
                <a:lnTo>
                  <a:pt x="532117" y="264256"/>
                </a:lnTo>
                <a:lnTo>
                  <a:pt x="542601" y="241120"/>
                </a:lnTo>
                <a:lnTo>
                  <a:pt x="519465" y="230638"/>
                </a:lnTo>
                <a:close/>
              </a:path>
              <a:path w="2122170" h="974089">
                <a:moveTo>
                  <a:pt x="473194" y="209670"/>
                </a:moveTo>
                <a:lnTo>
                  <a:pt x="462710" y="232806"/>
                </a:lnTo>
                <a:lnTo>
                  <a:pt x="485846" y="243290"/>
                </a:lnTo>
                <a:lnTo>
                  <a:pt x="496329" y="220154"/>
                </a:lnTo>
                <a:lnTo>
                  <a:pt x="473194" y="209670"/>
                </a:lnTo>
                <a:close/>
              </a:path>
              <a:path w="2122170" h="974089">
                <a:moveTo>
                  <a:pt x="426923" y="188704"/>
                </a:moveTo>
                <a:lnTo>
                  <a:pt x="416439" y="211839"/>
                </a:lnTo>
                <a:lnTo>
                  <a:pt x="439574" y="222322"/>
                </a:lnTo>
                <a:lnTo>
                  <a:pt x="450058" y="199186"/>
                </a:lnTo>
                <a:lnTo>
                  <a:pt x="426923" y="188704"/>
                </a:lnTo>
                <a:close/>
              </a:path>
              <a:path w="2122170" h="974089">
                <a:moveTo>
                  <a:pt x="380652" y="167736"/>
                </a:moveTo>
                <a:lnTo>
                  <a:pt x="370168" y="190872"/>
                </a:lnTo>
                <a:lnTo>
                  <a:pt x="393303" y="201355"/>
                </a:lnTo>
                <a:lnTo>
                  <a:pt x="403787" y="178220"/>
                </a:lnTo>
                <a:lnTo>
                  <a:pt x="380652" y="167736"/>
                </a:lnTo>
                <a:close/>
              </a:path>
              <a:path w="2122170" h="974089">
                <a:moveTo>
                  <a:pt x="334380" y="146770"/>
                </a:moveTo>
                <a:lnTo>
                  <a:pt x="323896" y="169905"/>
                </a:lnTo>
                <a:lnTo>
                  <a:pt x="347032" y="180388"/>
                </a:lnTo>
                <a:lnTo>
                  <a:pt x="357516" y="157252"/>
                </a:lnTo>
                <a:lnTo>
                  <a:pt x="334380" y="146770"/>
                </a:lnTo>
                <a:close/>
              </a:path>
              <a:path w="2122170" h="974089">
                <a:moveTo>
                  <a:pt x="288109" y="125802"/>
                </a:moveTo>
                <a:lnTo>
                  <a:pt x="277625" y="148937"/>
                </a:lnTo>
                <a:lnTo>
                  <a:pt x="300761" y="159421"/>
                </a:lnTo>
                <a:lnTo>
                  <a:pt x="311245" y="136286"/>
                </a:lnTo>
                <a:lnTo>
                  <a:pt x="288109" y="125802"/>
                </a:lnTo>
                <a:close/>
              </a:path>
              <a:path w="2122170" h="974089">
                <a:moveTo>
                  <a:pt x="241838" y="104835"/>
                </a:moveTo>
                <a:lnTo>
                  <a:pt x="231354" y="127971"/>
                </a:lnTo>
                <a:lnTo>
                  <a:pt x="254490" y="138454"/>
                </a:lnTo>
                <a:lnTo>
                  <a:pt x="264974" y="115318"/>
                </a:lnTo>
                <a:lnTo>
                  <a:pt x="241838" y="104835"/>
                </a:lnTo>
                <a:close/>
              </a:path>
              <a:path w="2122170" h="974089">
                <a:moveTo>
                  <a:pt x="195567" y="83868"/>
                </a:moveTo>
                <a:lnTo>
                  <a:pt x="185084" y="107003"/>
                </a:lnTo>
                <a:lnTo>
                  <a:pt x="208219" y="117487"/>
                </a:lnTo>
                <a:lnTo>
                  <a:pt x="218702" y="94352"/>
                </a:lnTo>
                <a:lnTo>
                  <a:pt x="195567" y="83868"/>
                </a:lnTo>
                <a:close/>
              </a:path>
              <a:path w="2122170" h="974089">
                <a:moveTo>
                  <a:pt x="149296" y="62901"/>
                </a:moveTo>
                <a:lnTo>
                  <a:pt x="138813" y="86037"/>
                </a:lnTo>
                <a:lnTo>
                  <a:pt x="161949" y="96519"/>
                </a:lnTo>
                <a:lnTo>
                  <a:pt x="172431" y="73384"/>
                </a:lnTo>
                <a:lnTo>
                  <a:pt x="149296" y="62901"/>
                </a:lnTo>
                <a:close/>
              </a:path>
              <a:path w="2122170" h="974089">
                <a:moveTo>
                  <a:pt x="103024" y="41934"/>
                </a:moveTo>
                <a:lnTo>
                  <a:pt x="92542" y="65069"/>
                </a:lnTo>
                <a:lnTo>
                  <a:pt x="115677" y="75553"/>
                </a:lnTo>
                <a:lnTo>
                  <a:pt x="126160" y="52417"/>
                </a:lnTo>
                <a:lnTo>
                  <a:pt x="103024" y="41934"/>
                </a:lnTo>
                <a:close/>
              </a:path>
              <a:path w="2122170" h="974089">
                <a:moveTo>
                  <a:pt x="56753" y="20967"/>
                </a:moveTo>
                <a:lnTo>
                  <a:pt x="46271" y="44103"/>
                </a:lnTo>
                <a:lnTo>
                  <a:pt x="69406" y="54585"/>
                </a:lnTo>
                <a:lnTo>
                  <a:pt x="79889" y="31450"/>
                </a:lnTo>
                <a:lnTo>
                  <a:pt x="56753" y="20967"/>
                </a:lnTo>
                <a:close/>
              </a:path>
              <a:path w="2122170" h="974089">
                <a:moveTo>
                  <a:pt x="10482" y="0"/>
                </a:moveTo>
                <a:lnTo>
                  <a:pt x="0" y="23135"/>
                </a:lnTo>
                <a:lnTo>
                  <a:pt x="23135" y="33619"/>
                </a:lnTo>
                <a:lnTo>
                  <a:pt x="33618" y="10483"/>
                </a:lnTo>
                <a:lnTo>
                  <a:pt x="1048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66638" y="3908310"/>
            <a:ext cx="487915" cy="770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7200" y="4619662"/>
            <a:ext cx="164465" cy="128270"/>
          </a:xfrm>
          <a:custGeom>
            <a:avLst/>
            <a:gdLst/>
            <a:ahLst/>
            <a:cxnLst/>
            <a:rect l="l" t="t" r="r" b="b"/>
            <a:pathLst>
              <a:path w="164465" h="128270">
                <a:moveTo>
                  <a:pt x="0" y="127678"/>
                </a:moveTo>
                <a:lnTo>
                  <a:pt x="164158" y="127678"/>
                </a:lnTo>
                <a:lnTo>
                  <a:pt x="164158" y="0"/>
                </a:lnTo>
                <a:lnTo>
                  <a:pt x="0" y="0"/>
                </a:lnTo>
                <a:lnTo>
                  <a:pt x="0" y="127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004674" y="4132727"/>
            <a:ext cx="607060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700" spc="-5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04674" y="4360725"/>
            <a:ext cx="4819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700" spc="-8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007611" y="3907587"/>
            <a:ext cx="487915" cy="7706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898171" y="4618940"/>
            <a:ext cx="164465" cy="128270"/>
          </a:xfrm>
          <a:custGeom>
            <a:avLst/>
            <a:gdLst/>
            <a:ahLst/>
            <a:cxnLst/>
            <a:rect l="l" t="t" r="r" b="b"/>
            <a:pathLst>
              <a:path w="164464" h="128270">
                <a:moveTo>
                  <a:pt x="0" y="127678"/>
                </a:moveTo>
                <a:lnTo>
                  <a:pt x="164158" y="127678"/>
                </a:lnTo>
                <a:lnTo>
                  <a:pt x="164158" y="0"/>
                </a:lnTo>
                <a:lnTo>
                  <a:pt x="0" y="0"/>
                </a:lnTo>
                <a:lnTo>
                  <a:pt x="0" y="1276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445647" y="4132005"/>
            <a:ext cx="607060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700" spc="-5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89280">
              <a:lnSpc>
                <a:spcPts val="3779"/>
              </a:lnSpc>
            </a:pPr>
            <a:r>
              <a:rPr dirty="0" sz="3200">
                <a:solidFill>
                  <a:srgbClr val="000000"/>
                </a:solidFill>
                <a:latin typeface="Cambria Math"/>
                <a:cs typeface="Cambria Math"/>
              </a:rPr>
              <a:t>…</a:t>
            </a:r>
            <a:endParaRPr sz="3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445647" y="4360004"/>
            <a:ext cx="4819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700" spc="-85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700" spc="0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180774" y="5134355"/>
            <a:ext cx="38703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Arial"/>
                <a:cs typeface="Arial"/>
              </a:rPr>
              <a:t>ID-GNN: 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At a given </a:t>
            </a:r>
            <a:r>
              <a:rPr dirty="0" sz="2000" spc="-20">
                <a:solidFill>
                  <a:srgbClr val="C00000"/>
                </a:solidFill>
                <a:latin typeface="Arial"/>
                <a:cs typeface="Arial"/>
              </a:rPr>
              <a:t>layer,</a:t>
            </a:r>
            <a:r>
              <a:rPr dirty="0" sz="2000" spc="-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different  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message/aggregation to 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nodes  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with </a:t>
            </a: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different</a:t>
            </a:r>
            <a:r>
              <a:rPr dirty="0" sz="2000" spc="-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colorings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950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376159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25"/>
              <a:t>Why </a:t>
            </a:r>
            <a:r>
              <a:rPr dirty="0" spc="-5"/>
              <a:t>does </a:t>
            </a:r>
            <a:r>
              <a:rPr dirty="0" spc="-15"/>
              <a:t>heterogenous </a:t>
            </a:r>
            <a:r>
              <a:rPr dirty="0" spc="-10"/>
              <a:t>message </a:t>
            </a:r>
            <a:r>
              <a:rPr dirty="0" spc="-5"/>
              <a:t>passing</a:t>
            </a:r>
            <a:r>
              <a:rPr dirty="0" spc="50"/>
              <a:t> </a:t>
            </a:r>
            <a:r>
              <a:rPr dirty="0" spc="-10"/>
              <a:t>work: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55723"/>
            <a:ext cx="7616825" cy="15621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385445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Suppose </a:t>
            </a:r>
            <a:r>
              <a:rPr dirty="0" sz="2400" spc="-15">
                <a:latin typeface="Calibri"/>
                <a:cs typeface="Calibri"/>
              </a:rPr>
              <a:t>two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40">
                <a:latin typeface="Cambria Math"/>
                <a:cs typeface="Cambria Math"/>
              </a:rPr>
              <a:t>𝑣</a:t>
            </a:r>
            <a:r>
              <a:rPr dirty="0" baseline="-15432" sz="2700" spc="-60">
                <a:latin typeface="Cambria Math"/>
                <a:cs typeface="Cambria Math"/>
              </a:rPr>
              <a:t>#</a:t>
            </a:r>
            <a:r>
              <a:rPr dirty="0" sz="2400" spc="-40">
                <a:latin typeface="Cambria Math"/>
                <a:cs typeface="Cambria Math"/>
              </a:rPr>
              <a:t>, </a:t>
            </a:r>
            <a:r>
              <a:rPr dirty="0" sz="2400" spc="50">
                <a:latin typeface="Cambria Math"/>
                <a:cs typeface="Cambria Math"/>
              </a:rPr>
              <a:t>𝑣</a:t>
            </a:r>
            <a:r>
              <a:rPr dirty="0" baseline="-15432" sz="2700" spc="75">
                <a:latin typeface="Cambria Math"/>
                <a:cs typeface="Cambria Math"/>
              </a:rPr>
              <a:t>$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the same </a:t>
            </a:r>
            <a:r>
              <a:rPr dirty="0" sz="2400" spc="-35">
                <a:solidFill>
                  <a:srgbClr val="0070C0"/>
                </a:solidFill>
                <a:latin typeface="Calibri"/>
                <a:cs typeface="Calibri"/>
              </a:rPr>
              <a:t>computational  </a:t>
            </a:r>
            <a:r>
              <a:rPr dirty="0" sz="2400" spc="-15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structure</a:t>
            </a:r>
            <a:r>
              <a:rPr dirty="0" sz="2400" spc="-10">
                <a:latin typeface="Calibri"/>
                <a:cs typeface="Calibri"/>
              </a:rPr>
              <a:t>,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but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have different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400" spc="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colorings</a:t>
            </a:r>
            <a:endParaRPr sz="2400">
              <a:latin typeface="Calibri"/>
              <a:cs typeface="Calibri"/>
            </a:endParaRPr>
          </a:p>
          <a:p>
            <a:pPr marL="287020" marR="5080" indent="-274320">
              <a:lnSpc>
                <a:spcPct val="1008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Since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5">
                <a:latin typeface="Calibri"/>
                <a:cs typeface="Calibri"/>
              </a:rPr>
              <a:t>will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apply </a:t>
            </a:r>
            <a:r>
              <a:rPr dirty="0" sz="2400" spc="-20">
                <a:solidFill>
                  <a:srgbClr val="0070C0"/>
                </a:solidFill>
                <a:latin typeface="Calibri"/>
                <a:cs typeface="Calibri"/>
              </a:rPr>
              <a:t>different </a:t>
            </a: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neural network </a:t>
            </a:r>
            <a:r>
              <a:rPr dirty="0" sz="2400" spc="-20">
                <a:solidFill>
                  <a:srgbClr val="0070C0"/>
                </a:solidFill>
                <a:latin typeface="Calibri"/>
                <a:cs typeface="Calibri"/>
              </a:rPr>
              <a:t>for </a:t>
            </a:r>
            <a:r>
              <a:rPr dirty="0" sz="2400" spc="-50">
                <a:solidFill>
                  <a:srgbClr val="0070C0"/>
                </a:solidFill>
                <a:latin typeface="Calibri"/>
                <a:cs typeface="Calibri"/>
              </a:rPr>
              <a:t>embedding  </a:t>
            </a: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computation</a:t>
            </a:r>
            <a:r>
              <a:rPr dirty="0" sz="2400" spc="-10">
                <a:latin typeface="Calibri"/>
                <a:cs typeface="Calibri"/>
              </a:rPr>
              <a:t>,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their embeddings will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dirty="0" sz="24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0030" y="517750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4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95283" y="517750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4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03491" y="468974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4" h="311785">
                <a:moveTo>
                  <a:pt x="155832" y="0"/>
                </a:moveTo>
                <a:lnTo>
                  <a:pt x="106577" y="7944"/>
                </a:lnTo>
                <a:lnTo>
                  <a:pt x="63799" y="30066"/>
                </a:lnTo>
                <a:lnTo>
                  <a:pt x="30066" y="63799"/>
                </a:lnTo>
                <a:lnTo>
                  <a:pt x="7944" y="106576"/>
                </a:lnTo>
                <a:lnTo>
                  <a:pt x="0" y="155831"/>
                </a:lnTo>
                <a:lnTo>
                  <a:pt x="7944" y="205086"/>
                </a:lnTo>
                <a:lnTo>
                  <a:pt x="30066" y="247863"/>
                </a:lnTo>
                <a:lnTo>
                  <a:pt x="63799" y="281596"/>
                </a:lnTo>
                <a:lnTo>
                  <a:pt x="106577" y="303718"/>
                </a:lnTo>
                <a:lnTo>
                  <a:pt x="155832" y="311663"/>
                </a:lnTo>
                <a:lnTo>
                  <a:pt x="205086" y="303718"/>
                </a:lnTo>
                <a:lnTo>
                  <a:pt x="247864" y="281596"/>
                </a:lnTo>
                <a:lnTo>
                  <a:pt x="281597" y="247863"/>
                </a:lnTo>
                <a:lnTo>
                  <a:pt x="303719" y="205086"/>
                </a:lnTo>
                <a:lnTo>
                  <a:pt x="311663" y="155831"/>
                </a:lnTo>
                <a:lnTo>
                  <a:pt x="303719" y="106576"/>
                </a:lnTo>
                <a:lnTo>
                  <a:pt x="281597" y="63799"/>
                </a:lnTo>
                <a:lnTo>
                  <a:pt x="247864" y="30066"/>
                </a:lnTo>
                <a:lnTo>
                  <a:pt x="205086" y="7944"/>
                </a:lnTo>
                <a:lnTo>
                  <a:pt x="155832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03491" y="468974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4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51044" y="517750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36297" y="517750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44506" y="468974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80538" y="517750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65791" y="517750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73998" y="468974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21551" y="517750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06804" y="517750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15011" y="468974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155832" y="0"/>
                </a:moveTo>
                <a:lnTo>
                  <a:pt x="106577" y="7944"/>
                </a:lnTo>
                <a:lnTo>
                  <a:pt x="63799" y="30066"/>
                </a:lnTo>
                <a:lnTo>
                  <a:pt x="30066" y="63799"/>
                </a:lnTo>
                <a:lnTo>
                  <a:pt x="7944" y="106576"/>
                </a:lnTo>
                <a:lnTo>
                  <a:pt x="0" y="155831"/>
                </a:lnTo>
                <a:lnTo>
                  <a:pt x="7944" y="205086"/>
                </a:lnTo>
                <a:lnTo>
                  <a:pt x="30066" y="247863"/>
                </a:lnTo>
                <a:lnTo>
                  <a:pt x="63799" y="281596"/>
                </a:lnTo>
                <a:lnTo>
                  <a:pt x="106577" y="303718"/>
                </a:lnTo>
                <a:lnTo>
                  <a:pt x="155832" y="311663"/>
                </a:lnTo>
                <a:lnTo>
                  <a:pt x="205087" y="303718"/>
                </a:lnTo>
                <a:lnTo>
                  <a:pt x="247864" y="281596"/>
                </a:lnTo>
                <a:lnTo>
                  <a:pt x="281597" y="247863"/>
                </a:lnTo>
                <a:lnTo>
                  <a:pt x="303719" y="205086"/>
                </a:lnTo>
                <a:lnTo>
                  <a:pt x="311664" y="155831"/>
                </a:lnTo>
                <a:lnTo>
                  <a:pt x="303719" y="106576"/>
                </a:lnTo>
                <a:lnTo>
                  <a:pt x="281597" y="63799"/>
                </a:lnTo>
                <a:lnTo>
                  <a:pt x="247864" y="30066"/>
                </a:lnTo>
                <a:lnTo>
                  <a:pt x="205087" y="7944"/>
                </a:lnTo>
                <a:lnTo>
                  <a:pt x="155832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15011" y="468974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91906" y="4228302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4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30183" y="422532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60357" y="381782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155831" y="0"/>
                </a:moveTo>
                <a:lnTo>
                  <a:pt x="106576" y="7944"/>
                </a:lnTo>
                <a:lnTo>
                  <a:pt x="63799" y="30066"/>
                </a:lnTo>
                <a:lnTo>
                  <a:pt x="30066" y="63799"/>
                </a:lnTo>
                <a:lnTo>
                  <a:pt x="7944" y="106577"/>
                </a:lnTo>
                <a:lnTo>
                  <a:pt x="0" y="155832"/>
                </a:lnTo>
                <a:lnTo>
                  <a:pt x="7944" y="205087"/>
                </a:lnTo>
                <a:lnTo>
                  <a:pt x="30066" y="247864"/>
                </a:lnTo>
                <a:lnTo>
                  <a:pt x="63799" y="281597"/>
                </a:lnTo>
                <a:lnTo>
                  <a:pt x="106576" y="303719"/>
                </a:lnTo>
                <a:lnTo>
                  <a:pt x="155831" y="311664"/>
                </a:lnTo>
                <a:lnTo>
                  <a:pt x="205086" y="303719"/>
                </a:lnTo>
                <a:lnTo>
                  <a:pt x="247864" y="281597"/>
                </a:lnTo>
                <a:lnTo>
                  <a:pt x="281597" y="247864"/>
                </a:lnTo>
                <a:lnTo>
                  <a:pt x="303719" y="205087"/>
                </a:lnTo>
                <a:lnTo>
                  <a:pt x="311664" y="155832"/>
                </a:lnTo>
                <a:lnTo>
                  <a:pt x="303719" y="106577"/>
                </a:lnTo>
                <a:lnTo>
                  <a:pt x="281597" y="63799"/>
                </a:lnTo>
                <a:lnTo>
                  <a:pt x="247864" y="30066"/>
                </a:lnTo>
                <a:lnTo>
                  <a:pt x="205086" y="7944"/>
                </a:lnTo>
                <a:lnTo>
                  <a:pt x="155831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60357" y="3817824"/>
            <a:ext cx="311785" cy="311785"/>
          </a:xfrm>
          <a:custGeom>
            <a:avLst/>
            <a:gdLst/>
            <a:ahLst/>
            <a:cxnLst/>
            <a:rect l="l" t="t" r="r" b="b"/>
            <a:pathLst>
              <a:path w="311785" h="311785">
                <a:moveTo>
                  <a:pt x="0" y="155832"/>
                </a:moveTo>
                <a:lnTo>
                  <a:pt x="7944" y="106577"/>
                </a:lnTo>
                <a:lnTo>
                  <a:pt x="30066" y="63799"/>
                </a:lnTo>
                <a:lnTo>
                  <a:pt x="63799" y="30066"/>
                </a:lnTo>
                <a:lnTo>
                  <a:pt x="106577" y="7944"/>
                </a:lnTo>
                <a:lnTo>
                  <a:pt x="155832" y="0"/>
                </a:lnTo>
                <a:lnTo>
                  <a:pt x="205086" y="7944"/>
                </a:lnTo>
                <a:lnTo>
                  <a:pt x="247864" y="30066"/>
                </a:lnTo>
                <a:lnTo>
                  <a:pt x="281597" y="63799"/>
                </a:lnTo>
                <a:lnTo>
                  <a:pt x="303719" y="106577"/>
                </a:lnTo>
                <a:lnTo>
                  <a:pt x="311664" y="155832"/>
                </a:lnTo>
                <a:lnTo>
                  <a:pt x="303719" y="205086"/>
                </a:lnTo>
                <a:lnTo>
                  <a:pt x="281597" y="247864"/>
                </a:lnTo>
                <a:lnTo>
                  <a:pt x="247864" y="281597"/>
                </a:lnTo>
                <a:lnTo>
                  <a:pt x="205086" y="303719"/>
                </a:lnTo>
                <a:lnTo>
                  <a:pt x="155832" y="311664"/>
                </a:lnTo>
                <a:lnTo>
                  <a:pt x="106577" y="303719"/>
                </a:lnTo>
                <a:lnTo>
                  <a:pt x="63799" y="281597"/>
                </a:lnTo>
                <a:lnTo>
                  <a:pt x="30066" y="247864"/>
                </a:lnTo>
                <a:lnTo>
                  <a:pt x="7944" y="205086"/>
                </a:lnTo>
                <a:lnTo>
                  <a:pt x="0" y="15583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112495" y="3788155"/>
            <a:ext cx="237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Cambria Math"/>
                <a:cs typeface="Cambria Math"/>
              </a:rPr>
              <a:t>𝑣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57930" y="4083845"/>
            <a:ext cx="548640" cy="190500"/>
          </a:xfrm>
          <a:custGeom>
            <a:avLst/>
            <a:gdLst/>
            <a:ahLst/>
            <a:cxnLst/>
            <a:rect l="l" t="t" r="r" b="b"/>
            <a:pathLst>
              <a:path w="548639" h="190500">
                <a:moveTo>
                  <a:pt x="0" y="190097"/>
                </a:moveTo>
                <a:lnTo>
                  <a:pt x="54807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26380" y="4083846"/>
            <a:ext cx="549910" cy="187325"/>
          </a:xfrm>
          <a:custGeom>
            <a:avLst/>
            <a:gdLst/>
            <a:ahLst/>
            <a:cxnLst/>
            <a:rect l="l" t="t" r="r" b="b"/>
            <a:pathLst>
              <a:path w="549910" h="187325">
                <a:moveTo>
                  <a:pt x="0" y="0"/>
                </a:moveTo>
                <a:lnTo>
                  <a:pt x="549444" y="18712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59324" y="4494324"/>
            <a:ext cx="278765" cy="195580"/>
          </a:xfrm>
          <a:custGeom>
            <a:avLst/>
            <a:gdLst/>
            <a:ahLst/>
            <a:cxnLst/>
            <a:rect l="l" t="t" r="r" b="b"/>
            <a:pathLst>
              <a:path w="278765" h="195579">
                <a:moveTo>
                  <a:pt x="278224" y="0"/>
                </a:moveTo>
                <a:lnTo>
                  <a:pt x="0" y="19541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57930" y="4494324"/>
            <a:ext cx="272415" cy="195580"/>
          </a:xfrm>
          <a:custGeom>
            <a:avLst/>
            <a:gdLst/>
            <a:ahLst/>
            <a:cxnLst/>
            <a:rect l="l" t="t" r="r" b="b"/>
            <a:pathLst>
              <a:path w="272414" h="195579">
                <a:moveTo>
                  <a:pt x="0" y="0"/>
                </a:moveTo>
                <a:lnTo>
                  <a:pt x="271903" y="19541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00338" y="4491347"/>
            <a:ext cx="275590" cy="198755"/>
          </a:xfrm>
          <a:custGeom>
            <a:avLst/>
            <a:gdLst/>
            <a:ahLst/>
            <a:cxnLst/>
            <a:rect l="l" t="t" r="r" b="b"/>
            <a:pathLst>
              <a:path w="275589" h="198754">
                <a:moveTo>
                  <a:pt x="275488" y="0"/>
                </a:moveTo>
                <a:lnTo>
                  <a:pt x="0" y="1983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96205" y="4491347"/>
            <a:ext cx="274955" cy="198755"/>
          </a:xfrm>
          <a:custGeom>
            <a:avLst/>
            <a:gdLst/>
            <a:ahLst/>
            <a:cxnLst/>
            <a:rect l="l" t="t" r="r" b="b"/>
            <a:pathLst>
              <a:path w="274954" h="198754">
                <a:moveTo>
                  <a:pt x="0" y="0"/>
                </a:moveTo>
                <a:lnTo>
                  <a:pt x="274638" y="19839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65864" y="4955766"/>
            <a:ext cx="83820" cy="222250"/>
          </a:xfrm>
          <a:custGeom>
            <a:avLst/>
            <a:gdLst/>
            <a:ahLst/>
            <a:cxnLst/>
            <a:rect l="l" t="t" r="r" b="b"/>
            <a:pathLst>
              <a:path w="83819" h="222250">
                <a:moveTo>
                  <a:pt x="83271" y="0"/>
                </a:moveTo>
                <a:lnTo>
                  <a:pt x="0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69515" y="4955766"/>
            <a:ext cx="81915" cy="222250"/>
          </a:xfrm>
          <a:custGeom>
            <a:avLst/>
            <a:gdLst/>
            <a:ahLst/>
            <a:cxnLst/>
            <a:rect l="l" t="t" r="r" b="b"/>
            <a:pathLst>
              <a:path w="81915" h="222250">
                <a:moveTo>
                  <a:pt x="0" y="0"/>
                </a:moveTo>
                <a:lnTo>
                  <a:pt x="81602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636369" y="4955766"/>
            <a:ext cx="83820" cy="222250"/>
          </a:xfrm>
          <a:custGeom>
            <a:avLst/>
            <a:gdLst/>
            <a:ahLst/>
            <a:cxnLst/>
            <a:rect l="l" t="t" r="r" b="b"/>
            <a:pathLst>
              <a:path w="83819" h="222250">
                <a:moveTo>
                  <a:pt x="83271" y="0"/>
                </a:moveTo>
                <a:lnTo>
                  <a:pt x="0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940021" y="4955766"/>
            <a:ext cx="81915" cy="222250"/>
          </a:xfrm>
          <a:custGeom>
            <a:avLst/>
            <a:gdLst/>
            <a:ahLst/>
            <a:cxnLst/>
            <a:rect l="l" t="t" r="r" b="b"/>
            <a:pathLst>
              <a:path w="81914" h="222250">
                <a:moveTo>
                  <a:pt x="0" y="0"/>
                </a:moveTo>
                <a:lnTo>
                  <a:pt x="81602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406876" y="4955766"/>
            <a:ext cx="83820" cy="222250"/>
          </a:xfrm>
          <a:custGeom>
            <a:avLst/>
            <a:gdLst/>
            <a:ahLst/>
            <a:cxnLst/>
            <a:rect l="l" t="t" r="r" b="b"/>
            <a:pathLst>
              <a:path w="83819" h="222250">
                <a:moveTo>
                  <a:pt x="83271" y="0"/>
                </a:moveTo>
                <a:lnTo>
                  <a:pt x="0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710529" y="4955766"/>
            <a:ext cx="81915" cy="222250"/>
          </a:xfrm>
          <a:custGeom>
            <a:avLst/>
            <a:gdLst/>
            <a:ahLst/>
            <a:cxnLst/>
            <a:rect l="l" t="t" r="r" b="b"/>
            <a:pathLst>
              <a:path w="81914" h="222250">
                <a:moveTo>
                  <a:pt x="0" y="0"/>
                </a:moveTo>
                <a:lnTo>
                  <a:pt x="81602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177384" y="4955766"/>
            <a:ext cx="83820" cy="222250"/>
          </a:xfrm>
          <a:custGeom>
            <a:avLst/>
            <a:gdLst/>
            <a:ahLst/>
            <a:cxnLst/>
            <a:rect l="l" t="t" r="r" b="b"/>
            <a:pathLst>
              <a:path w="83820" h="222250">
                <a:moveTo>
                  <a:pt x="83271" y="0"/>
                </a:moveTo>
                <a:lnTo>
                  <a:pt x="0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481035" y="4955766"/>
            <a:ext cx="81915" cy="222250"/>
          </a:xfrm>
          <a:custGeom>
            <a:avLst/>
            <a:gdLst/>
            <a:ahLst/>
            <a:cxnLst/>
            <a:rect l="l" t="t" r="r" b="b"/>
            <a:pathLst>
              <a:path w="81914" h="222250">
                <a:moveTo>
                  <a:pt x="0" y="0"/>
                </a:moveTo>
                <a:lnTo>
                  <a:pt x="81602" y="22173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514420" y="6119259"/>
            <a:ext cx="1380490" cy="434340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484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Neural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Net</a:t>
            </a:r>
            <a:r>
              <a:rPr dirty="0" sz="1800" spc="-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65862" y="5486054"/>
            <a:ext cx="1377315" cy="639445"/>
          </a:xfrm>
          <a:custGeom>
            <a:avLst/>
            <a:gdLst/>
            <a:ahLst/>
            <a:cxnLst/>
            <a:rect l="l" t="t" r="r" b="b"/>
            <a:pathLst>
              <a:path w="1377314" h="639445">
                <a:moveTo>
                  <a:pt x="85137" y="0"/>
                </a:moveTo>
                <a:lnTo>
                  <a:pt x="0" y="3112"/>
                </a:lnTo>
                <a:lnTo>
                  <a:pt x="53572" y="69354"/>
                </a:lnTo>
                <a:lnTo>
                  <a:pt x="64094" y="46236"/>
                </a:lnTo>
                <a:lnTo>
                  <a:pt x="52536" y="40976"/>
                </a:lnTo>
                <a:lnTo>
                  <a:pt x="63058" y="17858"/>
                </a:lnTo>
                <a:lnTo>
                  <a:pt x="77009" y="17858"/>
                </a:lnTo>
                <a:lnTo>
                  <a:pt x="85137" y="0"/>
                </a:lnTo>
                <a:close/>
              </a:path>
              <a:path w="1377314" h="639445">
                <a:moveTo>
                  <a:pt x="74615" y="23118"/>
                </a:moveTo>
                <a:lnTo>
                  <a:pt x="64094" y="46236"/>
                </a:lnTo>
                <a:lnTo>
                  <a:pt x="75654" y="51498"/>
                </a:lnTo>
                <a:lnTo>
                  <a:pt x="86176" y="28379"/>
                </a:lnTo>
                <a:lnTo>
                  <a:pt x="74615" y="23118"/>
                </a:lnTo>
                <a:close/>
              </a:path>
              <a:path w="1377314" h="639445">
                <a:moveTo>
                  <a:pt x="63058" y="17858"/>
                </a:moveTo>
                <a:lnTo>
                  <a:pt x="52536" y="40976"/>
                </a:lnTo>
                <a:lnTo>
                  <a:pt x="64094" y="46236"/>
                </a:lnTo>
                <a:lnTo>
                  <a:pt x="74615" y="23118"/>
                </a:lnTo>
                <a:lnTo>
                  <a:pt x="63058" y="17858"/>
                </a:lnTo>
                <a:close/>
              </a:path>
              <a:path w="1377314" h="639445">
                <a:moveTo>
                  <a:pt x="77009" y="17858"/>
                </a:moveTo>
                <a:lnTo>
                  <a:pt x="63058" y="17858"/>
                </a:lnTo>
                <a:lnTo>
                  <a:pt x="74615" y="23118"/>
                </a:lnTo>
                <a:lnTo>
                  <a:pt x="77009" y="17858"/>
                </a:lnTo>
                <a:close/>
              </a:path>
              <a:path w="1377314" h="639445">
                <a:moveTo>
                  <a:pt x="109294" y="38901"/>
                </a:moveTo>
                <a:lnTo>
                  <a:pt x="98773" y="62019"/>
                </a:lnTo>
                <a:lnTo>
                  <a:pt x="121891" y="72541"/>
                </a:lnTo>
                <a:lnTo>
                  <a:pt x="132412" y="49423"/>
                </a:lnTo>
                <a:lnTo>
                  <a:pt x="109294" y="38901"/>
                </a:lnTo>
                <a:close/>
              </a:path>
              <a:path w="1377314" h="639445">
                <a:moveTo>
                  <a:pt x="155531" y="59943"/>
                </a:moveTo>
                <a:lnTo>
                  <a:pt x="145009" y="83063"/>
                </a:lnTo>
                <a:lnTo>
                  <a:pt x="168128" y="93583"/>
                </a:lnTo>
                <a:lnTo>
                  <a:pt x="178649" y="70465"/>
                </a:lnTo>
                <a:lnTo>
                  <a:pt x="155531" y="59943"/>
                </a:lnTo>
                <a:close/>
              </a:path>
              <a:path w="1377314" h="639445">
                <a:moveTo>
                  <a:pt x="201768" y="80987"/>
                </a:moveTo>
                <a:lnTo>
                  <a:pt x="191246" y="104105"/>
                </a:lnTo>
                <a:lnTo>
                  <a:pt x="214364" y="114627"/>
                </a:lnTo>
                <a:lnTo>
                  <a:pt x="224886" y="91508"/>
                </a:lnTo>
                <a:lnTo>
                  <a:pt x="201768" y="80987"/>
                </a:lnTo>
                <a:close/>
              </a:path>
              <a:path w="1377314" h="639445">
                <a:moveTo>
                  <a:pt x="248004" y="102030"/>
                </a:moveTo>
                <a:lnTo>
                  <a:pt x="237483" y="125148"/>
                </a:lnTo>
                <a:lnTo>
                  <a:pt x="260601" y="135670"/>
                </a:lnTo>
                <a:lnTo>
                  <a:pt x="271123" y="112552"/>
                </a:lnTo>
                <a:lnTo>
                  <a:pt x="248004" y="102030"/>
                </a:lnTo>
                <a:close/>
              </a:path>
              <a:path w="1377314" h="639445">
                <a:moveTo>
                  <a:pt x="294241" y="123073"/>
                </a:moveTo>
                <a:lnTo>
                  <a:pt x="283719" y="146191"/>
                </a:lnTo>
                <a:lnTo>
                  <a:pt x="306838" y="156713"/>
                </a:lnTo>
                <a:lnTo>
                  <a:pt x="317359" y="133595"/>
                </a:lnTo>
                <a:lnTo>
                  <a:pt x="294241" y="123073"/>
                </a:lnTo>
                <a:close/>
              </a:path>
              <a:path w="1377314" h="639445">
                <a:moveTo>
                  <a:pt x="340478" y="144116"/>
                </a:moveTo>
                <a:lnTo>
                  <a:pt x="329956" y="167234"/>
                </a:lnTo>
                <a:lnTo>
                  <a:pt x="353074" y="177756"/>
                </a:lnTo>
                <a:lnTo>
                  <a:pt x="363596" y="154638"/>
                </a:lnTo>
                <a:lnTo>
                  <a:pt x="340478" y="144116"/>
                </a:lnTo>
                <a:close/>
              </a:path>
              <a:path w="1377314" h="639445">
                <a:moveTo>
                  <a:pt x="386714" y="165159"/>
                </a:moveTo>
                <a:lnTo>
                  <a:pt x="376193" y="188278"/>
                </a:lnTo>
                <a:lnTo>
                  <a:pt x="399311" y="198799"/>
                </a:lnTo>
                <a:lnTo>
                  <a:pt x="409833" y="175681"/>
                </a:lnTo>
                <a:lnTo>
                  <a:pt x="386714" y="165159"/>
                </a:lnTo>
                <a:close/>
              </a:path>
              <a:path w="1377314" h="639445">
                <a:moveTo>
                  <a:pt x="432950" y="186202"/>
                </a:moveTo>
                <a:lnTo>
                  <a:pt x="422430" y="209321"/>
                </a:lnTo>
                <a:lnTo>
                  <a:pt x="445548" y="219842"/>
                </a:lnTo>
                <a:lnTo>
                  <a:pt x="456069" y="196724"/>
                </a:lnTo>
                <a:lnTo>
                  <a:pt x="432950" y="186202"/>
                </a:lnTo>
                <a:close/>
              </a:path>
              <a:path w="1377314" h="639445">
                <a:moveTo>
                  <a:pt x="479187" y="207245"/>
                </a:moveTo>
                <a:lnTo>
                  <a:pt x="468667" y="230364"/>
                </a:lnTo>
                <a:lnTo>
                  <a:pt x="491784" y="240885"/>
                </a:lnTo>
                <a:lnTo>
                  <a:pt x="502306" y="217767"/>
                </a:lnTo>
                <a:lnTo>
                  <a:pt x="479187" y="207245"/>
                </a:lnTo>
                <a:close/>
              </a:path>
              <a:path w="1377314" h="639445">
                <a:moveTo>
                  <a:pt x="525424" y="228288"/>
                </a:moveTo>
                <a:lnTo>
                  <a:pt x="514903" y="251407"/>
                </a:lnTo>
                <a:lnTo>
                  <a:pt x="538021" y="261928"/>
                </a:lnTo>
                <a:lnTo>
                  <a:pt x="548543" y="238810"/>
                </a:lnTo>
                <a:lnTo>
                  <a:pt x="525424" y="228288"/>
                </a:lnTo>
                <a:close/>
              </a:path>
              <a:path w="1377314" h="639445">
                <a:moveTo>
                  <a:pt x="571661" y="249331"/>
                </a:moveTo>
                <a:lnTo>
                  <a:pt x="561139" y="272450"/>
                </a:lnTo>
                <a:lnTo>
                  <a:pt x="584258" y="282971"/>
                </a:lnTo>
                <a:lnTo>
                  <a:pt x="594779" y="259853"/>
                </a:lnTo>
                <a:lnTo>
                  <a:pt x="571661" y="249331"/>
                </a:lnTo>
                <a:close/>
              </a:path>
              <a:path w="1377314" h="639445">
                <a:moveTo>
                  <a:pt x="617898" y="270374"/>
                </a:moveTo>
                <a:lnTo>
                  <a:pt x="607376" y="293493"/>
                </a:lnTo>
                <a:lnTo>
                  <a:pt x="630494" y="304014"/>
                </a:lnTo>
                <a:lnTo>
                  <a:pt x="641016" y="280896"/>
                </a:lnTo>
                <a:lnTo>
                  <a:pt x="617898" y="270374"/>
                </a:lnTo>
                <a:close/>
              </a:path>
              <a:path w="1377314" h="639445">
                <a:moveTo>
                  <a:pt x="664135" y="291418"/>
                </a:moveTo>
                <a:lnTo>
                  <a:pt x="653613" y="314536"/>
                </a:lnTo>
                <a:lnTo>
                  <a:pt x="676731" y="325057"/>
                </a:lnTo>
                <a:lnTo>
                  <a:pt x="687253" y="301939"/>
                </a:lnTo>
                <a:lnTo>
                  <a:pt x="664135" y="291418"/>
                </a:lnTo>
                <a:close/>
              </a:path>
              <a:path w="1377314" h="639445">
                <a:moveTo>
                  <a:pt x="710370" y="312461"/>
                </a:moveTo>
                <a:lnTo>
                  <a:pt x="699850" y="335579"/>
                </a:lnTo>
                <a:lnTo>
                  <a:pt x="722968" y="346101"/>
                </a:lnTo>
                <a:lnTo>
                  <a:pt x="733490" y="322982"/>
                </a:lnTo>
                <a:lnTo>
                  <a:pt x="710370" y="312461"/>
                </a:lnTo>
                <a:close/>
              </a:path>
              <a:path w="1377314" h="639445">
                <a:moveTo>
                  <a:pt x="756607" y="333504"/>
                </a:moveTo>
                <a:lnTo>
                  <a:pt x="746087" y="356622"/>
                </a:lnTo>
                <a:lnTo>
                  <a:pt x="769204" y="367144"/>
                </a:lnTo>
                <a:lnTo>
                  <a:pt x="779726" y="344025"/>
                </a:lnTo>
                <a:lnTo>
                  <a:pt x="756607" y="333504"/>
                </a:lnTo>
                <a:close/>
              </a:path>
              <a:path w="1377314" h="639445">
                <a:moveTo>
                  <a:pt x="802844" y="354547"/>
                </a:moveTo>
                <a:lnTo>
                  <a:pt x="792322" y="377665"/>
                </a:lnTo>
                <a:lnTo>
                  <a:pt x="815441" y="388187"/>
                </a:lnTo>
                <a:lnTo>
                  <a:pt x="825962" y="365068"/>
                </a:lnTo>
                <a:lnTo>
                  <a:pt x="802844" y="354547"/>
                </a:lnTo>
                <a:close/>
              </a:path>
              <a:path w="1377314" h="639445">
                <a:moveTo>
                  <a:pt x="849081" y="375590"/>
                </a:moveTo>
                <a:lnTo>
                  <a:pt x="838559" y="398708"/>
                </a:lnTo>
                <a:lnTo>
                  <a:pt x="861678" y="409230"/>
                </a:lnTo>
                <a:lnTo>
                  <a:pt x="872199" y="386111"/>
                </a:lnTo>
                <a:lnTo>
                  <a:pt x="849081" y="375590"/>
                </a:lnTo>
                <a:close/>
              </a:path>
              <a:path w="1377314" h="639445">
                <a:moveTo>
                  <a:pt x="895318" y="396633"/>
                </a:moveTo>
                <a:lnTo>
                  <a:pt x="884796" y="419751"/>
                </a:lnTo>
                <a:lnTo>
                  <a:pt x="907915" y="430273"/>
                </a:lnTo>
                <a:lnTo>
                  <a:pt x="918436" y="407154"/>
                </a:lnTo>
                <a:lnTo>
                  <a:pt x="895318" y="396633"/>
                </a:lnTo>
                <a:close/>
              </a:path>
              <a:path w="1377314" h="639445">
                <a:moveTo>
                  <a:pt x="941555" y="417676"/>
                </a:moveTo>
                <a:lnTo>
                  <a:pt x="931033" y="440794"/>
                </a:lnTo>
                <a:lnTo>
                  <a:pt x="954151" y="451316"/>
                </a:lnTo>
                <a:lnTo>
                  <a:pt x="964673" y="428198"/>
                </a:lnTo>
                <a:lnTo>
                  <a:pt x="941555" y="417676"/>
                </a:lnTo>
                <a:close/>
              </a:path>
              <a:path w="1377314" h="639445">
                <a:moveTo>
                  <a:pt x="987791" y="438719"/>
                </a:moveTo>
                <a:lnTo>
                  <a:pt x="977270" y="461837"/>
                </a:lnTo>
                <a:lnTo>
                  <a:pt x="1000388" y="472359"/>
                </a:lnTo>
                <a:lnTo>
                  <a:pt x="1010910" y="449241"/>
                </a:lnTo>
                <a:lnTo>
                  <a:pt x="987791" y="438719"/>
                </a:lnTo>
                <a:close/>
              </a:path>
              <a:path w="1377314" h="639445">
                <a:moveTo>
                  <a:pt x="1034027" y="459762"/>
                </a:moveTo>
                <a:lnTo>
                  <a:pt x="1023507" y="482880"/>
                </a:lnTo>
                <a:lnTo>
                  <a:pt x="1046625" y="493402"/>
                </a:lnTo>
                <a:lnTo>
                  <a:pt x="1057146" y="470284"/>
                </a:lnTo>
                <a:lnTo>
                  <a:pt x="1034027" y="459762"/>
                </a:lnTo>
                <a:close/>
              </a:path>
              <a:path w="1377314" h="639445">
                <a:moveTo>
                  <a:pt x="1080264" y="480805"/>
                </a:moveTo>
                <a:lnTo>
                  <a:pt x="1069742" y="503923"/>
                </a:lnTo>
                <a:lnTo>
                  <a:pt x="1092861" y="514445"/>
                </a:lnTo>
                <a:lnTo>
                  <a:pt x="1103383" y="491327"/>
                </a:lnTo>
                <a:lnTo>
                  <a:pt x="1080264" y="480805"/>
                </a:lnTo>
                <a:close/>
              </a:path>
              <a:path w="1377314" h="639445">
                <a:moveTo>
                  <a:pt x="1126501" y="501848"/>
                </a:moveTo>
                <a:lnTo>
                  <a:pt x="1115979" y="524966"/>
                </a:lnTo>
                <a:lnTo>
                  <a:pt x="1139098" y="535488"/>
                </a:lnTo>
                <a:lnTo>
                  <a:pt x="1149619" y="512370"/>
                </a:lnTo>
                <a:lnTo>
                  <a:pt x="1126501" y="501848"/>
                </a:lnTo>
                <a:close/>
              </a:path>
              <a:path w="1377314" h="639445">
                <a:moveTo>
                  <a:pt x="1172738" y="522891"/>
                </a:moveTo>
                <a:lnTo>
                  <a:pt x="1162216" y="546009"/>
                </a:lnTo>
                <a:lnTo>
                  <a:pt x="1185335" y="556531"/>
                </a:lnTo>
                <a:lnTo>
                  <a:pt x="1195856" y="533413"/>
                </a:lnTo>
                <a:lnTo>
                  <a:pt x="1172738" y="522891"/>
                </a:lnTo>
                <a:close/>
              </a:path>
              <a:path w="1377314" h="639445">
                <a:moveTo>
                  <a:pt x="1218975" y="543934"/>
                </a:moveTo>
                <a:lnTo>
                  <a:pt x="1208453" y="567052"/>
                </a:lnTo>
                <a:lnTo>
                  <a:pt x="1231572" y="577574"/>
                </a:lnTo>
                <a:lnTo>
                  <a:pt x="1242093" y="554456"/>
                </a:lnTo>
                <a:lnTo>
                  <a:pt x="1218975" y="543934"/>
                </a:lnTo>
                <a:close/>
              </a:path>
              <a:path w="1377314" h="639445">
                <a:moveTo>
                  <a:pt x="1265212" y="564977"/>
                </a:moveTo>
                <a:lnTo>
                  <a:pt x="1254690" y="588095"/>
                </a:lnTo>
                <a:lnTo>
                  <a:pt x="1277808" y="598617"/>
                </a:lnTo>
                <a:lnTo>
                  <a:pt x="1288330" y="575499"/>
                </a:lnTo>
                <a:lnTo>
                  <a:pt x="1265212" y="564977"/>
                </a:lnTo>
                <a:close/>
              </a:path>
              <a:path w="1377314" h="639445">
                <a:moveTo>
                  <a:pt x="1311447" y="586020"/>
                </a:moveTo>
                <a:lnTo>
                  <a:pt x="1300927" y="609138"/>
                </a:lnTo>
                <a:lnTo>
                  <a:pt x="1324045" y="619660"/>
                </a:lnTo>
                <a:lnTo>
                  <a:pt x="1334567" y="596542"/>
                </a:lnTo>
                <a:lnTo>
                  <a:pt x="1311447" y="586020"/>
                </a:lnTo>
                <a:close/>
              </a:path>
              <a:path w="1377314" h="639445">
                <a:moveTo>
                  <a:pt x="1357684" y="607063"/>
                </a:moveTo>
                <a:lnTo>
                  <a:pt x="1347162" y="630182"/>
                </a:lnTo>
                <a:lnTo>
                  <a:pt x="1366292" y="638888"/>
                </a:lnTo>
                <a:lnTo>
                  <a:pt x="1376814" y="615769"/>
                </a:lnTo>
                <a:lnTo>
                  <a:pt x="1357684" y="60706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142719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521688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333024" y="4702783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153290" y="0"/>
                </a:moveTo>
                <a:lnTo>
                  <a:pt x="104838" y="7814"/>
                </a:lnTo>
                <a:lnTo>
                  <a:pt x="62759" y="29576"/>
                </a:lnTo>
                <a:lnTo>
                  <a:pt x="29576" y="62759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6" y="243821"/>
                </a:lnTo>
                <a:lnTo>
                  <a:pt x="62759" y="277004"/>
                </a:lnTo>
                <a:lnTo>
                  <a:pt x="104838" y="298765"/>
                </a:lnTo>
                <a:lnTo>
                  <a:pt x="153290" y="306580"/>
                </a:lnTo>
                <a:lnTo>
                  <a:pt x="201741" y="298765"/>
                </a:lnTo>
                <a:lnTo>
                  <a:pt x="243821" y="277004"/>
                </a:lnTo>
                <a:lnTo>
                  <a:pt x="277004" y="243821"/>
                </a:lnTo>
                <a:lnTo>
                  <a:pt x="298765" y="201741"/>
                </a:lnTo>
                <a:lnTo>
                  <a:pt x="306580" y="153290"/>
                </a:lnTo>
                <a:lnTo>
                  <a:pt x="298765" y="104838"/>
                </a:lnTo>
                <a:lnTo>
                  <a:pt x="277004" y="62759"/>
                </a:lnTo>
                <a:lnTo>
                  <a:pt x="243821" y="29576"/>
                </a:lnTo>
                <a:lnTo>
                  <a:pt x="201741" y="7814"/>
                </a:lnTo>
                <a:lnTo>
                  <a:pt x="1532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333024" y="4702783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658595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037565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153288" y="0"/>
                </a:moveTo>
                <a:lnTo>
                  <a:pt x="104837" y="7814"/>
                </a:lnTo>
                <a:lnTo>
                  <a:pt x="62758" y="29575"/>
                </a:lnTo>
                <a:lnTo>
                  <a:pt x="29575" y="62758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5" y="243820"/>
                </a:lnTo>
                <a:lnTo>
                  <a:pt x="62758" y="277003"/>
                </a:lnTo>
                <a:lnTo>
                  <a:pt x="104837" y="298764"/>
                </a:lnTo>
                <a:lnTo>
                  <a:pt x="153288" y="306579"/>
                </a:lnTo>
                <a:lnTo>
                  <a:pt x="201740" y="298764"/>
                </a:lnTo>
                <a:lnTo>
                  <a:pt x="243820" y="277003"/>
                </a:lnTo>
                <a:lnTo>
                  <a:pt x="277003" y="243820"/>
                </a:lnTo>
                <a:lnTo>
                  <a:pt x="298764" y="201741"/>
                </a:lnTo>
                <a:lnTo>
                  <a:pt x="306579" y="153290"/>
                </a:lnTo>
                <a:lnTo>
                  <a:pt x="298764" y="104838"/>
                </a:lnTo>
                <a:lnTo>
                  <a:pt x="277003" y="62758"/>
                </a:lnTo>
                <a:lnTo>
                  <a:pt x="243820" y="29575"/>
                </a:lnTo>
                <a:lnTo>
                  <a:pt x="201740" y="7814"/>
                </a:lnTo>
                <a:lnTo>
                  <a:pt x="153288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037565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848902" y="4702783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900657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153290" y="0"/>
                </a:moveTo>
                <a:lnTo>
                  <a:pt x="104838" y="7814"/>
                </a:lnTo>
                <a:lnTo>
                  <a:pt x="62759" y="29575"/>
                </a:lnTo>
                <a:lnTo>
                  <a:pt x="29576" y="62758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6" y="243820"/>
                </a:lnTo>
                <a:lnTo>
                  <a:pt x="62759" y="277003"/>
                </a:lnTo>
                <a:lnTo>
                  <a:pt x="104838" y="298764"/>
                </a:lnTo>
                <a:lnTo>
                  <a:pt x="153290" y="306579"/>
                </a:lnTo>
                <a:lnTo>
                  <a:pt x="201741" y="298764"/>
                </a:lnTo>
                <a:lnTo>
                  <a:pt x="243821" y="277003"/>
                </a:lnTo>
                <a:lnTo>
                  <a:pt x="277004" y="243820"/>
                </a:lnTo>
                <a:lnTo>
                  <a:pt x="298765" y="201741"/>
                </a:lnTo>
                <a:lnTo>
                  <a:pt x="306580" y="153290"/>
                </a:lnTo>
                <a:lnTo>
                  <a:pt x="298765" y="104838"/>
                </a:lnTo>
                <a:lnTo>
                  <a:pt x="277004" y="62758"/>
                </a:lnTo>
                <a:lnTo>
                  <a:pt x="243821" y="29575"/>
                </a:lnTo>
                <a:lnTo>
                  <a:pt x="201741" y="7814"/>
                </a:lnTo>
                <a:lnTo>
                  <a:pt x="1532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900657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279625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090963" y="4702783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416533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795502" y="518258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606838" y="4702783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153290" y="0"/>
                </a:moveTo>
                <a:lnTo>
                  <a:pt x="104838" y="7814"/>
                </a:lnTo>
                <a:lnTo>
                  <a:pt x="62759" y="29576"/>
                </a:lnTo>
                <a:lnTo>
                  <a:pt x="29576" y="62759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6" y="243821"/>
                </a:lnTo>
                <a:lnTo>
                  <a:pt x="62759" y="277004"/>
                </a:lnTo>
                <a:lnTo>
                  <a:pt x="104838" y="298765"/>
                </a:lnTo>
                <a:lnTo>
                  <a:pt x="153290" y="306580"/>
                </a:lnTo>
                <a:lnTo>
                  <a:pt x="201741" y="298765"/>
                </a:lnTo>
                <a:lnTo>
                  <a:pt x="243821" y="277004"/>
                </a:lnTo>
                <a:lnTo>
                  <a:pt x="277004" y="243821"/>
                </a:lnTo>
                <a:lnTo>
                  <a:pt x="298765" y="201741"/>
                </a:lnTo>
                <a:lnTo>
                  <a:pt x="306580" y="153290"/>
                </a:lnTo>
                <a:lnTo>
                  <a:pt x="298765" y="104838"/>
                </a:lnTo>
                <a:lnTo>
                  <a:pt x="277004" y="62759"/>
                </a:lnTo>
                <a:lnTo>
                  <a:pt x="243821" y="29576"/>
                </a:lnTo>
                <a:lnTo>
                  <a:pt x="201741" y="7814"/>
                </a:lnTo>
                <a:lnTo>
                  <a:pt x="1532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606838" y="4702783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715104" y="4248870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228287" y="4245941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471019" y="384508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153290" y="0"/>
                </a:moveTo>
                <a:lnTo>
                  <a:pt x="104838" y="7814"/>
                </a:lnTo>
                <a:lnTo>
                  <a:pt x="62759" y="29576"/>
                </a:lnTo>
                <a:lnTo>
                  <a:pt x="29576" y="62759"/>
                </a:lnTo>
                <a:lnTo>
                  <a:pt x="7814" y="104838"/>
                </a:lnTo>
                <a:lnTo>
                  <a:pt x="0" y="153290"/>
                </a:lnTo>
                <a:lnTo>
                  <a:pt x="7814" y="201741"/>
                </a:lnTo>
                <a:lnTo>
                  <a:pt x="29576" y="243821"/>
                </a:lnTo>
                <a:lnTo>
                  <a:pt x="62759" y="277004"/>
                </a:lnTo>
                <a:lnTo>
                  <a:pt x="104838" y="298765"/>
                </a:lnTo>
                <a:lnTo>
                  <a:pt x="153290" y="306580"/>
                </a:lnTo>
                <a:lnTo>
                  <a:pt x="201741" y="298765"/>
                </a:lnTo>
                <a:lnTo>
                  <a:pt x="243821" y="277004"/>
                </a:lnTo>
                <a:lnTo>
                  <a:pt x="277004" y="243821"/>
                </a:lnTo>
                <a:lnTo>
                  <a:pt x="298765" y="201741"/>
                </a:lnTo>
                <a:lnTo>
                  <a:pt x="306580" y="153290"/>
                </a:lnTo>
                <a:lnTo>
                  <a:pt x="298765" y="104838"/>
                </a:lnTo>
                <a:lnTo>
                  <a:pt x="277004" y="62759"/>
                </a:lnTo>
                <a:lnTo>
                  <a:pt x="243821" y="29576"/>
                </a:lnTo>
                <a:lnTo>
                  <a:pt x="201741" y="7814"/>
                </a:lnTo>
                <a:lnTo>
                  <a:pt x="15329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471019" y="3845088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0" y="153290"/>
                </a:moveTo>
                <a:lnTo>
                  <a:pt x="7814" y="104838"/>
                </a:lnTo>
                <a:lnTo>
                  <a:pt x="29576" y="62758"/>
                </a:lnTo>
                <a:lnTo>
                  <a:pt x="62758" y="29576"/>
                </a:lnTo>
                <a:lnTo>
                  <a:pt x="104838" y="7814"/>
                </a:lnTo>
                <a:lnTo>
                  <a:pt x="153290" y="0"/>
                </a:lnTo>
                <a:lnTo>
                  <a:pt x="201741" y="7814"/>
                </a:lnTo>
                <a:lnTo>
                  <a:pt x="243821" y="29576"/>
                </a:lnTo>
                <a:lnTo>
                  <a:pt x="277003" y="62758"/>
                </a:lnTo>
                <a:lnTo>
                  <a:pt x="298765" y="104838"/>
                </a:lnTo>
                <a:lnTo>
                  <a:pt x="306580" y="153290"/>
                </a:lnTo>
                <a:lnTo>
                  <a:pt x="298765" y="201741"/>
                </a:lnTo>
                <a:lnTo>
                  <a:pt x="277003" y="243821"/>
                </a:lnTo>
                <a:lnTo>
                  <a:pt x="243821" y="277003"/>
                </a:lnTo>
                <a:lnTo>
                  <a:pt x="201741" y="298765"/>
                </a:lnTo>
                <a:lnTo>
                  <a:pt x="153290" y="306580"/>
                </a:lnTo>
                <a:lnTo>
                  <a:pt x="104838" y="298765"/>
                </a:lnTo>
                <a:lnTo>
                  <a:pt x="62758" y="277003"/>
                </a:lnTo>
                <a:lnTo>
                  <a:pt x="29576" y="243821"/>
                </a:lnTo>
                <a:lnTo>
                  <a:pt x="7814" y="201741"/>
                </a:lnTo>
                <a:lnTo>
                  <a:pt x="0" y="15329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517185" y="3812540"/>
            <a:ext cx="242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35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976787" y="4106771"/>
            <a:ext cx="539750" cy="187325"/>
          </a:xfrm>
          <a:custGeom>
            <a:avLst/>
            <a:gdLst/>
            <a:ahLst/>
            <a:cxnLst/>
            <a:rect l="l" t="t" r="r" b="b"/>
            <a:pathLst>
              <a:path w="539750" h="187325">
                <a:moveTo>
                  <a:pt x="0" y="186996"/>
                </a:moveTo>
                <a:lnTo>
                  <a:pt x="53913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732702" y="4106771"/>
            <a:ext cx="541020" cy="184150"/>
          </a:xfrm>
          <a:custGeom>
            <a:avLst/>
            <a:gdLst/>
            <a:ahLst/>
            <a:cxnLst/>
            <a:rect l="l" t="t" r="r" b="b"/>
            <a:pathLst>
              <a:path w="541020" h="184150">
                <a:moveTo>
                  <a:pt x="0" y="0"/>
                </a:moveTo>
                <a:lnTo>
                  <a:pt x="540482" y="18406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486316" y="4510552"/>
            <a:ext cx="273685" cy="192405"/>
          </a:xfrm>
          <a:custGeom>
            <a:avLst/>
            <a:gdLst/>
            <a:ahLst/>
            <a:cxnLst/>
            <a:rect l="l" t="t" r="r" b="b"/>
            <a:pathLst>
              <a:path w="273685" h="192404">
                <a:moveTo>
                  <a:pt x="273685" y="0"/>
                </a:moveTo>
                <a:lnTo>
                  <a:pt x="0" y="19223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76787" y="4510552"/>
            <a:ext cx="267970" cy="192405"/>
          </a:xfrm>
          <a:custGeom>
            <a:avLst/>
            <a:gdLst/>
            <a:ahLst/>
            <a:cxnLst/>
            <a:rect l="l" t="t" r="r" b="b"/>
            <a:pathLst>
              <a:path w="267970" h="192404">
                <a:moveTo>
                  <a:pt x="0" y="0"/>
                </a:moveTo>
                <a:lnTo>
                  <a:pt x="267468" y="19223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002191" y="4507622"/>
            <a:ext cx="271145" cy="195580"/>
          </a:xfrm>
          <a:custGeom>
            <a:avLst/>
            <a:gdLst/>
            <a:ahLst/>
            <a:cxnLst/>
            <a:rect l="l" t="t" r="r" b="b"/>
            <a:pathLst>
              <a:path w="271145" h="195579">
                <a:moveTo>
                  <a:pt x="270994" y="0"/>
                </a:moveTo>
                <a:lnTo>
                  <a:pt x="0" y="19516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489970" y="4507622"/>
            <a:ext cx="270510" cy="195580"/>
          </a:xfrm>
          <a:custGeom>
            <a:avLst/>
            <a:gdLst/>
            <a:ahLst/>
            <a:cxnLst/>
            <a:rect l="l" t="t" r="r" b="b"/>
            <a:pathLst>
              <a:path w="270509" h="195579">
                <a:moveTo>
                  <a:pt x="0" y="0"/>
                </a:moveTo>
                <a:lnTo>
                  <a:pt x="270159" y="19516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296010" y="4964466"/>
            <a:ext cx="81915" cy="218440"/>
          </a:xfrm>
          <a:custGeom>
            <a:avLst/>
            <a:gdLst/>
            <a:ahLst/>
            <a:cxnLst/>
            <a:rect l="l" t="t" r="r" b="b"/>
            <a:pathLst>
              <a:path w="81914" h="218439">
                <a:moveTo>
                  <a:pt x="81913" y="0"/>
                </a:moveTo>
                <a:lnTo>
                  <a:pt x="0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594708" y="4964466"/>
            <a:ext cx="80645" cy="218440"/>
          </a:xfrm>
          <a:custGeom>
            <a:avLst/>
            <a:gdLst/>
            <a:ahLst/>
            <a:cxnLst/>
            <a:rect l="l" t="t" r="r" b="b"/>
            <a:pathLst>
              <a:path w="80645" h="218439">
                <a:moveTo>
                  <a:pt x="0" y="0"/>
                </a:moveTo>
                <a:lnTo>
                  <a:pt x="80271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053948" y="4964466"/>
            <a:ext cx="81915" cy="218440"/>
          </a:xfrm>
          <a:custGeom>
            <a:avLst/>
            <a:gdLst/>
            <a:ahLst/>
            <a:cxnLst/>
            <a:rect l="l" t="t" r="r" b="b"/>
            <a:pathLst>
              <a:path w="81914" h="218439">
                <a:moveTo>
                  <a:pt x="81913" y="0"/>
                </a:moveTo>
                <a:lnTo>
                  <a:pt x="0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352646" y="4964466"/>
            <a:ext cx="80645" cy="218440"/>
          </a:xfrm>
          <a:custGeom>
            <a:avLst/>
            <a:gdLst/>
            <a:ahLst/>
            <a:cxnLst/>
            <a:rect l="l" t="t" r="r" b="b"/>
            <a:pathLst>
              <a:path w="80645" h="218439">
                <a:moveTo>
                  <a:pt x="0" y="0"/>
                </a:moveTo>
                <a:lnTo>
                  <a:pt x="80271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811885" y="4964466"/>
            <a:ext cx="81915" cy="218440"/>
          </a:xfrm>
          <a:custGeom>
            <a:avLst/>
            <a:gdLst/>
            <a:ahLst/>
            <a:cxnLst/>
            <a:rect l="l" t="t" r="r" b="b"/>
            <a:pathLst>
              <a:path w="81915" h="218439">
                <a:moveTo>
                  <a:pt x="81913" y="0"/>
                </a:moveTo>
                <a:lnTo>
                  <a:pt x="0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110585" y="4964466"/>
            <a:ext cx="80645" cy="218440"/>
          </a:xfrm>
          <a:custGeom>
            <a:avLst/>
            <a:gdLst/>
            <a:ahLst/>
            <a:cxnLst/>
            <a:rect l="l" t="t" r="r" b="b"/>
            <a:pathLst>
              <a:path w="80645" h="218439">
                <a:moveTo>
                  <a:pt x="0" y="0"/>
                </a:moveTo>
                <a:lnTo>
                  <a:pt x="80271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569825" y="4964466"/>
            <a:ext cx="81915" cy="218440"/>
          </a:xfrm>
          <a:custGeom>
            <a:avLst/>
            <a:gdLst/>
            <a:ahLst/>
            <a:cxnLst/>
            <a:rect l="l" t="t" r="r" b="b"/>
            <a:pathLst>
              <a:path w="81915" h="218439">
                <a:moveTo>
                  <a:pt x="81913" y="0"/>
                </a:moveTo>
                <a:lnTo>
                  <a:pt x="0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868522" y="4964466"/>
            <a:ext cx="80645" cy="218440"/>
          </a:xfrm>
          <a:custGeom>
            <a:avLst/>
            <a:gdLst/>
            <a:ahLst/>
            <a:cxnLst/>
            <a:rect l="l" t="t" r="r" b="b"/>
            <a:pathLst>
              <a:path w="80645" h="218439">
                <a:moveTo>
                  <a:pt x="0" y="0"/>
                </a:moveTo>
                <a:lnTo>
                  <a:pt x="80271" y="21812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053947" y="5480161"/>
            <a:ext cx="1610995" cy="621665"/>
          </a:xfrm>
          <a:custGeom>
            <a:avLst/>
            <a:gdLst/>
            <a:ahLst/>
            <a:cxnLst/>
            <a:rect l="l" t="t" r="r" b="b"/>
            <a:pathLst>
              <a:path w="1610995" h="621664">
                <a:moveTo>
                  <a:pt x="84716" y="0"/>
                </a:moveTo>
                <a:lnTo>
                  <a:pt x="0" y="9005"/>
                </a:lnTo>
                <a:lnTo>
                  <a:pt x="58035" y="71375"/>
                </a:lnTo>
                <a:lnTo>
                  <a:pt x="66928" y="47583"/>
                </a:lnTo>
                <a:lnTo>
                  <a:pt x="55029" y="43135"/>
                </a:lnTo>
                <a:lnTo>
                  <a:pt x="63922" y="19343"/>
                </a:lnTo>
                <a:lnTo>
                  <a:pt x="77485" y="19343"/>
                </a:lnTo>
                <a:lnTo>
                  <a:pt x="84716" y="0"/>
                </a:lnTo>
                <a:close/>
              </a:path>
              <a:path w="1610995" h="621664">
                <a:moveTo>
                  <a:pt x="75822" y="23791"/>
                </a:moveTo>
                <a:lnTo>
                  <a:pt x="66928" y="47583"/>
                </a:lnTo>
                <a:lnTo>
                  <a:pt x="78821" y="52029"/>
                </a:lnTo>
                <a:lnTo>
                  <a:pt x="87715" y="28237"/>
                </a:lnTo>
                <a:lnTo>
                  <a:pt x="75822" y="23791"/>
                </a:lnTo>
                <a:close/>
              </a:path>
              <a:path w="1610995" h="621664">
                <a:moveTo>
                  <a:pt x="63922" y="19343"/>
                </a:moveTo>
                <a:lnTo>
                  <a:pt x="55029" y="43135"/>
                </a:lnTo>
                <a:lnTo>
                  <a:pt x="66928" y="47583"/>
                </a:lnTo>
                <a:lnTo>
                  <a:pt x="75822" y="23791"/>
                </a:lnTo>
                <a:lnTo>
                  <a:pt x="63922" y="19343"/>
                </a:lnTo>
                <a:close/>
              </a:path>
              <a:path w="1610995" h="621664">
                <a:moveTo>
                  <a:pt x="77485" y="19343"/>
                </a:moveTo>
                <a:lnTo>
                  <a:pt x="63922" y="19343"/>
                </a:lnTo>
                <a:lnTo>
                  <a:pt x="75822" y="23791"/>
                </a:lnTo>
                <a:lnTo>
                  <a:pt x="77485" y="19343"/>
                </a:lnTo>
                <a:close/>
              </a:path>
              <a:path w="1610995" h="621664">
                <a:moveTo>
                  <a:pt x="111507" y="37130"/>
                </a:moveTo>
                <a:lnTo>
                  <a:pt x="102613" y="60923"/>
                </a:lnTo>
                <a:lnTo>
                  <a:pt x="126405" y="69816"/>
                </a:lnTo>
                <a:lnTo>
                  <a:pt x="135299" y="46024"/>
                </a:lnTo>
                <a:lnTo>
                  <a:pt x="111507" y="37130"/>
                </a:lnTo>
                <a:close/>
              </a:path>
              <a:path w="1610995" h="621664">
                <a:moveTo>
                  <a:pt x="159091" y="54918"/>
                </a:moveTo>
                <a:lnTo>
                  <a:pt x="150197" y="78710"/>
                </a:lnTo>
                <a:lnTo>
                  <a:pt x="173989" y="87604"/>
                </a:lnTo>
                <a:lnTo>
                  <a:pt x="182883" y="63812"/>
                </a:lnTo>
                <a:lnTo>
                  <a:pt x="159091" y="54918"/>
                </a:lnTo>
                <a:close/>
              </a:path>
              <a:path w="1610995" h="621664">
                <a:moveTo>
                  <a:pt x="206675" y="72706"/>
                </a:moveTo>
                <a:lnTo>
                  <a:pt x="197780" y="96498"/>
                </a:lnTo>
                <a:lnTo>
                  <a:pt x="221573" y="105392"/>
                </a:lnTo>
                <a:lnTo>
                  <a:pt x="230466" y="81600"/>
                </a:lnTo>
                <a:lnTo>
                  <a:pt x="206675" y="72706"/>
                </a:lnTo>
                <a:close/>
              </a:path>
              <a:path w="1610995" h="621664">
                <a:moveTo>
                  <a:pt x="254259" y="90493"/>
                </a:moveTo>
                <a:lnTo>
                  <a:pt x="245365" y="114286"/>
                </a:lnTo>
                <a:lnTo>
                  <a:pt x="269157" y="123179"/>
                </a:lnTo>
                <a:lnTo>
                  <a:pt x="278051" y="99387"/>
                </a:lnTo>
                <a:lnTo>
                  <a:pt x="254259" y="90493"/>
                </a:lnTo>
                <a:close/>
              </a:path>
              <a:path w="1610995" h="621664">
                <a:moveTo>
                  <a:pt x="301843" y="108281"/>
                </a:moveTo>
                <a:lnTo>
                  <a:pt x="292949" y="132073"/>
                </a:lnTo>
                <a:lnTo>
                  <a:pt x="316741" y="140967"/>
                </a:lnTo>
                <a:lnTo>
                  <a:pt x="325635" y="117175"/>
                </a:lnTo>
                <a:lnTo>
                  <a:pt x="301843" y="108281"/>
                </a:lnTo>
                <a:close/>
              </a:path>
              <a:path w="1610995" h="621664">
                <a:moveTo>
                  <a:pt x="349427" y="126069"/>
                </a:moveTo>
                <a:lnTo>
                  <a:pt x="340533" y="149861"/>
                </a:lnTo>
                <a:lnTo>
                  <a:pt x="364324" y="158755"/>
                </a:lnTo>
                <a:lnTo>
                  <a:pt x="373219" y="134963"/>
                </a:lnTo>
                <a:lnTo>
                  <a:pt x="349427" y="126069"/>
                </a:lnTo>
                <a:close/>
              </a:path>
              <a:path w="1610995" h="621664">
                <a:moveTo>
                  <a:pt x="397010" y="143857"/>
                </a:moveTo>
                <a:lnTo>
                  <a:pt x="388117" y="167649"/>
                </a:lnTo>
                <a:lnTo>
                  <a:pt x="411909" y="176542"/>
                </a:lnTo>
                <a:lnTo>
                  <a:pt x="420803" y="152750"/>
                </a:lnTo>
                <a:lnTo>
                  <a:pt x="397010" y="143857"/>
                </a:lnTo>
                <a:close/>
              </a:path>
              <a:path w="1610995" h="621664">
                <a:moveTo>
                  <a:pt x="444595" y="161644"/>
                </a:moveTo>
                <a:lnTo>
                  <a:pt x="435701" y="185436"/>
                </a:lnTo>
                <a:lnTo>
                  <a:pt x="459493" y="194330"/>
                </a:lnTo>
                <a:lnTo>
                  <a:pt x="468387" y="170538"/>
                </a:lnTo>
                <a:lnTo>
                  <a:pt x="444595" y="161644"/>
                </a:lnTo>
                <a:close/>
              </a:path>
              <a:path w="1610995" h="621664">
                <a:moveTo>
                  <a:pt x="492179" y="179432"/>
                </a:moveTo>
                <a:lnTo>
                  <a:pt x="483285" y="203224"/>
                </a:lnTo>
                <a:lnTo>
                  <a:pt x="507077" y="212118"/>
                </a:lnTo>
                <a:lnTo>
                  <a:pt x="515971" y="188326"/>
                </a:lnTo>
                <a:lnTo>
                  <a:pt x="492179" y="179432"/>
                </a:lnTo>
                <a:close/>
              </a:path>
              <a:path w="1610995" h="621664">
                <a:moveTo>
                  <a:pt x="539763" y="197220"/>
                </a:moveTo>
                <a:lnTo>
                  <a:pt x="530868" y="221012"/>
                </a:lnTo>
                <a:lnTo>
                  <a:pt x="554661" y="229905"/>
                </a:lnTo>
                <a:lnTo>
                  <a:pt x="563554" y="206114"/>
                </a:lnTo>
                <a:lnTo>
                  <a:pt x="539763" y="197220"/>
                </a:lnTo>
                <a:close/>
              </a:path>
              <a:path w="1610995" h="621664">
                <a:moveTo>
                  <a:pt x="587347" y="215007"/>
                </a:moveTo>
                <a:lnTo>
                  <a:pt x="578453" y="238799"/>
                </a:lnTo>
                <a:lnTo>
                  <a:pt x="602245" y="247693"/>
                </a:lnTo>
                <a:lnTo>
                  <a:pt x="611139" y="223901"/>
                </a:lnTo>
                <a:lnTo>
                  <a:pt x="587347" y="215007"/>
                </a:lnTo>
                <a:close/>
              </a:path>
              <a:path w="1610995" h="621664">
                <a:moveTo>
                  <a:pt x="634931" y="232795"/>
                </a:moveTo>
                <a:lnTo>
                  <a:pt x="626037" y="256587"/>
                </a:lnTo>
                <a:lnTo>
                  <a:pt x="649829" y="265481"/>
                </a:lnTo>
                <a:lnTo>
                  <a:pt x="658723" y="241689"/>
                </a:lnTo>
                <a:lnTo>
                  <a:pt x="634931" y="232795"/>
                </a:lnTo>
                <a:close/>
              </a:path>
              <a:path w="1610995" h="621664">
                <a:moveTo>
                  <a:pt x="682515" y="250583"/>
                </a:moveTo>
                <a:lnTo>
                  <a:pt x="673621" y="274375"/>
                </a:lnTo>
                <a:lnTo>
                  <a:pt x="697414" y="283269"/>
                </a:lnTo>
                <a:lnTo>
                  <a:pt x="706307" y="259477"/>
                </a:lnTo>
                <a:lnTo>
                  <a:pt x="682515" y="250583"/>
                </a:lnTo>
                <a:close/>
              </a:path>
              <a:path w="1610995" h="621664">
                <a:moveTo>
                  <a:pt x="730098" y="268370"/>
                </a:moveTo>
                <a:lnTo>
                  <a:pt x="721205" y="292162"/>
                </a:lnTo>
                <a:lnTo>
                  <a:pt x="744997" y="301056"/>
                </a:lnTo>
                <a:lnTo>
                  <a:pt x="753891" y="277264"/>
                </a:lnTo>
                <a:lnTo>
                  <a:pt x="730098" y="268370"/>
                </a:lnTo>
                <a:close/>
              </a:path>
              <a:path w="1610995" h="621664">
                <a:moveTo>
                  <a:pt x="777683" y="286158"/>
                </a:moveTo>
                <a:lnTo>
                  <a:pt x="768789" y="309950"/>
                </a:lnTo>
                <a:lnTo>
                  <a:pt x="792581" y="318844"/>
                </a:lnTo>
                <a:lnTo>
                  <a:pt x="801475" y="295052"/>
                </a:lnTo>
                <a:lnTo>
                  <a:pt x="777683" y="286158"/>
                </a:lnTo>
                <a:close/>
              </a:path>
              <a:path w="1610995" h="621664">
                <a:moveTo>
                  <a:pt x="825267" y="303946"/>
                </a:moveTo>
                <a:lnTo>
                  <a:pt x="816373" y="327738"/>
                </a:lnTo>
                <a:lnTo>
                  <a:pt x="840165" y="336632"/>
                </a:lnTo>
                <a:lnTo>
                  <a:pt x="849059" y="312840"/>
                </a:lnTo>
                <a:lnTo>
                  <a:pt x="825267" y="303946"/>
                </a:lnTo>
                <a:close/>
              </a:path>
              <a:path w="1610995" h="621664">
                <a:moveTo>
                  <a:pt x="872851" y="321733"/>
                </a:moveTo>
                <a:lnTo>
                  <a:pt x="863958" y="345525"/>
                </a:lnTo>
                <a:lnTo>
                  <a:pt x="887749" y="354419"/>
                </a:lnTo>
                <a:lnTo>
                  <a:pt x="896642" y="330627"/>
                </a:lnTo>
                <a:lnTo>
                  <a:pt x="872851" y="321733"/>
                </a:lnTo>
                <a:close/>
              </a:path>
              <a:path w="1610995" h="621664">
                <a:moveTo>
                  <a:pt x="920435" y="339521"/>
                </a:moveTo>
                <a:lnTo>
                  <a:pt x="911541" y="363313"/>
                </a:lnTo>
                <a:lnTo>
                  <a:pt x="935333" y="372207"/>
                </a:lnTo>
                <a:lnTo>
                  <a:pt x="944227" y="348415"/>
                </a:lnTo>
                <a:lnTo>
                  <a:pt x="920435" y="339521"/>
                </a:lnTo>
                <a:close/>
              </a:path>
              <a:path w="1610995" h="621664">
                <a:moveTo>
                  <a:pt x="968019" y="357309"/>
                </a:moveTo>
                <a:lnTo>
                  <a:pt x="959125" y="381101"/>
                </a:lnTo>
                <a:lnTo>
                  <a:pt x="982917" y="389995"/>
                </a:lnTo>
                <a:lnTo>
                  <a:pt x="991811" y="366203"/>
                </a:lnTo>
                <a:lnTo>
                  <a:pt x="968019" y="357309"/>
                </a:lnTo>
                <a:close/>
              </a:path>
              <a:path w="1610995" h="621664">
                <a:moveTo>
                  <a:pt x="1015603" y="375097"/>
                </a:moveTo>
                <a:lnTo>
                  <a:pt x="1006709" y="398888"/>
                </a:lnTo>
                <a:lnTo>
                  <a:pt x="1030502" y="407782"/>
                </a:lnTo>
                <a:lnTo>
                  <a:pt x="1039395" y="383990"/>
                </a:lnTo>
                <a:lnTo>
                  <a:pt x="1015603" y="375097"/>
                </a:lnTo>
                <a:close/>
              </a:path>
              <a:path w="1610995" h="621664">
                <a:moveTo>
                  <a:pt x="1063186" y="392884"/>
                </a:moveTo>
                <a:lnTo>
                  <a:pt x="1054293" y="416676"/>
                </a:lnTo>
                <a:lnTo>
                  <a:pt x="1078085" y="425570"/>
                </a:lnTo>
                <a:lnTo>
                  <a:pt x="1086979" y="401778"/>
                </a:lnTo>
                <a:lnTo>
                  <a:pt x="1063186" y="392884"/>
                </a:lnTo>
                <a:close/>
              </a:path>
              <a:path w="1610995" h="621664">
                <a:moveTo>
                  <a:pt x="1110771" y="410672"/>
                </a:moveTo>
                <a:lnTo>
                  <a:pt x="1101877" y="434464"/>
                </a:lnTo>
                <a:lnTo>
                  <a:pt x="1125669" y="443358"/>
                </a:lnTo>
                <a:lnTo>
                  <a:pt x="1134563" y="419566"/>
                </a:lnTo>
                <a:lnTo>
                  <a:pt x="1110771" y="410672"/>
                </a:lnTo>
                <a:close/>
              </a:path>
              <a:path w="1610995" h="621664">
                <a:moveTo>
                  <a:pt x="1158355" y="428460"/>
                </a:moveTo>
                <a:lnTo>
                  <a:pt x="1149461" y="452252"/>
                </a:lnTo>
                <a:lnTo>
                  <a:pt x="1173253" y="461145"/>
                </a:lnTo>
                <a:lnTo>
                  <a:pt x="1182147" y="437353"/>
                </a:lnTo>
                <a:lnTo>
                  <a:pt x="1158355" y="428460"/>
                </a:lnTo>
                <a:close/>
              </a:path>
              <a:path w="1610995" h="621664">
                <a:moveTo>
                  <a:pt x="1205939" y="446247"/>
                </a:moveTo>
                <a:lnTo>
                  <a:pt x="1197046" y="470039"/>
                </a:lnTo>
                <a:lnTo>
                  <a:pt x="1220837" y="478933"/>
                </a:lnTo>
                <a:lnTo>
                  <a:pt x="1229730" y="455141"/>
                </a:lnTo>
                <a:lnTo>
                  <a:pt x="1205939" y="446247"/>
                </a:lnTo>
                <a:close/>
              </a:path>
              <a:path w="1610995" h="621664">
                <a:moveTo>
                  <a:pt x="1253523" y="464035"/>
                </a:moveTo>
                <a:lnTo>
                  <a:pt x="1244629" y="487827"/>
                </a:lnTo>
                <a:lnTo>
                  <a:pt x="1268421" y="496721"/>
                </a:lnTo>
                <a:lnTo>
                  <a:pt x="1277315" y="472929"/>
                </a:lnTo>
                <a:lnTo>
                  <a:pt x="1253523" y="464035"/>
                </a:lnTo>
                <a:close/>
              </a:path>
              <a:path w="1610995" h="621664">
                <a:moveTo>
                  <a:pt x="1301107" y="481823"/>
                </a:moveTo>
                <a:lnTo>
                  <a:pt x="1292213" y="505615"/>
                </a:lnTo>
                <a:lnTo>
                  <a:pt x="1316005" y="514509"/>
                </a:lnTo>
                <a:lnTo>
                  <a:pt x="1324899" y="490716"/>
                </a:lnTo>
                <a:lnTo>
                  <a:pt x="1301107" y="481823"/>
                </a:lnTo>
                <a:close/>
              </a:path>
              <a:path w="1610995" h="621664">
                <a:moveTo>
                  <a:pt x="1348691" y="499610"/>
                </a:moveTo>
                <a:lnTo>
                  <a:pt x="1339797" y="523402"/>
                </a:lnTo>
                <a:lnTo>
                  <a:pt x="1363590" y="532296"/>
                </a:lnTo>
                <a:lnTo>
                  <a:pt x="1372483" y="508504"/>
                </a:lnTo>
                <a:lnTo>
                  <a:pt x="1348691" y="499610"/>
                </a:lnTo>
                <a:close/>
              </a:path>
              <a:path w="1610995" h="621664">
                <a:moveTo>
                  <a:pt x="1396274" y="517398"/>
                </a:moveTo>
                <a:lnTo>
                  <a:pt x="1387381" y="541190"/>
                </a:lnTo>
                <a:lnTo>
                  <a:pt x="1411173" y="550084"/>
                </a:lnTo>
                <a:lnTo>
                  <a:pt x="1420067" y="526292"/>
                </a:lnTo>
                <a:lnTo>
                  <a:pt x="1396274" y="517398"/>
                </a:lnTo>
                <a:close/>
              </a:path>
              <a:path w="1610995" h="621664">
                <a:moveTo>
                  <a:pt x="1443859" y="535186"/>
                </a:moveTo>
                <a:lnTo>
                  <a:pt x="1434965" y="558978"/>
                </a:lnTo>
                <a:lnTo>
                  <a:pt x="1458757" y="567872"/>
                </a:lnTo>
                <a:lnTo>
                  <a:pt x="1467651" y="544080"/>
                </a:lnTo>
                <a:lnTo>
                  <a:pt x="1443859" y="535186"/>
                </a:lnTo>
                <a:close/>
              </a:path>
              <a:path w="1610995" h="621664">
                <a:moveTo>
                  <a:pt x="1491443" y="552973"/>
                </a:moveTo>
                <a:lnTo>
                  <a:pt x="1482549" y="576765"/>
                </a:lnTo>
                <a:lnTo>
                  <a:pt x="1506341" y="585659"/>
                </a:lnTo>
                <a:lnTo>
                  <a:pt x="1515235" y="561867"/>
                </a:lnTo>
                <a:lnTo>
                  <a:pt x="1491443" y="552973"/>
                </a:lnTo>
                <a:close/>
              </a:path>
              <a:path w="1610995" h="621664">
                <a:moveTo>
                  <a:pt x="1539027" y="570761"/>
                </a:moveTo>
                <a:lnTo>
                  <a:pt x="1530134" y="594553"/>
                </a:lnTo>
                <a:lnTo>
                  <a:pt x="1553926" y="603447"/>
                </a:lnTo>
                <a:lnTo>
                  <a:pt x="1562818" y="579655"/>
                </a:lnTo>
                <a:lnTo>
                  <a:pt x="1539027" y="570761"/>
                </a:lnTo>
                <a:close/>
              </a:path>
              <a:path w="1610995" h="621664">
                <a:moveTo>
                  <a:pt x="1586610" y="588549"/>
                </a:moveTo>
                <a:lnTo>
                  <a:pt x="1577717" y="612341"/>
                </a:lnTo>
                <a:lnTo>
                  <a:pt x="1601509" y="621235"/>
                </a:lnTo>
                <a:lnTo>
                  <a:pt x="1610403" y="597443"/>
                </a:lnTo>
                <a:lnTo>
                  <a:pt x="1586610" y="58854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296009" y="5489167"/>
            <a:ext cx="652145" cy="630555"/>
          </a:xfrm>
          <a:custGeom>
            <a:avLst/>
            <a:gdLst/>
            <a:ahLst/>
            <a:cxnLst/>
            <a:rect l="l" t="t" r="r" b="b"/>
            <a:pathLst>
              <a:path w="652145" h="630554">
                <a:moveTo>
                  <a:pt x="91037" y="70269"/>
                </a:moveTo>
                <a:lnTo>
                  <a:pt x="73390" y="88539"/>
                </a:lnTo>
                <a:lnTo>
                  <a:pt x="91660" y="106185"/>
                </a:lnTo>
                <a:lnTo>
                  <a:pt x="109306" y="87915"/>
                </a:lnTo>
                <a:lnTo>
                  <a:pt x="91037" y="70269"/>
                </a:lnTo>
                <a:close/>
              </a:path>
              <a:path w="652145" h="630554">
                <a:moveTo>
                  <a:pt x="0" y="0"/>
                </a:moveTo>
                <a:lnTo>
                  <a:pt x="28341" y="80341"/>
                </a:lnTo>
                <a:lnTo>
                  <a:pt x="45987" y="62071"/>
                </a:lnTo>
                <a:lnTo>
                  <a:pt x="36851" y="53248"/>
                </a:lnTo>
                <a:lnTo>
                  <a:pt x="54496" y="34978"/>
                </a:lnTo>
                <a:lnTo>
                  <a:pt x="72155" y="34978"/>
                </a:lnTo>
                <a:lnTo>
                  <a:pt x="81278" y="25532"/>
                </a:lnTo>
                <a:lnTo>
                  <a:pt x="0" y="0"/>
                </a:lnTo>
                <a:close/>
              </a:path>
              <a:path w="652145" h="630554">
                <a:moveTo>
                  <a:pt x="63632" y="43801"/>
                </a:moveTo>
                <a:lnTo>
                  <a:pt x="45987" y="62071"/>
                </a:lnTo>
                <a:lnTo>
                  <a:pt x="55121" y="70893"/>
                </a:lnTo>
                <a:lnTo>
                  <a:pt x="72767" y="52623"/>
                </a:lnTo>
                <a:lnTo>
                  <a:pt x="63632" y="43801"/>
                </a:lnTo>
                <a:close/>
              </a:path>
              <a:path w="652145" h="630554">
                <a:moveTo>
                  <a:pt x="54496" y="34978"/>
                </a:moveTo>
                <a:lnTo>
                  <a:pt x="36851" y="53248"/>
                </a:lnTo>
                <a:lnTo>
                  <a:pt x="45987" y="62071"/>
                </a:lnTo>
                <a:lnTo>
                  <a:pt x="63632" y="43801"/>
                </a:lnTo>
                <a:lnTo>
                  <a:pt x="54496" y="34978"/>
                </a:lnTo>
                <a:close/>
              </a:path>
              <a:path w="652145" h="630554">
                <a:moveTo>
                  <a:pt x="72155" y="34978"/>
                </a:moveTo>
                <a:lnTo>
                  <a:pt x="54496" y="34978"/>
                </a:lnTo>
                <a:lnTo>
                  <a:pt x="63632" y="43801"/>
                </a:lnTo>
                <a:lnTo>
                  <a:pt x="72155" y="34978"/>
                </a:lnTo>
                <a:close/>
              </a:path>
              <a:path w="652145" h="630554">
                <a:moveTo>
                  <a:pt x="127576" y="105560"/>
                </a:moveTo>
                <a:lnTo>
                  <a:pt x="109931" y="123830"/>
                </a:lnTo>
                <a:lnTo>
                  <a:pt x="128201" y="141476"/>
                </a:lnTo>
                <a:lnTo>
                  <a:pt x="145846" y="123206"/>
                </a:lnTo>
                <a:lnTo>
                  <a:pt x="127576" y="105560"/>
                </a:lnTo>
                <a:close/>
              </a:path>
              <a:path w="652145" h="630554">
                <a:moveTo>
                  <a:pt x="164117" y="140851"/>
                </a:moveTo>
                <a:lnTo>
                  <a:pt x="146471" y="159121"/>
                </a:lnTo>
                <a:lnTo>
                  <a:pt x="164741" y="176767"/>
                </a:lnTo>
                <a:lnTo>
                  <a:pt x="182387" y="158497"/>
                </a:lnTo>
                <a:lnTo>
                  <a:pt x="164117" y="140851"/>
                </a:lnTo>
                <a:close/>
              </a:path>
              <a:path w="652145" h="630554">
                <a:moveTo>
                  <a:pt x="200657" y="176142"/>
                </a:moveTo>
                <a:lnTo>
                  <a:pt x="183012" y="194412"/>
                </a:lnTo>
                <a:lnTo>
                  <a:pt x="201282" y="212058"/>
                </a:lnTo>
                <a:lnTo>
                  <a:pt x="218927" y="193788"/>
                </a:lnTo>
                <a:lnTo>
                  <a:pt x="200657" y="176142"/>
                </a:lnTo>
                <a:close/>
              </a:path>
              <a:path w="652145" h="630554">
                <a:moveTo>
                  <a:pt x="237197" y="211434"/>
                </a:moveTo>
                <a:lnTo>
                  <a:pt x="219551" y="229704"/>
                </a:lnTo>
                <a:lnTo>
                  <a:pt x="237821" y="247349"/>
                </a:lnTo>
                <a:lnTo>
                  <a:pt x="255466" y="229079"/>
                </a:lnTo>
                <a:lnTo>
                  <a:pt x="237197" y="211434"/>
                </a:lnTo>
                <a:close/>
              </a:path>
              <a:path w="652145" h="630554">
                <a:moveTo>
                  <a:pt x="273737" y="246725"/>
                </a:moveTo>
                <a:lnTo>
                  <a:pt x="256091" y="264995"/>
                </a:lnTo>
                <a:lnTo>
                  <a:pt x="274361" y="282640"/>
                </a:lnTo>
                <a:lnTo>
                  <a:pt x="292007" y="264370"/>
                </a:lnTo>
                <a:lnTo>
                  <a:pt x="273737" y="246725"/>
                </a:lnTo>
                <a:close/>
              </a:path>
              <a:path w="652145" h="630554">
                <a:moveTo>
                  <a:pt x="310277" y="282016"/>
                </a:moveTo>
                <a:lnTo>
                  <a:pt x="292632" y="300286"/>
                </a:lnTo>
                <a:lnTo>
                  <a:pt x="310902" y="317931"/>
                </a:lnTo>
                <a:lnTo>
                  <a:pt x="328547" y="299661"/>
                </a:lnTo>
                <a:lnTo>
                  <a:pt x="310277" y="282016"/>
                </a:lnTo>
                <a:close/>
              </a:path>
              <a:path w="652145" h="630554">
                <a:moveTo>
                  <a:pt x="346817" y="317307"/>
                </a:moveTo>
                <a:lnTo>
                  <a:pt x="329172" y="335577"/>
                </a:lnTo>
                <a:lnTo>
                  <a:pt x="347441" y="353222"/>
                </a:lnTo>
                <a:lnTo>
                  <a:pt x="365088" y="334952"/>
                </a:lnTo>
                <a:lnTo>
                  <a:pt x="346817" y="317307"/>
                </a:lnTo>
                <a:close/>
              </a:path>
              <a:path w="652145" h="630554">
                <a:moveTo>
                  <a:pt x="383357" y="352598"/>
                </a:moveTo>
                <a:lnTo>
                  <a:pt x="365711" y="370868"/>
                </a:lnTo>
                <a:lnTo>
                  <a:pt x="383981" y="388514"/>
                </a:lnTo>
                <a:lnTo>
                  <a:pt x="401627" y="370243"/>
                </a:lnTo>
                <a:lnTo>
                  <a:pt x="383357" y="352598"/>
                </a:lnTo>
                <a:close/>
              </a:path>
              <a:path w="652145" h="630554">
                <a:moveTo>
                  <a:pt x="419897" y="387889"/>
                </a:moveTo>
                <a:lnTo>
                  <a:pt x="402252" y="406159"/>
                </a:lnTo>
                <a:lnTo>
                  <a:pt x="420522" y="423805"/>
                </a:lnTo>
                <a:lnTo>
                  <a:pt x="438167" y="405535"/>
                </a:lnTo>
                <a:lnTo>
                  <a:pt x="419897" y="387889"/>
                </a:lnTo>
                <a:close/>
              </a:path>
              <a:path w="652145" h="630554">
                <a:moveTo>
                  <a:pt x="456438" y="423180"/>
                </a:moveTo>
                <a:lnTo>
                  <a:pt x="438792" y="441450"/>
                </a:lnTo>
                <a:lnTo>
                  <a:pt x="457062" y="459096"/>
                </a:lnTo>
                <a:lnTo>
                  <a:pt x="474708" y="440826"/>
                </a:lnTo>
                <a:lnTo>
                  <a:pt x="456438" y="423180"/>
                </a:lnTo>
                <a:close/>
              </a:path>
              <a:path w="652145" h="630554">
                <a:moveTo>
                  <a:pt x="492978" y="458471"/>
                </a:moveTo>
                <a:lnTo>
                  <a:pt x="475331" y="476741"/>
                </a:lnTo>
                <a:lnTo>
                  <a:pt x="493602" y="494387"/>
                </a:lnTo>
                <a:lnTo>
                  <a:pt x="511247" y="476117"/>
                </a:lnTo>
                <a:lnTo>
                  <a:pt x="492978" y="458471"/>
                </a:lnTo>
                <a:close/>
              </a:path>
              <a:path w="652145" h="630554">
                <a:moveTo>
                  <a:pt x="529517" y="493762"/>
                </a:moveTo>
                <a:lnTo>
                  <a:pt x="511872" y="512032"/>
                </a:lnTo>
                <a:lnTo>
                  <a:pt x="530142" y="529678"/>
                </a:lnTo>
                <a:lnTo>
                  <a:pt x="547787" y="511408"/>
                </a:lnTo>
                <a:lnTo>
                  <a:pt x="529517" y="493762"/>
                </a:lnTo>
                <a:close/>
              </a:path>
              <a:path w="652145" h="630554">
                <a:moveTo>
                  <a:pt x="566058" y="529053"/>
                </a:moveTo>
                <a:lnTo>
                  <a:pt x="548412" y="547323"/>
                </a:lnTo>
                <a:lnTo>
                  <a:pt x="566682" y="564969"/>
                </a:lnTo>
                <a:lnTo>
                  <a:pt x="584328" y="546699"/>
                </a:lnTo>
                <a:lnTo>
                  <a:pt x="566058" y="529053"/>
                </a:lnTo>
                <a:close/>
              </a:path>
              <a:path w="652145" h="630554">
                <a:moveTo>
                  <a:pt x="602598" y="564345"/>
                </a:moveTo>
                <a:lnTo>
                  <a:pt x="584953" y="582615"/>
                </a:lnTo>
                <a:lnTo>
                  <a:pt x="603222" y="600260"/>
                </a:lnTo>
                <a:lnTo>
                  <a:pt x="620868" y="581990"/>
                </a:lnTo>
                <a:lnTo>
                  <a:pt x="602598" y="564345"/>
                </a:lnTo>
                <a:close/>
              </a:path>
              <a:path w="652145" h="630554">
                <a:moveTo>
                  <a:pt x="639138" y="599636"/>
                </a:moveTo>
                <a:lnTo>
                  <a:pt x="621492" y="617906"/>
                </a:lnTo>
                <a:lnTo>
                  <a:pt x="634098" y="630081"/>
                </a:lnTo>
                <a:lnTo>
                  <a:pt x="651744" y="611811"/>
                </a:lnTo>
                <a:lnTo>
                  <a:pt x="639138" y="59963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917482" y="5475098"/>
            <a:ext cx="2031364" cy="648970"/>
          </a:xfrm>
          <a:custGeom>
            <a:avLst/>
            <a:gdLst/>
            <a:ahLst/>
            <a:cxnLst/>
            <a:rect l="l" t="t" r="r" b="b"/>
            <a:pathLst>
              <a:path w="2031365" h="648970">
                <a:moveTo>
                  <a:pt x="2024502" y="20557"/>
                </a:moveTo>
                <a:lnTo>
                  <a:pt x="1966875" y="20557"/>
                </a:lnTo>
                <a:lnTo>
                  <a:pt x="1974328" y="44839"/>
                </a:lnTo>
                <a:lnTo>
                  <a:pt x="1962189" y="48565"/>
                </a:lnTo>
                <a:lnTo>
                  <a:pt x="1969640" y="72847"/>
                </a:lnTo>
                <a:lnTo>
                  <a:pt x="2024502" y="20557"/>
                </a:lnTo>
                <a:close/>
              </a:path>
              <a:path w="2031365" h="648970">
                <a:moveTo>
                  <a:pt x="1954737" y="24282"/>
                </a:moveTo>
                <a:lnTo>
                  <a:pt x="1942593" y="28009"/>
                </a:lnTo>
                <a:lnTo>
                  <a:pt x="1950045" y="52292"/>
                </a:lnTo>
                <a:lnTo>
                  <a:pt x="1962189" y="48565"/>
                </a:lnTo>
                <a:lnTo>
                  <a:pt x="1954737" y="24282"/>
                </a:lnTo>
                <a:close/>
              </a:path>
              <a:path w="2031365" h="648970">
                <a:moveTo>
                  <a:pt x="1966875" y="20557"/>
                </a:moveTo>
                <a:lnTo>
                  <a:pt x="1954737" y="24282"/>
                </a:lnTo>
                <a:lnTo>
                  <a:pt x="1962189" y="48565"/>
                </a:lnTo>
                <a:lnTo>
                  <a:pt x="1974328" y="44839"/>
                </a:lnTo>
                <a:lnTo>
                  <a:pt x="1966875" y="20557"/>
                </a:lnTo>
                <a:close/>
              </a:path>
              <a:path w="2031365" h="648970">
                <a:moveTo>
                  <a:pt x="1947285" y="0"/>
                </a:moveTo>
                <a:lnTo>
                  <a:pt x="1954737" y="24282"/>
                </a:lnTo>
                <a:lnTo>
                  <a:pt x="1966875" y="20557"/>
                </a:lnTo>
                <a:lnTo>
                  <a:pt x="2024502" y="20557"/>
                </a:lnTo>
                <a:lnTo>
                  <a:pt x="2031310" y="14069"/>
                </a:lnTo>
                <a:lnTo>
                  <a:pt x="1947285" y="0"/>
                </a:lnTo>
                <a:close/>
              </a:path>
              <a:path w="2031365" h="648970">
                <a:moveTo>
                  <a:pt x="1918310" y="35460"/>
                </a:moveTo>
                <a:lnTo>
                  <a:pt x="1894028" y="42912"/>
                </a:lnTo>
                <a:lnTo>
                  <a:pt x="1901480" y="67194"/>
                </a:lnTo>
                <a:lnTo>
                  <a:pt x="1925763" y="59743"/>
                </a:lnTo>
                <a:lnTo>
                  <a:pt x="1918310" y="35460"/>
                </a:lnTo>
                <a:close/>
              </a:path>
              <a:path w="2031365" h="648970">
                <a:moveTo>
                  <a:pt x="1869746" y="50363"/>
                </a:moveTo>
                <a:lnTo>
                  <a:pt x="1845463" y="57815"/>
                </a:lnTo>
                <a:lnTo>
                  <a:pt x="1852914" y="82097"/>
                </a:lnTo>
                <a:lnTo>
                  <a:pt x="1877198" y="74645"/>
                </a:lnTo>
                <a:lnTo>
                  <a:pt x="1869746" y="50363"/>
                </a:lnTo>
                <a:close/>
              </a:path>
              <a:path w="2031365" h="648970">
                <a:moveTo>
                  <a:pt x="1821181" y="65266"/>
                </a:moveTo>
                <a:lnTo>
                  <a:pt x="1796898" y="72717"/>
                </a:lnTo>
                <a:lnTo>
                  <a:pt x="1804349" y="97000"/>
                </a:lnTo>
                <a:lnTo>
                  <a:pt x="1828632" y="89548"/>
                </a:lnTo>
                <a:lnTo>
                  <a:pt x="1821181" y="65266"/>
                </a:lnTo>
                <a:close/>
              </a:path>
              <a:path w="2031365" h="648970">
                <a:moveTo>
                  <a:pt x="1772616" y="80170"/>
                </a:moveTo>
                <a:lnTo>
                  <a:pt x="1748334" y="87621"/>
                </a:lnTo>
                <a:lnTo>
                  <a:pt x="1755785" y="111903"/>
                </a:lnTo>
                <a:lnTo>
                  <a:pt x="1780067" y="104452"/>
                </a:lnTo>
                <a:lnTo>
                  <a:pt x="1772616" y="80170"/>
                </a:lnTo>
                <a:close/>
              </a:path>
              <a:path w="2031365" h="648970">
                <a:moveTo>
                  <a:pt x="1724051" y="95072"/>
                </a:moveTo>
                <a:lnTo>
                  <a:pt x="1699769" y="102523"/>
                </a:lnTo>
                <a:lnTo>
                  <a:pt x="1707220" y="126806"/>
                </a:lnTo>
                <a:lnTo>
                  <a:pt x="1731502" y="119354"/>
                </a:lnTo>
                <a:lnTo>
                  <a:pt x="1724051" y="95072"/>
                </a:lnTo>
                <a:close/>
              </a:path>
              <a:path w="2031365" h="648970">
                <a:moveTo>
                  <a:pt x="1675486" y="109975"/>
                </a:moveTo>
                <a:lnTo>
                  <a:pt x="1651204" y="117426"/>
                </a:lnTo>
                <a:lnTo>
                  <a:pt x="1658655" y="141709"/>
                </a:lnTo>
                <a:lnTo>
                  <a:pt x="1682937" y="134257"/>
                </a:lnTo>
                <a:lnTo>
                  <a:pt x="1675486" y="109975"/>
                </a:lnTo>
                <a:close/>
              </a:path>
              <a:path w="2031365" h="648970">
                <a:moveTo>
                  <a:pt x="1626922" y="124878"/>
                </a:moveTo>
                <a:lnTo>
                  <a:pt x="1602639" y="132329"/>
                </a:lnTo>
                <a:lnTo>
                  <a:pt x="1610090" y="156612"/>
                </a:lnTo>
                <a:lnTo>
                  <a:pt x="1634373" y="149160"/>
                </a:lnTo>
                <a:lnTo>
                  <a:pt x="1626922" y="124878"/>
                </a:lnTo>
                <a:close/>
              </a:path>
              <a:path w="2031365" h="648970">
                <a:moveTo>
                  <a:pt x="1578357" y="139781"/>
                </a:moveTo>
                <a:lnTo>
                  <a:pt x="1554074" y="147232"/>
                </a:lnTo>
                <a:lnTo>
                  <a:pt x="1561525" y="171515"/>
                </a:lnTo>
                <a:lnTo>
                  <a:pt x="1585808" y="164063"/>
                </a:lnTo>
                <a:lnTo>
                  <a:pt x="1578357" y="139781"/>
                </a:lnTo>
                <a:close/>
              </a:path>
              <a:path w="2031365" h="648970">
                <a:moveTo>
                  <a:pt x="1529792" y="154684"/>
                </a:moveTo>
                <a:lnTo>
                  <a:pt x="1505510" y="162135"/>
                </a:lnTo>
                <a:lnTo>
                  <a:pt x="1512961" y="186417"/>
                </a:lnTo>
                <a:lnTo>
                  <a:pt x="1537243" y="178966"/>
                </a:lnTo>
                <a:lnTo>
                  <a:pt x="1529792" y="154684"/>
                </a:lnTo>
                <a:close/>
              </a:path>
              <a:path w="2031365" h="648970">
                <a:moveTo>
                  <a:pt x="1481227" y="169587"/>
                </a:moveTo>
                <a:lnTo>
                  <a:pt x="1456945" y="177038"/>
                </a:lnTo>
                <a:lnTo>
                  <a:pt x="1464396" y="201320"/>
                </a:lnTo>
                <a:lnTo>
                  <a:pt x="1488678" y="193869"/>
                </a:lnTo>
                <a:lnTo>
                  <a:pt x="1481227" y="169587"/>
                </a:lnTo>
                <a:close/>
              </a:path>
              <a:path w="2031365" h="648970">
                <a:moveTo>
                  <a:pt x="1432662" y="184489"/>
                </a:moveTo>
                <a:lnTo>
                  <a:pt x="1408380" y="191941"/>
                </a:lnTo>
                <a:lnTo>
                  <a:pt x="1415831" y="216223"/>
                </a:lnTo>
                <a:lnTo>
                  <a:pt x="1440113" y="208772"/>
                </a:lnTo>
                <a:lnTo>
                  <a:pt x="1432662" y="184489"/>
                </a:lnTo>
                <a:close/>
              </a:path>
              <a:path w="2031365" h="648970">
                <a:moveTo>
                  <a:pt x="1384098" y="199392"/>
                </a:moveTo>
                <a:lnTo>
                  <a:pt x="1359815" y="206844"/>
                </a:lnTo>
                <a:lnTo>
                  <a:pt x="1367266" y="231126"/>
                </a:lnTo>
                <a:lnTo>
                  <a:pt x="1391549" y="223675"/>
                </a:lnTo>
                <a:lnTo>
                  <a:pt x="1384098" y="199392"/>
                </a:lnTo>
                <a:close/>
              </a:path>
              <a:path w="2031365" h="648970">
                <a:moveTo>
                  <a:pt x="1335533" y="214295"/>
                </a:moveTo>
                <a:lnTo>
                  <a:pt x="1311250" y="221747"/>
                </a:lnTo>
                <a:lnTo>
                  <a:pt x="1318701" y="246029"/>
                </a:lnTo>
                <a:lnTo>
                  <a:pt x="1342984" y="238578"/>
                </a:lnTo>
                <a:lnTo>
                  <a:pt x="1335533" y="214295"/>
                </a:lnTo>
                <a:close/>
              </a:path>
              <a:path w="2031365" h="648970">
                <a:moveTo>
                  <a:pt x="1286968" y="229198"/>
                </a:moveTo>
                <a:lnTo>
                  <a:pt x="1262686" y="236650"/>
                </a:lnTo>
                <a:lnTo>
                  <a:pt x="1270137" y="260932"/>
                </a:lnTo>
                <a:lnTo>
                  <a:pt x="1294419" y="253481"/>
                </a:lnTo>
                <a:lnTo>
                  <a:pt x="1286968" y="229198"/>
                </a:lnTo>
                <a:close/>
              </a:path>
              <a:path w="2031365" h="648970">
                <a:moveTo>
                  <a:pt x="1238403" y="244101"/>
                </a:moveTo>
                <a:lnTo>
                  <a:pt x="1214121" y="251553"/>
                </a:lnTo>
                <a:lnTo>
                  <a:pt x="1221572" y="275835"/>
                </a:lnTo>
                <a:lnTo>
                  <a:pt x="1245854" y="268384"/>
                </a:lnTo>
                <a:lnTo>
                  <a:pt x="1238403" y="244101"/>
                </a:lnTo>
                <a:close/>
              </a:path>
              <a:path w="2031365" h="648970">
                <a:moveTo>
                  <a:pt x="1189838" y="259004"/>
                </a:moveTo>
                <a:lnTo>
                  <a:pt x="1165556" y="266456"/>
                </a:lnTo>
                <a:lnTo>
                  <a:pt x="1173007" y="290738"/>
                </a:lnTo>
                <a:lnTo>
                  <a:pt x="1197289" y="283287"/>
                </a:lnTo>
                <a:lnTo>
                  <a:pt x="1189838" y="259004"/>
                </a:lnTo>
                <a:close/>
              </a:path>
              <a:path w="2031365" h="648970">
                <a:moveTo>
                  <a:pt x="1141274" y="273907"/>
                </a:moveTo>
                <a:lnTo>
                  <a:pt x="1116991" y="281358"/>
                </a:lnTo>
                <a:lnTo>
                  <a:pt x="1124442" y="305641"/>
                </a:lnTo>
                <a:lnTo>
                  <a:pt x="1148725" y="298190"/>
                </a:lnTo>
                <a:lnTo>
                  <a:pt x="1141274" y="273907"/>
                </a:lnTo>
                <a:close/>
              </a:path>
              <a:path w="2031365" h="648970">
                <a:moveTo>
                  <a:pt x="1092709" y="288810"/>
                </a:moveTo>
                <a:lnTo>
                  <a:pt x="1068426" y="296261"/>
                </a:lnTo>
                <a:lnTo>
                  <a:pt x="1075877" y="320544"/>
                </a:lnTo>
                <a:lnTo>
                  <a:pt x="1100160" y="313092"/>
                </a:lnTo>
                <a:lnTo>
                  <a:pt x="1092709" y="288810"/>
                </a:lnTo>
                <a:close/>
              </a:path>
              <a:path w="2031365" h="648970">
                <a:moveTo>
                  <a:pt x="1044144" y="303713"/>
                </a:moveTo>
                <a:lnTo>
                  <a:pt x="1019862" y="311164"/>
                </a:lnTo>
                <a:lnTo>
                  <a:pt x="1027313" y="335447"/>
                </a:lnTo>
                <a:lnTo>
                  <a:pt x="1051595" y="327995"/>
                </a:lnTo>
                <a:lnTo>
                  <a:pt x="1044144" y="303713"/>
                </a:lnTo>
                <a:close/>
              </a:path>
              <a:path w="2031365" h="648970">
                <a:moveTo>
                  <a:pt x="995579" y="318616"/>
                </a:moveTo>
                <a:lnTo>
                  <a:pt x="971296" y="326067"/>
                </a:lnTo>
                <a:lnTo>
                  <a:pt x="978748" y="350350"/>
                </a:lnTo>
                <a:lnTo>
                  <a:pt x="1003030" y="342898"/>
                </a:lnTo>
                <a:lnTo>
                  <a:pt x="995579" y="318616"/>
                </a:lnTo>
                <a:close/>
              </a:path>
              <a:path w="2031365" h="648970">
                <a:moveTo>
                  <a:pt x="947013" y="333519"/>
                </a:moveTo>
                <a:lnTo>
                  <a:pt x="922732" y="340970"/>
                </a:lnTo>
                <a:lnTo>
                  <a:pt x="930183" y="365253"/>
                </a:lnTo>
                <a:lnTo>
                  <a:pt x="954465" y="357801"/>
                </a:lnTo>
                <a:lnTo>
                  <a:pt x="947013" y="333519"/>
                </a:lnTo>
                <a:close/>
              </a:path>
              <a:path w="2031365" h="648970">
                <a:moveTo>
                  <a:pt x="898450" y="348422"/>
                </a:moveTo>
                <a:lnTo>
                  <a:pt x="874167" y="355873"/>
                </a:lnTo>
                <a:lnTo>
                  <a:pt x="881618" y="380156"/>
                </a:lnTo>
                <a:lnTo>
                  <a:pt x="905901" y="372704"/>
                </a:lnTo>
                <a:lnTo>
                  <a:pt x="898450" y="348422"/>
                </a:lnTo>
                <a:close/>
              </a:path>
              <a:path w="2031365" h="648970">
                <a:moveTo>
                  <a:pt x="849885" y="363325"/>
                </a:moveTo>
                <a:lnTo>
                  <a:pt x="825602" y="370776"/>
                </a:lnTo>
                <a:lnTo>
                  <a:pt x="833053" y="395059"/>
                </a:lnTo>
                <a:lnTo>
                  <a:pt x="857336" y="387607"/>
                </a:lnTo>
                <a:lnTo>
                  <a:pt x="849885" y="363325"/>
                </a:lnTo>
                <a:close/>
              </a:path>
              <a:path w="2031365" h="648970">
                <a:moveTo>
                  <a:pt x="801320" y="378228"/>
                </a:moveTo>
                <a:lnTo>
                  <a:pt x="777038" y="385679"/>
                </a:lnTo>
                <a:lnTo>
                  <a:pt x="784489" y="409961"/>
                </a:lnTo>
                <a:lnTo>
                  <a:pt x="808771" y="402510"/>
                </a:lnTo>
                <a:lnTo>
                  <a:pt x="801320" y="378228"/>
                </a:lnTo>
                <a:close/>
              </a:path>
              <a:path w="2031365" h="648970">
                <a:moveTo>
                  <a:pt x="752755" y="393131"/>
                </a:moveTo>
                <a:lnTo>
                  <a:pt x="728473" y="400582"/>
                </a:lnTo>
                <a:lnTo>
                  <a:pt x="735924" y="424864"/>
                </a:lnTo>
                <a:lnTo>
                  <a:pt x="760206" y="417413"/>
                </a:lnTo>
                <a:lnTo>
                  <a:pt x="752755" y="393131"/>
                </a:lnTo>
                <a:close/>
              </a:path>
              <a:path w="2031365" h="648970">
                <a:moveTo>
                  <a:pt x="704190" y="408033"/>
                </a:moveTo>
                <a:lnTo>
                  <a:pt x="679908" y="415485"/>
                </a:lnTo>
                <a:lnTo>
                  <a:pt x="687359" y="439767"/>
                </a:lnTo>
                <a:lnTo>
                  <a:pt x="711641" y="432316"/>
                </a:lnTo>
                <a:lnTo>
                  <a:pt x="704190" y="408033"/>
                </a:lnTo>
                <a:close/>
              </a:path>
              <a:path w="2031365" h="648970">
                <a:moveTo>
                  <a:pt x="655626" y="422936"/>
                </a:moveTo>
                <a:lnTo>
                  <a:pt x="631343" y="430388"/>
                </a:lnTo>
                <a:lnTo>
                  <a:pt x="638794" y="454670"/>
                </a:lnTo>
                <a:lnTo>
                  <a:pt x="663077" y="447219"/>
                </a:lnTo>
                <a:lnTo>
                  <a:pt x="655626" y="422936"/>
                </a:lnTo>
                <a:close/>
              </a:path>
              <a:path w="2031365" h="648970">
                <a:moveTo>
                  <a:pt x="607061" y="437839"/>
                </a:moveTo>
                <a:lnTo>
                  <a:pt x="582778" y="445291"/>
                </a:lnTo>
                <a:lnTo>
                  <a:pt x="590229" y="469573"/>
                </a:lnTo>
                <a:lnTo>
                  <a:pt x="614512" y="462122"/>
                </a:lnTo>
                <a:lnTo>
                  <a:pt x="607061" y="437839"/>
                </a:lnTo>
                <a:close/>
              </a:path>
              <a:path w="2031365" h="648970">
                <a:moveTo>
                  <a:pt x="558496" y="452742"/>
                </a:moveTo>
                <a:lnTo>
                  <a:pt x="534214" y="460194"/>
                </a:lnTo>
                <a:lnTo>
                  <a:pt x="541665" y="484476"/>
                </a:lnTo>
                <a:lnTo>
                  <a:pt x="565947" y="477025"/>
                </a:lnTo>
                <a:lnTo>
                  <a:pt x="558496" y="452742"/>
                </a:lnTo>
                <a:close/>
              </a:path>
              <a:path w="2031365" h="648970">
                <a:moveTo>
                  <a:pt x="509931" y="467645"/>
                </a:moveTo>
                <a:lnTo>
                  <a:pt x="485649" y="475097"/>
                </a:lnTo>
                <a:lnTo>
                  <a:pt x="493100" y="499379"/>
                </a:lnTo>
                <a:lnTo>
                  <a:pt x="517382" y="491928"/>
                </a:lnTo>
                <a:lnTo>
                  <a:pt x="509931" y="467645"/>
                </a:lnTo>
                <a:close/>
              </a:path>
              <a:path w="2031365" h="648970">
                <a:moveTo>
                  <a:pt x="461366" y="482548"/>
                </a:moveTo>
                <a:lnTo>
                  <a:pt x="437084" y="490000"/>
                </a:lnTo>
                <a:lnTo>
                  <a:pt x="444535" y="514282"/>
                </a:lnTo>
                <a:lnTo>
                  <a:pt x="468817" y="506831"/>
                </a:lnTo>
                <a:lnTo>
                  <a:pt x="461366" y="482548"/>
                </a:lnTo>
                <a:close/>
              </a:path>
              <a:path w="2031365" h="648970">
                <a:moveTo>
                  <a:pt x="412802" y="497451"/>
                </a:moveTo>
                <a:lnTo>
                  <a:pt x="388519" y="504902"/>
                </a:lnTo>
                <a:lnTo>
                  <a:pt x="395970" y="529185"/>
                </a:lnTo>
                <a:lnTo>
                  <a:pt x="420253" y="521733"/>
                </a:lnTo>
                <a:lnTo>
                  <a:pt x="412802" y="497451"/>
                </a:lnTo>
                <a:close/>
              </a:path>
              <a:path w="2031365" h="648970">
                <a:moveTo>
                  <a:pt x="364237" y="512354"/>
                </a:moveTo>
                <a:lnTo>
                  <a:pt x="339954" y="519805"/>
                </a:lnTo>
                <a:lnTo>
                  <a:pt x="347405" y="544088"/>
                </a:lnTo>
                <a:lnTo>
                  <a:pt x="371688" y="536636"/>
                </a:lnTo>
                <a:lnTo>
                  <a:pt x="364237" y="512354"/>
                </a:lnTo>
                <a:close/>
              </a:path>
              <a:path w="2031365" h="648970">
                <a:moveTo>
                  <a:pt x="315672" y="527257"/>
                </a:moveTo>
                <a:lnTo>
                  <a:pt x="291390" y="534708"/>
                </a:lnTo>
                <a:lnTo>
                  <a:pt x="298841" y="558991"/>
                </a:lnTo>
                <a:lnTo>
                  <a:pt x="323123" y="551539"/>
                </a:lnTo>
                <a:lnTo>
                  <a:pt x="315672" y="527257"/>
                </a:lnTo>
                <a:close/>
              </a:path>
              <a:path w="2031365" h="648970">
                <a:moveTo>
                  <a:pt x="267107" y="542160"/>
                </a:moveTo>
                <a:lnTo>
                  <a:pt x="242825" y="549611"/>
                </a:lnTo>
                <a:lnTo>
                  <a:pt x="250276" y="573894"/>
                </a:lnTo>
                <a:lnTo>
                  <a:pt x="274558" y="566442"/>
                </a:lnTo>
                <a:lnTo>
                  <a:pt x="267107" y="542160"/>
                </a:lnTo>
                <a:close/>
              </a:path>
              <a:path w="2031365" h="648970">
                <a:moveTo>
                  <a:pt x="218542" y="557063"/>
                </a:moveTo>
                <a:lnTo>
                  <a:pt x="194260" y="564514"/>
                </a:lnTo>
                <a:lnTo>
                  <a:pt x="201711" y="588796"/>
                </a:lnTo>
                <a:lnTo>
                  <a:pt x="225993" y="581345"/>
                </a:lnTo>
                <a:lnTo>
                  <a:pt x="218542" y="557063"/>
                </a:lnTo>
                <a:close/>
              </a:path>
              <a:path w="2031365" h="648970">
                <a:moveTo>
                  <a:pt x="169978" y="571965"/>
                </a:moveTo>
                <a:lnTo>
                  <a:pt x="145694" y="579417"/>
                </a:lnTo>
                <a:lnTo>
                  <a:pt x="153146" y="603699"/>
                </a:lnTo>
                <a:lnTo>
                  <a:pt x="177429" y="596248"/>
                </a:lnTo>
                <a:lnTo>
                  <a:pt x="169978" y="571965"/>
                </a:lnTo>
                <a:close/>
              </a:path>
              <a:path w="2031365" h="648970">
                <a:moveTo>
                  <a:pt x="121412" y="586868"/>
                </a:moveTo>
                <a:lnTo>
                  <a:pt x="97129" y="594320"/>
                </a:lnTo>
                <a:lnTo>
                  <a:pt x="104581" y="618602"/>
                </a:lnTo>
                <a:lnTo>
                  <a:pt x="128864" y="611151"/>
                </a:lnTo>
                <a:lnTo>
                  <a:pt x="121412" y="586868"/>
                </a:lnTo>
                <a:close/>
              </a:path>
              <a:path w="2031365" h="648970">
                <a:moveTo>
                  <a:pt x="72847" y="601771"/>
                </a:moveTo>
                <a:lnTo>
                  <a:pt x="48564" y="609223"/>
                </a:lnTo>
                <a:lnTo>
                  <a:pt x="56017" y="633505"/>
                </a:lnTo>
                <a:lnTo>
                  <a:pt x="80299" y="626054"/>
                </a:lnTo>
                <a:lnTo>
                  <a:pt x="72847" y="601771"/>
                </a:lnTo>
                <a:close/>
              </a:path>
              <a:path w="2031365" h="648970">
                <a:moveTo>
                  <a:pt x="24282" y="616674"/>
                </a:moveTo>
                <a:lnTo>
                  <a:pt x="0" y="624126"/>
                </a:lnTo>
                <a:lnTo>
                  <a:pt x="7452" y="648408"/>
                </a:lnTo>
                <a:lnTo>
                  <a:pt x="31734" y="640957"/>
                </a:lnTo>
                <a:lnTo>
                  <a:pt x="24282" y="61667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251115" y="5489167"/>
            <a:ext cx="983615" cy="629285"/>
          </a:xfrm>
          <a:custGeom>
            <a:avLst/>
            <a:gdLst/>
            <a:ahLst/>
            <a:cxnLst/>
            <a:rect l="l" t="t" r="r" b="b"/>
            <a:pathLst>
              <a:path w="983614" h="629285">
                <a:moveTo>
                  <a:pt x="0" y="0"/>
                </a:moveTo>
                <a:lnTo>
                  <a:pt x="44013" y="72944"/>
                </a:lnTo>
                <a:lnTo>
                  <a:pt x="57597" y="51482"/>
                </a:lnTo>
                <a:lnTo>
                  <a:pt x="46865" y="44690"/>
                </a:lnTo>
                <a:lnTo>
                  <a:pt x="60448" y="23228"/>
                </a:lnTo>
                <a:lnTo>
                  <a:pt x="75478" y="23228"/>
                </a:lnTo>
                <a:lnTo>
                  <a:pt x="84763" y="8557"/>
                </a:lnTo>
                <a:lnTo>
                  <a:pt x="0" y="0"/>
                </a:lnTo>
                <a:close/>
              </a:path>
              <a:path w="983614" h="629285">
                <a:moveTo>
                  <a:pt x="71180" y="30019"/>
                </a:moveTo>
                <a:lnTo>
                  <a:pt x="57597" y="51482"/>
                </a:lnTo>
                <a:lnTo>
                  <a:pt x="68327" y="58273"/>
                </a:lnTo>
                <a:lnTo>
                  <a:pt x="81911" y="36810"/>
                </a:lnTo>
                <a:lnTo>
                  <a:pt x="71180" y="30019"/>
                </a:lnTo>
                <a:close/>
              </a:path>
              <a:path w="983614" h="629285">
                <a:moveTo>
                  <a:pt x="60448" y="23228"/>
                </a:moveTo>
                <a:lnTo>
                  <a:pt x="46865" y="44690"/>
                </a:lnTo>
                <a:lnTo>
                  <a:pt x="57597" y="51482"/>
                </a:lnTo>
                <a:lnTo>
                  <a:pt x="71180" y="30019"/>
                </a:lnTo>
                <a:lnTo>
                  <a:pt x="60448" y="23228"/>
                </a:lnTo>
                <a:close/>
              </a:path>
              <a:path w="983614" h="629285">
                <a:moveTo>
                  <a:pt x="75478" y="23228"/>
                </a:moveTo>
                <a:lnTo>
                  <a:pt x="60448" y="23228"/>
                </a:lnTo>
                <a:lnTo>
                  <a:pt x="71180" y="30019"/>
                </a:lnTo>
                <a:lnTo>
                  <a:pt x="75478" y="23228"/>
                </a:lnTo>
                <a:close/>
              </a:path>
              <a:path w="983614" h="629285">
                <a:moveTo>
                  <a:pt x="103374" y="50394"/>
                </a:moveTo>
                <a:lnTo>
                  <a:pt x="89790" y="71857"/>
                </a:lnTo>
                <a:lnTo>
                  <a:pt x="111253" y="85440"/>
                </a:lnTo>
                <a:lnTo>
                  <a:pt x="124837" y="63978"/>
                </a:lnTo>
                <a:lnTo>
                  <a:pt x="103374" y="50394"/>
                </a:lnTo>
                <a:close/>
              </a:path>
              <a:path w="983614" h="629285">
                <a:moveTo>
                  <a:pt x="146299" y="77561"/>
                </a:moveTo>
                <a:lnTo>
                  <a:pt x="132716" y="99024"/>
                </a:lnTo>
                <a:lnTo>
                  <a:pt x="154179" y="112607"/>
                </a:lnTo>
                <a:lnTo>
                  <a:pt x="167762" y="91145"/>
                </a:lnTo>
                <a:lnTo>
                  <a:pt x="146299" y="77561"/>
                </a:lnTo>
                <a:close/>
              </a:path>
              <a:path w="983614" h="629285">
                <a:moveTo>
                  <a:pt x="189225" y="104728"/>
                </a:moveTo>
                <a:lnTo>
                  <a:pt x="175641" y="126191"/>
                </a:lnTo>
                <a:lnTo>
                  <a:pt x="197104" y="139774"/>
                </a:lnTo>
                <a:lnTo>
                  <a:pt x="210688" y="118312"/>
                </a:lnTo>
                <a:lnTo>
                  <a:pt x="189225" y="104728"/>
                </a:lnTo>
                <a:close/>
              </a:path>
              <a:path w="983614" h="629285">
                <a:moveTo>
                  <a:pt x="232151" y="131895"/>
                </a:moveTo>
                <a:lnTo>
                  <a:pt x="218567" y="153358"/>
                </a:lnTo>
                <a:lnTo>
                  <a:pt x="240030" y="166941"/>
                </a:lnTo>
                <a:lnTo>
                  <a:pt x="253613" y="145479"/>
                </a:lnTo>
                <a:lnTo>
                  <a:pt x="232151" y="131895"/>
                </a:lnTo>
                <a:close/>
              </a:path>
              <a:path w="983614" h="629285">
                <a:moveTo>
                  <a:pt x="275076" y="159062"/>
                </a:moveTo>
                <a:lnTo>
                  <a:pt x="261493" y="180525"/>
                </a:lnTo>
                <a:lnTo>
                  <a:pt x="282955" y="194108"/>
                </a:lnTo>
                <a:lnTo>
                  <a:pt x="296539" y="172645"/>
                </a:lnTo>
                <a:lnTo>
                  <a:pt x="275076" y="159062"/>
                </a:lnTo>
                <a:close/>
              </a:path>
              <a:path w="983614" h="629285">
                <a:moveTo>
                  <a:pt x="318002" y="186229"/>
                </a:moveTo>
                <a:lnTo>
                  <a:pt x="304418" y="207692"/>
                </a:lnTo>
                <a:lnTo>
                  <a:pt x="325881" y="221275"/>
                </a:lnTo>
                <a:lnTo>
                  <a:pt x="339465" y="199812"/>
                </a:lnTo>
                <a:lnTo>
                  <a:pt x="318002" y="186229"/>
                </a:lnTo>
                <a:close/>
              </a:path>
              <a:path w="983614" h="629285">
                <a:moveTo>
                  <a:pt x="360926" y="213396"/>
                </a:moveTo>
                <a:lnTo>
                  <a:pt x="347344" y="234859"/>
                </a:lnTo>
                <a:lnTo>
                  <a:pt x="368807" y="248442"/>
                </a:lnTo>
                <a:lnTo>
                  <a:pt x="382389" y="226979"/>
                </a:lnTo>
                <a:lnTo>
                  <a:pt x="360926" y="213396"/>
                </a:lnTo>
                <a:close/>
              </a:path>
              <a:path w="983614" h="629285">
                <a:moveTo>
                  <a:pt x="403852" y="240563"/>
                </a:moveTo>
                <a:lnTo>
                  <a:pt x="390268" y="262026"/>
                </a:lnTo>
                <a:lnTo>
                  <a:pt x="411731" y="275609"/>
                </a:lnTo>
                <a:lnTo>
                  <a:pt x="425315" y="254146"/>
                </a:lnTo>
                <a:lnTo>
                  <a:pt x="403852" y="240563"/>
                </a:lnTo>
                <a:close/>
              </a:path>
              <a:path w="983614" h="629285">
                <a:moveTo>
                  <a:pt x="446778" y="267730"/>
                </a:moveTo>
                <a:lnTo>
                  <a:pt x="433194" y="289192"/>
                </a:lnTo>
                <a:lnTo>
                  <a:pt x="454657" y="302776"/>
                </a:lnTo>
                <a:lnTo>
                  <a:pt x="468240" y="281313"/>
                </a:lnTo>
                <a:lnTo>
                  <a:pt x="446778" y="267730"/>
                </a:lnTo>
                <a:close/>
              </a:path>
              <a:path w="983614" h="629285">
                <a:moveTo>
                  <a:pt x="489703" y="294897"/>
                </a:moveTo>
                <a:lnTo>
                  <a:pt x="476120" y="316359"/>
                </a:lnTo>
                <a:lnTo>
                  <a:pt x="497582" y="329943"/>
                </a:lnTo>
                <a:lnTo>
                  <a:pt x="511166" y="308480"/>
                </a:lnTo>
                <a:lnTo>
                  <a:pt x="489703" y="294897"/>
                </a:lnTo>
                <a:close/>
              </a:path>
              <a:path w="983614" h="629285">
                <a:moveTo>
                  <a:pt x="532629" y="322064"/>
                </a:moveTo>
                <a:lnTo>
                  <a:pt x="519045" y="343526"/>
                </a:lnTo>
                <a:lnTo>
                  <a:pt x="540508" y="357110"/>
                </a:lnTo>
                <a:lnTo>
                  <a:pt x="554092" y="335647"/>
                </a:lnTo>
                <a:lnTo>
                  <a:pt x="532629" y="322064"/>
                </a:lnTo>
                <a:close/>
              </a:path>
              <a:path w="983614" h="629285">
                <a:moveTo>
                  <a:pt x="575554" y="349231"/>
                </a:moveTo>
                <a:lnTo>
                  <a:pt x="561971" y="370693"/>
                </a:lnTo>
                <a:lnTo>
                  <a:pt x="583434" y="384277"/>
                </a:lnTo>
                <a:lnTo>
                  <a:pt x="597017" y="362814"/>
                </a:lnTo>
                <a:lnTo>
                  <a:pt x="575554" y="349231"/>
                </a:lnTo>
                <a:close/>
              </a:path>
              <a:path w="983614" h="629285">
                <a:moveTo>
                  <a:pt x="618480" y="376398"/>
                </a:moveTo>
                <a:lnTo>
                  <a:pt x="604896" y="397860"/>
                </a:lnTo>
                <a:lnTo>
                  <a:pt x="626359" y="411444"/>
                </a:lnTo>
                <a:lnTo>
                  <a:pt x="639943" y="389981"/>
                </a:lnTo>
                <a:lnTo>
                  <a:pt x="618480" y="376398"/>
                </a:lnTo>
                <a:close/>
              </a:path>
              <a:path w="983614" h="629285">
                <a:moveTo>
                  <a:pt x="661406" y="403564"/>
                </a:moveTo>
                <a:lnTo>
                  <a:pt x="647822" y="425027"/>
                </a:lnTo>
                <a:lnTo>
                  <a:pt x="669285" y="438611"/>
                </a:lnTo>
                <a:lnTo>
                  <a:pt x="682869" y="417148"/>
                </a:lnTo>
                <a:lnTo>
                  <a:pt x="661406" y="403564"/>
                </a:lnTo>
                <a:close/>
              </a:path>
              <a:path w="983614" h="629285">
                <a:moveTo>
                  <a:pt x="704330" y="430731"/>
                </a:moveTo>
                <a:lnTo>
                  <a:pt x="690748" y="452194"/>
                </a:lnTo>
                <a:lnTo>
                  <a:pt x="712210" y="465778"/>
                </a:lnTo>
                <a:lnTo>
                  <a:pt x="725793" y="444315"/>
                </a:lnTo>
                <a:lnTo>
                  <a:pt x="704330" y="430731"/>
                </a:lnTo>
                <a:close/>
              </a:path>
              <a:path w="983614" h="629285">
                <a:moveTo>
                  <a:pt x="747256" y="457898"/>
                </a:moveTo>
                <a:lnTo>
                  <a:pt x="733673" y="479361"/>
                </a:lnTo>
                <a:lnTo>
                  <a:pt x="755136" y="492945"/>
                </a:lnTo>
                <a:lnTo>
                  <a:pt x="768719" y="471482"/>
                </a:lnTo>
                <a:lnTo>
                  <a:pt x="747256" y="457898"/>
                </a:lnTo>
                <a:close/>
              </a:path>
              <a:path w="983614" h="629285">
                <a:moveTo>
                  <a:pt x="790182" y="485065"/>
                </a:moveTo>
                <a:lnTo>
                  <a:pt x="776599" y="506528"/>
                </a:lnTo>
                <a:lnTo>
                  <a:pt x="798062" y="520111"/>
                </a:lnTo>
                <a:lnTo>
                  <a:pt x="811644" y="498649"/>
                </a:lnTo>
                <a:lnTo>
                  <a:pt x="790182" y="485065"/>
                </a:lnTo>
                <a:close/>
              </a:path>
              <a:path w="983614" h="629285">
                <a:moveTo>
                  <a:pt x="833107" y="512232"/>
                </a:moveTo>
                <a:lnTo>
                  <a:pt x="819523" y="533695"/>
                </a:lnTo>
                <a:lnTo>
                  <a:pt x="840986" y="547278"/>
                </a:lnTo>
                <a:lnTo>
                  <a:pt x="854570" y="525816"/>
                </a:lnTo>
                <a:lnTo>
                  <a:pt x="833107" y="512232"/>
                </a:lnTo>
                <a:close/>
              </a:path>
              <a:path w="983614" h="629285">
                <a:moveTo>
                  <a:pt x="876033" y="539399"/>
                </a:moveTo>
                <a:lnTo>
                  <a:pt x="862449" y="560862"/>
                </a:lnTo>
                <a:lnTo>
                  <a:pt x="883912" y="574445"/>
                </a:lnTo>
                <a:lnTo>
                  <a:pt x="897495" y="552983"/>
                </a:lnTo>
                <a:lnTo>
                  <a:pt x="876033" y="539399"/>
                </a:lnTo>
                <a:close/>
              </a:path>
              <a:path w="983614" h="629285">
                <a:moveTo>
                  <a:pt x="918958" y="566566"/>
                </a:moveTo>
                <a:lnTo>
                  <a:pt x="905375" y="588029"/>
                </a:lnTo>
                <a:lnTo>
                  <a:pt x="926837" y="601612"/>
                </a:lnTo>
                <a:lnTo>
                  <a:pt x="940421" y="580150"/>
                </a:lnTo>
                <a:lnTo>
                  <a:pt x="918958" y="566566"/>
                </a:lnTo>
                <a:close/>
              </a:path>
              <a:path w="983614" h="629285">
                <a:moveTo>
                  <a:pt x="961884" y="593733"/>
                </a:moveTo>
                <a:lnTo>
                  <a:pt x="948300" y="615196"/>
                </a:lnTo>
                <a:lnTo>
                  <a:pt x="969763" y="628779"/>
                </a:lnTo>
                <a:lnTo>
                  <a:pt x="983347" y="607317"/>
                </a:lnTo>
                <a:lnTo>
                  <a:pt x="961884" y="59373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636369" y="5489167"/>
            <a:ext cx="599440" cy="622300"/>
          </a:xfrm>
          <a:custGeom>
            <a:avLst/>
            <a:gdLst/>
            <a:ahLst/>
            <a:cxnLst/>
            <a:rect l="l" t="t" r="r" b="b"/>
            <a:pathLst>
              <a:path w="599439" h="622300">
                <a:moveTo>
                  <a:pt x="88428" y="73527"/>
                </a:moveTo>
                <a:lnTo>
                  <a:pt x="70131" y="91145"/>
                </a:lnTo>
                <a:lnTo>
                  <a:pt x="87749" y="109442"/>
                </a:lnTo>
                <a:lnTo>
                  <a:pt x="106046" y="91824"/>
                </a:lnTo>
                <a:lnTo>
                  <a:pt x="88428" y="73527"/>
                </a:lnTo>
                <a:close/>
              </a:path>
              <a:path w="599439" h="622300">
                <a:moveTo>
                  <a:pt x="0" y="0"/>
                </a:moveTo>
                <a:lnTo>
                  <a:pt x="25408" y="81318"/>
                </a:lnTo>
                <a:lnTo>
                  <a:pt x="43705" y="63700"/>
                </a:lnTo>
                <a:lnTo>
                  <a:pt x="34897" y="54551"/>
                </a:lnTo>
                <a:lnTo>
                  <a:pt x="53193" y="36934"/>
                </a:lnTo>
                <a:lnTo>
                  <a:pt x="71503" y="36934"/>
                </a:lnTo>
                <a:lnTo>
                  <a:pt x="80299" y="28464"/>
                </a:lnTo>
                <a:lnTo>
                  <a:pt x="0" y="0"/>
                </a:lnTo>
                <a:close/>
              </a:path>
              <a:path w="599439" h="622300">
                <a:moveTo>
                  <a:pt x="62002" y="46082"/>
                </a:moveTo>
                <a:lnTo>
                  <a:pt x="43705" y="63700"/>
                </a:lnTo>
                <a:lnTo>
                  <a:pt x="52514" y="72848"/>
                </a:lnTo>
                <a:lnTo>
                  <a:pt x="70811" y="55231"/>
                </a:lnTo>
                <a:lnTo>
                  <a:pt x="62002" y="46082"/>
                </a:lnTo>
                <a:close/>
              </a:path>
              <a:path w="599439" h="622300">
                <a:moveTo>
                  <a:pt x="53193" y="36934"/>
                </a:moveTo>
                <a:lnTo>
                  <a:pt x="34897" y="54551"/>
                </a:lnTo>
                <a:lnTo>
                  <a:pt x="43705" y="63700"/>
                </a:lnTo>
                <a:lnTo>
                  <a:pt x="62002" y="46082"/>
                </a:lnTo>
                <a:lnTo>
                  <a:pt x="53193" y="36934"/>
                </a:lnTo>
                <a:close/>
              </a:path>
              <a:path w="599439" h="622300">
                <a:moveTo>
                  <a:pt x="71503" y="36934"/>
                </a:moveTo>
                <a:lnTo>
                  <a:pt x="53193" y="36934"/>
                </a:lnTo>
                <a:lnTo>
                  <a:pt x="62002" y="46082"/>
                </a:lnTo>
                <a:lnTo>
                  <a:pt x="71503" y="36934"/>
                </a:lnTo>
                <a:close/>
              </a:path>
              <a:path w="599439" h="622300">
                <a:moveTo>
                  <a:pt x="123663" y="110121"/>
                </a:moveTo>
                <a:lnTo>
                  <a:pt x="105366" y="127739"/>
                </a:lnTo>
                <a:lnTo>
                  <a:pt x="122985" y="146035"/>
                </a:lnTo>
                <a:lnTo>
                  <a:pt x="141282" y="128418"/>
                </a:lnTo>
                <a:lnTo>
                  <a:pt x="123663" y="110121"/>
                </a:lnTo>
                <a:close/>
              </a:path>
              <a:path w="599439" h="622300">
                <a:moveTo>
                  <a:pt x="158899" y="146714"/>
                </a:moveTo>
                <a:lnTo>
                  <a:pt x="140602" y="164332"/>
                </a:lnTo>
                <a:lnTo>
                  <a:pt x="158220" y="182629"/>
                </a:lnTo>
                <a:lnTo>
                  <a:pt x="176517" y="165011"/>
                </a:lnTo>
                <a:lnTo>
                  <a:pt x="158899" y="146714"/>
                </a:lnTo>
                <a:close/>
              </a:path>
              <a:path w="599439" h="622300">
                <a:moveTo>
                  <a:pt x="194134" y="183308"/>
                </a:moveTo>
                <a:lnTo>
                  <a:pt x="175837" y="200926"/>
                </a:lnTo>
                <a:lnTo>
                  <a:pt x="193456" y="219223"/>
                </a:lnTo>
                <a:lnTo>
                  <a:pt x="211753" y="201605"/>
                </a:lnTo>
                <a:lnTo>
                  <a:pt x="194134" y="183308"/>
                </a:lnTo>
                <a:close/>
              </a:path>
              <a:path w="599439" h="622300">
                <a:moveTo>
                  <a:pt x="229370" y="219902"/>
                </a:moveTo>
                <a:lnTo>
                  <a:pt x="211073" y="237520"/>
                </a:lnTo>
                <a:lnTo>
                  <a:pt x="228691" y="255816"/>
                </a:lnTo>
                <a:lnTo>
                  <a:pt x="246988" y="238199"/>
                </a:lnTo>
                <a:lnTo>
                  <a:pt x="229370" y="219902"/>
                </a:lnTo>
                <a:close/>
              </a:path>
              <a:path w="599439" h="622300">
                <a:moveTo>
                  <a:pt x="264605" y="256496"/>
                </a:moveTo>
                <a:lnTo>
                  <a:pt x="246308" y="274113"/>
                </a:lnTo>
                <a:lnTo>
                  <a:pt x="263927" y="292410"/>
                </a:lnTo>
                <a:lnTo>
                  <a:pt x="282224" y="274793"/>
                </a:lnTo>
                <a:lnTo>
                  <a:pt x="264605" y="256496"/>
                </a:lnTo>
                <a:close/>
              </a:path>
              <a:path w="599439" h="622300">
                <a:moveTo>
                  <a:pt x="299841" y="293089"/>
                </a:moveTo>
                <a:lnTo>
                  <a:pt x="281545" y="310707"/>
                </a:lnTo>
                <a:lnTo>
                  <a:pt x="299162" y="329004"/>
                </a:lnTo>
                <a:lnTo>
                  <a:pt x="317459" y="311386"/>
                </a:lnTo>
                <a:lnTo>
                  <a:pt x="299841" y="293089"/>
                </a:lnTo>
                <a:close/>
              </a:path>
              <a:path w="599439" h="622300">
                <a:moveTo>
                  <a:pt x="335076" y="329683"/>
                </a:moveTo>
                <a:lnTo>
                  <a:pt x="316779" y="347301"/>
                </a:lnTo>
                <a:lnTo>
                  <a:pt x="334398" y="365598"/>
                </a:lnTo>
                <a:lnTo>
                  <a:pt x="352695" y="347980"/>
                </a:lnTo>
                <a:lnTo>
                  <a:pt x="335076" y="329683"/>
                </a:lnTo>
                <a:close/>
              </a:path>
              <a:path w="599439" h="622300">
                <a:moveTo>
                  <a:pt x="370312" y="366277"/>
                </a:moveTo>
                <a:lnTo>
                  <a:pt x="352016" y="383895"/>
                </a:lnTo>
                <a:lnTo>
                  <a:pt x="369633" y="402191"/>
                </a:lnTo>
                <a:lnTo>
                  <a:pt x="387930" y="384574"/>
                </a:lnTo>
                <a:lnTo>
                  <a:pt x="370312" y="366277"/>
                </a:lnTo>
                <a:close/>
              </a:path>
              <a:path w="599439" h="622300">
                <a:moveTo>
                  <a:pt x="405547" y="402871"/>
                </a:moveTo>
                <a:lnTo>
                  <a:pt x="387250" y="420488"/>
                </a:lnTo>
                <a:lnTo>
                  <a:pt x="404869" y="438785"/>
                </a:lnTo>
                <a:lnTo>
                  <a:pt x="423166" y="421167"/>
                </a:lnTo>
                <a:lnTo>
                  <a:pt x="405547" y="402871"/>
                </a:lnTo>
                <a:close/>
              </a:path>
              <a:path w="599439" h="622300">
                <a:moveTo>
                  <a:pt x="440783" y="439464"/>
                </a:moveTo>
                <a:lnTo>
                  <a:pt x="422487" y="457082"/>
                </a:lnTo>
                <a:lnTo>
                  <a:pt x="440104" y="475379"/>
                </a:lnTo>
                <a:lnTo>
                  <a:pt x="458401" y="457761"/>
                </a:lnTo>
                <a:lnTo>
                  <a:pt x="440783" y="439464"/>
                </a:lnTo>
                <a:close/>
              </a:path>
              <a:path w="599439" h="622300">
                <a:moveTo>
                  <a:pt x="476018" y="476058"/>
                </a:moveTo>
                <a:lnTo>
                  <a:pt x="457721" y="493676"/>
                </a:lnTo>
                <a:lnTo>
                  <a:pt x="475339" y="511973"/>
                </a:lnTo>
                <a:lnTo>
                  <a:pt x="493636" y="494355"/>
                </a:lnTo>
                <a:lnTo>
                  <a:pt x="476018" y="476058"/>
                </a:lnTo>
                <a:close/>
              </a:path>
              <a:path w="599439" h="622300">
                <a:moveTo>
                  <a:pt x="511255" y="512652"/>
                </a:moveTo>
                <a:lnTo>
                  <a:pt x="492958" y="530270"/>
                </a:lnTo>
                <a:lnTo>
                  <a:pt x="510575" y="548566"/>
                </a:lnTo>
                <a:lnTo>
                  <a:pt x="528872" y="530949"/>
                </a:lnTo>
                <a:lnTo>
                  <a:pt x="511255" y="512652"/>
                </a:lnTo>
                <a:close/>
              </a:path>
              <a:path w="599439" h="622300">
                <a:moveTo>
                  <a:pt x="546489" y="549246"/>
                </a:moveTo>
                <a:lnTo>
                  <a:pt x="528192" y="566863"/>
                </a:lnTo>
                <a:lnTo>
                  <a:pt x="545810" y="585160"/>
                </a:lnTo>
                <a:lnTo>
                  <a:pt x="564107" y="567542"/>
                </a:lnTo>
                <a:lnTo>
                  <a:pt x="546489" y="549246"/>
                </a:lnTo>
                <a:close/>
              </a:path>
              <a:path w="599439" h="622300">
                <a:moveTo>
                  <a:pt x="581726" y="585839"/>
                </a:moveTo>
                <a:lnTo>
                  <a:pt x="563429" y="603457"/>
                </a:lnTo>
                <a:lnTo>
                  <a:pt x="581046" y="621754"/>
                </a:lnTo>
                <a:lnTo>
                  <a:pt x="599343" y="604136"/>
                </a:lnTo>
                <a:lnTo>
                  <a:pt x="581726" y="58583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063676" y="5483292"/>
            <a:ext cx="186055" cy="632460"/>
          </a:xfrm>
          <a:custGeom>
            <a:avLst/>
            <a:gdLst/>
            <a:ahLst/>
            <a:cxnLst/>
            <a:rect l="l" t="t" r="r" b="b"/>
            <a:pathLst>
              <a:path w="186055" h="632460">
                <a:moveTo>
                  <a:pt x="49330" y="70963"/>
                </a:moveTo>
                <a:lnTo>
                  <a:pt x="24665" y="77028"/>
                </a:lnTo>
                <a:lnTo>
                  <a:pt x="27697" y="89359"/>
                </a:lnTo>
                <a:lnTo>
                  <a:pt x="52363" y="83295"/>
                </a:lnTo>
                <a:lnTo>
                  <a:pt x="49330" y="70963"/>
                </a:lnTo>
                <a:close/>
              </a:path>
              <a:path w="186055" h="632460">
                <a:moveTo>
                  <a:pt x="18802" y="0"/>
                </a:moveTo>
                <a:lnTo>
                  <a:pt x="0" y="83093"/>
                </a:lnTo>
                <a:lnTo>
                  <a:pt x="24665" y="77028"/>
                </a:lnTo>
                <a:lnTo>
                  <a:pt x="21633" y="64695"/>
                </a:lnTo>
                <a:lnTo>
                  <a:pt x="46297" y="58629"/>
                </a:lnTo>
                <a:lnTo>
                  <a:pt x="68664" y="58629"/>
                </a:lnTo>
                <a:lnTo>
                  <a:pt x="18802" y="0"/>
                </a:lnTo>
                <a:close/>
              </a:path>
              <a:path w="186055" h="632460">
                <a:moveTo>
                  <a:pt x="46297" y="58629"/>
                </a:moveTo>
                <a:lnTo>
                  <a:pt x="21633" y="64695"/>
                </a:lnTo>
                <a:lnTo>
                  <a:pt x="24665" y="77028"/>
                </a:lnTo>
                <a:lnTo>
                  <a:pt x="49330" y="70963"/>
                </a:lnTo>
                <a:lnTo>
                  <a:pt x="46297" y="58629"/>
                </a:lnTo>
                <a:close/>
              </a:path>
              <a:path w="186055" h="632460">
                <a:moveTo>
                  <a:pt x="68664" y="58629"/>
                </a:moveTo>
                <a:lnTo>
                  <a:pt x="46297" y="58629"/>
                </a:lnTo>
                <a:lnTo>
                  <a:pt x="49330" y="70963"/>
                </a:lnTo>
                <a:lnTo>
                  <a:pt x="73995" y="64898"/>
                </a:lnTo>
                <a:lnTo>
                  <a:pt x="68664" y="58629"/>
                </a:lnTo>
                <a:close/>
              </a:path>
              <a:path w="186055" h="632460">
                <a:moveTo>
                  <a:pt x="58427" y="107960"/>
                </a:moveTo>
                <a:lnTo>
                  <a:pt x="33762" y="114025"/>
                </a:lnTo>
                <a:lnTo>
                  <a:pt x="39828" y="138690"/>
                </a:lnTo>
                <a:lnTo>
                  <a:pt x="64493" y="132625"/>
                </a:lnTo>
                <a:lnTo>
                  <a:pt x="58427" y="107960"/>
                </a:lnTo>
                <a:close/>
              </a:path>
              <a:path w="186055" h="632460">
                <a:moveTo>
                  <a:pt x="70558" y="157290"/>
                </a:moveTo>
                <a:lnTo>
                  <a:pt x="45892" y="163355"/>
                </a:lnTo>
                <a:lnTo>
                  <a:pt x="51958" y="188021"/>
                </a:lnTo>
                <a:lnTo>
                  <a:pt x="76624" y="181956"/>
                </a:lnTo>
                <a:lnTo>
                  <a:pt x="70558" y="157290"/>
                </a:lnTo>
                <a:close/>
              </a:path>
              <a:path w="186055" h="632460">
                <a:moveTo>
                  <a:pt x="82688" y="206621"/>
                </a:moveTo>
                <a:lnTo>
                  <a:pt x="58023" y="212686"/>
                </a:lnTo>
                <a:lnTo>
                  <a:pt x="64088" y="237351"/>
                </a:lnTo>
                <a:lnTo>
                  <a:pt x="88753" y="231286"/>
                </a:lnTo>
                <a:lnTo>
                  <a:pt x="82688" y="206621"/>
                </a:lnTo>
                <a:close/>
              </a:path>
              <a:path w="186055" h="632460">
                <a:moveTo>
                  <a:pt x="94819" y="255951"/>
                </a:moveTo>
                <a:lnTo>
                  <a:pt x="70153" y="262016"/>
                </a:lnTo>
                <a:lnTo>
                  <a:pt x="76219" y="286682"/>
                </a:lnTo>
                <a:lnTo>
                  <a:pt x="100883" y="280617"/>
                </a:lnTo>
                <a:lnTo>
                  <a:pt x="94819" y="255951"/>
                </a:lnTo>
                <a:close/>
              </a:path>
              <a:path w="186055" h="632460">
                <a:moveTo>
                  <a:pt x="106949" y="305282"/>
                </a:moveTo>
                <a:lnTo>
                  <a:pt x="82283" y="311347"/>
                </a:lnTo>
                <a:lnTo>
                  <a:pt x="88348" y="336012"/>
                </a:lnTo>
                <a:lnTo>
                  <a:pt x="113014" y="329947"/>
                </a:lnTo>
                <a:lnTo>
                  <a:pt x="106949" y="305282"/>
                </a:lnTo>
                <a:close/>
              </a:path>
              <a:path w="186055" h="632460">
                <a:moveTo>
                  <a:pt x="119079" y="354612"/>
                </a:moveTo>
                <a:lnTo>
                  <a:pt x="94414" y="360677"/>
                </a:lnTo>
                <a:lnTo>
                  <a:pt x="100479" y="385343"/>
                </a:lnTo>
                <a:lnTo>
                  <a:pt x="125144" y="379278"/>
                </a:lnTo>
                <a:lnTo>
                  <a:pt x="119079" y="354612"/>
                </a:lnTo>
                <a:close/>
              </a:path>
              <a:path w="186055" h="632460">
                <a:moveTo>
                  <a:pt x="131210" y="403943"/>
                </a:moveTo>
                <a:lnTo>
                  <a:pt x="106544" y="410008"/>
                </a:lnTo>
                <a:lnTo>
                  <a:pt x="112609" y="434673"/>
                </a:lnTo>
                <a:lnTo>
                  <a:pt x="137274" y="428608"/>
                </a:lnTo>
                <a:lnTo>
                  <a:pt x="131210" y="403943"/>
                </a:lnTo>
                <a:close/>
              </a:path>
              <a:path w="186055" h="632460">
                <a:moveTo>
                  <a:pt x="143339" y="453273"/>
                </a:moveTo>
                <a:lnTo>
                  <a:pt x="118675" y="459338"/>
                </a:lnTo>
                <a:lnTo>
                  <a:pt x="124739" y="484004"/>
                </a:lnTo>
                <a:lnTo>
                  <a:pt x="149405" y="477938"/>
                </a:lnTo>
                <a:lnTo>
                  <a:pt x="143339" y="453273"/>
                </a:lnTo>
                <a:close/>
              </a:path>
              <a:path w="186055" h="632460">
                <a:moveTo>
                  <a:pt x="155469" y="502604"/>
                </a:moveTo>
                <a:lnTo>
                  <a:pt x="130804" y="508669"/>
                </a:lnTo>
                <a:lnTo>
                  <a:pt x="136870" y="533334"/>
                </a:lnTo>
                <a:lnTo>
                  <a:pt x="161535" y="527269"/>
                </a:lnTo>
                <a:lnTo>
                  <a:pt x="155469" y="502604"/>
                </a:lnTo>
                <a:close/>
              </a:path>
              <a:path w="186055" h="632460">
                <a:moveTo>
                  <a:pt x="167600" y="551934"/>
                </a:moveTo>
                <a:lnTo>
                  <a:pt x="142934" y="557999"/>
                </a:lnTo>
                <a:lnTo>
                  <a:pt x="149000" y="582665"/>
                </a:lnTo>
                <a:lnTo>
                  <a:pt x="173664" y="576599"/>
                </a:lnTo>
                <a:lnTo>
                  <a:pt x="167600" y="551934"/>
                </a:lnTo>
                <a:close/>
              </a:path>
              <a:path w="186055" h="632460">
                <a:moveTo>
                  <a:pt x="179730" y="601265"/>
                </a:moveTo>
                <a:lnTo>
                  <a:pt x="155065" y="607330"/>
                </a:lnTo>
                <a:lnTo>
                  <a:pt x="161129" y="631995"/>
                </a:lnTo>
                <a:lnTo>
                  <a:pt x="185795" y="625930"/>
                </a:lnTo>
                <a:lnTo>
                  <a:pt x="179730" y="60126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225160" y="5489167"/>
            <a:ext cx="198755" cy="628015"/>
          </a:xfrm>
          <a:custGeom>
            <a:avLst/>
            <a:gdLst/>
            <a:ahLst/>
            <a:cxnLst/>
            <a:rect l="l" t="t" r="r" b="b"/>
            <a:pathLst>
              <a:path w="198755" h="628014">
                <a:moveTo>
                  <a:pt x="149495" y="70211"/>
                </a:moveTo>
                <a:lnTo>
                  <a:pt x="146168" y="82467"/>
                </a:lnTo>
                <a:lnTo>
                  <a:pt x="170680" y="89122"/>
                </a:lnTo>
                <a:lnTo>
                  <a:pt x="174007" y="76866"/>
                </a:lnTo>
                <a:lnTo>
                  <a:pt x="149495" y="70211"/>
                </a:lnTo>
                <a:close/>
              </a:path>
              <a:path w="198755" h="628014">
                <a:moveTo>
                  <a:pt x="193376" y="57955"/>
                </a:moveTo>
                <a:lnTo>
                  <a:pt x="152822" y="57955"/>
                </a:lnTo>
                <a:lnTo>
                  <a:pt x="177335" y="64609"/>
                </a:lnTo>
                <a:lnTo>
                  <a:pt x="174007" y="76866"/>
                </a:lnTo>
                <a:lnTo>
                  <a:pt x="198520" y="83520"/>
                </a:lnTo>
                <a:lnTo>
                  <a:pt x="193376" y="57955"/>
                </a:lnTo>
                <a:close/>
              </a:path>
              <a:path w="198755" h="628014">
                <a:moveTo>
                  <a:pt x="152822" y="57955"/>
                </a:moveTo>
                <a:lnTo>
                  <a:pt x="149495" y="70211"/>
                </a:lnTo>
                <a:lnTo>
                  <a:pt x="174007" y="76866"/>
                </a:lnTo>
                <a:lnTo>
                  <a:pt x="177335" y="64609"/>
                </a:lnTo>
                <a:lnTo>
                  <a:pt x="152822" y="57955"/>
                </a:lnTo>
                <a:close/>
              </a:path>
              <a:path w="198755" h="628014">
                <a:moveTo>
                  <a:pt x="181715" y="0"/>
                </a:moveTo>
                <a:lnTo>
                  <a:pt x="124981" y="63557"/>
                </a:lnTo>
                <a:lnTo>
                  <a:pt x="149495" y="70211"/>
                </a:lnTo>
                <a:lnTo>
                  <a:pt x="152822" y="57955"/>
                </a:lnTo>
                <a:lnTo>
                  <a:pt x="193376" y="57955"/>
                </a:lnTo>
                <a:lnTo>
                  <a:pt x="181715" y="0"/>
                </a:lnTo>
                <a:close/>
              </a:path>
              <a:path w="198755" h="628014">
                <a:moveTo>
                  <a:pt x="139513" y="106980"/>
                </a:moveTo>
                <a:lnTo>
                  <a:pt x="132858" y="131493"/>
                </a:lnTo>
                <a:lnTo>
                  <a:pt x="157370" y="138147"/>
                </a:lnTo>
                <a:lnTo>
                  <a:pt x="164025" y="113635"/>
                </a:lnTo>
                <a:lnTo>
                  <a:pt x="139513" y="106980"/>
                </a:lnTo>
                <a:close/>
              </a:path>
              <a:path w="198755" h="628014">
                <a:moveTo>
                  <a:pt x="126203" y="156006"/>
                </a:moveTo>
                <a:lnTo>
                  <a:pt x="119548" y="180518"/>
                </a:lnTo>
                <a:lnTo>
                  <a:pt x="144062" y="187173"/>
                </a:lnTo>
                <a:lnTo>
                  <a:pt x="150717" y="162660"/>
                </a:lnTo>
                <a:lnTo>
                  <a:pt x="126203" y="156006"/>
                </a:lnTo>
                <a:close/>
              </a:path>
              <a:path w="198755" h="628014">
                <a:moveTo>
                  <a:pt x="112895" y="205031"/>
                </a:moveTo>
                <a:lnTo>
                  <a:pt x="106240" y="229544"/>
                </a:lnTo>
                <a:lnTo>
                  <a:pt x="130752" y="236199"/>
                </a:lnTo>
                <a:lnTo>
                  <a:pt x="137407" y="211686"/>
                </a:lnTo>
                <a:lnTo>
                  <a:pt x="112895" y="205031"/>
                </a:lnTo>
                <a:close/>
              </a:path>
              <a:path w="198755" h="628014">
                <a:moveTo>
                  <a:pt x="99585" y="254057"/>
                </a:moveTo>
                <a:lnTo>
                  <a:pt x="92930" y="278569"/>
                </a:lnTo>
                <a:lnTo>
                  <a:pt x="117443" y="285224"/>
                </a:lnTo>
                <a:lnTo>
                  <a:pt x="124098" y="260711"/>
                </a:lnTo>
                <a:lnTo>
                  <a:pt x="99585" y="254057"/>
                </a:lnTo>
                <a:close/>
              </a:path>
              <a:path w="198755" h="628014">
                <a:moveTo>
                  <a:pt x="86276" y="303082"/>
                </a:moveTo>
                <a:lnTo>
                  <a:pt x="79621" y="327595"/>
                </a:lnTo>
                <a:lnTo>
                  <a:pt x="104134" y="334250"/>
                </a:lnTo>
                <a:lnTo>
                  <a:pt x="110789" y="309737"/>
                </a:lnTo>
                <a:lnTo>
                  <a:pt x="86276" y="303082"/>
                </a:lnTo>
                <a:close/>
              </a:path>
              <a:path w="198755" h="628014">
                <a:moveTo>
                  <a:pt x="72966" y="352108"/>
                </a:moveTo>
                <a:lnTo>
                  <a:pt x="66313" y="376621"/>
                </a:lnTo>
                <a:lnTo>
                  <a:pt x="90825" y="383275"/>
                </a:lnTo>
                <a:lnTo>
                  <a:pt x="97480" y="358762"/>
                </a:lnTo>
                <a:lnTo>
                  <a:pt x="72966" y="352108"/>
                </a:lnTo>
                <a:close/>
              </a:path>
              <a:path w="198755" h="628014">
                <a:moveTo>
                  <a:pt x="59658" y="401133"/>
                </a:moveTo>
                <a:lnTo>
                  <a:pt x="53003" y="425646"/>
                </a:lnTo>
                <a:lnTo>
                  <a:pt x="77515" y="432301"/>
                </a:lnTo>
                <a:lnTo>
                  <a:pt x="84170" y="407788"/>
                </a:lnTo>
                <a:lnTo>
                  <a:pt x="59658" y="401133"/>
                </a:lnTo>
                <a:close/>
              </a:path>
              <a:path w="198755" h="628014">
                <a:moveTo>
                  <a:pt x="46348" y="450159"/>
                </a:moveTo>
                <a:lnTo>
                  <a:pt x="39693" y="474672"/>
                </a:lnTo>
                <a:lnTo>
                  <a:pt x="64207" y="481326"/>
                </a:lnTo>
                <a:lnTo>
                  <a:pt x="70860" y="456814"/>
                </a:lnTo>
                <a:lnTo>
                  <a:pt x="46348" y="450159"/>
                </a:lnTo>
                <a:close/>
              </a:path>
              <a:path w="198755" h="628014">
                <a:moveTo>
                  <a:pt x="33039" y="499184"/>
                </a:moveTo>
                <a:lnTo>
                  <a:pt x="26385" y="523697"/>
                </a:lnTo>
                <a:lnTo>
                  <a:pt x="50897" y="530352"/>
                </a:lnTo>
                <a:lnTo>
                  <a:pt x="57552" y="505839"/>
                </a:lnTo>
                <a:lnTo>
                  <a:pt x="33039" y="499184"/>
                </a:lnTo>
                <a:close/>
              </a:path>
              <a:path w="198755" h="628014">
                <a:moveTo>
                  <a:pt x="19730" y="548210"/>
                </a:moveTo>
                <a:lnTo>
                  <a:pt x="13075" y="572723"/>
                </a:lnTo>
                <a:lnTo>
                  <a:pt x="37588" y="579377"/>
                </a:lnTo>
                <a:lnTo>
                  <a:pt x="44242" y="554865"/>
                </a:lnTo>
                <a:lnTo>
                  <a:pt x="19730" y="548210"/>
                </a:lnTo>
                <a:close/>
              </a:path>
              <a:path w="198755" h="628014">
                <a:moveTo>
                  <a:pt x="6421" y="597236"/>
                </a:moveTo>
                <a:lnTo>
                  <a:pt x="0" y="620889"/>
                </a:lnTo>
                <a:lnTo>
                  <a:pt x="24512" y="627543"/>
                </a:lnTo>
                <a:lnTo>
                  <a:pt x="30933" y="603890"/>
                </a:lnTo>
                <a:lnTo>
                  <a:pt x="6421" y="59723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227924" y="5489167"/>
            <a:ext cx="564515" cy="633095"/>
          </a:xfrm>
          <a:custGeom>
            <a:avLst/>
            <a:gdLst/>
            <a:ahLst/>
            <a:cxnLst/>
            <a:rect l="l" t="t" r="r" b="b"/>
            <a:pathLst>
              <a:path w="564514" h="633095">
                <a:moveTo>
                  <a:pt x="478787" y="77002"/>
                </a:moveTo>
                <a:lnTo>
                  <a:pt x="461914" y="95989"/>
                </a:lnTo>
                <a:lnTo>
                  <a:pt x="480900" y="112861"/>
                </a:lnTo>
                <a:lnTo>
                  <a:pt x="497773" y="93875"/>
                </a:lnTo>
                <a:lnTo>
                  <a:pt x="478787" y="77002"/>
                </a:lnTo>
                <a:close/>
              </a:path>
              <a:path w="564514" h="633095">
                <a:moveTo>
                  <a:pt x="553703" y="39029"/>
                </a:moveTo>
                <a:lnTo>
                  <a:pt x="512531" y="39029"/>
                </a:lnTo>
                <a:lnTo>
                  <a:pt x="531517" y="55902"/>
                </a:lnTo>
                <a:lnTo>
                  <a:pt x="523082" y="65395"/>
                </a:lnTo>
                <a:lnTo>
                  <a:pt x="542067" y="82268"/>
                </a:lnTo>
                <a:lnTo>
                  <a:pt x="553703" y="39029"/>
                </a:lnTo>
                <a:close/>
              </a:path>
              <a:path w="564514" h="633095">
                <a:moveTo>
                  <a:pt x="504095" y="48523"/>
                </a:moveTo>
                <a:lnTo>
                  <a:pt x="495659" y="58016"/>
                </a:lnTo>
                <a:lnTo>
                  <a:pt x="514645" y="74889"/>
                </a:lnTo>
                <a:lnTo>
                  <a:pt x="523082" y="65395"/>
                </a:lnTo>
                <a:lnTo>
                  <a:pt x="504095" y="48523"/>
                </a:lnTo>
                <a:close/>
              </a:path>
              <a:path w="564514" h="633095">
                <a:moveTo>
                  <a:pt x="512531" y="39029"/>
                </a:moveTo>
                <a:lnTo>
                  <a:pt x="504095" y="48523"/>
                </a:lnTo>
                <a:lnTo>
                  <a:pt x="523082" y="65395"/>
                </a:lnTo>
                <a:lnTo>
                  <a:pt x="531517" y="55902"/>
                </a:lnTo>
                <a:lnTo>
                  <a:pt x="512531" y="39029"/>
                </a:lnTo>
                <a:close/>
              </a:path>
              <a:path w="564514" h="633095">
                <a:moveTo>
                  <a:pt x="564206" y="0"/>
                </a:moveTo>
                <a:lnTo>
                  <a:pt x="485109" y="31650"/>
                </a:lnTo>
                <a:lnTo>
                  <a:pt x="504095" y="48523"/>
                </a:lnTo>
                <a:lnTo>
                  <a:pt x="512531" y="39029"/>
                </a:lnTo>
                <a:lnTo>
                  <a:pt x="553703" y="39029"/>
                </a:lnTo>
                <a:lnTo>
                  <a:pt x="564206" y="0"/>
                </a:lnTo>
                <a:close/>
              </a:path>
              <a:path w="564514" h="633095">
                <a:moveTo>
                  <a:pt x="445042" y="114975"/>
                </a:moveTo>
                <a:lnTo>
                  <a:pt x="428170" y="133962"/>
                </a:lnTo>
                <a:lnTo>
                  <a:pt x="447156" y="150834"/>
                </a:lnTo>
                <a:lnTo>
                  <a:pt x="464028" y="131847"/>
                </a:lnTo>
                <a:lnTo>
                  <a:pt x="445042" y="114975"/>
                </a:lnTo>
                <a:close/>
              </a:path>
              <a:path w="564514" h="633095">
                <a:moveTo>
                  <a:pt x="411297" y="152948"/>
                </a:moveTo>
                <a:lnTo>
                  <a:pt x="394425" y="171934"/>
                </a:lnTo>
                <a:lnTo>
                  <a:pt x="413411" y="188807"/>
                </a:lnTo>
                <a:lnTo>
                  <a:pt x="430283" y="169820"/>
                </a:lnTo>
                <a:lnTo>
                  <a:pt x="411297" y="152948"/>
                </a:lnTo>
                <a:close/>
              </a:path>
              <a:path w="564514" h="633095">
                <a:moveTo>
                  <a:pt x="377553" y="190921"/>
                </a:moveTo>
                <a:lnTo>
                  <a:pt x="360680" y="209907"/>
                </a:lnTo>
                <a:lnTo>
                  <a:pt x="379666" y="226779"/>
                </a:lnTo>
                <a:lnTo>
                  <a:pt x="396539" y="207793"/>
                </a:lnTo>
                <a:lnTo>
                  <a:pt x="377553" y="190921"/>
                </a:lnTo>
                <a:close/>
              </a:path>
              <a:path w="564514" h="633095">
                <a:moveTo>
                  <a:pt x="343808" y="228894"/>
                </a:moveTo>
                <a:lnTo>
                  <a:pt x="326936" y="247880"/>
                </a:lnTo>
                <a:lnTo>
                  <a:pt x="345922" y="264752"/>
                </a:lnTo>
                <a:lnTo>
                  <a:pt x="362794" y="245766"/>
                </a:lnTo>
                <a:lnTo>
                  <a:pt x="343808" y="228894"/>
                </a:lnTo>
                <a:close/>
              </a:path>
              <a:path w="564514" h="633095">
                <a:moveTo>
                  <a:pt x="310062" y="266866"/>
                </a:moveTo>
                <a:lnTo>
                  <a:pt x="293190" y="285853"/>
                </a:lnTo>
                <a:lnTo>
                  <a:pt x="312177" y="302725"/>
                </a:lnTo>
                <a:lnTo>
                  <a:pt x="329049" y="283739"/>
                </a:lnTo>
                <a:lnTo>
                  <a:pt x="310062" y="266866"/>
                </a:lnTo>
                <a:close/>
              </a:path>
              <a:path w="564514" h="633095">
                <a:moveTo>
                  <a:pt x="276318" y="304839"/>
                </a:moveTo>
                <a:lnTo>
                  <a:pt x="259445" y="323825"/>
                </a:lnTo>
                <a:lnTo>
                  <a:pt x="278432" y="340698"/>
                </a:lnTo>
                <a:lnTo>
                  <a:pt x="295305" y="321712"/>
                </a:lnTo>
                <a:lnTo>
                  <a:pt x="276318" y="304839"/>
                </a:lnTo>
                <a:close/>
              </a:path>
              <a:path w="564514" h="633095">
                <a:moveTo>
                  <a:pt x="242573" y="342812"/>
                </a:moveTo>
                <a:lnTo>
                  <a:pt x="225701" y="361798"/>
                </a:lnTo>
                <a:lnTo>
                  <a:pt x="244688" y="378671"/>
                </a:lnTo>
                <a:lnTo>
                  <a:pt x="261560" y="359684"/>
                </a:lnTo>
                <a:lnTo>
                  <a:pt x="242573" y="342812"/>
                </a:lnTo>
                <a:close/>
              </a:path>
              <a:path w="564514" h="633095">
                <a:moveTo>
                  <a:pt x="208828" y="380785"/>
                </a:moveTo>
                <a:lnTo>
                  <a:pt x="191956" y="399771"/>
                </a:lnTo>
                <a:lnTo>
                  <a:pt x="210943" y="416644"/>
                </a:lnTo>
                <a:lnTo>
                  <a:pt x="227815" y="397657"/>
                </a:lnTo>
                <a:lnTo>
                  <a:pt x="208828" y="380785"/>
                </a:lnTo>
                <a:close/>
              </a:path>
              <a:path w="564514" h="633095">
                <a:moveTo>
                  <a:pt x="175084" y="418758"/>
                </a:moveTo>
                <a:lnTo>
                  <a:pt x="158211" y="437744"/>
                </a:lnTo>
                <a:lnTo>
                  <a:pt x="177198" y="454616"/>
                </a:lnTo>
                <a:lnTo>
                  <a:pt x="194071" y="435630"/>
                </a:lnTo>
                <a:lnTo>
                  <a:pt x="175084" y="418758"/>
                </a:lnTo>
                <a:close/>
              </a:path>
              <a:path w="564514" h="633095">
                <a:moveTo>
                  <a:pt x="141339" y="456730"/>
                </a:moveTo>
                <a:lnTo>
                  <a:pt x="124467" y="475717"/>
                </a:lnTo>
                <a:lnTo>
                  <a:pt x="143454" y="492589"/>
                </a:lnTo>
                <a:lnTo>
                  <a:pt x="160326" y="473603"/>
                </a:lnTo>
                <a:lnTo>
                  <a:pt x="141339" y="456730"/>
                </a:lnTo>
                <a:close/>
              </a:path>
              <a:path w="564514" h="633095">
                <a:moveTo>
                  <a:pt x="107594" y="494703"/>
                </a:moveTo>
                <a:lnTo>
                  <a:pt x="90722" y="513689"/>
                </a:lnTo>
                <a:lnTo>
                  <a:pt x="109708" y="530562"/>
                </a:lnTo>
                <a:lnTo>
                  <a:pt x="126580" y="511575"/>
                </a:lnTo>
                <a:lnTo>
                  <a:pt x="107594" y="494703"/>
                </a:lnTo>
                <a:close/>
              </a:path>
              <a:path w="564514" h="633095">
                <a:moveTo>
                  <a:pt x="73850" y="532676"/>
                </a:moveTo>
                <a:lnTo>
                  <a:pt x="56977" y="551662"/>
                </a:lnTo>
                <a:lnTo>
                  <a:pt x="75963" y="568535"/>
                </a:lnTo>
                <a:lnTo>
                  <a:pt x="92837" y="549548"/>
                </a:lnTo>
                <a:lnTo>
                  <a:pt x="73850" y="532676"/>
                </a:lnTo>
                <a:close/>
              </a:path>
              <a:path w="564514" h="633095">
                <a:moveTo>
                  <a:pt x="40105" y="570649"/>
                </a:moveTo>
                <a:lnTo>
                  <a:pt x="23233" y="589635"/>
                </a:lnTo>
                <a:lnTo>
                  <a:pt x="42219" y="606507"/>
                </a:lnTo>
                <a:lnTo>
                  <a:pt x="59091" y="587521"/>
                </a:lnTo>
                <a:lnTo>
                  <a:pt x="40105" y="570649"/>
                </a:lnTo>
                <a:close/>
              </a:path>
              <a:path w="564514" h="633095">
                <a:moveTo>
                  <a:pt x="6361" y="608621"/>
                </a:moveTo>
                <a:lnTo>
                  <a:pt x="0" y="615780"/>
                </a:lnTo>
                <a:lnTo>
                  <a:pt x="18986" y="632652"/>
                </a:lnTo>
                <a:lnTo>
                  <a:pt x="25346" y="625494"/>
                </a:lnTo>
                <a:lnTo>
                  <a:pt x="6361" y="60862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249929" y="5489167"/>
            <a:ext cx="927735" cy="622300"/>
          </a:xfrm>
          <a:custGeom>
            <a:avLst/>
            <a:gdLst/>
            <a:ahLst/>
            <a:cxnLst/>
            <a:rect l="l" t="t" r="r" b="b"/>
            <a:pathLst>
              <a:path w="927735" h="622300">
                <a:moveTo>
                  <a:pt x="913366" y="24549"/>
                </a:moveTo>
                <a:lnTo>
                  <a:pt x="867529" y="24549"/>
                </a:lnTo>
                <a:lnTo>
                  <a:pt x="881581" y="45708"/>
                </a:lnTo>
                <a:lnTo>
                  <a:pt x="871001" y="52734"/>
                </a:lnTo>
                <a:lnTo>
                  <a:pt x="885052" y="73893"/>
                </a:lnTo>
                <a:lnTo>
                  <a:pt x="913366" y="24549"/>
                </a:lnTo>
                <a:close/>
              </a:path>
              <a:path w="927735" h="622300">
                <a:moveTo>
                  <a:pt x="856949" y="31575"/>
                </a:moveTo>
                <a:lnTo>
                  <a:pt x="846369" y="38600"/>
                </a:lnTo>
                <a:lnTo>
                  <a:pt x="860422" y="59759"/>
                </a:lnTo>
                <a:lnTo>
                  <a:pt x="871001" y="52734"/>
                </a:lnTo>
                <a:lnTo>
                  <a:pt x="856949" y="31575"/>
                </a:lnTo>
                <a:close/>
              </a:path>
              <a:path w="927735" h="622300">
                <a:moveTo>
                  <a:pt x="867529" y="24549"/>
                </a:moveTo>
                <a:lnTo>
                  <a:pt x="856949" y="31575"/>
                </a:lnTo>
                <a:lnTo>
                  <a:pt x="871001" y="52734"/>
                </a:lnTo>
                <a:lnTo>
                  <a:pt x="881581" y="45708"/>
                </a:lnTo>
                <a:lnTo>
                  <a:pt x="867529" y="24549"/>
                </a:lnTo>
                <a:close/>
              </a:path>
              <a:path w="927735" h="622300">
                <a:moveTo>
                  <a:pt x="927453" y="0"/>
                </a:moveTo>
                <a:lnTo>
                  <a:pt x="842897" y="10416"/>
                </a:lnTo>
                <a:lnTo>
                  <a:pt x="856949" y="31575"/>
                </a:lnTo>
                <a:lnTo>
                  <a:pt x="867529" y="24549"/>
                </a:lnTo>
                <a:lnTo>
                  <a:pt x="913366" y="24549"/>
                </a:lnTo>
                <a:lnTo>
                  <a:pt x="927453" y="0"/>
                </a:lnTo>
                <a:close/>
              </a:path>
              <a:path w="927735" h="622300">
                <a:moveTo>
                  <a:pt x="825211" y="52652"/>
                </a:moveTo>
                <a:lnTo>
                  <a:pt x="804052" y="66704"/>
                </a:lnTo>
                <a:lnTo>
                  <a:pt x="818103" y="87863"/>
                </a:lnTo>
                <a:lnTo>
                  <a:pt x="839262" y="73811"/>
                </a:lnTo>
                <a:lnTo>
                  <a:pt x="825211" y="52652"/>
                </a:lnTo>
                <a:close/>
              </a:path>
              <a:path w="927735" h="622300">
                <a:moveTo>
                  <a:pt x="782892" y="80755"/>
                </a:moveTo>
                <a:lnTo>
                  <a:pt x="761733" y="94806"/>
                </a:lnTo>
                <a:lnTo>
                  <a:pt x="775784" y="115966"/>
                </a:lnTo>
                <a:lnTo>
                  <a:pt x="796944" y="101914"/>
                </a:lnTo>
                <a:lnTo>
                  <a:pt x="782892" y="80755"/>
                </a:lnTo>
                <a:close/>
              </a:path>
              <a:path w="927735" h="622300">
                <a:moveTo>
                  <a:pt x="740573" y="108858"/>
                </a:moveTo>
                <a:lnTo>
                  <a:pt x="719414" y="122910"/>
                </a:lnTo>
                <a:lnTo>
                  <a:pt x="733466" y="144069"/>
                </a:lnTo>
                <a:lnTo>
                  <a:pt x="754625" y="130017"/>
                </a:lnTo>
                <a:lnTo>
                  <a:pt x="740573" y="108858"/>
                </a:lnTo>
                <a:close/>
              </a:path>
              <a:path w="927735" h="622300">
                <a:moveTo>
                  <a:pt x="698256" y="136961"/>
                </a:moveTo>
                <a:lnTo>
                  <a:pt x="677096" y="151013"/>
                </a:lnTo>
                <a:lnTo>
                  <a:pt x="691147" y="172172"/>
                </a:lnTo>
                <a:lnTo>
                  <a:pt x="712307" y="158120"/>
                </a:lnTo>
                <a:lnTo>
                  <a:pt x="698256" y="136961"/>
                </a:lnTo>
                <a:close/>
              </a:path>
              <a:path w="927735" h="622300">
                <a:moveTo>
                  <a:pt x="655937" y="165064"/>
                </a:moveTo>
                <a:lnTo>
                  <a:pt x="634777" y="179116"/>
                </a:lnTo>
                <a:lnTo>
                  <a:pt x="648829" y="200275"/>
                </a:lnTo>
                <a:lnTo>
                  <a:pt x="669988" y="186223"/>
                </a:lnTo>
                <a:lnTo>
                  <a:pt x="655937" y="165064"/>
                </a:lnTo>
                <a:close/>
              </a:path>
              <a:path w="927735" h="622300">
                <a:moveTo>
                  <a:pt x="613618" y="193167"/>
                </a:moveTo>
                <a:lnTo>
                  <a:pt x="592458" y="207219"/>
                </a:lnTo>
                <a:lnTo>
                  <a:pt x="606511" y="228378"/>
                </a:lnTo>
                <a:lnTo>
                  <a:pt x="627669" y="214326"/>
                </a:lnTo>
                <a:lnTo>
                  <a:pt x="613618" y="193167"/>
                </a:lnTo>
                <a:close/>
              </a:path>
              <a:path w="927735" h="622300">
                <a:moveTo>
                  <a:pt x="571300" y="221270"/>
                </a:moveTo>
                <a:lnTo>
                  <a:pt x="550141" y="235322"/>
                </a:lnTo>
                <a:lnTo>
                  <a:pt x="564192" y="256481"/>
                </a:lnTo>
                <a:lnTo>
                  <a:pt x="585351" y="242429"/>
                </a:lnTo>
                <a:lnTo>
                  <a:pt x="571300" y="221270"/>
                </a:lnTo>
                <a:close/>
              </a:path>
              <a:path w="927735" h="622300">
                <a:moveTo>
                  <a:pt x="528981" y="249373"/>
                </a:moveTo>
                <a:lnTo>
                  <a:pt x="507822" y="263425"/>
                </a:lnTo>
                <a:lnTo>
                  <a:pt x="521873" y="284584"/>
                </a:lnTo>
                <a:lnTo>
                  <a:pt x="543032" y="270532"/>
                </a:lnTo>
                <a:lnTo>
                  <a:pt x="528981" y="249373"/>
                </a:lnTo>
                <a:close/>
              </a:path>
              <a:path w="927735" h="622300">
                <a:moveTo>
                  <a:pt x="486662" y="277476"/>
                </a:moveTo>
                <a:lnTo>
                  <a:pt x="465503" y="291528"/>
                </a:lnTo>
                <a:lnTo>
                  <a:pt x="479555" y="312687"/>
                </a:lnTo>
                <a:lnTo>
                  <a:pt x="500714" y="298636"/>
                </a:lnTo>
                <a:lnTo>
                  <a:pt x="486662" y="277476"/>
                </a:lnTo>
                <a:close/>
              </a:path>
              <a:path w="927735" h="622300">
                <a:moveTo>
                  <a:pt x="444343" y="305579"/>
                </a:moveTo>
                <a:lnTo>
                  <a:pt x="423185" y="319631"/>
                </a:lnTo>
                <a:lnTo>
                  <a:pt x="437236" y="340790"/>
                </a:lnTo>
                <a:lnTo>
                  <a:pt x="458396" y="326739"/>
                </a:lnTo>
                <a:lnTo>
                  <a:pt x="444343" y="305579"/>
                </a:lnTo>
                <a:close/>
              </a:path>
              <a:path w="927735" h="622300">
                <a:moveTo>
                  <a:pt x="402026" y="333682"/>
                </a:moveTo>
                <a:lnTo>
                  <a:pt x="380866" y="347734"/>
                </a:lnTo>
                <a:lnTo>
                  <a:pt x="394917" y="368893"/>
                </a:lnTo>
                <a:lnTo>
                  <a:pt x="416077" y="354842"/>
                </a:lnTo>
                <a:lnTo>
                  <a:pt x="402026" y="333682"/>
                </a:lnTo>
                <a:close/>
              </a:path>
              <a:path w="927735" h="622300">
                <a:moveTo>
                  <a:pt x="359707" y="361786"/>
                </a:moveTo>
                <a:lnTo>
                  <a:pt x="338547" y="375837"/>
                </a:lnTo>
                <a:lnTo>
                  <a:pt x="352598" y="396996"/>
                </a:lnTo>
                <a:lnTo>
                  <a:pt x="373758" y="382945"/>
                </a:lnTo>
                <a:lnTo>
                  <a:pt x="359707" y="361786"/>
                </a:lnTo>
                <a:close/>
              </a:path>
              <a:path w="927735" h="622300">
                <a:moveTo>
                  <a:pt x="317388" y="389889"/>
                </a:moveTo>
                <a:lnTo>
                  <a:pt x="296230" y="403940"/>
                </a:lnTo>
                <a:lnTo>
                  <a:pt x="310281" y="425099"/>
                </a:lnTo>
                <a:lnTo>
                  <a:pt x="331440" y="411048"/>
                </a:lnTo>
                <a:lnTo>
                  <a:pt x="317388" y="389889"/>
                </a:lnTo>
                <a:close/>
              </a:path>
              <a:path w="927735" h="622300">
                <a:moveTo>
                  <a:pt x="275070" y="417992"/>
                </a:moveTo>
                <a:lnTo>
                  <a:pt x="253911" y="432043"/>
                </a:lnTo>
                <a:lnTo>
                  <a:pt x="267962" y="453202"/>
                </a:lnTo>
                <a:lnTo>
                  <a:pt x="289121" y="439151"/>
                </a:lnTo>
                <a:lnTo>
                  <a:pt x="275070" y="417992"/>
                </a:lnTo>
                <a:close/>
              </a:path>
              <a:path w="927735" h="622300">
                <a:moveTo>
                  <a:pt x="232751" y="446095"/>
                </a:moveTo>
                <a:lnTo>
                  <a:pt x="211592" y="460146"/>
                </a:lnTo>
                <a:lnTo>
                  <a:pt x="225644" y="481305"/>
                </a:lnTo>
                <a:lnTo>
                  <a:pt x="246802" y="467254"/>
                </a:lnTo>
                <a:lnTo>
                  <a:pt x="232751" y="446095"/>
                </a:lnTo>
                <a:close/>
              </a:path>
              <a:path w="927735" h="622300">
                <a:moveTo>
                  <a:pt x="190433" y="474198"/>
                </a:moveTo>
                <a:lnTo>
                  <a:pt x="169274" y="488249"/>
                </a:lnTo>
                <a:lnTo>
                  <a:pt x="183325" y="509408"/>
                </a:lnTo>
                <a:lnTo>
                  <a:pt x="204485" y="495357"/>
                </a:lnTo>
                <a:lnTo>
                  <a:pt x="190433" y="474198"/>
                </a:lnTo>
                <a:close/>
              </a:path>
              <a:path w="927735" h="622300">
                <a:moveTo>
                  <a:pt x="148115" y="502301"/>
                </a:moveTo>
                <a:lnTo>
                  <a:pt x="126955" y="516352"/>
                </a:lnTo>
                <a:lnTo>
                  <a:pt x="141006" y="537512"/>
                </a:lnTo>
                <a:lnTo>
                  <a:pt x="162166" y="523460"/>
                </a:lnTo>
                <a:lnTo>
                  <a:pt x="148115" y="502301"/>
                </a:lnTo>
                <a:close/>
              </a:path>
              <a:path w="927735" h="622300">
                <a:moveTo>
                  <a:pt x="105796" y="530404"/>
                </a:moveTo>
                <a:lnTo>
                  <a:pt x="84636" y="544455"/>
                </a:lnTo>
                <a:lnTo>
                  <a:pt x="98687" y="565614"/>
                </a:lnTo>
                <a:lnTo>
                  <a:pt x="119847" y="551563"/>
                </a:lnTo>
                <a:lnTo>
                  <a:pt x="105796" y="530404"/>
                </a:lnTo>
                <a:close/>
              </a:path>
              <a:path w="927735" h="622300">
                <a:moveTo>
                  <a:pt x="63477" y="558507"/>
                </a:moveTo>
                <a:lnTo>
                  <a:pt x="42318" y="572558"/>
                </a:lnTo>
                <a:lnTo>
                  <a:pt x="56370" y="593718"/>
                </a:lnTo>
                <a:lnTo>
                  <a:pt x="77529" y="579666"/>
                </a:lnTo>
                <a:lnTo>
                  <a:pt x="63477" y="558507"/>
                </a:lnTo>
                <a:close/>
              </a:path>
              <a:path w="927735" h="622300">
                <a:moveTo>
                  <a:pt x="21159" y="586610"/>
                </a:moveTo>
                <a:lnTo>
                  <a:pt x="0" y="600661"/>
                </a:lnTo>
                <a:lnTo>
                  <a:pt x="14051" y="621821"/>
                </a:lnTo>
                <a:lnTo>
                  <a:pt x="35210" y="607769"/>
                </a:lnTo>
                <a:lnTo>
                  <a:pt x="21159" y="58661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235961" y="5487170"/>
            <a:ext cx="1327150" cy="636270"/>
          </a:xfrm>
          <a:custGeom>
            <a:avLst/>
            <a:gdLst/>
            <a:ahLst/>
            <a:cxnLst/>
            <a:rect l="l" t="t" r="r" b="b"/>
            <a:pathLst>
              <a:path w="1327150" h="636270">
                <a:moveTo>
                  <a:pt x="1314416" y="17565"/>
                </a:moveTo>
                <a:lnTo>
                  <a:pt x="1263816" y="17565"/>
                </a:lnTo>
                <a:lnTo>
                  <a:pt x="1274640" y="40544"/>
                </a:lnTo>
                <a:lnTo>
                  <a:pt x="1263150" y="45956"/>
                </a:lnTo>
                <a:lnTo>
                  <a:pt x="1273973" y="68935"/>
                </a:lnTo>
                <a:lnTo>
                  <a:pt x="1314416" y="17565"/>
                </a:lnTo>
                <a:close/>
              </a:path>
              <a:path w="1327150" h="636270">
                <a:moveTo>
                  <a:pt x="1252326" y="22977"/>
                </a:moveTo>
                <a:lnTo>
                  <a:pt x="1240838" y="28389"/>
                </a:lnTo>
                <a:lnTo>
                  <a:pt x="1251662" y="51367"/>
                </a:lnTo>
                <a:lnTo>
                  <a:pt x="1263150" y="45956"/>
                </a:lnTo>
                <a:lnTo>
                  <a:pt x="1252326" y="22977"/>
                </a:lnTo>
                <a:close/>
              </a:path>
              <a:path w="1327150" h="636270">
                <a:moveTo>
                  <a:pt x="1263816" y="17565"/>
                </a:moveTo>
                <a:lnTo>
                  <a:pt x="1252326" y="22977"/>
                </a:lnTo>
                <a:lnTo>
                  <a:pt x="1263150" y="45956"/>
                </a:lnTo>
                <a:lnTo>
                  <a:pt x="1274640" y="40544"/>
                </a:lnTo>
                <a:lnTo>
                  <a:pt x="1263816" y="17565"/>
                </a:lnTo>
                <a:close/>
              </a:path>
              <a:path w="1327150" h="636270">
                <a:moveTo>
                  <a:pt x="1241503" y="0"/>
                </a:moveTo>
                <a:lnTo>
                  <a:pt x="1252326" y="22977"/>
                </a:lnTo>
                <a:lnTo>
                  <a:pt x="1263816" y="17565"/>
                </a:lnTo>
                <a:lnTo>
                  <a:pt x="1314416" y="17565"/>
                </a:lnTo>
                <a:lnTo>
                  <a:pt x="1326673" y="1996"/>
                </a:lnTo>
                <a:lnTo>
                  <a:pt x="1241503" y="0"/>
                </a:lnTo>
                <a:close/>
              </a:path>
              <a:path w="1327150" h="636270">
                <a:moveTo>
                  <a:pt x="1217860" y="39212"/>
                </a:moveTo>
                <a:lnTo>
                  <a:pt x="1194882" y="50036"/>
                </a:lnTo>
                <a:lnTo>
                  <a:pt x="1205704" y="73014"/>
                </a:lnTo>
                <a:lnTo>
                  <a:pt x="1228683" y="62191"/>
                </a:lnTo>
                <a:lnTo>
                  <a:pt x="1217860" y="39212"/>
                </a:lnTo>
                <a:close/>
              </a:path>
              <a:path w="1327150" h="636270">
                <a:moveTo>
                  <a:pt x="1171902" y="60859"/>
                </a:moveTo>
                <a:lnTo>
                  <a:pt x="1148924" y="71683"/>
                </a:lnTo>
                <a:lnTo>
                  <a:pt x="1159747" y="94661"/>
                </a:lnTo>
                <a:lnTo>
                  <a:pt x="1182726" y="83839"/>
                </a:lnTo>
                <a:lnTo>
                  <a:pt x="1171902" y="60859"/>
                </a:lnTo>
                <a:close/>
              </a:path>
              <a:path w="1327150" h="636270">
                <a:moveTo>
                  <a:pt x="1125946" y="82506"/>
                </a:moveTo>
                <a:lnTo>
                  <a:pt x="1102967" y="93331"/>
                </a:lnTo>
                <a:lnTo>
                  <a:pt x="1113791" y="116309"/>
                </a:lnTo>
                <a:lnTo>
                  <a:pt x="1136769" y="105485"/>
                </a:lnTo>
                <a:lnTo>
                  <a:pt x="1125946" y="82506"/>
                </a:lnTo>
                <a:close/>
              </a:path>
              <a:path w="1327150" h="636270">
                <a:moveTo>
                  <a:pt x="1079988" y="104154"/>
                </a:moveTo>
                <a:lnTo>
                  <a:pt x="1057010" y="114977"/>
                </a:lnTo>
                <a:lnTo>
                  <a:pt x="1067833" y="137956"/>
                </a:lnTo>
                <a:lnTo>
                  <a:pt x="1090811" y="127132"/>
                </a:lnTo>
                <a:lnTo>
                  <a:pt x="1079988" y="104154"/>
                </a:lnTo>
                <a:close/>
              </a:path>
              <a:path w="1327150" h="636270">
                <a:moveTo>
                  <a:pt x="1034031" y="125801"/>
                </a:moveTo>
                <a:lnTo>
                  <a:pt x="1011053" y="136624"/>
                </a:lnTo>
                <a:lnTo>
                  <a:pt x="1021877" y="159603"/>
                </a:lnTo>
                <a:lnTo>
                  <a:pt x="1044855" y="148779"/>
                </a:lnTo>
                <a:lnTo>
                  <a:pt x="1034031" y="125801"/>
                </a:lnTo>
                <a:close/>
              </a:path>
              <a:path w="1327150" h="636270">
                <a:moveTo>
                  <a:pt x="988075" y="147448"/>
                </a:moveTo>
                <a:lnTo>
                  <a:pt x="965097" y="158271"/>
                </a:lnTo>
                <a:lnTo>
                  <a:pt x="975920" y="181250"/>
                </a:lnTo>
                <a:lnTo>
                  <a:pt x="998898" y="170426"/>
                </a:lnTo>
                <a:lnTo>
                  <a:pt x="988075" y="147448"/>
                </a:lnTo>
                <a:close/>
              </a:path>
              <a:path w="1327150" h="636270">
                <a:moveTo>
                  <a:pt x="942117" y="169095"/>
                </a:moveTo>
                <a:lnTo>
                  <a:pt x="919139" y="179918"/>
                </a:lnTo>
                <a:lnTo>
                  <a:pt x="929962" y="202897"/>
                </a:lnTo>
                <a:lnTo>
                  <a:pt x="952941" y="192073"/>
                </a:lnTo>
                <a:lnTo>
                  <a:pt x="942117" y="169095"/>
                </a:lnTo>
                <a:close/>
              </a:path>
              <a:path w="1327150" h="636270">
                <a:moveTo>
                  <a:pt x="896161" y="190742"/>
                </a:moveTo>
                <a:lnTo>
                  <a:pt x="873182" y="201565"/>
                </a:lnTo>
                <a:lnTo>
                  <a:pt x="884006" y="224544"/>
                </a:lnTo>
                <a:lnTo>
                  <a:pt x="906984" y="213720"/>
                </a:lnTo>
                <a:lnTo>
                  <a:pt x="896161" y="190742"/>
                </a:lnTo>
                <a:close/>
              </a:path>
              <a:path w="1327150" h="636270">
                <a:moveTo>
                  <a:pt x="850204" y="212389"/>
                </a:moveTo>
                <a:lnTo>
                  <a:pt x="827225" y="223213"/>
                </a:lnTo>
                <a:lnTo>
                  <a:pt x="838048" y="246191"/>
                </a:lnTo>
                <a:lnTo>
                  <a:pt x="861026" y="235367"/>
                </a:lnTo>
                <a:lnTo>
                  <a:pt x="850204" y="212389"/>
                </a:lnTo>
                <a:close/>
              </a:path>
              <a:path w="1327150" h="636270">
                <a:moveTo>
                  <a:pt x="804246" y="234036"/>
                </a:moveTo>
                <a:lnTo>
                  <a:pt x="781268" y="244860"/>
                </a:lnTo>
                <a:lnTo>
                  <a:pt x="792092" y="267838"/>
                </a:lnTo>
                <a:lnTo>
                  <a:pt x="815070" y="257014"/>
                </a:lnTo>
                <a:lnTo>
                  <a:pt x="804246" y="234036"/>
                </a:lnTo>
                <a:close/>
              </a:path>
              <a:path w="1327150" h="636270">
                <a:moveTo>
                  <a:pt x="758290" y="255683"/>
                </a:moveTo>
                <a:lnTo>
                  <a:pt x="735310" y="266507"/>
                </a:lnTo>
                <a:lnTo>
                  <a:pt x="746135" y="289485"/>
                </a:lnTo>
                <a:lnTo>
                  <a:pt x="769113" y="278662"/>
                </a:lnTo>
                <a:lnTo>
                  <a:pt x="758290" y="255683"/>
                </a:lnTo>
                <a:close/>
              </a:path>
              <a:path w="1327150" h="636270">
                <a:moveTo>
                  <a:pt x="712332" y="277330"/>
                </a:moveTo>
                <a:lnTo>
                  <a:pt x="689354" y="288154"/>
                </a:lnTo>
                <a:lnTo>
                  <a:pt x="700177" y="311132"/>
                </a:lnTo>
                <a:lnTo>
                  <a:pt x="723157" y="300309"/>
                </a:lnTo>
                <a:lnTo>
                  <a:pt x="712332" y="277330"/>
                </a:lnTo>
                <a:close/>
              </a:path>
              <a:path w="1327150" h="636270">
                <a:moveTo>
                  <a:pt x="666376" y="298977"/>
                </a:moveTo>
                <a:lnTo>
                  <a:pt x="643397" y="309801"/>
                </a:lnTo>
                <a:lnTo>
                  <a:pt x="654221" y="332779"/>
                </a:lnTo>
                <a:lnTo>
                  <a:pt x="677199" y="321956"/>
                </a:lnTo>
                <a:lnTo>
                  <a:pt x="666376" y="298977"/>
                </a:lnTo>
                <a:close/>
              </a:path>
              <a:path w="1327150" h="636270">
                <a:moveTo>
                  <a:pt x="620419" y="320624"/>
                </a:moveTo>
                <a:lnTo>
                  <a:pt x="597441" y="331448"/>
                </a:lnTo>
                <a:lnTo>
                  <a:pt x="608263" y="354426"/>
                </a:lnTo>
                <a:lnTo>
                  <a:pt x="631242" y="343603"/>
                </a:lnTo>
                <a:lnTo>
                  <a:pt x="620419" y="320624"/>
                </a:lnTo>
                <a:close/>
              </a:path>
              <a:path w="1327150" h="636270">
                <a:moveTo>
                  <a:pt x="574461" y="342271"/>
                </a:moveTo>
                <a:lnTo>
                  <a:pt x="551483" y="353095"/>
                </a:lnTo>
                <a:lnTo>
                  <a:pt x="562306" y="376073"/>
                </a:lnTo>
                <a:lnTo>
                  <a:pt x="585285" y="365250"/>
                </a:lnTo>
                <a:lnTo>
                  <a:pt x="574461" y="342271"/>
                </a:lnTo>
                <a:close/>
              </a:path>
              <a:path w="1327150" h="636270">
                <a:moveTo>
                  <a:pt x="528505" y="363918"/>
                </a:moveTo>
                <a:lnTo>
                  <a:pt x="505526" y="374742"/>
                </a:lnTo>
                <a:lnTo>
                  <a:pt x="516350" y="397720"/>
                </a:lnTo>
                <a:lnTo>
                  <a:pt x="539328" y="386897"/>
                </a:lnTo>
                <a:lnTo>
                  <a:pt x="528505" y="363918"/>
                </a:lnTo>
                <a:close/>
              </a:path>
              <a:path w="1327150" h="636270">
                <a:moveTo>
                  <a:pt x="482547" y="385565"/>
                </a:moveTo>
                <a:lnTo>
                  <a:pt x="459569" y="396389"/>
                </a:lnTo>
                <a:lnTo>
                  <a:pt x="470392" y="419367"/>
                </a:lnTo>
                <a:lnTo>
                  <a:pt x="493372" y="408544"/>
                </a:lnTo>
                <a:lnTo>
                  <a:pt x="482547" y="385565"/>
                </a:lnTo>
                <a:close/>
              </a:path>
              <a:path w="1327150" h="636270">
                <a:moveTo>
                  <a:pt x="436590" y="407213"/>
                </a:moveTo>
                <a:lnTo>
                  <a:pt x="413612" y="418036"/>
                </a:lnTo>
                <a:lnTo>
                  <a:pt x="424436" y="441015"/>
                </a:lnTo>
                <a:lnTo>
                  <a:pt x="447414" y="430191"/>
                </a:lnTo>
                <a:lnTo>
                  <a:pt x="436590" y="407213"/>
                </a:lnTo>
                <a:close/>
              </a:path>
              <a:path w="1327150" h="636270">
                <a:moveTo>
                  <a:pt x="390634" y="428860"/>
                </a:moveTo>
                <a:lnTo>
                  <a:pt x="367656" y="439683"/>
                </a:lnTo>
                <a:lnTo>
                  <a:pt x="378479" y="462662"/>
                </a:lnTo>
                <a:lnTo>
                  <a:pt x="401457" y="451838"/>
                </a:lnTo>
                <a:lnTo>
                  <a:pt x="390634" y="428860"/>
                </a:lnTo>
                <a:close/>
              </a:path>
              <a:path w="1327150" h="636270">
                <a:moveTo>
                  <a:pt x="344676" y="450507"/>
                </a:moveTo>
                <a:lnTo>
                  <a:pt x="321698" y="461330"/>
                </a:lnTo>
                <a:lnTo>
                  <a:pt x="332521" y="484309"/>
                </a:lnTo>
                <a:lnTo>
                  <a:pt x="355500" y="473485"/>
                </a:lnTo>
                <a:lnTo>
                  <a:pt x="344676" y="450507"/>
                </a:lnTo>
                <a:close/>
              </a:path>
              <a:path w="1327150" h="636270">
                <a:moveTo>
                  <a:pt x="298720" y="472154"/>
                </a:moveTo>
                <a:lnTo>
                  <a:pt x="275741" y="482977"/>
                </a:lnTo>
                <a:lnTo>
                  <a:pt x="286565" y="505956"/>
                </a:lnTo>
                <a:lnTo>
                  <a:pt x="309543" y="495132"/>
                </a:lnTo>
                <a:lnTo>
                  <a:pt x="298720" y="472154"/>
                </a:lnTo>
                <a:close/>
              </a:path>
              <a:path w="1327150" h="636270">
                <a:moveTo>
                  <a:pt x="252763" y="493801"/>
                </a:moveTo>
                <a:lnTo>
                  <a:pt x="229784" y="504624"/>
                </a:lnTo>
                <a:lnTo>
                  <a:pt x="240607" y="527603"/>
                </a:lnTo>
                <a:lnTo>
                  <a:pt x="263585" y="516779"/>
                </a:lnTo>
                <a:lnTo>
                  <a:pt x="252763" y="493801"/>
                </a:lnTo>
                <a:close/>
              </a:path>
              <a:path w="1327150" h="636270">
                <a:moveTo>
                  <a:pt x="206805" y="515448"/>
                </a:moveTo>
                <a:lnTo>
                  <a:pt x="183827" y="526271"/>
                </a:lnTo>
                <a:lnTo>
                  <a:pt x="194651" y="549250"/>
                </a:lnTo>
                <a:lnTo>
                  <a:pt x="217629" y="538426"/>
                </a:lnTo>
                <a:lnTo>
                  <a:pt x="206805" y="515448"/>
                </a:lnTo>
                <a:close/>
              </a:path>
              <a:path w="1327150" h="636270">
                <a:moveTo>
                  <a:pt x="160849" y="537095"/>
                </a:moveTo>
                <a:lnTo>
                  <a:pt x="137871" y="547918"/>
                </a:lnTo>
                <a:lnTo>
                  <a:pt x="148694" y="570897"/>
                </a:lnTo>
                <a:lnTo>
                  <a:pt x="171672" y="560073"/>
                </a:lnTo>
                <a:lnTo>
                  <a:pt x="160849" y="537095"/>
                </a:lnTo>
                <a:close/>
              </a:path>
              <a:path w="1327150" h="636270">
                <a:moveTo>
                  <a:pt x="114891" y="558742"/>
                </a:moveTo>
                <a:lnTo>
                  <a:pt x="91913" y="569565"/>
                </a:lnTo>
                <a:lnTo>
                  <a:pt x="102736" y="592544"/>
                </a:lnTo>
                <a:lnTo>
                  <a:pt x="125716" y="581720"/>
                </a:lnTo>
                <a:lnTo>
                  <a:pt x="114891" y="558742"/>
                </a:lnTo>
                <a:close/>
              </a:path>
              <a:path w="1327150" h="636270">
                <a:moveTo>
                  <a:pt x="68935" y="580389"/>
                </a:moveTo>
                <a:lnTo>
                  <a:pt x="45956" y="591212"/>
                </a:lnTo>
                <a:lnTo>
                  <a:pt x="56780" y="614191"/>
                </a:lnTo>
                <a:lnTo>
                  <a:pt x="79758" y="603367"/>
                </a:lnTo>
                <a:lnTo>
                  <a:pt x="68935" y="580389"/>
                </a:lnTo>
                <a:close/>
              </a:path>
              <a:path w="1327150" h="636270">
                <a:moveTo>
                  <a:pt x="22978" y="602036"/>
                </a:moveTo>
                <a:lnTo>
                  <a:pt x="0" y="612859"/>
                </a:lnTo>
                <a:lnTo>
                  <a:pt x="10822" y="635838"/>
                </a:lnTo>
                <a:lnTo>
                  <a:pt x="33802" y="625014"/>
                </a:lnTo>
                <a:lnTo>
                  <a:pt x="22978" y="60203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203233" y="5480674"/>
            <a:ext cx="3154321" cy="1081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5288833" y="6174740"/>
            <a:ext cx="1231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Neural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Net</a:t>
            </a:r>
            <a:r>
              <a:rPr dirty="0" sz="1800" spc="-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39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038502" y="6162547"/>
            <a:ext cx="1220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F81BD"/>
                </a:solidFill>
                <a:latin typeface="Calibri"/>
                <a:cs typeface="Calibri"/>
              </a:rPr>
              <a:t>Neural </a:t>
            </a:r>
            <a:r>
              <a:rPr dirty="0" sz="1800">
                <a:solidFill>
                  <a:srgbClr val="4F81BD"/>
                </a:solidFill>
                <a:latin typeface="Calibri"/>
                <a:cs typeface="Calibri"/>
              </a:rPr>
              <a:t>Net</a:t>
            </a:r>
            <a:r>
              <a:rPr dirty="0" sz="1800" spc="-7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71856"/>
            <a:ext cx="3874008" cy="402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4996179"/>
            <a:ext cx="7738745" cy="1303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25" b="1">
                <a:latin typeface="Calibri"/>
                <a:cs typeface="Calibri"/>
              </a:rPr>
              <a:t>Why </a:t>
            </a:r>
            <a:r>
              <a:rPr dirty="0" sz="2800" spc="-5" b="1">
                <a:latin typeface="Calibri"/>
                <a:cs typeface="Calibri"/>
              </a:rPr>
              <a:t>does </a:t>
            </a:r>
            <a:r>
              <a:rPr dirty="0" sz="2800" b="1">
                <a:latin typeface="Calibri"/>
                <a:cs typeface="Calibri"/>
              </a:rPr>
              <a:t>ID-GNN </a:t>
            </a:r>
            <a:r>
              <a:rPr dirty="0" sz="2800" spc="-10" b="1">
                <a:latin typeface="Calibri"/>
                <a:cs typeface="Calibri"/>
              </a:rPr>
              <a:t>work </a:t>
            </a:r>
            <a:r>
              <a:rPr dirty="0" sz="2800" spc="-15" b="1">
                <a:latin typeface="Calibri"/>
                <a:cs typeface="Calibri"/>
              </a:rPr>
              <a:t>better </a:t>
            </a:r>
            <a:r>
              <a:rPr dirty="0" sz="2800" spc="-5" b="1">
                <a:latin typeface="Calibri"/>
                <a:cs typeface="Calibri"/>
              </a:rPr>
              <a:t>than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GNN?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290"/>
              </a:lnSpc>
              <a:spcBef>
                <a:spcPts val="21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latin typeface="Calibri"/>
                <a:cs typeface="Calibri"/>
              </a:rPr>
              <a:t>Intuition: </a:t>
            </a:r>
            <a:r>
              <a:rPr dirty="0" sz="2800" spc="-5">
                <a:latin typeface="Calibri"/>
                <a:cs typeface="Calibri"/>
              </a:rPr>
              <a:t>ID-GNN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count cycles originating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from 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given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5">
                <a:latin typeface="Calibri"/>
                <a:cs typeface="Calibri"/>
              </a:rPr>
              <a:t>GNN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cannot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4449" y="1550047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39">
                <a:moveTo>
                  <a:pt x="0" y="102725"/>
                </a:moveTo>
                <a:lnTo>
                  <a:pt x="8072" y="62739"/>
                </a:lnTo>
                <a:lnTo>
                  <a:pt x="30087" y="30087"/>
                </a:lnTo>
                <a:lnTo>
                  <a:pt x="62739" y="8072"/>
                </a:lnTo>
                <a:lnTo>
                  <a:pt x="102725" y="0"/>
                </a:lnTo>
                <a:lnTo>
                  <a:pt x="142710" y="8072"/>
                </a:lnTo>
                <a:lnTo>
                  <a:pt x="175362" y="30087"/>
                </a:lnTo>
                <a:lnTo>
                  <a:pt x="197377" y="62739"/>
                </a:lnTo>
                <a:lnTo>
                  <a:pt x="205450" y="102725"/>
                </a:lnTo>
                <a:lnTo>
                  <a:pt x="197377" y="142710"/>
                </a:lnTo>
                <a:lnTo>
                  <a:pt x="175362" y="175362"/>
                </a:lnTo>
                <a:lnTo>
                  <a:pt x="142710" y="197377"/>
                </a:lnTo>
                <a:lnTo>
                  <a:pt x="102725" y="205450"/>
                </a:lnTo>
                <a:lnTo>
                  <a:pt x="62739" y="197377"/>
                </a:lnTo>
                <a:lnTo>
                  <a:pt x="30087" y="175362"/>
                </a:lnTo>
                <a:lnTo>
                  <a:pt x="8072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34449" y="2371850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45979" y="1955812"/>
            <a:ext cx="200660" cy="205740"/>
          </a:xfrm>
          <a:custGeom>
            <a:avLst/>
            <a:gdLst/>
            <a:ahLst/>
            <a:cxnLst/>
            <a:rect l="l" t="t" r="r" b="b"/>
            <a:pathLst>
              <a:path w="200660" h="205739">
                <a:moveTo>
                  <a:pt x="0" y="102725"/>
                </a:moveTo>
                <a:lnTo>
                  <a:pt x="7870" y="62739"/>
                </a:lnTo>
                <a:lnTo>
                  <a:pt x="29335" y="30087"/>
                </a:lnTo>
                <a:lnTo>
                  <a:pt x="61171" y="8072"/>
                </a:lnTo>
                <a:lnTo>
                  <a:pt x="100157" y="0"/>
                </a:lnTo>
                <a:lnTo>
                  <a:pt x="139142" y="8072"/>
                </a:lnTo>
                <a:lnTo>
                  <a:pt x="170978" y="30087"/>
                </a:lnTo>
                <a:lnTo>
                  <a:pt x="192443" y="62739"/>
                </a:lnTo>
                <a:lnTo>
                  <a:pt x="200314" y="102725"/>
                </a:lnTo>
                <a:lnTo>
                  <a:pt x="192443" y="142710"/>
                </a:lnTo>
                <a:lnTo>
                  <a:pt x="170978" y="175362"/>
                </a:lnTo>
                <a:lnTo>
                  <a:pt x="139142" y="197377"/>
                </a:lnTo>
                <a:lnTo>
                  <a:pt x="100157" y="205450"/>
                </a:lnTo>
                <a:lnTo>
                  <a:pt x="61171" y="197377"/>
                </a:lnTo>
                <a:lnTo>
                  <a:pt x="29335" y="175362"/>
                </a:lnTo>
                <a:lnTo>
                  <a:pt x="7870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37175" y="1755499"/>
            <a:ext cx="0" cy="618490"/>
          </a:xfrm>
          <a:custGeom>
            <a:avLst/>
            <a:gdLst/>
            <a:ahLst/>
            <a:cxnLst/>
            <a:rect l="l" t="t" r="r" b="b"/>
            <a:pathLst>
              <a:path w="0" h="618489">
                <a:moveTo>
                  <a:pt x="0" y="0"/>
                </a:moveTo>
                <a:lnTo>
                  <a:pt x="0" y="61816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39900" y="1652772"/>
            <a:ext cx="636270" cy="334010"/>
          </a:xfrm>
          <a:custGeom>
            <a:avLst/>
            <a:gdLst/>
            <a:ahLst/>
            <a:cxnLst/>
            <a:rect l="l" t="t" r="r" b="b"/>
            <a:pathLst>
              <a:path w="636269" h="334010">
                <a:moveTo>
                  <a:pt x="0" y="0"/>
                </a:moveTo>
                <a:lnTo>
                  <a:pt x="636154" y="333914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39900" y="2130445"/>
            <a:ext cx="636270" cy="343535"/>
          </a:xfrm>
          <a:custGeom>
            <a:avLst/>
            <a:gdLst/>
            <a:ahLst/>
            <a:cxnLst/>
            <a:rect l="l" t="t" r="r" b="b"/>
            <a:pathLst>
              <a:path w="636269" h="343535">
                <a:moveTo>
                  <a:pt x="0" y="343383"/>
                </a:moveTo>
                <a:lnTo>
                  <a:pt x="636154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71763" y="1560320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71763" y="2376986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93462" y="1565456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74488" y="1760635"/>
            <a:ext cx="0" cy="614045"/>
          </a:xfrm>
          <a:custGeom>
            <a:avLst/>
            <a:gdLst/>
            <a:ahLst/>
            <a:cxnLst/>
            <a:rect l="l" t="t" r="r" b="b"/>
            <a:pathLst>
              <a:path w="0" h="614044">
                <a:moveTo>
                  <a:pt x="0" y="0"/>
                </a:moveTo>
                <a:lnTo>
                  <a:pt x="0" y="61375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91051" y="1765770"/>
            <a:ext cx="0" cy="612140"/>
          </a:xfrm>
          <a:custGeom>
            <a:avLst/>
            <a:gdLst/>
            <a:ahLst/>
            <a:cxnLst/>
            <a:rect l="l" t="t" r="r" b="b"/>
            <a:pathLst>
              <a:path w="0" h="612139">
                <a:moveTo>
                  <a:pt x="0" y="611513"/>
                </a:moveTo>
                <a:lnTo>
                  <a:pt x="0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83587" y="1532211"/>
            <a:ext cx="33147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2525" sz="1650" spc="15">
                <a:solidFill>
                  <a:srgbClr val="ED7D31"/>
                </a:solidFill>
                <a:latin typeface="Calibri"/>
                <a:cs typeface="Calibri"/>
              </a:rPr>
              <a:t>A </a:t>
            </a:r>
            <a:r>
              <a:rPr dirty="0" baseline="2525" sz="1650" spc="135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dirty="0" sz="1100" spc="250">
                <a:latin typeface="Cambria Math"/>
                <a:cs typeface="Cambria Math"/>
              </a:rPr>
              <a:t>!</a:t>
            </a:r>
            <a:r>
              <a:rPr dirty="0" baseline="-17361" sz="1200" spc="375">
                <a:latin typeface="Cambria Math"/>
                <a:cs typeface="Cambria Math"/>
              </a:rPr>
              <a:t>!</a:t>
            </a:r>
            <a:endParaRPr baseline="-17361" sz="1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50976" y="1557893"/>
            <a:ext cx="32194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0">
                <a:solidFill>
                  <a:srgbClr val="5B9BD5"/>
                </a:solidFill>
                <a:latin typeface="Calibri"/>
                <a:cs typeface="Calibri"/>
              </a:rPr>
              <a:t>B </a:t>
            </a:r>
            <a:r>
              <a:rPr dirty="0" sz="1100" spc="25">
                <a:solidFill>
                  <a:srgbClr val="5B9BD5"/>
                </a:solidFill>
                <a:latin typeface="Calibri"/>
                <a:cs typeface="Calibri"/>
              </a:rPr>
              <a:t> </a:t>
            </a:r>
            <a:r>
              <a:rPr dirty="0" baseline="5050" sz="1650" spc="322">
                <a:latin typeface="Cambria Math"/>
                <a:cs typeface="Cambria Math"/>
              </a:rPr>
              <a:t>!</a:t>
            </a:r>
            <a:r>
              <a:rPr dirty="0" baseline="-6944" sz="1200" spc="322">
                <a:latin typeface="Cambria Math"/>
                <a:cs typeface="Cambria Math"/>
              </a:rPr>
              <a:t>"</a:t>
            </a:r>
            <a:endParaRPr baseline="-6944"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57096" y="2970365"/>
            <a:ext cx="177292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Calibri"/>
                <a:cs typeface="Calibri"/>
              </a:rPr>
              <a:t>GNN computational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graph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28563" y="3268268"/>
            <a:ext cx="19431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15">
                <a:latin typeface="Cambria Math"/>
                <a:cs typeface="Cambria Math"/>
              </a:rPr>
              <a:t>=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6499" y="4203067"/>
            <a:ext cx="19558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15">
                <a:latin typeface="Cambria Math"/>
                <a:cs typeface="Cambria Math"/>
              </a:rPr>
              <a:t>…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93462" y="2376986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93777" y="1663045"/>
            <a:ext cx="678815" cy="2540"/>
          </a:xfrm>
          <a:custGeom>
            <a:avLst/>
            <a:gdLst/>
            <a:ahLst/>
            <a:cxnLst/>
            <a:rect l="l" t="t" r="r" b="b"/>
            <a:pathLst>
              <a:path w="678814" h="2539">
                <a:moveTo>
                  <a:pt x="678751" y="0"/>
                </a:moveTo>
                <a:lnTo>
                  <a:pt x="0" y="2236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93777" y="2479711"/>
            <a:ext cx="678815" cy="0"/>
          </a:xfrm>
          <a:custGeom>
            <a:avLst/>
            <a:gdLst/>
            <a:ahLst/>
            <a:cxnLst/>
            <a:rect l="l" t="t" r="r" b="b"/>
            <a:pathLst>
              <a:path w="678814" h="0">
                <a:moveTo>
                  <a:pt x="678751" y="0"/>
                </a:moveTo>
                <a:lnTo>
                  <a:pt x="0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9419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31096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07825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80990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27530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404260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82773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29313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06043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779207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030884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902477" y="3815139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9502" y="3512099"/>
            <a:ext cx="200660" cy="205740"/>
          </a:xfrm>
          <a:custGeom>
            <a:avLst/>
            <a:gdLst/>
            <a:ahLst/>
            <a:cxnLst/>
            <a:rect l="l" t="t" r="r" b="b"/>
            <a:pathLst>
              <a:path w="200659" h="205739">
                <a:moveTo>
                  <a:pt x="0" y="102725"/>
                </a:moveTo>
                <a:lnTo>
                  <a:pt x="7870" y="62739"/>
                </a:lnTo>
                <a:lnTo>
                  <a:pt x="29335" y="30087"/>
                </a:lnTo>
                <a:lnTo>
                  <a:pt x="61171" y="8072"/>
                </a:lnTo>
                <a:lnTo>
                  <a:pt x="100157" y="0"/>
                </a:lnTo>
                <a:lnTo>
                  <a:pt x="139142" y="8072"/>
                </a:lnTo>
                <a:lnTo>
                  <a:pt x="170978" y="30087"/>
                </a:lnTo>
                <a:lnTo>
                  <a:pt x="192443" y="62739"/>
                </a:lnTo>
                <a:lnTo>
                  <a:pt x="200314" y="102725"/>
                </a:lnTo>
                <a:lnTo>
                  <a:pt x="192443" y="142710"/>
                </a:lnTo>
                <a:lnTo>
                  <a:pt x="170978" y="175362"/>
                </a:lnTo>
                <a:lnTo>
                  <a:pt x="139142" y="197377"/>
                </a:lnTo>
                <a:lnTo>
                  <a:pt x="100157" y="205450"/>
                </a:lnTo>
                <a:lnTo>
                  <a:pt x="61171" y="197377"/>
                </a:lnTo>
                <a:lnTo>
                  <a:pt x="29335" y="175362"/>
                </a:lnTo>
                <a:lnTo>
                  <a:pt x="7870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55937" y="351209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57720" y="32501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28999" y="3419647"/>
            <a:ext cx="355600" cy="123189"/>
          </a:xfrm>
          <a:custGeom>
            <a:avLst/>
            <a:gdLst/>
            <a:ahLst/>
            <a:cxnLst/>
            <a:rect l="l" t="t" r="r" b="b"/>
            <a:pathLst>
              <a:path w="355600" h="123189">
                <a:moveTo>
                  <a:pt x="0" y="123145"/>
                </a:moveTo>
                <a:lnTo>
                  <a:pt x="355043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27217" y="3419647"/>
            <a:ext cx="356235" cy="121285"/>
          </a:xfrm>
          <a:custGeom>
            <a:avLst/>
            <a:gdLst/>
            <a:ahLst/>
            <a:cxnLst/>
            <a:rect l="l" t="t" r="r" b="b"/>
            <a:pathLst>
              <a:path w="356235" h="121285">
                <a:moveTo>
                  <a:pt x="0" y="0"/>
                </a:moveTo>
                <a:lnTo>
                  <a:pt x="355932" y="121217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05414" y="3686733"/>
            <a:ext cx="180340" cy="127000"/>
          </a:xfrm>
          <a:custGeom>
            <a:avLst/>
            <a:gdLst/>
            <a:ahLst/>
            <a:cxnLst/>
            <a:rect l="l" t="t" r="r" b="b"/>
            <a:pathLst>
              <a:path w="180340" h="127000">
                <a:moveTo>
                  <a:pt x="180234" y="0"/>
                </a:moveTo>
                <a:lnTo>
                  <a:pt x="0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28999" y="3686733"/>
            <a:ext cx="176530" cy="127000"/>
          </a:xfrm>
          <a:custGeom>
            <a:avLst/>
            <a:gdLst/>
            <a:ahLst/>
            <a:cxnLst/>
            <a:rect l="l" t="t" r="r" b="b"/>
            <a:pathLst>
              <a:path w="176530" h="127000">
                <a:moveTo>
                  <a:pt x="0" y="0"/>
                </a:moveTo>
                <a:lnTo>
                  <a:pt x="176139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06985" y="3686733"/>
            <a:ext cx="179070" cy="128905"/>
          </a:xfrm>
          <a:custGeom>
            <a:avLst/>
            <a:gdLst/>
            <a:ahLst/>
            <a:cxnLst/>
            <a:rect l="l" t="t" r="r" b="b"/>
            <a:pathLst>
              <a:path w="179069" h="128904">
                <a:moveTo>
                  <a:pt x="178462" y="0"/>
                </a:moveTo>
                <a:lnTo>
                  <a:pt x="0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825434" y="3686733"/>
            <a:ext cx="178435" cy="128905"/>
          </a:xfrm>
          <a:custGeom>
            <a:avLst/>
            <a:gdLst/>
            <a:ahLst/>
            <a:cxnLst/>
            <a:rect l="l" t="t" r="r" b="b"/>
            <a:pathLst>
              <a:path w="178435" h="128904">
                <a:moveTo>
                  <a:pt x="0" y="0"/>
                </a:moveTo>
                <a:lnTo>
                  <a:pt x="177912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82144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77322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40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80361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80676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40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378579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578893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881932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077111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3295562" y="4203067"/>
            <a:ext cx="19558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15">
                <a:latin typeface="Cambria Math"/>
                <a:cs typeface="Cambria Math"/>
              </a:rPr>
              <a:t>…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431512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678054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554783" y="3815139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427948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679624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556354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929729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181407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53001" y="3815139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926165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177842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054571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806459" y="35120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39" h="205739">
                <a:moveTo>
                  <a:pt x="0" y="102725"/>
                </a:moveTo>
                <a:lnTo>
                  <a:pt x="8072" y="62739"/>
                </a:lnTo>
                <a:lnTo>
                  <a:pt x="30087" y="30087"/>
                </a:lnTo>
                <a:lnTo>
                  <a:pt x="62739" y="8072"/>
                </a:lnTo>
                <a:lnTo>
                  <a:pt x="102725" y="0"/>
                </a:lnTo>
                <a:lnTo>
                  <a:pt x="142710" y="8072"/>
                </a:lnTo>
                <a:lnTo>
                  <a:pt x="175362" y="30087"/>
                </a:lnTo>
                <a:lnTo>
                  <a:pt x="197377" y="62739"/>
                </a:lnTo>
                <a:lnTo>
                  <a:pt x="205450" y="102725"/>
                </a:lnTo>
                <a:lnTo>
                  <a:pt x="197377" y="142710"/>
                </a:lnTo>
                <a:lnTo>
                  <a:pt x="175362" y="175362"/>
                </a:lnTo>
                <a:lnTo>
                  <a:pt x="142710" y="197377"/>
                </a:lnTo>
                <a:lnTo>
                  <a:pt x="102725" y="205450"/>
                </a:lnTo>
                <a:lnTo>
                  <a:pt x="62739" y="197377"/>
                </a:lnTo>
                <a:lnTo>
                  <a:pt x="30087" y="175362"/>
                </a:lnTo>
                <a:lnTo>
                  <a:pt x="8072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802895" y="3512099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304676" y="32501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981093" y="3419647"/>
            <a:ext cx="355600" cy="123189"/>
          </a:xfrm>
          <a:custGeom>
            <a:avLst/>
            <a:gdLst/>
            <a:ahLst/>
            <a:cxnLst/>
            <a:rect l="l" t="t" r="r" b="b"/>
            <a:pathLst>
              <a:path w="355600" h="123189">
                <a:moveTo>
                  <a:pt x="0" y="123145"/>
                </a:moveTo>
                <a:lnTo>
                  <a:pt x="355043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79310" y="3419647"/>
            <a:ext cx="356235" cy="121285"/>
          </a:xfrm>
          <a:custGeom>
            <a:avLst/>
            <a:gdLst/>
            <a:ahLst/>
            <a:cxnLst/>
            <a:rect l="l" t="t" r="r" b="b"/>
            <a:pathLst>
              <a:path w="356235" h="121285">
                <a:moveTo>
                  <a:pt x="0" y="0"/>
                </a:moveTo>
                <a:lnTo>
                  <a:pt x="355932" y="121217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657508" y="3686733"/>
            <a:ext cx="180340" cy="127000"/>
          </a:xfrm>
          <a:custGeom>
            <a:avLst/>
            <a:gdLst/>
            <a:ahLst/>
            <a:cxnLst/>
            <a:rect l="l" t="t" r="r" b="b"/>
            <a:pathLst>
              <a:path w="180339" h="127000">
                <a:moveTo>
                  <a:pt x="180234" y="0"/>
                </a:moveTo>
                <a:lnTo>
                  <a:pt x="0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981093" y="3686733"/>
            <a:ext cx="176530" cy="127000"/>
          </a:xfrm>
          <a:custGeom>
            <a:avLst/>
            <a:gdLst/>
            <a:ahLst/>
            <a:cxnLst/>
            <a:rect l="l" t="t" r="r" b="b"/>
            <a:pathLst>
              <a:path w="176530" h="127000">
                <a:moveTo>
                  <a:pt x="0" y="0"/>
                </a:moveTo>
                <a:lnTo>
                  <a:pt x="176139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653943" y="3686733"/>
            <a:ext cx="179070" cy="128905"/>
          </a:xfrm>
          <a:custGeom>
            <a:avLst/>
            <a:gdLst/>
            <a:ahLst/>
            <a:cxnLst/>
            <a:rect l="l" t="t" r="r" b="b"/>
            <a:pathLst>
              <a:path w="179070" h="128904">
                <a:moveTo>
                  <a:pt x="178462" y="0"/>
                </a:moveTo>
                <a:lnTo>
                  <a:pt x="0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977528" y="3686733"/>
            <a:ext cx="178435" cy="128905"/>
          </a:xfrm>
          <a:custGeom>
            <a:avLst/>
            <a:gdLst/>
            <a:ahLst/>
            <a:cxnLst/>
            <a:rect l="l" t="t" r="r" b="b"/>
            <a:pathLst>
              <a:path w="178435" h="128904">
                <a:moveTo>
                  <a:pt x="0" y="0"/>
                </a:moveTo>
                <a:lnTo>
                  <a:pt x="177912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529101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729416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032455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227633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530673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725851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028890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224068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441363" y="1550047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39" h="205739">
                <a:moveTo>
                  <a:pt x="102725" y="0"/>
                </a:moveTo>
                <a:lnTo>
                  <a:pt x="62738" y="8072"/>
                </a:lnTo>
                <a:lnTo>
                  <a:pt x="30086" y="30087"/>
                </a:lnTo>
                <a:lnTo>
                  <a:pt x="8072" y="62739"/>
                </a:lnTo>
                <a:lnTo>
                  <a:pt x="0" y="102725"/>
                </a:lnTo>
                <a:lnTo>
                  <a:pt x="8072" y="142711"/>
                </a:lnTo>
                <a:lnTo>
                  <a:pt x="30086" y="175363"/>
                </a:lnTo>
                <a:lnTo>
                  <a:pt x="62738" y="197379"/>
                </a:lnTo>
                <a:lnTo>
                  <a:pt x="102725" y="205451"/>
                </a:lnTo>
                <a:lnTo>
                  <a:pt x="142710" y="197379"/>
                </a:lnTo>
                <a:lnTo>
                  <a:pt x="175363" y="175363"/>
                </a:lnTo>
                <a:lnTo>
                  <a:pt x="197377" y="142711"/>
                </a:lnTo>
                <a:lnTo>
                  <a:pt x="205450" y="102725"/>
                </a:lnTo>
                <a:lnTo>
                  <a:pt x="197377" y="62739"/>
                </a:lnTo>
                <a:lnTo>
                  <a:pt x="175363" y="30087"/>
                </a:lnTo>
                <a:lnTo>
                  <a:pt x="142710" y="8072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441363" y="1550047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39" h="205739">
                <a:moveTo>
                  <a:pt x="0" y="102725"/>
                </a:moveTo>
                <a:lnTo>
                  <a:pt x="8072" y="62739"/>
                </a:lnTo>
                <a:lnTo>
                  <a:pt x="30087" y="30087"/>
                </a:lnTo>
                <a:lnTo>
                  <a:pt x="62739" y="8072"/>
                </a:lnTo>
                <a:lnTo>
                  <a:pt x="102725" y="0"/>
                </a:lnTo>
                <a:lnTo>
                  <a:pt x="142710" y="8072"/>
                </a:lnTo>
                <a:lnTo>
                  <a:pt x="175362" y="30087"/>
                </a:lnTo>
                <a:lnTo>
                  <a:pt x="197377" y="62739"/>
                </a:lnTo>
                <a:lnTo>
                  <a:pt x="205450" y="102725"/>
                </a:lnTo>
                <a:lnTo>
                  <a:pt x="197377" y="142710"/>
                </a:lnTo>
                <a:lnTo>
                  <a:pt x="175362" y="175362"/>
                </a:lnTo>
                <a:lnTo>
                  <a:pt x="142710" y="197377"/>
                </a:lnTo>
                <a:lnTo>
                  <a:pt x="102725" y="205450"/>
                </a:lnTo>
                <a:lnTo>
                  <a:pt x="62739" y="197377"/>
                </a:lnTo>
                <a:lnTo>
                  <a:pt x="30087" y="175362"/>
                </a:lnTo>
                <a:lnTo>
                  <a:pt x="8072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441363" y="2371850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252891" y="1955812"/>
            <a:ext cx="200660" cy="205740"/>
          </a:xfrm>
          <a:custGeom>
            <a:avLst/>
            <a:gdLst/>
            <a:ahLst/>
            <a:cxnLst/>
            <a:rect l="l" t="t" r="r" b="b"/>
            <a:pathLst>
              <a:path w="200660" h="205739">
                <a:moveTo>
                  <a:pt x="0" y="102725"/>
                </a:moveTo>
                <a:lnTo>
                  <a:pt x="7870" y="62739"/>
                </a:lnTo>
                <a:lnTo>
                  <a:pt x="29335" y="30087"/>
                </a:lnTo>
                <a:lnTo>
                  <a:pt x="61171" y="8072"/>
                </a:lnTo>
                <a:lnTo>
                  <a:pt x="100157" y="0"/>
                </a:lnTo>
                <a:lnTo>
                  <a:pt x="139142" y="8072"/>
                </a:lnTo>
                <a:lnTo>
                  <a:pt x="170978" y="30087"/>
                </a:lnTo>
                <a:lnTo>
                  <a:pt x="192443" y="62739"/>
                </a:lnTo>
                <a:lnTo>
                  <a:pt x="200314" y="102725"/>
                </a:lnTo>
                <a:lnTo>
                  <a:pt x="192443" y="142710"/>
                </a:lnTo>
                <a:lnTo>
                  <a:pt x="170978" y="175362"/>
                </a:lnTo>
                <a:lnTo>
                  <a:pt x="139142" y="197377"/>
                </a:lnTo>
                <a:lnTo>
                  <a:pt x="100157" y="205450"/>
                </a:lnTo>
                <a:lnTo>
                  <a:pt x="61171" y="197377"/>
                </a:lnTo>
                <a:lnTo>
                  <a:pt x="29335" y="175362"/>
                </a:lnTo>
                <a:lnTo>
                  <a:pt x="7870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544088" y="1755499"/>
            <a:ext cx="0" cy="618490"/>
          </a:xfrm>
          <a:custGeom>
            <a:avLst/>
            <a:gdLst/>
            <a:ahLst/>
            <a:cxnLst/>
            <a:rect l="l" t="t" r="r" b="b"/>
            <a:pathLst>
              <a:path w="0" h="618489">
                <a:moveTo>
                  <a:pt x="0" y="0"/>
                </a:moveTo>
                <a:lnTo>
                  <a:pt x="0" y="61816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646813" y="1652772"/>
            <a:ext cx="636270" cy="334010"/>
          </a:xfrm>
          <a:custGeom>
            <a:avLst/>
            <a:gdLst/>
            <a:ahLst/>
            <a:cxnLst/>
            <a:rect l="l" t="t" r="r" b="b"/>
            <a:pathLst>
              <a:path w="636270" h="334010">
                <a:moveTo>
                  <a:pt x="0" y="0"/>
                </a:moveTo>
                <a:lnTo>
                  <a:pt x="636154" y="333914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646813" y="2130445"/>
            <a:ext cx="636270" cy="343535"/>
          </a:xfrm>
          <a:custGeom>
            <a:avLst/>
            <a:gdLst/>
            <a:ahLst/>
            <a:cxnLst/>
            <a:rect l="l" t="t" r="r" b="b"/>
            <a:pathLst>
              <a:path w="636270" h="343535">
                <a:moveTo>
                  <a:pt x="0" y="343383"/>
                </a:moveTo>
                <a:lnTo>
                  <a:pt x="636154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7978675" y="1560320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7978675" y="2376986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095239" y="1565456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102725" y="0"/>
                </a:moveTo>
                <a:lnTo>
                  <a:pt x="62738" y="7870"/>
                </a:lnTo>
                <a:lnTo>
                  <a:pt x="30086" y="29335"/>
                </a:lnTo>
                <a:lnTo>
                  <a:pt x="8072" y="61171"/>
                </a:lnTo>
                <a:lnTo>
                  <a:pt x="0" y="100157"/>
                </a:lnTo>
                <a:lnTo>
                  <a:pt x="8072" y="139143"/>
                </a:lnTo>
                <a:lnTo>
                  <a:pt x="30086" y="170979"/>
                </a:lnTo>
                <a:lnTo>
                  <a:pt x="62738" y="192443"/>
                </a:lnTo>
                <a:lnTo>
                  <a:pt x="102725" y="200314"/>
                </a:lnTo>
                <a:lnTo>
                  <a:pt x="142710" y="192443"/>
                </a:lnTo>
                <a:lnTo>
                  <a:pt x="175363" y="170979"/>
                </a:lnTo>
                <a:lnTo>
                  <a:pt x="197377" y="139143"/>
                </a:lnTo>
                <a:lnTo>
                  <a:pt x="205450" y="100157"/>
                </a:lnTo>
                <a:lnTo>
                  <a:pt x="197377" y="61171"/>
                </a:lnTo>
                <a:lnTo>
                  <a:pt x="175363" y="29335"/>
                </a:lnTo>
                <a:lnTo>
                  <a:pt x="142710" y="7870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095239" y="1565456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081401" y="1760635"/>
            <a:ext cx="0" cy="614045"/>
          </a:xfrm>
          <a:custGeom>
            <a:avLst/>
            <a:gdLst/>
            <a:ahLst/>
            <a:cxnLst/>
            <a:rect l="l" t="t" r="r" b="b"/>
            <a:pathLst>
              <a:path w="0" h="614044">
                <a:moveTo>
                  <a:pt x="0" y="0"/>
                </a:moveTo>
                <a:lnTo>
                  <a:pt x="0" y="61375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197965" y="1765770"/>
            <a:ext cx="0" cy="612140"/>
          </a:xfrm>
          <a:custGeom>
            <a:avLst/>
            <a:gdLst/>
            <a:ahLst/>
            <a:cxnLst/>
            <a:rect l="l" t="t" r="r" b="b"/>
            <a:pathLst>
              <a:path w="0" h="612139">
                <a:moveTo>
                  <a:pt x="0" y="611513"/>
                </a:moveTo>
                <a:lnTo>
                  <a:pt x="0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5293001" y="1532211"/>
            <a:ext cx="32829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2525" sz="1650" spc="15">
                <a:solidFill>
                  <a:srgbClr val="ED7D31"/>
                </a:solidFill>
                <a:latin typeface="Calibri"/>
                <a:cs typeface="Calibri"/>
              </a:rPr>
              <a:t>A </a:t>
            </a:r>
            <a:r>
              <a:rPr dirty="0" baseline="2525" sz="1650" spc="89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dirty="0" sz="1100" spc="250">
                <a:latin typeface="Cambria Math"/>
                <a:cs typeface="Cambria Math"/>
              </a:rPr>
              <a:t>!</a:t>
            </a:r>
            <a:r>
              <a:rPr dirty="0" baseline="-17361" sz="1200" spc="375">
                <a:latin typeface="Cambria Math"/>
                <a:cs typeface="Cambria Math"/>
              </a:rPr>
              <a:t>!</a:t>
            </a:r>
            <a:endParaRPr baseline="-17361" sz="1200">
              <a:latin typeface="Cambria Math"/>
              <a:cs typeface="Cambria Math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958822" y="1527075"/>
            <a:ext cx="32004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0">
                <a:solidFill>
                  <a:srgbClr val="5B9BD5"/>
                </a:solidFill>
                <a:latin typeface="Calibri"/>
                <a:cs typeface="Calibri"/>
              </a:rPr>
              <a:t>B  </a:t>
            </a:r>
            <a:r>
              <a:rPr dirty="0" baseline="-7575" sz="1650" spc="322">
                <a:latin typeface="Cambria Math"/>
                <a:cs typeface="Cambria Math"/>
              </a:rPr>
              <a:t>!</a:t>
            </a:r>
            <a:r>
              <a:rPr dirty="0" baseline="-24305" sz="1200" spc="322">
                <a:latin typeface="Cambria Math"/>
                <a:cs typeface="Cambria Math"/>
              </a:rPr>
              <a:t>"</a:t>
            </a:r>
            <a:endParaRPr baseline="-24305" sz="1200">
              <a:latin typeface="Cambria Math"/>
              <a:cs typeface="Cambria Math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936546" y="2970365"/>
            <a:ext cx="16325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C00000"/>
                </a:solidFill>
                <a:latin typeface="Calibri"/>
                <a:cs typeface="Calibri"/>
              </a:rPr>
              <a:t>ID-GNN </a:t>
            </a:r>
            <a:r>
              <a:rPr dirty="0" sz="1300" spc="-15">
                <a:solidFill>
                  <a:srgbClr val="C00000"/>
                </a:solidFill>
                <a:latin typeface="Calibri"/>
                <a:cs typeface="Calibri"/>
              </a:rPr>
              <a:t>rooted</a:t>
            </a:r>
            <a:r>
              <a:rPr dirty="0" sz="13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00000"/>
                </a:solidFill>
                <a:latin typeface="Calibri"/>
                <a:cs typeface="Calibri"/>
              </a:rPr>
              <a:t>subtrees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650522" y="3268268"/>
            <a:ext cx="19431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15">
                <a:latin typeface="Cambria Math"/>
                <a:cs typeface="Cambria Math"/>
              </a:rPr>
              <a:t>≠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7095239" y="2376986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300690" y="1663045"/>
            <a:ext cx="678815" cy="2540"/>
          </a:xfrm>
          <a:custGeom>
            <a:avLst/>
            <a:gdLst/>
            <a:ahLst/>
            <a:cxnLst/>
            <a:rect l="l" t="t" r="r" b="b"/>
            <a:pathLst>
              <a:path w="678815" h="2539">
                <a:moveTo>
                  <a:pt x="678751" y="0"/>
                </a:moveTo>
                <a:lnTo>
                  <a:pt x="0" y="2236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300690" y="2479711"/>
            <a:ext cx="678815" cy="0"/>
          </a:xfrm>
          <a:custGeom>
            <a:avLst/>
            <a:gdLst/>
            <a:ahLst/>
            <a:cxnLst/>
            <a:rect l="l" t="t" r="r" b="b"/>
            <a:pathLst>
              <a:path w="678815" h="0">
                <a:moveTo>
                  <a:pt x="678751" y="0"/>
                </a:moveTo>
                <a:lnTo>
                  <a:pt x="0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686331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938009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814739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100157" y="0"/>
                </a:moveTo>
                <a:lnTo>
                  <a:pt x="61171" y="7870"/>
                </a:lnTo>
                <a:lnTo>
                  <a:pt x="29335" y="29335"/>
                </a:lnTo>
                <a:lnTo>
                  <a:pt x="7870" y="61171"/>
                </a:lnTo>
                <a:lnTo>
                  <a:pt x="0" y="100157"/>
                </a:lnTo>
                <a:lnTo>
                  <a:pt x="7870" y="139142"/>
                </a:lnTo>
                <a:lnTo>
                  <a:pt x="29335" y="170978"/>
                </a:lnTo>
                <a:lnTo>
                  <a:pt x="61171" y="192443"/>
                </a:lnTo>
                <a:lnTo>
                  <a:pt x="100157" y="200314"/>
                </a:lnTo>
                <a:lnTo>
                  <a:pt x="139142" y="192443"/>
                </a:lnTo>
                <a:lnTo>
                  <a:pt x="170978" y="170978"/>
                </a:lnTo>
                <a:lnTo>
                  <a:pt x="192443" y="139142"/>
                </a:lnTo>
                <a:lnTo>
                  <a:pt x="200314" y="100157"/>
                </a:lnTo>
                <a:lnTo>
                  <a:pt x="192443" y="61171"/>
                </a:lnTo>
                <a:lnTo>
                  <a:pt x="170978" y="29335"/>
                </a:lnTo>
                <a:lnTo>
                  <a:pt x="139142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814739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687903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934444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102725" y="0"/>
                </a:moveTo>
                <a:lnTo>
                  <a:pt x="62738" y="7870"/>
                </a:lnTo>
                <a:lnTo>
                  <a:pt x="30086" y="29335"/>
                </a:lnTo>
                <a:lnTo>
                  <a:pt x="8072" y="61171"/>
                </a:lnTo>
                <a:lnTo>
                  <a:pt x="0" y="100157"/>
                </a:lnTo>
                <a:lnTo>
                  <a:pt x="8072" y="139143"/>
                </a:lnTo>
                <a:lnTo>
                  <a:pt x="30086" y="170979"/>
                </a:lnTo>
                <a:lnTo>
                  <a:pt x="62738" y="192443"/>
                </a:lnTo>
                <a:lnTo>
                  <a:pt x="102725" y="200314"/>
                </a:lnTo>
                <a:lnTo>
                  <a:pt x="142710" y="192443"/>
                </a:lnTo>
                <a:lnTo>
                  <a:pt x="175363" y="170979"/>
                </a:lnTo>
                <a:lnTo>
                  <a:pt x="197377" y="139143"/>
                </a:lnTo>
                <a:lnTo>
                  <a:pt x="205450" y="100157"/>
                </a:lnTo>
                <a:lnTo>
                  <a:pt x="197377" y="61171"/>
                </a:lnTo>
                <a:lnTo>
                  <a:pt x="175363" y="29335"/>
                </a:lnTo>
                <a:lnTo>
                  <a:pt x="142710" y="7870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934444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811173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184550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102725" y="0"/>
                </a:moveTo>
                <a:lnTo>
                  <a:pt x="62739" y="7870"/>
                </a:lnTo>
                <a:lnTo>
                  <a:pt x="30087" y="29335"/>
                </a:lnTo>
                <a:lnTo>
                  <a:pt x="8072" y="61171"/>
                </a:lnTo>
                <a:lnTo>
                  <a:pt x="0" y="100157"/>
                </a:lnTo>
                <a:lnTo>
                  <a:pt x="8072" y="139143"/>
                </a:lnTo>
                <a:lnTo>
                  <a:pt x="30087" y="170979"/>
                </a:lnTo>
                <a:lnTo>
                  <a:pt x="62739" y="192443"/>
                </a:lnTo>
                <a:lnTo>
                  <a:pt x="102725" y="200314"/>
                </a:lnTo>
                <a:lnTo>
                  <a:pt x="142710" y="192443"/>
                </a:lnTo>
                <a:lnTo>
                  <a:pt x="175362" y="170979"/>
                </a:lnTo>
                <a:lnTo>
                  <a:pt x="197377" y="139143"/>
                </a:lnTo>
                <a:lnTo>
                  <a:pt x="205450" y="100157"/>
                </a:lnTo>
                <a:lnTo>
                  <a:pt x="197377" y="61171"/>
                </a:lnTo>
                <a:lnTo>
                  <a:pt x="175362" y="29335"/>
                </a:lnTo>
                <a:lnTo>
                  <a:pt x="142710" y="7870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184550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436225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312955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186120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432661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309391" y="3815139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102725" y="0"/>
                </a:moveTo>
                <a:lnTo>
                  <a:pt x="62738" y="7870"/>
                </a:lnTo>
                <a:lnTo>
                  <a:pt x="30086" y="29335"/>
                </a:lnTo>
                <a:lnTo>
                  <a:pt x="8072" y="61171"/>
                </a:lnTo>
                <a:lnTo>
                  <a:pt x="0" y="100157"/>
                </a:lnTo>
                <a:lnTo>
                  <a:pt x="8072" y="139142"/>
                </a:lnTo>
                <a:lnTo>
                  <a:pt x="30086" y="170978"/>
                </a:lnTo>
                <a:lnTo>
                  <a:pt x="62738" y="192443"/>
                </a:lnTo>
                <a:lnTo>
                  <a:pt x="102725" y="200314"/>
                </a:lnTo>
                <a:lnTo>
                  <a:pt x="142710" y="192443"/>
                </a:lnTo>
                <a:lnTo>
                  <a:pt x="175363" y="170978"/>
                </a:lnTo>
                <a:lnTo>
                  <a:pt x="197377" y="139142"/>
                </a:lnTo>
                <a:lnTo>
                  <a:pt x="205450" y="100157"/>
                </a:lnTo>
                <a:lnTo>
                  <a:pt x="197377" y="61171"/>
                </a:lnTo>
                <a:lnTo>
                  <a:pt x="175363" y="29335"/>
                </a:lnTo>
                <a:lnTo>
                  <a:pt x="142710" y="7870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309391" y="3815139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066415" y="3512099"/>
            <a:ext cx="200660" cy="205740"/>
          </a:xfrm>
          <a:custGeom>
            <a:avLst/>
            <a:gdLst/>
            <a:ahLst/>
            <a:cxnLst/>
            <a:rect l="l" t="t" r="r" b="b"/>
            <a:pathLst>
              <a:path w="200660" h="205739">
                <a:moveTo>
                  <a:pt x="0" y="102725"/>
                </a:moveTo>
                <a:lnTo>
                  <a:pt x="7870" y="62739"/>
                </a:lnTo>
                <a:lnTo>
                  <a:pt x="29335" y="30087"/>
                </a:lnTo>
                <a:lnTo>
                  <a:pt x="61171" y="8072"/>
                </a:lnTo>
                <a:lnTo>
                  <a:pt x="100157" y="0"/>
                </a:lnTo>
                <a:lnTo>
                  <a:pt x="139142" y="8072"/>
                </a:lnTo>
                <a:lnTo>
                  <a:pt x="170978" y="30087"/>
                </a:lnTo>
                <a:lnTo>
                  <a:pt x="192443" y="62739"/>
                </a:lnTo>
                <a:lnTo>
                  <a:pt x="200314" y="102725"/>
                </a:lnTo>
                <a:lnTo>
                  <a:pt x="192443" y="142710"/>
                </a:lnTo>
                <a:lnTo>
                  <a:pt x="170978" y="175362"/>
                </a:lnTo>
                <a:lnTo>
                  <a:pt x="139142" y="197377"/>
                </a:lnTo>
                <a:lnTo>
                  <a:pt x="100157" y="205450"/>
                </a:lnTo>
                <a:lnTo>
                  <a:pt x="61171" y="197377"/>
                </a:lnTo>
                <a:lnTo>
                  <a:pt x="29335" y="175362"/>
                </a:lnTo>
                <a:lnTo>
                  <a:pt x="7870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062850" y="351209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564633" y="32501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100157" y="0"/>
                </a:moveTo>
                <a:lnTo>
                  <a:pt x="61170" y="7870"/>
                </a:lnTo>
                <a:lnTo>
                  <a:pt x="29334" y="29335"/>
                </a:lnTo>
                <a:lnTo>
                  <a:pt x="7870" y="61171"/>
                </a:lnTo>
                <a:lnTo>
                  <a:pt x="0" y="100157"/>
                </a:lnTo>
                <a:lnTo>
                  <a:pt x="7870" y="139142"/>
                </a:lnTo>
                <a:lnTo>
                  <a:pt x="29334" y="170978"/>
                </a:lnTo>
                <a:lnTo>
                  <a:pt x="61170" y="192443"/>
                </a:lnTo>
                <a:lnTo>
                  <a:pt x="100157" y="200314"/>
                </a:lnTo>
                <a:lnTo>
                  <a:pt x="139143" y="192443"/>
                </a:lnTo>
                <a:lnTo>
                  <a:pt x="170979" y="170978"/>
                </a:lnTo>
                <a:lnTo>
                  <a:pt x="192443" y="139142"/>
                </a:lnTo>
                <a:lnTo>
                  <a:pt x="200314" y="100157"/>
                </a:lnTo>
                <a:lnTo>
                  <a:pt x="192443" y="61171"/>
                </a:lnTo>
                <a:lnTo>
                  <a:pt x="170979" y="29335"/>
                </a:lnTo>
                <a:lnTo>
                  <a:pt x="139143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5564633" y="32501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235912" y="3419647"/>
            <a:ext cx="355600" cy="123189"/>
          </a:xfrm>
          <a:custGeom>
            <a:avLst/>
            <a:gdLst/>
            <a:ahLst/>
            <a:cxnLst/>
            <a:rect l="l" t="t" r="r" b="b"/>
            <a:pathLst>
              <a:path w="355600" h="123189">
                <a:moveTo>
                  <a:pt x="0" y="123145"/>
                </a:moveTo>
                <a:lnTo>
                  <a:pt x="355043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5734129" y="3419647"/>
            <a:ext cx="356235" cy="121285"/>
          </a:xfrm>
          <a:custGeom>
            <a:avLst/>
            <a:gdLst/>
            <a:ahLst/>
            <a:cxnLst/>
            <a:rect l="l" t="t" r="r" b="b"/>
            <a:pathLst>
              <a:path w="356235" h="121285">
                <a:moveTo>
                  <a:pt x="0" y="0"/>
                </a:moveTo>
                <a:lnTo>
                  <a:pt x="355932" y="121217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912328" y="3686733"/>
            <a:ext cx="180340" cy="127000"/>
          </a:xfrm>
          <a:custGeom>
            <a:avLst/>
            <a:gdLst/>
            <a:ahLst/>
            <a:cxnLst/>
            <a:rect l="l" t="t" r="r" b="b"/>
            <a:pathLst>
              <a:path w="180339" h="127000">
                <a:moveTo>
                  <a:pt x="180234" y="0"/>
                </a:moveTo>
                <a:lnTo>
                  <a:pt x="0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5235912" y="3686733"/>
            <a:ext cx="176530" cy="127000"/>
          </a:xfrm>
          <a:custGeom>
            <a:avLst/>
            <a:gdLst/>
            <a:ahLst/>
            <a:cxnLst/>
            <a:rect l="l" t="t" r="r" b="b"/>
            <a:pathLst>
              <a:path w="176529" h="127000">
                <a:moveTo>
                  <a:pt x="0" y="0"/>
                </a:moveTo>
                <a:lnTo>
                  <a:pt x="176139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5913896" y="3686733"/>
            <a:ext cx="179070" cy="128905"/>
          </a:xfrm>
          <a:custGeom>
            <a:avLst/>
            <a:gdLst/>
            <a:ahLst/>
            <a:cxnLst/>
            <a:rect l="l" t="t" r="r" b="b"/>
            <a:pathLst>
              <a:path w="179070" h="128904">
                <a:moveTo>
                  <a:pt x="178462" y="0"/>
                </a:moveTo>
                <a:lnTo>
                  <a:pt x="0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6232347" y="3686733"/>
            <a:ext cx="178435" cy="128905"/>
          </a:xfrm>
          <a:custGeom>
            <a:avLst/>
            <a:gdLst/>
            <a:ahLst/>
            <a:cxnLst/>
            <a:rect l="l" t="t" r="r" b="b"/>
            <a:pathLst>
              <a:path w="178435" h="128904">
                <a:moveTo>
                  <a:pt x="0" y="0"/>
                </a:moveTo>
                <a:lnTo>
                  <a:pt x="177912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789057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984235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5287274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5482452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785494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5985807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6283711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6484024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40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 txBox="1"/>
          <p:nvPr/>
        </p:nvSpPr>
        <p:spPr>
          <a:xfrm>
            <a:off x="5552580" y="4203067"/>
            <a:ext cx="234442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161540" algn="l"/>
              </a:tabLst>
            </a:pPr>
            <a:r>
              <a:rPr dirty="0" sz="1750" spc="15">
                <a:latin typeface="Cambria Math"/>
                <a:cs typeface="Cambria Math"/>
              </a:rPr>
              <a:t>…</a:t>
            </a:r>
            <a:r>
              <a:rPr dirty="0" sz="1750" spc="15">
                <a:latin typeface="Cambria Math"/>
                <a:cs typeface="Cambria Math"/>
              </a:rPr>
              <a:t>	</a:t>
            </a:r>
            <a:r>
              <a:rPr dirty="0" sz="1750" spc="15">
                <a:latin typeface="Cambria Math"/>
                <a:cs typeface="Cambria Math"/>
              </a:rPr>
              <a:t>…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6838426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084966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6961696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100157" y="0"/>
                </a:moveTo>
                <a:lnTo>
                  <a:pt x="61170" y="7870"/>
                </a:lnTo>
                <a:lnTo>
                  <a:pt x="29334" y="29335"/>
                </a:lnTo>
                <a:lnTo>
                  <a:pt x="7870" y="61171"/>
                </a:lnTo>
                <a:lnTo>
                  <a:pt x="0" y="100157"/>
                </a:lnTo>
                <a:lnTo>
                  <a:pt x="7870" y="139142"/>
                </a:lnTo>
                <a:lnTo>
                  <a:pt x="29334" y="170978"/>
                </a:lnTo>
                <a:lnTo>
                  <a:pt x="61170" y="192443"/>
                </a:lnTo>
                <a:lnTo>
                  <a:pt x="100157" y="200314"/>
                </a:lnTo>
                <a:lnTo>
                  <a:pt x="139143" y="192443"/>
                </a:lnTo>
                <a:lnTo>
                  <a:pt x="170979" y="170978"/>
                </a:lnTo>
                <a:lnTo>
                  <a:pt x="192443" y="139142"/>
                </a:lnTo>
                <a:lnTo>
                  <a:pt x="200314" y="100157"/>
                </a:lnTo>
                <a:lnTo>
                  <a:pt x="192443" y="61171"/>
                </a:lnTo>
                <a:lnTo>
                  <a:pt x="170979" y="29335"/>
                </a:lnTo>
                <a:lnTo>
                  <a:pt x="139143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6961696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7834861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8086538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958131" y="3815139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336643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583183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459913" y="3815139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8333078" y="412845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39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2" y="29335"/>
                </a:lnTo>
                <a:lnTo>
                  <a:pt x="197377" y="61171"/>
                </a:lnTo>
                <a:lnTo>
                  <a:pt x="205450" y="100157"/>
                </a:lnTo>
                <a:lnTo>
                  <a:pt x="197377" y="139142"/>
                </a:lnTo>
                <a:lnTo>
                  <a:pt x="175362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39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8584755" y="41284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8461485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100157" y="0"/>
                </a:moveTo>
                <a:lnTo>
                  <a:pt x="61170" y="7870"/>
                </a:lnTo>
                <a:lnTo>
                  <a:pt x="29334" y="29335"/>
                </a:lnTo>
                <a:lnTo>
                  <a:pt x="7870" y="61171"/>
                </a:lnTo>
                <a:lnTo>
                  <a:pt x="0" y="100157"/>
                </a:lnTo>
                <a:lnTo>
                  <a:pt x="7870" y="139142"/>
                </a:lnTo>
                <a:lnTo>
                  <a:pt x="29334" y="170978"/>
                </a:lnTo>
                <a:lnTo>
                  <a:pt x="61170" y="192443"/>
                </a:lnTo>
                <a:lnTo>
                  <a:pt x="100157" y="200314"/>
                </a:lnTo>
                <a:lnTo>
                  <a:pt x="139143" y="192443"/>
                </a:lnTo>
                <a:lnTo>
                  <a:pt x="170979" y="170978"/>
                </a:lnTo>
                <a:lnTo>
                  <a:pt x="192442" y="139142"/>
                </a:lnTo>
                <a:lnTo>
                  <a:pt x="200313" y="100157"/>
                </a:lnTo>
                <a:lnTo>
                  <a:pt x="192442" y="61171"/>
                </a:lnTo>
                <a:lnTo>
                  <a:pt x="170979" y="29335"/>
                </a:lnTo>
                <a:lnTo>
                  <a:pt x="139143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8461485" y="381513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7213373" y="3512099"/>
            <a:ext cx="200660" cy="205740"/>
          </a:xfrm>
          <a:custGeom>
            <a:avLst/>
            <a:gdLst/>
            <a:ahLst/>
            <a:cxnLst/>
            <a:rect l="l" t="t" r="r" b="b"/>
            <a:pathLst>
              <a:path w="200659" h="205739">
                <a:moveTo>
                  <a:pt x="0" y="102725"/>
                </a:moveTo>
                <a:lnTo>
                  <a:pt x="7870" y="62739"/>
                </a:lnTo>
                <a:lnTo>
                  <a:pt x="29335" y="30087"/>
                </a:lnTo>
                <a:lnTo>
                  <a:pt x="61171" y="8072"/>
                </a:lnTo>
                <a:lnTo>
                  <a:pt x="100157" y="0"/>
                </a:lnTo>
                <a:lnTo>
                  <a:pt x="139142" y="8072"/>
                </a:lnTo>
                <a:lnTo>
                  <a:pt x="170978" y="30087"/>
                </a:lnTo>
                <a:lnTo>
                  <a:pt x="192443" y="62739"/>
                </a:lnTo>
                <a:lnTo>
                  <a:pt x="200314" y="102725"/>
                </a:lnTo>
                <a:lnTo>
                  <a:pt x="192443" y="142710"/>
                </a:lnTo>
                <a:lnTo>
                  <a:pt x="170978" y="175362"/>
                </a:lnTo>
                <a:lnTo>
                  <a:pt x="139142" y="197377"/>
                </a:lnTo>
                <a:lnTo>
                  <a:pt x="100157" y="205450"/>
                </a:lnTo>
                <a:lnTo>
                  <a:pt x="61171" y="197377"/>
                </a:lnTo>
                <a:lnTo>
                  <a:pt x="29335" y="175362"/>
                </a:lnTo>
                <a:lnTo>
                  <a:pt x="7870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8209808" y="3512099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7711591" y="32501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100157" y="0"/>
                </a:moveTo>
                <a:lnTo>
                  <a:pt x="61170" y="7870"/>
                </a:lnTo>
                <a:lnTo>
                  <a:pt x="29334" y="29335"/>
                </a:lnTo>
                <a:lnTo>
                  <a:pt x="7870" y="61171"/>
                </a:lnTo>
                <a:lnTo>
                  <a:pt x="0" y="100157"/>
                </a:lnTo>
                <a:lnTo>
                  <a:pt x="7870" y="139142"/>
                </a:lnTo>
                <a:lnTo>
                  <a:pt x="29334" y="170978"/>
                </a:lnTo>
                <a:lnTo>
                  <a:pt x="61170" y="192443"/>
                </a:lnTo>
                <a:lnTo>
                  <a:pt x="100157" y="200314"/>
                </a:lnTo>
                <a:lnTo>
                  <a:pt x="139143" y="192443"/>
                </a:lnTo>
                <a:lnTo>
                  <a:pt x="170979" y="170978"/>
                </a:lnTo>
                <a:lnTo>
                  <a:pt x="192443" y="139142"/>
                </a:lnTo>
                <a:lnTo>
                  <a:pt x="200314" y="100157"/>
                </a:lnTo>
                <a:lnTo>
                  <a:pt x="192443" y="61171"/>
                </a:lnTo>
                <a:lnTo>
                  <a:pt x="170979" y="29335"/>
                </a:lnTo>
                <a:lnTo>
                  <a:pt x="139143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7711591" y="325015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8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8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7388006" y="3419647"/>
            <a:ext cx="355600" cy="123189"/>
          </a:xfrm>
          <a:custGeom>
            <a:avLst/>
            <a:gdLst/>
            <a:ahLst/>
            <a:cxnLst/>
            <a:rect l="l" t="t" r="r" b="b"/>
            <a:pathLst>
              <a:path w="355600" h="123189">
                <a:moveTo>
                  <a:pt x="0" y="123145"/>
                </a:moveTo>
                <a:lnTo>
                  <a:pt x="355043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7886224" y="3419647"/>
            <a:ext cx="356235" cy="121285"/>
          </a:xfrm>
          <a:custGeom>
            <a:avLst/>
            <a:gdLst/>
            <a:ahLst/>
            <a:cxnLst/>
            <a:rect l="l" t="t" r="r" b="b"/>
            <a:pathLst>
              <a:path w="356234" h="121285">
                <a:moveTo>
                  <a:pt x="0" y="0"/>
                </a:moveTo>
                <a:lnTo>
                  <a:pt x="355932" y="121217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7064423" y="3686733"/>
            <a:ext cx="180340" cy="127000"/>
          </a:xfrm>
          <a:custGeom>
            <a:avLst/>
            <a:gdLst/>
            <a:ahLst/>
            <a:cxnLst/>
            <a:rect l="l" t="t" r="r" b="b"/>
            <a:pathLst>
              <a:path w="180340" h="127000">
                <a:moveTo>
                  <a:pt x="180234" y="0"/>
                </a:moveTo>
                <a:lnTo>
                  <a:pt x="0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7388006" y="3686733"/>
            <a:ext cx="176530" cy="127000"/>
          </a:xfrm>
          <a:custGeom>
            <a:avLst/>
            <a:gdLst/>
            <a:ahLst/>
            <a:cxnLst/>
            <a:rect l="l" t="t" r="r" b="b"/>
            <a:pathLst>
              <a:path w="176529" h="127000">
                <a:moveTo>
                  <a:pt x="0" y="0"/>
                </a:moveTo>
                <a:lnTo>
                  <a:pt x="176139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8060853" y="3686733"/>
            <a:ext cx="179070" cy="128905"/>
          </a:xfrm>
          <a:custGeom>
            <a:avLst/>
            <a:gdLst/>
            <a:ahLst/>
            <a:cxnLst/>
            <a:rect l="l" t="t" r="r" b="b"/>
            <a:pathLst>
              <a:path w="179070" h="128904">
                <a:moveTo>
                  <a:pt x="178462" y="0"/>
                </a:moveTo>
                <a:lnTo>
                  <a:pt x="0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8384440" y="3686733"/>
            <a:ext cx="178435" cy="128905"/>
          </a:xfrm>
          <a:custGeom>
            <a:avLst/>
            <a:gdLst/>
            <a:ahLst/>
            <a:cxnLst/>
            <a:rect l="l" t="t" r="r" b="b"/>
            <a:pathLst>
              <a:path w="178434" h="128904">
                <a:moveTo>
                  <a:pt x="0" y="0"/>
                </a:moveTo>
                <a:lnTo>
                  <a:pt x="177912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6936018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7136329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40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7439371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7634546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40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7937588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8132764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40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8435806" y="3984636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8630982" y="3984636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40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 txBox="1"/>
          <p:nvPr/>
        </p:nvSpPr>
        <p:spPr>
          <a:xfrm>
            <a:off x="1176473" y="3232314"/>
            <a:ext cx="35242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250">
                <a:latin typeface="Cambria Math"/>
                <a:cs typeface="Cambria Math"/>
              </a:rPr>
              <a:t>!</a:t>
            </a:r>
            <a:r>
              <a:rPr dirty="0" baseline="-13888" sz="1200" spc="375">
                <a:latin typeface="Cambria Math"/>
                <a:cs typeface="Cambria Math"/>
              </a:rPr>
              <a:t>!</a:t>
            </a:r>
            <a:r>
              <a:rPr dirty="0" baseline="-13888" sz="1200" spc="509">
                <a:latin typeface="Cambria Math"/>
                <a:cs typeface="Cambria Math"/>
              </a:rPr>
              <a:t> </a:t>
            </a:r>
            <a:r>
              <a:rPr dirty="0" baseline="5050" sz="1650" spc="15">
                <a:solidFill>
                  <a:srgbClr val="ED7D31"/>
                </a:solidFill>
                <a:latin typeface="Calibri"/>
                <a:cs typeface="Calibri"/>
              </a:rPr>
              <a:t>A</a:t>
            </a:r>
            <a:endParaRPr baseline="5050" sz="1650">
              <a:latin typeface="Calibri"/>
              <a:cs typeface="Calibri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3084111" y="3232314"/>
            <a:ext cx="40195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52095" algn="l"/>
              </a:tabLst>
            </a:pPr>
            <a:r>
              <a:rPr dirty="0" baseline="2525" sz="1650" spc="15">
                <a:solidFill>
                  <a:srgbClr val="5B9BD5"/>
                </a:solidFill>
                <a:latin typeface="Calibri"/>
                <a:cs typeface="Calibri"/>
              </a:rPr>
              <a:t>B</a:t>
            </a:r>
            <a:r>
              <a:rPr dirty="0" baseline="2525" sz="1650" spc="15">
                <a:solidFill>
                  <a:srgbClr val="5B9BD5"/>
                </a:solidFill>
                <a:latin typeface="Calibri"/>
                <a:cs typeface="Calibri"/>
              </a:rPr>
              <a:t>	</a:t>
            </a:r>
            <a:r>
              <a:rPr dirty="0" sz="1100" spc="285">
                <a:latin typeface="Cambria Math"/>
                <a:cs typeface="Cambria Math"/>
              </a:rPr>
              <a:t>!</a:t>
            </a:r>
            <a:r>
              <a:rPr dirty="0" baseline="-13888" sz="1200" spc="225">
                <a:latin typeface="Cambria Math"/>
                <a:cs typeface="Cambria Math"/>
              </a:rPr>
              <a:t>"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5582555" y="3232314"/>
            <a:ext cx="38735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250">
                <a:latin typeface="Cambria Math"/>
                <a:cs typeface="Cambria Math"/>
              </a:rPr>
              <a:t>!</a:t>
            </a:r>
            <a:r>
              <a:rPr dirty="0" baseline="-13888" sz="1200" spc="375">
                <a:latin typeface="Cambria Math"/>
                <a:cs typeface="Cambria Math"/>
              </a:rPr>
              <a:t>!</a:t>
            </a:r>
            <a:r>
              <a:rPr dirty="0" baseline="-13888" sz="1200" spc="802">
                <a:latin typeface="Cambria Math"/>
                <a:cs typeface="Cambria Math"/>
              </a:rPr>
              <a:t> </a:t>
            </a:r>
            <a:r>
              <a:rPr dirty="0" baseline="2525" sz="1650" spc="15">
                <a:solidFill>
                  <a:srgbClr val="ED7D31"/>
                </a:solidFill>
                <a:latin typeface="Calibri"/>
                <a:cs typeface="Calibri"/>
              </a:rPr>
              <a:t>A</a:t>
            </a:r>
            <a:endParaRPr baseline="2525" sz="1650">
              <a:latin typeface="Calibri"/>
              <a:cs typeface="Calibr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525203" y="3232314"/>
            <a:ext cx="36703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0">
                <a:solidFill>
                  <a:srgbClr val="5B9BD5"/>
                </a:solidFill>
                <a:latin typeface="Calibri"/>
                <a:cs typeface="Calibri"/>
              </a:rPr>
              <a:t>B  </a:t>
            </a:r>
            <a:r>
              <a:rPr dirty="0" sz="1100" spc="114">
                <a:solidFill>
                  <a:srgbClr val="5B9BD5"/>
                </a:solidFill>
                <a:latin typeface="Calibri"/>
                <a:cs typeface="Calibri"/>
              </a:rPr>
              <a:t> </a:t>
            </a:r>
            <a:r>
              <a:rPr dirty="0" sz="1100" spc="215">
                <a:latin typeface="Cambria Math"/>
                <a:cs typeface="Cambria Math"/>
              </a:rPr>
              <a:t>!</a:t>
            </a:r>
            <a:r>
              <a:rPr dirty="0" baseline="-13888" sz="1200" spc="322">
                <a:latin typeface="Cambria Math"/>
                <a:cs typeface="Cambria Math"/>
              </a:rPr>
              <a:t>"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3804309" y="2713552"/>
            <a:ext cx="163068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 b="1">
                <a:latin typeface="Calibri"/>
                <a:cs typeface="Calibri"/>
              </a:rPr>
              <a:t>Goal: </a:t>
            </a:r>
            <a:r>
              <a:rPr dirty="0" sz="1300" spc="-10" b="1">
                <a:latin typeface="Calibri"/>
                <a:cs typeface="Calibri"/>
              </a:rPr>
              <a:t>classify </a:t>
            </a:r>
            <a:r>
              <a:rPr dirty="0" sz="1300" spc="350">
                <a:latin typeface="Cambria Math"/>
                <a:cs typeface="Cambria Math"/>
              </a:rPr>
              <a:t>!</a:t>
            </a:r>
            <a:r>
              <a:rPr dirty="0" baseline="-15432" sz="1350" spc="525">
                <a:latin typeface="Cambria Math"/>
                <a:cs typeface="Cambria Math"/>
              </a:rPr>
              <a:t>!</a:t>
            </a:r>
            <a:r>
              <a:rPr dirty="0" baseline="-15432" sz="1350" spc="44">
                <a:latin typeface="Cambria Math"/>
                <a:cs typeface="Cambria Math"/>
              </a:rPr>
              <a:t> </a:t>
            </a:r>
            <a:r>
              <a:rPr dirty="0" sz="1300" spc="-10" b="1">
                <a:latin typeface="Calibri"/>
                <a:cs typeface="Calibri"/>
              </a:rPr>
              <a:t>and </a:t>
            </a:r>
            <a:r>
              <a:rPr dirty="0" sz="1300" spc="300">
                <a:latin typeface="Cambria Math"/>
                <a:cs typeface="Cambria Math"/>
              </a:rPr>
              <a:t>!</a:t>
            </a:r>
            <a:r>
              <a:rPr dirty="0" baseline="-15432" sz="1350" spc="450">
                <a:latin typeface="Cambria Math"/>
                <a:cs typeface="Cambria Math"/>
              </a:rPr>
              <a:t>"</a:t>
            </a:r>
            <a:endParaRPr baseline="-15432" sz="1350">
              <a:latin typeface="Cambria Math"/>
              <a:cs typeface="Cambria Math"/>
            </a:endParaRPr>
          </a:p>
        </p:txBody>
      </p:sp>
      <p:sp>
        <p:nvSpPr>
          <p:cNvPr id="174" name="object 174"/>
          <p:cNvSpPr/>
          <p:nvPr/>
        </p:nvSpPr>
        <p:spPr>
          <a:xfrm>
            <a:off x="149871" y="4086198"/>
            <a:ext cx="8844280" cy="290830"/>
          </a:xfrm>
          <a:custGeom>
            <a:avLst/>
            <a:gdLst/>
            <a:ahLst/>
            <a:cxnLst/>
            <a:rect l="l" t="t" r="r" b="b"/>
            <a:pathLst>
              <a:path w="8844280" h="290829">
                <a:moveTo>
                  <a:pt x="0" y="0"/>
                </a:moveTo>
                <a:lnTo>
                  <a:pt x="8844258" y="0"/>
                </a:lnTo>
                <a:lnTo>
                  <a:pt x="8844258" y="290416"/>
                </a:lnTo>
                <a:lnTo>
                  <a:pt x="0" y="29041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 txBox="1"/>
          <p:nvPr/>
        </p:nvSpPr>
        <p:spPr>
          <a:xfrm>
            <a:off x="4579988" y="4653788"/>
            <a:ext cx="4494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30780" algn="l"/>
              </a:tabLst>
            </a:pPr>
            <a:r>
              <a:rPr dirty="0" sz="1800" spc="114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172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sz="1800" spc="114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length-3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cycles</a:t>
            </a:r>
            <a:r>
              <a:rPr dirty="0" sz="1800" spc="-7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z="1800" spc="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2	</a:t>
            </a:r>
            <a:r>
              <a:rPr dirty="0" sz="1800" spc="85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127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r>
              <a:rPr dirty="0" sz="1800" spc="85">
                <a:solidFill>
                  <a:srgbClr val="C00000"/>
                </a:solidFill>
                <a:latin typeface="Cambria Math"/>
                <a:cs typeface="Cambria Math"/>
              </a:rPr>
              <a:t>: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length-3 cycles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z="1800" spc="-1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7" name="object 17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78" name="object 17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79" name="object 179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39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4822356" y="4391659"/>
            <a:ext cx="4090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From the node coloring, </a:t>
            </a:r>
            <a:r>
              <a:rPr dirty="0" sz="1800">
                <a:latin typeface="Arial"/>
                <a:cs typeface="Arial"/>
              </a:rPr>
              <a:t>we </a:t>
            </a:r>
            <a:r>
              <a:rPr dirty="0" sz="1800" spc="-5">
                <a:latin typeface="Arial"/>
                <a:cs typeface="Arial"/>
              </a:rPr>
              <a:t>can tell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that: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7872983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8029" y="4439411"/>
            <a:ext cx="8014970" cy="224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965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>
                <a:latin typeface="Calibri"/>
                <a:cs typeface="Calibri"/>
              </a:rPr>
              <a:t>Based </a:t>
            </a:r>
            <a:r>
              <a:rPr dirty="0" sz="2600">
                <a:latin typeface="Calibri"/>
                <a:cs typeface="Calibri"/>
              </a:rPr>
              <a:t>on </a:t>
            </a:r>
            <a:r>
              <a:rPr dirty="0" sz="2600" spc="-5">
                <a:latin typeface="Calibri"/>
                <a:cs typeface="Calibri"/>
              </a:rPr>
              <a:t>the intuition, </a:t>
            </a:r>
            <a:r>
              <a:rPr dirty="0" sz="2600" spc="-10">
                <a:latin typeface="Calibri"/>
                <a:cs typeface="Calibri"/>
              </a:rPr>
              <a:t>we propose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simplified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version</a:t>
            </a:r>
            <a:endParaRPr sz="2600">
              <a:latin typeface="Calibri"/>
              <a:cs typeface="Calibri"/>
            </a:endParaRPr>
          </a:p>
          <a:p>
            <a:pPr marL="332740">
              <a:lnSpc>
                <a:spcPts val="2965"/>
              </a:lnSpc>
            </a:pPr>
            <a:r>
              <a:rPr dirty="0" sz="2600" spc="-15" b="1">
                <a:latin typeface="Calibri"/>
                <a:cs typeface="Calibri"/>
              </a:rPr>
              <a:t>ID-GNN-Fast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2700"/>
              </a:lnSpc>
              <a:spcBef>
                <a:spcPts val="3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Include </a:t>
            </a:r>
            <a:r>
              <a:rPr dirty="0" sz="2400" spc="-10">
                <a:latin typeface="Calibri"/>
                <a:cs typeface="Calibri"/>
              </a:rPr>
              <a:t>identity </a:t>
            </a:r>
            <a:r>
              <a:rPr dirty="0" sz="2400" spc="-15">
                <a:latin typeface="Calibri"/>
                <a:cs typeface="Calibri"/>
              </a:rPr>
              <a:t>information </a:t>
            </a:r>
            <a:r>
              <a:rPr dirty="0" sz="2400">
                <a:latin typeface="Calibri"/>
                <a:cs typeface="Calibri"/>
              </a:rPr>
              <a:t>as an </a:t>
            </a:r>
            <a:r>
              <a:rPr dirty="0" sz="2400" spc="-10" b="1">
                <a:latin typeface="Calibri"/>
                <a:cs typeface="Calibri"/>
              </a:rPr>
              <a:t>augmented </a:t>
            </a:r>
            <a:r>
              <a:rPr dirty="0" sz="2400" spc="-5" b="1">
                <a:latin typeface="Calibri"/>
                <a:cs typeface="Calibri"/>
              </a:rPr>
              <a:t>node</a:t>
            </a:r>
            <a:r>
              <a:rPr dirty="0" sz="2400" spc="50" b="1">
                <a:latin typeface="Calibri"/>
                <a:cs typeface="Calibri"/>
              </a:rPr>
              <a:t> </a:t>
            </a:r>
            <a:r>
              <a:rPr dirty="0" sz="2400" spc="-70" b="1">
                <a:latin typeface="Calibri"/>
                <a:cs typeface="Calibri"/>
              </a:rPr>
              <a:t>feature</a:t>
            </a:r>
            <a:endParaRPr sz="2400">
              <a:latin typeface="Calibri"/>
              <a:cs typeface="Calibri"/>
            </a:endParaRPr>
          </a:p>
          <a:p>
            <a:pPr marL="625475">
              <a:lnSpc>
                <a:spcPts val="2700"/>
              </a:lnSpc>
            </a:pPr>
            <a:r>
              <a:rPr dirty="0" sz="2400" spc="-5">
                <a:latin typeface="Calibri"/>
                <a:cs typeface="Calibri"/>
              </a:rPr>
              <a:t>(no </a:t>
            </a:r>
            <a:r>
              <a:rPr dirty="0" sz="2400">
                <a:latin typeface="Calibri"/>
                <a:cs typeface="Calibri"/>
              </a:rPr>
              <a:t>need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do </a:t>
            </a:r>
            <a:r>
              <a:rPr dirty="0" sz="2400" spc="-15">
                <a:latin typeface="Calibri"/>
                <a:cs typeface="Calibri"/>
              </a:rPr>
              <a:t>heterogenous </a:t>
            </a:r>
            <a:r>
              <a:rPr dirty="0" sz="2400" spc="-10">
                <a:latin typeface="Calibri"/>
                <a:cs typeface="Calibri"/>
              </a:rPr>
              <a:t>message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passing)</a:t>
            </a:r>
            <a:endParaRPr sz="2400">
              <a:latin typeface="Calibri"/>
              <a:cs typeface="Calibri"/>
            </a:endParaRPr>
          </a:p>
          <a:p>
            <a:pPr lvl="1" marL="625475" marR="697865" indent="-274320">
              <a:lnSpc>
                <a:spcPts val="259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Use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cycle counts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in each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layer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as an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augmented </a:t>
            </a:r>
            <a:r>
              <a:rPr dirty="0" sz="2400" spc="-125" b="1">
                <a:solidFill>
                  <a:srgbClr val="C00000"/>
                </a:solidFill>
                <a:latin typeface="Calibri"/>
                <a:cs typeface="Calibri"/>
              </a:rPr>
              <a:t>node 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feature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. </a:t>
            </a:r>
            <a:r>
              <a:rPr dirty="0" sz="2400" spc="-5">
                <a:latin typeface="Calibri"/>
                <a:cs typeface="Calibri"/>
              </a:rPr>
              <a:t>Also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used </a:t>
            </a:r>
            <a:r>
              <a:rPr dirty="0" sz="2400" spc="-10">
                <a:latin typeface="Calibri"/>
                <a:cs typeface="Calibri"/>
              </a:rPr>
              <a:t>together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15" b="1">
                <a:latin typeface="Calibri"/>
                <a:cs typeface="Calibri"/>
              </a:rPr>
              <a:t>any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GNN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09954" y="121502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102725" y="0"/>
                </a:moveTo>
                <a:lnTo>
                  <a:pt x="62739" y="8072"/>
                </a:lnTo>
                <a:lnTo>
                  <a:pt x="30087" y="30087"/>
                </a:lnTo>
                <a:lnTo>
                  <a:pt x="8072" y="62739"/>
                </a:lnTo>
                <a:lnTo>
                  <a:pt x="0" y="102725"/>
                </a:lnTo>
                <a:lnTo>
                  <a:pt x="8072" y="142710"/>
                </a:lnTo>
                <a:lnTo>
                  <a:pt x="30087" y="175362"/>
                </a:lnTo>
                <a:lnTo>
                  <a:pt x="62739" y="197377"/>
                </a:lnTo>
                <a:lnTo>
                  <a:pt x="102725" y="205450"/>
                </a:lnTo>
                <a:lnTo>
                  <a:pt x="142710" y="197377"/>
                </a:lnTo>
                <a:lnTo>
                  <a:pt x="175363" y="175362"/>
                </a:lnTo>
                <a:lnTo>
                  <a:pt x="197377" y="142710"/>
                </a:lnTo>
                <a:lnTo>
                  <a:pt x="205450" y="102725"/>
                </a:lnTo>
                <a:lnTo>
                  <a:pt x="197377" y="62739"/>
                </a:lnTo>
                <a:lnTo>
                  <a:pt x="175363" y="30087"/>
                </a:lnTo>
                <a:lnTo>
                  <a:pt x="142710" y="8072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09954" y="121502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102725"/>
                </a:moveTo>
                <a:lnTo>
                  <a:pt x="8072" y="62739"/>
                </a:lnTo>
                <a:lnTo>
                  <a:pt x="30087" y="30087"/>
                </a:lnTo>
                <a:lnTo>
                  <a:pt x="62740" y="8072"/>
                </a:lnTo>
                <a:lnTo>
                  <a:pt x="102725" y="0"/>
                </a:lnTo>
                <a:lnTo>
                  <a:pt x="142710" y="8072"/>
                </a:lnTo>
                <a:lnTo>
                  <a:pt x="175363" y="30087"/>
                </a:lnTo>
                <a:lnTo>
                  <a:pt x="197378" y="62739"/>
                </a:lnTo>
                <a:lnTo>
                  <a:pt x="205450" y="102725"/>
                </a:lnTo>
                <a:lnTo>
                  <a:pt x="197378" y="142710"/>
                </a:lnTo>
                <a:lnTo>
                  <a:pt x="175363" y="175362"/>
                </a:lnTo>
                <a:lnTo>
                  <a:pt x="142710" y="197377"/>
                </a:lnTo>
                <a:lnTo>
                  <a:pt x="102725" y="205450"/>
                </a:lnTo>
                <a:lnTo>
                  <a:pt x="62740" y="197377"/>
                </a:lnTo>
                <a:lnTo>
                  <a:pt x="30087" y="175362"/>
                </a:lnTo>
                <a:lnTo>
                  <a:pt x="8072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09954" y="203683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21485" y="1620794"/>
            <a:ext cx="200660" cy="205740"/>
          </a:xfrm>
          <a:custGeom>
            <a:avLst/>
            <a:gdLst/>
            <a:ahLst/>
            <a:cxnLst/>
            <a:rect l="l" t="t" r="r" b="b"/>
            <a:pathLst>
              <a:path w="200660" h="205739">
                <a:moveTo>
                  <a:pt x="0" y="102725"/>
                </a:moveTo>
                <a:lnTo>
                  <a:pt x="7870" y="62739"/>
                </a:lnTo>
                <a:lnTo>
                  <a:pt x="29335" y="30087"/>
                </a:lnTo>
                <a:lnTo>
                  <a:pt x="61171" y="8072"/>
                </a:lnTo>
                <a:lnTo>
                  <a:pt x="100157" y="0"/>
                </a:lnTo>
                <a:lnTo>
                  <a:pt x="139142" y="8072"/>
                </a:lnTo>
                <a:lnTo>
                  <a:pt x="170979" y="30087"/>
                </a:lnTo>
                <a:lnTo>
                  <a:pt x="192443" y="62739"/>
                </a:lnTo>
                <a:lnTo>
                  <a:pt x="200314" y="102725"/>
                </a:lnTo>
                <a:lnTo>
                  <a:pt x="192443" y="142710"/>
                </a:lnTo>
                <a:lnTo>
                  <a:pt x="170979" y="175362"/>
                </a:lnTo>
                <a:lnTo>
                  <a:pt x="139142" y="197377"/>
                </a:lnTo>
                <a:lnTo>
                  <a:pt x="100157" y="205450"/>
                </a:lnTo>
                <a:lnTo>
                  <a:pt x="61171" y="197377"/>
                </a:lnTo>
                <a:lnTo>
                  <a:pt x="29335" y="175362"/>
                </a:lnTo>
                <a:lnTo>
                  <a:pt x="7870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12680" y="1420479"/>
            <a:ext cx="0" cy="618490"/>
          </a:xfrm>
          <a:custGeom>
            <a:avLst/>
            <a:gdLst/>
            <a:ahLst/>
            <a:cxnLst/>
            <a:rect l="l" t="t" r="r" b="b"/>
            <a:pathLst>
              <a:path w="0" h="618489">
                <a:moveTo>
                  <a:pt x="0" y="0"/>
                </a:moveTo>
                <a:lnTo>
                  <a:pt x="0" y="61816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15405" y="1317754"/>
            <a:ext cx="636270" cy="334010"/>
          </a:xfrm>
          <a:custGeom>
            <a:avLst/>
            <a:gdLst/>
            <a:ahLst/>
            <a:cxnLst/>
            <a:rect l="l" t="t" r="r" b="b"/>
            <a:pathLst>
              <a:path w="636270" h="334010">
                <a:moveTo>
                  <a:pt x="0" y="0"/>
                </a:moveTo>
                <a:lnTo>
                  <a:pt x="636154" y="333914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15405" y="1795426"/>
            <a:ext cx="636270" cy="343535"/>
          </a:xfrm>
          <a:custGeom>
            <a:avLst/>
            <a:gdLst/>
            <a:ahLst/>
            <a:cxnLst/>
            <a:rect l="l" t="t" r="r" b="b"/>
            <a:pathLst>
              <a:path w="636270" h="343535">
                <a:moveTo>
                  <a:pt x="0" y="343383"/>
                </a:moveTo>
                <a:lnTo>
                  <a:pt x="636154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47271" y="122530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59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47271" y="2041967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63834" y="1230438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59">
                <a:moveTo>
                  <a:pt x="102725" y="0"/>
                </a:moveTo>
                <a:lnTo>
                  <a:pt x="62738" y="7870"/>
                </a:lnTo>
                <a:lnTo>
                  <a:pt x="30086" y="29335"/>
                </a:lnTo>
                <a:lnTo>
                  <a:pt x="8072" y="61171"/>
                </a:lnTo>
                <a:lnTo>
                  <a:pt x="0" y="100157"/>
                </a:lnTo>
                <a:lnTo>
                  <a:pt x="8072" y="139142"/>
                </a:lnTo>
                <a:lnTo>
                  <a:pt x="30086" y="170978"/>
                </a:lnTo>
                <a:lnTo>
                  <a:pt x="62738" y="192443"/>
                </a:lnTo>
                <a:lnTo>
                  <a:pt x="102725" y="200314"/>
                </a:lnTo>
                <a:lnTo>
                  <a:pt x="142710" y="192443"/>
                </a:lnTo>
                <a:lnTo>
                  <a:pt x="175363" y="170978"/>
                </a:lnTo>
                <a:lnTo>
                  <a:pt x="197377" y="139142"/>
                </a:lnTo>
                <a:lnTo>
                  <a:pt x="205450" y="100157"/>
                </a:lnTo>
                <a:lnTo>
                  <a:pt x="197377" y="61171"/>
                </a:lnTo>
                <a:lnTo>
                  <a:pt x="175363" y="29335"/>
                </a:lnTo>
                <a:lnTo>
                  <a:pt x="142710" y="7870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63834" y="1230438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59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49997" y="1425615"/>
            <a:ext cx="0" cy="614045"/>
          </a:xfrm>
          <a:custGeom>
            <a:avLst/>
            <a:gdLst/>
            <a:ahLst/>
            <a:cxnLst/>
            <a:rect l="l" t="t" r="r" b="b"/>
            <a:pathLst>
              <a:path w="0" h="614044">
                <a:moveTo>
                  <a:pt x="0" y="0"/>
                </a:moveTo>
                <a:lnTo>
                  <a:pt x="0" y="61375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66559" y="1430752"/>
            <a:ext cx="0" cy="612140"/>
          </a:xfrm>
          <a:custGeom>
            <a:avLst/>
            <a:gdLst/>
            <a:ahLst/>
            <a:cxnLst/>
            <a:rect l="l" t="t" r="r" b="b"/>
            <a:pathLst>
              <a:path w="0" h="612139">
                <a:moveTo>
                  <a:pt x="0" y="611513"/>
                </a:moveTo>
                <a:lnTo>
                  <a:pt x="0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361593" y="1197193"/>
            <a:ext cx="32829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2525" sz="1650" spc="15">
                <a:solidFill>
                  <a:srgbClr val="ED7D31"/>
                </a:solidFill>
                <a:latin typeface="Calibri"/>
                <a:cs typeface="Calibri"/>
              </a:rPr>
              <a:t>A </a:t>
            </a:r>
            <a:r>
              <a:rPr dirty="0" baseline="2525" sz="1650" spc="89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dirty="0" sz="1100" spc="250">
                <a:latin typeface="Cambria Math"/>
                <a:cs typeface="Cambria Math"/>
              </a:rPr>
              <a:t>!</a:t>
            </a:r>
            <a:r>
              <a:rPr dirty="0" baseline="-17361" sz="1200" spc="375">
                <a:latin typeface="Cambria Math"/>
                <a:cs typeface="Cambria Math"/>
              </a:rPr>
              <a:t>!</a:t>
            </a:r>
            <a:endParaRPr baseline="-17361"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27415" y="1192055"/>
            <a:ext cx="32004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0">
                <a:solidFill>
                  <a:srgbClr val="5B9BD5"/>
                </a:solidFill>
                <a:latin typeface="Calibri"/>
                <a:cs typeface="Calibri"/>
              </a:rPr>
              <a:t>B  </a:t>
            </a:r>
            <a:r>
              <a:rPr dirty="0" baseline="-7575" sz="1650" spc="322">
                <a:latin typeface="Cambria Math"/>
                <a:cs typeface="Cambria Math"/>
              </a:rPr>
              <a:t>!</a:t>
            </a:r>
            <a:r>
              <a:rPr dirty="0" baseline="-24305" sz="1200" spc="322">
                <a:latin typeface="Cambria Math"/>
                <a:cs typeface="Cambria Math"/>
              </a:rPr>
              <a:t>"</a:t>
            </a:r>
            <a:endParaRPr baseline="-24305" sz="12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05139" y="2635346"/>
            <a:ext cx="163258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C00000"/>
                </a:solidFill>
                <a:latin typeface="Calibri"/>
                <a:cs typeface="Calibri"/>
              </a:rPr>
              <a:t>ID-GNN </a:t>
            </a:r>
            <a:r>
              <a:rPr dirty="0" sz="1300" spc="-15">
                <a:solidFill>
                  <a:srgbClr val="C00000"/>
                </a:solidFill>
                <a:latin typeface="Calibri"/>
                <a:cs typeface="Calibri"/>
              </a:rPr>
              <a:t>rooted</a:t>
            </a:r>
            <a:r>
              <a:rPr dirty="0" sz="1300" spc="-6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00000"/>
                </a:solidFill>
                <a:latin typeface="Calibri"/>
                <a:cs typeface="Calibri"/>
              </a:rPr>
              <a:t>subtrees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19116" y="2933249"/>
            <a:ext cx="19431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15">
                <a:latin typeface="Cambria Math"/>
                <a:cs typeface="Cambria Math"/>
              </a:rPr>
              <a:t>≠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163834" y="2041967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69284" y="1328027"/>
            <a:ext cx="678815" cy="2540"/>
          </a:xfrm>
          <a:custGeom>
            <a:avLst/>
            <a:gdLst/>
            <a:ahLst/>
            <a:cxnLst/>
            <a:rect l="l" t="t" r="r" b="b"/>
            <a:pathLst>
              <a:path w="678814" h="2540">
                <a:moveTo>
                  <a:pt x="678752" y="0"/>
                </a:moveTo>
                <a:lnTo>
                  <a:pt x="0" y="2236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369284" y="2144692"/>
            <a:ext cx="678815" cy="0"/>
          </a:xfrm>
          <a:custGeom>
            <a:avLst/>
            <a:gdLst/>
            <a:ahLst/>
            <a:cxnLst/>
            <a:rect l="l" t="t" r="r" b="b"/>
            <a:pathLst>
              <a:path w="678814" h="0">
                <a:moveTo>
                  <a:pt x="678752" y="0"/>
                </a:moveTo>
                <a:lnTo>
                  <a:pt x="0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54923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06600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83329" y="348012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100157" y="0"/>
                </a:moveTo>
                <a:lnTo>
                  <a:pt x="61171" y="7870"/>
                </a:lnTo>
                <a:lnTo>
                  <a:pt x="29335" y="29334"/>
                </a:lnTo>
                <a:lnTo>
                  <a:pt x="7870" y="61170"/>
                </a:lnTo>
                <a:lnTo>
                  <a:pt x="0" y="100156"/>
                </a:lnTo>
                <a:lnTo>
                  <a:pt x="7870" y="139142"/>
                </a:lnTo>
                <a:lnTo>
                  <a:pt x="29335" y="170978"/>
                </a:lnTo>
                <a:lnTo>
                  <a:pt x="61171" y="192442"/>
                </a:lnTo>
                <a:lnTo>
                  <a:pt x="100157" y="200313"/>
                </a:lnTo>
                <a:lnTo>
                  <a:pt x="139143" y="192442"/>
                </a:lnTo>
                <a:lnTo>
                  <a:pt x="170979" y="170978"/>
                </a:lnTo>
                <a:lnTo>
                  <a:pt x="192443" y="139142"/>
                </a:lnTo>
                <a:lnTo>
                  <a:pt x="200314" y="100156"/>
                </a:lnTo>
                <a:lnTo>
                  <a:pt x="192443" y="61170"/>
                </a:lnTo>
                <a:lnTo>
                  <a:pt x="170979" y="29334"/>
                </a:lnTo>
                <a:lnTo>
                  <a:pt x="139143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83329" y="348012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56496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03036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102725" y="0"/>
                </a:moveTo>
                <a:lnTo>
                  <a:pt x="62739" y="7870"/>
                </a:lnTo>
                <a:lnTo>
                  <a:pt x="30087" y="29335"/>
                </a:lnTo>
                <a:lnTo>
                  <a:pt x="8072" y="61171"/>
                </a:lnTo>
                <a:lnTo>
                  <a:pt x="0" y="100157"/>
                </a:lnTo>
                <a:lnTo>
                  <a:pt x="8072" y="139142"/>
                </a:lnTo>
                <a:lnTo>
                  <a:pt x="30087" y="170978"/>
                </a:lnTo>
                <a:lnTo>
                  <a:pt x="62739" y="192443"/>
                </a:lnTo>
                <a:lnTo>
                  <a:pt x="102725" y="200314"/>
                </a:lnTo>
                <a:lnTo>
                  <a:pt x="142711" y="192443"/>
                </a:lnTo>
                <a:lnTo>
                  <a:pt x="175364" y="170978"/>
                </a:lnTo>
                <a:lnTo>
                  <a:pt x="197379" y="139142"/>
                </a:lnTo>
                <a:lnTo>
                  <a:pt x="205451" y="100157"/>
                </a:lnTo>
                <a:lnTo>
                  <a:pt x="197379" y="61171"/>
                </a:lnTo>
                <a:lnTo>
                  <a:pt x="175364" y="29335"/>
                </a:lnTo>
                <a:lnTo>
                  <a:pt x="142711" y="7870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03036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79766" y="348012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53141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102725" y="0"/>
                </a:moveTo>
                <a:lnTo>
                  <a:pt x="62739" y="7870"/>
                </a:lnTo>
                <a:lnTo>
                  <a:pt x="30087" y="29335"/>
                </a:lnTo>
                <a:lnTo>
                  <a:pt x="8072" y="61171"/>
                </a:lnTo>
                <a:lnTo>
                  <a:pt x="0" y="100157"/>
                </a:lnTo>
                <a:lnTo>
                  <a:pt x="8072" y="139142"/>
                </a:lnTo>
                <a:lnTo>
                  <a:pt x="30087" y="170978"/>
                </a:lnTo>
                <a:lnTo>
                  <a:pt x="62739" y="192443"/>
                </a:lnTo>
                <a:lnTo>
                  <a:pt x="102725" y="200314"/>
                </a:lnTo>
                <a:lnTo>
                  <a:pt x="142710" y="192443"/>
                </a:lnTo>
                <a:lnTo>
                  <a:pt x="175362" y="170978"/>
                </a:lnTo>
                <a:lnTo>
                  <a:pt x="197377" y="139142"/>
                </a:lnTo>
                <a:lnTo>
                  <a:pt x="205450" y="100157"/>
                </a:lnTo>
                <a:lnTo>
                  <a:pt x="197377" y="61171"/>
                </a:lnTo>
                <a:lnTo>
                  <a:pt x="175362" y="29335"/>
                </a:lnTo>
                <a:lnTo>
                  <a:pt x="142710" y="7870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253141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504819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81547" y="348012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54713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501254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77984" y="348012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102725" y="0"/>
                </a:moveTo>
                <a:lnTo>
                  <a:pt x="62738" y="7870"/>
                </a:lnTo>
                <a:lnTo>
                  <a:pt x="30086" y="29334"/>
                </a:lnTo>
                <a:lnTo>
                  <a:pt x="8072" y="61170"/>
                </a:lnTo>
                <a:lnTo>
                  <a:pt x="0" y="100156"/>
                </a:lnTo>
                <a:lnTo>
                  <a:pt x="8072" y="139142"/>
                </a:lnTo>
                <a:lnTo>
                  <a:pt x="30086" y="170978"/>
                </a:lnTo>
                <a:lnTo>
                  <a:pt x="62738" y="192442"/>
                </a:lnTo>
                <a:lnTo>
                  <a:pt x="102725" y="200313"/>
                </a:lnTo>
                <a:lnTo>
                  <a:pt x="142710" y="192442"/>
                </a:lnTo>
                <a:lnTo>
                  <a:pt x="175363" y="170978"/>
                </a:lnTo>
                <a:lnTo>
                  <a:pt x="197377" y="139142"/>
                </a:lnTo>
                <a:lnTo>
                  <a:pt x="205450" y="100156"/>
                </a:lnTo>
                <a:lnTo>
                  <a:pt x="197377" y="61170"/>
                </a:lnTo>
                <a:lnTo>
                  <a:pt x="175363" y="29334"/>
                </a:lnTo>
                <a:lnTo>
                  <a:pt x="142710" y="7870"/>
                </a:lnTo>
                <a:lnTo>
                  <a:pt x="102725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77984" y="348012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135006" y="3177081"/>
            <a:ext cx="200660" cy="205740"/>
          </a:xfrm>
          <a:custGeom>
            <a:avLst/>
            <a:gdLst/>
            <a:ahLst/>
            <a:cxnLst/>
            <a:rect l="l" t="t" r="r" b="b"/>
            <a:pathLst>
              <a:path w="200660" h="205739">
                <a:moveTo>
                  <a:pt x="0" y="102725"/>
                </a:moveTo>
                <a:lnTo>
                  <a:pt x="7870" y="62739"/>
                </a:lnTo>
                <a:lnTo>
                  <a:pt x="29335" y="30087"/>
                </a:lnTo>
                <a:lnTo>
                  <a:pt x="61171" y="8072"/>
                </a:lnTo>
                <a:lnTo>
                  <a:pt x="100157" y="0"/>
                </a:lnTo>
                <a:lnTo>
                  <a:pt x="139142" y="8072"/>
                </a:lnTo>
                <a:lnTo>
                  <a:pt x="170979" y="30087"/>
                </a:lnTo>
                <a:lnTo>
                  <a:pt x="192443" y="62739"/>
                </a:lnTo>
                <a:lnTo>
                  <a:pt x="200314" y="102725"/>
                </a:lnTo>
                <a:lnTo>
                  <a:pt x="192443" y="142710"/>
                </a:lnTo>
                <a:lnTo>
                  <a:pt x="170979" y="175362"/>
                </a:lnTo>
                <a:lnTo>
                  <a:pt x="139142" y="197377"/>
                </a:lnTo>
                <a:lnTo>
                  <a:pt x="100157" y="205450"/>
                </a:lnTo>
                <a:lnTo>
                  <a:pt x="61171" y="197377"/>
                </a:lnTo>
                <a:lnTo>
                  <a:pt x="29335" y="175362"/>
                </a:lnTo>
                <a:lnTo>
                  <a:pt x="7870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31443" y="317708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33224" y="29151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100157" y="0"/>
                </a:moveTo>
                <a:lnTo>
                  <a:pt x="61170" y="7870"/>
                </a:lnTo>
                <a:lnTo>
                  <a:pt x="29334" y="29334"/>
                </a:lnTo>
                <a:lnTo>
                  <a:pt x="7870" y="61170"/>
                </a:lnTo>
                <a:lnTo>
                  <a:pt x="0" y="100156"/>
                </a:lnTo>
                <a:lnTo>
                  <a:pt x="7870" y="139142"/>
                </a:lnTo>
                <a:lnTo>
                  <a:pt x="29334" y="170978"/>
                </a:lnTo>
                <a:lnTo>
                  <a:pt x="61170" y="192442"/>
                </a:lnTo>
                <a:lnTo>
                  <a:pt x="100157" y="200313"/>
                </a:lnTo>
                <a:lnTo>
                  <a:pt x="139143" y="192442"/>
                </a:lnTo>
                <a:lnTo>
                  <a:pt x="170979" y="170978"/>
                </a:lnTo>
                <a:lnTo>
                  <a:pt x="192443" y="139142"/>
                </a:lnTo>
                <a:lnTo>
                  <a:pt x="200314" y="100156"/>
                </a:lnTo>
                <a:lnTo>
                  <a:pt x="192443" y="61170"/>
                </a:lnTo>
                <a:lnTo>
                  <a:pt x="170979" y="29334"/>
                </a:lnTo>
                <a:lnTo>
                  <a:pt x="139143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33224" y="29151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304504" y="3084628"/>
            <a:ext cx="355600" cy="123189"/>
          </a:xfrm>
          <a:custGeom>
            <a:avLst/>
            <a:gdLst/>
            <a:ahLst/>
            <a:cxnLst/>
            <a:rect l="l" t="t" r="r" b="b"/>
            <a:pathLst>
              <a:path w="355600" h="123189">
                <a:moveTo>
                  <a:pt x="0" y="123145"/>
                </a:moveTo>
                <a:lnTo>
                  <a:pt x="355043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802721" y="3084627"/>
            <a:ext cx="356235" cy="121285"/>
          </a:xfrm>
          <a:custGeom>
            <a:avLst/>
            <a:gdLst/>
            <a:ahLst/>
            <a:cxnLst/>
            <a:rect l="l" t="t" r="r" b="b"/>
            <a:pathLst>
              <a:path w="356235" h="121285">
                <a:moveTo>
                  <a:pt x="0" y="0"/>
                </a:moveTo>
                <a:lnTo>
                  <a:pt x="355933" y="121217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980918" y="3351714"/>
            <a:ext cx="180340" cy="127000"/>
          </a:xfrm>
          <a:custGeom>
            <a:avLst/>
            <a:gdLst/>
            <a:ahLst/>
            <a:cxnLst/>
            <a:rect l="l" t="t" r="r" b="b"/>
            <a:pathLst>
              <a:path w="180339" h="127000">
                <a:moveTo>
                  <a:pt x="180234" y="0"/>
                </a:moveTo>
                <a:lnTo>
                  <a:pt x="0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304504" y="3351714"/>
            <a:ext cx="176530" cy="127000"/>
          </a:xfrm>
          <a:custGeom>
            <a:avLst/>
            <a:gdLst/>
            <a:ahLst/>
            <a:cxnLst/>
            <a:rect l="l" t="t" r="r" b="b"/>
            <a:pathLst>
              <a:path w="176529" h="127000">
                <a:moveTo>
                  <a:pt x="0" y="0"/>
                </a:moveTo>
                <a:lnTo>
                  <a:pt x="176140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982489" y="3351714"/>
            <a:ext cx="179070" cy="128905"/>
          </a:xfrm>
          <a:custGeom>
            <a:avLst/>
            <a:gdLst/>
            <a:ahLst/>
            <a:cxnLst/>
            <a:rect l="l" t="t" r="r" b="b"/>
            <a:pathLst>
              <a:path w="179070" h="128904">
                <a:moveTo>
                  <a:pt x="178462" y="0"/>
                </a:moveTo>
                <a:lnTo>
                  <a:pt x="0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00940" y="3351714"/>
            <a:ext cx="178435" cy="128905"/>
          </a:xfrm>
          <a:custGeom>
            <a:avLst/>
            <a:gdLst/>
            <a:ahLst/>
            <a:cxnLst/>
            <a:rect l="l" t="t" r="r" b="b"/>
            <a:pathLst>
              <a:path w="178435" h="128904">
                <a:moveTo>
                  <a:pt x="0" y="0"/>
                </a:moveTo>
                <a:lnTo>
                  <a:pt x="177912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857648" y="3649617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052827" y="3649617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55866" y="3649617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551044" y="3649617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854087" y="3649617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054398" y="3649617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352306" y="3649617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552617" y="3649617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907019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153561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030291" y="348012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100157" y="0"/>
                </a:moveTo>
                <a:lnTo>
                  <a:pt x="61170" y="7870"/>
                </a:lnTo>
                <a:lnTo>
                  <a:pt x="29334" y="29334"/>
                </a:lnTo>
                <a:lnTo>
                  <a:pt x="7870" y="61170"/>
                </a:lnTo>
                <a:lnTo>
                  <a:pt x="0" y="100156"/>
                </a:lnTo>
                <a:lnTo>
                  <a:pt x="7870" y="139142"/>
                </a:lnTo>
                <a:lnTo>
                  <a:pt x="29334" y="170978"/>
                </a:lnTo>
                <a:lnTo>
                  <a:pt x="61170" y="192442"/>
                </a:lnTo>
                <a:lnTo>
                  <a:pt x="100157" y="200313"/>
                </a:lnTo>
                <a:lnTo>
                  <a:pt x="139143" y="192442"/>
                </a:lnTo>
                <a:lnTo>
                  <a:pt x="170979" y="170978"/>
                </a:lnTo>
                <a:lnTo>
                  <a:pt x="192443" y="139142"/>
                </a:lnTo>
                <a:lnTo>
                  <a:pt x="200314" y="100156"/>
                </a:lnTo>
                <a:lnTo>
                  <a:pt x="192443" y="61170"/>
                </a:lnTo>
                <a:lnTo>
                  <a:pt x="170979" y="29334"/>
                </a:lnTo>
                <a:lnTo>
                  <a:pt x="139143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030291" y="348012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903456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155133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026726" y="348012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405238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651779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528508" y="3480121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39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401675" y="3793432"/>
            <a:ext cx="205740" cy="200660"/>
          </a:xfrm>
          <a:custGeom>
            <a:avLst/>
            <a:gdLst/>
            <a:ahLst/>
            <a:cxnLst/>
            <a:rect l="l" t="t" r="r" b="b"/>
            <a:pathLst>
              <a:path w="205740" h="200660">
                <a:moveTo>
                  <a:pt x="0" y="100157"/>
                </a:moveTo>
                <a:lnTo>
                  <a:pt x="8072" y="61171"/>
                </a:lnTo>
                <a:lnTo>
                  <a:pt x="30087" y="29335"/>
                </a:lnTo>
                <a:lnTo>
                  <a:pt x="62740" y="7870"/>
                </a:lnTo>
                <a:lnTo>
                  <a:pt x="102725" y="0"/>
                </a:lnTo>
                <a:lnTo>
                  <a:pt x="142710" y="7870"/>
                </a:lnTo>
                <a:lnTo>
                  <a:pt x="175363" y="29335"/>
                </a:lnTo>
                <a:lnTo>
                  <a:pt x="197378" y="61171"/>
                </a:lnTo>
                <a:lnTo>
                  <a:pt x="205450" y="100157"/>
                </a:lnTo>
                <a:lnTo>
                  <a:pt x="197378" y="139142"/>
                </a:lnTo>
                <a:lnTo>
                  <a:pt x="175363" y="170978"/>
                </a:lnTo>
                <a:lnTo>
                  <a:pt x="142710" y="192443"/>
                </a:lnTo>
                <a:lnTo>
                  <a:pt x="102725" y="200314"/>
                </a:lnTo>
                <a:lnTo>
                  <a:pt x="62740" y="192443"/>
                </a:lnTo>
                <a:lnTo>
                  <a:pt x="30087" y="170978"/>
                </a:lnTo>
                <a:lnTo>
                  <a:pt x="8072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653352" y="37934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530081" y="348012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100157" y="0"/>
                </a:moveTo>
                <a:lnTo>
                  <a:pt x="61170" y="7870"/>
                </a:lnTo>
                <a:lnTo>
                  <a:pt x="29334" y="29334"/>
                </a:lnTo>
                <a:lnTo>
                  <a:pt x="7870" y="61170"/>
                </a:lnTo>
                <a:lnTo>
                  <a:pt x="0" y="100156"/>
                </a:lnTo>
                <a:lnTo>
                  <a:pt x="7870" y="139142"/>
                </a:lnTo>
                <a:lnTo>
                  <a:pt x="29334" y="170978"/>
                </a:lnTo>
                <a:lnTo>
                  <a:pt x="61170" y="192442"/>
                </a:lnTo>
                <a:lnTo>
                  <a:pt x="100157" y="200313"/>
                </a:lnTo>
                <a:lnTo>
                  <a:pt x="139143" y="192442"/>
                </a:lnTo>
                <a:lnTo>
                  <a:pt x="170979" y="170978"/>
                </a:lnTo>
                <a:lnTo>
                  <a:pt x="192443" y="139142"/>
                </a:lnTo>
                <a:lnTo>
                  <a:pt x="200314" y="100156"/>
                </a:lnTo>
                <a:lnTo>
                  <a:pt x="192443" y="61170"/>
                </a:lnTo>
                <a:lnTo>
                  <a:pt x="170979" y="29334"/>
                </a:lnTo>
                <a:lnTo>
                  <a:pt x="139143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530081" y="348012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59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281968" y="3177081"/>
            <a:ext cx="200660" cy="205740"/>
          </a:xfrm>
          <a:custGeom>
            <a:avLst/>
            <a:gdLst/>
            <a:ahLst/>
            <a:cxnLst/>
            <a:rect l="l" t="t" r="r" b="b"/>
            <a:pathLst>
              <a:path w="200660" h="205739">
                <a:moveTo>
                  <a:pt x="0" y="102725"/>
                </a:moveTo>
                <a:lnTo>
                  <a:pt x="7870" y="62739"/>
                </a:lnTo>
                <a:lnTo>
                  <a:pt x="29335" y="30087"/>
                </a:lnTo>
                <a:lnTo>
                  <a:pt x="61171" y="8072"/>
                </a:lnTo>
                <a:lnTo>
                  <a:pt x="100157" y="0"/>
                </a:lnTo>
                <a:lnTo>
                  <a:pt x="139142" y="8072"/>
                </a:lnTo>
                <a:lnTo>
                  <a:pt x="170979" y="30087"/>
                </a:lnTo>
                <a:lnTo>
                  <a:pt x="192443" y="62739"/>
                </a:lnTo>
                <a:lnTo>
                  <a:pt x="200314" y="102725"/>
                </a:lnTo>
                <a:lnTo>
                  <a:pt x="192443" y="142710"/>
                </a:lnTo>
                <a:lnTo>
                  <a:pt x="170979" y="175362"/>
                </a:lnTo>
                <a:lnTo>
                  <a:pt x="139142" y="197377"/>
                </a:lnTo>
                <a:lnTo>
                  <a:pt x="100157" y="205450"/>
                </a:lnTo>
                <a:lnTo>
                  <a:pt x="61171" y="197377"/>
                </a:lnTo>
                <a:lnTo>
                  <a:pt x="29335" y="175362"/>
                </a:lnTo>
                <a:lnTo>
                  <a:pt x="7870" y="142710"/>
                </a:lnTo>
                <a:lnTo>
                  <a:pt x="0" y="102725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78403" y="3177081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780185" y="29151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100157" y="0"/>
                </a:moveTo>
                <a:lnTo>
                  <a:pt x="61170" y="7870"/>
                </a:lnTo>
                <a:lnTo>
                  <a:pt x="29334" y="29334"/>
                </a:lnTo>
                <a:lnTo>
                  <a:pt x="7870" y="61170"/>
                </a:lnTo>
                <a:lnTo>
                  <a:pt x="0" y="100156"/>
                </a:lnTo>
                <a:lnTo>
                  <a:pt x="7870" y="139142"/>
                </a:lnTo>
                <a:lnTo>
                  <a:pt x="29334" y="170978"/>
                </a:lnTo>
                <a:lnTo>
                  <a:pt x="61170" y="192442"/>
                </a:lnTo>
                <a:lnTo>
                  <a:pt x="100157" y="200313"/>
                </a:lnTo>
                <a:lnTo>
                  <a:pt x="139144" y="192442"/>
                </a:lnTo>
                <a:lnTo>
                  <a:pt x="170980" y="170978"/>
                </a:lnTo>
                <a:lnTo>
                  <a:pt x="192444" y="139142"/>
                </a:lnTo>
                <a:lnTo>
                  <a:pt x="200314" y="100156"/>
                </a:lnTo>
                <a:lnTo>
                  <a:pt x="192444" y="61170"/>
                </a:lnTo>
                <a:lnTo>
                  <a:pt x="170980" y="29334"/>
                </a:lnTo>
                <a:lnTo>
                  <a:pt x="139144" y="7870"/>
                </a:lnTo>
                <a:lnTo>
                  <a:pt x="100157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780185" y="2915132"/>
            <a:ext cx="200660" cy="200660"/>
          </a:xfrm>
          <a:custGeom>
            <a:avLst/>
            <a:gdLst/>
            <a:ahLst/>
            <a:cxnLst/>
            <a:rect l="l" t="t" r="r" b="b"/>
            <a:pathLst>
              <a:path w="200660" h="200660">
                <a:moveTo>
                  <a:pt x="0" y="100157"/>
                </a:moveTo>
                <a:lnTo>
                  <a:pt x="7870" y="61171"/>
                </a:lnTo>
                <a:lnTo>
                  <a:pt x="29335" y="29335"/>
                </a:lnTo>
                <a:lnTo>
                  <a:pt x="61171" y="7870"/>
                </a:lnTo>
                <a:lnTo>
                  <a:pt x="100157" y="0"/>
                </a:lnTo>
                <a:lnTo>
                  <a:pt x="139142" y="7870"/>
                </a:lnTo>
                <a:lnTo>
                  <a:pt x="170979" y="29335"/>
                </a:lnTo>
                <a:lnTo>
                  <a:pt x="192443" y="61171"/>
                </a:lnTo>
                <a:lnTo>
                  <a:pt x="200314" y="100157"/>
                </a:lnTo>
                <a:lnTo>
                  <a:pt x="192443" y="139142"/>
                </a:lnTo>
                <a:lnTo>
                  <a:pt x="170979" y="170978"/>
                </a:lnTo>
                <a:lnTo>
                  <a:pt x="139142" y="192443"/>
                </a:lnTo>
                <a:lnTo>
                  <a:pt x="100157" y="200314"/>
                </a:lnTo>
                <a:lnTo>
                  <a:pt x="61171" y="192443"/>
                </a:lnTo>
                <a:lnTo>
                  <a:pt x="29335" y="170978"/>
                </a:lnTo>
                <a:lnTo>
                  <a:pt x="7870" y="139142"/>
                </a:lnTo>
                <a:lnTo>
                  <a:pt x="0" y="100157"/>
                </a:lnTo>
                <a:close/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456600" y="3084628"/>
            <a:ext cx="355600" cy="123189"/>
          </a:xfrm>
          <a:custGeom>
            <a:avLst/>
            <a:gdLst/>
            <a:ahLst/>
            <a:cxnLst/>
            <a:rect l="l" t="t" r="r" b="b"/>
            <a:pathLst>
              <a:path w="355600" h="123189">
                <a:moveTo>
                  <a:pt x="0" y="123145"/>
                </a:moveTo>
                <a:lnTo>
                  <a:pt x="355043" y="0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954819" y="3084627"/>
            <a:ext cx="356235" cy="121285"/>
          </a:xfrm>
          <a:custGeom>
            <a:avLst/>
            <a:gdLst/>
            <a:ahLst/>
            <a:cxnLst/>
            <a:rect l="l" t="t" r="r" b="b"/>
            <a:pathLst>
              <a:path w="356235" h="121285">
                <a:moveTo>
                  <a:pt x="0" y="0"/>
                </a:moveTo>
                <a:lnTo>
                  <a:pt x="355933" y="121217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133018" y="3351714"/>
            <a:ext cx="180340" cy="127000"/>
          </a:xfrm>
          <a:custGeom>
            <a:avLst/>
            <a:gdLst/>
            <a:ahLst/>
            <a:cxnLst/>
            <a:rect l="l" t="t" r="r" b="b"/>
            <a:pathLst>
              <a:path w="180339" h="127000">
                <a:moveTo>
                  <a:pt x="180234" y="0"/>
                </a:moveTo>
                <a:lnTo>
                  <a:pt x="0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456600" y="3351714"/>
            <a:ext cx="176530" cy="127000"/>
          </a:xfrm>
          <a:custGeom>
            <a:avLst/>
            <a:gdLst/>
            <a:ahLst/>
            <a:cxnLst/>
            <a:rect l="l" t="t" r="r" b="b"/>
            <a:pathLst>
              <a:path w="176529" h="127000">
                <a:moveTo>
                  <a:pt x="0" y="0"/>
                </a:moveTo>
                <a:lnTo>
                  <a:pt x="176140" y="12659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129449" y="3351714"/>
            <a:ext cx="179070" cy="128905"/>
          </a:xfrm>
          <a:custGeom>
            <a:avLst/>
            <a:gdLst/>
            <a:ahLst/>
            <a:cxnLst/>
            <a:rect l="l" t="t" r="r" b="b"/>
            <a:pathLst>
              <a:path w="179070" h="128904">
                <a:moveTo>
                  <a:pt x="178462" y="0"/>
                </a:moveTo>
                <a:lnTo>
                  <a:pt x="0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453037" y="3351714"/>
            <a:ext cx="178435" cy="128905"/>
          </a:xfrm>
          <a:custGeom>
            <a:avLst/>
            <a:gdLst/>
            <a:ahLst/>
            <a:cxnLst/>
            <a:rect l="l" t="t" r="r" b="b"/>
            <a:pathLst>
              <a:path w="178434" h="128904">
                <a:moveTo>
                  <a:pt x="0" y="0"/>
                </a:moveTo>
                <a:lnTo>
                  <a:pt x="177912" y="128521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004611" y="3649617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204923" y="3649617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507966" y="3649617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703142" y="3649617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006183" y="3649617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201360" y="3649617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39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504402" y="3649617"/>
            <a:ext cx="53975" cy="144145"/>
          </a:xfrm>
          <a:custGeom>
            <a:avLst/>
            <a:gdLst/>
            <a:ahLst/>
            <a:cxnLst/>
            <a:rect l="l" t="t" r="r" b="b"/>
            <a:pathLst>
              <a:path w="53975" h="144145">
                <a:moveTo>
                  <a:pt x="53943" y="0"/>
                </a:moveTo>
                <a:lnTo>
                  <a:pt x="0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699577" y="3649617"/>
            <a:ext cx="53340" cy="144145"/>
          </a:xfrm>
          <a:custGeom>
            <a:avLst/>
            <a:gdLst/>
            <a:ahLst/>
            <a:cxnLst/>
            <a:rect l="l" t="t" r="r" b="b"/>
            <a:pathLst>
              <a:path w="53340" h="144145">
                <a:moveTo>
                  <a:pt x="0" y="0"/>
                </a:moveTo>
                <a:lnTo>
                  <a:pt x="52861" y="143643"/>
                </a:lnTo>
              </a:path>
            </a:pathLst>
          </a:custGeom>
          <a:ln w="102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3651147" y="2897295"/>
            <a:ext cx="38735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250">
                <a:latin typeface="Cambria Math"/>
                <a:cs typeface="Cambria Math"/>
              </a:rPr>
              <a:t>!</a:t>
            </a:r>
            <a:r>
              <a:rPr dirty="0" baseline="-13888" sz="1200" spc="375">
                <a:latin typeface="Cambria Math"/>
                <a:cs typeface="Cambria Math"/>
              </a:rPr>
              <a:t>!</a:t>
            </a:r>
            <a:r>
              <a:rPr dirty="0" baseline="-13888" sz="1200" spc="802">
                <a:latin typeface="Cambria Math"/>
                <a:cs typeface="Cambria Math"/>
              </a:rPr>
              <a:t> </a:t>
            </a:r>
            <a:r>
              <a:rPr dirty="0" baseline="2525" sz="1650" spc="15">
                <a:solidFill>
                  <a:srgbClr val="ED7D31"/>
                </a:solidFill>
                <a:latin typeface="Calibri"/>
                <a:cs typeface="Calibri"/>
              </a:rPr>
              <a:t>A</a:t>
            </a:r>
            <a:endParaRPr baseline="2525" sz="165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593797" y="2897295"/>
            <a:ext cx="36703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0">
                <a:solidFill>
                  <a:srgbClr val="5B9BD5"/>
                </a:solidFill>
                <a:latin typeface="Calibri"/>
                <a:cs typeface="Calibri"/>
              </a:rPr>
              <a:t>B  </a:t>
            </a:r>
            <a:r>
              <a:rPr dirty="0" sz="1100" spc="114">
                <a:solidFill>
                  <a:srgbClr val="5B9BD5"/>
                </a:solidFill>
                <a:latin typeface="Calibri"/>
                <a:cs typeface="Calibri"/>
              </a:rPr>
              <a:t> </a:t>
            </a:r>
            <a:r>
              <a:rPr dirty="0" sz="1100" spc="215">
                <a:latin typeface="Cambria Math"/>
                <a:cs typeface="Cambria Math"/>
              </a:rPr>
              <a:t>!</a:t>
            </a:r>
            <a:r>
              <a:rPr dirty="0" baseline="-13888" sz="1200" spc="322">
                <a:latin typeface="Cambria Math"/>
                <a:cs typeface="Cambria Math"/>
              </a:rPr>
              <a:t>"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697136" y="2399097"/>
            <a:ext cx="793750" cy="213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90"/>
              </a:lnSpc>
            </a:pPr>
            <a:r>
              <a:rPr dirty="0" sz="1300" spc="-5" b="1">
                <a:latin typeface="Calibri"/>
                <a:cs typeface="Calibri"/>
              </a:rPr>
              <a:t>y </a:t>
            </a:r>
            <a:r>
              <a:rPr dirty="0" sz="1300" spc="350">
                <a:latin typeface="Cambria Math"/>
                <a:cs typeface="Cambria Math"/>
              </a:rPr>
              <a:t>!</a:t>
            </a:r>
            <a:r>
              <a:rPr dirty="0" baseline="-15432" sz="1350" spc="525">
                <a:latin typeface="Cambria Math"/>
                <a:cs typeface="Cambria Math"/>
              </a:rPr>
              <a:t>!</a:t>
            </a:r>
            <a:r>
              <a:rPr dirty="0" baseline="-15432" sz="1350" spc="-22">
                <a:latin typeface="Cambria Math"/>
                <a:cs typeface="Cambria Math"/>
              </a:rPr>
              <a:t> </a:t>
            </a:r>
            <a:r>
              <a:rPr dirty="0" sz="1300" spc="-10" b="1">
                <a:latin typeface="Calibri"/>
                <a:cs typeface="Calibri"/>
              </a:rPr>
              <a:t>and </a:t>
            </a:r>
            <a:r>
              <a:rPr dirty="0" sz="1300" spc="300">
                <a:latin typeface="Cambria Math"/>
                <a:cs typeface="Cambria Math"/>
              </a:rPr>
              <a:t>!</a:t>
            </a:r>
            <a:r>
              <a:rPr dirty="0" baseline="-15432" sz="1350" spc="450">
                <a:latin typeface="Cambria Math"/>
                <a:cs typeface="Cambria Math"/>
              </a:rPr>
              <a:t>"</a:t>
            </a:r>
            <a:endParaRPr baseline="-15432" sz="1350">
              <a:latin typeface="Cambria Math"/>
              <a:cs typeface="Cambria Math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2640595" y="3751178"/>
            <a:ext cx="4422140" cy="290830"/>
          </a:xfrm>
          <a:custGeom>
            <a:avLst/>
            <a:gdLst/>
            <a:ahLst/>
            <a:cxnLst/>
            <a:rect l="l" t="t" r="r" b="b"/>
            <a:pathLst>
              <a:path w="4422140" h="290829">
                <a:moveTo>
                  <a:pt x="0" y="0"/>
                </a:moveTo>
                <a:lnTo>
                  <a:pt x="4422129" y="0"/>
                </a:lnTo>
                <a:lnTo>
                  <a:pt x="4422129" y="290416"/>
                </a:lnTo>
                <a:lnTo>
                  <a:pt x="0" y="29041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860462" y="3868049"/>
            <a:ext cx="3853179" cy="5067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2700">
              <a:lnSpc>
                <a:spcPts val="1850"/>
              </a:lnSpc>
              <a:spcBef>
                <a:spcPts val="130"/>
              </a:spcBef>
              <a:tabLst>
                <a:tab pos="2161540" algn="l"/>
              </a:tabLst>
            </a:pPr>
            <a:r>
              <a:rPr dirty="0" sz="1750" spc="15">
                <a:latin typeface="Cambria Math"/>
                <a:cs typeface="Cambria Math"/>
              </a:rPr>
              <a:t>…	…</a:t>
            </a:r>
            <a:endParaRPr sz="1750">
              <a:latin typeface="Cambria Math"/>
              <a:cs typeface="Cambria Math"/>
            </a:endParaRPr>
          </a:p>
          <a:p>
            <a:pPr algn="ctr">
              <a:lnSpc>
                <a:spcPts val="1910"/>
              </a:lnSpc>
              <a:tabLst>
                <a:tab pos="2116455" algn="l"/>
              </a:tabLst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length-3 cycles</a:t>
            </a:r>
            <a:r>
              <a:rPr dirty="0" sz="1800" spc="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z="1800" spc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2	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length-3 cycles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z="1800" spc="-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1663575" y="2706484"/>
            <a:ext cx="0" cy="1353820"/>
          </a:xfrm>
          <a:custGeom>
            <a:avLst/>
            <a:gdLst/>
            <a:ahLst/>
            <a:cxnLst/>
            <a:rect l="l" t="t" r="r" b="b"/>
            <a:pathLst>
              <a:path w="0" h="1353820">
                <a:moveTo>
                  <a:pt x="0" y="0"/>
                </a:moveTo>
                <a:lnTo>
                  <a:pt x="0" y="13538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138662" y="2706484"/>
            <a:ext cx="0" cy="1353820"/>
          </a:xfrm>
          <a:custGeom>
            <a:avLst/>
            <a:gdLst/>
            <a:ahLst/>
            <a:cxnLst/>
            <a:rect l="l" t="t" r="r" b="b"/>
            <a:pathLst>
              <a:path w="0" h="1353820">
                <a:moveTo>
                  <a:pt x="0" y="0"/>
                </a:moveTo>
                <a:lnTo>
                  <a:pt x="0" y="13538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1663575" y="2712834"/>
            <a:ext cx="475615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1600" b="1">
                <a:solidFill>
                  <a:srgbClr val="C64847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663575" y="3048114"/>
            <a:ext cx="475615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1600" b="1">
                <a:solidFill>
                  <a:srgbClr val="C64847"/>
                </a:solidFill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663575" y="3383394"/>
            <a:ext cx="475615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1600" b="1">
                <a:solidFill>
                  <a:srgbClr val="C64847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663575" y="3718674"/>
            <a:ext cx="475615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1600" b="1">
                <a:solidFill>
                  <a:srgbClr val="C64847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777720" y="2251964"/>
            <a:ext cx="237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562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421293" y="2694124"/>
            <a:ext cx="0" cy="1353820"/>
          </a:xfrm>
          <a:custGeom>
            <a:avLst/>
            <a:gdLst/>
            <a:ahLst/>
            <a:cxnLst/>
            <a:rect l="l" t="t" r="r" b="b"/>
            <a:pathLst>
              <a:path w="0" h="1353820">
                <a:moveTo>
                  <a:pt x="0" y="0"/>
                </a:moveTo>
                <a:lnTo>
                  <a:pt x="0" y="13538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896380" y="2694124"/>
            <a:ext cx="0" cy="1353820"/>
          </a:xfrm>
          <a:custGeom>
            <a:avLst/>
            <a:gdLst/>
            <a:ahLst/>
            <a:cxnLst/>
            <a:rect l="l" t="t" r="r" b="b"/>
            <a:pathLst>
              <a:path w="0" h="1353820">
                <a:moveTo>
                  <a:pt x="0" y="0"/>
                </a:moveTo>
                <a:lnTo>
                  <a:pt x="0" y="13538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 txBox="1"/>
          <p:nvPr/>
        </p:nvSpPr>
        <p:spPr>
          <a:xfrm>
            <a:off x="7421293" y="2700474"/>
            <a:ext cx="475615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1600" b="1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421293" y="3035754"/>
            <a:ext cx="475615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1600" b="1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421293" y="3371034"/>
            <a:ext cx="475615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1600" b="1">
                <a:solidFill>
                  <a:srgbClr val="0070C0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421293" y="3706314"/>
            <a:ext cx="475615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1600" b="1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535182" y="2239772"/>
            <a:ext cx="242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070C0"/>
                </a:solidFill>
                <a:latin typeface="Cambria Math"/>
                <a:cs typeface="Cambria Math"/>
              </a:rPr>
              <a:t>𝑣</a:t>
            </a:r>
            <a:r>
              <a:rPr dirty="0" baseline="-14957" sz="1950" spc="352">
                <a:solidFill>
                  <a:srgbClr val="0070C0"/>
                </a:solidFill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13351" y="3081020"/>
            <a:ext cx="13849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latin typeface="Arial"/>
                <a:cs typeface="Arial"/>
              </a:rPr>
              <a:t>Cycle count  at each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level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2592151" y="2403304"/>
            <a:ext cx="903605" cy="302895"/>
          </a:xfrm>
          <a:custGeom>
            <a:avLst/>
            <a:gdLst/>
            <a:ahLst/>
            <a:cxnLst/>
            <a:rect l="l" t="t" r="r" b="b"/>
            <a:pathLst>
              <a:path w="903604" h="302894">
                <a:moveTo>
                  <a:pt x="0" y="0"/>
                </a:moveTo>
                <a:lnTo>
                  <a:pt x="903297" y="0"/>
                </a:lnTo>
                <a:lnTo>
                  <a:pt x="903297" y="302781"/>
                </a:lnTo>
                <a:lnTo>
                  <a:pt x="0" y="302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12" name="object 1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3" name="object 113"/>
          <p:cNvSpPr txBox="1"/>
          <p:nvPr/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39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950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1210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Summary </a:t>
            </a:r>
            <a:r>
              <a:rPr dirty="0" sz="3200"/>
              <a:t>of </a:t>
            </a:r>
            <a:r>
              <a:rPr dirty="0" sz="3200" spc="-5"/>
              <a:t>ID-GNN: </a:t>
            </a:r>
            <a:r>
              <a:rPr dirty="0" sz="3200">
                <a:solidFill>
                  <a:srgbClr val="C00000"/>
                </a:solidFill>
              </a:rPr>
              <a:t>A </a:t>
            </a:r>
            <a:r>
              <a:rPr dirty="0" sz="3200" spc="-20">
                <a:solidFill>
                  <a:srgbClr val="C00000"/>
                </a:solidFill>
              </a:rPr>
              <a:t>general </a:t>
            </a:r>
            <a:r>
              <a:rPr dirty="0" sz="3200" spc="-5">
                <a:solidFill>
                  <a:srgbClr val="C00000"/>
                </a:solidFill>
              </a:rPr>
              <a:t>and powerful  </a:t>
            </a:r>
            <a:r>
              <a:rPr dirty="0" sz="3200" spc="-15">
                <a:solidFill>
                  <a:srgbClr val="C00000"/>
                </a:solidFill>
              </a:rPr>
              <a:t>extension to </a:t>
            </a:r>
            <a:r>
              <a:rPr dirty="0" sz="3200" spc="-5">
                <a:solidFill>
                  <a:srgbClr val="C00000"/>
                </a:solidFill>
              </a:rPr>
              <a:t>GNN</a:t>
            </a:r>
            <a:r>
              <a:rPr dirty="0" sz="3200" spc="35">
                <a:solidFill>
                  <a:srgbClr val="C00000"/>
                </a:solidFill>
              </a:rPr>
              <a:t> </a:t>
            </a:r>
            <a:r>
              <a:rPr dirty="0" sz="3200" spc="-20">
                <a:solidFill>
                  <a:srgbClr val="C00000"/>
                </a:solidFill>
              </a:rPr>
              <a:t>framework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426959" cy="398526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467359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">
                <a:latin typeface="Calibri"/>
                <a:cs typeface="Calibri"/>
              </a:rPr>
              <a:t>apply ID-GNN on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any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message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passing  GNNs </a:t>
            </a:r>
            <a:r>
              <a:rPr dirty="0" sz="2800" spc="-5">
                <a:latin typeface="Calibri"/>
                <a:cs typeface="Calibri"/>
              </a:rPr>
              <a:t>(GCN, </a:t>
            </a:r>
            <a:r>
              <a:rPr dirty="0" sz="2800" spc="-15">
                <a:latin typeface="Calibri"/>
                <a:cs typeface="Calibri"/>
              </a:rPr>
              <a:t>GraphSAGE, </a:t>
            </a:r>
            <a:r>
              <a:rPr dirty="0" sz="2800" spc="-5">
                <a:latin typeface="Calibri"/>
                <a:cs typeface="Calibri"/>
              </a:rPr>
              <a:t>GIN,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…)</a:t>
            </a:r>
            <a:endParaRPr sz="2800">
              <a:latin typeface="Calibri"/>
              <a:cs typeface="Calibri"/>
            </a:endParaRPr>
          </a:p>
          <a:p>
            <a:pPr lvl="1" marL="552450" marR="839469" indent="-228600">
              <a:lnSpc>
                <a:spcPct val="100800"/>
              </a:lnSpc>
              <a:spcBef>
                <a:spcPts val="509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ID-GNN </a:t>
            </a:r>
            <a:r>
              <a:rPr dirty="0" sz="2400" spc="-10">
                <a:latin typeface="Calibri"/>
                <a:cs typeface="Calibri"/>
              </a:rPr>
              <a:t>provides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consistent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performance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gain </a:t>
            </a:r>
            <a:r>
              <a:rPr dirty="0" sz="2400" spc="-505">
                <a:latin typeface="Calibri"/>
                <a:cs typeface="Calibri"/>
              </a:rPr>
              <a:t>in  </a:t>
            </a:r>
            <a:r>
              <a:rPr dirty="0" sz="2400" spc="-15">
                <a:latin typeface="Calibri"/>
                <a:cs typeface="Calibri"/>
              </a:rPr>
              <a:t>node/edge/graph </a:t>
            </a:r>
            <a:r>
              <a:rPr dirty="0" sz="2400" spc="-10">
                <a:latin typeface="Calibri"/>
                <a:cs typeface="Calibri"/>
              </a:rPr>
              <a:t>level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287020" marR="5080" indent="-274320">
              <a:lnSpc>
                <a:spcPct val="99600"/>
              </a:lnSpc>
              <a:spcBef>
                <a:spcPts val="61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ID-GNN is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more expressive </a:t>
            </a:r>
            <a:r>
              <a:rPr dirty="0" sz="2800" spc="-5">
                <a:latin typeface="Calibri"/>
                <a:cs typeface="Calibri"/>
              </a:rPr>
              <a:t>than their GNN  </a:t>
            </a:r>
            <a:r>
              <a:rPr dirty="0" sz="2800" spc="-10">
                <a:latin typeface="Calibri"/>
                <a:cs typeface="Calibri"/>
              </a:rPr>
              <a:t>counterparts. </a:t>
            </a:r>
            <a:r>
              <a:rPr dirty="0" sz="2800" spc="-5">
                <a:latin typeface="Calibri"/>
                <a:cs typeface="Calibri"/>
              </a:rPr>
              <a:t>ID-GNN is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first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message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passing  GNN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that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more expressive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than 1-WL</a:t>
            </a:r>
            <a:r>
              <a:rPr dirty="0" sz="2800" spc="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endParaRPr sz="2800">
              <a:latin typeface="Calibri"/>
              <a:cs typeface="Calibri"/>
            </a:endParaRPr>
          </a:p>
          <a:p>
            <a:pPr marL="287020" marR="294640" indent="-274320">
              <a:lnSpc>
                <a:spcPts val="3310"/>
              </a:lnSpc>
              <a:spcBef>
                <a:spcPts val="89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easily implement </a:t>
            </a:r>
            <a:r>
              <a:rPr dirty="0" sz="2800" spc="-5">
                <a:latin typeface="Calibri"/>
                <a:cs typeface="Calibri"/>
              </a:rPr>
              <a:t>ID-GNN using popular  GNN </a:t>
            </a:r>
            <a:r>
              <a:rPr dirty="0" sz="2800" spc="-10">
                <a:latin typeface="Calibri"/>
                <a:cs typeface="Calibri"/>
              </a:rPr>
              <a:t>tools </a:t>
            </a:r>
            <a:r>
              <a:rPr dirty="0" sz="2800" spc="-5">
                <a:latin typeface="Calibri"/>
                <a:cs typeface="Calibri"/>
              </a:rPr>
              <a:t>(PyG, </a:t>
            </a:r>
            <a:r>
              <a:rPr dirty="0" sz="2800">
                <a:latin typeface="Calibri"/>
                <a:cs typeface="Calibri"/>
              </a:rPr>
              <a:t>DGL,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…)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2706623"/>
            <a:ext cx="6931152" cy="2304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82142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9394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0">
                <a:latin typeface="Calibri"/>
                <a:cs typeface="Calibri"/>
              </a:rPr>
              <a:t>Recent </a:t>
            </a:r>
            <a:r>
              <a:rPr dirty="0" sz="3200" spc="-25" b="0">
                <a:latin typeface="Calibri"/>
                <a:cs typeface="Calibri"/>
              </a:rPr>
              <a:t>years </a:t>
            </a:r>
            <a:r>
              <a:rPr dirty="0" sz="3200" spc="-20" b="0">
                <a:latin typeface="Calibri"/>
                <a:cs typeface="Calibri"/>
              </a:rPr>
              <a:t>have </a:t>
            </a:r>
            <a:r>
              <a:rPr dirty="0" sz="3200" spc="-5" b="0">
                <a:latin typeface="Calibri"/>
                <a:cs typeface="Calibri"/>
              </a:rPr>
              <a:t>seen </a:t>
            </a:r>
            <a:r>
              <a:rPr dirty="0" sz="3200" spc="-10">
                <a:solidFill>
                  <a:srgbClr val="008000"/>
                </a:solidFill>
              </a:rPr>
              <a:t>impressive  performance </a:t>
            </a:r>
            <a:r>
              <a:rPr dirty="0" sz="3200">
                <a:solidFill>
                  <a:srgbClr val="008000"/>
                </a:solidFill>
              </a:rPr>
              <a:t>of </a:t>
            </a:r>
            <a:r>
              <a:rPr dirty="0" sz="3200" spc="-5">
                <a:solidFill>
                  <a:srgbClr val="008000"/>
                </a:solidFill>
              </a:rPr>
              <a:t>deep learning models </a:t>
            </a:r>
            <a:r>
              <a:rPr dirty="0" sz="3200">
                <a:solidFill>
                  <a:srgbClr val="008000"/>
                </a:solidFill>
              </a:rPr>
              <a:t>in a  </a:t>
            </a:r>
            <a:r>
              <a:rPr dirty="0" sz="3200" spc="-15">
                <a:solidFill>
                  <a:srgbClr val="008000"/>
                </a:solidFill>
              </a:rPr>
              <a:t>variety </a:t>
            </a:r>
            <a:r>
              <a:rPr dirty="0" sz="3200">
                <a:solidFill>
                  <a:srgbClr val="008000"/>
                </a:solidFill>
              </a:rPr>
              <a:t>of</a:t>
            </a:r>
            <a:r>
              <a:rPr dirty="0" sz="3200" spc="-40">
                <a:solidFill>
                  <a:srgbClr val="008000"/>
                </a:solidFill>
              </a:rPr>
              <a:t> </a:t>
            </a:r>
            <a:r>
              <a:rPr dirty="0" sz="3200" spc="-10">
                <a:solidFill>
                  <a:srgbClr val="008000"/>
                </a:solidFill>
              </a:rPr>
              <a:t>applications.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7974330" cy="2275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25475" marR="5080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Ex) In </a:t>
            </a:r>
            <a:r>
              <a:rPr dirty="0" sz="2800" spc="-10">
                <a:latin typeface="Calibri"/>
                <a:cs typeface="Calibri"/>
              </a:rPr>
              <a:t>computer </a:t>
            </a:r>
            <a:r>
              <a:rPr dirty="0" sz="2800" spc="-5">
                <a:latin typeface="Calibri"/>
                <a:cs typeface="Calibri"/>
              </a:rPr>
              <a:t>vision, </a:t>
            </a: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deep </a:t>
            </a: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convolutional  networks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10">
                <a:latin typeface="Calibri"/>
                <a:cs typeface="Calibri"/>
              </a:rPr>
              <a:t>achieved human-level performance 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 spc="-10">
                <a:latin typeface="Calibri"/>
                <a:cs typeface="Calibri"/>
              </a:rPr>
              <a:t>ImageNet (image </a:t>
            </a:r>
            <a:r>
              <a:rPr dirty="0" sz="2800" spc="-15">
                <a:latin typeface="Calibri"/>
                <a:cs typeface="Calibri"/>
              </a:rPr>
              <a:t>category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classification)</a:t>
            </a:r>
            <a:endParaRPr sz="2800">
              <a:latin typeface="Calibri"/>
              <a:cs typeface="Calibri"/>
            </a:endParaRPr>
          </a:p>
          <a:p>
            <a:pPr marL="332740" marR="615950" indent="-320040">
              <a:lnSpc>
                <a:spcPts val="3790"/>
              </a:lnSpc>
              <a:spcBef>
                <a:spcPts val="19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Are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these models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ready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be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deployed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in 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real</a:t>
            </a:r>
            <a:r>
              <a:rPr dirty="0" sz="3200" spc="-5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world?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93674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0">
                <a:latin typeface="Calibri"/>
                <a:cs typeface="Calibri"/>
              </a:rPr>
              <a:t>Deep </a:t>
            </a:r>
            <a:r>
              <a:rPr dirty="0" sz="3200" spc="-10" b="0">
                <a:latin typeface="Calibri"/>
                <a:cs typeface="Calibri"/>
              </a:rPr>
              <a:t>convolutional </a:t>
            </a:r>
            <a:r>
              <a:rPr dirty="0" sz="3200" spc="-15" b="0">
                <a:latin typeface="Calibri"/>
                <a:cs typeface="Calibri"/>
              </a:rPr>
              <a:t>neural networks </a:t>
            </a:r>
            <a:r>
              <a:rPr dirty="0" sz="3200" spc="-20" b="0">
                <a:latin typeface="Calibri"/>
                <a:cs typeface="Calibri"/>
              </a:rPr>
              <a:t>are  </a:t>
            </a:r>
            <a:r>
              <a:rPr dirty="0" sz="3200" spc="-10" b="0">
                <a:latin typeface="Calibri"/>
                <a:cs typeface="Calibri"/>
              </a:rPr>
              <a:t>vulnerable </a:t>
            </a:r>
            <a:r>
              <a:rPr dirty="0" sz="3200" spc="-15" b="0">
                <a:latin typeface="Calibri"/>
                <a:cs typeface="Calibri"/>
              </a:rPr>
              <a:t>to </a:t>
            </a:r>
            <a:r>
              <a:rPr dirty="0" sz="3200" spc="-10">
                <a:solidFill>
                  <a:srgbClr val="D60093"/>
                </a:solidFill>
              </a:rPr>
              <a:t>adversarial</a:t>
            </a:r>
            <a:r>
              <a:rPr dirty="0" sz="3200" spc="-15">
                <a:solidFill>
                  <a:srgbClr val="D60093"/>
                </a:solidFill>
              </a:rPr>
              <a:t> </a:t>
            </a:r>
            <a:r>
              <a:rPr dirty="0" sz="3200" spc="-20">
                <a:solidFill>
                  <a:srgbClr val="D60093"/>
                </a:solidFill>
              </a:rPr>
              <a:t>attacks: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782" y="2970664"/>
            <a:ext cx="5581718" cy="21161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8640" y="347472"/>
            <a:ext cx="5288280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5490" y="4289044"/>
            <a:ext cx="1537335" cy="7512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Adopted from  Goodfellow et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al.  ICLR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2015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63840" y="4580635"/>
            <a:ext cx="18040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Carefully-  calculated</a:t>
            </a:r>
            <a:r>
              <a:rPr dirty="0" sz="1800" spc="-7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noise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2238146"/>
            <a:ext cx="7301865" cy="1364615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48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Imperceptible </a:t>
            </a:r>
            <a:r>
              <a:rPr dirty="0" sz="2800" spc="-5">
                <a:latin typeface="Calibri"/>
                <a:cs typeface="Calibri"/>
              </a:rPr>
              <a:t>noise </a:t>
            </a:r>
            <a:r>
              <a:rPr dirty="0" sz="2800" spc="-10">
                <a:latin typeface="Calibri"/>
                <a:cs typeface="Calibri"/>
              </a:rPr>
              <a:t>changes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prediction.</a:t>
            </a:r>
            <a:endParaRPr sz="2800">
              <a:latin typeface="Calibri"/>
              <a:cs typeface="Calibri"/>
            </a:endParaRPr>
          </a:p>
          <a:p>
            <a:pPr marL="5906135" marR="5080">
              <a:lnSpc>
                <a:spcPct val="100000"/>
              </a:lnSpc>
              <a:spcBef>
                <a:spcPts val="985"/>
              </a:spcBef>
            </a:pPr>
            <a:r>
              <a:rPr dirty="0" sz="2000" spc="0" b="1">
                <a:solidFill>
                  <a:srgbClr val="D60093"/>
                </a:solidFill>
                <a:latin typeface="Arial"/>
                <a:cs typeface="Arial"/>
              </a:rPr>
              <a:t>A</a:t>
            </a:r>
            <a:r>
              <a:rPr dirty="0" sz="2000" b="1">
                <a:solidFill>
                  <a:srgbClr val="D60093"/>
                </a:solidFill>
                <a:latin typeface="Arial"/>
                <a:cs typeface="Arial"/>
              </a:rPr>
              <a:t>d</a:t>
            </a: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versar</a:t>
            </a:r>
            <a:r>
              <a:rPr dirty="0" sz="2000" spc="-10" b="1">
                <a:solidFill>
                  <a:srgbClr val="D60093"/>
                </a:solidFill>
                <a:latin typeface="Arial"/>
                <a:cs typeface="Arial"/>
              </a:rPr>
              <a:t>i</a:t>
            </a: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a</a:t>
            </a:r>
            <a:r>
              <a:rPr dirty="0" sz="2000" b="1">
                <a:solidFill>
                  <a:srgbClr val="D60093"/>
                </a:solidFill>
                <a:latin typeface="Arial"/>
                <a:cs typeface="Arial"/>
              </a:rPr>
              <a:t>l  </a:t>
            </a:r>
            <a:r>
              <a:rPr dirty="0" sz="2000" spc="-5" b="1">
                <a:solidFill>
                  <a:srgbClr val="D60093"/>
                </a:solidFill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4227" y="5249164"/>
            <a:ext cx="7646034" cy="1607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568960" marR="5080" indent="-320040">
              <a:lnSpc>
                <a:spcPct val="99600"/>
              </a:lnSpc>
              <a:spcBef>
                <a:spcPts val="11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569595" algn="l"/>
              </a:tabLst>
            </a:pPr>
            <a:r>
              <a:rPr dirty="0" sz="2800" spc="-15">
                <a:latin typeface="Calibri"/>
                <a:cs typeface="Calibri"/>
              </a:rPr>
              <a:t>Adversarial </a:t>
            </a:r>
            <a:r>
              <a:rPr dirty="0" sz="2800" spc="-20">
                <a:latin typeface="Calibri"/>
                <a:cs typeface="Calibri"/>
              </a:rPr>
              <a:t>examples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also </a:t>
            </a:r>
            <a:r>
              <a:rPr dirty="0" sz="2800" spc="-15">
                <a:latin typeface="Calibri"/>
                <a:cs typeface="Calibri"/>
              </a:rPr>
              <a:t>reported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20">
                <a:latin typeface="Calibri"/>
                <a:cs typeface="Calibri"/>
              </a:rPr>
              <a:t>natural  </a:t>
            </a:r>
            <a:r>
              <a:rPr dirty="0" sz="2800" spc="-10">
                <a:latin typeface="Calibri"/>
                <a:cs typeface="Calibri"/>
              </a:rPr>
              <a:t>language processing </a:t>
            </a:r>
            <a:r>
              <a:rPr dirty="0" sz="1600" spc="-5">
                <a:latin typeface="Calibri"/>
                <a:cs typeface="Calibri"/>
              </a:rPr>
              <a:t>[Jia </a:t>
            </a:r>
            <a:r>
              <a:rPr dirty="0" sz="1600">
                <a:latin typeface="Calibri"/>
                <a:cs typeface="Calibri"/>
              </a:rPr>
              <a:t>&amp; </a:t>
            </a:r>
            <a:r>
              <a:rPr dirty="0" sz="1600" spc="-5">
                <a:latin typeface="Calibri"/>
                <a:cs typeface="Calibri"/>
              </a:rPr>
              <a:t>Liang et al. EMNLP </a:t>
            </a:r>
            <a:r>
              <a:rPr dirty="0" sz="1600">
                <a:latin typeface="Calibri"/>
                <a:cs typeface="Calibri"/>
              </a:rPr>
              <a:t>2017] </a:t>
            </a:r>
            <a:r>
              <a:rPr dirty="0" sz="2800" spc="-5">
                <a:latin typeface="Calibri"/>
                <a:cs typeface="Calibri"/>
              </a:rPr>
              <a:t>and audio  </a:t>
            </a:r>
            <a:r>
              <a:rPr dirty="0" sz="2800" spc="-10">
                <a:latin typeface="Calibri"/>
                <a:cs typeface="Calibri"/>
              </a:rPr>
              <a:t>processing </a:t>
            </a:r>
            <a:r>
              <a:rPr dirty="0" sz="1600" spc="-5">
                <a:latin typeface="Calibri"/>
                <a:cs typeface="Calibri"/>
              </a:rPr>
              <a:t>[Carlini et al. </a:t>
            </a:r>
            <a:r>
              <a:rPr dirty="0" sz="1600">
                <a:latin typeface="Calibri"/>
                <a:cs typeface="Calibri"/>
              </a:rPr>
              <a:t>2018]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domains.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2131695" algn="l"/>
              </a:tabLst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3/4/21	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268224"/>
            <a:ext cx="8552688" cy="545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41234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0070C0"/>
                </a:solidFill>
              </a:rPr>
              <a:t>The </a:t>
            </a:r>
            <a:r>
              <a:rPr dirty="0" sz="3200" spc="-20">
                <a:solidFill>
                  <a:srgbClr val="0070C0"/>
                </a:solidFill>
              </a:rPr>
              <a:t>existence </a:t>
            </a:r>
            <a:r>
              <a:rPr dirty="0" sz="3200">
                <a:solidFill>
                  <a:srgbClr val="0070C0"/>
                </a:solidFill>
              </a:rPr>
              <a:t>of </a:t>
            </a:r>
            <a:r>
              <a:rPr dirty="0" sz="3200" spc="-10">
                <a:solidFill>
                  <a:srgbClr val="0070C0"/>
                </a:solidFill>
              </a:rPr>
              <a:t>adversarial </a:t>
            </a:r>
            <a:r>
              <a:rPr dirty="0" sz="3200" spc="-15">
                <a:solidFill>
                  <a:srgbClr val="0070C0"/>
                </a:solidFill>
              </a:rPr>
              <a:t>examples  </a:t>
            </a:r>
            <a:r>
              <a:rPr dirty="0" sz="3200" spc="-20">
                <a:solidFill>
                  <a:srgbClr val="0070C0"/>
                </a:solidFill>
              </a:rPr>
              <a:t>prevents </a:t>
            </a:r>
            <a:r>
              <a:rPr dirty="0" sz="3200" spc="-5">
                <a:solidFill>
                  <a:srgbClr val="0070C0"/>
                </a:solidFill>
              </a:rPr>
              <a:t>the </a:t>
            </a:r>
            <a:r>
              <a:rPr dirty="0" sz="3200" spc="-10">
                <a:solidFill>
                  <a:srgbClr val="0070C0"/>
                </a:solidFill>
              </a:rPr>
              <a:t>reliable deployment </a:t>
            </a:r>
            <a:r>
              <a:rPr dirty="0" sz="3200">
                <a:solidFill>
                  <a:srgbClr val="0070C0"/>
                </a:solidFill>
              </a:rPr>
              <a:t>of </a:t>
            </a:r>
            <a:r>
              <a:rPr dirty="0" sz="3200" spc="-5">
                <a:solidFill>
                  <a:srgbClr val="0070C0"/>
                </a:solidFill>
              </a:rPr>
              <a:t>deep  learning models </a:t>
            </a:r>
            <a:r>
              <a:rPr dirty="0" sz="3200" spc="-15">
                <a:solidFill>
                  <a:srgbClr val="0070C0"/>
                </a:solidFill>
              </a:rPr>
              <a:t>to </a:t>
            </a:r>
            <a:r>
              <a:rPr dirty="0" sz="3200" spc="-5">
                <a:solidFill>
                  <a:srgbClr val="0070C0"/>
                </a:solidFill>
              </a:rPr>
              <a:t>the </a:t>
            </a:r>
            <a:r>
              <a:rPr dirty="0" sz="3200" spc="-15">
                <a:solidFill>
                  <a:srgbClr val="0070C0"/>
                </a:solidFill>
              </a:rPr>
              <a:t>real</a:t>
            </a:r>
            <a:r>
              <a:rPr dirty="0" sz="3200" spc="10">
                <a:solidFill>
                  <a:srgbClr val="0070C0"/>
                </a:solidFill>
              </a:rPr>
              <a:t> </a:t>
            </a:r>
            <a:r>
              <a:rPr dirty="0" sz="3200" spc="-10">
                <a:solidFill>
                  <a:srgbClr val="0070C0"/>
                </a:solidFill>
              </a:rPr>
              <a:t>world</a:t>
            </a:r>
            <a:r>
              <a:rPr dirty="0" sz="3200" spc="-10" b="0">
                <a:solidFill>
                  <a:srgbClr val="0070C0"/>
                </a:solidFill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7789545" cy="32442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626745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Adversaries </a:t>
            </a:r>
            <a:r>
              <a:rPr dirty="0" sz="2800" spc="-20">
                <a:latin typeface="Calibri"/>
                <a:cs typeface="Calibri"/>
              </a:rPr>
              <a:t>may </a:t>
            </a:r>
            <a:r>
              <a:rPr dirty="0" sz="2800">
                <a:latin typeface="Calibri"/>
                <a:cs typeface="Calibri"/>
              </a:rPr>
              <a:t>try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actively </a:t>
            </a:r>
            <a:r>
              <a:rPr dirty="0" sz="2800" spc="-5">
                <a:latin typeface="Calibri"/>
                <a:cs typeface="Calibri"/>
              </a:rPr>
              <a:t>hack the deep  learning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models.</a:t>
            </a:r>
            <a:endParaRPr sz="2800">
              <a:latin typeface="Calibri"/>
              <a:cs typeface="Calibri"/>
            </a:endParaRPr>
          </a:p>
          <a:p>
            <a:pPr marL="625475" marR="508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model </a:t>
            </a:r>
            <a:r>
              <a:rPr dirty="0" sz="2800" spc="-10">
                <a:latin typeface="Calibri"/>
                <a:cs typeface="Calibri"/>
              </a:rPr>
              <a:t>performance can become </a:t>
            </a:r>
            <a:r>
              <a:rPr dirty="0" sz="2800">
                <a:latin typeface="Calibri"/>
                <a:cs typeface="Calibri"/>
              </a:rPr>
              <a:t>much </a:t>
            </a:r>
            <a:r>
              <a:rPr dirty="0" sz="2800" spc="-20">
                <a:latin typeface="Calibri"/>
                <a:cs typeface="Calibri"/>
              </a:rPr>
              <a:t>worse  </a:t>
            </a:r>
            <a:r>
              <a:rPr dirty="0" sz="2800" spc="-5">
                <a:latin typeface="Calibri"/>
                <a:cs typeface="Calibri"/>
              </a:rPr>
              <a:t>than </a:t>
            </a:r>
            <a:r>
              <a:rPr dirty="0" sz="2800" spc="-15">
                <a:latin typeface="Calibri"/>
                <a:cs typeface="Calibri"/>
              </a:rPr>
              <a:t>we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expect.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Deep learning models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are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often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not</a:t>
            </a:r>
            <a:r>
              <a:rPr dirty="0" sz="3200" spc="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robust.</a:t>
            </a:r>
            <a:endParaRPr sz="3200">
              <a:latin typeface="Calibri"/>
              <a:cs typeface="Calibri"/>
            </a:endParaRPr>
          </a:p>
          <a:p>
            <a:pPr lvl="1" marL="625475" marR="8890" indent="-274320">
              <a:lnSpc>
                <a:spcPct val="100699"/>
              </a:lnSpc>
              <a:spcBef>
                <a:spcPts val="64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5">
                <a:latin typeface="Calibri"/>
                <a:cs typeface="Calibri"/>
              </a:rPr>
              <a:t>fact, </a:t>
            </a:r>
            <a:r>
              <a:rPr dirty="0" sz="2800" spc="-5">
                <a:latin typeface="Calibri"/>
                <a:cs typeface="Calibri"/>
              </a:rPr>
              <a:t>it is an </a:t>
            </a:r>
            <a:r>
              <a:rPr dirty="0" sz="2800" spc="-10">
                <a:latin typeface="Calibri"/>
                <a:cs typeface="Calibri"/>
              </a:rPr>
              <a:t>active </a:t>
            </a:r>
            <a:r>
              <a:rPr dirty="0" sz="2800" spc="-15">
                <a:latin typeface="Calibri"/>
                <a:cs typeface="Calibri"/>
              </a:rPr>
              <a:t>area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research to </a:t>
            </a:r>
            <a:r>
              <a:rPr dirty="0" sz="2800" spc="-25">
                <a:latin typeface="Calibri"/>
                <a:cs typeface="Calibri"/>
              </a:rPr>
              <a:t>make  </a:t>
            </a:r>
            <a:r>
              <a:rPr dirty="0" sz="2800" spc="-5">
                <a:latin typeface="Calibri"/>
                <a:cs typeface="Calibri"/>
              </a:rPr>
              <a:t>these models </a:t>
            </a:r>
            <a:r>
              <a:rPr dirty="0" sz="2800" spc="-15">
                <a:latin typeface="Calibri"/>
                <a:cs typeface="Calibri"/>
              </a:rPr>
              <a:t>robust against adversarial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examples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3568" y="289559"/>
            <a:ext cx="4974336" cy="432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3295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D60093"/>
                </a:solidFill>
              </a:rPr>
              <a:t>This </a:t>
            </a:r>
            <a:r>
              <a:rPr dirty="0" sz="3200" spc="-10">
                <a:solidFill>
                  <a:srgbClr val="D60093"/>
                </a:solidFill>
              </a:rPr>
              <a:t>lecture: </a:t>
            </a:r>
            <a:r>
              <a:rPr dirty="0" sz="3200" spc="-5">
                <a:solidFill>
                  <a:srgbClr val="D60093"/>
                </a:solidFill>
              </a:rPr>
              <a:t>How about GNNs? </a:t>
            </a:r>
            <a:r>
              <a:rPr dirty="0" sz="3200" spc="-15">
                <a:solidFill>
                  <a:srgbClr val="D60093"/>
                </a:solidFill>
              </a:rPr>
              <a:t>Are </a:t>
            </a:r>
            <a:r>
              <a:rPr dirty="0" sz="3200" spc="-10">
                <a:solidFill>
                  <a:srgbClr val="D60093"/>
                </a:solidFill>
              </a:rPr>
              <a:t>they  </a:t>
            </a:r>
            <a:r>
              <a:rPr dirty="0" sz="3200" spc="-15">
                <a:solidFill>
                  <a:srgbClr val="D60093"/>
                </a:solidFill>
              </a:rPr>
              <a:t>robust to </a:t>
            </a:r>
            <a:r>
              <a:rPr dirty="0" sz="3200" spc="-10">
                <a:solidFill>
                  <a:srgbClr val="D60093"/>
                </a:solidFill>
              </a:rPr>
              <a:t>adversarial</a:t>
            </a:r>
            <a:r>
              <a:rPr dirty="0" sz="3200" spc="-45">
                <a:solidFill>
                  <a:srgbClr val="D60093"/>
                </a:solidFill>
              </a:rPr>
              <a:t> </a:t>
            </a:r>
            <a:r>
              <a:rPr dirty="0" sz="3200" spc="-15">
                <a:solidFill>
                  <a:srgbClr val="D60093"/>
                </a:solidFill>
              </a:rPr>
              <a:t>examples?</a:t>
            </a:r>
            <a:endParaRPr sz="3200"/>
          </a:p>
          <a:p>
            <a:pPr marL="332740" marR="17907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C00000"/>
                </a:solidFill>
              </a:rPr>
              <a:t>Premise</a:t>
            </a:r>
            <a:r>
              <a:rPr dirty="0" sz="3200" spc="-10" b="0">
                <a:latin typeface="Calibri"/>
                <a:cs typeface="Calibri"/>
              </a:rPr>
              <a:t>: </a:t>
            </a:r>
            <a:r>
              <a:rPr dirty="0" sz="3200" b="0">
                <a:latin typeface="Calibri"/>
                <a:cs typeface="Calibri"/>
              </a:rPr>
              <a:t>Common </a:t>
            </a:r>
            <a:r>
              <a:rPr dirty="0" sz="3200" spc="-5" b="0">
                <a:latin typeface="Calibri"/>
                <a:cs typeface="Calibri"/>
              </a:rPr>
              <a:t>applications </a:t>
            </a:r>
            <a:r>
              <a:rPr dirty="0" sz="3200" b="0">
                <a:latin typeface="Calibri"/>
                <a:cs typeface="Calibri"/>
              </a:rPr>
              <a:t>of </a:t>
            </a:r>
            <a:r>
              <a:rPr dirty="0" sz="3200" spc="-5" b="0">
                <a:latin typeface="Calibri"/>
                <a:cs typeface="Calibri"/>
              </a:rPr>
              <a:t>GNNs  </a:t>
            </a:r>
            <a:r>
              <a:rPr dirty="0" sz="3200" spc="-20" b="0">
                <a:latin typeface="Calibri"/>
                <a:cs typeface="Calibri"/>
              </a:rPr>
              <a:t>involve </a:t>
            </a:r>
            <a:r>
              <a:rPr dirty="0" sz="3200" spc="-5">
                <a:solidFill>
                  <a:srgbClr val="C00000"/>
                </a:solidFill>
              </a:rPr>
              <a:t>public </a:t>
            </a:r>
            <a:r>
              <a:rPr dirty="0" sz="3200" spc="-15">
                <a:solidFill>
                  <a:srgbClr val="C00000"/>
                </a:solidFill>
              </a:rPr>
              <a:t>platforms </a:t>
            </a:r>
            <a:r>
              <a:rPr dirty="0" sz="3200" b="0">
                <a:latin typeface="Calibri"/>
                <a:cs typeface="Calibri"/>
              </a:rPr>
              <a:t>and</a:t>
            </a:r>
            <a:r>
              <a:rPr dirty="0" sz="3200" spc="50" b="0"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C00000"/>
                </a:solidFill>
              </a:rPr>
              <a:t>monetary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212664"/>
            <a:ext cx="7863840" cy="364490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830"/>
              </a:spcBef>
            </a:pP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interests</a:t>
            </a:r>
            <a:r>
              <a:rPr dirty="0" sz="3200" spc="-2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Recommender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systems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Social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74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Search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engines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Adversaries 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incentive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manipulate 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input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graphs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hack GNNs’</a:t>
            </a:r>
            <a:r>
              <a:rPr dirty="0" sz="3200" spc="7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predictions.</a:t>
            </a:r>
            <a:endParaRPr sz="3200">
              <a:latin typeface="Calibri"/>
              <a:cs typeface="Calibri"/>
            </a:endParaRPr>
          </a:p>
          <a:p>
            <a:pPr marL="2068195">
              <a:lnSpc>
                <a:spcPct val="100000"/>
              </a:lnSpc>
              <a:spcBef>
                <a:spcPts val="304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2650" y="48259"/>
            <a:ext cx="5069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Zügner et al.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Adversarial Attacks on Neural Networks for Graph Data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KDD</a:t>
            </a:r>
            <a:r>
              <a:rPr dirty="0" sz="1200" spc="-6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68808"/>
            <a:ext cx="7711440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2199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45" b="0">
                <a:latin typeface="Calibri"/>
                <a:cs typeface="Calibri"/>
              </a:rPr>
              <a:t>To </a:t>
            </a:r>
            <a:r>
              <a:rPr dirty="0" sz="3200" spc="-10" b="0">
                <a:latin typeface="Calibri"/>
                <a:cs typeface="Calibri"/>
              </a:rPr>
              <a:t>study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15" b="0">
                <a:latin typeface="Calibri"/>
                <a:cs typeface="Calibri"/>
              </a:rPr>
              <a:t>robustness </a:t>
            </a:r>
            <a:r>
              <a:rPr dirty="0" sz="3200" spc="-5" b="0">
                <a:latin typeface="Calibri"/>
                <a:cs typeface="Calibri"/>
              </a:rPr>
              <a:t>of GNNs, </a:t>
            </a:r>
            <a:r>
              <a:rPr dirty="0" sz="3200" spc="-15" b="0">
                <a:latin typeface="Calibri"/>
                <a:cs typeface="Calibri"/>
              </a:rPr>
              <a:t>we  </a:t>
            </a:r>
            <a:r>
              <a:rPr dirty="0" sz="3200" spc="-5" b="0">
                <a:latin typeface="Calibri"/>
                <a:cs typeface="Calibri"/>
              </a:rPr>
              <a:t>specifically </a:t>
            </a:r>
            <a:r>
              <a:rPr dirty="0" sz="3200" spc="-10" b="0">
                <a:latin typeface="Calibri"/>
                <a:cs typeface="Calibri"/>
              </a:rPr>
              <a:t>consider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10" b="0">
                <a:latin typeface="Calibri"/>
                <a:cs typeface="Calibri"/>
              </a:rPr>
              <a:t>following</a:t>
            </a:r>
            <a:r>
              <a:rPr dirty="0" sz="3200" b="0">
                <a:latin typeface="Calibri"/>
                <a:cs typeface="Calibri"/>
              </a:rPr>
              <a:t> </a:t>
            </a:r>
            <a:r>
              <a:rPr dirty="0" sz="3200" spc="-10" b="0">
                <a:latin typeface="Calibri"/>
                <a:cs typeface="Calibri"/>
              </a:rPr>
              <a:t>setting: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2039" y="4174840"/>
            <a:ext cx="2791597" cy="19897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0675" y="4658359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7F7F7F"/>
                </a:solidFill>
                <a:latin typeface="Arial"/>
                <a:cs typeface="Arial"/>
              </a:rPr>
              <a:t>?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1721" y="4941823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7F7F7F"/>
                </a:solidFill>
                <a:latin typeface="Arial"/>
                <a:cs typeface="Arial"/>
              </a:rPr>
              <a:t>?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3859" y="5036311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7F7F7F"/>
                </a:solidFill>
                <a:latin typeface="Arial"/>
                <a:cs typeface="Arial"/>
              </a:rPr>
              <a:t>?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9289" y="5496559"/>
            <a:ext cx="515620" cy="57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150"/>
              </a:lnSpc>
              <a:spcBef>
                <a:spcPts val="100"/>
              </a:spcBef>
            </a:pPr>
            <a:r>
              <a:rPr dirty="0" sz="2100">
                <a:solidFill>
                  <a:srgbClr val="7F7F7F"/>
                </a:solidFill>
                <a:latin typeface="Arial"/>
                <a:cs typeface="Arial"/>
              </a:rPr>
              <a:t>?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150"/>
              </a:lnSpc>
            </a:pPr>
            <a:r>
              <a:rPr dirty="0" sz="2100">
                <a:solidFill>
                  <a:srgbClr val="7F7F7F"/>
                </a:solidFill>
                <a:latin typeface="Arial"/>
                <a:cs typeface="Arial"/>
              </a:rPr>
              <a:t>?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9186" y="4603496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7F7F7F"/>
                </a:solidFill>
                <a:latin typeface="Arial"/>
                <a:cs typeface="Arial"/>
              </a:rPr>
              <a:t>?</a:t>
            </a:r>
            <a:endParaRPr sz="2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6913" y="4387088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7F7F7F"/>
                </a:solidFill>
                <a:latin typeface="Arial"/>
                <a:cs typeface="Arial"/>
              </a:rPr>
              <a:t>?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85295" y="4138518"/>
            <a:ext cx="2791598" cy="19897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275464" y="4845466"/>
            <a:ext cx="937894" cy="727710"/>
          </a:xfrm>
          <a:custGeom>
            <a:avLst/>
            <a:gdLst/>
            <a:ahLst/>
            <a:cxnLst/>
            <a:rect l="l" t="t" r="r" b="b"/>
            <a:pathLst>
              <a:path w="937895" h="727710">
                <a:moveTo>
                  <a:pt x="573645" y="0"/>
                </a:moveTo>
                <a:lnTo>
                  <a:pt x="573645" y="181869"/>
                </a:lnTo>
                <a:lnTo>
                  <a:pt x="0" y="181869"/>
                </a:lnTo>
                <a:lnTo>
                  <a:pt x="0" y="545608"/>
                </a:lnTo>
                <a:lnTo>
                  <a:pt x="573645" y="545608"/>
                </a:lnTo>
                <a:lnTo>
                  <a:pt x="573645" y="727477"/>
                </a:lnTo>
                <a:lnTo>
                  <a:pt x="937383" y="363739"/>
                </a:lnTo>
                <a:lnTo>
                  <a:pt x="573645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6909" y="2332227"/>
            <a:ext cx="6391275" cy="19685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44640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Arial"/>
              <a:buChar char="▪"/>
              <a:tabLst>
                <a:tab pos="447040" algn="l"/>
              </a:tabLst>
            </a:pPr>
            <a:r>
              <a:rPr dirty="0" sz="2800" spc="-45" b="1">
                <a:solidFill>
                  <a:srgbClr val="D60093"/>
                </a:solidFill>
                <a:latin typeface="Calibri"/>
                <a:cs typeface="Calibri"/>
              </a:rPr>
              <a:t>Task</a:t>
            </a:r>
            <a:r>
              <a:rPr dirty="0" sz="2800" spc="-45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Semi-supervised node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44640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447040" algn="l"/>
              </a:tabLst>
            </a:pP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Model</a:t>
            </a:r>
            <a:r>
              <a:rPr dirty="0" sz="2800" spc="-5">
                <a:latin typeface="Calibri"/>
                <a:cs typeface="Calibri"/>
              </a:rPr>
              <a:t>: GCN </a:t>
            </a:r>
            <a:r>
              <a:rPr dirty="0" sz="2000" spc="-10">
                <a:latin typeface="Calibri"/>
                <a:cs typeface="Calibri"/>
              </a:rPr>
              <a:t>[Kipf </a:t>
            </a:r>
            <a:r>
              <a:rPr dirty="0" sz="2000">
                <a:latin typeface="Calibri"/>
                <a:cs typeface="Calibri"/>
              </a:rPr>
              <a:t>&amp; </a:t>
            </a:r>
            <a:r>
              <a:rPr dirty="0" sz="2000" spc="-15">
                <a:latin typeface="Calibri"/>
                <a:cs typeface="Calibri"/>
              </a:rPr>
              <a:t>Welling </a:t>
            </a:r>
            <a:r>
              <a:rPr dirty="0" sz="2000" spc="-5">
                <a:latin typeface="Calibri"/>
                <a:cs typeface="Calibri"/>
              </a:rPr>
              <a:t>ICLR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2017]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90"/>
              </a:lnSpc>
              <a:spcBef>
                <a:spcPts val="2500"/>
              </a:spcBef>
            </a:pPr>
            <a:r>
              <a:rPr dirty="0" sz="2000">
                <a:solidFill>
                  <a:srgbClr val="7F7F7F"/>
                </a:solidFill>
                <a:latin typeface="Arial"/>
                <a:cs typeface="Arial"/>
              </a:rPr>
              <a:t>?</a:t>
            </a:r>
            <a:r>
              <a:rPr dirty="0" sz="2000">
                <a:latin typeface="Arial"/>
                <a:cs typeface="Arial"/>
              </a:rPr>
              <a:t>: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Unlabeled</a:t>
            </a:r>
            <a:endParaRPr sz="2000">
              <a:latin typeface="Arial"/>
              <a:cs typeface="Arial"/>
            </a:endParaRPr>
          </a:p>
          <a:p>
            <a:pPr marL="2975610">
              <a:lnSpc>
                <a:spcPts val="2390"/>
              </a:lnSpc>
            </a:pPr>
            <a:r>
              <a:rPr dirty="0" sz="2000" spc="-5" b="1">
                <a:latin typeface="Arial"/>
                <a:cs typeface="Arial"/>
              </a:rPr>
              <a:t>Predict labels</a:t>
            </a:r>
            <a:r>
              <a:rPr dirty="0" sz="2000" spc="-1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3759992" y="4274820"/>
            <a:ext cx="20307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unlabeled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nodes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231952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537450" cy="492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5">
                <a:latin typeface="Calibri"/>
                <a:cs typeface="Calibri"/>
              </a:rPr>
              <a:t>We </a:t>
            </a:r>
            <a:r>
              <a:rPr dirty="0" sz="3200" spc="-30">
                <a:latin typeface="Calibri"/>
                <a:cs typeface="Calibri"/>
              </a:rPr>
              <a:t>ﬁrst </a:t>
            </a:r>
            <a:r>
              <a:rPr dirty="0" sz="3200" spc="-5">
                <a:latin typeface="Calibri"/>
                <a:cs typeface="Calibri"/>
              </a:rPr>
              <a:t>describe </a:t>
            </a:r>
            <a:r>
              <a:rPr dirty="0" sz="3200" spc="-20">
                <a:latin typeface="Calibri"/>
                <a:cs typeface="Calibri"/>
              </a:rPr>
              <a:t>several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real-world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adversarial </a:t>
            </a:r>
            <a:r>
              <a:rPr dirty="0" sz="3200" spc="-40" b="1">
                <a:solidFill>
                  <a:srgbClr val="C00000"/>
                </a:solidFill>
                <a:latin typeface="Calibri"/>
                <a:cs typeface="Calibri"/>
              </a:rPr>
              <a:t>aQack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 possibiliBes</a:t>
            </a:r>
            <a:r>
              <a:rPr dirty="0" sz="320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28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5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then </a:t>
            </a:r>
            <a:r>
              <a:rPr dirty="0" sz="3200" spc="-15">
                <a:latin typeface="Calibri"/>
                <a:cs typeface="Calibri"/>
              </a:rPr>
              <a:t>review </a:t>
            </a:r>
            <a:r>
              <a:rPr dirty="0" sz="3200" spc="-5">
                <a:latin typeface="Calibri"/>
                <a:cs typeface="Calibri"/>
              </a:rPr>
              <a:t>the GCN model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15">
                <a:latin typeface="Calibri"/>
                <a:cs typeface="Calibri"/>
              </a:rPr>
              <a:t>we are  </a:t>
            </a:r>
            <a:r>
              <a:rPr dirty="0" sz="3200" spc="-10">
                <a:latin typeface="Calibri"/>
                <a:cs typeface="Calibri"/>
              </a:rPr>
              <a:t>going </a:t>
            </a:r>
            <a:r>
              <a:rPr dirty="0" sz="3200" spc="-20">
                <a:latin typeface="Calibri"/>
                <a:cs typeface="Calibri"/>
              </a:rPr>
              <a:t>to </a:t>
            </a:r>
            <a:r>
              <a:rPr dirty="0" sz="3200" spc="-160">
                <a:latin typeface="Calibri"/>
                <a:cs typeface="Calibri"/>
              </a:rPr>
              <a:t>aMack </a:t>
            </a:r>
            <a:r>
              <a:rPr dirty="0" sz="3200" spc="-5">
                <a:latin typeface="Calibri"/>
                <a:cs typeface="Calibri"/>
              </a:rPr>
              <a:t>(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knowing the</a:t>
            </a:r>
            <a:r>
              <a:rPr dirty="0" sz="3200" spc="2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opponent</a:t>
            </a:r>
            <a:r>
              <a:rPr dirty="0" sz="3200" spc="-10">
                <a:latin typeface="Calibri"/>
                <a:cs typeface="Calibri"/>
              </a:rPr>
              <a:t>).</a:t>
            </a:r>
            <a:endParaRPr sz="3200">
              <a:latin typeface="Calibri"/>
              <a:cs typeface="Calibri"/>
            </a:endParaRPr>
          </a:p>
          <a:p>
            <a:pPr marL="332740" marR="573405" indent="-320040">
              <a:lnSpc>
                <a:spcPct val="101899"/>
              </a:lnSpc>
              <a:spcBef>
                <a:spcPts val="23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5">
                <a:latin typeface="Calibri"/>
                <a:cs typeface="Calibri"/>
              </a:rPr>
              <a:t>We </a:t>
            </a:r>
            <a:r>
              <a:rPr dirty="0" sz="3200" spc="-35">
                <a:latin typeface="Calibri"/>
                <a:cs typeface="Calibri"/>
              </a:rPr>
              <a:t>mathemaNcally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formalize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200" spc="-40" b="1">
                <a:solidFill>
                  <a:srgbClr val="0000FF"/>
                </a:solidFill>
                <a:latin typeface="Calibri"/>
                <a:cs typeface="Calibri"/>
              </a:rPr>
              <a:t>aQack 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problem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as an </a:t>
            </a:r>
            <a:r>
              <a:rPr dirty="0" sz="3200" spc="0" b="1">
                <a:solidFill>
                  <a:srgbClr val="0000FF"/>
                </a:solidFill>
                <a:latin typeface="Calibri"/>
                <a:cs typeface="Calibri"/>
              </a:rPr>
              <a:t>opBmizaBon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 problem.</a:t>
            </a:r>
            <a:endParaRPr sz="3200">
              <a:latin typeface="Calibri"/>
              <a:cs typeface="Calibri"/>
            </a:endParaRPr>
          </a:p>
          <a:p>
            <a:pPr marL="332740" marR="231775" indent="-320040">
              <a:lnSpc>
                <a:spcPct val="101899"/>
              </a:lnSpc>
              <a:spcBef>
                <a:spcPts val="24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>
                <a:solidFill>
                  <a:srgbClr val="008000"/>
                </a:solidFill>
                <a:latin typeface="Calibri"/>
                <a:cs typeface="Calibri"/>
              </a:rPr>
              <a:t>We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empirically see how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vulnerable </a:t>
            </a:r>
            <a:r>
              <a:rPr dirty="0" sz="3200" spc="-40" b="1">
                <a:solidFill>
                  <a:srgbClr val="008000"/>
                </a:solidFill>
                <a:latin typeface="Calibri"/>
                <a:cs typeface="Calibri"/>
              </a:rPr>
              <a:t>GCN’s 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predicBon is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adversarial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30" b="1">
                <a:solidFill>
                  <a:srgbClr val="008000"/>
                </a:solidFill>
                <a:latin typeface="Calibri"/>
                <a:cs typeface="Calibri"/>
              </a:rPr>
              <a:t>aQack.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65734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838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0">
                <a:latin typeface="Calibri"/>
                <a:cs typeface="Calibri"/>
              </a:rPr>
              <a:t>What </a:t>
            </a:r>
            <a:r>
              <a:rPr dirty="0" sz="3200" spc="-15" b="0">
                <a:latin typeface="Calibri"/>
                <a:cs typeface="Calibri"/>
              </a:rPr>
              <a:t>are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20" b="0">
                <a:latin typeface="Calibri"/>
                <a:cs typeface="Calibri"/>
              </a:rPr>
              <a:t>attack </a:t>
            </a:r>
            <a:r>
              <a:rPr dirty="0" sz="3200" spc="-5" b="0">
                <a:latin typeface="Calibri"/>
                <a:cs typeface="Calibri"/>
              </a:rPr>
              <a:t>possibilities </a:t>
            </a:r>
            <a:r>
              <a:rPr dirty="0" sz="3200" b="0">
                <a:latin typeface="Calibri"/>
                <a:cs typeface="Calibri"/>
              </a:rPr>
              <a:t>in </a:t>
            </a:r>
            <a:r>
              <a:rPr dirty="0" sz="3200" spc="-15" b="0">
                <a:latin typeface="Calibri"/>
                <a:cs typeface="Calibri"/>
              </a:rPr>
              <a:t>real</a:t>
            </a:r>
            <a:r>
              <a:rPr dirty="0" sz="3200" spc="75" b="0">
                <a:latin typeface="Calibri"/>
                <a:cs typeface="Calibri"/>
              </a:rPr>
              <a:t> </a:t>
            </a:r>
            <a:r>
              <a:rPr dirty="0" sz="3200" spc="-10" b="0">
                <a:latin typeface="Calibri"/>
                <a:cs typeface="Calibri"/>
              </a:rPr>
              <a:t>world?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200900" cy="13912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Target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𝑡 ∈ </a:t>
            </a:r>
            <a:r>
              <a:rPr dirty="0" sz="2800" spc="35">
                <a:solidFill>
                  <a:srgbClr val="C00000"/>
                </a:solidFill>
                <a:latin typeface="Cambria Math"/>
                <a:cs typeface="Cambria Math"/>
              </a:rPr>
              <a:t>𝑉</a:t>
            </a:r>
            <a:r>
              <a:rPr dirty="0" sz="2800" spc="35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node whose label </a:t>
            </a:r>
            <a:r>
              <a:rPr dirty="0" sz="2800" spc="-10">
                <a:latin typeface="Calibri"/>
                <a:cs typeface="Calibri"/>
              </a:rPr>
              <a:t>prediction 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want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change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30" b="1">
                <a:solidFill>
                  <a:srgbClr val="0000FF"/>
                </a:solidFill>
                <a:latin typeface="Calibri"/>
                <a:cs typeface="Calibri"/>
              </a:rPr>
              <a:t>Attacker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nodes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𝑆  ⊂ </a:t>
            </a:r>
            <a:r>
              <a:rPr dirty="0" sz="2800" spc="35">
                <a:solidFill>
                  <a:srgbClr val="0000FF"/>
                </a:solidFill>
                <a:latin typeface="Cambria Math"/>
                <a:cs typeface="Cambria Math"/>
              </a:rPr>
              <a:t>𝑉</a:t>
            </a:r>
            <a:r>
              <a:rPr dirty="0" sz="2800" spc="35" i="1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nodes the </a:t>
            </a:r>
            <a:r>
              <a:rPr dirty="0" sz="2800" spc="-30">
                <a:latin typeface="Calibri"/>
                <a:cs typeface="Calibri"/>
              </a:rPr>
              <a:t>attacker</a:t>
            </a:r>
            <a:r>
              <a:rPr dirty="0" sz="2800" spc="-229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0883" y="3292347"/>
            <a:ext cx="10369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modify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89025" y="3942162"/>
            <a:ext cx="2965947" cy="25426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30372" y="5925652"/>
            <a:ext cx="307340" cy="276860"/>
          </a:xfrm>
          <a:custGeom>
            <a:avLst/>
            <a:gdLst/>
            <a:ahLst/>
            <a:cxnLst/>
            <a:rect l="l" t="t" r="r" b="b"/>
            <a:pathLst>
              <a:path w="307339" h="276860">
                <a:moveTo>
                  <a:pt x="0" y="0"/>
                </a:moveTo>
                <a:lnTo>
                  <a:pt x="307240" y="0"/>
                </a:lnTo>
                <a:lnTo>
                  <a:pt x="307240" y="276398"/>
                </a:lnTo>
                <a:lnTo>
                  <a:pt x="0" y="27639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24022" y="5919302"/>
            <a:ext cx="320040" cy="289560"/>
          </a:xfrm>
          <a:custGeom>
            <a:avLst/>
            <a:gdLst/>
            <a:ahLst/>
            <a:cxnLst/>
            <a:rect l="l" t="t" r="r" b="b"/>
            <a:pathLst>
              <a:path w="320039" h="289560">
                <a:moveTo>
                  <a:pt x="317097" y="0"/>
                </a:moveTo>
                <a:lnTo>
                  <a:pt x="2843" y="0"/>
                </a:lnTo>
                <a:lnTo>
                  <a:pt x="0" y="2842"/>
                </a:lnTo>
                <a:lnTo>
                  <a:pt x="0" y="286255"/>
                </a:lnTo>
                <a:lnTo>
                  <a:pt x="2843" y="289098"/>
                </a:lnTo>
                <a:lnTo>
                  <a:pt x="317097" y="289098"/>
                </a:lnTo>
                <a:lnTo>
                  <a:pt x="319940" y="286255"/>
                </a:lnTo>
                <a:lnTo>
                  <a:pt x="319940" y="281478"/>
                </a:lnTo>
                <a:lnTo>
                  <a:pt x="7619" y="281478"/>
                </a:lnTo>
                <a:lnTo>
                  <a:pt x="7619" y="7619"/>
                </a:lnTo>
                <a:lnTo>
                  <a:pt x="319940" y="7619"/>
                </a:lnTo>
                <a:lnTo>
                  <a:pt x="319940" y="2842"/>
                </a:lnTo>
                <a:lnTo>
                  <a:pt x="317097" y="0"/>
                </a:lnTo>
                <a:close/>
              </a:path>
              <a:path w="320039" h="289560">
                <a:moveTo>
                  <a:pt x="319940" y="7619"/>
                </a:moveTo>
                <a:lnTo>
                  <a:pt x="312320" y="7619"/>
                </a:lnTo>
                <a:lnTo>
                  <a:pt x="312320" y="281478"/>
                </a:lnTo>
                <a:lnTo>
                  <a:pt x="319940" y="281478"/>
                </a:lnTo>
                <a:lnTo>
                  <a:pt x="319940" y="7619"/>
                </a:lnTo>
                <a:close/>
              </a:path>
              <a:path w="320039" h="289560">
                <a:moveTo>
                  <a:pt x="309780" y="10159"/>
                </a:moveTo>
                <a:lnTo>
                  <a:pt x="10159" y="10159"/>
                </a:lnTo>
                <a:lnTo>
                  <a:pt x="10159" y="278938"/>
                </a:lnTo>
                <a:lnTo>
                  <a:pt x="309780" y="278938"/>
                </a:lnTo>
                <a:lnTo>
                  <a:pt x="309780" y="276398"/>
                </a:lnTo>
                <a:lnTo>
                  <a:pt x="12700" y="276398"/>
                </a:lnTo>
                <a:lnTo>
                  <a:pt x="12700" y="12699"/>
                </a:lnTo>
                <a:lnTo>
                  <a:pt x="309780" y="12699"/>
                </a:lnTo>
                <a:lnTo>
                  <a:pt x="309780" y="10159"/>
                </a:lnTo>
                <a:close/>
              </a:path>
              <a:path w="320039" h="289560">
                <a:moveTo>
                  <a:pt x="309780" y="12699"/>
                </a:moveTo>
                <a:lnTo>
                  <a:pt x="307240" y="12699"/>
                </a:lnTo>
                <a:lnTo>
                  <a:pt x="307240" y="276398"/>
                </a:lnTo>
                <a:lnTo>
                  <a:pt x="309780" y="276398"/>
                </a:lnTo>
                <a:lnTo>
                  <a:pt x="309780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30386" y="6202044"/>
            <a:ext cx="307340" cy="276860"/>
          </a:xfrm>
          <a:custGeom>
            <a:avLst/>
            <a:gdLst/>
            <a:ahLst/>
            <a:cxnLst/>
            <a:rect l="l" t="t" r="r" b="b"/>
            <a:pathLst>
              <a:path w="307339" h="276860">
                <a:moveTo>
                  <a:pt x="0" y="0"/>
                </a:moveTo>
                <a:lnTo>
                  <a:pt x="307235" y="0"/>
                </a:lnTo>
                <a:lnTo>
                  <a:pt x="307235" y="276398"/>
                </a:lnTo>
                <a:lnTo>
                  <a:pt x="0" y="276398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24036" y="6195694"/>
            <a:ext cx="320040" cy="289560"/>
          </a:xfrm>
          <a:custGeom>
            <a:avLst/>
            <a:gdLst/>
            <a:ahLst/>
            <a:cxnLst/>
            <a:rect l="l" t="t" r="r" b="b"/>
            <a:pathLst>
              <a:path w="320039" h="289560">
                <a:moveTo>
                  <a:pt x="317092" y="0"/>
                </a:moveTo>
                <a:lnTo>
                  <a:pt x="2842" y="0"/>
                </a:lnTo>
                <a:lnTo>
                  <a:pt x="0" y="2843"/>
                </a:lnTo>
                <a:lnTo>
                  <a:pt x="0" y="286255"/>
                </a:lnTo>
                <a:lnTo>
                  <a:pt x="2842" y="289098"/>
                </a:lnTo>
                <a:lnTo>
                  <a:pt x="317092" y="289098"/>
                </a:lnTo>
                <a:lnTo>
                  <a:pt x="319935" y="286255"/>
                </a:lnTo>
                <a:lnTo>
                  <a:pt x="319935" y="281478"/>
                </a:lnTo>
                <a:lnTo>
                  <a:pt x="7620" y="281478"/>
                </a:lnTo>
                <a:lnTo>
                  <a:pt x="7620" y="7619"/>
                </a:lnTo>
                <a:lnTo>
                  <a:pt x="319935" y="7619"/>
                </a:lnTo>
                <a:lnTo>
                  <a:pt x="319935" y="2843"/>
                </a:lnTo>
                <a:lnTo>
                  <a:pt x="317092" y="0"/>
                </a:lnTo>
                <a:close/>
              </a:path>
              <a:path w="320039" h="289560">
                <a:moveTo>
                  <a:pt x="319935" y="7619"/>
                </a:moveTo>
                <a:lnTo>
                  <a:pt x="312315" y="7619"/>
                </a:lnTo>
                <a:lnTo>
                  <a:pt x="312315" y="281478"/>
                </a:lnTo>
                <a:lnTo>
                  <a:pt x="319935" y="281478"/>
                </a:lnTo>
                <a:lnTo>
                  <a:pt x="319935" y="7619"/>
                </a:lnTo>
                <a:close/>
              </a:path>
              <a:path w="320039" h="289560">
                <a:moveTo>
                  <a:pt x="309775" y="10159"/>
                </a:moveTo>
                <a:lnTo>
                  <a:pt x="10160" y="10159"/>
                </a:lnTo>
                <a:lnTo>
                  <a:pt x="10160" y="278938"/>
                </a:lnTo>
                <a:lnTo>
                  <a:pt x="309775" y="278938"/>
                </a:lnTo>
                <a:lnTo>
                  <a:pt x="309775" y="276398"/>
                </a:lnTo>
                <a:lnTo>
                  <a:pt x="12700" y="276398"/>
                </a:lnTo>
                <a:lnTo>
                  <a:pt x="12700" y="12699"/>
                </a:lnTo>
                <a:lnTo>
                  <a:pt x="309775" y="12699"/>
                </a:lnTo>
                <a:lnTo>
                  <a:pt x="309775" y="10159"/>
                </a:lnTo>
                <a:close/>
              </a:path>
              <a:path w="320039" h="289560">
                <a:moveTo>
                  <a:pt x="309775" y="12699"/>
                </a:moveTo>
                <a:lnTo>
                  <a:pt x="307235" y="12699"/>
                </a:lnTo>
                <a:lnTo>
                  <a:pt x="307235" y="276398"/>
                </a:lnTo>
                <a:lnTo>
                  <a:pt x="309775" y="276398"/>
                </a:lnTo>
                <a:lnTo>
                  <a:pt x="309775" y="1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27385" y="4309364"/>
            <a:ext cx="1549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Attacker</a:t>
            </a:r>
            <a:r>
              <a:rPr dirty="0" sz="1800" spc="-8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3505444" y="3571747"/>
            <a:ext cx="1316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Target</a:t>
            </a:r>
            <a:r>
              <a:rPr dirty="0" sz="1800" spc="-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0163" y="4065523"/>
            <a:ext cx="1549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Attacker</a:t>
            </a:r>
            <a:r>
              <a:rPr dirty="0" sz="1800" spc="-8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65759"/>
            <a:ext cx="7476744" cy="387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970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0000FF"/>
                </a:solidFill>
              </a:rPr>
              <a:t>Direct </a:t>
            </a:r>
            <a:r>
              <a:rPr dirty="0" sz="3200" spc="-30">
                <a:solidFill>
                  <a:srgbClr val="0000FF"/>
                </a:solidFill>
              </a:rPr>
              <a:t>Attack: </a:t>
            </a:r>
            <a:r>
              <a:rPr dirty="0" sz="3200" spc="-35">
                <a:solidFill>
                  <a:srgbClr val="0000FF"/>
                </a:solidFill>
              </a:rPr>
              <a:t>Attacker </a:t>
            </a:r>
            <a:r>
              <a:rPr dirty="0" sz="3200" spc="-5"/>
              <a:t>node </a:t>
            </a:r>
            <a:r>
              <a:rPr dirty="0" sz="3200"/>
              <a:t>is </a:t>
            </a:r>
            <a:r>
              <a:rPr dirty="0" sz="3200" spc="-5"/>
              <a:t>the</a:t>
            </a:r>
            <a:r>
              <a:rPr dirty="0" sz="3200" spc="60"/>
              <a:t> </a:t>
            </a:r>
            <a:r>
              <a:rPr dirty="0" sz="3200" spc="-25">
                <a:solidFill>
                  <a:srgbClr val="C00000"/>
                </a:solidFill>
              </a:rPr>
              <a:t>target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2789356" y="1945187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325428" y="0"/>
                </a:moveTo>
                <a:lnTo>
                  <a:pt x="320269" y="0"/>
                </a:lnTo>
                <a:lnTo>
                  <a:pt x="320269" y="15081"/>
                </a:lnTo>
                <a:lnTo>
                  <a:pt x="323246" y="15081"/>
                </a:lnTo>
                <a:lnTo>
                  <a:pt x="336852" y="16017"/>
                </a:lnTo>
                <a:lnTo>
                  <a:pt x="375410" y="38775"/>
                </a:lnTo>
                <a:lnTo>
                  <a:pt x="384563" y="79573"/>
                </a:lnTo>
                <a:lnTo>
                  <a:pt x="384315" y="86927"/>
                </a:lnTo>
                <a:lnTo>
                  <a:pt x="383571" y="95100"/>
                </a:lnTo>
                <a:lnTo>
                  <a:pt x="382331" y="104092"/>
                </a:lnTo>
                <a:lnTo>
                  <a:pt x="380594" y="113902"/>
                </a:lnTo>
                <a:lnTo>
                  <a:pt x="378858" y="123390"/>
                </a:lnTo>
                <a:lnTo>
                  <a:pt x="377617" y="131414"/>
                </a:lnTo>
                <a:lnTo>
                  <a:pt x="376874" y="137975"/>
                </a:lnTo>
                <a:lnTo>
                  <a:pt x="376626" y="143073"/>
                </a:lnTo>
                <a:lnTo>
                  <a:pt x="377246" y="151128"/>
                </a:lnTo>
                <a:lnTo>
                  <a:pt x="403551" y="183796"/>
                </a:lnTo>
                <a:lnTo>
                  <a:pt x="410161" y="186729"/>
                </a:lnTo>
                <a:lnTo>
                  <a:pt x="410161" y="190300"/>
                </a:lnTo>
                <a:lnTo>
                  <a:pt x="379106" y="218603"/>
                </a:lnTo>
                <a:lnTo>
                  <a:pt x="376626" y="233956"/>
                </a:lnTo>
                <a:lnTo>
                  <a:pt x="376874" y="239054"/>
                </a:lnTo>
                <a:lnTo>
                  <a:pt x="377617" y="245615"/>
                </a:lnTo>
                <a:lnTo>
                  <a:pt x="378858" y="253639"/>
                </a:lnTo>
                <a:lnTo>
                  <a:pt x="380594" y="263127"/>
                </a:lnTo>
                <a:lnTo>
                  <a:pt x="382331" y="272937"/>
                </a:lnTo>
                <a:lnTo>
                  <a:pt x="383571" y="281929"/>
                </a:lnTo>
                <a:lnTo>
                  <a:pt x="384315" y="290102"/>
                </a:lnTo>
                <a:lnTo>
                  <a:pt x="384563" y="297456"/>
                </a:lnTo>
                <a:lnTo>
                  <a:pt x="383546" y="314107"/>
                </a:lnTo>
                <a:lnTo>
                  <a:pt x="359374" y="354911"/>
                </a:lnTo>
                <a:lnTo>
                  <a:pt x="323246" y="363338"/>
                </a:lnTo>
                <a:lnTo>
                  <a:pt x="320269" y="363338"/>
                </a:lnTo>
                <a:lnTo>
                  <a:pt x="320269" y="378419"/>
                </a:lnTo>
                <a:lnTo>
                  <a:pt x="325428" y="378419"/>
                </a:lnTo>
                <a:lnTo>
                  <a:pt x="347275" y="376788"/>
                </a:lnTo>
                <a:lnTo>
                  <a:pt x="395179" y="357088"/>
                </a:lnTo>
                <a:lnTo>
                  <a:pt x="416852" y="313834"/>
                </a:lnTo>
                <a:lnTo>
                  <a:pt x="418297" y="293885"/>
                </a:lnTo>
                <a:lnTo>
                  <a:pt x="418005" y="285365"/>
                </a:lnTo>
                <a:lnTo>
                  <a:pt x="417131" y="276274"/>
                </a:lnTo>
                <a:lnTo>
                  <a:pt x="415674" y="266612"/>
                </a:lnTo>
                <a:lnTo>
                  <a:pt x="413635" y="256381"/>
                </a:lnTo>
                <a:lnTo>
                  <a:pt x="411594" y="246731"/>
                </a:lnTo>
                <a:lnTo>
                  <a:pt x="410137" y="238819"/>
                </a:lnTo>
                <a:lnTo>
                  <a:pt x="409263" y="232642"/>
                </a:lnTo>
                <a:lnTo>
                  <a:pt x="408971" y="228202"/>
                </a:lnTo>
                <a:lnTo>
                  <a:pt x="408971" y="219075"/>
                </a:lnTo>
                <a:lnTo>
                  <a:pt x="446872" y="196650"/>
                </a:lnTo>
                <a:lnTo>
                  <a:pt x="446872" y="180379"/>
                </a:lnTo>
                <a:lnTo>
                  <a:pt x="408971" y="157956"/>
                </a:lnTo>
                <a:lnTo>
                  <a:pt x="408971" y="148827"/>
                </a:lnTo>
                <a:lnTo>
                  <a:pt x="409263" y="144387"/>
                </a:lnTo>
                <a:lnTo>
                  <a:pt x="410180" y="137975"/>
                </a:lnTo>
                <a:lnTo>
                  <a:pt x="411594" y="130298"/>
                </a:lnTo>
                <a:lnTo>
                  <a:pt x="413635" y="120650"/>
                </a:lnTo>
                <a:lnTo>
                  <a:pt x="415674" y="110417"/>
                </a:lnTo>
                <a:lnTo>
                  <a:pt x="417131" y="100756"/>
                </a:lnTo>
                <a:lnTo>
                  <a:pt x="418005" y="91664"/>
                </a:lnTo>
                <a:lnTo>
                  <a:pt x="418297" y="83144"/>
                </a:lnTo>
                <a:lnTo>
                  <a:pt x="416852" y="63803"/>
                </a:lnTo>
                <a:lnTo>
                  <a:pt x="395179" y="21332"/>
                </a:lnTo>
                <a:lnTo>
                  <a:pt x="347275" y="1630"/>
                </a:lnTo>
                <a:lnTo>
                  <a:pt x="325428" y="0"/>
                </a:lnTo>
                <a:close/>
              </a:path>
              <a:path w="447039" h="378460">
                <a:moveTo>
                  <a:pt x="126602" y="0"/>
                </a:moveTo>
                <a:lnTo>
                  <a:pt x="121443" y="0"/>
                </a:lnTo>
                <a:lnTo>
                  <a:pt x="99596" y="1630"/>
                </a:lnTo>
                <a:lnTo>
                  <a:pt x="51692" y="21332"/>
                </a:lnTo>
                <a:lnTo>
                  <a:pt x="30019" y="63691"/>
                </a:lnTo>
                <a:lnTo>
                  <a:pt x="28575" y="82946"/>
                </a:lnTo>
                <a:lnTo>
                  <a:pt x="28866" y="91466"/>
                </a:lnTo>
                <a:lnTo>
                  <a:pt x="29740" y="100557"/>
                </a:lnTo>
                <a:lnTo>
                  <a:pt x="31198" y="110219"/>
                </a:lnTo>
                <a:lnTo>
                  <a:pt x="33238" y="120450"/>
                </a:lnTo>
                <a:lnTo>
                  <a:pt x="35277" y="130099"/>
                </a:lnTo>
                <a:lnTo>
                  <a:pt x="36734" y="138012"/>
                </a:lnTo>
                <a:lnTo>
                  <a:pt x="37609" y="144189"/>
                </a:lnTo>
                <a:lnTo>
                  <a:pt x="37900" y="148629"/>
                </a:lnTo>
                <a:lnTo>
                  <a:pt x="37900" y="157756"/>
                </a:lnTo>
                <a:lnTo>
                  <a:pt x="0" y="180181"/>
                </a:lnTo>
                <a:lnTo>
                  <a:pt x="0" y="196452"/>
                </a:lnTo>
                <a:lnTo>
                  <a:pt x="37900" y="218875"/>
                </a:lnTo>
                <a:lnTo>
                  <a:pt x="37900" y="228004"/>
                </a:lnTo>
                <a:lnTo>
                  <a:pt x="37609" y="232444"/>
                </a:lnTo>
                <a:lnTo>
                  <a:pt x="36691" y="238856"/>
                </a:lnTo>
                <a:lnTo>
                  <a:pt x="35277" y="246533"/>
                </a:lnTo>
                <a:lnTo>
                  <a:pt x="33238" y="256181"/>
                </a:lnTo>
                <a:lnTo>
                  <a:pt x="31198" y="266414"/>
                </a:lnTo>
                <a:lnTo>
                  <a:pt x="29740" y="276075"/>
                </a:lnTo>
                <a:lnTo>
                  <a:pt x="28866" y="285166"/>
                </a:lnTo>
                <a:lnTo>
                  <a:pt x="28575" y="293687"/>
                </a:lnTo>
                <a:lnTo>
                  <a:pt x="30019" y="313723"/>
                </a:lnTo>
                <a:lnTo>
                  <a:pt x="51692" y="357088"/>
                </a:lnTo>
                <a:lnTo>
                  <a:pt x="99596" y="376788"/>
                </a:lnTo>
                <a:lnTo>
                  <a:pt x="121443" y="378419"/>
                </a:lnTo>
                <a:lnTo>
                  <a:pt x="126602" y="378419"/>
                </a:lnTo>
                <a:lnTo>
                  <a:pt x="126602" y="363338"/>
                </a:lnTo>
                <a:lnTo>
                  <a:pt x="123625" y="363338"/>
                </a:lnTo>
                <a:lnTo>
                  <a:pt x="110020" y="362401"/>
                </a:lnTo>
                <a:lnTo>
                  <a:pt x="71462" y="339544"/>
                </a:lnTo>
                <a:lnTo>
                  <a:pt x="62308" y="297258"/>
                </a:lnTo>
                <a:lnTo>
                  <a:pt x="62556" y="289903"/>
                </a:lnTo>
                <a:lnTo>
                  <a:pt x="63301" y="281730"/>
                </a:lnTo>
                <a:lnTo>
                  <a:pt x="64541" y="272739"/>
                </a:lnTo>
                <a:lnTo>
                  <a:pt x="66277" y="262929"/>
                </a:lnTo>
                <a:lnTo>
                  <a:pt x="68013" y="253441"/>
                </a:lnTo>
                <a:lnTo>
                  <a:pt x="69253" y="245417"/>
                </a:lnTo>
                <a:lnTo>
                  <a:pt x="69998" y="238856"/>
                </a:lnTo>
                <a:lnTo>
                  <a:pt x="70246" y="233758"/>
                </a:lnTo>
                <a:lnTo>
                  <a:pt x="69626" y="225703"/>
                </a:lnTo>
                <a:lnTo>
                  <a:pt x="43320" y="193035"/>
                </a:lnTo>
                <a:lnTo>
                  <a:pt x="36710" y="190102"/>
                </a:lnTo>
                <a:lnTo>
                  <a:pt x="36710" y="186531"/>
                </a:lnTo>
                <a:lnTo>
                  <a:pt x="67765" y="158228"/>
                </a:lnTo>
                <a:lnTo>
                  <a:pt x="70246" y="142875"/>
                </a:lnTo>
                <a:lnTo>
                  <a:pt x="69998" y="137777"/>
                </a:lnTo>
                <a:lnTo>
                  <a:pt x="69253" y="131216"/>
                </a:lnTo>
                <a:lnTo>
                  <a:pt x="68013" y="123192"/>
                </a:lnTo>
                <a:lnTo>
                  <a:pt x="66277" y="113704"/>
                </a:lnTo>
                <a:lnTo>
                  <a:pt x="64541" y="103894"/>
                </a:lnTo>
                <a:lnTo>
                  <a:pt x="63301" y="94902"/>
                </a:lnTo>
                <a:lnTo>
                  <a:pt x="62556" y="86729"/>
                </a:lnTo>
                <a:lnTo>
                  <a:pt x="62308" y="79375"/>
                </a:lnTo>
                <a:lnTo>
                  <a:pt x="63325" y="63419"/>
                </a:lnTo>
                <a:lnTo>
                  <a:pt x="87498" y="23508"/>
                </a:lnTo>
                <a:lnTo>
                  <a:pt x="123625" y="15081"/>
                </a:lnTo>
                <a:lnTo>
                  <a:pt x="126602" y="15081"/>
                </a:lnTo>
                <a:lnTo>
                  <a:pt x="1266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830324"/>
            <a:ext cx="5763895" cy="4493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00"/>
              </a:spcBef>
              <a:tabLst>
                <a:tab pos="2309495" algn="l"/>
              </a:tabLst>
            </a:pPr>
            <a:r>
              <a:rPr dirty="0" sz="3200" spc="-5" b="1">
                <a:latin typeface="Calibri"/>
                <a:cs typeface="Calibri"/>
              </a:rPr>
              <a:t>node</a:t>
            </a:r>
            <a:r>
              <a:rPr dirty="0" sz="3200" spc="-5">
                <a:latin typeface="Calibri"/>
                <a:cs typeface="Calibri"/>
              </a:rPr>
              <a:t>: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64BE"/>
                </a:solidFill>
                <a:latin typeface="Cambria Math"/>
                <a:cs typeface="Cambria Math"/>
              </a:rPr>
              <a:t>𝑺</a:t>
            </a:r>
            <a:r>
              <a:rPr dirty="0" sz="3200" spc="175">
                <a:solidFill>
                  <a:srgbClr val="0064BE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	</a:t>
            </a:r>
            <a:r>
              <a:rPr dirty="0" sz="3200">
                <a:solidFill>
                  <a:srgbClr val="FF0000"/>
                </a:solidFill>
                <a:latin typeface="Cambria Math"/>
                <a:cs typeface="Cambria Math"/>
              </a:rPr>
              <a:t>𝒕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Modify 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target </a:t>
            </a:r>
            <a:r>
              <a:rPr dirty="0" sz="3200" spc="-5">
                <a:latin typeface="Calibri"/>
                <a:cs typeface="Calibri"/>
              </a:rPr>
              <a:t>node</a:t>
            </a:r>
            <a:r>
              <a:rPr dirty="0" sz="3200" spc="-25">
                <a:latin typeface="Calibri"/>
                <a:cs typeface="Calibri"/>
              </a:rPr>
              <a:t> feature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Ex) </a:t>
            </a:r>
            <a:r>
              <a:rPr dirty="0" sz="2800" spc="-10">
                <a:latin typeface="Calibri"/>
                <a:cs typeface="Calibri"/>
              </a:rPr>
              <a:t>Change </a:t>
            </a:r>
            <a:r>
              <a:rPr dirty="0" sz="2800" spc="-15">
                <a:latin typeface="Calibri"/>
                <a:cs typeface="Calibri"/>
              </a:rPr>
              <a:t>website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content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60B5CC"/>
              </a:buClr>
              <a:buFont typeface="Arial"/>
              <a:buChar char="▪"/>
            </a:pPr>
            <a:endParaRPr sz="3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Add connections </a:t>
            </a:r>
            <a:r>
              <a:rPr dirty="0" sz="3200" spc="-15">
                <a:latin typeface="Calibri"/>
                <a:cs typeface="Calibri"/>
              </a:rPr>
              <a:t>to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target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Ex) </a:t>
            </a:r>
            <a:r>
              <a:rPr dirty="0" sz="2800">
                <a:latin typeface="Calibri"/>
                <a:cs typeface="Calibri"/>
              </a:rPr>
              <a:t>Buy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likes/followers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60B5CC"/>
              </a:buClr>
              <a:buFont typeface="Arial"/>
              <a:buChar char="▪"/>
            </a:pPr>
            <a:endParaRPr sz="3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Remove </a:t>
            </a:r>
            <a:r>
              <a:rPr dirty="0" sz="3200" spc="-5">
                <a:latin typeface="Calibri"/>
                <a:cs typeface="Calibri"/>
              </a:rPr>
              <a:t>connections </a:t>
            </a:r>
            <a:r>
              <a:rPr dirty="0" sz="3200" spc="-20">
                <a:latin typeface="Calibri"/>
                <a:cs typeface="Calibri"/>
              </a:rPr>
              <a:t>from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target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Ex) </a:t>
            </a:r>
            <a:r>
              <a:rPr dirty="0" sz="2800" spc="-15">
                <a:latin typeface="Calibri"/>
                <a:cs typeface="Calibri"/>
              </a:rPr>
              <a:t>Unfollow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users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79384" y="2287972"/>
            <a:ext cx="104775" cy="331470"/>
          </a:xfrm>
          <a:custGeom>
            <a:avLst/>
            <a:gdLst/>
            <a:ahLst/>
            <a:cxnLst/>
            <a:rect l="l" t="t" r="r" b="b"/>
            <a:pathLst>
              <a:path w="104775" h="331469">
                <a:moveTo>
                  <a:pt x="104569" y="0"/>
                </a:moveTo>
                <a:lnTo>
                  <a:pt x="0" y="33123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25526" y="2670550"/>
            <a:ext cx="278765" cy="269875"/>
          </a:xfrm>
          <a:custGeom>
            <a:avLst/>
            <a:gdLst/>
            <a:ahLst/>
            <a:cxnLst/>
            <a:rect l="l" t="t" r="r" b="b"/>
            <a:pathLst>
              <a:path w="278765" h="269875">
                <a:moveTo>
                  <a:pt x="139278" y="0"/>
                </a:moveTo>
                <a:lnTo>
                  <a:pt x="95255" y="6872"/>
                </a:lnTo>
                <a:lnTo>
                  <a:pt x="57022" y="26009"/>
                </a:lnTo>
                <a:lnTo>
                  <a:pt x="26872" y="55189"/>
                </a:lnTo>
                <a:lnTo>
                  <a:pt x="7100" y="92194"/>
                </a:lnTo>
                <a:lnTo>
                  <a:pt x="0" y="134802"/>
                </a:lnTo>
                <a:lnTo>
                  <a:pt x="7100" y="177410"/>
                </a:lnTo>
                <a:lnTo>
                  <a:pt x="26872" y="214414"/>
                </a:lnTo>
                <a:lnTo>
                  <a:pt x="57022" y="243595"/>
                </a:lnTo>
                <a:lnTo>
                  <a:pt x="95255" y="262732"/>
                </a:lnTo>
                <a:lnTo>
                  <a:pt x="139278" y="269604"/>
                </a:lnTo>
                <a:lnTo>
                  <a:pt x="183300" y="262732"/>
                </a:lnTo>
                <a:lnTo>
                  <a:pt x="221533" y="243595"/>
                </a:lnTo>
                <a:lnTo>
                  <a:pt x="251682" y="214414"/>
                </a:lnTo>
                <a:lnTo>
                  <a:pt x="271454" y="177410"/>
                </a:lnTo>
                <a:lnTo>
                  <a:pt x="278555" y="134802"/>
                </a:lnTo>
                <a:lnTo>
                  <a:pt x="271454" y="92194"/>
                </a:lnTo>
                <a:lnTo>
                  <a:pt x="251682" y="55189"/>
                </a:lnTo>
                <a:lnTo>
                  <a:pt x="221533" y="26009"/>
                </a:lnTo>
                <a:lnTo>
                  <a:pt x="183300" y="6872"/>
                </a:lnTo>
                <a:lnTo>
                  <a:pt x="139278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87649" y="2121409"/>
            <a:ext cx="278765" cy="269875"/>
          </a:xfrm>
          <a:custGeom>
            <a:avLst/>
            <a:gdLst/>
            <a:ahLst/>
            <a:cxnLst/>
            <a:rect l="l" t="t" r="r" b="b"/>
            <a:pathLst>
              <a:path w="278765" h="269875">
                <a:moveTo>
                  <a:pt x="139278" y="0"/>
                </a:moveTo>
                <a:lnTo>
                  <a:pt x="95255" y="6872"/>
                </a:lnTo>
                <a:lnTo>
                  <a:pt x="57022" y="26008"/>
                </a:lnTo>
                <a:lnTo>
                  <a:pt x="26872" y="55189"/>
                </a:lnTo>
                <a:lnTo>
                  <a:pt x="7100" y="92193"/>
                </a:lnTo>
                <a:lnTo>
                  <a:pt x="0" y="134801"/>
                </a:lnTo>
                <a:lnTo>
                  <a:pt x="7100" y="177409"/>
                </a:lnTo>
                <a:lnTo>
                  <a:pt x="26872" y="214414"/>
                </a:lnTo>
                <a:lnTo>
                  <a:pt x="57022" y="243595"/>
                </a:lnTo>
                <a:lnTo>
                  <a:pt x="95255" y="262732"/>
                </a:lnTo>
                <a:lnTo>
                  <a:pt x="139278" y="269604"/>
                </a:lnTo>
                <a:lnTo>
                  <a:pt x="183300" y="262732"/>
                </a:lnTo>
                <a:lnTo>
                  <a:pt x="221533" y="243595"/>
                </a:lnTo>
                <a:lnTo>
                  <a:pt x="251682" y="214414"/>
                </a:lnTo>
                <a:lnTo>
                  <a:pt x="271454" y="177409"/>
                </a:lnTo>
                <a:lnTo>
                  <a:pt x="278555" y="134801"/>
                </a:lnTo>
                <a:lnTo>
                  <a:pt x="271454" y="92193"/>
                </a:lnTo>
                <a:lnTo>
                  <a:pt x="251682" y="55189"/>
                </a:lnTo>
                <a:lnTo>
                  <a:pt x="221533" y="26008"/>
                </a:lnTo>
                <a:lnTo>
                  <a:pt x="183300" y="6872"/>
                </a:lnTo>
                <a:lnTo>
                  <a:pt x="139278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25858" y="2536341"/>
            <a:ext cx="278765" cy="269875"/>
          </a:xfrm>
          <a:custGeom>
            <a:avLst/>
            <a:gdLst/>
            <a:ahLst/>
            <a:cxnLst/>
            <a:rect l="l" t="t" r="r" b="b"/>
            <a:pathLst>
              <a:path w="278765" h="269875">
                <a:moveTo>
                  <a:pt x="139278" y="0"/>
                </a:moveTo>
                <a:lnTo>
                  <a:pt x="95255" y="6872"/>
                </a:lnTo>
                <a:lnTo>
                  <a:pt x="57022" y="26009"/>
                </a:lnTo>
                <a:lnTo>
                  <a:pt x="26872" y="55189"/>
                </a:lnTo>
                <a:lnTo>
                  <a:pt x="7100" y="92194"/>
                </a:lnTo>
                <a:lnTo>
                  <a:pt x="0" y="134802"/>
                </a:lnTo>
                <a:lnTo>
                  <a:pt x="7100" y="177410"/>
                </a:lnTo>
                <a:lnTo>
                  <a:pt x="26872" y="214414"/>
                </a:lnTo>
                <a:lnTo>
                  <a:pt x="57022" y="243595"/>
                </a:lnTo>
                <a:lnTo>
                  <a:pt x="95255" y="262732"/>
                </a:lnTo>
                <a:lnTo>
                  <a:pt x="139278" y="269604"/>
                </a:lnTo>
                <a:lnTo>
                  <a:pt x="183300" y="262732"/>
                </a:lnTo>
                <a:lnTo>
                  <a:pt x="221533" y="243595"/>
                </a:lnTo>
                <a:lnTo>
                  <a:pt x="251682" y="214414"/>
                </a:lnTo>
                <a:lnTo>
                  <a:pt x="271454" y="177410"/>
                </a:lnTo>
                <a:lnTo>
                  <a:pt x="278555" y="134802"/>
                </a:lnTo>
                <a:lnTo>
                  <a:pt x="271454" y="92194"/>
                </a:lnTo>
                <a:lnTo>
                  <a:pt x="251682" y="55189"/>
                </a:lnTo>
                <a:lnTo>
                  <a:pt x="221533" y="26009"/>
                </a:lnTo>
                <a:lnTo>
                  <a:pt x="183300" y="6872"/>
                </a:lnTo>
                <a:lnTo>
                  <a:pt x="139278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56240" y="3050536"/>
            <a:ext cx="278765" cy="269875"/>
          </a:xfrm>
          <a:custGeom>
            <a:avLst/>
            <a:gdLst/>
            <a:ahLst/>
            <a:cxnLst/>
            <a:rect l="l" t="t" r="r" b="b"/>
            <a:pathLst>
              <a:path w="278765" h="269875">
                <a:moveTo>
                  <a:pt x="139277" y="0"/>
                </a:moveTo>
                <a:lnTo>
                  <a:pt x="95254" y="6872"/>
                </a:lnTo>
                <a:lnTo>
                  <a:pt x="57021" y="26009"/>
                </a:lnTo>
                <a:lnTo>
                  <a:pt x="26872" y="55189"/>
                </a:lnTo>
                <a:lnTo>
                  <a:pt x="7100" y="92194"/>
                </a:lnTo>
                <a:lnTo>
                  <a:pt x="0" y="134802"/>
                </a:lnTo>
                <a:lnTo>
                  <a:pt x="7100" y="177410"/>
                </a:lnTo>
                <a:lnTo>
                  <a:pt x="26872" y="214414"/>
                </a:lnTo>
                <a:lnTo>
                  <a:pt x="57021" y="243595"/>
                </a:lnTo>
                <a:lnTo>
                  <a:pt x="95254" y="262732"/>
                </a:lnTo>
                <a:lnTo>
                  <a:pt x="139277" y="269604"/>
                </a:lnTo>
                <a:lnTo>
                  <a:pt x="183299" y="262732"/>
                </a:lnTo>
                <a:lnTo>
                  <a:pt x="221532" y="243595"/>
                </a:lnTo>
                <a:lnTo>
                  <a:pt x="251681" y="214414"/>
                </a:lnTo>
                <a:lnTo>
                  <a:pt x="271453" y="177410"/>
                </a:lnTo>
                <a:lnTo>
                  <a:pt x="278554" y="134802"/>
                </a:lnTo>
                <a:lnTo>
                  <a:pt x="271453" y="92194"/>
                </a:lnTo>
                <a:lnTo>
                  <a:pt x="251681" y="55189"/>
                </a:lnTo>
                <a:lnTo>
                  <a:pt x="221532" y="26009"/>
                </a:lnTo>
                <a:lnTo>
                  <a:pt x="183299" y="6872"/>
                </a:lnTo>
                <a:lnTo>
                  <a:pt x="13927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63285" y="2900672"/>
            <a:ext cx="137160" cy="147320"/>
          </a:xfrm>
          <a:custGeom>
            <a:avLst/>
            <a:gdLst/>
            <a:ahLst/>
            <a:cxnLst/>
            <a:rect l="l" t="t" r="r" b="b"/>
            <a:pathLst>
              <a:path w="137159" h="147319">
                <a:moveTo>
                  <a:pt x="0" y="0"/>
                </a:moveTo>
                <a:lnTo>
                  <a:pt x="137021" y="14686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825410" y="2351530"/>
            <a:ext cx="141605" cy="224790"/>
          </a:xfrm>
          <a:custGeom>
            <a:avLst/>
            <a:gdLst/>
            <a:ahLst/>
            <a:cxnLst/>
            <a:rect l="l" t="t" r="r" b="b"/>
            <a:pathLst>
              <a:path w="141604" h="224789">
                <a:moveTo>
                  <a:pt x="0" y="0"/>
                </a:moveTo>
                <a:lnTo>
                  <a:pt x="141244" y="22429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07707" y="2827346"/>
            <a:ext cx="189865" cy="262890"/>
          </a:xfrm>
          <a:custGeom>
            <a:avLst/>
            <a:gdLst/>
            <a:ahLst/>
            <a:cxnLst/>
            <a:rect l="l" t="t" r="r" b="b"/>
            <a:pathLst>
              <a:path w="189865" h="262889">
                <a:moveTo>
                  <a:pt x="0" y="0"/>
                </a:moveTo>
                <a:lnTo>
                  <a:pt x="189326" y="26267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38068" y="3142856"/>
            <a:ext cx="218440" cy="42545"/>
          </a:xfrm>
          <a:custGeom>
            <a:avLst/>
            <a:gdLst/>
            <a:ahLst/>
            <a:cxnLst/>
            <a:rect l="l" t="t" r="r" b="b"/>
            <a:pathLst>
              <a:path w="218440" h="42544">
                <a:moveTo>
                  <a:pt x="0" y="0"/>
                </a:moveTo>
                <a:lnTo>
                  <a:pt x="218171" y="4248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36303" y="2261701"/>
            <a:ext cx="198755" cy="186690"/>
          </a:xfrm>
          <a:custGeom>
            <a:avLst/>
            <a:gdLst/>
            <a:ahLst/>
            <a:cxnLst/>
            <a:rect l="l" t="t" r="r" b="b"/>
            <a:pathLst>
              <a:path w="198754" h="186689">
                <a:moveTo>
                  <a:pt x="195546" y="0"/>
                </a:moveTo>
                <a:lnTo>
                  <a:pt x="2842" y="0"/>
                </a:lnTo>
                <a:lnTo>
                  <a:pt x="0" y="2842"/>
                </a:lnTo>
                <a:lnTo>
                  <a:pt x="0" y="183588"/>
                </a:lnTo>
                <a:lnTo>
                  <a:pt x="2842" y="186432"/>
                </a:lnTo>
                <a:lnTo>
                  <a:pt x="195546" y="186432"/>
                </a:lnTo>
                <a:lnTo>
                  <a:pt x="198389" y="183588"/>
                </a:lnTo>
                <a:lnTo>
                  <a:pt x="198389" y="178812"/>
                </a:lnTo>
                <a:lnTo>
                  <a:pt x="7620" y="178812"/>
                </a:lnTo>
                <a:lnTo>
                  <a:pt x="7620" y="7619"/>
                </a:lnTo>
                <a:lnTo>
                  <a:pt x="198389" y="7619"/>
                </a:lnTo>
                <a:lnTo>
                  <a:pt x="198389" y="2842"/>
                </a:lnTo>
                <a:lnTo>
                  <a:pt x="195546" y="0"/>
                </a:lnTo>
                <a:close/>
              </a:path>
              <a:path w="198754" h="186689">
                <a:moveTo>
                  <a:pt x="198389" y="7619"/>
                </a:moveTo>
                <a:lnTo>
                  <a:pt x="190769" y="7619"/>
                </a:lnTo>
                <a:lnTo>
                  <a:pt x="190769" y="178812"/>
                </a:lnTo>
                <a:lnTo>
                  <a:pt x="198389" y="178812"/>
                </a:lnTo>
                <a:lnTo>
                  <a:pt x="198389" y="7619"/>
                </a:lnTo>
                <a:close/>
              </a:path>
              <a:path w="198754" h="186689">
                <a:moveTo>
                  <a:pt x="188229" y="10160"/>
                </a:moveTo>
                <a:lnTo>
                  <a:pt x="10160" y="10160"/>
                </a:lnTo>
                <a:lnTo>
                  <a:pt x="10160" y="176272"/>
                </a:lnTo>
                <a:lnTo>
                  <a:pt x="188229" y="176272"/>
                </a:lnTo>
                <a:lnTo>
                  <a:pt x="188229" y="173732"/>
                </a:lnTo>
                <a:lnTo>
                  <a:pt x="12700" y="173732"/>
                </a:lnTo>
                <a:lnTo>
                  <a:pt x="12700" y="12700"/>
                </a:lnTo>
                <a:lnTo>
                  <a:pt x="188229" y="12700"/>
                </a:lnTo>
                <a:lnTo>
                  <a:pt x="188229" y="10160"/>
                </a:lnTo>
                <a:close/>
              </a:path>
              <a:path w="198754" h="186689">
                <a:moveTo>
                  <a:pt x="188229" y="12700"/>
                </a:moveTo>
                <a:lnTo>
                  <a:pt x="185689" y="12700"/>
                </a:lnTo>
                <a:lnTo>
                  <a:pt x="185689" y="173732"/>
                </a:lnTo>
                <a:lnTo>
                  <a:pt x="188229" y="173732"/>
                </a:lnTo>
                <a:lnTo>
                  <a:pt x="188229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36302" y="2435433"/>
            <a:ext cx="198755" cy="186690"/>
          </a:xfrm>
          <a:custGeom>
            <a:avLst/>
            <a:gdLst/>
            <a:ahLst/>
            <a:cxnLst/>
            <a:rect l="l" t="t" r="r" b="b"/>
            <a:pathLst>
              <a:path w="198754" h="186689">
                <a:moveTo>
                  <a:pt x="195546" y="0"/>
                </a:moveTo>
                <a:lnTo>
                  <a:pt x="2843" y="0"/>
                </a:lnTo>
                <a:lnTo>
                  <a:pt x="0" y="2842"/>
                </a:lnTo>
                <a:lnTo>
                  <a:pt x="0" y="183588"/>
                </a:lnTo>
                <a:lnTo>
                  <a:pt x="2843" y="186432"/>
                </a:lnTo>
                <a:lnTo>
                  <a:pt x="195546" y="186432"/>
                </a:lnTo>
                <a:lnTo>
                  <a:pt x="198390" y="183588"/>
                </a:lnTo>
                <a:lnTo>
                  <a:pt x="198390" y="178812"/>
                </a:lnTo>
                <a:lnTo>
                  <a:pt x="7620" y="178812"/>
                </a:lnTo>
                <a:lnTo>
                  <a:pt x="7620" y="7620"/>
                </a:lnTo>
                <a:lnTo>
                  <a:pt x="198390" y="7620"/>
                </a:lnTo>
                <a:lnTo>
                  <a:pt x="198390" y="2842"/>
                </a:lnTo>
                <a:lnTo>
                  <a:pt x="195546" y="0"/>
                </a:lnTo>
                <a:close/>
              </a:path>
              <a:path w="198754" h="186689">
                <a:moveTo>
                  <a:pt x="198390" y="7620"/>
                </a:moveTo>
                <a:lnTo>
                  <a:pt x="190770" y="7620"/>
                </a:lnTo>
                <a:lnTo>
                  <a:pt x="190770" y="178812"/>
                </a:lnTo>
                <a:lnTo>
                  <a:pt x="198390" y="178812"/>
                </a:lnTo>
                <a:lnTo>
                  <a:pt x="198390" y="7620"/>
                </a:lnTo>
                <a:close/>
              </a:path>
              <a:path w="198754" h="186689">
                <a:moveTo>
                  <a:pt x="188230" y="10160"/>
                </a:moveTo>
                <a:lnTo>
                  <a:pt x="10160" y="10160"/>
                </a:lnTo>
                <a:lnTo>
                  <a:pt x="10160" y="176272"/>
                </a:lnTo>
                <a:lnTo>
                  <a:pt x="188230" y="176272"/>
                </a:lnTo>
                <a:lnTo>
                  <a:pt x="188230" y="173732"/>
                </a:lnTo>
                <a:lnTo>
                  <a:pt x="12700" y="173732"/>
                </a:lnTo>
                <a:lnTo>
                  <a:pt x="12700" y="12700"/>
                </a:lnTo>
                <a:lnTo>
                  <a:pt x="188230" y="12700"/>
                </a:lnTo>
                <a:lnTo>
                  <a:pt x="188230" y="10160"/>
                </a:lnTo>
                <a:close/>
              </a:path>
              <a:path w="198754" h="186689">
                <a:moveTo>
                  <a:pt x="188230" y="12700"/>
                </a:moveTo>
                <a:lnTo>
                  <a:pt x="185690" y="12700"/>
                </a:lnTo>
                <a:lnTo>
                  <a:pt x="185690" y="173732"/>
                </a:lnTo>
                <a:lnTo>
                  <a:pt x="188230" y="173732"/>
                </a:lnTo>
                <a:lnTo>
                  <a:pt x="18823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994000" y="2805945"/>
            <a:ext cx="71755" cy="284480"/>
          </a:xfrm>
          <a:custGeom>
            <a:avLst/>
            <a:gdLst/>
            <a:ahLst/>
            <a:cxnLst/>
            <a:rect l="l" t="t" r="r" b="b"/>
            <a:pathLst>
              <a:path w="71754" h="284480">
                <a:moveTo>
                  <a:pt x="71136" y="0"/>
                </a:moveTo>
                <a:lnTo>
                  <a:pt x="0" y="28407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04081" y="2733182"/>
            <a:ext cx="184785" cy="72390"/>
          </a:xfrm>
          <a:custGeom>
            <a:avLst/>
            <a:gdLst/>
            <a:ahLst/>
            <a:cxnLst/>
            <a:rect l="l" t="t" r="r" b="b"/>
            <a:pathLst>
              <a:path w="184784" h="72389">
                <a:moveTo>
                  <a:pt x="0" y="72171"/>
                </a:moveTo>
                <a:lnTo>
                  <a:pt x="18457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59515" y="3008053"/>
            <a:ext cx="278765" cy="269875"/>
          </a:xfrm>
          <a:custGeom>
            <a:avLst/>
            <a:gdLst/>
            <a:ahLst/>
            <a:cxnLst/>
            <a:rect l="l" t="t" r="r" b="b"/>
            <a:pathLst>
              <a:path w="278765" h="269875">
                <a:moveTo>
                  <a:pt x="139277" y="0"/>
                </a:moveTo>
                <a:lnTo>
                  <a:pt x="95254" y="6872"/>
                </a:lnTo>
                <a:lnTo>
                  <a:pt x="57021" y="26008"/>
                </a:lnTo>
                <a:lnTo>
                  <a:pt x="26872" y="55189"/>
                </a:lnTo>
                <a:lnTo>
                  <a:pt x="7100" y="92193"/>
                </a:lnTo>
                <a:lnTo>
                  <a:pt x="0" y="134801"/>
                </a:lnTo>
                <a:lnTo>
                  <a:pt x="7100" y="177409"/>
                </a:lnTo>
                <a:lnTo>
                  <a:pt x="26872" y="214414"/>
                </a:lnTo>
                <a:lnTo>
                  <a:pt x="57021" y="243595"/>
                </a:lnTo>
                <a:lnTo>
                  <a:pt x="95254" y="262732"/>
                </a:lnTo>
                <a:lnTo>
                  <a:pt x="139277" y="269604"/>
                </a:lnTo>
                <a:lnTo>
                  <a:pt x="183299" y="262732"/>
                </a:lnTo>
                <a:lnTo>
                  <a:pt x="221532" y="243595"/>
                </a:lnTo>
                <a:lnTo>
                  <a:pt x="251681" y="214414"/>
                </a:lnTo>
                <a:lnTo>
                  <a:pt x="271453" y="177409"/>
                </a:lnTo>
                <a:lnTo>
                  <a:pt x="278554" y="134801"/>
                </a:lnTo>
                <a:lnTo>
                  <a:pt x="271453" y="92193"/>
                </a:lnTo>
                <a:lnTo>
                  <a:pt x="251681" y="55189"/>
                </a:lnTo>
                <a:lnTo>
                  <a:pt x="221532" y="26008"/>
                </a:lnTo>
                <a:lnTo>
                  <a:pt x="183299" y="6872"/>
                </a:lnTo>
                <a:lnTo>
                  <a:pt x="13927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42653" y="2268051"/>
            <a:ext cx="186055" cy="173990"/>
          </a:xfrm>
          <a:custGeom>
            <a:avLst/>
            <a:gdLst/>
            <a:ahLst/>
            <a:cxnLst/>
            <a:rect l="l" t="t" r="r" b="b"/>
            <a:pathLst>
              <a:path w="186054" h="173989">
                <a:moveTo>
                  <a:pt x="0" y="0"/>
                </a:moveTo>
                <a:lnTo>
                  <a:pt x="185689" y="0"/>
                </a:lnTo>
                <a:lnTo>
                  <a:pt x="185689" y="173732"/>
                </a:lnTo>
                <a:lnTo>
                  <a:pt x="0" y="17373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33128" y="2258526"/>
            <a:ext cx="205104" cy="193040"/>
          </a:xfrm>
          <a:custGeom>
            <a:avLst/>
            <a:gdLst/>
            <a:ahLst/>
            <a:cxnLst/>
            <a:rect l="l" t="t" r="r" b="b"/>
            <a:pathLst>
              <a:path w="205104" h="193039">
                <a:moveTo>
                  <a:pt x="200475" y="0"/>
                </a:moveTo>
                <a:lnTo>
                  <a:pt x="4264" y="0"/>
                </a:lnTo>
                <a:lnTo>
                  <a:pt x="0" y="4264"/>
                </a:lnTo>
                <a:lnTo>
                  <a:pt x="0" y="188517"/>
                </a:lnTo>
                <a:lnTo>
                  <a:pt x="4264" y="192782"/>
                </a:lnTo>
                <a:lnTo>
                  <a:pt x="200475" y="192782"/>
                </a:lnTo>
                <a:lnTo>
                  <a:pt x="204739" y="188517"/>
                </a:lnTo>
                <a:lnTo>
                  <a:pt x="204739" y="181352"/>
                </a:lnTo>
                <a:lnTo>
                  <a:pt x="11430" y="181352"/>
                </a:lnTo>
                <a:lnTo>
                  <a:pt x="11430" y="11429"/>
                </a:lnTo>
                <a:lnTo>
                  <a:pt x="204739" y="11429"/>
                </a:lnTo>
                <a:lnTo>
                  <a:pt x="204739" y="4264"/>
                </a:lnTo>
                <a:lnTo>
                  <a:pt x="200475" y="0"/>
                </a:lnTo>
                <a:close/>
              </a:path>
              <a:path w="205104" h="193039">
                <a:moveTo>
                  <a:pt x="204739" y="11429"/>
                </a:moveTo>
                <a:lnTo>
                  <a:pt x="193309" y="11429"/>
                </a:lnTo>
                <a:lnTo>
                  <a:pt x="193309" y="181352"/>
                </a:lnTo>
                <a:lnTo>
                  <a:pt x="204739" y="181352"/>
                </a:lnTo>
                <a:lnTo>
                  <a:pt x="204739" y="11429"/>
                </a:lnTo>
                <a:close/>
              </a:path>
              <a:path w="205104" h="193039">
                <a:moveTo>
                  <a:pt x="189499" y="15239"/>
                </a:moveTo>
                <a:lnTo>
                  <a:pt x="15240" y="15239"/>
                </a:lnTo>
                <a:lnTo>
                  <a:pt x="15240" y="177542"/>
                </a:lnTo>
                <a:lnTo>
                  <a:pt x="189499" y="177542"/>
                </a:lnTo>
                <a:lnTo>
                  <a:pt x="189499" y="173732"/>
                </a:lnTo>
                <a:lnTo>
                  <a:pt x="19050" y="173732"/>
                </a:lnTo>
                <a:lnTo>
                  <a:pt x="19050" y="19050"/>
                </a:lnTo>
                <a:lnTo>
                  <a:pt x="189499" y="19050"/>
                </a:lnTo>
                <a:lnTo>
                  <a:pt x="189499" y="15239"/>
                </a:lnTo>
                <a:close/>
              </a:path>
              <a:path w="205104" h="193039">
                <a:moveTo>
                  <a:pt x="189499" y="19050"/>
                </a:moveTo>
                <a:lnTo>
                  <a:pt x="185689" y="19050"/>
                </a:lnTo>
                <a:lnTo>
                  <a:pt x="185689" y="173732"/>
                </a:lnTo>
                <a:lnTo>
                  <a:pt x="189499" y="173732"/>
                </a:lnTo>
                <a:lnTo>
                  <a:pt x="189499" y="190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42652" y="2441783"/>
            <a:ext cx="186055" cy="173990"/>
          </a:xfrm>
          <a:custGeom>
            <a:avLst/>
            <a:gdLst/>
            <a:ahLst/>
            <a:cxnLst/>
            <a:rect l="l" t="t" r="r" b="b"/>
            <a:pathLst>
              <a:path w="186054" h="173989">
                <a:moveTo>
                  <a:pt x="0" y="0"/>
                </a:moveTo>
                <a:lnTo>
                  <a:pt x="185690" y="0"/>
                </a:lnTo>
                <a:lnTo>
                  <a:pt x="185690" y="173732"/>
                </a:lnTo>
                <a:lnTo>
                  <a:pt x="0" y="17373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33127" y="2432258"/>
            <a:ext cx="205104" cy="193040"/>
          </a:xfrm>
          <a:custGeom>
            <a:avLst/>
            <a:gdLst/>
            <a:ahLst/>
            <a:cxnLst/>
            <a:rect l="l" t="t" r="r" b="b"/>
            <a:pathLst>
              <a:path w="205104" h="193039">
                <a:moveTo>
                  <a:pt x="200475" y="0"/>
                </a:moveTo>
                <a:lnTo>
                  <a:pt x="4264" y="0"/>
                </a:lnTo>
                <a:lnTo>
                  <a:pt x="0" y="4264"/>
                </a:lnTo>
                <a:lnTo>
                  <a:pt x="0" y="188517"/>
                </a:lnTo>
                <a:lnTo>
                  <a:pt x="4264" y="192782"/>
                </a:lnTo>
                <a:lnTo>
                  <a:pt x="200475" y="192782"/>
                </a:lnTo>
                <a:lnTo>
                  <a:pt x="204740" y="188517"/>
                </a:lnTo>
                <a:lnTo>
                  <a:pt x="204740" y="181352"/>
                </a:lnTo>
                <a:lnTo>
                  <a:pt x="11429" y="181352"/>
                </a:lnTo>
                <a:lnTo>
                  <a:pt x="11429" y="11430"/>
                </a:lnTo>
                <a:lnTo>
                  <a:pt x="204740" y="11430"/>
                </a:lnTo>
                <a:lnTo>
                  <a:pt x="204740" y="4264"/>
                </a:lnTo>
                <a:lnTo>
                  <a:pt x="200475" y="0"/>
                </a:lnTo>
                <a:close/>
              </a:path>
              <a:path w="205104" h="193039">
                <a:moveTo>
                  <a:pt x="204740" y="11430"/>
                </a:moveTo>
                <a:lnTo>
                  <a:pt x="193310" y="11430"/>
                </a:lnTo>
                <a:lnTo>
                  <a:pt x="193310" y="181352"/>
                </a:lnTo>
                <a:lnTo>
                  <a:pt x="204740" y="181352"/>
                </a:lnTo>
                <a:lnTo>
                  <a:pt x="204740" y="11430"/>
                </a:lnTo>
                <a:close/>
              </a:path>
              <a:path w="205104" h="193039">
                <a:moveTo>
                  <a:pt x="189500" y="15240"/>
                </a:moveTo>
                <a:lnTo>
                  <a:pt x="15240" y="15240"/>
                </a:lnTo>
                <a:lnTo>
                  <a:pt x="15240" y="177542"/>
                </a:lnTo>
                <a:lnTo>
                  <a:pt x="189500" y="177542"/>
                </a:lnTo>
                <a:lnTo>
                  <a:pt x="189500" y="173732"/>
                </a:lnTo>
                <a:lnTo>
                  <a:pt x="19050" y="173732"/>
                </a:lnTo>
                <a:lnTo>
                  <a:pt x="19050" y="19050"/>
                </a:lnTo>
                <a:lnTo>
                  <a:pt x="189500" y="19050"/>
                </a:lnTo>
                <a:lnTo>
                  <a:pt x="189500" y="15240"/>
                </a:lnTo>
                <a:close/>
              </a:path>
              <a:path w="205104" h="193039">
                <a:moveTo>
                  <a:pt x="189500" y="19050"/>
                </a:moveTo>
                <a:lnTo>
                  <a:pt x="185690" y="19050"/>
                </a:lnTo>
                <a:lnTo>
                  <a:pt x="185690" y="173732"/>
                </a:lnTo>
                <a:lnTo>
                  <a:pt x="189500" y="173732"/>
                </a:lnTo>
                <a:lnTo>
                  <a:pt x="189500" y="190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88654" y="2598380"/>
            <a:ext cx="278765" cy="269875"/>
          </a:xfrm>
          <a:custGeom>
            <a:avLst/>
            <a:gdLst/>
            <a:ahLst/>
            <a:cxnLst/>
            <a:rect l="l" t="t" r="r" b="b"/>
            <a:pathLst>
              <a:path w="278765" h="269875">
                <a:moveTo>
                  <a:pt x="139277" y="0"/>
                </a:moveTo>
                <a:lnTo>
                  <a:pt x="95254" y="6872"/>
                </a:lnTo>
                <a:lnTo>
                  <a:pt x="57021" y="26009"/>
                </a:lnTo>
                <a:lnTo>
                  <a:pt x="26872" y="55190"/>
                </a:lnTo>
                <a:lnTo>
                  <a:pt x="7100" y="92195"/>
                </a:lnTo>
                <a:lnTo>
                  <a:pt x="0" y="134802"/>
                </a:lnTo>
                <a:lnTo>
                  <a:pt x="7100" y="177411"/>
                </a:lnTo>
                <a:lnTo>
                  <a:pt x="26872" y="214415"/>
                </a:lnTo>
                <a:lnTo>
                  <a:pt x="57021" y="243596"/>
                </a:lnTo>
                <a:lnTo>
                  <a:pt x="95254" y="262733"/>
                </a:lnTo>
                <a:lnTo>
                  <a:pt x="139277" y="269605"/>
                </a:lnTo>
                <a:lnTo>
                  <a:pt x="183299" y="262733"/>
                </a:lnTo>
                <a:lnTo>
                  <a:pt x="221532" y="243596"/>
                </a:lnTo>
                <a:lnTo>
                  <a:pt x="251681" y="214415"/>
                </a:lnTo>
                <a:lnTo>
                  <a:pt x="271453" y="177411"/>
                </a:lnTo>
                <a:lnTo>
                  <a:pt x="278554" y="134802"/>
                </a:lnTo>
                <a:lnTo>
                  <a:pt x="271453" y="92195"/>
                </a:lnTo>
                <a:lnTo>
                  <a:pt x="251681" y="55190"/>
                </a:lnTo>
                <a:lnTo>
                  <a:pt x="221532" y="26009"/>
                </a:lnTo>
                <a:lnTo>
                  <a:pt x="183299" y="6872"/>
                </a:lnTo>
                <a:lnTo>
                  <a:pt x="13927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374385" y="2584110"/>
            <a:ext cx="307340" cy="298450"/>
          </a:xfrm>
          <a:custGeom>
            <a:avLst/>
            <a:gdLst/>
            <a:ahLst/>
            <a:cxnLst/>
            <a:rect l="l" t="t" r="r" b="b"/>
            <a:pathLst>
              <a:path w="307340" h="298450">
                <a:moveTo>
                  <a:pt x="152848" y="0"/>
                </a:moveTo>
                <a:lnTo>
                  <a:pt x="107358" y="6863"/>
                </a:lnTo>
                <a:lnTo>
                  <a:pt x="67837" y="25327"/>
                </a:lnTo>
                <a:lnTo>
                  <a:pt x="26732" y="64961"/>
                </a:lnTo>
                <a:lnTo>
                  <a:pt x="6720" y="105318"/>
                </a:lnTo>
                <a:lnTo>
                  <a:pt x="0" y="149816"/>
                </a:lnTo>
                <a:lnTo>
                  <a:pt x="873" y="165080"/>
                </a:lnTo>
                <a:lnTo>
                  <a:pt x="12421" y="207910"/>
                </a:lnTo>
                <a:lnTo>
                  <a:pt x="44778" y="254354"/>
                </a:lnTo>
                <a:lnTo>
                  <a:pt x="81119" y="280555"/>
                </a:lnTo>
                <a:lnTo>
                  <a:pt x="123388" y="295271"/>
                </a:lnTo>
                <a:lnTo>
                  <a:pt x="154242" y="298146"/>
                </a:lnTo>
                <a:lnTo>
                  <a:pt x="169873" y="297314"/>
                </a:lnTo>
                <a:lnTo>
                  <a:pt x="185065" y="295001"/>
                </a:lnTo>
                <a:lnTo>
                  <a:pt x="199732" y="291283"/>
                </a:lnTo>
                <a:lnTo>
                  <a:pt x="213796" y="286231"/>
                </a:lnTo>
                <a:lnTo>
                  <a:pt x="224843" y="281021"/>
                </a:lnTo>
                <a:lnTo>
                  <a:pt x="153405" y="281021"/>
                </a:lnTo>
                <a:lnTo>
                  <a:pt x="139444" y="280325"/>
                </a:lnTo>
                <a:lnTo>
                  <a:pt x="100286" y="270588"/>
                </a:lnTo>
                <a:lnTo>
                  <a:pt x="57058" y="242331"/>
                </a:lnTo>
                <a:lnTo>
                  <a:pt x="33498" y="211809"/>
                </a:lnTo>
                <a:lnTo>
                  <a:pt x="19858" y="175506"/>
                </a:lnTo>
                <a:lnTo>
                  <a:pt x="17153" y="148328"/>
                </a:lnTo>
                <a:lnTo>
                  <a:pt x="17840" y="135439"/>
                </a:lnTo>
                <a:lnTo>
                  <a:pt x="27886" y="97612"/>
                </a:lnTo>
                <a:lnTo>
                  <a:pt x="57058" y="55815"/>
                </a:lnTo>
                <a:lnTo>
                  <a:pt x="88606" y="33003"/>
                </a:lnTo>
                <a:lnTo>
                  <a:pt x="126166" y="19781"/>
                </a:lnTo>
                <a:lnTo>
                  <a:pt x="153685" y="17124"/>
                </a:lnTo>
                <a:lnTo>
                  <a:pt x="224959" y="17124"/>
                </a:lnTo>
                <a:lnTo>
                  <a:pt x="212529" y="11395"/>
                </a:lnTo>
                <a:lnTo>
                  <a:pt x="198413" y="6465"/>
                </a:lnTo>
                <a:lnTo>
                  <a:pt x="183702" y="2874"/>
                </a:lnTo>
                <a:lnTo>
                  <a:pt x="168483" y="695"/>
                </a:lnTo>
                <a:lnTo>
                  <a:pt x="152848" y="0"/>
                </a:lnTo>
                <a:close/>
              </a:path>
              <a:path w="307340" h="298450">
                <a:moveTo>
                  <a:pt x="224959" y="17124"/>
                </a:moveTo>
                <a:lnTo>
                  <a:pt x="153685" y="17124"/>
                </a:lnTo>
                <a:lnTo>
                  <a:pt x="167646" y="17820"/>
                </a:lnTo>
                <a:lnTo>
                  <a:pt x="181197" y="19836"/>
                </a:lnTo>
                <a:lnTo>
                  <a:pt x="218725" y="33129"/>
                </a:lnTo>
                <a:lnTo>
                  <a:pt x="250032" y="55815"/>
                </a:lnTo>
                <a:lnTo>
                  <a:pt x="273592" y="86337"/>
                </a:lnTo>
                <a:lnTo>
                  <a:pt x="287232" y="122638"/>
                </a:lnTo>
                <a:lnTo>
                  <a:pt x="289937" y="149816"/>
                </a:lnTo>
                <a:lnTo>
                  <a:pt x="289250" y="162707"/>
                </a:lnTo>
                <a:lnTo>
                  <a:pt x="279205" y="200534"/>
                </a:lnTo>
                <a:lnTo>
                  <a:pt x="250032" y="242331"/>
                </a:lnTo>
                <a:lnTo>
                  <a:pt x="218485" y="265142"/>
                </a:lnTo>
                <a:lnTo>
                  <a:pt x="180924" y="278364"/>
                </a:lnTo>
                <a:lnTo>
                  <a:pt x="153405" y="281021"/>
                </a:lnTo>
                <a:lnTo>
                  <a:pt x="224843" y="281021"/>
                </a:lnTo>
                <a:lnTo>
                  <a:pt x="261656" y="254989"/>
                </a:lnTo>
                <a:lnTo>
                  <a:pt x="288804" y="219694"/>
                </a:lnTo>
                <a:lnTo>
                  <a:pt x="304106" y="178465"/>
                </a:lnTo>
                <a:lnTo>
                  <a:pt x="307091" y="148328"/>
                </a:lnTo>
                <a:lnTo>
                  <a:pt x="306217" y="133064"/>
                </a:lnTo>
                <a:lnTo>
                  <a:pt x="294669" y="90234"/>
                </a:lnTo>
                <a:lnTo>
                  <a:pt x="262312" y="43790"/>
                </a:lnTo>
                <a:lnTo>
                  <a:pt x="225971" y="17590"/>
                </a:lnTo>
                <a:lnTo>
                  <a:pt x="224959" y="17124"/>
                </a:lnTo>
                <a:close/>
              </a:path>
              <a:path w="307340" h="298450">
                <a:moveTo>
                  <a:pt x="153964" y="22832"/>
                </a:moveTo>
                <a:lnTo>
                  <a:pt x="114990" y="28411"/>
                </a:lnTo>
                <a:lnTo>
                  <a:pt x="61052" y="59938"/>
                </a:lnTo>
                <a:lnTo>
                  <a:pt x="33232" y="99634"/>
                </a:lnTo>
                <a:lnTo>
                  <a:pt x="22846" y="148328"/>
                </a:lnTo>
                <a:lnTo>
                  <a:pt x="22887" y="149816"/>
                </a:lnTo>
                <a:lnTo>
                  <a:pt x="32887" y="197725"/>
                </a:lnTo>
                <a:lnTo>
                  <a:pt x="61052" y="238206"/>
                </a:lnTo>
                <a:lnTo>
                  <a:pt x="102195" y="265201"/>
                </a:lnTo>
                <a:lnTo>
                  <a:pt x="139724" y="274617"/>
                </a:lnTo>
                <a:lnTo>
                  <a:pt x="153127" y="275313"/>
                </a:lnTo>
                <a:lnTo>
                  <a:pt x="166533" y="274699"/>
                </a:lnTo>
                <a:lnTo>
                  <a:pt x="179544" y="272818"/>
                </a:lnTo>
                <a:lnTo>
                  <a:pt x="192100" y="269735"/>
                </a:lnTo>
                <a:lnTo>
                  <a:pt x="192469" y="269605"/>
                </a:lnTo>
                <a:lnTo>
                  <a:pt x="152848" y="269605"/>
                </a:lnTo>
                <a:lnTo>
                  <a:pt x="140002" y="268909"/>
                </a:lnTo>
                <a:lnTo>
                  <a:pt x="93195" y="254656"/>
                </a:lnTo>
                <a:lnTo>
                  <a:pt x="49602" y="215966"/>
                </a:lnTo>
                <a:lnTo>
                  <a:pt x="30906" y="172572"/>
                </a:lnTo>
                <a:lnTo>
                  <a:pt x="28535" y="148328"/>
                </a:lnTo>
                <a:lnTo>
                  <a:pt x="29255" y="136034"/>
                </a:lnTo>
                <a:lnTo>
                  <a:pt x="43869" y="91183"/>
                </a:lnTo>
                <a:lnTo>
                  <a:pt x="83794" y="49091"/>
                </a:lnTo>
                <a:lnTo>
                  <a:pt x="128926" y="30873"/>
                </a:lnTo>
                <a:lnTo>
                  <a:pt x="154242" y="28540"/>
                </a:lnTo>
                <a:lnTo>
                  <a:pt x="192464" y="28540"/>
                </a:lnTo>
                <a:lnTo>
                  <a:pt x="180361" y="25488"/>
                </a:lnTo>
                <a:lnTo>
                  <a:pt x="167366" y="23528"/>
                </a:lnTo>
                <a:lnTo>
                  <a:pt x="153964" y="22832"/>
                </a:lnTo>
                <a:close/>
              </a:path>
              <a:path w="307340" h="298450">
                <a:moveTo>
                  <a:pt x="192464" y="28540"/>
                </a:moveTo>
                <a:lnTo>
                  <a:pt x="154242" y="28540"/>
                </a:lnTo>
                <a:lnTo>
                  <a:pt x="167088" y="29236"/>
                </a:lnTo>
                <a:lnTo>
                  <a:pt x="179527" y="31142"/>
                </a:lnTo>
                <a:lnTo>
                  <a:pt x="223297" y="49091"/>
                </a:lnTo>
                <a:lnTo>
                  <a:pt x="257488" y="82180"/>
                </a:lnTo>
                <a:lnTo>
                  <a:pt x="276184" y="125573"/>
                </a:lnTo>
                <a:lnTo>
                  <a:pt x="278555" y="149816"/>
                </a:lnTo>
                <a:lnTo>
                  <a:pt x="277835" y="162111"/>
                </a:lnTo>
                <a:lnTo>
                  <a:pt x="263222" y="206961"/>
                </a:lnTo>
                <a:lnTo>
                  <a:pt x="223297" y="249053"/>
                </a:lnTo>
                <a:lnTo>
                  <a:pt x="178164" y="267272"/>
                </a:lnTo>
                <a:lnTo>
                  <a:pt x="152848" y="269605"/>
                </a:lnTo>
                <a:lnTo>
                  <a:pt x="192469" y="269605"/>
                </a:lnTo>
                <a:lnTo>
                  <a:pt x="246038" y="238206"/>
                </a:lnTo>
                <a:lnTo>
                  <a:pt x="273860" y="198512"/>
                </a:lnTo>
                <a:lnTo>
                  <a:pt x="283592" y="161521"/>
                </a:lnTo>
                <a:lnTo>
                  <a:pt x="284246" y="149816"/>
                </a:lnTo>
                <a:lnTo>
                  <a:pt x="284204" y="148328"/>
                </a:lnTo>
                <a:lnTo>
                  <a:pt x="274203" y="100421"/>
                </a:lnTo>
                <a:lnTo>
                  <a:pt x="246038" y="59938"/>
                </a:lnTo>
                <a:lnTo>
                  <a:pt x="204896" y="32943"/>
                </a:lnTo>
                <a:lnTo>
                  <a:pt x="192892" y="28648"/>
                </a:lnTo>
                <a:lnTo>
                  <a:pt x="192464" y="285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22644" y="3743195"/>
            <a:ext cx="109220" cy="357505"/>
          </a:xfrm>
          <a:custGeom>
            <a:avLst/>
            <a:gdLst/>
            <a:ahLst/>
            <a:cxnLst/>
            <a:rect l="l" t="t" r="r" b="b"/>
            <a:pathLst>
              <a:path w="109220" h="357504">
                <a:moveTo>
                  <a:pt x="108750" y="0"/>
                </a:moveTo>
                <a:lnTo>
                  <a:pt x="0" y="35717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942641" y="4155733"/>
            <a:ext cx="290195" cy="290830"/>
          </a:xfrm>
          <a:custGeom>
            <a:avLst/>
            <a:gdLst/>
            <a:ahLst/>
            <a:cxnLst/>
            <a:rect l="l" t="t" r="r" b="b"/>
            <a:pathLst>
              <a:path w="290195" h="290829">
                <a:moveTo>
                  <a:pt x="144847" y="0"/>
                </a:moveTo>
                <a:lnTo>
                  <a:pt x="99064" y="7410"/>
                </a:lnTo>
                <a:lnTo>
                  <a:pt x="59302" y="28045"/>
                </a:lnTo>
                <a:lnTo>
                  <a:pt x="27947" y="59511"/>
                </a:lnTo>
                <a:lnTo>
                  <a:pt x="7384" y="99413"/>
                </a:lnTo>
                <a:lnTo>
                  <a:pt x="0" y="145357"/>
                </a:lnTo>
                <a:lnTo>
                  <a:pt x="7384" y="191302"/>
                </a:lnTo>
                <a:lnTo>
                  <a:pt x="27947" y="231204"/>
                </a:lnTo>
                <a:lnTo>
                  <a:pt x="59302" y="262670"/>
                </a:lnTo>
                <a:lnTo>
                  <a:pt x="99064" y="283305"/>
                </a:lnTo>
                <a:lnTo>
                  <a:pt x="144847" y="290715"/>
                </a:lnTo>
                <a:lnTo>
                  <a:pt x="190629" y="283305"/>
                </a:lnTo>
                <a:lnTo>
                  <a:pt x="230391" y="262670"/>
                </a:lnTo>
                <a:lnTo>
                  <a:pt x="261746" y="231204"/>
                </a:lnTo>
                <a:lnTo>
                  <a:pt x="282308" y="191302"/>
                </a:lnTo>
                <a:lnTo>
                  <a:pt x="289693" y="145357"/>
                </a:lnTo>
                <a:lnTo>
                  <a:pt x="282308" y="99413"/>
                </a:lnTo>
                <a:lnTo>
                  <a:pt x="261746" y="59511"/>
                </a:lnTo>
                <a:lnTo>
                  <a:pt x="230391" y="28045"/>
                </a:lnTo>
                <a:lnTo>
                  <a:pt x="190629" y="7410"/>
                </a:lnTo>
                <a:lnTo>
                  <a:pt x="14484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31240" y="3563589"/>
            <a:ext cx="290195" cy="290830"/>
          </a:xfrm>
          <a:custGeom>
            <a:avLst/>
            <a:gdLst/>
            <a:ahLst/>
            <a:cxnLst/>
            <a:rect l="l" t="t" r="r" b="b"/>
            <a:pathLst>
              <a:path w="290195" h="290829">
                <a:moveTo>
                  <a:pt x="144846" y="0"/>
                </a:moveTo>
                <a:lnTo>
                  <a:pt x="99063" y="7410"/>
                </a:lnTo>
                <a:lnTo>
                  <a:pt x="59301" y="28045"/>
                </a:lnTo>
                <a:lnTo>
                  <a:pt x="27946" y="59512"/>
                </a:lnTo>
                <a:lnTo>
                  <a:pt x="7384" y="99414"/>
                </a:lnTo>
                <a:lnTo>
                  <a:pt x="0" y="145359"/>
                </a:lnTo>
                <a:lnTo>
                  <a:pt x="7384" y="191303"/>
                </a:lnTo>
                <a:lnTo>
                  <a:pt x="27946" y="231205"/>
                </a:lnTo>
                <a:lnTo>
                  <a:pt x="59301" y="262671"/>
                </a:lnTo>
                <a:lnTo>
                  <a:pt x="99063" y="283306"/>
                </a:lnTo>
                <a:lnTo>
                  <a:pt x="144846" y="290716"/>
                </a:lnTo>
                <a:lnTo>
                  <a:pt x="190629" y="283306"/>
                </a:lnTo>
                <a:lnTo>
                  <a:pt x="230391" y="262671"/>
                </a:lnTo>
                <a:lnTo>
                  <a:pt x="261746" y="231205"/>
                </a:lnTo>
                <a:lnTo>
                  <a:pt x="282308" y="191303"/>
                </a:lnTo>
                <a:lnTo>
                  <a:pt x="289693" y="145359"/>
                </a:lnTo>
                <a:lnTo>
                  <a:pt x="282308" y="99414"/>
                </a:lnTo>
                <a:lnTo>
                  <a:pt x="261746" y="59512"/>
                </a:lnTo>
                <a:lnTo>
                  <a:pt x="230391" y="28045"/>
                </a:lnTo>
                <a:lnTo>
                  <a:pt x="190629" y="7410"/>
                </a:lnTo>
                <a:lnTo>
                  <a:pt x="14484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982974" y="4011014"/>
            <a:ext cx="290195" cy="290830"/>
          </a:xfrm>
          <a:custGeom>
            <a:avLst/>
            <a:gdLst/>
            <a:ahLst/>
            <a:cxnLst/>
            <a:rect l="l" t="t" r="r" b="b"/>
            <a:pathLst>
              <a:path w="290195" h="290829">
                <a:moveTo>
                  <a:pt x="144846" y="0"/>
                </a:moveTo>
                <a:lnTo>
                  <a:pt x="99063" y="7410"/>
                </a:lnTo>
                <a:lnTo>
                  <a:pt x="59301" y="28045"/>
                </a:lnTo>
                <a:lnTo>
                  <a:pt x="27946" y="59511"/>
                </a:lnTo>
                <a:lnTo>
                  <a:pt x="7384" y="99413"/>
                </a:lnTo>
                <a:lnTo>
                  <a:pt x="0" y="145357"/>
                </a:lnTo>
                <a:lnTo>
                  <a:pt x="7384" y="191302"/>
                </a:lnTo>
                <a:lnTo>
                  <a:pt x="27946" y="231204"/>
                </a:lnTo>
                <a:lnTo>
                  <a:pt x="59301" y="262670"/>
                </a:lnTo>
                <a:lnTo>
                  <a:pt x="99063" y="283305"/>
                </a:lnTo>
                <a:lnTo>
                  <a:pt x="144846" y="290715"/>
                </a:lnTo>
                <a:lnTo>
                  <a:pt x="190628" y="283305"/>
                </a:lnTo>
                <a:lnTo>
                  <a:pt x="230390" y="262670"/>
                </a:lnTo>
                <a:lnTo>
                  <a:pt x="261745" y="231204"/>
                </a:lnTo>
                <a:lnTo>
                  <a:pt x="282307" y="191302"/>
                </a:lnTo>
                <a:lnTo>
                  <a:pt x="289692" y="145357"/>
                </a:lnTo>
                <a:lnTo>
                  <a:pt x="282307" y="99413"/>
                </a:lnTo>
                <a:lnTo>
                  <a:pt x="261745" y="59511"/>
                </a:lnTo>
                <a:lnTo>
                  <a:pt x="230390" y="28045"/>
                </a:lnTo>
                <a:lnTo>
                  <a:pt x="190628" y="7410"/>
                </a:lnTo>
                <a:lnTo>
                  <a:pt x="14484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06571" y="4565473"/>
            <a:ext cx="290195" cy="290830"/>
          </a:xfrm>
          <a:custGeom>
            <a:avLst/>
            <a:gdLst/>
            <a:ahLst/>
            <a:cxnLst/>
            <a:rect l="l" t="t" r="r" b="b"/>
            <a:pathLst>
              <a:path w="290195" h="290829">
                <a:moveTo>
                  <a:pt x="144846" y="0"/>
                </a:moveTo>
                <a:lnTo>
                  <a:pt x="99063" y="7410"/>
                </a:lnTo>
                <a:lnTo>
                  <a:pt x="59301" y="28045"/>
                </a:lnTo>
                <a:lnTo>
                  <a:pt x="27946" y="59511"/>
                </a:lnTo>
                <a:lnTo>
                  <a:pt x="7384" y="99413"/>
                </a:lnTo>
                <a:lnTo>
                  <a:pt x="0" y="145357"/>
                </a:lnTo>
                <a:lnTo>
                  <a:pt x="7384" y="191302"/>
                </a:lnTo>
                <a:lnTo>
                  <a:pt x="27946" y="231204"/>
                </a:lnTo>
                <a:lnTo>
                  <a:pt x="59301" y="262670"/>
                </a:lnTo>
                <a:lnTo>
                  <a:pt x="99063" y="283305"/>
                </a:lnTo>
                <a:lnTo>
                  <a:pt x="144846" y="290715"/>
                </a:lnTo>
                <a:lnTo>
                  <a:pt x="190628" y="283305"/>
                </a:lnTo>
                <a:lnTo>
                  <a:pt x="230390" y="262670"/>
                </a:lnTo>
                <a:lnTo>
                  <a:pt x="261745" y="231204"/>
                </a:lnTo>
                <a:lnTo>
                  <a:pt x="282307" y="191302"/>
                </a:lnTo>
                <a:lnTo>
                  <a:pt x="289692" y="145357"/>
                </a:lnTo>
                <a:lnTo>
                  <a:pt x="282307" y="99413"/>
                </a:lnTo>
                <a:lnTo>
                  <a:pt x="261745" y="59511"/>
                </a:lnTo>
                <a:lnTo>
                  <a:pt x="230390" y="28045"/>
                </a:lnTo>
                <a:lnTo>
                  <a:pt x="190628" y="7410"/>
                </a:lnTo>
                <a:lnTo>
                  <a:pt x="14484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89909" y="4403874"/>
            <a:ext cx="142875" cy="158750"/>
          </a:xfrm>
          <a:custGeom>
            <a:avLst/>
            <a:gdLst/>
            <a:ahLst/>
            <a:cxnLst/>
            <a:rect l="l" t="t" r="r" b="b"/>
            <a:pathLst>
              <a:path w="142875" h="158750">
                <a:moveTo>
                  <a:pt x="0" y="0"/>
                </a:moveTo>
                <a:lnTo>
                  <a:pt x="142500" y="15836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78508" y="3811732"/>
            <a:ext cx="147320" cy="241935"/>
          </a:xfrm>
          <a:custGeom>
            <a:avLst/>
            <a:gdLst/>
            <a:ahLst/>
            <a:cxnLst/>
            <a:rect l="l" t="t" r="r" b="b"/>
            <a:pathLst>
              <a:path w="147320" h="241935">
                <a:moveTo>
                  <a:pt x="0" y="0"/>
                </a:moveTo>
                <a:lnTo>
                  <a:pt x="146891" y="24185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52101" y="4324805"/>
            <a:ext cx="197485" cy="283845"/>
          </a:xfrm>
          <a:custGeom>
            <a:avLst/>
            <a:gdLst/>
            <a:ahLst/>
            <a:cxnLst/>
            <a:rect l="l" t="t" r="r" b="b"/>
            <a:pathLst>
              <a:path w="197484" h="283845">
                <a:moveTo>
                  <a:pt x="0" y="0"/>
                </a:moveTo>
                <a:lnTo>
                  <a:pt x="196897" y="28324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79677" y="4665022"/>
            <a:ext cx="227329" cy="46355"/>
          </a:xfrm>
          <a:custGeom>
            <a:avLst/>
            <a:gdLst/>
            <a:ahLst/>
            <a:cxnLst/>
            <a:rect l="l" t="t" r="r" b="b"/>
            <a:pathLst>
              <a:path w="227329" h="46354">
                <a:moveTo>
                  <a:pt x="0" y="0"/>
                </a:moveTo>
                <a:lnTo>
                  <a:pt x="226894" y="458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053840" y="4301730"/>
            <a:ext cx="74295" cy="306705"/>
          </a:xfrm>
          <a:custGeom>
            <a:avLst/>
            <a:gdLst/>
            <a:ahLst/>
            <a:cxnLst/>
            <a:rect l="l" t="t" r="r" b="b"/>
            <a:pathLst>
              <a:path w="74295" h="306704">
                <a:moveTo>
                  <a:pt x="73981" y="0"/>
                </a:moveTo>
                <a:lnTo>
                  <a:pt x="0" y="30631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232335" y="4223269"/>
            <a:ext cx="192405" cy="78105"/>
          </a:xfrm>
          <a:custGeom>
            <a:avLst/>
            <a:gdLst/>
            <a:ahLst/>
            <a:cxnLst/>
            <a:rect l="l" t="t" r="r" b="b"/>
            <a:pathLst>
              <a:path w="192404" h="78104">
                <a:moveTo>
                  <a:pt x="0" y="77822"/>
                </a:moveTo>
                <a:lnTo>
                  <a:pt x="19195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89986" y="4519663"/>
            <a:ext cx="290195" cy="290830"/>
          </a:xfrm>
          <a:custGeom>
            <a:avLst/>
            <a:gdLst/>
            <a:ahLst/>
            <a:cxnLst/>
            <a:rect l="l" t="t" r="r" b="b"/>
            <a:pathLst>
              <a:path w="290195" h="290829">
                <a:moveTo>
                  <a:pt x="144846" y="0"/>
                </a:moveTo>
                <a:lnTo>
                  <a:pt x="99063" y="7410"/>
                </a:lnTo>
                <a:lnTo>
                  <a:pt x="59301" y="28045"/>
                </a:lnTo>
                <a:lnTo>
                  <a:pt x="27946" y="59511"/>
                </a:lnTo>
                <a:lnTo>
                  <a:pt x="7384" y="99413"/>
                </a:lnTo>
                <a:lnTo>
                  <a:pt x="0" y="145357"/>
                </a:lnTo>
                <a:lnTo>
                  <a:pt x="7384" y="191302"/>
                </a:lnTo>
                <a:lnTo>
                  <a:pt x="27946" y="231204"/>
                </a:lnTo>
                <a:lnTo>
                  <a:pt x="59301" y="262670"/>
                </a:lnTo>
                <a:lnTo>
                  <a:pt x="99063" y="283306"/>
                </a:lnTo>
                <a:lnTo>
                  <a:pt x="144846" y="290716"/>
                </a:lnTo>
                <a:lnTo>
                  <a:pt x="190628" y="283306"/>
                </a:lnTo>
                <a:lnTo>
                  <a:pt x="230390" y="262670"/>
                </a:lnTo>
                <a:lnTo>
                  <a:pt x="261745" y="231204"/>
                </a:lnTo>
                <a:lnTo>
                  <a:pt x="282307" y="191302"/>
                </a:lnTo>
                <a:lnTo>
                  <a:pt x="289692" y="145357"/>
                </a:lnTo>
                <a:lnTo>
                  <a:pt x="282307" y="99413"/>
                </a:lnTo>
                <a:lnTo>
                  <a:pt x="261745" y="59511"/>
                </a:lnTo>
                <a:lnTo>
                  <a:pt x="230390" y="28045"/>
                </a:lnTo>
                <a:lnTo>
                  <a:pt x="190628" y="7410"/>
                </a:lnTo>
                <a:lnTo>
                  <a:pt x="14484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424287" y="4077911"/>
            <a:ext cx="290195" cy="290830"/>
          </a:xfrm>
          <a:custGeom>
            <a:avLst/>
            <a:gdLst/>
            <a:ahLst/>
            <a:cxnLst/>
            <a:rect l="l" t="t" r="r" b="b"/>
            <a:pathLst>
              <a:path w="290195" h="290829">
                <a:moveTo>
                  <a:pt x="144846" y="0"/>
                </a:moveTo>
                <a:lnTo>
                  <a:pt x="99063" y="7410"/>
                </a:lnTo>
                <a:lnTo>
                  <a:pt x="59301" y="28045"/>
                </a:lnTo>
                <a:lnTo>
                  <a:pt x="27946" y="59511"/>
                </a:lnTo>
                <a:lnTo>
                  <a:pt x="7384" y="99413"/>
                </a:lnTo>
                <a:lnTo>
                  <a:pt x="0" y="145357"/>
                </a:lnTo>
                <a:lnTo>
                  <a:pt x="7384" y="191302"/>
                </a:lnTo>
                <a:lnTo>
                  <a:pt x="27946" y="231205"/>
                </a:lnTo>
                <a:lnTo>
                  <a:pt x="59301" y="262671"/>
                </a:lnTo>
                <a:lnTo>
                  <a:pt x="99063" y="283306"/>
                </a:lnTo>
                <a:lnTo>
                  <a:pt x="144846" y="290716"/>
                </a:lnTo>
                <a:lnTo>
                  <a:pt x="190629" y="283306"/>
                </a:lnTo>
                <a:lnTo>
                  <a:pt x="230391" y="262671"/>
                </a:lnTo>
                <a:lnTo>
                  <a:pt x="261746" y="231205"/>
                </a:lnTo>
                <a:lnTo>
                  <a:pt x="282308" y="191302"/>
                </a:lnTo>
                <a:lnTo>
                  <a:pt x="289693" y="145357"/>
                </a:lnTo>
                <a:lnTo>
                  <a:pt x="282308" y="99413"/>
                </a:lnTo>
                <a:lnTo>
                  <a:pt x="261746" y="59511"/>
                </a:lnTo>
                <a:lnTo>
                  <a:pt x="230391" y="28045"/>
                </a:lnTo>
                <a:lnTo>
                  <a:pt x="190629" y="7410"/>
                </a:lnTo>
                <a:lnTo>
                  <a:pt x="14484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10018" y="4063641"/>
            <a:ext cx="318770" cy="319405"/>
          </a:xfrm>
          <a:custGeom>
            <a:avLst/>
            <a:gdLst/>
            <a:ahLst/>
            <a:cxnLst/>
            <a:rect l="l" t="t" r="r" b="b"/>
            <a:pathLst>
              <a:path w="318770" h="319404">
                <a:moveTo>
                  <a:pt x="158393" y="0"/>
                </a:moveTo>
                <a:lnTo>
                  <a:pt x="111117" y="7392"/>
                </a:lnTo>
                <a:lnTo>
                  <a:pt x="70107" y="27252"/>
                </a:lnTo>
                <a:lnTo>
                  <a:pt x="27536" y="69811"/>
                </a:lnTo>
                <a:lnTo>
                  <a:pt x="6941" y="112856"/>
                </a:lnTo>
                <a:lnTo>
                  <a:pt x="0" y="160346"/>
                </a:lnTo>
                <a:lnTo>
                  <a:pt x="892" y="176637"/>
                </a:lnTo>
                <a:lnTo>
                  <a:pt x="12772" y="222390"/>
                </a:lnTo>
                <a:lnTo>
                  <a:pt x="46236" y="272190"/>
                </a:lnTo>
                <a:lnTo>
                  <a:pt x="83855" y="300306"/>
                </a:lnTo>
                <a:lnTo>
                  <a:pt x="127761" y="316156"/>
                </a:lnTo>
                <a:lnTo>
                  <a:pt x="159839" y="319256"/>
                </a:lnTo>
                <a:lnTo>
                  <a:pt x="176089" y="318359"/>
                </a:lnTo>
                <a:lnTo>
                  <a:pt x="191877" y="315868"/>
                </a:lnTo>
                <a:lnTo>
                  <a:pt x="207115" y="311863"/>
                </a:lnTo>
                <a:lnTo>
                  <a:pt x="221715" y="306426"/>
                </a:lnTo>
                <a:lnTo>
                  <a:pt x="230500" y="302132"/>
                </a:lnTo>
                <a:lnTo>
                  <a:pt x="158970" y="302132"/>
                </a:lnTo>
                <a:lnTo>
                  <a:pt x="144451" y="301382"/>
                </a:lnTo>
                <a:lnTo>
                  <a:pt x="103720" y="290882"/>
                </a:lnTo>
                <a:lnTo>
                  <a:pt x="58727" y="260385"/>
                </a:lnTo>
                <a:lnTo>
                  <a:pt x="34196" y="227435"/>
                </a:lnTo>
                <a:lnTo>
                  <a:pt x="19980" y="188213"/>
                </a:lnTo>
                <a:lnTo>
                  <a:pt x="17152" y="158910"/>
                </a:lnTo>
                <a:lnTo>
                  <a:pt x="17871" y="144909"/>
                </a:lnTo>
                <a:lnTo>
                  <a:pt x="28337" y="104026"/>
                </a:lnTo>
                <a:lnTo>
                  <a:pt x="58727" y="58869"/>
                </a:lnTo>
                <a:lnTo>
                  <a:pt x="91639" y="34215"/>
                </a:lnTo>
                <a:lnTo>
                  <a:pt x="130638" y="19989"/>
                </a:lnTo>
                <a:lnTo>
                  <a:pt x="159260" y="17123"/>
                </a:lnTo>
                <a:lnTo>
                  <a:pt x="230555" y="17123"/>
                </a:lnTo>
                <a:lnTo>
                  <a:pt x="220422" y="12280"/>
                </a:lnTo>
                <a:lnTo>
                  <a:pt x="205759" y="6969"/>
                </a:lnTo>
                <a:lnTo>
                  <a:pt x="190470" y="3100"/>
                </a:lnTo>
                <a:lnTo>
                  <a:pt x="174649" y="750"/>
                </a:lnTo>
                <a:lnTo>
                  <a:pt x="158393" y="0"/>
                </a:lnTo>
                <a:close/>
              </a:path>
              <a:path w="318770" h="319404">
                <a:moveTo>
                  <a:pt x="230555" y="17123"/>
                </a:moveTo>
                <a:lnTo>
                  <a:pt x="159260" y="17123"/>
                </a:lnTo>
                <a:lnTo>
                  <a:pt x="173781" y="17873"/>
                </a:lnTo>
                <a:lnTo>
                  <a:pt x="187874" y="20046"/>
                </a:lnTo>
                <a:lnTo>
                  <a:pt x="226914" y="34385"/>
                </a:lnTo>
                <a:lnTo>
                  <a:pt x="259504" y="58869"/>
                </a:lnTo>
                <a:lnTo>
                  <a:pt x="284035" y="91820"/>
                </a:lnTo>
                <a:lnTo>
                  <a:pt x="298251" y="131042"/>
                </a:lnTo>
                <a:lnTo>
                  <a:pt x="301079" y="160346"/>
                </a:lnTo>
                <a:lnTo>
                  <a:pt x="300361" y="174346"/>
                </a:lnTo>
                <a:lnTo>
                  <a:pt x="289895" y="215229"/>
                </a:lnTo>
                <a:lnTo>
                  <a:pt x="259504" y="260385"/>
                </a:lnTo>
                <a:lnTo>
                  <a:pt x="226594" y="285040"/>
                </a:lnTo>
                <a:lnTo>
                  <a:pt x="187594" y="299266"/>
                </a:lnTo>
                <a:lnTo>
                  <a:pt x="158970" y="302132"/>
                </a:lnTo>
                <a:lnTo>
                  <a:pt x="230500" y="302132"/>
                </a:lnTo>
                <a:lnTo>
                  <a:pt x="271352" y="272836"/>
                </a:lnTo>
                <a:lnTo>
                  <a:pt x="299360" y="235097"/>
                </a:lnTo>
                <a:lnTo>
                  <a:pt x="315145" y="191071"/>
                </a:lnTo>
                <a:lnTo>
                  <a:pt x="318231" y="158910"/>
                </a:lnTo>
                <a:lnTo>
                  <a:pt x="317339" y="142618"/>
                </a:lnTo>
                <a:lnTo>
                  <a:pt x="305460" y="96865"/>
                </a:lnTo>
                <a:lnTo>
                  <a:pt x="271995" y="47066"/>
                </a:lnTo>
                <a:lnTo>
                  <a:pt x="234377" y="18949"/>
                </a:lnTo>
                <a:lnTo>
                  <a:pt x="230555" y="17123"/>
                </a:lnTo>
                <a:close/>
              </a:path>
              <a:path w="318770" h="319404">
                <a:moveTo>
                  <a:pt x="159550" y="22830"/>
                </a:moveTo>
                <a:lnTo>
                  <a:pt x="118999" y="28850"/>
                </a:lnTo>
                <a:lnTo>
                  <a:pt x="83121" y="46092"/>
                </a:lnTo>
                <a:lnTo>
                  <a:pt x="46020" y="83323"/>
                </a:lnTo>
                <a:lnTo>
                  <a:pt x="29085" y="118530"/>
                </a:lnTo>
                <a:lnTo>
                  <a:pt x="22846" y="158910"/>
                </a:lnTo>
                <a:lnTo>
                  <a:pt x="22885" y="160346"/>
                </a:lnTo>
                <a:lnTo>
                  <a:pt x="28835" y="199915"/>
                </a:lnTo>
                <a:lnTo>
                  <a:pt x="46020" y="235931"/>
                </a:lnTo>
                <a:lnTo>
                  <a:pt x="83121" y="273164"/>
                </a:lnTo>
                <a:lnTo>
                  <a:pt x="118184" y="290151"/>
                </a:lnTo>
                <a:lnTo>
                  <a:pt x="158682" y="296425"/>
                </a:lnTo>
                <a:lnTo>
                  <a:pt x="172628" y="295762"/>
                </a:lnTo>
                <a:lnTo>
                  <a:pt x="186165" y="293733"/>
                </a:lnTo>
                <a:lnTo>
                  <a:pt x="198006" y="290718"/>
                </a:lnTo>
                <a:lnTo>
                  <a:pt x="158393" y="290718"/>
                </a:lnTo>
                <a:lnTo>
                  <a:pt x="145028" y="289967"/>
                </a:lnTo>
                <a:lnTo>
                  <a:pt x="107602" y="280123"/>
                </a:lnTo>
                <a:lnTo>
                  <a:pt x="66860" y="252280"/>
                </a:lnTo>
                <a:lnTo>
                  <a:pt x="43973" y="221515"/>
                </a:lnTo>
                <a:lnTo>
                  <a:pt x="31052" y="185376"/>
                </a:lnTo>
                <a:lnTo>
                  <a:pt x="28539" y="158910"/>
                </a:lnTo>
                <a:lnTo>
                  <a:pt x="29207" y="146913"/>
                </a:lnTo>
                <a:lnTo>
                  <a:pt x="39075" y="107943"/>
                </a:lnTo>
                <a:lnTo>
                  <a:pt x="66860" y="66974"/>
                </a:lnTo>
                <a:lnTo>
                  <a:pt x="97510" y="44011"/>
                </a:lnTo>
                <a:lnTo>
                  <a:pt x="133494" y="31056"/>
                </a:lnTo>
                <a:lnTo>
                  <a:pt x="159839" y="28538"/>
                </a:lnTo>
                <a:lnTo>
                  <a:pt x="197880" y="28538"/>
                </a:lnTo>
                <a:lnTo>
                  <a:pt x="187010" y="25695"/>
                </a:lnTo>
                <a:lnTo>
                  <a:pt x="173492" y="23581"/>
                </a:lnTo>
                <a:lnTo>
                  <a:pt x="159550" y="22830"/>
                </a:lnTo>
                <a:close/>
              </a:path>
              <a:path w="318770" h="319404">
                <a:moveTo>
                  <a:pt x="197880" y="28538"/>
                </a:moveTo>
                <a:lnTo>
                  <a:pt x="159839" y="28538"/>
                </a:lnTo>
                <a:lnTo>
                  <a:pt x="173202" y="29288"/>
                </a:lnTo>
                <a:lnTo>
                  <a:pt x="186145" y="31344"/>
                </a:lnTo>
                <a:lnTo>
                  <a:pt x="221940" y="44676"/>
                </a:lnTo>
                <a:lnTo>
                  <a:pt x="267535" y="86635"/>
                </a:lnTo>
                <a:lnTo>
                  <a:pt x="284027" y="121297"/>
                </a:lnTo>
                <a:lnTo>
                  <a:pt x="289693" y="160346"/>
                </a:lnTo>
                <a:lnTo>
                  <a:pt x="288977" y="173201"/>
                </a:lnTo>
                <a:lnTo>
                  <a:pt x="279157" y="211312"/>
                </a:lnTo>
                <a:lnTo>
                  <a:pt x="251371" y="252280"/>
                </a:lnTo>
                <a:lnTo>
                  <a:pt x="220720" y="275244"/>
                </a:lnTo>
                <a:lnTo>
                  <a:pt x="184738" y="288199"/>
                </a:lnTo>
                <a:lnTo>
                  <a:pt x="158393" y="290718"/>
                </a:lnTo>
                <a:lnTo>
                  <a:pt x="198006" y="290718"/>
                </a:lnTo>
                <a:lnTo>
                  <a:pt x="235110" y="273164"/>
                </a:lnTo>
                <a:lnTo>
                  <a:pt x="272211" y="235931"/>
                </a:lnTo>
                <a:lnTo>
                  <a:pt x="289145" y="200726"/>
                </a:lnTo>
                <a:lnTo>
                  <a:pt x="295385" y="160346"/>
                </a:lnTo>
                <a:lnTo>
                  <a:pt x="295346" y="158910"/>
                </a:lnTo>
                <a:lnTo>
                  <a:pt x="289397" y="119340"/>
                </a:lnTo>
                <a:lnTo>
                  <a:pt x="272211" y="83323"/>
                </a:lnTo>
                <a:lnTo>
                  <a:pt x="235110" y="46092"/>
                </a:lnTo>
                <a:lnTo>
                  <a:pt x="200046" y="29104"/>
                </a:lnTo>
                <a:lnTo>
                  <a:pt x="197880" y="2853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714011" y="4156368"/>
            <a:ext cx="269240" cy="67310"/>
          </a:xfrm>
          <a:custGeom>
            <a:avLst/>
            <a:gdLst/>
            <a:ahLst/>
            <a:cxnLst/>
            <a:rect l="l" t="t" r="r" b="b"/>
            <a:pathLst>
              <a:path w="269240" h="67310">
                <a:moveTo>
                  <a:pt x="268993" y="0"/>
                </a:moveTo>
                <a:lnTo>
                  <a:pt x="0" y="66897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622902" y="5378554"/>
            <a:ext cx="111125" cy="347980"/>
          </a:xfrm>
          <a:custGeom>
            <a:avLst/>
            <a:gdLst/>
            <a:ahLst/>
            <a:cxnLst/>
            <a:rect l="l" t="t" r="r" b="b"/>
            <a:pathLst>
              <a:path w="111125" h="347979">
                <a:moveTo>
                  <a:pt x="110654" y="0"/>
                </a:moveTo>
                <a:lnTo>
                  <a:pt x="0" y="34794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930994" y="5780439"/>
            <a:ext cx="295275" cy="283210"/>
          </a:xfrm>
          <a:custGeom>
            <a:avLst/>
            <a:gdLst/>
            <a:ahLst/>
            <a:cxnLst/>
            <a:rect l="l" t="t" r="r" b="b"/>
            <a:pathLst>
              <a:path w="295275" h="283210">
                <a:moveTo>
                  <a:pt x="147382" y="0"/>
                </a:moveTo>
                <a:lnTo>
                  <a:pt x="100798" y="7219"/>
                </a:lnTo>
                <a:lnTo>
                  <a:pt x="60340" y="27321"/>
                </a:lnTo>
                <a:lnTo>
                  <a:pt x="28436" y="57975"/>
                </a:lnTo>
                <a:lnTo>
                  <a:pt x="7513" y="96847"/>
                </a:lnTo>
                <a:lnTo>
                  <a:pt x="0" y="141605"/>
                </a:lnTo>
                <a:lnTo>
                  <a:pt x="7513" y="186363"/>
                </a:lnTo>
                <a:lnTo>
                  <a:pt x="28436" y="225235"/>
                </a:lnTo>
                <a:lnTo>
                  <a:pt x="60340" y="255889"/>
                </a:lnTo>
                <a:lnTo>
                  <a:pt x="100798" y="275991"/>
                </a:lnTo>
                <a:lnTo>
                  <a:pt x="147382" y="283211"/>
                </a:lnTo>
                <a:lnTo>
                  <a:pt x="193966" y="275991"/>
                </a:lnTo>
                <a:lnTo>
                  <a:pt x="234424" y="255889"/>
                </a:lnTo>
                <a:lnTo>
                  <a:pt x="266328" y="225235"/>
                </a:lnTo>
                <a:lnTo>
                  <a:pt x="287250" y="186363"/>
                </a:lnTo>
                <a:lnTo>
                  <a:pt x="294764" y="141605"/>
                </a:lnTo>
                <a:lnTo>
                  <a:pt x="287250" y="96847"/>
                </a:lnTo>
                <a:lnTo>
                  <a:pt x="266328" y="57975"/>
                </a:lnTo>
                <a:lnTo>
                  <a:pt x="234424" y="27321"/>
                </a:lnTo>
                <a:lnTo>
                  <a:pt x="193966" y="7219"/>
                </a:lnTo>
                <a:lnTo>
                  <a:pt x="147382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631648" y="5203585"/>
            <a:ext cx="295275" cy="283210"/>
          </a:xfrm>
          <a:custGeom>
            <a:avLst/>
            <a:gdLst/>
            <a:ahLst/>
            <a:cxnLst/>
            <a:rect l="l" t="t" r="r" b="b"/>
            <a:pathLst>
              <a:path w="295275" h="283210">
                <a:moveTo>
                  <a:pt x="147382" y="0"/>
                </a:moveTo>
                <a:lnTo>
                  <a:pt x="100798" y="7219"/>
                </a:lnTo>
                <a:lnTo>
                  <a:pt x="60340" y="27321"/>
                </a:lnTo>
                <a:lnTo>
                  <a:pt x="28436" y="57974"/>
                </a:lnTo>
                <a:lnTo>
                  <a:pt x="7513" y="96846"/>
                </a:lnTo>
                <a:lnTo>
                  <a:pt x="0" y="141605"/>
                </a:lnTo>
                <a:lnTo>
                  <a:pt x="7513" y="186363"/>
                </a:lnTo>
                <a:lnTo>
                  <a:pt x="28436" y="225235"/>
                </a:lnTo>
                <a:lnTo>
                  <a:pt x="60340" y="255889"/>
                </a:lnTo>
                <a:lnTo>
                  <a:pt x="100798" y="275992"/>
                </a:lnTo>
                <a:lnTo>
                  <a:pt x="147382" y="283211"/>
                </a:lnTo>
                <a:lnTo>
                  <a:pt x="193966" y="275992"/>
                </a:lnTo>
                <a:lnTo>
                  <a:pt x="234424" y="255889"/>
                </a:lnTo>
                <a:lnTo>
                  <a:pt x="266328" y="225235"/>
                </a:lnTo>
                <a:lnTo>
                  <a:pt x="287250" y="186363"/>
                </a:lnTo>
                <a:lnTo>
                  <a:pt x="294764" y="141605"/>
                </a:lnTo>
                <a:lnTo>
                  <a:pt x="287250" y="96846"/>
                </a:lnTo>
                <a:lnTo>
                  <a:pt x="266328" y="57974"/>
                </a:lnTo>
                <a:lnTo>
                  <a:pt x="234424" y="27321"/>
                </a:lnTo>
                <a:lnTo>
                  <a:pt x="193966" y="7219"/>
                </a:lnTo>
                <a:lnTo>
                  <a:pt x="147382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989539" y="5639456"/>
            <a:ext cx="295275" cy="283210"/>
          </a:xfrm>
          <a:custGeom>
            <a:avLst/>
            <a:gdLst/>
            <a:ahLst/>
            <a:cxnLst/>
            <a:rect l="l" t="t" r="r" b="b"/>
            <a:pathLst>
              <a:path w="295275" h="283210">
                <a:moveTo>
                  <a:pt x="147383" y="0"/>
                </a:moveTo>
                <a:lnTo>
                  <a:pt x="100798" y="7219"/>
                </a:lnTo>
                <a:lnTo>
                  <a:pt x="60340" y="27321"/>
                </a:lnTo>
                <a:lnTo>
                  <a:pt x="28436" y="57975"/>
                </a:lnTo>
                <a:lnTo>
                  <a:pt x="7513" y="96847"/>
                </a:lnTo>
                <a:lnTo>
                  <a:pt x="0" y="141605"/>
                </a:lnTo>
                <a:lnTo>
                  <a:pt x="7513" y="186363"/>
                </a:lnTo>
                <a:lnTo>
                  <a:pt x="28436" y="225235"/>
                </a:lnTo>
                <a:lnTo>
                  <a:pt x="60340" y="255889"/>
                </a:lnTo>
                <a:lnTo>
                  <a:pt x="100798" y="275991"/>
                </a:lnTo>
                <a:lnTo>
                  <a:pt x="147383" y="283211"/>
                </a:lnTo>
                <a:lnTo>
                  <a:pt x="193967" y="275991"/>
                </a:lnTo>
                <a:lnTo>
                  <a:pt x="234425" y="255889"/>
                </a:lnTo>
                <a:lnTo>
                  <a:pt x="266329" y="225235"/>
                </a:lnTo>
                <a:lnTo>
                  <a:pt x="287252" y="186363"/>
                </a:lnTo>
                <a:lnTo>
                  <a:pt x="294765" y="141605"/>
                </a:lnTo>
                <a:lnTo>
                  <a:pt x="287252" y="96847"/>
                </a:lnTo>
                <a:lnTo>
                  <a:pt x="266329" y="57975"/>
                </a:lnTo>
                <a:lnTo>
                  <a:pt x="234425" y="27321"/>
                </a:lnTo>
                <a:lnTo>
                  <a:pt x="193967" y="7219"/>
                </a:lnTo>
                <a:lnTo>
                  <a:pt x="147383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10048" y="6179601"/>
            <a:ext cx="295275" cy="283210"/>
          </a:xfrm>
          <a:custGeom>
            <a:avLst/>
            <a:gdLst/>
            <a:ahLst/>
            <a:cxnLst/>
            <a:rect l="l" t="t" r="r" b="b"/>
            <a:pathLst>
              <a:path w="295275" h="283210">
                <a:moveTo>
                  <a:pt x="147382" y="0"/>
                </a:moveTo>
                <a:lnTo>
                  <a:pt x="100798" y="7219"/>
                </a:lnTo>
                <a:lnTo>
                  <a:pt x="60340" y="27321"/>
                </a:lnTo>
                <a:lnTo>
                  <a:pt x="28436" y="57975"/>
                </a:lnTo>
                <a:lnTo>
                  <a:pt x="7513" y="96847"/>
                </a:lnTo>
                <a:lnTo>
                  <a:pt x="0" y="141605"/>
                </a:lnTo>
                <a:lnTo>
                  <a:pt x="7513" y="186363"/>
                </a:lnTo>
                <a:lnTo>
                  <a:pt x="28436" y="225235"/>
                </a:lnTo>
                <a:lnTo>
                  <a:pt x="60340" y="255889"/>
                </a:lnTo>
                <a:lnTo>
                  <a:pt x="100798" y="275991"/>
                </a:lnTo>
                <a:lnTo>
                  <a:pt x="147382" y="283211"/>
                </a:lnTo>
                <a:lnTo>
                  <a:pt x="193966" y="275991"/>
                </a:lnTo>
                <a:lnTo>
                  <a:pt x="234424" y="255889"/>
                </a:lnTo>
                <a:lnTo>
                  <a:pt x="266328" y="225235"/>
                </a:lnTo>
                <a:lnTo>
                  <a:pt x="287250" y="186363"/>
                </a:lnTo>
                <a:lnTo>
                  <a:pt x="294764" y="141605"/>
                </a:lnTo>
                <a:lnTo>
                  <a:pt x="287250" y="96847"/>
                </a:lnTo>
                <a:lnTo>
                  <a:pt x="266328" y="57975"/>
                </a:lnTo>
                <a:lnTo>
                  <a:pt x="234424" y="27321"/>
                </a:lnTo>
                <a:lnTo>
                  <a:pt x="193966" y="7219"/>
                </a:lnTo>
                <a:lnTo>
                  <a:pt x="147382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82589" y="6022175"/>
            <a:ext cx="145415" cy="154305"/>
          </a:xfrm>
          <a:custGeom>
            <a:avLst/>
            <a:gdLst/>
            <a:ahLst/>
            <a:cxnLst/>
            <a:rect l="l" t="t" r="r" b="b"/>
            <a:pathLst>
              <a:path w="145415" h="154304">
                <a:moveTo>
                  <a:pt x="0" y="0"/>
                </a:moveTo>
                <a:lnTo>
                  <a:pt x="144995" y="1542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883245" y="5445320"/>
            <a:ext cx="149860" cy="236220"/>
          </a:xfrm>
          <a:custGeom>
            <a:avLst/>
            <a:gdLst/>
            <a:ahLst/>
            <a:cxnLst/>
            <a:rect l="l" t="t" r="r" b="b"/>
            <a:pathLst>
              <a:path w="149859" h="236220">
                <a:moveTo>
                  <a:pt x="0" y="0"/>
                </a:moveTo>
                <a:lnTo>
                  <a:pt x="149463" y="23561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652873" y="5945147"/>
            <a:ext cx="200660" cy="276225"/>
          </a:xfrm>
          <a:custGeom>
            <a:avLst/>
            <a:gdLst/>
            <a:ahLst/>
            <a:cxnLst/>
            <a:rect l="l" t="t" r="r" b="b"/>
            <a:pathLst>
              <a:path w="200659" h="276225">
                <a:moveTo>
                  <a:pt x="0" y="0"/>
                </a:moveTo>
                <a:lnTo>
                  <a:pt x="200344" y="275929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579183" y="6276581"/>
            <a:ext cx="231140" cy="45085"/>
          </a:xfrm>
          <a:custGeom>
            <a:avLst/>
            <a:gdLst/>
            <a:ahLst/>
            <a:cxnLst/>
            <a:rect l="l" t="t" r="r" b="b"/>
            <a:pathLst>
              <a:path w="231140" h="45085">
                <a:moveTo>
                  <a:pt x="0" y="0"/>
                </a:moveTo>
                <a:lnTo>
                  <a:pt x="230867" y="4462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061645" y="5922667"/>
            <a:ext cx="75565" cy="298450"/>
          </a:xfrm>
          <a:custGeom>
            <a:avLst/>
            <a:gdLst/>
            <a:ahLst/>
            <a:cxnLst/>
            <a:rect l="l" t="t" r="r" b="b"/>
            <a:pathLst>
              <a:path w="75565" h="298450">
                <a:moveTo>
                  <a:pt x="75276" y="0"/>
                </a:moveTo>
                <a:lnTo>
                  <a:pt x="0" y="2984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225758" y="5846232"/>
            <a:ext cx="195580" cy="76200"/>
          </a:xfrm>
          <a:custGeom>
            <a:avLst/>
            <a:gdLst/>
            <a:ahLst/>
            <a:cxnLst/>
            <a:rect l="l" t="t" r="r" b="b"/>
            <a:pathLst>
              <a:path w="195579" h="76200">
                <a:moveTo>
                  <a:pt x="0" y="75813"/>
                </a:moveTo>
                <a:lnTo>
                  <a:pt x="19531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284418" y="6134975"/>
            <a:ext cx="295275" cy="283210"/>
          </a:xfrm>
          <a:custGeom>
            <a:avLst/>
            <a:gdLst/>
            <a:ahLst/>
            <a:cxnLst/>
            <a:rect l="l" t="t" r="r" b="b"/>
            <a:pathLst>
              <a:path w="295275" h="283210">
                <a:moveTo>
                  <a:pt x="147382" y="0"/>
                </a:moveTo>
                <a:lnTo>
                  <a:pt x="100798" y="7219"/>
                </a:lnTo>
                <a:lnTo>
                  <a:pt x="60340" y="27321"/>
                </a:lnTo>
                <a:lnTo>
                  <a:pt x="28436" y="57975"/>
                </a:lnTo>
                <a:lnTo>
                  <a:pt x="7513" y="96847"/>
                </a:lnTo>
                <a:lnTo>
                  <a:pt x="0" y="141605"/>
                </a:lnTo>
                <a:lnTo>
                  <a:pt x="7513" y="186363"/>
                </a:lnTo>
                <a:lnTo>
                  <a:pt x="28436" y="225235"/>
                </a:lnTo>
                <a:lnTo>
                  <a:pt x="60340" y="255889"/>
                </a:lnTo>
                <a:lnTo>
                  <a:pt x="100798" y="275991"/>
                </a:lnTo>
                <a:lnTo>
                  <a:pt x="147382" y="283210"/>
                </a:lnTo>
                <a:lnTo>
                  <a:pt x="193966" y="275991"/>
                </a:lnTo>
                <a:lnTo>
                  <a:pt x="234425" y="255889"/>
                </a:lnTo>
                <a:lnTo>
                  <a:pt x="266329" y="225235"/>
                </a:lnTo>
                <a:lnTo>
                  <a:pt x="287252" y="186363"/>
                </a:lnTo>
                <a:lnTo>
                  <a:pt x="294765" y="141605"/>
                </a:lnTo>
                <a:lnTo>
                  <a:pt x="287252" y="96847"/>
                </a:lnTo>
                <a:lnTo>
                  <a:pt x="266329" y="57975"/>
                </a:lnTo>
                <a:lnTo>
                  <a:pt x="234425" y="27321"/>
                </a:lnTo>
                <a:lnTo>
                  <a:pt x="193966" y="7219"/>
                </a:lnTo>
                <a:lnTo>
                  <a:pt x="147382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421073" y="5704628"/>
            <a:ext cx="295275" cy="283210"/>
          </a:xfrm>
          <a:custGeom>
            <a:avLst/>
            <a:gdLst/>
            <a:ahLst/>
            <a:cxnLst/>
            <a:rect l="l" t="t" r="r" b="b"/>
            <a:pathLst>
              <a:path w="295275" h="283210">
                <a:moveTo>
                  <a:pt x="147383" y="0"/>
                </a:moveTo>
                <a:lnTo>
                  <a:pt x="100798" y="7219"/>
                </a:lnTo>
                <a:lnTo>
                  <a:pt x="60340" y="27321"/>
                </a:lnTo>
                <a:lnTo>
                  <a:pt x="28436" y="57975"/>
                </a:lnTo>
                <a:lnTo>
                  <a:pt x="7513" y="96847"/>
                </a:lnTo>
                <a:lnTo>
                  <a:pt x="0" y="141605"/>
                </a:lnTo>
                <a:lnTo>
                  <a:pt x="7513" y="186363"/>
                </a:lnTo>
                <a:lnTo>
                  <a:pt x="28436" y="225235"/>
                </a:lnTo>
                <a:lnTo>
                  <a:pt x="60340" y="255889"/>
                </a:lnTo>
                <a:lnTo>
                  <a:pt x="100798" y="275991"/>
                </a:lnTo>
                <a:lnTo>
                  <a:pt x="147383" y="283211"/>
                </a:lnTo>
                <a:lnTo>
                  <a:pt x="193967" y="275991"/>
                </a:lnTo>
                <a:lnTo>
                  <a:pt x="234425" y="255889"/>
                </a:lnTo>
                <a:lnTo>
                  <a:pt x="266329" y="225235"/>
                </a:lnTo>
                <a:lnTo>
                  <a:pt x="287252" y="186363"/>
                </a:lnTo>
                <a:lnTo>
                  <a:pt x="294765" y="141605"/>
                </a:lnTo>
                <a:lnTo>
                  <a:pt x="287252" y="96847"/>
                </a:lnTo>
                <a:lnTo>
                  <a:pt x="266329" y="57975"/>
                </a:lnTo>
                <a:lnTo>
                  <a:pt x="234425" y="27321"/>
                </a:lnTo>
                <a:lnTo>
                  <a:pt x="193967" y="7219"/>
                </a:lnTo>
                <a:lnTo>
                  <a:pt x="147383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406806" y="5690358"/>
            <a:ext cx="323850" cy="311785"/>
          </a:xfrm>
          <a:custGeom>
            <a:avLst/>
            <a:gdLst/>
            <a:ahLst/>
            <a:cxnLst/>
            <a:rect l="l" t="t" r="r" b="b"/>
            <a:pathLst>
              <a:path w="323850" h="311785">
                <a:moveTo>
                  <a:pt x="160958" y="0"/>
                </a:moveTo>
                <a:lnTo>
                  <a:pt x="113083" y="7158"/>
                </a:lnTo>
                <a:lnTo>
                  <a:pt x="71459" y="26456"/>
                </a:lnTo>
                <a:lnTo>
                  <a:pt x="28147" y="67921"/>
                </a:lnTo>
                <a:lnTo>
                  <a:pt x="7091" y="110073"/>
                </a:lnTo>
                <a:lnTo>
                  <a:pt x="0" y="156626"/>
                </a:lnTo>
                <a:lnTo>
                  <a:pt x="918" y="172595"/>
                </a:lnTo>
                <a:lnTo>
                  <a:pt x="13077" y="217399"/>
                </a:lnTo>
                <a:lnTo>
                  <a:pt x="47188" y="266004"/>
                </a:lnTo>
                <a:lnTo>
                  <a:pt x="85397" y="293356"/>
                </a:lnTo>
                <a:lnTo>
                  <a:pt x="129875" y="308741"/>
                </a:lnTo>
                <a:lnTo>
                  <a:pt x="162342" y="311752"/>
                </a:lnTo>
                <a:lnTo>
                  <a:pt x="178791" y="310886"/>
                </a:lnTo>
                <a:lnTo>
                  <a:pt x="194779" y="308475"/>
                </a:lnTo>
                <a:lnTo>
                  <a:pt x="210218" y="304593"/>
                </a:lnTo>
                <a:lnTo>
                  <a:pt x="225019" y="299319"/>
                </a:lnTo>
                <a:lnTo>
                  <a:pt x="235048" y="294627"/>
                </a:lnTo>
                <a:lnTo>
                  <a:pt x="161512" y="294627"/>
                </a:lnTo>
                <a:lnTo>
                  <a:pt x="146720" y="293896"/>
                </a:lnTo>
                <a:lnTo>
                  <a:pt x="105230" y="283657"/>
                </a:lnTo>
                <a:lnTo>
                  <a:pt x="59424" y="253937"/>
                </a:lnTo>
                <a:lnTo>
                  <a:pt x="34471" y="221846"/>
                </a:lnTo>
                <a:lnTo>
                  <a:pt x="20022" y="183675"/>
                </a:lnTo>
                <a:lnTo>
                  <a:pt x="17153" y="155126"/>
                </a:lnTo>
                <a:lnTo>
                  <a:pt x="17881" y="141547"/>
                </a:lnTo>
                <a:lnTo>
                  <a:pt x="28520" y="101774"/>
                </a:lnTo>
                <a:lnTo>
                  <a:pt x="59424" y="57815"/>
                </a:lnTo>
                <a:lnTo>
                  <a:pt x="92839" y="33829"/>
                </a:lnTo>
                <a:lnTo>
                  <a:pt x="132632" y="19921"/>
                </a:lnTo>
                <a:lnTo>
                  <a:pt x="161789" y="17124"/>
                </a:lnTo>
                <a:lnTo>
                  <a:pt x="235126" y="17124"/>
                </a:lnTo>
                <a:lnTo>
                  <a:pt x="223758" y="11920"/>
                </a:lnTo>
                <a:lnTo>
                  <a:pt x="208904" y="6766"/>
                </a:lnTo>
                <a:lnTo>
                  <a:pt x="193426" y="3011"/>
                </a:lnTo>
                <a:lnTo>
                  <a:pt x="177411" y="731"/>
                </a:lnTo>
                <a:lnTo>
                  <a:pt x="160958" y="0"/>
                </a:lnTo>
                <a:close/>
              </a:path>
              <a:path w="323850" h="311785">
                <a:moveTo>
                  <a:pt x="235126" y="17124"/>
                </a:moveTo>
                <a:lnTo>
                  <a:pt x="161789" y="17124"/>
                </a:lnTo>
                <a:lnTo>
                  <a:pt x="176580" y="17855"/>
                </a:lnTo>
                <a:lnTo>
                  <a:pt x="190939" y="19974"/>
                </a:lnTo>
                <a:lnTo>
                  <a:pt x="230701" y="33954"/>
                </a:lnTo>
                <a:lnTo>
                  <a:pt x="263876" y="57815"/>
                </a:lnTo>
                <a:lnTo>
                  <a:pt x="288829" y="89905"/>
                </a:lnTo>
                <a:lnTo>
                  <a:pt x="303278" y="128076"/>
                </a:lnTo>
                <a:lnTo>
                  <a:pt x="306148" y="156626"/>
                </a:lnTo>
                <a:lnTo>
                  <a:pt x="305418" y="170204"/>
                </a:lnTo>
                <a:lnTo>
                  <a:pt x="294780" y="209978"/>
                </a:lnTo>
                <a:lnTo>
                  <a:pt x="263876" y="253937"/>
                </a:lnTo>
                <a:lnTo>
                  <a:pt x="230461" y="277922"/>
                </a:lnTo>
                <a:lnTo>
                  <a:pt x="190667" y="291830"/>
                </a:lnTo>
                <a:lnTo>
                  <a:pt x="161512" y="294627"/>
                </a:lnTo>
                <a:lnTo>
                  <a:pt x="235048" y="294627"/>
                </a:lnTo>
                <a:lnTo>
                  <a:pt x="275454" y="266637"/>
                </a:lnTo>
                <a:lnTo>
                  <a:pt x="304017" y="229777"/>
                </a:lnTo>
                <a:lnTo>
                  <a:pt x="320149" y="186656"/>
                </a:lnTo>
                <a:lnTo>
                  <a:pt x="323301" y="155126"/>
                </a:lnTo>
                <a:lnTo>
                  <a:pt x="322383" y="139156"/>
                </a:lnTo>
                <a:lnTo>
                  <a:pt x="310222" y="94353"/>
                </a:lnTo>
                <a:lnTo>
                  <a:pt x="276111" y="45747"/>
                </a:lnTo>
                <a:lnTo>
                  <a:pt x="237902" y="18395"/>
                </a:lnTo>
                <a:lnTo>
                  <a:pt x="235126" y="17124"/>
                </a:lnTo>
                <a:close/>
              </a:path>
              <a:path w="323850" h="311785">
                <a:moveTo>
                  <a:pt x="162065" y="22833"/>
                </a:moveTo>
                <a:lnTo>
                  <a:pt x="120667" y="28724"/>
                </a:lnTo>
                <a:lnTo>
                  <a:pt x="84095" y="45551"/>
                </a:lnTo>
                <a:lnTo>
                  <a:pt x="46349" y="81813"/>
                </a:lnTo>
                <a:lnTo>
                  <a:pt x="29174" y="115983"/>
                </a:lnTo>
                <a:lnTo>
                  <a:pt x="22845" y="155126"/>
                </a:lnTo>
                <a:lnTo>
                  <a:pt x="22887" y="156626"/>
                </a:lnTo>
                <a:lnTo>
                  <a:pt x="28903" y="194933"/>
                </a:lnTo>
                <a:lnTo>
                  <a:pt x="46349" y="229938"/>
                </a:lnTo>
                <a:lnTo>
                  <a:pt x="84095" y="266201"/>
                </a:lnTo>
                <a:lnTo>
                  <a:pt x="119879" y="282793"/>
                </a:lnTo>
                <a:lnTo>
                  <a:pt x="161235" y="288919"/>
                </a:lnTo>
                <a:lnTo>
                  <a:pt x="175475" y="288268"/>
                </a:lnTo>
                <a:lnTo>
                  <a:pt x="189297" y="286282"/>
                </a:lnTo>
                <a:lnTo>
                  <a:pt x="201885" y="283211"/>
                </a:lnTo>
                <a:lnTo>
                  <a:pt x="160958" y="283211"/>
                </a:lnTo>
                <a:lnTo>
                  <a:pt x="147274" y="282479"/>
                </a:lnTo>
                <a:lnTo>
                  <a:pt x="109021" y="272875"/>
                </a:lnTo>
                <a:lnTo>
                  <a:pt x="67382" y="245660"/>
                </a:lnTo>
                <a:lnTo>
                  <a:pt x="38621" y="204591"/>
                </a:lnTo>
                <a:lnTo>
                  <a:pt x="28535" y="155126"/>
                </a:lnTo>
                <a:lnTo>
                  <a:pt x="29296" y="142147"/>
                </a:lnTo>
                <a:lnTo>
                  <a:pt x="44828" y="94782"/>
                </a:lnTo>
                <a:lnTo>
                  <a:pt x="87326" y="50281"/>
                </a:lnTo>
                <a:lnTo>
                  <a:pt x="122562" y="34115"/>
                </a:lnTo>
                <a:lnTo>
                  <a:pt x="162342" y="28541"/>
                </a:lnTo>
                <a:lnTo>
                  <a:pt x="201751" y="28541"/>
                </a:lnTo>
                <a:lnTo>
                  <a:pt x="190110" y="25629"/>
                </a:lnTo>
                <a:lnTo>
                  <a:pt x="176303" y="23564"/>
                </a:lnTo>
                <a:lnTo>
                  <a:pt x="162065" y="22833"/>
                </a:lnTo>
                <a:close/>
              </a:path>
              <a:path w="323850" h="311785">
                <a:moveTo>
                  <a:pt x="201751" y="28541"/>
                </a:moveTo>
                <a:lnTo>
                  <a:pt x="162342" y="28541"/>
                </a:lnTo>
                <a:lnTo>
                  <a:pt x="176027" y="29272"/>
                </a:lnTo>
                <a:lnTo>
                  <a:pt x="189280" y="31283"/>
                </a:lnTo>
                <a:lnTo>
                  <a:pt x="225901" y="44327"/>
                </a:lnTo>
                <a:lnTo>
                  <a:pt x="272343" y="85220"/>
                </a:lnTo>
                <a:lnTo>
                  <a:pt x="292237" y="131031"/>
                </a:lnTo>
                <a:lnTo>
                  <a:pt x="294765" y="156626"/>
                </a:lnTo>
                <a:lnTo>
                  <a:pt x="294004" y="169604"/>
                </a:lnTo>
                <a:lnTo>
                  <a:pt x="278472" y="216970"/>
                </a:lnTo>
                <a:lnTo>
                  <a:pt x="235973" y="261470"/>
                </a:lnTo>
                <a:lnTo>
                  <a:pt x="200737" y="277636"/>
                </a:lnTo>
                <a:lnTo>
                  <a:pt x="160958" y="283211"/>
                </a:lnTo>
                <a:lnTo>
                  <a:pt x="201885" y="283211"/>
                </a:lnTo>
                <a:lnTo>
                  <a:pt x="239205" y="266201"/>
                </a:lnTo>
                <a:lnTo>
                  <a:pt x="276951" y="229938"/>
                </a:lnTo>
                <a:lnTo>
                  <a:pt x="294126" y="195769"/>
                </a:lnTo>
                <a:lnTo>
                  <a:pt x="300456" y="156626"/>
                </a:lnTo>
                <a:lnTo>
                  <a:pt x="300414" y="155126"/>
                </a:lnTo>
                <a:lnTo>
                  <a:pt x="294396" y="116818"/>
                </a:lnTo>
                <a:lnTo>
                  <a:pt x="276951" y="81813"/>
                </a:lnTo>
                <a:lnTo>
                  <a:pt x="239205" y="45551"/>
                </a:lnTo>
                <a:lnTo>
                  <a:pt x="203422" y="28959"/>
                </a:lnTo>
                <a:lnTo>
                  <a:pt x="201751" y="285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272528" y="5861303"/>
            <a:ext cx="746759" cy="7284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766998" y="6110860"/>
            <a:ext cx="80645" cy="110489"/>
          </a:xfrm>
          <a:custGeom>
            <a:avLst/>
            <a:gdLst/>
            <a:ahLst/>
            <a:cxnLst/>
            <a:rect l="l" t="t" r="r" b="b"/>
            <a:pathLst>
              <a:path w="80645" h="110489">
                <a:moveTo>
                  <a:pt x="0" y="0"/>
                </a:moveTo>
                <a:lnTo>
                  <a:pt x="80022" y="110212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65759"/>
            <a:ext cx="7842504" cy="387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7748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C00000"/>
                </a:solidFill>
              </a:rPr>
              <a:t>Indirect </a:t>
            </a:r>
            <a:r>
              <a:rPr dirty="0" sz="3200" spc="-30">
                <a:solidFill>
                  <a:srgbClr val="C00000"/>
                </a:solidFill>
              </a:rPr>
              <a:t>Attack: </a:t>
            </a:r>
            <a:r>
              <a:rPr dirty="0" sz="3200" spc="-5"/>
              <a:t>The </a:t>
            </a:r>
            <a:r>
              <a:rPr dirty="0" sz="3200" spc="-25">
                <a:solidFill>
                  <a:srgbClr val="C00000"/>
                </a:solidFill>
              </a:rPr>
              <a:t>target </a:t>
            </a:r>
            <a:r>
              <a:rPr dirty="0" sz="3200" spc="-5"/>
              <a:t>node </a:t>
            </a:r>
            <a:r>
              <a:rPr dirty="0" sz="3200"/>
              <a:t>is </a:t>
            </a:r>
            <a:r>
              <a:rPr dirty="0" sz="3200" spc="-5"/>
              <a:t>not </a:t>
            </a:r>
            <a:r>
              <a:rPr dirty="0" sz="3200"/>
              <a:t>in </a:t>
            </a:r>
            <a:r>
              <a:rPr dirty="0" sz="3200" spc="-5"/>
              <a:t>the </a:t>
            </a:r>
            <a:r>
              <a:rPr dirty="0" sz="3200" spc="-5">
                <a:solidFill>
                  <a:srgbClr val="0000FF"/>
                </a:solidFill>
              </a:rPr>
              <a:t> </a:t>
            </a:r>
            <a:r>
              <a:rPr dirty="0" sz="3200" spc="-25">
                <a:solidFill>
                  <a:srgbClr val="0000FF"/>
                </a:solidFill>
              </a:rPr>
              <a:t>attacker </a:t>
            </a:r>
            <a:r>
              <a:rPr dirty="0" sz="3200" spc="-5"/>
              <a:t>nodes</a:t>
            </a:r>
            <a:r>
              <a:rPr dirty="0" sz="3200" spc="-5" b="0">
                <a:latin typeface="Calibri"/>
                <a:cs typeface="Calibri"/>
              </a:rPr>
              <a:t>: </a:t>
            </a:r>
            <a:r>
              <a:rPr dirty="0" sz="3200" b="0">
                <a:solidFill>
                  <a:srgbClr val="FF0000"/>
                </a:solidFill>
                <a:latin typeface="Cambria Math"/>
                <a:cs typeface="Cambria Math"/>
              </a:rPr>
              <a:t>𝒕 </a:t>
            </a:r>
            <a:r>
              <a:rPr dirty="0" sz="3200" b="0">
                <a:latin typeface="Cambria Math"/>
                <a:cs typeface="Cambria Math"/>
              </a:rPr>
              <a:t>∉</a:t>
            </a:r>
            <a:r>
              <a:rPr dirty="0" sz="3200" spc="150" b="0"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64BE"/>
                </a:solidFill>
                <a:latin typeface="Cambria Math"/>
                <a:cs typeface="Cambria Math"/>
              </a:rPr>
              <a:t>𝑺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30773"/>
            <a:ext cx="6287135" cy="40925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Modify </a:t>
            </a:r>
            <a:r>
              <a:rPr dirty="0" sz="3200" spc="-25" b="1">
                <a:solidFill>
                  <a:srgbClr val="0000FF"/>
                </a:solidFill>
                <a:latin typeface="Calibri"/>
                <a:cs typeface="Calibri"/>
              </a:rPr>
              <a:t>attacker </a:t>
            </a:r>
            <a:r>
              <a:rPr dirty="0" sz="3200" spc="-5">
                <a:latin typeface="Calibri"/>
                <a:cs typeface="Calibri"/>
              </a:rPr>
              <a:t>node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features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Ex) Hijack friends of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targets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60B5CC"/>
              </a:buClr>
              <a:buFont typeface="Arial"/>
              <a:buChar char="▪"/>
            </a:pPr>
            <a:endParaRPr sz="3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Add connections </a:t>
            </a:r>
            <a:r>
              <a:rPr dirty="0" sz="3200" spc="-15">
                <a:latin typeface="Calibri"/>
                <a:cs typeface="Calibri"/>
              </a:rPr>
              <a:t>to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30" b="1">
                <a:solidFill>
                  <a:srgbClr val="0000FF"/>
                </a:solidFill>
                <a:latin typeface="Calibri"/>
                <a:cs typeface="Calibri"/>
              </a:rPr>
              <a:t>attackers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Ex) </a:t>
            </a:r>
            <a:r>
              <a:rPr dirty="0" sz="2800" spc="-25">
                <a:latin typeface="Calibri"/>
                <a:cs typeface="Calibri"/>
              </a:rPr>
              <a:t>Create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link, link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farm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60B5CC"/>
              </a:buClr>
              <a:buFont typeface="Arial"/>
              <a:buChar char="▪"/>
            </a:pPr>
            <a:endParaRPr sz="3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Remove </a:t>
            </a:r>
            <a:r>
              <a:rPr dirty="0" sz="3200" spc="-5">
                <a:latin typeface="Calibri"/>
                <a:cs typeface="Calibri"/>
              </a:rPr>
              <a:t>connections </a:t>
            </a:r>
            <a:r>
              <a:rPr dirty="0" sz="3200" spc="-20">
                <a:latin typeface="Calibri"/>
                <a:cs typeface="Calibri"/>
              </a:rPr>
              <a:t>from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30" b="1">
                <a:solidFill>
                  <a:srgbClr val="0000FF"/>
                </a:solidFill>
                <a:latin typeface="Calibri"/>
                <a:cs typeface="Calibri"/>
              </a:rPr>
              <a:t>attackers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Ex) </a:t>
            </a:r>
            <a:r>
              <a:rPr dirty="0" sz="2800" spc="-15">
                <a:latin typeface="Calibri"/>
                <a:cs typeface="Calibri"/>
              </a:rPr>
              <a:t>Delete </a:t>
            </a:r>
            <a:r>
              <a:rPr dirty="0" sz="2800" spc="-10">
                <a:latin typeface="Calibri"/>
                <a:cs typeface="Calibri"/>
              </a:rPr>
              <a:t>undesirable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link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59881" y="2218622"/>
            <a:ext cx="1655235" cy="13049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91939" y="2553916"/>
            <a:ext cx="0" cy="189230"/>
          </a:xfrm>
          <a:custGeom>
            <a:avLst/>
            <a:gdLst/>
            <a:ahLst/>
            <a:cxnLst/>
            <a:rect l="l" t="t" r="r" b="b"/>
            <a:pathLst>
              <a:path w="0" h="189230">
                <a:moveTo>
                  <a:pt x="0" y="189124"/>
                </a:moveTo>
                <a:lnTo>
                  <a:pt x="1" y="0"/>
                </a:lnTo>
                <a:lnTo>
                  <a:pt x="0" y="189124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85589" y="2547566"/>
            <a:ext cx="213360" cy="201930"/>
          </a:xfrm>
          <a:custGeom>
            <a:avLst/>
            <a:gdLst/>
            <a:ahLst/>
            <a:cxnLst/>
            <a:rect l="l" t="t" r="r" b="b"/>
            <a:pathLst>
              <a:path w="213359" h="201930">
                <a:moveTo>
                  <a:pt x="210235" y="0"/>
                </a:moveTo>
                <a:lnTo>
                  <a:pt x="2843" y="0"/>
                </a:lnTo>
                <a:lnTo>
                  <a:pt x="0" y="2843"/>
                </a:lnTo>
                <a:lnTo>
                  <a:pt x="0" y="198981"/>
                </a:lnTo>
                <a:lnTo>
                  <a:pt x="2843" y="201824"/>
                </a:lnTo>
                <a:lnTo>
                  <a:pt x="210235" y="201824"/>
                </a:lnTo>
                <a:lnTo>
                  <a:pt x="213078" y="198981"/>
                </a:lnTo>
                <a:lnTo>
                  <a:pt x="213078" y="194204"/>
                </a:lnTo>
                <a:lnTo>
                  <a:pt x="7620" y="194204"/>
                </a:lnTo>
                <a:lnTo>
                  <a:pt x="7620" y="7620"/>
                </a:lnTo>
                <a:lnTo>
                  <a:pt x="213078" y="7620"/>
                </a:lnTo>
                <a:lnTo>
                  <a:pt x="213078" y="2843"/>
                </a:lnTo>
                <a:lnTo>
                  <a:pt x="210235" y="0"/>
                </a:lnTo>
                <a:close/>
              </a:path>
              <a:path w="213359" h="201930">
                <a:moveTo>
                  <a:pt x="213078" y="7620"/>
                </a:moveTo>
                <a:lnTo>
                  <a:pt x="205458" y="7620"/>
                </a:lnTo>
                <a:lnTo>
                  <a:pt x="205458" y="194204"/>
                </a:lnTo>
                <a:lnTo>
                  <a:pt x="213078" y="194204"/>
                </a:lnTo>
                <a:lnTo>
                  <a:pt x="213078" y="7620"/>
                </a:lnTo>
                <a:close/>
              </a:path>
              <a:path w="213359" h="201930">
                <a:moveTo>
                  <a:pt x="202918" y="10160"/>
                </a:moveTo>
                <a:lnTo>
                  <a:pt x="10160" y="10160"/>
                </a:lnTo>
                <a:lnTo>
                  <a:pt x="10160" y="191664"/>
                </a:lnTo>
                <a:lnTo>
                  <a:pt x="202918" y="191664"/>
                </a:lnTo>
                <a:lnTo>
                  <a:pt x="202918" y="189124"/>
                </a:lnTo>
                <a:lnTo>
                  <a:pt x="12700" y="189124"/>
                </a:lnTo>
                <a:lnTo>
                  <a:pt x="12700" y="12700"/>
                </a:lnTo>
                <a:lnTo>
                  <a:pt x="202918" y="12700"/>
                </a:lnTo>
                <a:lnTo>
                  <a:pt x="202918" y="10160"/>
                </a:lnTo>
                <a:close/>
              </a:path>
              <a:path w="213359" h="201930">
                <a:moveTo>
                  <a:pt x="202918" y="12700"/>
                </a:moveTo>
                <a:lnTo>
                  <a:pt x="200378" y="12700"/>
                </a:lnTo>
                <a:lnTo>
                  <a:pt x="200378" y="189124"/>
                </a:lnTo>
                <a:lnTo>
                  <a:pt x="202918" y="189124"/>
                </a:lnTo>
                <a:lnTo>
                  <a:pt x="20291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85589" y="2736691"/>
            <a:ext cx="213360" cy="201930"/>
          </a:xfrm>
          <a:custGeom>
            <a:avLst/>
            <a:gdLst/>
            <a:ahLst/>
            <a:cxnLst/>
            <a:rect l="l" t="t" r="r" b="b"/>
            <a:pathLst>
              <a:path w="213359" h="201930">
                <a:moveTo>
                  <a:pt x="210235" y="0"/>
                </a:moveTo>
                <a:lnTo>
                  <a:pt x="2843" y="0"/>
                </a:lnTo>
                <a:lnTo>
                  <a:pt x="0" y="2842"/>
                </a:lnTo>
                <a:lnTo>
                  <a:pt x="0" y="198981"/>
                </a:lnTo>
                <a:lnTo>
                  <a:pt x="2843" y="201823"/>
                </a:lnTo>
                <a:lnTo>
                  <a:pt x="210235" y="201823"/>
                </a:lnTo>
                <a:lnTo>
                  <a:pt x="213078" y="198981"/>
                </a:lnTo>
                <a:lnTo>
                  <a:pt x="213078" y="194203"/>
                </a:lnTo>
                <a:lnTo>
                  <a:pt x="7620" y="194203"/>
                </a:lnTo>
                <a:lnTo>
                  <a:pt x="7620" y="7619"/>
                </a:lnTo>
                <a:lnTo>
                  <a:pt x="213078" y="7619"/>
                </a:lnTo>
                <a:lnTo>
                  <a:pt x="213078" y="2842"/>
                </a:lnTo>
                <a:lnTo>
                  <a:pt x="210235" y="0"/>
                </a:lnTo>
                <a:close/>
              </a:path>
              <a:path w="213359" h="201930">
                <a:moveTo>
                  <a:pt x="213078" y="7619"/>
                </a:moveTo>
                <a:lnTo>
                  <a:pt x="205458" y="7619"/>
                </a:lnTo>
                <a:lnTo>
                  <a:pt x="205458" y="194203"/>
                </a:lnTo>
                <a:lnTo>
                  <a:pt x="213078" y="194203"/>
                </a:lnTo>
                <a:lnTo>
                  <a:pt x="213078" y="7619"/>
                </a:lnTo>
                <a:close/>
              </a:path>
              <a:path w="213359" h="201930">
                <a:moveTo>
                  <a:pt x="202918" y="10160"/>
                </a:moveTo>
                <a:lnTo>
                  <a:pt x="10160" y="10160"/>
                </a:lnTo>
                <a:lnTo>
                  <a:pt x="10160" y="191663"/>
                </a:lnTo>
                <a:lnTo>
                  <a:pt x="202918" y="191663"/>
                </a:lnTo>
                <a:lnTo>
                  <a:pt x="202918" y="189123"/>
                </a:lnTo>
                <a:lnTo>
                  <a:pt x="12700" y="189123"/>
                </a:lnTo>
                <a:lnTo>
                  <a:pt x="12700" y="12700"/>
                </a:lnTo>
                <a:lnTo>
                  <a:pt x="202918" y="12700"/>
                </a:lnTo>
                <a:lnTo>
                  <a:pt x="202918" y="10160"/>
                </a:lnTo>
                <a:close/>
              </a:path>
              <a:path w="213359" h="201930">
                <a:moveTo>
                  <a:pt x="202918" y="12700"/>
                </a:moveTo>
                <a:lnTo>
                  <a:pt x="200378" y="12700"/>
                </a:lnTo>
                <a:lnTo>
                  <a:pt x="200378" y="189123"/>
                </a:lnTo>
                <a:lnTo>
                  <a:pt x="202918" y="189123"/>
                </a:lnTo>
                <a:lnTo>
                  <a:pt x="20291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291938" y="2553906"/>
            <a:ext cx="200660" cy="189230"/>
          </a:xfrm>
          <a:custGeom>
            <a:avLst/>
            <a:gdLst/>
            <a:ahLst/>
            <a:cxnLst/>
            <a:rect l="l" t="t" r="r" b="b"/>
            <a:pathLst>
              <a:path w="200659" h="189230">
                <a:moveTo>
                  <a:pt x="0" y="0"/>
                </a:moveTo>
                <a:lnTo>
                  <a:pt x="200380" y="0"/>
                </a:lnTo>
                <a:lnTo>
                  <a:pt x="200380" y="189122"/>
                </a:lnTo>
                <a:lnTo>
                  <a:pt x="0" y="18912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85588" y="2547556"/>
            <a:ext cx="213360" cy="201930"/>
          </a:xfrm>
          <a:custGeom>
            <a:avLst/>
            <a:gdLst/>
            <a:ahLst/>
            <a:cxnLst/>
            <a:rect l="l" t="t" r="r" b="b"/>
            <a:pathLst>
              <a:path w="213359" h="201930">
                <a:moveTo>
                  <a:pt x="210237" y="0"/>
                </a:moveTo>
                <a:lnTo>
                  <a:pt x="2843" y="0"/>
                </a:lnTo>
                <a:lnTo>
                  <a:pt x="0" y="2842"/>
                </a:lnTo>
                <a:lnTo>
                  <a:pt x="0" y="198979"/>
                </a:lnTo>
                <a:lnTo>
                  <a:pt x="2843" y="201822"/>
                </a:lnTo>
                <a:lnTo>
                  <a:pt x="210237" y="201822"/>
                </a:lnTo>
                <a:lnTo>
                  <a:pt x="213080" y="198979"/>
                </a:lnTo>
                <a:lnTo>
                  <a:pt x="213080" y="194202"/>
                </a:lnTo>
                <a:lnTo>
                  <a:pt x="7620" y="194202"/>
                </a:lnTo>
                <a:lnTo>
                  <a:pt x="7620" y="7619"/>
                </a:lnTo>
                <a:lnTo>
                  <a:pt x="213080" y="7619"/>
                </a:lnTo>
                <a:lnTo>
                  <a:pt x="213080" y="2842"/>
                </a:lnTo>
                <a:lnTo>
                  <a:pt x="210237" y="0"/>
                </a:lnTo>
                <a:close/>
              </a:path>
              <a:path w="213359" h="201930">
                <a:moveTo>
                  <a:pt x="213080" y="7619"/>
                </a:moveTo>
                <a:lnTo>
                  <a:pt x="205460" y="7619"/>
                </a:lnTo>
                <a:lnTo>
                  <a:pt x="205460" y="194202"/>
                </a:lnTo>
                <a:lnTo>
                  <a:pt x="213080" y="194202"/>
                </a:lnTo>
                <a:lnTo>
                  <a:pt x="213080" y="7619"/>
                </a:lnTo>
                <a:close/>
              </a:path>
              <a:path w="213359" h="201930">
                <a:moveTo>
                  <a:pt x="202920" y="10159"/>
                </a:moveTo>
                <a:lnTo>
                  <a:pt x="10159" y="10159"/>
                </a:lnTo>
                <a:lnTo>
                  <a:pt x="10159" y="191662"/>
                </a:lnTo>
                <a:lnTo>
                  <a:pt x="202920" y="191662"/>
                </a:lnTo>
                <a:lnTo>
                  <a:pt x="202920" y="189122"/>
                </a:lnTo>
                <a:lnTo>
                  <a:pt x="12700" y="189122"/>
                </a:lnTo>
                <a:lnTo>
                  <a:pt x="12700" y="12700"/>
                </a:lnTo>
                <a:lnTo>
                  <a:pt x="202920" y="12700"/>
                </a:lnTo>
                <a:lnTo>
                  <a:pt x="202920" y="10159"/>
                </a:lnTo>
                <a:close/>
              </a:path>
              <a:path w="213359" h="201930">
                <a:moveTo>
                  <a:pt x="202920" y="12700"/>
                </a:moveTo>
                <a:lnTo>
                  <a:pt x="200380" y="12700"/>
                </a:lnTo>
                <a:lnTo>
                  <a:pt x="200380" y="189122"/>
                </a:lnTo>
                <a:lnTo>
                  <a:pt x="202920" y="189122"/>
                </a:lnTo>
                <a:lnTo>
                  <a:pt x="202920" y="127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91932" y="2743032"/>
            <a:ext cx="200660" cy="189230"/>
          </a:xfrm>
          <a:custGeom>
            <a:avLst/>
            <a:gdLst/>
            <a:ahLst/>
            <a:cxnLst/>
            <a:rect l="l" t="t" r="r" b="b"/>
            <a:pathLst>
              <a:path w="200659" h="189230">
                <a:moveTo>
                  <a:pt x="0" y="0"/>
                </a:moveTo>
                <a:lnTo>
                  <a:pt x="200379" y="0"/>
                </a:lnTo>
                <a:lnTo>
                  <a:pt x="200379" y="189122"/>
                </a:lnTo>
                <a:lnTo>
                  <a:pt x="0" y="18912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285582" y="2736682"/>
            <a:ext cx="213360" cy="201930"/>
          </a:xfrm>
          <a:custGeom>
            <a:avLst/>
            <a:gdLst/>
            <a:ahLst/>
            <a:cxnLst/>
            <a:rect l="l" t="t" r="r" b="b"/>
            <a:pathLst>
              <a:path w="213359" h="201930">
                <a:moveTo>
                  <a:pt x="210237" y="0"/>
                </a:moveTo>
                <a:lnTo>
                  <a:pt x="2843" y="0"/>
                </a:lnTo>
                <a:lnTo>
                  <a:pt x="0" y="2842"/>
                </a:lnTo>
                <a:lnTo>
                  <a:pt x="0" y="198979"/>
                </a:lnTo>
                <a:lnTo>
                  <a:pt x="2843" y="201822"/>
                </a:lnTo>
                <a:lnTo>
                  <a:pt x="210237" y="201822"/>
                </a:lnTo>
                <a:lnTo>
                  <a:pt x="213079" y="198979"/>
                </a:lnTo>
                <a:lnTo>
                  <a:pt x="213079" y="194202"/>
                </a:lnTo>
                <a:lnTo>
                  <a:pt x="7620" y="194202"/>
                </a:lnTo>
                <a:lnTo>
                  <a:pt x="7620" y="7619"/>
                </a:lnTo>
                <a:lnTo>
                  <a:pt x="213079" y="7619"/>
                </a:lnTo>
                <a:lnTo>
                  <a:pt x="213079" y="2842"/>
                </a:lnTo>
                <a:lnTo>
                  <a:pt x="210237" y="0"/>
                </a:lnTo>
                <a:close/>
              </a:path>
              <a:path w="213359" h="201930">
                <a:moveTo>
                  <a:pt x="213079" y="7619"/>
                </a:moveTo>
                <a:lnTo>
                  <a:pt x="205459" y="7619"/>
                </a:lnTo>
                <a:lnTo>
                  <a:pt x="205459" y="194202"/>
                </a:lnTo>
                <a:lnTo>
                  <a:pt x="213079" y="194202"/>
                </a:lnTo>
                <a:lnTo>
                  <a:pt x="213079" y="7619"/>
                </a:lnTo>
                <a:close/>
              </a:path>
              <a:path w="213359" h="201930">
                <a:moveTo>
                  <a:pt x="202919" y="10160"/>
                </a:moveTo>
                <a:lnTo>
                  <a:pt x="10159" y="10160"/>
                </a:lnTo>
                <a:lnTo>
                  <a:pt x="10159" y="191662"/>
                </a:lnTo>
                <a:lnTo>
                  <a:pt x="202919" y="191662"/>
                </a:lnTo>
                <a:lnTo>
                  <a:pt x="202919" y="189122"/>
                </a:lnTo>
                <a:lnTo>
                  <a:pt x="12700" y="189122"/>
                </a:lnTo>
                <a:lnTo>
                  <a:pt x="12700" y="12700"/>
                </a:lnTo>
                <a:lnTo>
                  <a:pt x="202919" y="12700"/>
                </a:lnTo>
                <a:lnTo>
                  <a:pt x="202919" y="10160"/>
                </a:lnTo>
                <a:close/>
              </a:path>
              <a:path w="213359" h="201930">
                <a:moveTo>
                  <a:pt x="202919" y="12700"/>
                </a:moveTo>
                <a:lnTo>
                  <a:pt x="200379" y="12700"/>
                </a:lnTo>
                <a:lnTo>
                  <a:pt x="200379" y="189122"/>
                </a:lnTo>
                <a:lnTo>
                  <a:pt x="202919" y="189122"/>
                </a:lnTo>
                <a:lnTo>
                  <a:pt x="202919" y="127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51154" y="3757411"/>
            <a:ext cx="1414691" cy="12844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65704" y="5314852"/>
            <a:ext cx="1451382" cy="1318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358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7580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D60093"/>
                </a:solidFill>
              </a:rPr>
              <a:t>Objective </a:t>
            </a:r>
            <a:r>
              <a:rPr dirty="0" sz="3200" spc="-20">
                <a:solidFill>
                  <a:srgbClr val="D60093"/>
                </a:solidFill>
              </a:rPr>
              <a:t>for </a:t>
            </a:r>
            <a:r>
              <a:rPr dirty="0" sz="3200" spc="-5">
                <a:solidFill>
                  <a:srgbClr val="D60093"/>
                </a:solidFill>
              </a:rPr>
              <a:t>the</a:t>
            </a:r>
            <a:r>
              <a:rPr dirty="0" sz="3200" spc="5">
                <a:solidFill>
                  <a:srgbClr val="D60093"/>
                </a:solidFill>
              </a:rPr>
              <a:t> </a:t>
            </a:r>
            <a:r>
              <a:rPr dirty="0" sz="3200" spc="-25">
                <a:solidFill>
                  <a:srgbClr val="D60093"/>
                </a:solidFill>
              </a:rPr>
              <a:t>attacker</a:t>
            </a:r>
            <a:r>
              <a:rPr dirty="0" sz="3200" spc="-25" b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808" y="1862271"/>
            <a:ext cx="7862570" cy="922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54"/>
              </a:lnSpc>
            </a:pPr>
            <a:r>
              <a:rPr dirty="0" sz="3000" spc="-15" b="1">
                <a:latin typeface="Calibri"/>
                <a:cs typeface="Calibri"/>
              </a:rPr>
              <a:t>Maximize </a:t>
            </a:r>
            <a:r>
              <a:rPr dirty="0" sz="3000" spc="-10">
                <a:latin typeface="Calibri"/>
                <a:cs typeface="Calibri"/>
              </a:rPr>
              <a:t>(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change </a:t>
            </a: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3000" spc="-25" b="1">
                <a:solidFill>
                  <a:srgbClr val="C00000"/>
                </a:solidFill>
                <a:latin typeface="Calibri"/>
                <a:cs typeface="Calibri"/>
              </a:rPr>
              <a:t>target </a:t>
            </a: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node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label</a:t>
            </a:r>
            <a:r>
              <a:rPr dirty="0" sz="30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prediction</a:t>
            </a:r>
            <a:r>
              <a:rPr dirty="0" sz="3000" spc="-10">
                <a:latin typeface="Calibri"/>
                <a:cs typeface="Calibri"/>
              </a:rPr>
              <a:t>)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3000" spc="-5" b="1">
                <a:latin typeface="Calibri"/>
                <a:cs typeface="Calibri"/>
              </a:rPr>
              <a:t>Subject </a:t>
            </a:r>
            <a:r>
              <a:rPr dirty="0" sz="3000" spc="-20" b="1">
                <a:latin typeface="Calibri"/>
                <a:cs typeface="Calibri"/>
              </a:rPr>
              <a:t>to </a:t>
            </a:r>
            <a:r>
              <a:rPr dirty="0" sz="3000" spc="-15">
                <a:latin typeface="Calibri"/>
                <a:cs typeface="Calibri"/>
              </a:rPr>
              <a:t>(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manipulation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small</a:t>
            </a:r>
            <a:r>
              <a:rPr dirty="0" sz="3000" spc="-5">
                <a:latin typeface="Calibri"/>
                <a:cs typeface="Calibri"/>
              </a:rPr>
              <a:t>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36103" y="4400027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36106" y="4594383"/>
            <a:ext cx="197485" cy="194945"/>
          </a:xfrm>
          <a:custGeom>
            <a:avLst/>
            <a:gdLst/>
            <a:ahLst/>
            <a:cxnLst/>
            <a:rect l="l" t="t" r="r" b="b"/>
            <a:pathLst>
              <a:path w="197485" h="194945">
                <a:moveTo>
                  <a:pt x="0" y="194355"/>
                </a:moveTo>
                <a:lnTo>
                  <a:pt x="197384" y="194355"/>
                </a:lnTo>
                <a:lnTo>
                  <a:pt x="197384" y="0"/>
                </a:lnTo>
                <a:lnTo>
                  <a:pt x="0" y="0"/>
                </a:lnTo>
                <a:lnTo>
                  <a:pt x="0" y="194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36106" y="4594383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36103" y="4788739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4" y="0"/>
                </a:lnTo>
                <a:lnTo>
                  <a:pt x="197384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36103" y="4788739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070501" y="4350003"/>
            <a:ext cx="128905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535"/>
              </a:lnSpc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81371" y="5793573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81216" y="5987929"/>
            <a:ext cx="197485" cy="194945"/>
          </a:xfrm>
          <a:custGeom>
            <a:avLst/>
            <a:gdLst/>
            <a:ahLst/>
            <a:cxnLst/>
            <a:rect l="l" t="t" r="r" b="b"/>
            <a:pathLst>
              <a:path w="197485" h="194945">
                <a:moveTo>
                  <a:pt x="0" y="194356"/>
                </a:moveTo>
                <a:lnTo>
                  <a:pt x="197385" y="194356"/>
                </a:lnTo>
                <a:lnTo>
                  <a:pt x="197385" y="0"/>
                </a:lnTo>
                <a:lnTo>
                  <a:pt x="0" y="0"/>
                </a:lnTo>
                <a:lnTo>
                  <a:pt x="0" y="1943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81216" y="5987929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81216" y="6182285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81216" y="6182285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315615" y="5745988"/>
            <a:ext cx="128905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14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525"/>
              </a:lnSpc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43041" y="4743503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43041" y="4937859"/>
            <a:ext cx="197485" cy="194945"/>
          </a:xfrm>
          <a:custGeom>
            <a:avLst/>
            <a:gdLst/>
            <a:ahLst/>
            <a:cxnLst/>
            <a:rect l="l" t="t" r="r" b="b"/>
            <a:pathLst>
              <a:path w="197485" h="194945">
                <a:moveTo>
                  <a:pt x="0" y="194354"/>
                </a:moveTo>
                <a:lnTo>
                  <a:pt x="197384" y="194354"/>
                </a:lnTo>
                <a:lnTo>
                  <a:pt x="197384" y="0"/>
                </a:lnTo>
                <a:lnTo>
                  <a:pt x="0" y="0"/>
                </a:lnTo>
                <a:lnTo>
                  <a:pt x="0" y="1943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43041" y="4937859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43038" y="5132213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43038" y="5132213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177437" y="4694428"/>
            <a:ext cx="128905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535"/>
              </a:lnSpc>
            </a:pPr>
            <a:r>
              <a:rPr dirty="0" sz="160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60747" y="5662391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60747" y="5856746"/>
            <a:ext cx="197485" cy="194945"/>
          </a:xfrm>
          <a:custGeom>
            <a:avLst/>
            <a:gdLst/>
            <a:ahLst/>
            <a:cxnLst/>
            <a:rect l="l" t="t" r="r" b="b"/>
            <a:pathLst>
              <a:path w="197485" h="194945">
                <a:moveTo>
                  <a:pt x="0" y="194356"/>
                </a:moveTo>
                <a:lnTo>
                  <a:pt x="197384" y="194356"/>
                </a:lnTo>
                <a:lnTo>
                  <a:pt x="197384" y="0"/>
                </a:lnTo>
                <a:lnTo>
                  <a:pt x="0" y="0"/>
                </a:lnTo>
                <a:lnTo>
                  <a:pt x="0" y="1943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60747" y="5856746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60747" y="6051102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4" y="0"/>
                </a:lnTo>
                <a:lnTo>
                  <a:pt x="197384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60747" y="6051102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595145" y="5611876"/>
            <a:ext cx="128905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535"/>
              </a:lnSpc>
            </a:pPr>
            <a:r>
              <a:rPr dirty="0" sz="160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89082" y="5111315"/>
            <a:ext cx="197485" cy="194945"/>
          </a:xfrm>
          <a:custGeom>
            <a:avLst/>
            <a:gdLst/>
            <a:ahLst/>
            <a:cxnLst/>
            <a:rect l="l" t="t" r="r" b="b"/>
            <a:pathLst>
              <a:path w="197485" h="194945">
                <a:moveTo>
                  <a:pt x="0" y="194355"/>
                </a:moveTo>
                <a:lnTo>
                  <a:pt x="197385" y="194355"/>
                </a:lnTo>
                <a:lnTo>
                  <a:pt x="197385" y="0"/>
                </a:lnTo>
                <a:lnTo>
                  <a:pt x="0" y="0"/>
                </a:lnTo>
                <a:lnTo>
                  <a:pt x="0" y="194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89082" y="5305671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5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556247" y="5001493"/>
            <a:ext cx="146050" cy="332740"/>
          </a:xfrm>
          <a:custGeom>
            <a:avLst/>
            <a:gdLst/>
            <a:ahLst/>
            <a:cxnLst/>
            <a:rect l="l" t="t" r="r" b="b"/>
            <a:pathLst>
              <a:path w="146050" h="332739">
                <a:moveTo>
                  <a:pt x="145678" y="0"/>
                </a:moveTo>
                <a:lnTo>
                  <a:pt x="0" y="33267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33167" y="5677414"/>
            <a:ext cx="269240" cy="274955"/>
          </a:xfrm>
          <a:custGeom>
            <a:avLst/>
            <a:gdLst/>
            <a:ahLst/>
            <a:cxnLst/>
            <a:rect l="l" t="t" r="r" b="b"/>
            <a:pathLst>
              <a:path w="269239" h="274954">
                <a:moveTo>
                  <a:pt x="0" y="0"/>
                </a:moveTo>
                <a:lnTo>
                  <a:pt x="269113" y="2747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060293" y="5633896"/>
            <a:ext cx="247015" cy="268605"/>
          </a:xfrm>
          <a:custGeom>
            <a:avLst/>
            <a:gdLst/>
            <a:ahLst/>
            <a:cxnLst/>
            <a:rect l="l" t="t" r="r" b="b"/>
            <a:pathLst>
              <a:path w="247014" h="268604">
                <a:moveTo>
                  <a:pt x="246768" y="0"/>
                </a:moveTo>
                <a:lnTo>
                  <a:pt x="0" y="2681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38262" y="4977353"/>
            <a:ext cx="339725" cy="192405"/>
          </a:xfrm>
          <a:custGeom>
            <a:avLst/>
            <a:gdLst/>
            <a:ahLst/>
            <a:cxnLst/>
            <a:rect l="l" t="t" r="r" b="b"/>
            <a:pathLst>
              <a:path w="339725" h="192404">
                <a:moveTo>
                  <a:pt x="0" y="0"/>
                </a:moveTo>
                <a:lnTo>
                  <a:pt x="339406" y="19222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94726" y="5989446"/>
            <a:ext cx="768350" cy="34925"/>
          </a:xfrm>
          <a:custGeom>
            <a:avLst/>
            <a:gdLst/>
            <a:ahLst/>
            <a:cxnLst/>
            <a:rect l="l" t="t" r="r" b="b"/>
            <a:pathLst>
              <a:path w="768350" h="34925">
                <a:moveTo>
                  <a:pt x="0" y="0"/>
                </a:moveTo>
                <a:lnTo>
                  <a:pt x="767922" y="34339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76978" y="5386211"/>
            <a:ext cx="151765" cy="549275"/>
          </a:xfrm>
          <a:custGeom>
            <a:avLst/>
            <a:gdLst/>
            <a:ahLst/>
            <a:cxnLst/>
            <a:rect l="l" t="t" r="r" b="b"/>
            <a:pathLst>
              <a:path w="151764" h="549275">
                <a:moveTo>
                  <a:pt x="151275" y="0"/>
                </a:moveTo>
                <a:lnTo>
                  <a:pt x="0" y="54879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596379" y="4732873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89" h="402589">
                <a:moveTo>
                  <a:pt x="201067" y="0"/>
                </a:moveTo>
                <a:lnTo>
                  <a:pt x="154964" y="5310"/>
                </a:lnTo>
                <a:lnTo>
                  <a:pt x="112643" y="20436"/>
                </a:lnTo>
                <a:lnTo>
                  <a:pt x="75310" y="44171"/>
                </a:lnTo>
                <a:lnTo>
                  <a:pt x="44172" y="75309"/>
                </a:lnTo>
                <a:lnTo>
                  <a:pt x="20436" y="112642"/>
                </a:lnTo>
                <a:lnTo>
                  <a:pt x="5310" y="154963"/>
                </a:lnTo>
                <a:lnTo>
                  <a:pt x="0" y="201066"/>
                </a:lnTo>
                <a:lnTo>
                  <a:pt x="5310" y="247169"/>
                </a:lnTo>
                <a:lnTo>
                  <a:pt x="20436" y="289490"/>
                </a:lnTo>
                <a:lnTo>
                  <a:pt x="44172" y="326823"/>
                </a:lnTo>
                <a:lnTo>
                  <a:pt x="75310" y="357960"/>
                </a:lnTo>
                <a:lnTo>
                  <a:pt x="112643" y="381696"/>
                </a:lnTo>
                <a:lnTo>
                  <a:pt x="154964" y="396822"/>
                </a:lnTo>
                <a:lnTo>
                  <a:pt x="201067" y="402132"/>
                </a:lnTo>
                <a:lnTo>
                  <a:pt x="247170" y="396822"/>
                </a:lnTo>
                <a:lnTo>
                  <a:pt x="289491" y="381696"/>
                </a:lnTo>
                <a:lnTo>
                  <a:pt x="326825" y="357960"/>
                </a:lnTo>
                <a:lnTo>
                  <a:pt x="357962" y="326823"/>
                </a:lnTo>
                <a:lnTo>
                  <a:pt x="381698" y="289490"/>
                </a:lnTo>
                <a:lnTo>
                  <a:pt x="396824" y="247169"/>
                </a:lnTo>
                <a:lnTo>
                  <a:pt x="402135" y="201066"/>
                </a:lnTo>
                <a:lnTo>
                  <a:pt x="396824" y="154963"/>
                </a:lnTo>
                <a:lnTo>
                  <a:pt x="381698" y="112642"/>
                </a:lnTo>
                <a:lnTo>
                  <a:pt x="357962" y="75309"/>
                </a:lnTo>
                <a:lnTo>
                  <a:pt x="326825" y="44171"/>
                </a:lnTo>
                <a:lnTo>
                  <a:pt x="289491" y="20436"/>
                </a:lnTo>
                <a:lnTo>
                  <a:pt x="247170" y="5310"/>
                </a:lnTo>
                <a:lnTo>
                  <a:pt x="201067" y="0"/>
                </a:lnTo>
                <a:close/>
              </a:path>
            </a:pathLst>
          </a:custGeom>
          <a:solidFill>
            <a:srgbClr val="006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113341" y="5102655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89" h="402589">
                <a:moveTo>
                  <a:pt x="201067" y="0"/>
                </a:moveTo>
                <a:lnTo>
                  <a:pt x="154964" y="5310"/>
                </a:lnTo>
                <a:lnTo>
                  <a:pt x="112643" y="20436"/>
                </a:lnTo>
                <a:lnTo>
                  <a:pt x="75310" y="44172"/>
                </a:lnTo>
                <a:lnTo>
                  <a:pt x="44172" y="75310"/>
                </a:lnTo>
                <a:lnTo>
                  <a:pt x="20436" y="112642"/>
                </a:lnTo>
                <a:lnTo>
                  <a:pt x="5310" y="154964"/>
                </a:lnTo>
                <a:lnTo>
                  <a:pt x="0" y="201066"/>
                </a:lnTo>
                <a:lnTo>
                  <a:pt x="5310" y="247169"/>
                </a:lnTo>
                <a:lnTo>
                  <a:pt x="20436" y="289490"/>
                </a:lnTo>
                <a:lnTo>
                  <a:pt x="44172" y="326823"/>
                </a:lnTo>
                <a:lnTo>
                  <a:pt x="75310" y="357960"/>
                </a:lnTo>
                <a:lnTo>
                  <a:pt x="112643" y="381696"/>
                </a:lnTo>
                <a:lnTo>
                  <a:pt x="154964" y="396822"/>
                </a:lnTo>
                <a:lnTo>
                  <a:pt x="201067" y="402132"/>
                </a:lnTo>
                <a:lnTo>
                  <a:pt x="247170" y="396822"/>
                </a:lnTo>
                <a:lnTo>
                  <a:pt x="289491" y="381696"/>
                </a:lnTo>
                <a:lnTo>
                  <a:pt x="326825" y="357960"/>
                </a:lnTo>
                <a:lnTo>
                  <a:pt x="357962" y="326823"/>
                </a:lnTo>
                <a:lnTo>
                  <a:pt x="381698" y="289490"/>
                </a:lnTo>
                <a:lnTo>
                  <a:pt x="396824" y="247169"/>
                </a:lnTo>
                <a:lnTo>
                  <a:pt x="402135" y="201066"/>
                </a:lnTo>
                <a:lnTo>
                  <a:pt x="396824" y="154964"/>
                </a:lnTo>
                <a:lnTo>
                  <a:pt x="381698" y="112642"/>
                </a:lnTo>
                <a:lnTo>
                  <a:pt x="357962" y="75310"/>
                </a:lnTo>
                <a:lnTo>
                  <a:pt x="326825" y="44172"/>
                </a:lnTo>
                <a:lnTo>
                  <a:pt x="289491" y="20436"/>
                </a:lnTo>
                <a:lnTo>
                  <a:pt x="247170" y="5310"/>
                </a:lnTo>
                <a:lnTo>
                  <a:pt x="20106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289925" y="5334170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89" h="402589">
                <a:moveTo>
                  <a:pt x="201067" y="0"/>
                </a:moveTo>
                <a:lnTo>
                  <a:pt x="154964" y="5310"/>
                </a:lnTo>
                <a:lnTo>
                  <a:pt x="112643" y="20436"/>
                </a:lnTo>
                <a:lnTo>
                  <a:pt x="75310" y="44171"/>
                </a:lnTo>
                <a:lnTo>
                  <a:pt x="44172" y="75309"/>
                </a:lnTo>
                <a:lnTo>
                  <a:pt x="20436" y="112642"/>
                </a:lnTo>
                <a:lnTo>
                  <a:pt x="5310" y="154963"/>
                </a:lnTo>
                <a:lnTo>
                  <a:pt x="0" y="201066"/>
                </a:lnTo>
                <a:lnTo>
                  <a:pt x="5310" y="247169"/>
                </a:lnTo>
                <a:lnTo>
                  <a:pt x="20436" y="289490"/>
                </a:lnTo>
                <a:lnTo>
                  <a:pt x="44172" y="326823"/>
                </a:lnTo>
                <a:lnTo>
                  <a:pt x="75310" y="357960"/>
                </a:lnTo>
                <a:lnTo>
                  <a:pt x="112643" y="381696"/>
                </a:lnTo>
                <a:lnTo>
                  <a:pt x="154964" y="396822"/>
                </a:lnTo>
                <a:lnTo>
                  <a:pt x="201067" y="402132"/>
                </a:lnTo>
                <a:lnTo>
                  <a:pt x="247170" y="396822"/>
                </a:lnTo>
                <a:lnTo>
                  <a:pt x="289491" y="381696"/>
                </a:lnTo>
                <a:lnTo>
                  <a:pt x="326825" y="357960"/>
                </a:lnTo>
                <a:lnTo>
                  <a:pt x="357962" y="326823"/>
                </a:lnTo>
                <a:lnTo>
                  <a:pt x="381698" y="289490"/>
                </a:lnTo>
                <a:lnTo>
                  <a:pt x="396824" y="247169"/>
                </a:lnTo>
                <a:lnTo>
                  <a:pt x="402135" y="201066"/>
                </a:lnTo>
                <a:lnTo>
                  <a:pt x="396824" y="154963"/>
                </a:lnTo>
                <a:lnTo>
                  <a:pt x="381698" y="112642"/>
                </a:lnTo>
                <a:lnTo>
                  <a:pt x="357962" y="75309"/>
                </a:lnTo>
                <a:lnTo>
                  <a:pt x="326825" y="44171"/>
                </a:lnTo>
                <a:lnTo>
                  <a:pt x="289491" y="20436"/>
                </a:lnTo>
                <a:lnTo>
                  <a:pt x="247170" y="5310"/>
                </a:lnTo>
                <a:lnTo>
                  <a:pt x="201067" y="0"/>
                </a:lnTo>
                <a:close/>
              </a:path>
            </a:pathLst>
          </a:custGeom>
          <a:solidFill>
            <a:srgbClr val="60B5CC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395743" y="5282691"/>
            <a:ext cx="1905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16070" y="5833745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89" h="402589">
                <a:moveTo>
                  <a:pt x="201067" y="0"/>
                </a:moveTo>
                <a:lnTo>
                  <a:pt x="154964" y="5310"/>
                </a:lnTo>
                <a:lnTo>
                  <a:pt x="112643" y="20436"/>
                </a:lnTo>
                <a:lnTo>
                  <a:pt x="75310" y="44172"/>
                </a:lnTo>
                <a:lnTo>
                  <a:pt x="44172" y="75309"/>
                </a:lnTo>
                <a:lnTo>
                  <a:pt x="20436" y="112642"/>
                </a:lnTo>
                <a:lnTo>
                  <a:pt x="5310" y="154963"/>
                </a:lnTo>
                <a:lnTo>
                  <a:pt x="0" y="201066"/>
                </a:lnTo>
                <a:lnTo>
                  <a:pt x="5310" y="247169"/>
                </a:lnTo>
                <a:lnTo>
                  <a:pt x="20436" y="289490"/>
                </a:lnTo>
                <a:lnTo>
                  <a:pt x="44172" y="326823"/>
                </a:lnTo>
                <a:lnTo>
                  <a:pt x="75310" y="357960"/>
                </a:lnTo>
                <a:lnTo>
                  <a:pt x="112643" y="381696"/>
                </a:lnTo>
                <a:lnTo>
                  <a:pt x="154964" y="396822"/>
                </a:lnTo>
                <a:lnTo>
                  <a:pt x="201067" y="402132"/>
                </a:lnTo>
                <a:lnTo>
                  <a:pt x="247170" y="396822"/>
                </a:lnTo>
                <a:lnTo>
                  <a:pt x="289491" y="381696"/>
                </a:lnTo>
                <a:lnTo>
                  <a:pt x="326825" y="357960"/>
                </a:lnTo>
                <a:lnTo>
                  <a:pt x="357962" y="326823"/>
                </a:lnTo>
                <a:lnTo>
                  <a:pt x="381698" y="289490"/>
                </a:lnTo>
                <a:lnTo>
                  <a:pt x="396824" y="247169"/>
                </a:lnTo>
                <a:lnTo>
                  <a:pt x="402135" y="201066"/>
                </a:lnTo>
                <a:lnTo>
                  <a:pt x="396824" y="154963"/>
                </a:lnTo>
                <a:lnTo>
                  <a:pt x="381698" y="112642"/>
                </a:lnTo>
                <a:lnTo>
                  <a:pt x="357962" y="75309"/>
                </a:lnTo>
                <a:lnTo>
                  <a:pt x="326825" y="44172"/>
                </a:lnTo>
                <a:lnTo>
                  <a:pt x="289491" y="20436"/>
                </a:lnTo>
                <a:lnTo>
                  <a:pt x="247170" y="5310"/>
                </a:lnTo>
                <a:lnTo>
                  <a:pt x="201067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835097" y="5868082"/>
            <a:ext cx="402590" cy="402590"/>
          </a:xfrm>
          <a:custGeom>
            <a:avLst/>
            <a:gdLst/>
            <a:ahLst/>
            <a:cxnLst/>
            <a:rect l="l" t="t" r="r" b="b"/>
            <a:pathLst>
              <a:path w="402589" h="402589">
                <a:moveTo>
                  <a:pt x="201067" y="0"/>
                </a:moveTo>
                <a:lnTo>
                  <a:pt x="154964" y="5310"/>
                </a:lnTo>
                <a:lnTo>
                  <a:pt x="112643" y="20436"/>
                </a:lnTo>
                <a:lnTo>
                  <a:pt x="75310" y="44172"/>
                </a:lnTo>
                <a:lnTo>
                  <a:pt x="44172" y="75309"/>
                </a:lnTo>
                <a:lnTo>
                  <a:pt x="20436" y="112642"/>
                </a:lnTo>
                <a:lnTo>
                  <a:pt x="5310" y="154963"/>
                </a:lnTo>
                <a:lnTo>
                  <a:pt x="0" y="201066"/>
                </a:lnTo>
                <a:lnTo>
                  <a:pt x="5310" y="247169"/>
                </a:lnTo>
                <a:lnTo>
                  <a:pt x="20436" y="289490"/>
                </a:lnTo>
                <a:lnTo>
                  <a:pt x="44172" y="326823"/>
                </a:lnTo>
                <a:lnTo>
                  <a:pt x="75310" y="357960"/>
                </a:lnTo>
                <a:lnTo>
                  <a:pt x="112643" y="381696"/>
                </a:lnTo>
                <a:lnTo>
                  <a:pt x="154964" y="396822"/>
                </a:lnTo>
                <a:lnTo>
                  <a:pt x="201067" y="402132"/>
                </a:lnTo>
                <a:lnTo>
                  <a:pt x="247170" y="396822"/>
                </a:lnTo>
                <a:lnTo>
                  <a:pt x="289491" y="381696"/>
                </a:lnTo>
                <a:lnTo>
                  <a:pt x="326825" y="357960"/>
                </a:lnTo>
                <a:lnTo>
                  <a:pt x="357962" y="326823"/>
                </a:lnTo>
                <a:lnTo>
                  <a:pt x="381698" y="289490"/>
                </a:lnTo>
                <a:lnTo>
                  <a:pt x="396824" y="247169"/>
                </a:lnTo>
                <a:lnTo>
                  <a:pt x="402135" y="201066"/>
                </a:lnTo>
                <a:lnTo>
                  <a:pt x="396824" y="154963"/>
                </a:lnTo>
                <a:lnTo>
                  <a:pt x="381698" y="112642"/>
                </a:lnTo>
                <a:lnTo>
                  <a:pt x="357962" y="75309"/>
                </a:lnTo>
                <a:lnTo>
                  <a:pt x="326825" y="44172"/>
                </a:lnTo>
                <a:lnTo>
                  <a:pt x="289491" y="20436"/>
                </a:lnTo>
                <a:lnTo>
                  <a:pt x="247170" y="5310"/>
                </a:lnTo>
                <a:lnTo>
                  <a:pt x="20106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350936" y="6375908"/>
            <a:ext cx="629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rbel"/>
                <a:cs typeface="Corbel"/>
              </a:rPr>
              <a:t>G</a:t>
            </a:r>
            <a:r>
              <a:rPr dirty="0" sz="1800" spc="-5" b="1">
                <a:latin typeface="Corbel"/>
                <a:cs typeface="Corbel"/>
              </a:rPr>
              <a:t>rap</a:t>
            </a:r>
            <a:r>
              <a:rPr dirty="0" sz="1800" b="1">
                <a:latin typeface="Corbel"/>
                <a:cs typeface="Corbel"/>
              </a:rPr>
              <a:t>h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049708" y="5514854"/>
            <a:ext cx="1381125" cy="114300"/>
          </a:xfrm>
          <a:custGeom>
            <a:avLst/>
            <a:gdLst/>
            <a:ahLst/>
            <a:cxnLst/>
            <a:rect l="l" t="t" r="r" b="b"/>
            <a:pathLst>
              <a:path w="1381125" h="114300">
                <a:moveTo>
                  <a:pt x="1266195" y="76200"/>
                </a:moveTo>
                <a:lnTo>
                  <a:pt x="1266195" y="114300"/>
                </a:lnTo>
                <a:lnTo>
                  <a:pt x="1342394" y="76200"/>
                </a:lnTo>
                <a:lnTo>
                  <a:pt x="1266195" y="76200"/>
                </a:lnTo>
                <a:close/>
              </a:path>
              <a:path w="1381125" h="114300">
                <a:moveTo>
                  <a:pt x="1266195" y="0"/>
                </a:moveTo>
                <a:lnTo>
                  <a:pt x="1266195" y="76200"/>
                </a:lnTo>
                <a:lnTo>
                  <a:pt x="1285249" y="76199"/>
                </a:lnTo>
                <a:lnTo>
                  <a:pt x="1292661" y="74702"/>
                </a:lnTo>
                <a:lnTo>
                  <a:pt x="1298716" y="70620"/>
                </a:lnTo>
                <a:lnTo>
                  <a:pt x="1302798" y="64564"/>
                </a:lnTo>
                <a:lnTo>
                  <a:pt x="1304295" y="57150"/>
                </a:lnTo>
                <a:lnTo>
                  <a:pt x="1302797" y="49734"/>
                </a:lnTo>
                <a:lnTo>
                  <a:pt x="1298715" y="43679"/>
                </a:lnTo>
                <a:lnTo>
                  <a:pt x="1292659" y="39596"/>
                </a:lnTo>
                <a:lnTo>
                  <a:pt x="1285245" y="38100"/>
                </a:lnTo>
                <a:lnTo>
                  <a:pt x="1342395" y="38100"/>
                </a:lnTo>
                <a:lnTo>
                  <a:pt x="1266195" y="0"/>
                </a:lnTo>
                <a:close/>
              </a:path>
              <a:path w="1381125" h="114300">
                <a:moveTo>
                  <a:pt x="1342395" y="38100"/>
                </a:moveTo>
                <a:lnTo>
                  <a:pt x="1285245" y="38100"/>
                </a:lnTo>
                <a:lnTo>
                  <a:pt x="1292660" y="39597"/>
                </a:lnTo>
                <a:lnTo>
                  <a:pt x="1298715" y="43679"/>
                </a:lnTo>
                <a:lnTo>
                  <a:pt x="1302798" y="49735"/>
                </a:lnTo>
                <a:lnTo>
                  <a:pt x="1304295" y="57150"/>
                </a:lnTo>
                <a:lnTo>
                  <a:pt x="1302798" y="64565"/>
                </a:lnTo>
                <a:lnTo>
                  <a:pt x="1298715" y="70620"/>
                </a:lnTo>
                <a:lnTo>
                  <a:pt x="1292660" y="74703"/>
                </a:lnTo>
                <a:lnTo>
                  <a:pt x="1285245" y="76200"/>
                </a:lnTo>
                <a:lnTo>
                  <a:pt x="1342396" y="76199"/>
                </a:lnTo>
                <a:lnTo>
                  <a:pt x="1380495" y="57150"/>
                </a:lnTo>
                <a:lnTo>
                  <a:pt x="1342395" y="38100"/>
                </a:lnTo>
                <a:close/>
              </a:path>
              <a:path w="1381125" h="114300">
                <a:moveTo>
                  <a:pt x="1266195" y="38100"/>
                </a:moveTo>
                <a:lnTo>
                  <a:pt x="19050" y="38100"/>
                </a:lnTo>
                <a:lnTo>
                  <a:pt x="11634" y="39597"/>
                </a:lnTo>
                <a:lnTo>
                  <a:pt x="5578" y="43679"/>
                </a:lnTo>
                <a:lnTo>
                  <a:pt x="1496" y="49735"/>
                </a:lnTo>
                <a:lnTo>
                  <a:pt x="0" y="57150"/>
                </a:lnTo>
                <a:lnTo>
                  <a:pt x="1497" y="64565"/>
                </a:lnTo>
                <a:lnTo>
                  <a:pt x="5580" y="70620"/>
                </a:lnTo>
                <a:lnTo>
                  <a:pt x="11638" y="74703"/>
                </a:lnTo>
                <a:lnTo>
                  <a:pt x="19048" y="76199"/>
                </a:lnTo>
                <a:lnTo>
                  <a:pt x="1266195" y="76200"/>
                </a:lnTo>
                <a:lnTo>
                  <a:pt x="126619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508144" y="5650484"/>
            <a:ext cx="479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rbel"/>
                <a:cs typeface="Corbel"/>
              </a:rPr>
              <a:t>G</a:t>
            </a:r>
            <a:r>
              <a:rPr dirty="0" sz="1800" spc="-5" b="1">
                <a:latin typeface="Corbel"/>
                <a:cs typeface="Corbel"/>
              </a:rPr>
              <a:t>C</a:t>
            </a:r>
            <a:r>
              <a:rPr dirty="0" sz="1800" b="1">
                <a:latin typeface="Corbel"/>
                <a:cs typeface="Corbel"/>
              </a:rPr>
              <a:t>N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511413" y="4929632"/>
            <a:ext cx="72390" cy="532765"/>
          </a:xfrm>
          <a:custGeom>
            <a:avLst/>
            <a:gdLst/>
            <a:ahLst/>
            <a:cxnLst/>
            <a:rect l="l" t="t" r="r" b="b"/>
            <a:pathLst>
              <a:path w="72389" h="532764">
                <a:moveTo>
                  <a:pt x="66407" y="0"/>
                </a:moveTo>
                <a:lnTo>
                  <a:pt x="5355" y="0"/>
                </a:lnTo>
                <a:lnTo>
                  <a:pt x="0" y="5354"/>
                </a:lnTo>
                <a:lnTo>
                  <a:pt x="0" y="527170"/>
                </a:lnTo>
                <a:lnTo>
                  <a:pt x="5355" y="532526"/>
                </a:lnTo>
                <a:lnTo>
                  <a:pt x="66407" y="532526"/>
                </a:lnTo>
                <a:lnTo>
                  <a:pt x="71762" y="527170"/>
                </a:lnTo>
                <a:lnTo>
                  <a:pt x="71762" y="5354"/>
                </a:lnTo>
                <a:lnTo>
                  <a:pt x="66407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386226" y="4951757"/>
            <a:ext cx="323215" cy="492125"/>
          </a:xfrm>
          <a:custGeom>
            <a:avLst/>
            <a:gdLst/>
            <a:ahLst/>
            <a:cxnLst/>
            <a:rect l="l" t="t" r="r" b="b"/>
            <a:pathLst>
              <a:path w="323214" h="492125">
                <a:moveTo>
                  <a:pt x="54833" y="0"/>
                </a:moveTo>
                <a:lnTo>
                  <a:pt x="1959" y="30526"/>
                </a:lnTo>
                <a:lnTo>
                  <a:pt x="0" y="37840"/>
                </a:lnTo>
                <a:lnTo>
                  <a:pt x="260908" y="489747"/>
                </a:lnTo>
                <a:lnTo>
                  <a:pt x="268222" y="491707"/>
                </a:lnTo>
                <a:lnTo>
                  <a:pt x="321095" y="461181"/>
                </a:lnTo>
                <a:lnTo>
                  <a:pt x="323056" y="453866"/>
                </a:lnTo>
                <a:lnTo>
                  <a:pt x="62147" y="1960"/>
                </a:lnTo>
                <a:lnTo>
                  <a:pt x="54833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86226" y="4948325"/>
            <a:ext cx="323215" cy="492125"/>
          </a:xfrm>
          <a:custGeom>
            <a:avLst/>
            <a:gdLst/>
            <a:ahLst/>
            <a:cxnLst/>
            <a:rect l="l" t="t" r="r" b="b"/>
            <a:pathLst>
              <a:path w="323214" h="492125">
                <a:moveTo>
                  <a:pt x="268222" y="0"/>
                </a:moveTo>
                <a:lnTo>
                  <a:pt x="260907" y="1959"/>
                </a:lnTo>
                <a:lnTo>
                  <a:pt x="0" y="453866"/>
                </a:lnTo>
                <a:lnTo>
                  <a:pt x="1959" y="461181"/>
                </a:lnTo>
                <a:lnTo>
                  <a:pt x="54832" y="491707"/>
                </a:lnTo>
                <a:lnTo>
                  <a:pt x="62147" y="489747"/>
                </a:lnTo>
                <a:lnTo>
                  <a:pt x="323056" y="37840"/>
                </a:lnTo>
                <a:lnTo>
                  <a:pt x="321095" y="30525"/>
                </a:lnTo>
                <a:lnTo>
                  <a:pt x="268222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03157" y="5037340"/>
            <a:ext cx="492125" cy="323215"/>
          </a:xfrm>
          <a:custGeom>
            <a:avLst/>
            <a:gdLst/>
            <a:ahLst/>
            <a:cxnLst/>
            <a:rect l="l" t="t" r="r" b="b"/>
            <a:pathLst>
              <a:path w="492125" h="323214">
                <a:moveTo>
                  <a:pt x="37840" y="0"/>
                </a:moveTo>
                <a:lnTo>
                  <a:pt x="30525" y="1959"/>
                </a:lnTo>
                <a:lnTo>
                  <a:pt x="0" y="54833"/>
                </a:lnTo>
                <a:lnTo>
                  <a:pt x="1959" y="62147"/>
                </a:lnTo>
                <a:lnTo>
                  <a:pt x="453867" y="323056"/>
                </a:lnTo>
                <a:lnTo>
                  <a:pt x="461181" y="321096"/>
                </a:lnTo>
                <a:lnTo>
                  <a:pt x="491708" y="268224"/>
                </a:lnTo>
                <a:lnTo>
                  <a:pt x="489747" y="260908"/>
                </a:lnTo>
                <a:lnTo>
                  <a:pt x="37840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03157" y="5031394"/>
            <a:ext cx="492125" cy="323215"/>
          </a:xfrm>
          <a:custGeom>
            <a:avLst/>
            <a:gdLst/>
            <a:ahLst/>
            <a:cxnLst/>
            <a:rect l="l" t="t" r="r" b="b"/>
            <a:pathLst>
              <a:path w="492125" h="323214">
                <a:moveTo>
                  <a:pt x="453867" y="0"/>
                </a:moveTo>
                <a:lnTo>
                  <a:pt x="1959" y="260908"/>
                </a:lnTo>
                <a:lnTo>
                  <a:pt x="0" y="268224"/>
                </a:lnTo>
                <a:lnTo>
                  <a:pt x="30525" y="321096"/>
                </a:lnTo>
                <a:lnTo>
                  <a:pt x="37840" y="323056"/>
                </a:lnTo>
                <a:lnTo>
                  <a:pt x="489747" y="62147"/>
                </a:lnTo>
                <a:lnTo>
                  <a:pt x="491708" y="54833"/>
                </a:lnTo>
                <a:lnTo>
                  <a:pt x="461181" y="1959"/>
                </a:lnTo>
                <a:lnTo>
                  <a:pt x="453867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284464" y="5156582"/>
            <a:ext cx="532765" cy="72390"/>
          </a:xfrm>
          <a:custGeom>
            <a:avLst/>
            <a:gdLst/>
            <a:ahLst/>
            <a:cxnLst/>
            <a:rect l="l" t="t" r="r" b="b"/>
            <a:pathLst>
              <a:path w="532764" h="72389">
                <a:moveTo>
                  <a:pt x="527173" y="0"/>
                </a:moveTo>
                <a:lnTo>
                  <a:pt x="5355" y="0"/>
                </a:lnTo>
                <a:lnTo>
                  <a:pt x="0" y="5354"/>
                </a:lnTo>
                <a:lnTo>
                  <a:pt x="0" y="66407"/>
                </a:lnTo>
                <a:lnTo>
                  <a:pt x="5355" y="71762"/>
                </a:lnTo>
                <a:lnTo>
                  <a:pt x="527173" y="71762"/>
                </a:lnTo>
                <a:lnTo>
                  <a:pt x="532528" y="66407"/>
                </a:lnTo>
                <a:lnTo>
                  <a:pt x="532528" y="5354"/>
                </a:lnTo>
                <a:lnTo>
                  <a:pt x="527173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321212" y="4966380"/>
            <a:ext cx="459105" cy="459105"/>
          </a:xfrm>
          <a:custGeom>
            <a:avLst/>
            <a:gdLst/>
            <a:ahLst/>
            <a:cxnLst/>
            <a:rect l="l" t="t" r="r" b="b"/>
            <a:pathLst>
              <a:path w="459104" h="459104">
                <a:moveTo>
                  <a:pt x="229515" y="0"/>
                </a:moveTo>
                <a:lnTo>
                  <a:pt x="183260" y="4662"/>
                </a:lnTo>
                <a:lnTo>
                  <a:pt x="140177" y="18036"/>
                </a:lnTo>
                <a:lnTo>
                  <a:pt x="101190" y="39197"/>
                </a:lnTo>
                <a:lnTo>
                  <a:pt x="67223" y="67223"/>
                </a:lnTo>
                <a:lnTo>
                  <a:pt x="39197" y="101191"/>
                </a:lnTo>
                <a:lnTo>
                  <a:pt x="18036" y="140178"/>
                </a:lnTo>
                <a:lnTo>
                  <a:pt x="4662" y="183260"/>
                </a:lnTo>
                <a:lnTo>
                  <a:pt x="0" y="229515"/>
                </a:lnTo>
                <a:lnTo>
                  <a:pt x="4662" y="275770"/>
                </a:lnTo>
                <a:lnTo>
                  <a:pt x="18036" y="318853"/>
                </a:lnTo>
                <a:lnTo>
                  <a:pt x="39197" y="357839"/>
                </a:lnTo>
                <a:lnTo>
                  <a:pt x="67223" y="391806"/>
                </a:lnTo>
                <a:lnTo>
                  <a:pt x="101190" y="419832"/>
                </a:lnTo>
                <a:lnTo>
                  <a:pt x="140177" y="440993"/>
                </a:lnTo>
                <a:lnTo>
                  <a:pt x="183260" y="454367"/>
                </a:lnTo>
                <a:lnTo>
                  <a:pt x="229515" y="459030"/>
                </a:lnTo>
                <a:lnTo>
                  <a:pt x="275770" y="454367"/>
                </a:lnTo>
                <a:lnTo>
                  <a:pt x="318853" y="440993"/>
                </a:lnTo>
                <a:lnTo>
                  <a:pt x="357839" y="419832"/>
                </a:lnTo>
                <a:lnTo>
                  <a:pt x="391807" y="391806"/>
                </a:lnTo>
                <a:lnTo>
                  <a:pt x="419833" y="357839"/>
                </a:lnTo>
                <a:lnTo>
                  <a:pt x="440994" y="318853"/>
                </a:lnTo>
                <a:lnTo>
                  <a:pt x="454368" y="275770"/>
                </a:lnTo>
                <a:lnTo>
                  <a:pt x="459031" y="229515"/>
                </a:lnTo>
                <a:lnTo>
                  <a:pt x="454368" y="183260"/>
                </a:lnTo>
                <a:lnTo>
                  <a:pt x="440994" y="140178"/>
                </a:lnTo>
                <a:lnTo>
                  <a:pt x="419833" y="101191"/>
                </a:lnTo>
                <a:lnTo>
                  <a:pt x="391807" y="67223"/>
                </a:lnTo>
                <a:lnTo>
                  <a:pt x="357839" y="39197"/>
                </a:lnTo>
                <a:lnTo>
                  <a:pt x="318853" y="18036"/>
                </a:lnTo>
                <a:lnTo>
                  <a:pt x="275770" y="4662"/>
                </a:lnTo>
                <a:lnTo>
                  <a:pt x="229515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386063" y="5031229"/>
            <a:ext cx="329565" cy="329565"/>
          </a:xfrm>
          <a:custGeom>
            <a:avLst/>
            <a:gdLst/>
            <a:ahLst/>
            <a:cxnLst/>
            <a:rect l="l" t="t" r="r" b="b"/>
            <a:pathLst>
              <a:path w="329564" h="329564">
                <a:moveTo>
                  <a:pt x="164666" y="0"/>
                </a:moveTo>
                <a:lnTo>
                  <a:pt x="120891" y="5882"/>
                </a:lnTo>
                <a:lnTo>
                  <a:pt x="81556" y="22481"/>
                </a:lnTo>
                <a:lnTo>
                  <a:pt x="48229" y="48229"/>
                </a:lnTo>
                <a:lnTo>
                  <a:pt x="22481" y="81556"/>
                </a:lnTo>
                <a:lnTo>
                  <a:pt x="5882" y="120891"/>
                </a:lnTo>
                <a:lnTo>
                  <a:pt x="0" y="164666"/>
                </a:lnTo>
                <a:lnTo>
                  <a:pt x="5882" y="208441"/>
                </a:lnTo>
                <a:lnTo>
                  <a:pt x="22481" y="247776"/>
                </a:lnTo>
                <a:lnTo>
                  <a:pt x="48229" y="281103"/>
                </a:lnTo>
                <a:lnTo>
                  <a:pt x="81556" y="306850"/>
                </a:lnTo>
                <a:lnTo>
                  <a:pt x="120891" y="323450"/>
                </a:lnTo>
                <a:lnTo>
                  <a:pt x="164666" y="329332"/>
                </a:lnTo>
                <a:lnTo>
                  <a:pt x="208441" y="323450"/>
                </a:lnTo>
                <a:lnTo>
                  <a:pt x="247776" y="306850"/>
                </a:lnTo>
                <a:lnTo>
                  <a:pt x="281103" y="281103"/>
                </a:lnTo>
                <a:lnTo>
                  <a:pt x="306850" y="247776"/>
                </a:lnTo>
                <a:lnTo>
                  <a:pt x="323450" y="208441"/>
                </a:lnTo>
                <a:lnTo>
                  <a:pt x="329332" y="164666"/>
                </a:lnTo>
                <a:lnTo>
                  <a:pt x="323450" y="120891"/>
                </a:lnTo>
                <a:lnTo>
                  <a:pt x="306850" y="81556"/>
                </a:lnTo>
                <a:lnTo>
                  <a:pt x="281103" y="48229"/>
                </a:lnTo>
                <a:lnTo>
                  <a:pt x="247776" y="22481"/>
                </a:lnTo>
                <a:lnTo>
                  <a:pt x="208441" y="5882"/>
                </a:lnTo>
                <a:lnTo>
                  <a:pt x="1646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883862" y="5120339"/>
            <a:ext cx="151130" cy="371475"/>
          </a:xfrm>
          <a:custGeom>
            <a:avLst/>
            <a:gdLst/>
            <a:ahLst/>
            <a:cxnLst/>
            <a:rect l="l" t="t" r="r" b="b"/>
            <a:pathLst>
              <a:path w="151129" h="371475">
                <a:moveTo>
                  <a:pt x="99091" y="0"/>
                </a:moveTo>
                <a:lnTo>
                  <a:pt x="93668" y="3131"/>
                </a:lnTo>
                <a:lnTo>
                  <a:pt x="0" y="352705"/>
                </a:lnTo>
                <a:lnTo>
                  <a:pt x="3131" y="358128"/>
                </a:lnTo>
                <a:lnTo>
                  <a:pt x="51896" y="371195"/>
                </a:lnTo>
                <a:lnTo>
                  <a:pt x="57318" y="368063"/>
                </a:lnTo>
                <a:lnTo>
                  <a:pt x="150987" y="18489"/>
                </a:lnTo>
                <a:lnTo>
                  <a:pt x="147857" y="13067"/>
                </a:lnTo>
                <a:lnTo>
                  <a:pt x="99091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843184" y="5132771"/>
            <a:ext cx="232410" cy="346710"/>
          </a:xfrm>
          <a:custGeom>
            <a:avLst/>
            <a:gdLst/>
            <a:ahLst/>
            <a:cxnLst/>
            <a:rect l="l" t="t" r="r" b="b"/>
            <a:pathLst>
              <a:path w="232410" h="346710">
                <a:moveTo>
                  <a:pt x="45342" y="0"/>
                </a:moveTo>
                <a:lnTo>
                  <a:pt x="1620" y="25242"/>
                </a:lnTo>
                <a:lnTo>
                  <a:pt x="0" y="31291"/>
                </a:lnTo>
                <a:lnTo>
                  <a:pt x="180953" y="344711"/>
                </a:lnTo>
                <a:lnTo>
                  <a:pt x="187002" y="346331"/>
                </a:lnTo>
                <a:lnTo>
                  <a:pt x="230723" y="321089"/>
                </a:lnTo>
                <a:lnTo>
                  <a:pt x="232343" y="315040"/>
                </a:lnTo>
                <a:lnTo>
                  <a:pt x="51390" y="1620"/>
                </a:lnTo>
                <a:lnTo>
                  <a:pt x="45342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786190" y="5189766"/>
            <a:ext cx="346710" cy="232410"/>
          </a:xfrm>
          <a:custGeom>
            <a:avLst/>
            <a:gdLst/>
            <a:ahLst/>
            <a:cxnLst/>
            <a:rect l="l" t="t" r="r" b="b"/>
            <a:pathLst>
              <a:path w="346710" h="232410">
                <a:moveTo>
                  <a:pt x="315040" y="0"/>
                </a:moveTo>
                <a:lnTo>
                  <a:pt x="1621" y="180952"/>
                </a:lnTo>
                <a:lnTo>
                  <a:pt x="0" y="187001"/>
                </a:lnTo>
                <a:lnTo>
                  <a:pt x="25242" y="230722"/>
                </a:lnTo>
                <a:lnTo>
                  <a:pt x="31291" y="232342"/>
                </a:lnTo>
                <a:lnTo>
                  <a:pt x="344711" y="51390"/>
                </a:lnTo>
                <a:lnTo>
                  <a:pt x="346331" y="45341"/>
                </a:lnTo>
                <a:lnTo>
                  <a:pt x="321089" y="1620"/>
                </a:lnTo>
                <a:lnTo>
                  <a:pt x="315040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773758" y="5230442"/>
            <a:ext cx="371475" cy="151130"/>
          </a:xfrm>
          <a:custGeom>
            <a:avLst/>
            <a:gdLst/>
            <a:ahLst/>
            <a:cxnLst/>
            <a:rect l="l" t="t" r="r" b="b"/>
            <a:pathLst>
              <a:path w="371475" h="151129">
                <a:moveTo>
                  <a:pt x="18489" y="0"/>
                </a:moveTo>
                <a:lnTo>
                  <a:pt x="13065" y="3130"/>
                </a:lnTo>
                <a:lnTo>
                  <a:pt x="0" y="51896"/>
                </a:lnTo>
                <a:lnTo>
                  <a:pt x="3130" y="57318"/>
                </a:lnTo>
                <a:lnTo>
                  <a:pt x="352704" y="150986"/>
                </a:lnTo>
                <a:lnTo>
                  <a:pt x="358127" y="147855"/>
                </a:lnTo>
                <a:lnTo>
                  <a:pt x="371194" y="99091"/>
                </a:lnTo>
                <a:lnTo>
                  <a:pt x="368062" y="93667"/>
                </a:lnTo>
                <a:lnTo>
                  <a:pt x="18489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822225" y="516880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28934" y="0"/>
                </a:moveTo>
                <a:lnTo>
                  <a:pt x="87472" y="9074"/>
                </a:lnTo>
                <a:lnTo>
                  <a:pt x="51060" y="30096"/>
                </a:lnTo>
                <a:lnTo>
                  <a:pt x="22470" y="61466"/>
                </a:lnTo>
                <a:lnTo>
                  <a:pt x="4472" y="101585"/>
                </a:lnTo>
                <a:lnTo>
                  <a:pt x="0" y="145327"/>
                </a:lnTo>
                <a:lnTo>
                  <a:pt x="9074" y="186790"/>
                </a:lnTo>
                <a:lnTo>
                  <a:pt x="30097" y="223201"/>
                </a:lnTo>
                <a:lnTo>
                  <a:pt x="61467" y="251791"/>
                </a:lnTo>
                <a:lnTo>
                  <a:pt x="101586" y="269789"/>
                </a:lnTo>
                <a:lnTo>
                  <a:pt x="145329" y="274261"/>
                </a:lnTo>
                <a:lnTo>
                  <a:pt x="186791" y="265187"/>
                </a:lnTo>
                <a:lnTo>
                  <a:pt x="223202" y="244165"/>
                </a:lnTo>
                <a:lnTo>
                  <a:pt x="251793" y="212795"/>
                </a:lnTo>
                <a:lnTo>
                  <a:pt x="269791" y="172677"/>
                </a:lnTo>
                <a:lnTo>
                  <a:pt x="274263" y="128934"/>
                </a:lnTo>
                <a:lnTo>
                  <a:pt x="265188" y="87472"/>
                </a:lnTo>
                <a:lnTo>
                  <a:pt x="244166" y="51060"/>
                </a:lnTo>
                <a:lnTo>
                  <a:pt x="212796" y="22470"/>
                </a:lnTo>
                <a:lnTo>
                  <a:pt x="172677" y="4472"/>
                </a:lnTo>
                <a:lnTo>
                  <a:pt x="128934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876013" y="5222595"/>
            <a:ext cx="167005" cy="167005"/>
          </a:xfrm>
          <a:custGeom>
            <a:avLst/>
            <a:gdLst/>
            <a:ahLst/>
            <a:cxnLst/>
            <a:rect l="l" t="t" r="r" b="b"/>
            <a:pathLst>
              <a:path w="167004" h="167004">
                <a:moveTo>
                  <a:pt x="71775" y="0"/>
                </a:moveTo>
                <a:lnTo>
                  <a:pt x="41282" y="10492"/>
                </a:lnTo>
                <a:lnTo>
                  <a:pt x="16949" y="31653"/>
                </a:lnTo>
                <a:lnTo>
                  <a:pt x="2089" y="61569"/>
                </a:lnTo>
                <a:lnTo>
                  <a:pt x="0" y="94907"/>
                </a:lnTo>
                <a:lnTo>
                  <a:pt x="10492" y="125400"/>
                </a:lnTo>
                <a:lnTo>
                  <a:pt x="31654" y="149734"/>
                </a:lnTo>
                <a:lnTo>
                  <a:pt x="61571" y="164594"/>
                </a:lnTo>
                <a:lnTo>
                  <a:pt x="94908" y="166683"/>
                </a:lnTo>
                <a:lnTo>
                  <a:pt x="125401" y="156190"/>
                </a:lnTo>
                <a:lnTo>
                  <a:pt x="149734" y="135029"/>
                </a:lnTo>
                <a:lnTo>
                  <a:pt x="164594" y="105112"/>
                </a:lnTo>
                <a:lnTo>
                  <a:pt x="166684" y="71774"/>
                </a:lnTo>
                <a:lnTo>
                  <a:pt x="156191" y="41282"/>
                </a:lnTo>
                <a:lnTo>
                  <a:pt x="135029" y="16948"/>
                </a:lnTo>
                <a:lnTo>
                  <a:pt x="105113" y="2088"/>
                </a:lnTo>
                <a:lnTo>
                  <a:pt x="717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295054" y="5669141"/>
            <a:ext cx="197485" cy="196850"/>
          </a:xfrm>
          <a:custGeom>
            <a:avLst/>
            <a:gdLst/>
            <a:ahLst/>
            <a:cxnLst/>
            <a:rect l="l" t="t" r="r" b="b"/>
            <a:pathLst>
              <a:path w="197484" h="196850">
                <a:moveTo>
                  <a:pt x="0" y="0"/>
                </a:moveTo>
                <a:lnTo>
                  <a:pt x="197385" y="0"/>
                </a:lnTo>
                <a:lnTo>
                  <a:pt x="197385" y="196604"/>
                </a:lnTo>
                <a:lnTo>
                  <a:pt x="0" y="19660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329453" y="5621020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3579557" y="4907434"/>
          <a:ext cx="472440" cy="60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385"/>
                <a:gridCol w="246029"/>
              </a:tblGrid>
              <a:tr h="16510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1215"/>
                        </a:lnSpc>
                      </a:pPr>
                      <a:r>
                        <a:rPr dirty="0" sz="16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FF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3" name="object 63"/>
          <p:cNvSpPr/>
          <p:nvPr/>
        </p:nvSpPr>
        <p:spPr>
          <a:xfrm>
            <a:off x="1590452" y="5696294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5">
                <a:moveTo>
                  <a:pt x="127383" y="0"/>
                </a:moveTo>
                <a:lnTo>
                  <a:pt x="0" y="127383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591520" y="5694026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29">
                <a:moveTo>
                  <a:pt x="0" y="0"/>
                </a:moveTo>
                <a:lnTo>
                  <a:pt x="125244" y="125244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626587" y="5154033"/>
            <a:ext cx="127635" cy="127635"/>
          </a:xfrm>
          <a:custGeom>
            <a:avLst/>
            <a:gdLst/>
            <a:ahLst/>
            <a:cxnLst/>
            <a:rect l="l" t="t" r="r" b="b"/>
            <a:pathLst>
              <a:path w="127635" h="127635">
                <a:moveTo>
                  <a:pt x="127383" y="0"/>
                </a:moveTo>
                <a:lnTo>
                  <a:pt x="0" y="127383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627656" y="5151766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29" h="125729">
                <a:moveTo>
                  <a:pt x="0" y="0"/>
                </a:moveTo>
                <a:lnTo>
                  <a:pt x="125244" y="125244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82079" y="5358711"/>
            <a:ext cx="452755" cy="114300"/>
          </a:xfrm>
          <a:custGeom>
            <a:avLst/>
            <a:gdLst/>
            <a:ahLst/>
            <a:cxnLst/>
            <a:rect l="l" t="t" r="r" b="b"/>
            <a:pathLst>
              <a:path w="452755" h="114300">
                <a:moveTo>
                  <a:pt x="0" y="113781"/>
                </a:moveTo>
                <a:lnTo>
                  <a:pt x="452347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381587" y="4552942"/>
            <a:ext cx="426720" cy="1269365"/>
          </a:xfrm>
          <a:custGeom>
            <a:avLst/>
            <a:gdLst/>
            <a:ahLst/>
            <a:cxnLst/>
            <a:rect l="l" t="t" r="r" b="b"/>
            <a:pathLst>
              <a:path w="426720" h="1269364">
                <a:moveTo>
                  <a:pt x="0" y="0"/>
                </a:moveTo>
                <a:lnTo>
                  <a:pt x="426431" y="0"/>
                </a:lnTo>
                <a:lnTo>
                  <a:pt x="426431" y="1269319"/>
                </a:lnTo>
                <a:lnTo>
                  <a:pt x="0" y="1269319"/>
                </a:lnTo>
                <a:lnTo>
                  <a:pt x="0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498113" y="5330228"/>
            <a:ext cx="426720" cy="492125"/>
          </a:xfrm>
          <a:custGeom>
            <a:avLst/>
            <a:gdLst/>
            <a:ahLst/>
            <a:cxnLst/>
            <a:rect l="l" t="t" r="r" b="b"/>
            <a:pathLst>
              <a:path w="426720" h="492125">
                <a:moveTo>
                  <a:pt x="0" y="0"/>
                </a:moveTo>
                <a:lnTo>
                  <a:pt x="426432" y="0"/>
                </a:lnTo>
                <a:lnTo>
                  <a:pt x="426432" y="492032"/>
                </a:lnTo>
                <a:lnTo>
                  <a:pt x="0" y="492032"/>
                </a:lnTo>
                <a:lnTo>
                  <a:pt x="0" y="0"/>
                </a:lnTo>
                <a:close/>
              </a:path>
            </a:pathLst>
          </a:custGeom>
          <a:solidFill>
            <a:srgbClr val="006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5362080" y="5941059"/>
            <a:ext cx="16002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8205" algn="l"/>
              </a:tabLst>
            </a:pPr>
            <a:r>
              <a:rPr dirty="0" sz="1600" spc="-15">
                <a:latin typeface="Arial"/>
                <a:cs typeface="Arial"/>
              </a:rPr>
              <a:t>Class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1	</a:t>
            </a:r>
            <a:r>
              <a:rPr dirty="0" sz="1600" spc="-10" b="1">
                <a:latin typeface="Arial"/>
                <a:cs typeface="Arial"/>
              </a:rPr>
              <a:t>Class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265058" y="5462179"/>
            <a:ext cx="426720" cy="360680"/>
          </a:xfrm>
          <a:custGeom>
            <a:avLst/>
            <a:gdLst/>
            <a:ahLst/>
            <a:cxnLst/>
            <a:rect l="l" t="t" r="r" b="b"/>
            <a:pathLst>
              <a:path w="426720" h="360679">
                <a:moveTo>
                  <a:pt x="0" y="0"/>
                </a:moveTo>
                <a:lnTo>
                  <a:pt x="426432" y="0"/>
                </a:lnTo>
                <a:lnTo>
                  <a:pt x="426432" y="360082"/>
                </a:lnTo>
                <a:lnTo>
                  <a:pt x="0" y="360082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7129025" y="5941059"/>
            <a:ext cx="6991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Arial"/>
                <a:cs typeface="Arial"/>
              </a:rPr>
              <a:t>Class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880120" y="5351744"/>
            <a:ext cx="1979295" cy="0"/>
          </a:xfrm>
          <a:custGeom>
            <a:avLst/>
            <a:gdLst/>
            <a:ahLst/>
            <a:cxnLst/>
            <a:rect l="l" t="t" r="r" b="b"/>
            <a:pathLst>
              <a:path w="1979295" h="0">
                <a:moveTo>
                  <a:pt x="0" y="0"/>
                </a:moveTo>
                <a:lnTo>
                  <a:pt x="197924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498110" y="5827693"/>
            <a:ext cx="2388235" cy="0"/>
          </a:xfrm>
          <a:custGeom>
            <a:avLst/>
            <a:gdLst/>
            <a:ahLst/>
            <a:cxnLst/>
            <a:rect l="l" t="t" r="r" b="b"/>
            <a:pathLst>
              <a:path w="2388234" h="0">
                <a:moveTo>
                  <a:pt x="0" y="0"/>
                </a:moveTo>
                <a:lnTo>
                  <a:pt x="2388197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702808" y="4594381"/>
            <a:ext cx="152400" cy="913130"/>
          </a:xfrm>
          <a:custGeom>
            <a:avLst/>
            <a:gdLst/>
            <a:ahLst/>
            <a:cxnLst/>
            <a:rect l="l" t="t" r="r" b="b"/>
            <a:pathLst>
              <a:path w="152400" h="913129">
                <a:moveTo>
                  <a:pt x="76200" y="101600"/>
                </a:moveTo>
                <a:lnTo>
                  <a:pt x="50798" y="887413"/>
                </a:lnTo>
                <a:lnTo>
                  <a:pt x="52794" y="897300"/>
                </a:lnTo>
                <a:lnTo>
                  <a:pt x="58238" y="905374"/>
                </a:lnTo>
                <a:lnTo>
                  <a:pt x="66311" y="910817"/>
                </a:lnTo>
                <a:lnTo>
                  <a:pt x="76198" y="912813"/>
                </a:lnTo>
                <a:lnTo>
                  <a:pt x="86085" y="910817"/>
                </a:lnTo>
                <a:lnTo>
                  <a:pt x="94159" y="905374"/>
                </a:lnTo>
                <a:lnTo>
                  <a:pt x="99602" y="897300"/>
                </a:lnTo>
                <a:lnTo>
                  <a:pt x="101598" y="887413"/>
                </a:lnTo>
                <a:lnTo>
                  <a:pt x="101600" y="127000"/>
                </a:lnTo>
                <a:lnTo>
                  <a:pt x="99603" y="117113"/>
                </a:lnTo>
                <a:lnTo>
                  <a:pt x="94160" y="109039"/>
                </a:lnTo>
                <a:lnTo>
                  <a:pt x="86086" y="103596"/>
                </a:lnTo>
                <a:lnTo>
                  <a:pt x="76200" y="101600"/>
                </a:lnTo>
                <a:close/>
              </a:path>
              <a:path w="152400" h="913129">
                <a:moveTo>
                  <a:pt x="76200" y="0"/>
                </a:moveTo>
                <a:lnTo>
                  <a:pt x="0" y="152400"/>
                </a:lnTo>
                <a:lnTo>
                  <a:pt x="50799" y="152400"/>
                </a:lnTo>
                <a:lnTo>
                  <a:pt x="50800" y="127000"/>
                </a:lnTo>
                <a:lnTo>
                  <a:pt x="52796" y="117113"/>
                </a:lnTo>
                <a:lnTo>
                  <a:pt x="58239" y="109039"/>
                </a:lnTo>
                <a:lnTo>
                  <a:pt x="66313" y="103596"/>
                </a:lnTo>
                <a:lnTo>
                  <a:pt x="76200" y="101600"/>
                </a:lnTo>
                <a:lnTo>
                  <a:pt x="127000" y="101600"/>
                </a:lnTo>
                <a:lnTo>
                  <a:pt x="76200" y="0"/>
                </a:lnTo>
                <a:close/>
              </a:path>
              <a:path w="152400" h="913129">
                <a:moveTo>
                  <a:pt x="127000" y="101600"/>
                </a:moveTo>
                <a:lnTo>
                  <a:pt x="76200" y="101600"/>
                </a:lnTo>
                <a:lnTo>
                  <a:pt x="86086" y="103596"/>
                </a:lnTo>
                <a:lnTo>
                  <a:pt x="94160" y="109039"/>
                </a:lnTo>
                <a:lnTo>
                  <a:pt x="99603" y="117113"/>
                </a:lnTo>
                <a:lnTo>
                  <a:pt x="101600" y="127000"/>
                </a:lnTo>
                <a:lnTo>
                  <a:pt x="101599" y="152400"/>
                </a:lnTo>
                <a:lnTo>
                  <a:pt x="152400" y="152400"/>
                </a:lnTo>
                <a:lnTo>
                  <a:pt x="127000" y="1016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864608" y="4527542"/>
            <a:ext cx="152400" cy="1104265"/>
          </a:xfrm>
          <a:custGeom>
            <a:avLst/>
            <a:gdLst/>
            <a:ahLst/>
            <a:cxnLst/>
            <a:rect l="l" t="t" r="r" b="b"/>
            <a:pathLst>
              <a:path w="152400" h="1104264">
                <a:moveTo>
                  <a:pt x="50799" y="951544"/>
                </a:moveTo>
                <a:lnTo>
                  <a:pt x="0" y="951544"/>
                </a:lnTo>
                <a:lnTo>
                  <a:pt x="76200" y="1103945"/>
                </a:lnTo>
                <a:lnTo>
                  <a:pt x="126999" y="1002346"/>
                </a:lnTo>
                <a:lnTo>
                  <a:pt x="76200" y="1002346"/>
                </a:lnTo>
                <a:lnTo>
                  <a:pt x="66313" y="1000350"/>
                </a:lnTo>
                <a:lnTo>
                  <a:pt x="58239" y="994906"/>
                </a:lnTo>
                <a:lnTo>
                  <a:pt x="52796" y="986832"/>
                </a:lnTo>
                <a:lnTo>
                  <a:pt x="50800" y="976946"/>
                </a:lnTo>
                <a:lnTo>
                  <a:pt x="50799" y="951544"/>
                </a:lnTo>
                <a:close/>
              </a:path>
              <a:path w="152400" h="1104264">
                <a:moveTo>
                  <a:pt x="76198" y="0"/>
                </a:moveTo>
                <a:lnTo>
                  <a:pt x="66311" y="1996"/>
                </a:lnTo>
                <a:lnTo>
                  <a:pt x="58238" y="7439"/>
                </a:lnTo>
                <a:lnTo>
                  <a:pt x="52794" y="15513"/>
                </a:lnTo>
                <a:lnTo>
                  <a:pt x="50798" y="25399"/>
                </a:lnTo>
                <a:lnTo>
                  <a:pt x="50800" y="976946"/>
                </a:lnTo>
                <a:lnTo>
                  <a:pt x="52796" y="986832"/>
                </a:lnTo>
                <a:lnTo>
                  <a:pt x="58239" y="994906"/>
                </a:lnTo>
                <a:lnTo>
                  <a:pt x="66313" y="1000350"/>
                </a:lnTo>
                <a:lnTo>
                  <a:pt x="76200" y="1002346"/>
                </a:lnTo>
                <a:lnTo>
                  <a:pt x="86086" y="1000350"/>
                </a:lnTo>
                <a:lnTo>
                  <a:pt x="94160" y="994906"/>
                </a:lnTo>
                <a:lnTo>
                  <a:pt x="99603" y="986832"/>
                </a:lnTo>
                <a:lnTo>
                  <a:pt x="101600" y="976946"/>
                </a:lnTo>
                <a:lnTo>
                  <a:pt x="101598" y="25399"/>
                </a:lnTo>
                <a:lnTo>
                  <a:pt x="99602" y="15513"/>
                </a:lnTo>
                <a:lnTo>
                  <a:pt x="94159" y="7439"/>
                </a:lnTo>
                <a:lnTo>
                  <a:pt x="86085" y="1996"/>
                </a:lnTo>
                <a:lnTo>
                  <a:pt x="76198" y="0"/>
                </a:lnTo>
                <a:close/>
              </a:path>
              <a:path w="152400" h="1104264">
                <a:moveTo>
                  <a:pt x="152400" y="951544"/>
                </a:moveTo>
                <a:lnTo>
                  <a:pt x="101599" y="951544"/>
                </a:lnTo>
                <a:lnTo>
                  <a:pt x="101600" y="976946"/>
                </a:lnTo>
                <a:lnTo>
                  <a:pt x="99603" y="986832"/>
                </a:lnTo>
                <a:lnTo>
                  <a:pt x="94160" y="994906"/>
                </a:lnTo>
                <a:lnTo>
                  <a:pt x="86086" y="1000350"/>
                </a:lnTo>
                <a:lnTo>
                  <a:pt x="76200" y="1002346"/>
                </a:lnTo>
                <a:lnTo>
                  <a:pt x="126999" y="1002346"/>
                </a:lnTo>
                <a:lnTo>
                  <a:pt x="152400" y="95154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395639" y="5102058"/>
            <a:ext cx="945515" cy="406400"/>
          </a:xfrm>
          <a:custGeom>
            <a:avLst/>
            <a:gdLst/>
            <a:ahLst/>
            <a:cxnLst/>
            <a:rect l="l" t="t" r="r" b="b"/>
            <a:pathLst>
              <a:path w="945514" h="406400">
                <a:moveTo>
                  <a:pt x="860258" y="379726"/>
                </a:moveTo>
                <a:lnTo>
                  <a:pt x="849364" y="406143"/>
                </a:lnTo>
                <a:lnTo>
                  <a:pt x="944956" y="399197"/>
                </a:lnTo>
                <a:lnTo>
                  <a:pt x="935370" y="388180"/>
                </a:lnTo>
                <a:lnTo>
                  <a:pt x="880760" y="388180"/>
                </a:lnTo>
                <a:lnTo>
                  <a:pt x="860258" y="379726"/>
                </a:lnTo>
                <a:close/>
              </a:path>
              <a:path w="945514" h="406400">
                <a:moveTo>
                  <a:pt x="871151" y="353308"/>
                </a:moveTo>
                <a:lnTo>
                  <a:pt x="860258" y="379726"/>
                </a:lnTo>
                <a:lnTo>
                  <a:pt x="880760" y="388180"/>
                </a:lnTo>
                <a:lnTo>
                  <a:pt x="889113" y="384705"/>
                </a:lnTo>
                <a:lnTo>
                  <a:pt x="895129" y="370116"/>
                </a:lnTo>
                <a:lnTo>
                  <a:pt x="891654" y="361763"/>
                </a:lnTo>
                <a:lnTo>
                  <a:pt x="871151" y="353308"/>
                </a:lnTo>
                <a:close/>
              </a:path>
              <a:path w="945514" h="406400">
                <a:moveTo>
                  <a:pt x="882045" y="326891"/>
                </a:moveTo>
                <a:lnTo>
                  <a:pt x="871151" y="353308"/>
                </a:lnTo>
                <a:lnTo>
                  <a:pt x="891654" y="361763"/>
                </a:lnTo>
                <a:lnTo>
                  <a:pt x="895129" y="370116"/>
                </a:lnTo>
                <a:lnTo>
                  <a:pt x="889113" y="384705"/>
                </a:lnTo>
                <a:lnTo>
                  <a:pt x="880760" y="388180"/>
                </a:lnTo>
                <a:lnTo>
                  <a:pt x="935370" y="388180"/>
                </a:lnTo>
                <a:lnTo>
                  <a:pt x="882045" y="326891"/>
                </a:lnTo>
                <a:close/>
              </a:path>
              <a:path w="945514" h="406400">
                <a:moveTo>
                  <a:pt x="14367" y="0"/>
                </a:moveTo>
                <a:lnTo>
                  <a:pt x="6015" y="3475"/>
                </a:lnTo>
                <a:lnTo>
                  <a:pt x="0" y="18065"/>
                </a:lnTo>
                <a:lnTo>
                  <a:pt x="3474" y="26417"/>
                </a:lnTo>
                <a:lnTo>
                  <a:pt x="860258" y="379726"/>
                </a:lnTo>
                <a:lnTo>
                  <a:pt x="871151" y="353308"/>
                </a:lnTo>
                <a:lnTo>
                  <a:pt x="1436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535940" y="4756403"/>
            <a:ext cx="1366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0">
                <a:solidFill>
                  <a:srgbClr val="C00000"/>
                </a:solidFill>
                <a:latin typeface="Arial"/>
                <a:cs typeface="Arial"/>
              </a:rPr>
              <a:t>Target</a:t>
            </a:r>
            <a:r>
              <a:rPr dirty="0" sz="2000" spc="-1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node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68485" y="3903979"/>
            <a:ext cx="208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Perform small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68485" y="4169155"/>
            <a:ext cx="1320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manipulation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990647" y="3916171"/>
            <a:ext cx="11817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Learn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GCN  model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089948" y="3870452"/>
            <a:ext cx="20707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Change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predicted  class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label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70361" y="1868760"/>
            <a:ext cx="8096884" cy="995044"/>
          </a:xfrm>
          <a:custGeom>
            <a:avLst/>
            <a:gdLst/>
            <a:ahLst/>
            <a:cxnLst/>
            <a:rect l="l" t="t" r="r" b="b"/>
            <a:pathLst>
              <a:path w="8096884" h="995044">
                <a:moveTo>
                  <a:pt x="0" y="0"/>
                </a:moveTo>
                <a:lnTo>
                  <a:pt x="8096695" y="0"/>
                </a:lnTo>
                <a:lnTo>
                  <a:pt x="8096695" y="994478"/>
                </a:lnTo>
                <a:lnTo>
                  <a:pt x="0" y="994478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231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46361" y="1844760"/>
            <a:ext cx="8145145" cy="1042669"/>
          </a:xfrm>
          <a:custGeom>
            <a:avLst/>
            <a:gdLst/>
            <a:ahLst/>
            <a:cxnLst/>
            <a:rect l="l" t="t" r="r" b="b"/>
            <a:pathLst>
              <a:path w="8145145" h="1042669">
                <a:moveTo>
                  <a:pt x="8120695" y="0"/>
                </a:moveTo>
                <a:lnTo>
                  <a:pt x="23999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1018479"/>
                </a:lnTo>
                <a:lnTo>
                  <a:pt x="1886" y="1027820"/>
                </a:lnTo>
                <a:lnTo>
                  <a:pt x="7029" y="1035449"/>
                </a:lnTo>
                <a:lnTo>
                  <a:pt x="14658" y="1040592"/>
                </a:lnTo>
                <a:lnTo>
                  <a:pt x="23999" y="1042478"/>
                </a:lnTo>
                <a:lnTo>
                  <a:pt x="8120695" y="1042478"/>
                </a:lnTo>
                <a:lnTo>
                  <a:pt x="8130037" y="1040592"/>
                </a:lnTo>
                <a:lnTo>
                  <a:pt x="8137666" y="1035449"/>
                </a:lnTo>
                <a:lnTo>
                  <a:pt x="8142810" y="1027820"/>
                </a:lnTo>
                <a:lnTo>
                  <a:pt x="8144696" y="1018479"/>
                </a:lnTo>
                <a:lnTo>
                  <a:pt x="8144696" y="1013678"/>
                </a:lnTo>
                <a:lnTo>
                  <a:pt x="28799" y="1013678"/>
                </a:lnTo>
                <a:lnTo>
                  <a:pt x="28799" y="28799"/>
                </a:lnTo>
                <a:lnTo>
                  <a:pt x="8144696" y="28799"/>
                </a:lnTo>
                <a:lnTo>
                  <a:pt x="8144696" y="24000"/>
                </a:lnTo>
                <a:lnTo>
                  <a:pt x="8142810" y="14658"/>
                </a:lnTo>
                <a:lnTo>
                  <a:pt x="8137666" y="7029"/>
                </a:lnTo>
                <a:lnTo>
                  <a:pt x="8130037" y="1886"/>
                </a:lnTo>
                <a:lnTo>
                  <a:pt x="8120695" y="0"/>
                </a:lnTo>
                <a:close/>
              </a:path>
              <a:path w="8145145" h="1042669">
                <a:moveTo>
                  <a:pt x="8144696" y="28799"/>
                </a:moveTo>
                <a:lnTo>
                  <a:pt x="8115895" y="28799"/>
                </a:lnTo>
                <a:lnTo>
                  <a:pt x="8115895" y="1013678"/>
                </a:lnTo>
                <a:lnTo>
                  <a:pt x="8144696" y="1013678"/>
                </a:lnTo>
                <a:lnTo>
                  <a:pt x="8144696" y="28799"/>
                </a:lnTo>
                <a:close/>
              </a:path>
              <a:path w="8145145" h="1042669">
                <a:moveTo>
                  <a:pt x="8106295" y="38399"/>
                </a:moveTo>
                <a:lnTo>
                  <a:pt x="38399" y="38399"/>
                </a:lnTo>
                <a:lnTo>
                  <a:pt x="38399" y="1004078"/>
                </a:lnTo>
                <a:lnTo>
                  <a:pt x="8106295" y="1004078"/>
                </a:lnTo>
                <a:lnTo>
                  <a:pt x="8106295" y="994478"/>
                </a:lnTo>
                <a:lnTo>
                  <a:pt x="47999" y="994478"/>
                </a:lnTo>
                <a:lnTo>
                  <a:pt x="47999" y="47999"/>
                </a:lnTo>
                <a:lnTo>
                  <a:pt x="8106295" y="47999"/>
                </a:lnTo>
                <a:lnTo>
                  <a:pt x="8106295" y="38399"/>
                </a:lnTo>
                <a:close/>
              </a:path>
              <a:path w="8145145" h="1042669">
                <a:moveTo>
                  <a:pt x="8106295" y="47999"/>
                </a:moveTo>
                <a:lnTo>
                  <a:pt x="8096695" y="47999"/>
                </a:lnTo>
                <a:lnTo>
                  <a:pt x="8096695" y="994478"/>
                </a:lnTo>
                <a:lnTo>
                  <a:pt x="8106295" y="994478"/>
                </a:lnTo>
                <a:lnTo>
                  <a:pt x="8106295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2315919" y="2919476"/>
            <a:ext cx="6427470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If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graph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manipulation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is too large,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it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will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easily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be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detected.  Successful attacks should change 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the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target prediction  with “unnoticeably-small” graph</a:t>
            </a:r>
            <a:r>
              <a:rPr dirty="0" sz="1800" spc="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manipulation.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87" name="object 8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78624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8371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D60093"/>
                </a:solidFill>
              </a:rPr>
              <a:t>Original</a:t>
            </a:r>
            <a:r>
              <a:rPr dirty="0" sz="3200" spc="-80">
                <a:solidFill>
                  <a:srgbClr val="D60093"/>
                </a:solidFill>
              </a:rPr>
              <a:t> </a:t>
            </a:r>
            <a:r>
              <a:rPr dirty="0" sz="3200" spc="-20">
                <a:solidFill>
                  <a:srgbClr val="D60093"/>
                </a:solidFill>
              </a:rPr>
              <a:t>graph</a:t>
            </a:r>
            <a:r>
              <a:rPr dirty="0" sz="3200" spc="-20" b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91902" y="3495473"/>
            <a:ext cx="1059815" cy="329565"/>
          </a:xfrm>
          <a:custGeom>
            <a:avLst/>
            <a:gdLst/>
            <a:ahLst/>
            <a:cxnLst/>
            <a:rect l="l" t="t" r="r" b="b"/>
            <a:pathLst>
              <a:path w="1059814" h="329564">
                <a:moveTo>
                  <a:pt x="954504" y="0"/>
                </a:moveTo>
                <a:lnTo>
                  <a:pt x="949815" y="13370"/>
                </a:lnTo>
                <a:lnTo>
                  <a:pt x="968882" y="21644"/>
                </a:lnTo>
                <a:lnTo>
                  <a:pt x="985279" y="33099"/>
                </a:lnTo>
                <a:lnTo>
                  <a:pt x="1010066" y="65547"/>
                </a:lnTo>
                <a:lnTo>
                  <a:pt x="1024651" y="109324"/>
                </a:lnTo>
                <a:lnTo>
                  <a:pt x="1029512" y="163041"/>
                </a:lnTo>
                <a:lnTo>
                  <a:pt x="1028291" y="192092"/>
                </a:lnTo>
                <a:lnTo>
                  <a:pt x="1018524" y="242185"/>
                </a:lnTo>
                <a:lnTo>
                  <a:pt x="998926" y="281307"/>
                </a:lnTo>
                <a:lnTo>
                  <a:pt x="969104" y="307699"/>
                </a:lnTo>
                <a:lnTo>
                  <a:pt x="950335" y="316011"/>
                </a:lnTo>
                <a:lnTo>
                  <a:pt x="954504" y="329382"/>
                </a:lnTo>
                <a:lnTo>
                  <a:pt x="999430" y="308306"/>
                </a:lnTo>
                <a:lnTo>
                  <a:pt x="1032464" y="271821"/>
                </a:lnTo>
                <a:lnTo>
                  <a:pt x="1052779" y="222966"/>
                </a:lnTo>
                <a:lnTo>
                  <a:pt x="1059550" y="164777"/>
                </a:lnTo>
                <a:lnTo>
                  <a:pt x="1057852" y="134581"/>
                </a:lnTo>
                <a:lnTo>
                  <a:pt x="1044266" y="81059"/>
                </a:lnTo>
                <a:lnTo>
                  <a:pt x="1017320" y="37488"/>
                </a:lnTo>
                <a:lnTo>
                  <a:pt x="978383" y="8621"/>
                </a:lnTo>
                <a:lnTo>
                  <a:pt x="954504" y="0"/>
                </a:lnTo>
                <a:close/>
              </a:path>
              <a:path w="1059814" h="329564">
                <a:moveTo>
                  <a:pt x="105048" y="0"/>
                </a:moveTo>
                <a:lnTo>
                  <a:pt x="60228" y="21117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920747"/>
            <a:ext cx="7243445" cy="4092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mbria Math"/>
                <a:cs typeface="Cambria Math"/>
              </a:rPr>
              <a:t>𝑨</a:t>
            </a:r>
            <a:r>
              <a:rPr dirty="0" sz="2800" spc="-5">
                <a:latin typeface="Calibri"/>
                <a:cs typeface="Calibri"/>
              </a:rPr>
              <a:t>: adjacency </a:t>
            </a:r>
            <a:r>
              <a:rPr dirty="0" sz="2800" spc="-10">
                <a:latin typeface="Calibri"/>
                <a:cs typeface="Calibri"/>
              </a:rPr>
              <a:t>matrix, </a:t>
            </a:r>
            <a:r>
              <a:rPr dirty="0" sz="2800" spc="-5">
                <a:latin typeface="Cambria Math"/>
                <a:cs typeface="Cambria Math"/>
              </a:rPr>
              <a:t>𝑿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25">
                <a:latin typeface="Calibri"/>
                <a:cs typeface="Calibri"/>
              </a:rPr>
              <a:t>feature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matrix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Manipulated </a:t>
            </a:r>
            <a:r>
              <a:rPr dirty="0" sz="3200" spc="-25" b="1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dirty="0" sz="3200" spc="35" b="1">
                <a:solidFill>
                  <a:srgbClr val="0000FF"/>
                </a:solidFill>
                <a:latin typeface="Calibri"/>
                <a:cs typeface="Calibri"/>
              </a:rPr>
              <a:t>(aXer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adding</a:t>
            </a:r>
            <a:r>
              <a:rPr dirty="0" sz="3200" spc="-5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noise):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ts val="3329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100">
                <a:latin typeface="Cambria Math"/>
                <a:cs typeface="Cambria Math"/>
              </a:rPr>
              <a:t>𝑨</a:t>
            </a:r>
            <a:r>
              <a:rPr dirty="0" baseline="29166" sz="3000" spc="150">
                <a:latin typeface="Cambria Math"/>
                <a:cs typeface="Cambria Math"/>
              </a:rPr>
              <a:t>'</a:t>
            </a:r>
            <a:r>
              <a:rPr dirty="0" sz="2800" spc="10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adjacency </a:t>
            </a:r>
            <a:r>
              <a:rPr dirty="0" sz="2800" spc="-10">
                <a:latin typeface="Calibri"/>
                <a:cs typeface="Calibri"/>
              </a:rPr>
              <a:t>matrix, </a:t>
            </a:r>
            <a:r>
              <a:rPr dirty="0" sz="2800" spc="100">
                <a:latin typeface="Cambria Math"/>
                <a:cs typeface="Cambria Math"/>
              </a:rPr>
              <a:t>𝑿</a:t>
            </a:r>
            <a:r>
              <a:rPr dirty="0" baseline="29166" sz="3000" spc="150">
                <a:latin typeface="Cambria Math"/>
                <a:cs typeface="Cambria Math"/>
              </a:rPr>
              <a:t>'</a:t>
            </a:r>
            <a:r>
              <a:rPr dirty="0" sz="2800" spc="100">
                <a:latin typeface="Calibri"/>
                <a:cs typeface="Calibri"/>
              </a:rPr>
              <a:t>: </a:t>
            </a:r>
            <a:r>
              <a:rPr dirty="0" sz="2800" spc="-25">
                <a:latin typeface="Calibri"/>
                <a:cs typeface="Calibri"/>
              </a:rPr>
              <a:t>feature</a:t>
            </a:r>
            <a:r>
              <a:rPr dirty="0" sz="2800" spc="-1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matrix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2689860" algn="l"/>
                <a:tab pos="3763010" algn="l"/>
              </a:tabLst>
            </a:pP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AssumpBon</a:t>
            </a:r>
            <a:r>
              <a:rPr dirty="0" sz="3200">
                <a:latin typeface="Calibri"/>
                <a:cs typeface="Calibri"/>
              </a:rPr>
              <a:t>:	</a:t>
            </a:r>
            <a:r>
              <a:rPr dirty="0" sz="2800" spc="100">
                <a:latin typeface="Cambria Math"/>
                <a:cs typeface="Cambria Math"/>
              </a:rPr>
              <a:t>𝑨</a:t>
            </a:r>
            <a:r>
              <a:rPr dirty="0" baseline="29166" sz="3000" spc="150">
                <a:latin typeface="Cambria Math"/>
                <a:cs typeface="Cambria Math"/>
              </a:rPr>
              <a:t>'</a:t>
            </a:r>
            <a:r>
              <a:rPr dirty="0" sz="2800" spc="1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10">
                <a:latin typeface="Cambria Math"/>
                <a:cs typeface="Cambria Math"/>
              </a:rPr>
              <a:t>𝑿</a:t>
            </a:r>
            <a:r>
              <a:rPr dirty="0" baseline="29166" sz="3000" spc="165">
                <a:latin typeface="Cambria Math"/>
                <a:cs typeface="Cambria Math"/>
              </a:rPr>
              <a:t>'	</a:t>
            </a:r>
            <a:r>
              <a:rPr dirty="0" sz="2800">
                <a:latin typeface="Cambria Math"/>
                <a:cs typeface="Cambria Math"/>
              </a:rPr>
              <a:t>≈ </a:t>
            </a:r>
            <a:r>
              <a:rPr dirty="0" sz="2800" spc="-5">
                <a:latin typeface="Cambria Math"/>
                <a:cs typeface="Cambria Math"/>
              </a:rPr>
              <a:t>(𝑨,</a:t>
            </a:r>
            <a:r>
              <a:rPr dirty="0" sz="2800" spc="-7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𝑿)</a:t>
            </a:r>
            <a:endParaRPr sz="2800">
              <a:latin typeface="Cambria Math"/>
              <a:cs typeface="Cambria Math"/>
            </a:endParaRPr>
          </a:p>
          <a:p>
            <a:pPr marL="625475" indent="-274320">
              <a:lnSpc>
                <a:spcPct val="100000"/>
              </a:lnSpc>
              <a:spcBef>
                <a:spcPts val="6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>
                <a:latin typeface="Calibri"/>
                <a:cs typeface="Calibri"/>
              </a:rPr>
              <a:t>Graph </a:t>
            </a:r>
            <a:r>
              <a:rPr dirty="0" sz="2600" spc="55">
                <a:latin typeface="Calibri"/>
                <a:cs typeface="Calibri"/>
              </a:rPr>
              <a:t>manipula;on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10" b="1">
                <a:solidFill>
                  <a:srgbClr val="C00000"/>
                </a:solidFill>
                <a:latin typeface="Calibri"/>
                <a:cs typeface="Calibri"/>
              </a:rPr>
              <a:t>unno7ceably</a:t>
            </a:r>
            <a:r>
              <a:rPr dirty="0" sz="26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small.</a:t>
            </a:r>
            <a:endParaRPr sz="2600">
              <a:latin typeface="Calibri"/>
              <a:cs typeface="Calibri"/>
            </a:endParaRPr>
          </a:p>
          <a:p>
            <a:pPr lvl="1" marL="890905" marR="818515" indent="-228600">
              <a:lnSpc>
                <a:spcPts val="2780"/>
              </a:lnSpc>
              <a:spcBef>
                <a:spcPts val="85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Preserving basic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 spc="-10">
                <a:latin typeface="Calibri"/>
                <a:cs typeface="Calibri"/>
              </a:rPr>
              <a:t>staRsRcs </a:t>
            </a:r>
            <a:r>
              <a:rPr dirty="0" sz="2400" spc="0">
                <a:latin typeface="Calibri"/>
                <a:cs typeface="Calibri"/>
              </a:rPr>
              <a:t>(e.g,. </a:t>
            </a:r>
            <a:r>
              <a:rPr dirty="0" sz="2400" spc="-95">
                <a:latin typeface="Calibri"/>
                <a:cs typeface="Calibri"/>
              </a:rPr>
              <a:t>degree  </a:t>
            </a:r>
            <a:r>
              <a:rPr dirty="0" sz="2400" spc="-5">
                <a:latin typeface="Calibri"/>
                <a:cs typeface="Calibri"/>
              </a:rPr>
              <a:t>distribuRon)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20">
                <a:latin typeface="Calibri"/>
                <a:cs typeface="Calibri"/>
              </a:rPr>
              <a:t>feature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staRsRcs.</a:t>
            </a:r>
            <a:endParaRPr sz="2400">
              <a:latin typeface="Calibri"/>
              <a:cs typeface="Calibri"/>
            </a:endParaRPr>
          </a:p>
          <a:p>
            <a:pPr marL="625475" marR="5080" indent="-274320">
              <a:lnSpc>
                <a:spcPct val="100000"/>
              </a:lnSpc>
              <a:spcBef>
                <a:spcPts val="5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>
                <a:latin typeface="Calibri"/>
                <a:cs typeface="Calibri"/>
              </a:rPr>
              <a:t>Graph </a:t>
            </a:r>
            <a:r>
              <a:rPr dirty="0" sz="2600" spc="55">
                <a:latin typeface="Calibri"/>
                <a:cs typeface="Calibri"/>
              </a:rPr>
              <a:t>manipula;on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either </a:t>
            </a:r>
            <a:r>
              <a:rPr dirty="0" sz="2600" spc="-5" b="1">
                <a:solidFill>
                  <a:srgbClr val="D60093"/>
                </a:solidFill>
                <a:latin typeface="Calibri"/>
                <a:cs typeface="Calibri"/>
              </a:rPr>
              <a:t>direct </a:t>
            </a:r>
            <a:r>
              <a:rPr dirty="0" sz="2600" spc="-5">
                <a:latin typeface="Calibri"/>
                <a:cs typeface="Calibri"/>
              </a:rPr>
              <a:t>(changing </a:t>
            </a:r>
            <a:r>
              <a:rPr dirty="0" sz="2600" spc="-190">
                <a:latin typeface="Calibri"/>
                <a:cs typeface="Calibri"/>
              </a:rPr>
              <a:t>the  </a:t>
            </a:r>
            <a:r>
              <a:rPr dirty="0" sz="2600" spc="25">
                <a:latin typeface="Calibri"/>
                <a:cs typeface="Calibri"/>
              </a:rPr>
              <a:t>feature/connec;on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20">
                <a:latin typeface="Calibri"/>
                <a:cs typeface="Calibri"/>
              </a:rPr>
              <a:t>target </a:t>
            </a:r>
            <a:r>
              <a:rPr dirty="0" sz="2600" spc="-5">
                <a:latin typeface="Calibri"/>
                <a:cs typeface="Calibri"/>
              </a:rPr>
              <a:t>nodes)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0000FF"/>
                </a:solidFill>
                <a:latin typeface="Calibri"/>
                <a:cs typeface="Calibri"/>
              </a:rPr>
              <a:t>indirect</a:t>
            </a:r>
            <a:r>
              <a:rPr dirty="0" sz="2600" spc="-5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81672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32904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solidFill>
                  <a:srgbClr val="C00000"/>
                </a:solidFill>
              </a:rPr>
              <a:t>Target </a:t>
            </a:r>
            <a:r>
              <a:rPr dirty="0" sz="3200" spc="-5">
                <a:solidFill>
                  <a:srgbClr val="C00000"/>
                </a:solidFill>
              </a:rPr>
              <a:t>node</a:t>
            </a:r>
            <a:r>
              <a:rPr dirty="0" sz="3200" spc="-5" b="0">
                <a:latin typeface="Calibri"/>
                <a:cs typeface="Calibri"/>
              </a:rPr>
              <a:t>: </a:t>
            </a:r>
            <a:r>
              <a:rPr dirty="0" sz="3200" b="0">
                <a:latin typeface="Cambria Math"/>
                <a:cs typeface="Cambria Math"/>
              </a:rPr>
              <a:t>𝑣  ∈</a:t>
            </a:r>
            <a:r>
              <a:rPr dirty="0" sz="3200" spc="-250" b="0">
                <a:latin typeface="Cambria Math"/>
                <a:cs typeface="Cambria Math"/>
              </a:rPr>
              <a:t> </a:t>
            </a:r>
            <a:r>
              <a:rPr dirty="0" sz="3200" b="0">
                <a:latin typeface="Cambria Math"/>
                <a:cs typeface="Cambria Math"/>
              </a:rPr>
              <a:t>𝑉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0">
                <a:latin typeface="Calibri"/>
                <a:cs typeface="Calibri"/>
              </a:rPr>
              <a:t>GCN </a:t>
            </a:r>
            <a:r>
              <a:rPr dirty="0" sz="3200" spc="-5" b="0">
                <a:latin typeface="Calibri"/>
                <a:cs typeface="Calibri"/>
              </a:rPr>
              <a:t>learned </a:t>
            </a:r>
            <a:r>
              <a:rPr dirty="0" sz="3200" spc="-15" b="0">
                <a:latin typeface="Calibri"/>
                <a:cs typeface="Calibri"/>
              </a:rPr>
              <a:t>over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5">
                <a:solidFill>
                  <a:srgbClr val="008000"/>
                </a:solidFill>
              </a:rPr>
              <a:t>original</a:t>
            </a:r>
            <a:r>
              <a:rPr dirty="0" sz="3200" spc="-10">
                <a:solidFill>
                  <a:srgbClr val="008000"/>
                </a:solidFill>
              </a:rPr>
              <a:t> </a:t>
            </a:r>
            <a:r>
              <a:rPr dirty="0" sz="3200" spc="-20">
                <a:solidFill>
                  <a:srgbClr val="008000"/>
                </a:solidFill>
              </a:rPr>
              <a:t>graph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10053" y="2441472"/>
            <a:ext cx="1397000" cy="376555"/>
          </a:xfrm>
          <a:custGeom>
            <a:avLst/>
            <a:gdLst/>
            <a:ahLst/>
            <a:cxnLst/>
            <a:rect l="l" t="t" r="r" b="b"/>
            <a:pathLst>
              <a:path w="1397000" h="376555">
                <a:moveTo>
                  <a:pt x="1276706" y="0"/>
                </a:moveTo>
                <a:lnTo>
                  <a:pt x="1271348" y="15279"/>
                </a:lnTo>
                <a:lnTo>
                  <a:pt x="1293139" y="24736"/>
                </a:lnTo>
                <a:lnTo>
                  <a:pt x="1311879" y="37826"/>
                </a:lnTo>
                <a:lnTo>
                  <a:pt x="1340206" y="74909"/>
                </a:lnTo>
                <a:lnTo>
                  <a:pt x="1356875" y="124940"/>
                </a:lnTo>
                <a:lnTo>
                  <a:pt x="1362431" y="186331"/>
                </a:lnTo>
                <a:lnTo>
                  <a:pt x="1361036" y="219533"/>
                </a:lnTo>
                <a:lnTo>
                  <a:pt x="1349874" y="276782"/>
                </a:lnTo>
                <a:lnTo>
                  <a:pt x="1327475" y="321493"/>
                </a:lnTo>
                <a:lnTo>
                  <a:pt x="1293393" y="351655"/>
                </a:lnTo>
                <a:lnTo>
                  <a:pt x="1271944" y="361156"/>
                </a:lnTo>
                <a:lnTo>
                  <a:pt x="1276706" y="376435"/>
                </a:lnTo>
                <a:lnTo>
                  <a:pt x="1328052" y="352349"/>
                </a:lnTo>
                <a:lnTo>
                  <a:pt x="1365804" y="310653"/>
                </a:lnTo>
                <a:lnTo>
                  <a:pt x="1389022" y="254818"/>
                </a:lnTo>
                <a:lnTo>
                  <a:pt x="1396761" y="188316"/>
                </a:lnTo>
                <a:lnTo>
                  <a:pt x="1394820" y="153807"/>
                </a:lnTo>
                <a:lnTo>
                  <a:pt x="1379292" y="92638"/>
                </a:lnTo>
                <a:lnTo>
                  <a:pt x="1348497" y="42843"/>
                </a:lnTo>
                <a:lnTo>
                  <a:pt x="1303997" y="9853"/>
                </a:lnTo>
                <a:lnTo>
                  <a:pt x="1276706" y="0"/>
                </a:lnTo>
                <a:close/>
              </a:path>
              <a:path w="139700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13844" y="3901873"/>
            <a:ext cx="846455" cy="329565"/>
          </a:xfrm>
          <a:custGeom>
            <a:avLst/>
            <a:gdLst/>
            <a:ahLst/>
            <a:cxnLst/>
            <a:rect l="l" t="t" r="r" b="b"/>
            <a:pathLst>
              <a:path w="846454" h="329564">
                <a:moveTo>
                  <a:pt x="740888" y="0"/>
                </a:moveTo>
                <a:lnTo>
                  <a:pt x="736201" y="13370"/>
                </a:lnTo>
                <a:lnTo>
                  <a:pt x="755268" y="21645"/>
                </a:lnTo>
                <a:lnTo>
                  <a:pt x="771665" y="33099"/>
                </a:lnTo>
                <a:lnTo>
                  <a:pt x="796451" y="65547"/>
                </a:lnTo>
                <a:lnTo>
                  <a:pt x="811037" y="109324"/>
                </a:lnTo>
                <a:lnTo>
                  <a:pt x="815898" y="163041"/>
                </a:lnTo>
                <a:lnTo>
                  <a:pt x="814677" y="192092"/>
                </a:lnTo>
                <a:lnTo>
                  <a:pt x="804910" y="242185"/>
                </a:lnTo>
                <a:lnTo>
                  <a:pt x="785312" y="281307"/>
                </a:lnTo>
                <a:lnTo>
                  <a:pt x="755490" y="307699"/>
                </a:lnTo>
                <a:lnTo>
                  <a:pt x="736721" y="316011"/>
                </a:lnTo>
                <a:lnTo>
                  <a:pt x="740888" y="329382"/>
                </a:lnTo>
                <a:lnTo>
                  <a:pt x="785816" y="308307"/>
                </a:lnTo>
                <a:lnTo>
                  <a:pt x="818850" y="271823"/>
                </a:lnTo>
                <a:lnTo>
                  <a:pt x="839165" y="222966"/>
                </a:lnTo>
                <a:lnTo>
                  <a:pt x="845936" y="164777"/>
                </a:lnTo>
                <a:lnTo>
                  <a:pt x="844238" y="134581"/>
                </a:lnTo>
                <a:lnTo>
                  <a:pt x="830652" y="81059"/>
                </a:lnTo>
                <a:lnTo>
                  <a:pt x="803706" y="37488"/>
                </a:lnTo>
                <a:lnTo>
                  <a:pt x="764768" y="8622"/>
                </a:lnTo>
                <a:lnTo>
                  <a:pt x="740888" y="0"/>
                </a:lnTo>
                <a:close/>
              </a:path>
              <a:path w="846454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2327148"/>
            <a:ext cx="7720330" cy="1976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9539">
              <a:lnSpc>
                <a:spcPct val="100000"/>
              </a:lnSpc>
              <a:spcBef>
                <a:spcPts val="100"/>
              </a:spcBef>
              <a:tabLst>
                <a:tab pos="3597910" algn="l"/>
              </a:tabLst>
            </a:pP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𝜽</a:t>
            </a:r>
            <a:r>
              <a:rPr dirty="0" baseline="28985" sz="3450">
                <a:solidFill>
                  <a:srgbClr val="008000"/>
                </a:solidFill>
                <a:latin typeface="Cambria Math"/>
                <a:cs typeface="Cambria Math"/>
              </a:rPr>
              <a:t>∗</a:t>
            </a:r>
            <a:r>
              <a:rPr dirty="0" baseline="28985" sz="3450" spc="37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90">
                <a:latin typeface="Cambria Math"/>
                <a:cs typeface="Cambria Math"/>
              </a:rPr>
              <a:t> </a:t>
            </a:r>
            <a:r>
              <a:rPr dirty="0" sz="3200" spc="-50">
                <a:latin typeface="Cambria Math"/>
                <a:cs typeface="Cambria Math"/>
              </a:rPr>
              <a:t>argmin</a:t>
            </a:r>
            <a:r>
              <a:rPr dirty="0" baseline="-15700" sz="3450" spc="-75">
                <a:latin typeface="Cambria Math"/>
                <a:cs typeface="Cambria Math"/>
              </a:rPr>
              <a:t>𝜽</a:t>
            </a:r>
            <a:r>
              <a:rPr dirty="0" sz="3200" spc="-50">
                <a:latin typeface="Cambria Math"/>
                <a:cs typeface="Cambria Math"/>
              </a:rPr>
              <a:t>ℒ</a:t>
            </a:r>
            <a:r>
              <a:rPr dirty="0" baseline="-15700" sz="3450" spc="-75">
                <a:latin typeface="Cambria Math"/>
                <a:cs typeface="Cambria Math"/>
              </a:rPr>
              <a:t>#$%&amp;'	</a:t>
            </a:r>
            <a:r>
              <a:rPr dirty="0" sz="3200">
                <a:latin typeface="Cambria Math"/>
                <a:cs typeface="Cambria Math"/>
              </a:rPr>
              <a:t>𝜽; </a:t>
            </a:r>
            <a:r>
              <a:rPr dirty="0" sz="3200" spc="-5">
                <a:solidFill>
                  <a:srgbClr val="008000"/>
                </a:solidFill>
                <a:latin typeface="Cambria Math"/>
                <a:cs typeface="Cambria Math"/>
              </a:rPr>
              <a:t>𝑨</a:t>
            </a:r>
            <a:r>
              <a:rPr dirty="0" sz="3200" spc="-5">
                <a:latin typeface="Cambria Math"/>
                <a:cs typeface="Cambria Math"/>
              </a:rPr>
              <a:t>,</a:t>
            </a:r>
            <a:r>
              <a:rPr dirty="0" sz="3200" spc="-425"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𝑿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38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0">
                <a:latin typeface="Calibri"/>
                <a:cs typeface="Calibri"/>
              </a:rPr>
              <a:t>GCN’s </a:t>
            </a:r>
            <a:r>
              <a:rPr dirty="0" sz="3200" spc="-5">
                <a:latin typeface="Calibri"/>
                <a:cs typeface="Calibri"/>
              </a:rPr>
              <a:t>original </a:t>
            </a:r>
            <a:r>
              <a:rPr dirty="0" sz="3200" spc="-10">
                <a:latin typeface="Calibri"/>
                <a:cs typeface="Calibri"/>
              </a:rPr>
              <a:t>prediction </a:t>
            </a:r>
            <a:r>
              <a:rPr dirty="0" sz="3200" spc="-5">
                <a:latin typeface="Calibri"/>
                <a:cs typeface="Calibri"/>
              </a:rPr>
              <a:t>on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5">
                <a:solidFill>
                  <a:srgbClr val="C00000"/>
                </a:solidFill>
                <a:latin typeface="Calibri"/>
                <a:cs typeface="Calibri"/>
              </a:rPr>
              <a:t>target</a:t>
            </a:r>
            <a:r>
              <a:rPr dirty="0" sz="3200" spc="1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node:</a:t>
            </a:r>
            <a:endParaRPr sz="3200">
              <a:latin typeface="Calibri"/>
              <a:cs typeface="Calibri"/>
            </a:endParaRPr>
          </a:p>
          <a:p>
            <a:pPr marL="1720850">
              <a:lnSpc>
                <a:spcPts val="2370"/>
              </a:lnSpc>
              <a:spcBef>
                <a:spcPts val="40"/>
              </a:spcBef>
              <a:tabLst>
                <a:tab pos="3933825" algn="l"/>
              </a:tabLst>
            </a:pPr>
            <a:r>
              <a:rPr dirty="0" sz="2800" spc="60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27777" sz="3000" spc="89">
                <a:solidFill>
                  <a:srgbClr val="008000"/>
                </a:solidFill>
                <a:latin typeface="Cambria Math"/>
                <a:cs typeface="Cambria Math"/>
              </a:rPr>
              <a:t>∗</a:t>
            </a:r>
            <a:r>
              <a:rPr dirty="0" baseline="27777" sz="3000" spc="337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 spc="-5">
                <a:solidFill>
                  <a:srgbClr val="0070C0"/>
                </a:solidFill>
                <a:latin typeface="Cambria Math"/>
                <a:cs typeface="Cambria Math"/>
              </a:rPr>
              <a:t>𝐚𝐫𝐠𝐦𝐚𝐱	</a:t>
            </a:r>
            <a:r>
              <a:rPr dirty="0" sz="2800">
                <a:latin typeface="Cambria Math"/>
                <a:cs typeface="Cambria Math"/>
              </a:rPr>
              <a:t>𝑓 </a:t>
            </a:r>
            <a:r>
              <a:rPr dirty="0" baseline="4901" sz="2550">
                <a:solidFill>
                  <a:srgbClr val="008000"/>
                </a:solidFill>
                <a:latin typeface="Cambria Math"/>
                <a:cs typeface="Cambria Math"/>
              </a:rPr>
              <a:t>∗  </a:t>
            </a:r>
            <a:r>
              <a:rPr dirty="0" sz="2800" spc="-5">
                <a:solidFill>
                  <a:srgbClr val="008000"/>
                </a:solidFill>
                <a:latin typeface="Cambria Math"/>
                <a:cs typeface="Cambria Math"/>
              </a:rPr>
              <a:t>𝑨,</a:t>
            </a:r>
            <a:r>
              <a:rPr dirty="0" sz="2800" spc="3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𝑿</a:t>
            </a:r>
            <a:endParaRPr sz="2800">
              <a:latin typeface="Cambria Math"/>
              <a:cs typeface="Cambria Math"/>
            </a:endParaRPr>
          </a:p>
          <a:p>
            <a:pPr algn="ctr" marR="228600">
              <a:lnSpc>
                <a:spcPts val="1410"/>
              </a:lnSpc>
              <a:tabLst>
                <a:tab pos="1903095" algn="l"/>
                <a:tab pos="2197735" algn="l"/>
                <a:tab pos="3396615" algn="l"/>
              </a:tabLst>
            </a:pPr>
            <a:r>
              <a:rPr dirty="0" sz="2000" spc="300">
                <a:solidFill>
                  <a:srgbClr val="008000"/>
                </a:solidFill>
                <a:latin typeface="Cambria Math"/>
                <a:cs typeface="Cambria Math"/>
              </a:rPr>
              <a:t>(	</a:t>
            </a:r>
            <a:r>
              <a:rPr dirty="0" sz="2000" spc="150">
                <a:latin typeface="Cambria Math"/>
                <a:cs typeface="Cambria Math"/>
              </a:rPr>
              <a:t>*	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𝜽	</a:t>
            </a:r>
            <a:r>
              <a:rPr dirty="0" sz="2000" spc="175">
                <a:latin typeface="Cambria Math"/>
                <a:cs typeface="Cambria Math"/>
              </a:rPr>
              <a:t>(,*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3103055" y="4455667"/>
            <a:ext cx="4318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Predict </a:t>
            </a: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the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class </a:t>
            </a:r>
            <a:r>
              <a:rPr dirty="0" sz="1800" spc="35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27777" sz="1950" spc="52">
                <a:solidFill>
                  <a:srgbClr val="008000"/>
                </a:solidFill>
                <a:latin typeface="Cambria Math"/>
                <a:cs typeface="Cambria Math"/>
              </a:rPr>
              <a:t>∗  </a:t>
            </a: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of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vertex </a:t>
            </a:r>
            <a:r>
              <a:rPr dirty="0" sz="1800">
                <a:solidFill>
                  <a:srgbClr val="0070C0"/>
                </a:solidFill>
                <a:latin typeface="Cambria Math"/>
                <a:cs typeface="Cambria Math"/>
              </a:rPr>
              <a:t>𝒗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that</a:t>
            </a:r>
            <a:r>
              <a:rPr dirty="0" sz="1800" spc="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has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3055" y="4564888"/>
            <a:ext cx="3568700" cy="455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07365">
              <a:lnSpc>
                <a:spcPts val="1395"/>
              </a:lnSpc>
              <a:spcBef>
                <a:spcPts val="100"/>
              </a:spcBef>
            </a:pPr>
            <a:r>
              <a:rPr dirty="0" sz="1300" spc="425">
                <a:solidFill>
                  <a:srgbClr val="008000"/>
                </a:solidFill>
                <a:latin typeface="Cambria Math"/>
                <a:cs typeface="Cambria Math"/>
              </a:rPr>
              <a:t>'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ts val="1995"/>
              </a:lnSpc>
            </a:pP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the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highest predicted</a:t>
            </a:r>
            <a:r>
              <a:rPr dirty="0" sz="1800" spc="-2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probability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75576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58491" y="1946172"/>
            <a:ext cx="1606550" cy="376555"/>
          </a:xfrm>
          <a:custGeom>
            <a:avLst/>
            <a:gdLst/>
            <a:ahLst/>
            <a:cxnLst/>
            <a:rect l="l" t="t" r="r" b="b"/>
            <a:pathLst>
              <a:path w="1606550" h="376555">
                <a:moveTo>
                  <a:pt x="1486256" y="0"/>
                </a:moveTo>
                <a:lnTo>
                  <a:pt x="1480898" y="15279"/>
                </a:lnTo>
                <a:lnTo>
                  <a:pt x="1502689" y="24736"/>
                </a:lnTo>
                <a:lnTo>
                  <a:pt x="1521429" y="37826"/>
                </a:lnTo>
                <a:lnTo>
                  <a:pt x="1549756" y="74909"/>
                </a:lnTo>
                <a:lnTo>
                  <a:pt x="1566425" y="124940"/>
                </a:lnTo>
                <a:lnTo>
                  <a:pt x="1571981" y="186331"/>
                </a:lnTo>
                <a:lnTo>
                  <a:pt x="1570586" y="219533"/>
                </a:lnTo>
                <a:lnTo>
                  <a:pt x="1559424" y="276782"/>
                </a:lnTo>
                <a:lnTo>
                  <a:pt x="1537025" y="321493"/>
                </a:lnTo>
                <a:lnTo>
                  <a:pt x="1502943" y="351655"/>
                </a:lnTo>
                <a:lnTo>
                  <a:pt x="1481494" y="361156"/>
                </a:lnTo>
                <a:lnTo>
                  <a:pt x="1486256" y="376435"/>
                </a:lnTo>
                <a:lnTo>
                  <a:pt x="1537602" y="352349"/>
                </a:lnTo>
                <a:lnTo>
                  <a:pt x="1575354" y="310653"/>
                </a:lnTo>
                <a:lnTo>
                  <a:pt x="1598572" y="254818"/>
                </a:lnTo>
                <a:lnTo>
                  <a:pt x="1606311" y="188316"/>
                </a:lnTo>
                <a:lnTo>
                  <a:pt x="1604370" y="153807"/>
                </a:lnTo>
                <a:lnTo>
                  <a:pt x="1588842" y="92638"/>
                </a:lnTo>
                <a:lnTo>
                  <a:pt x="1558047" y="42843"/>
                </a:lnTo>
                <a:lnTo>
                  <a:pt x="1513547" y="9853"/>
                </a:lnTo>
                <a:lnTo>
                  <a:pt x="1486256" y="0"/>
                </a:lnTo>
                <a:close/>
              </a:path>
              <a:path w="160655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9391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0">
                <a:latin typeface="Calibri"/>
                <a:cs typeface="Calibri"/>
              </a:rPr>
              <a:t>GCN </a:t>
            </a:r>
            <a:r>
              <a:rPr dirty="0" sz="3200" spc="-5" b="0">
                <a:latin typeface="Calibri"/>
                <a:cs typeface="Calibri"/>
              </a:rPr>
              <a:t>learned </a:t>
            </a:r>
            <a:r>
              <a:rPr dirty="0" sz="3200" spc="-15" b="0">
                <a:latin typeface="Calibri"/>
                <a:cs typeface="Calibri"/>
              </a:rPr>
              <a:t>over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10">
                <a:solidFill>
                  <a:srgbClr val="D60093"/>
                </a:solidFill>
              </a:rPr>
              <a:t>manipulated</a:t>
            </a:r>
            <a:r>
              <a:rPr dirty="0" sz="3200" spc="-45">
                <a:solidFill>
                  <a:srgbClr val="D60093"/>
                </a:solidFill>
              </a:rPr>
              <a:t> </a:t>
            </a:r>
            <a:r>
              <a:rPr dirty="0" sz="3200" spc="-20">
                <a:solidFill>
                  <a:srgbClr val="D60093"/>
                </a:solidFill>
              </a:rPr>
              <a:t>graph</a:t>
            </a:r>
            <a:endParaRPr sz="3200">
              <a:latin typeface="Calibri"/>
              <a:cs typeface="Calibri"/>
            </a:endParaRPr>
          </a:p>
          <a:p>
            <a:pPr marL="1268095">
              <a:lnSpc>
                <a:spcPts val="3815"/>
              </a:lnSpc>
              <a:tabLst>
                <a:tab pos="4972685" algn="l"/>
              </a:tabLst>
            </a:pPr>
            <a:r>
              <a:rPr dirty="0" sz="3200" spc="-45" b="0">
                <a:solidFill>
                  <a:srgbClr val="D60093"/>
                </a:solidFill>
                <a:latin typeface="Cambria Math"/>
                <a:cs typeface="Cambria Math"/>
              </a:rPr>
              <a:t>𝜽</a:t>
            </a:r>
            <a:r>
              <a:rPr dirty="0" baseline="28985" sz="3450" spc="-67" b="0">
                <a:solidFill>
                  <a:srgbClr val="D60093"/>
                </a:solidFill>
                <a:latin typeface="Cambria Math"/>
                <a:cs typeface="Cambria Math"/>
              </a:rPr>
              <a:t>∗(</a:t>
            </a:r>
            <a:r>
              <a:rPr dirty="0" baseline="28985" sz="3450" spc="375" b="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latin typeface="Cambria Math"/>
                <a:cs typeface="Cambria Math"/>
              </a:rPr>
              <a:t>=</a:t>
            </a:r>
            <a:r>
              <a:rPr dirty="0" sz="3200" spc="200" b="0">
                <a:latin typeface="Cambria Math"/>
                <a:cs typeface="Cambria Math"/>
              </a:rPr>
              <a:t> </a:t>
            </a:r>
            <a:r>
              <a:rPr dirty="0" sz="3200" spc="-50" b="0">
                <a:latin typeface="Cambria Math"/>
                <a:cs typeface="Cambria Math"/>
              </a:rPr>
              <a:t>argmin</a:t>
            </a:r>
            <a:r>
              <a:rPr dirty="0" baseline="-15700" sz="3450" spc="-75" b="0">
                <a:latin typeface="Cambria Math"/>
                <a:cs typeface="Cambria Math"/>
              </a:rPr>
              <a:t>𝜽</a:t>
            </a:r>
            <a:r>
              <a:rPr dirty="0" sz="3200" spc="-50" b="0">
                <a:latin typeface="Cambria Math"/>
                <a:cs typeface="Cambria Math"/>
              </a:rPr>
              <a:t>ℒ</a:t>
            </a:r>
            <a:r>
              <a:rPr dirty="0" baseline="-15700" sz="3450" spc="-75" b="0">
                <a:latin typeface="Cambria Math"/>
                <a:cs typeface="Cambria Math"/>
              </a:rPr>
              <a:t>#$%&amp;'	</a:t>
            </a:r>
            <a:r>
              <a:rPr dirty="0" sz="3200" b="0">
                <a:latin typeface="Cambria Math"/>
                <a:cs typeface="Cambria Math"/>
              </a:rPr>
              <a:t>𝜽; </a:t>
            </a:r>
            <a:r>
              <a:rPr dirty="0" sz="3200" spc="-5" b="0">
                <a:solidFill>
                  <a:srgbClr val="D60093"/>
                </a:solidFill>
                <a:latin typeface="Cambria Math"/>
                <a:cs typeface="Cambria Math"/>
              </a:rPr>
              <a:t>𝑨′,</a:t>
            </a:r>
            <a:r>
              <a:rPr dirty="0" sz="3200" spc="-425" b="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3200" spc="-5" b="0">
                <a:solidFill>
                  <a:srgbClr val="D60093"/>
                </a:solidFill>
                <a:latin typeface="Cambria Math"/>
                <a:cs typeface="Cambria Math"/>
              </a:rPr>
              <a:t>𝑿′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656332"/>
            <a:ext cx="67614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0">
                <a:latin typeface="Calibri"/>
                <a:cs typeface="Calibri"/>
              </a:rPr>
              <a:t>GCN’s </a:t>
            </a:r>
            <a:r>
              <a:rPr dirty="0" sz="3200" spc="-10">
                <a:latin typeface="Calibri"/>
                <a:cs typeface="Calibri"/>
              </a:rPr>
              <a:t>prediction </a:t>
            </a:r>
            <a:r>
              <a:rPr dirty="0" sz="3200" spc="-5">
                <a:latin typeface="Calibri"/>
                <a:cs typeface="Calibri"/>
              </a:rPr>
              <a:t>on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target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32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𝒗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7371" y="3326891"/>
            <a:ext cx="201548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3885" algn="l"/>
              </a:tabLst>
            </a:pPr>
            <a:r>
              <a:rPr dirty="0" sz="2000" spc="300">
                <a:solidFill>
                  <a:srgbClr val="D60093"/>
                </a:solidFill>
                <a:latin typeface="Cambria Math"/>
                <a:cs typeface="Cambria Math"/>
              </a:rPr>
              <a:t>(</a:t>
            </a:r>
            <a:r>
              <a:rPr dirty="0" sz="2000" spc="300">
                <a:solidFill>
                  <a:srgbClr val="D60093"/>
                </a:solidFill>
                <a:latin typeface="Cambria Math"/>
                <a:cs typeface="Cambria Math"/>
              </a:rPr>
              <a:t>	</a:t>
            </a:r>
            <a:r>
              <a:rPr dirty="0" sz="2000" spc="150">
                <a:latin typeface="Cambria Math"/>
                <a:cs typeface="Cambria Math"/>
              </a:rPr>
              <a:t>*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8759" y="3345179"/>
            <a:ext cx="1841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D60093"/>
                </a:solidFill>
                <a:latin typeface="Cambria Math"/>
                <a:cs typeface="Cambria Math"/>
              </a:rPr>
              <a:t>𝜽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73775" y="3254173"/>
            <a:ext cx="1030605" cy="329565"/>
          </a:xfrm>
          <a:custGeom>
            <a:avLst/>
            <a:gdLst/>
            <a:ahLst/>
            <a:cxnLst/>
            <a:rect l="l" t="t" r="r" b="b"/>
            <a:pathLst>
              <a:path w="1030604" h="329564">
                <a:moveTo>
                  <a:pt x="925038" y="0"/>
                </a:moveTo>
                <a:lnTo>
                  <a:pt x="920351" y="13370"/>
                </a:lnTo>
                <a:lnTo>
                  <a:pt x="939418" y="21645"/>
                </a:lnTo>
                <a:lnTo>
                  <a:pt x="955815" y="33099"/>
                </a:lnTo>
                <a:lnTo>
                  <a:pt x="980601" y="65547"/>
                </a:lnTo>
                <a:lnTo>
                  <a:pt x="995187" y="109324"/>
                </a:lnTo>
                <a:lnTo>
                  <a:pt x="1000048" y="163041"/>
                </a:lnTo>
                <a:lnTo>
                  <a:pt x="998827" y="192092"/>
                </a:lnTo>
                <a:lnTo>
                  <a:pt x="989060" y="242185"/>
                </a:lnTo>
                <a:lnTo>
                  <a:pt x="969462" y="281307"/>
                </a:lnTo>
                <a:lnTo>
                  <a:pt x="939640" y="307699"/>
                </a:lnTo>
                <a:lnTo>
                  <a:pt x="920871" y="316011"/>
                </a:lnTo>
                <a:lnTo>
                  <a:pt x="925038" y="329382"/>
                </a:lnTo>
                <a:lnTo>
                  <a:pt x="969966" y="308307"/>
                </a:lnTo>
                <a:lnTo>
                  <a:pt x="1003000" y="271823"/>
                </a:lnTo>
                <a:lnTo>
                  <a:pt x="1023315" y="222966"/>
                </a:lnTo>
                <a:lnTo>
                  <a:pt x="1030086" y="164777"/>
                </a:lnTo>
                <a:lnTo>
                  <a:pt x="1028388" y="134581"/>
                </a:lnTo>
                <a:lnTo>
                  <a:pt x="1014802" y="81059"/>
                </a:lnTo>
                <a:lnTo>
                  <a:pt x="987856" y="37488"/>
                </a:lnTo>
                <a:lnTo>
                  <a:pt x="948918" y="8622"/>
                </a:lnTo>
                <a:lnTo>
                  <a:pt x="925038" y="0"/>
                </a:lnTo>
                <a:close/>
              </a:path>
              <a:path w="1030604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82558" y="3152139"/>
            <a:ext cx="37179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3130" algn="l"/>
                <a:tab pos="2540635" algn="l"/>
              </a:tabLst>
            </a:pPr>
            <a:r>
              <a:rPr dirty="0" sz="2800" spc="125">
                <a:solidFill>
                  <a:srgbClr val="D60093"/>
                </a:solidFill>
                <a:latin typeface="Cambria Math"/>
                <a:cs typeface="Cambria Math"/>
              </a:rPr>
              <a:t>𝑐</a:t>
            </a:r>
            <a:r>
              <a:rPr dirty="0" baseline="29166" sz="3000" spc="187">
                <a:solidFill>
                  <a:srgbClr val="D60093"/>
                </a:solidFill>
                <a:latin typeface="Cambria Math"/>
                <a:cs typeface="Cambria Math"/>
              </a:rPr>
              <a:t>∗'</a:t>
            </a:r>
            <a:r>
              <a:rPr dirty="0" baseline="29166" sz="3000" spc="307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argmax	</a:t>
            </a:r>
            <a:r>
              <a:rPr dirty="0" sz="2800">
                <a:latin typeface="Cambria Math"/>
                <a:cs typeface="Cambria Math"/>
              </a:rPr>
              <a:t>𝑓	</a:t>
            </a:r>
            <a:r>
              <a:rPr dirty="0" sz="1700" spc="15">
                <a:solidFill>
                  <a:srgbClr val="D60093"/>
                </a:solidFill>
                <a:latin typeface="Cambria Math"/>
                <a:cs typeface="Cambria Math"/>
              </a:rPr>
              <a:t>∗"  </a:t>
            </a:r>
            <a:r>
              <a:rPr dirty="0" sz="2800" spc="-5">
                <a:solidFill>
                  <a:srgbClr val="D60093"/>
                </a:solidFill>
                <a:latin typeface="Cambria Math"/>
                <a:cs typeface="Cambria Math"/>
              </a:rPr>
              <a:t>𝑨′,</a:t>
            </a:r>
            <a:r>
              <a:rPr dirty="0" sz="2800" spc="-20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800" spc="-5">
                <a:solidFill>
                  <a:srgbClr val="D60093"/>
                </a:solidFill>
                <a:latin typeface="Cambria Math"/>
                <a:cs typeface="Cambria Math"/>
              </a:rPr>
              <a:t>𝑿′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022403" y="3326891"/>
            <a:ext cx="3606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65">
                <a:latin typeface="Cambria Math"/>
                <a:cs typeface="Cambria Math"/>
              </a:rPr>
              <a:t>(</a:t>
            </a:r>
            <a:r>
              <a:rPr dirty="0" sz="2000" spc="5">
                <a:latin typeface="Cambria Math"/>
                <a:cs typeface="Cambria Math"/>
              </a:rPr>
              <a:t>,</a:t>
            </a:r>
            <a:r>
              <a:rPr dirty="0" sz="2000" spc="150">
                <a:latin typeface="Cambria Math"/>
                <a:cs typeface="Cambria Math"/>
              </a:rPr>
              <a:t>*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72178" y="5090159"/>
            <a:ext cx="119316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4730" algn="l"/>
              </a:tabLst>
            </a:pPr>
            <a:r>
              <a:rPr dirty="0" sz="2300" spc="340">
                <a:solidFill>
                  <a:srgbClr val="D60093"/>
                </a:solidFill>
                <a:latin typeface="Cambria Math"/>
                <a:cs typeface="Cambria Math"/>
              </a:rPr>
              <a:t>)</a:t>
            </a:r>
            <a:r>
              <a:rPr dirty="0" sz="2300" spc="340">
                <a:solidFill>
                  <a:srgbClr val="D60093"/>
                </a:solidFill>
                <a:latin typeface="Cambria Math"/>
                <a:cs typeface="Cambria Math"/>
              </a:rPr>
              <a:t>	</a:t>
            </a:r>
            <a:r>
              <a:rPr dirty="0" sz="2300" spc="340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108" y="3915155"/>
            <a:ext cx="7622540" cy="134239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>
                <a:latin typeface="Calibri"/>
                <a:cs typeface="Calibri"/>
              </a:rPr>
              <a:t>We </a:t>
            </a:r>
            <a:r>
              <a:rPr dirty="0" sz="3200" spc="-20" b="1">
                <a:latin typeface="Calibri"/>
                <a:cs typeface="Calibri"/>
              </a:rPr>
              <a:t>want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0" b="1">
                <a:latin typeface="Calibri"/>
                <a:cs typeface="Calibri"/>
              </a:rPr>
              <a:t>prediction </a:t>
            </a:r>
            <a:r>
              <a:rPr dirty="0" sz="3200" spc="-15" b="1">
                <a:latin typeface="Calibri"/>
                <a:cs typeface="Calibri"/>
              </a:rPr>
              <a:t>to change after </a:t>
            </a:r>
            <a:r>
              <a:rPr dirty="0" sz="3200" spc="-5" b="1">
                <a:latin typeface="Calibri"/>
                <a:cs typeface="Calibri"/>
              </a:rPr>
              <a:t>the  </a:t>
            </a:r>
            <a:r>
              <a:rPr dirty="0" sz="3200" spc="-20" b="1">
                <a:latin typeface="Calibri"/>
                <a:cs typeface="Calibri"/>
              </a:rPr>
              <a:t>graph </a:t>
            </a:r>
            <a:r>
              <a:rPr dirty="0" sz="3200" b="1">
                <a:latin typeface="Calibri"/>
                <a:cs typeface="Calibri"/>
              </a:rPr>
              <a:t>is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manipulated:</a:t>
            </a:r>
            <a:endParaRPr sz="3200">
              <a:latin typeface="Calibri"/>
              <a:cs typeface="Calibri"/>
            </a:endParaRPr>
          </a:p>
          <a:p>
            <a:pPr algn="ctr" marL="106680">
              <a:lnSpc>
                <a:spcPts val="2620"/>
              </a:lnSpc>
            </a:pPr>
            <a:r>
              <a:rPr dirty="0" baseline="-19965" sz="4800" spc="0">
                <a:solidFill>
                  <a:srgbClr val="D60093"/>
                </a:solidFill>
                <a:latin typeface="Cambria Math"/>
                <a:cs typeface="Cambria Math"/>
              </a:rPr>
              <a:t>𝑐</a:t>
            </a:r>
            <a:r>
              <a:rPr dirty="0" sz="2300" spc="0">
                <a:solidFill>
                  <a:srgbClr val="D60093"/>
                </a:solidFill>
                <a:latin typeface="Cambria Math"/>
                <a:cs typeface="Cambria Math"/>
              </a:rPr>
              <a:t>∗(  </a:t>
            </a:r>
            <a:r>
              <a:rPr dirty="0" baseline="-19965" sz="4800">
                <a:latin typeface="Cambria Math"/>
                <a:cs typeface="Cambria Math"/>
              </a:rPr>
              <a:t>≠</a:t>
            </a:r>
            <a:r>
              <a:rPr dirty="0" baseline="-19965" sz="4800" spc="-270">
                <a:latin typeface="Cambria Math"/>
                <a:cs typeface="Cambria Math"/>
              </a:rPr>
              <a:t> </a:t>
            </a:r>
            <a:r>
              <a:rPr dirty="0" baseline="-19965" sz="4800" spc="112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sz="2300" spc="75">
                <a:solidFill>
                  <a:srgbClr val="008000"/>
                </a:solidFill>
                <a:latin typeface="Cambria Math"/>
                <a:cs typeface="Cambria Math"/>
              </a:rPr>
              <a:t>∗</a:t>
            </a:r>
            <a:endParaRPr sz="2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96911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06277" y="1946172"/>
            <a:ext cx="1622425" cy="376555"/>
          </a:xfrm>
          <a:custGeom>
            <a:avLst/>
            <a:gdLst/>
            <a:ahLst/>
            <a:cxnLst/>
            <a:rect l="l" t="t" r="r" b="b"/>
            <a:pathLst>
              <a:path w="1622425" h="376555">
                <a:moveTo>
                  <a:pt x="1501814" y="0"/>
                </a:moveTo>
                <a:lnTo>
                  <a:pt x="1496456" y="15279"/>
                </a:lnTo>
                <a:lnTo>
                  <a:pt x="1518247" y="24736"/>
                </a:lnTo>
                <a:lnTo>
                  <a:pt x="1536987" y="37826"/>
                </a:lnTo>
                <a:lnTo>
                  <a:pt x="1565314" y="74909"/>
                </a:lnTo>
                <a:lnTo>
                  <a:pt x="1581983" y="124940"/>
                </a:lnTo>
                <a:lnTo>
                  <a:pt x="1587539" y="186331"/>
                </a:lnTo>
                <a:lnTo>
                  <a:pt x="1586144" y="219533"/>
                </a:lnTo>
                <a:lnTo>
                  <a:pt x="1574982" y="276782"/>
                </a:lnTo>
                <a:lnTo>
                  <a:pt x="1552583" y="321493"/>
                </a:lnTo>
                <a:lnTo>
                  <a:pt x="1518502" y="351655"/>
                </a:lnTo>
                <a:lnTo>
                  <a:pt x="1497051" y="361156"/>
                </a:lnTo>
                <a:lnTo>
                  <a:pt x="1501814" y="376435"/>
                </a:lnTo>
                <a:lnTo>
                  <a:pt x="1553160" y="352349"/>
                </a:lnTo>
                <a:lnTo>
                  <a:pt x="1590912" y="310653"/>
                </a:lnTo>
                <a:lnTo>
                  <a:pt x="1614129" y="254818"/>
                </a:lnTo>
                <a:lnTo>
                  <a:pt x="1621868" y="188316"/>
                </a:lnTo>
                <a:lnTo>
                  <a:pt x="1619927" y="153807"/>
                </a:lnTo>
                <a:lnTo>
                  <a:pt x="1604400" y="92638"/>
                </a:lnTo>
                <a:lnTo>
                  <a:pt x="1573605" y="42843"/>
                </a:lnTo>
                <a:lnTo>
                  <a:pt x="1529106" y="9853"/>
                </a:lnTo>
                <a:lnTo>
                  <a:pt x="1501814" y="0"/>
                </a:lnTo>
                <a:close/>
              </a:path>
              <a:path w="1622425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5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6244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0000FF"/>
                </a:solidFill>
              </a:rPr>
              <a:t>Change </a:t>
            </a:r>
            <a:r>
              <a:rPr dirty="0" sz="3200">
                <a:solidFill>
                  <a:srgbClr val="0000FF"/>
                </a:solidFill>
              </a:rPr>
              <a:t>of predicBon on </a:t>
            </a:r>
            <a:r>
              <a:rPr dirty="0" sz="3200" spc="-25">
                <a:solidFill>
                  <a:srgbClr val="0000FF"/>
                </a:solidFill>
              </a:rPr>
              <a:t>target </a:t>
            </a:r>
            <a:r>
              <a:rPr dirty="0" sz="3200" spc="-5">
                <a:solidFill>
                  <a:srgbClr val="0000FF"/>
                </a:solidFill>
              </a:rPr>
              <a:t>node</a:t>
            </a:r>
            <a:r>
              <a:rPr dirty="0" sz="3200" spc="0">
                <a:solidFill>
                  <a:srgbClr val="0000FF"/>
                </a:solidFill>
              </a:rPr>
              <a:t> </a:t>
            </a:r>
            <a:r>
              <a:rPr dirty="0" sz="3200" spc="35" b="0">
                <a:solidFill>
                  <a:srgbClr val="0000FF"/>
                </a:solidFill>
                <a:latin typeface="Cambria Math"/>
                <a:cs typeface="Cambria Math"/>
              </a:rPr>
              <a:t>𝑣</a:t>
            </a:r>
            <a:r>
              <a:rPr dirty="0" sz="3200" spc="35">
                <a:solidFill>
                  <a:srgbClr val="0000FF"/>
                </a:solidFill>
              </a:rPr>
              <a:t>:</a:t>
            </a:r>
            <a:endParaRPr sz="3200">
              <a:latin typeface="Cambria Math"/>
              <a:cs typeface="Cambria Math"/>
            </a:endParaRPr>
          </a:p>
          <a:p>
            <a:pPr marL="288925">
              <a:lnSpc>
                <a:spcPts val="3815"/>
              </a:lnSpc>
              <a:tabLst>
                <a:tab pos="720725" algn="l"/>
                <a:tab pos="2358390" algn="l"/>
              </a:tabLst>
            </a:pPr>
            <a:r>
              <a:rPr dirty="0" sz="3200" b="0">
                <a:solidFill>
                  <a:srgbClr val="0000FF"/>
                </a:solidFill>
                <a:latin typeface="Cambria Math"/>
                <a:cs typeface="Cambria Math"/>
              </a:rPr>
              <a:t>𝚫	</a:t>
            </a:r>
            <a:r>
              <a:rPr dirty="0" sz="3200" spc="35" b="0">
                <a:solidFill>
                  <a:srgbClr val="0000FF"/>
                </a:solidFill>
                <a:latin typeface="Cambria Math"/>
                <a:cs typeface="Cambria Math"/>
              </a:rPr>
              <a:t>𝑣;</a:t>
            </a:r>
            <a:r>
              <a:rPr dirty="0" sz="3200" spc="-165" b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spc="-15" b="0">
                <a:solidFill>
                  <a:srgbClr val="0000FF"/>
                </a:solidFill>
                <a:latin typeface="Cambria Math"/>
                <a:cs typeface="Cambria Math"/>
              </a:rPr>
              <a:t>𝑨</a:t>
            </a:r>
            <a:r>
              <a:rPr dirty="0" baseline="28985" sz="3450" spc="-22" b="0">
                <a:solidFill>
                  <a:srgbClr val="0000FF"/>
                </a:solidFill>
                <a:latin typeface="Cambria Math"/>
                <a:cs typeface="Cambria Math"/>
              </a:rPr>
              <a:t>(</a:t>
            </a:r>
            <a:r>
              <a:rPr dirty="0" sz="3200" spc="-15" b="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3200" spc="-165" b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spc="-70" b="0">
                <a:solidFill>
                  <a:srgbClr val="0000FF"/>
                </a:solidFill>
                <a:latin typeface="Cambria Math"/>
                <a:cs typeface="Cambria Math"/>
              </a:rPr>
              <a:t>𝑿</a:t>
            </a:r>
            <a:r>
              <a:rPr dirty="0" baseline="28985" sz="3450" spc="-104" b="0">
                <a:solidFill>
                  <a:srgbClr val="0000FF"/>
                </a:solidFill>
                <a:latin typeface="Cambria Math"/>
                <a:cs typeface="Cambria Math"/>
              </a:rPr>
              <a:t>(	</a:t>
            </a:r>
            <a:r>
              <a:rPr dirty="0" sz="3200" b="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39167" y="2441472"/>
            <a:ext cx="1176655" cy="376555"/>
          </a:xfrm>
          <a:custGeom>
            <a:avLst/>
            <a:gdLst/>
            <a:ahLst/>
            <a:cxnLst/>
            <a:rect l="l" t="t" r="r" b="b"/>
            <a:pathLst>
              <a:path w="1176654" h="376555">
                <a:moveTo>
                  <a:pt x="1056552" y="0"/>
                </a:moveTo>
                <a:lnTo>
                  <a:pt x="1051194" y="15279"/>
                </a:lnTo>
                <a:lnTo>
                  <a:pt x="1072985" y="24736"/>
                </a:lnTo>
                <a:lnTo>
                  <a:pt x="1091725" y="37826"/>
                </a:lnTo>
                <a:lnTo>
                  <a:pt x="1120052" y="74909"/>
                </a:lnTo>
                <a:lnTo>
                  <a:pt x="1136721" y="124940"/>
                </a:lnTo>
                <a:lnTo>
                  <a:pt x="1142277" y="186331"/>
                </a:lnTo>
                <a:lnTo>
                  <a:pt x="1140882" y="219533"/>
                </a:lnTo>
                <a:lnTo>
                  <a:pt x="1129720" y="276782"/>
                </a:lnTo>
                <a:lnTo>
                  <a:pt x="1107321" y="321493"/>
                </a:lnTo>
                <a:lnTo>
                  <a:pt x="1073239" y="351655"/>
                </a:lnTo>
                <a:lnTo>
                  <a:pt x="1051789" y="361156"/>
                </a:lnTo>
                <a:lnTo>
                  <a:pt x="1056552" y="376435"/>
                </a:lnTo>
                <a:lnTo>
                  <a:pt x="1107897" y="352349"/>
                </a:lnTo>
                <a:lnTo>
                  <a:pt x="1145650" y="310653"/>
                </a:lnTo>
                <a:lnTo>
                  <a:pt x="1168867" y="254818"/>
                </a:lnTo>
                <a:lnTo>
                  <a:pt x="1176606" y="188316"/>
                </a:lnTo>
                <a:lnTo>
                  <a:pt x="1174665" y="153807"/>
                </a:lnTo>
                <a:lnTo>
                  <a:pt x="1159138" y="92638"/>
                </a:lnTo>
                <a:lnTo>
                  <a:pt x="1128343" y="42843"/>
                </a:lnTo>
                <a:lnTo>
                  <a:pt x="1083843" y="9853"/>
                </a:lnTo>
                <a:lnTo>
                  <a:pt x="1056552" y="0"/>
                </a:lnTo>
                <a:close/>
              </a:path>
              <a:path w="117665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316920" y="2656839"/>
            <a:ext cx="1644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85">
                <a:solidFill>
                  <a:srgbClr val="D60093"/>
                </a:solidFill>
                <a:latin typeface="Cambria Math"/>
                <a:cs typeface="Cambria Math"/>
              </a:rPr>
              <a:t>#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3763" y="2327148"/>
            <a:ext cx="49358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7460" algn="l"/>
              </a:tabLst>
            </a:pPr>
            <a:r>
              <a:rPr dirty="0" sz="3200" spc="-5">
                <a:latin typeface="Cambria Math"/>
                <a:cs typeface="Cambria Math"/>
              </a:rPr>
              <a:t>log </a:t>
            </a:r>
            <a:r>
              <a:rPr dirty="0" sz="3200" spc="15">
                <a:latin typeface="Cambria Math"/>
                <a:cs typeface="Cambria Math"/>
              </a:rPr>
              <a:t>𝑓</a:t>
            </a:r>
            <a:r>
              <a:rPr dirty="0" baseline="-19323" sz="3450" spc="22">
                <a:latin typeface="Cambria Math"/>
                <a:cs typeface="Cambria Math"/>
              </a:rPr>
              <a:t>𝜽</a:t>
            </a:r>
            <a:r>
              <a:rPr dirty="0" sz="1900" spc="15">
                <a:latin typeface="Cambria Math"/>
                <a:cs typeface="Cambria Math"/>
              </a:rPr>
              <a:t>∗" </a:t>
            </a:r>
            <a:r>
              <a:rPr dirty="0" sz="1900" spc="7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𝑨′,</a:t>
            </a:r>
            <a:r>
              <a:rPr dirty="0" sz="3200" spc="-160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𝑿′	</a:t>
            </a:r>
            <a:r>
              <a:rPr dirty="0" baseline="-19323" sz="3450" spc="7">
                <a:latin typeface="Cambria Math"/>
                <a:cs typeface="Cambria Math"/>
              </a:rPr>
              <a:t>),</a:t>
            </a:r>
            <a:r>
              <a:rPr dirty="0" baseline="-19323" sz="3450" spc="7">
                <a:solidFill>
                  <a:srgbClr val="D60093"/>
                </a:solidFill>
                <a:latin typeface="Cambria Math"/>
                <a:cs typeface="Cambria Math"/>
              </a:rPr>
              <a:t>+</a:t>
            </a:r>
            <a:r>
              <a:rPr dirty="0" sz="1900" spc="5">
                <a:solidFill>
                  <a:srgbClr val="D60093"/>
                </a:solidFill>
                <a:latin typeface="Cambria Math"/>
                <a:cs typeface="Cambria Math"/>
              </a:rPr>
              <a:t>∗" </a:t>
            </a:r>
            <a:r>
              <a:rPr dirty="0" sz="3200">
                <a:latin typeface="Cambria Math"/>
                <a:cs typeface="Cambria Math"/>
              </a:rPr>
              <a:t>− </a:t>
            </a:r>
            <a:r>
              <a:rPr dirty="0" sz="3200" spc="-5">
                <a:latin typeface="Cambria Math"/>
                <a:cs typeface="Cambria Math"/>
              </a:rPr>
              <a:t>log</a:t>
            </a:r>
            <a:r>
              <a:rPr dirty="0" sz="3200" spc="90">
                <a:latin typeface="Cambria Math"/>
                <a:cs typeface="Cambria Math"/>
              </a:rPr>
              <a:t> </a:t>
            </a:r>
            <a:r>
              <a:rPr dirty="0" sz="3200" spc="15">
                <a:latin typeface="Cambria Math"/>
                <a:cs typeface="Cambria Math"/>
              </a:rPr>
              <a:t>𝑓</a:t>
            </a:r>
            <a:r>
              <a:rPr dirty="0" baseline="-19323" sz="3450" spc="22">
                <a:latin typeface="Cambria Math"/>
                <a:cs typeface="Cambria Math"/>
              </a:rPr>
              <a:t>𝜽</a:t>
            </a:r>
            <a:r>
              <a:rPr dirty="0" sz="1900" spc="15">
                <a:latin typeface="Cambria Math"/>
                <a:cs typeface="Cambria Math"/>
              </a:rPr>
              <a:t>∗"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1657" y="2441472"/>
            <a:ext cx="1176655" cy="376555"/>
          </a:xfrm>
          <a:custGeom>
            <a:avLst/>
            <a:gdLst/>
            <a:ahLst/>
            <a:cxnLst/>
            <a:rect l="l" t="t" r="r" b="b"/>
            <a:pathLst>
              <a:path w="1176654" h="376555">
                <a:moveTo>
                  <a:pt x="1056552" y="0"/>
                </a:moveTo>
                <a:lnTo>
                  <a:pt x="1051194" y="15279"/>
                </a:lnTo>
                <a:lnTo>
                  <a:pt x="1072985" y="24736"/>
                </a:lnTo>
                <a:lnTo>
                  <a:pt x="1091725" y="37826"/>
                </a:lnTo>
                <a:lnTo>
                  <a:pt x="1120052" y="74909"/>
                </a:lnTo>
                <a:lnTo>
                  <a:pt x="1136721" y="124940"/>
                </a:lnTo>
                <a:lnTo>
                  <a:pt x="1142277" y="186331"/>
                </a:lnTo>
                <a:lnTo>
                  <a:pt x="1140881" y="219533"/>
                </a:lnTo>
                <a:lnTo>
                  <a:pt x="1129719" y="276782"/>
                </a:lnTo>
                <a:lnTo>
                  <a:pt x="1107321" y="321493"/>
                </a:lnTo>
                <a:lnTo>
                  <a:pt x="1073239" y="351655"/>
                </a:lnTo>
                <a:lnTo>
                  <a:pt x="1051789" y="361156"/>
                </a:lnTo>
                <a:lnTo>
                  <a:pt x="1056552" y="376435"/>
                </a:lnTo>
                <a:lnTo>
                  <a:pt x="1107897" y="352349"/>
                </a:lnTo>
                <a:lnTo>
                  <a:pt x="1145650" y="310653"/>
                </a:lnTo>
                <a:lnTo>
                  <a:pt x="1168867" y="254818"/>
                </a:lnTo>
                <a:lnTo>
                  <a:pt x="1176606" y="188316"/>
                </a:lnTo>
                <a:lnTo>
                  <a:pt x="1174665" y="153807"/>
                </a:lnTo>
                <a:lnTo>
                  <a:pt x="1159138" y="92638"/>
                </a:lnTo>
                <a:lnTo>
                  <a:pt x="1128343" y="42843"/>
                </a:lnTo>
                <a:lnTo>
                  <a:pt x="1083843" y="9853"/>
                </a:lnTo>
                <a:lnTo>
                  <a:pt x="1056552" y="0"/>
                </a:lnTo>
                <a:close/>
              </a:path>
              <a:path w="117665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979409" y="2635504"/>
            <a:ext cx="1644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85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1894" y="2327148"/>
            <a:ext cx="16236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1565" algn="l"/>
              </a:tabLst>
            </a:pPr>
            <a:r>
              <a:rPr dirty="0" sz="3200" spc="-5">
                <a:latin typeface="Cambria Math"/>
                <a:cs typeface="Cambria Math"/>
              </a:rPr>
              <a:t>𝑨′,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𝑿′	</a:t>
            </a:r>
            <a:r>
              <a:rPr dirty="0" baseline="-15700" sz="3450" spc="-7">
                <a:latin typeface="Cambria Math"/>
                <a:cs typeface="Cambria Math"/>
              </a:rPr>
              <a:t>),</a:t>
            </a:r>
            <a:r>
              <a:rPr dirty="0" baseline="-15700" sz="3450" spc="-7">
                <a:solidFill>
                  <a:srgbClr val="008000"/>
                </a:solidFill>
                <a:latin typeface="Cambria Math"/>
                <a:cs typeface="Cambria Math"/>
              </a:rPr>
              <a:t>+</a:t>
            </a:r>
            <a:r>
              <a:rPr dirty="0" baseline="5847" sz="2850" spc="-7">
                <a:solidFill>
                  <a:srgbClr val="008000"/>
                </a:solidFill>
                <a:latin typeface="Cambria Math"/>
                <a:cs typeface="Cambria Math"/>
              </a:rPr>
              <a:t>∗</a:t>
            </a:r>
            <a:endParaRPr baseline="5847" sz="28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7523" y="3035300"/>
            <a:ext cx="226377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>
                <a:latin typeface="Arial"/>
                <a:cs typeface="Arial"/>
              </a:rPr>
              <a:t>Predicted </a:t>
            </a:r>
            <a:r>
              <a:rPr dirty="0" sz="2400">
                <a:latin typeface="Arial"/>
                <a:cs typeface="Arial"/>
              </a:rPr>
              <a:t>(log)  </a:t>
            </a:r>
            <a:r>
              <a:rPr dirty="0" sz="2400" spc="-5">
                <a:latin typeface="Arial"/>
                <a:cs typeface="Arial"/>
              </a:rPr>
              <a:t>probability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the  newly-predicted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29256" y="4263644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40">
                <a:solidFill>
                  <a:srgbClr val="D60093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7523" y="4126484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class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110">
                <a:solidFill>
                  <a:srgbClr val="D60093"/>
                </a:solidFill>
                <a:latin typeface="Cambria Math"/>
                <a:cs typeface="Cambria Math"/>
              </a:rPr>
              <a:t>𝑐</a:t>
            </a:r>
            <a:r>
              <a:rPr dirty="0" baseline="27777" sz="2700" spc="165">
                <a:solidFill>
                  <a:srgbClr val="D60093"/>
                </a:solidFill>
                <a:latin typeface="Cambria Math"/>
                <a:cs typeface="Cambria Math"/>
              </a:rPr>
              <a:t>∗,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1530" y="3035300"/>
            <a:ext cx="2588895" cy="11258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5">
                <a:latin typeface="Arial"/>
                <a:cs typeface="Arial"/>
              </a:rPr>
              <a:t>Predicted </a:t>
            </a:r>
            <a:r>
              <a:rPr dirty="0" sz="2400">
                <a:latin typeface="Arial"/>
                <a:cs typeface="Arial"/>
              </a:rPr>
              <a:t>(log)  </a:t>
            </a:r>
            <a:r>
              <a:rPr dirty="0" sz="2400" spc="-5">
                <a:latin typeface="Arial"/>
                <a:cs typeface="Arial"/>
              </a:rPr>
              <a:t>probability </a:t>
            </a:r>
            <a:r>
              <a:rPr dirty="0" sz="2400">
                <a:latin typeface="Arial"/>
                <a:cs typeface="Arial"/>
              </a:rPr>
              <a:t>of </a:t>
            </a:r>
            <a:r>
              <a:rPr dirty="0" sz="2400" spc="-5">
                <a:latin typeface="Arial"/>
                <a:cs typeface="Arial"/>
              </a:rPr>
              <a:t>the  originally-predicted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3263" y="4263644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40">
                <a:solidFill>
                  <a:srgbClr val="008000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1530" y="4126484"/>
            <a:ext cx="1069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class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27777" sz="2700" spc="75">
                <a:solidFill>
                  <a:srgbClr val="008000"/>
                </a:solidFill>
                <a:latin typeface="Cambria Math"/>
                <a:cs typeface="Cambria Math"/>
              </a:rPr>
              <a:t>∗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77248" y="4893128"/>
            <a:ext cx="403225" cy="598805"/>
          </a:xfrm>
          <a:custGeom>
            <a:avLst/>
            <a:gdLst/>
            <a:ahLst/>
            <a:cxnLst/>
            <a:rect l="l" t="t" r="r" b="b"/>
            <a:pathLst>
              <a:path w="403225" h="598804">
                <a:moveTo>
                  <a:pt x="302078" y="201386"/>
                </a:moveTo>
                <a:lnTo>
                  <a:pt x="100693" y="201386"/>
                </a:lnTo>
                <a:lnTo>
                  <a:pt x="100693" y="598716"/>
                </a:lnTo>
                <a:lnTo>
                  <a:pt x="302078" y="598716"/>
                </a:lnTo>
                <a:lnTo>
                  <a:pt x="302078" y="201386"/>
                </a:lnTo>
                <a:close/>
              </a:path>
              <a:path w="403225" h="598804">
                <a:moveTo>
                  <a:pt x="201386" y="0"/>
                </a:moveTo>
                <a:lnTo>
                  <a:pt x="0" y="201386"/>
                </a:lnTo>
                <a:lnTo>
                  <a:pt x="402771" y="201386"/>
                </a:lnTo>
                <a:lnTo>
                  <a:pt x="201386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052564" y="4893129"/>
            <a:ext cx="403225" cy="598805"/>
          </a:xfrm>
          <a:custGeom>
            <a:avLst/>
            <a:gdLst/>
            <a:ahLst/>
            <a:cxnLst/>
            <a:rect l="l" t="t" r="r" b="b"/>
            <a:pathLst>
              <a:path w="403225" h="598804">
                <a:moveTo>
                  <a:pt x="402771" y="397328"/>
                </a:moveTo>
                <a:lnTo>
                  <a:pt x="0" y="397328"/>
                </a:lnTo>
                <a:lnTo>
                  <a:pt x="201385" y="598714"/>
                </a:lnTo>
                <a:lnTo>
                  <a:pt x="402771" y="397328"/>
                </a:lnTo>
                <a:close/>
              </a:path>
              <a:path w="403225" h="598804">
                <a:moveTo>
                  <a:pt x="302078" y="0"/>
                </a:moveTo>
                <a:lnTo>
                  <a:pt x="100691" y="0"/>
                </a:lnTo>
                <a:lnTo>
                  <a:pt x="100691" y="397328"/>
                </a:lnTo>
                <a:lnTo>
                  <a:pt x="302078" y="397328"/>
                </a:lnTo>
                <a:lnTo>
                  <a:pt x="302078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713189" y="4925059"/>
            <a:ext cx="184594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20" b="1">
                <a:solidFill>
                  <a:srgbClr val="D60093"/>
                </a:solidFill>
                <a:latin typeface="Arial"/>
                <a:cs typeface="Arial"/>
              </a:rPr>
              <a:t>Want </a:t>
            </a:r>
            <a:r>
              <a:rPr dirty="0" sz="1800" b="1">
                <a:solidFill>
                  <a:srgbClr val="D60093"/>
                </a:solidFill>
                <a:latin typeface="Arial"/>
                <a:cs typeface="Arial"/>
              </a:rPr>
              <a:t>to</a:t>
            </a:r>
            <a:r>
              <a:rPr dirty="0" sz="1800" spc="-5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increase  this</a:t>
            </a:r>
            <a:r>
              <a:rPr dirty="0" sz="1800" spc="-7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term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5621161" y="4903723"/>
            <a:ext cx="190944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20" b="1">
                <a:solidFill>
                  <a:srgbClr val="008000"/>
                </a:solidFill>
                <a:latin typeface="Arial"/>
                <a:cs typeface="Arial"/>
              </a:rPr>
              <a:t>Want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to</a:t>
            </a:r>
            <a:r>
              <a:rPr dirty="0" sz="1800" spc="-6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decrease  this</a:t>
            </a:r>
            <a:r>
              <a:rPr dirty="0" sz="1800" spc="-7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term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75576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1238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D60093"/>
                </a:solidFill>
              </a:rPr>
              <a:t>Final </a:t>
            </a:r>
            <a:r>
              <a:rPr dirty="0" sz="3200" spc="0">
                <a:solidFill>
                  <a:srgbClr val="D60093"/>
                </a:solidFill>
              </a:rPr>
              <a:t>opBmizaBon</a:t>
            </a:r>
            <a:r>
              <a:rPr dirty="0" sz="3200" spc="-45">
                <a:solidFill>
                  <a:srgbClr val="D60093"/>
                </a:solidFill>
              </a:rPr>
              <a:t> </a:t>
            </a:r>
            <a:r>
              <a:rPr dirty="0" sz="3200">
                <a:solidFill>
                  <a:srgbClr val="D60093"/>
                </a:solidFill>
              </a:rPr>
              <a:t>objecBve: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3184620" y="2479572"/>
            <a:ext cx="1214120" cy="376555"/>
          </a:xfrm>
          <a:custGeom>
            <a:avLst/>
            <a:gdLst/>
            <a:ahLst/>
            <a:cxnLst/>
            <a:rect l="l" t="t" r="r" b="b"/>
            <a:pathLst>
              <a:path w="1214120" h="376555">
                <a:moveTo>
                  <a:pt x="1093509" y="0"/>
                </a:moveTo>
                <a:lnTo>
                  <a:pt x="1088151" y="15279"/>
                </a:lnTo>
                <a:lnTo>
                  <a:pt x="1109942" y="24736"/>
                </a:lnTo>
                <a:lnTo>
                  <a:pt x="1128682" y="37826"/>
                </a:lnTo>
                <a:lnTo>
                  <a:pt x="1157009" y="74909"/>
                </a:lnTo>
                <a:lnTo>
                  <a:pt x="1173678" y="124940"/>
                </a:lnTo>
                <a:lnTo>
                  <a:pt x="1179234" y="186331"/>
                </a:lnTo>
                <a:lnTo>
                  <a:pt x="1177839" y="219533"/>
                </a:lnTo>
                <a:lnTo>
                  <a:pt x="1166677" y="276782"/>
                </a:lnTo>
                <a:lnTo>
                  <a:pt x="1144278" y="321493"/>
                </a:lnTo>
                <a:lnTo>
                  <a:pt x="1110196" y="351655"/>
                </a:lnTo>
                <a:lnTo>
                  <a:pt x="1088746" y="361156"/>
                </a:lnTo>
                <a:lnTo>
                  <a:pt x="1093509" y="376435"/>
                </a:lnTo>
                <a:lnTo>
                  <a:pt x="1144854" y="352349"/>
                </a:lnTo>
                <a:lnTo>
                  <a:pt x="1182607" y="310653"/>
                </a:lnTo>
                <a:lnTo>
                  <a:pt x="1205824" y="254818"/>
                </a:lnTo>
                <a:lnTo>
                  <a:pt x="1213563" y="188316"/>
                </a:lnTo>
                <a:lnTo>
                  <a:pt x="1211622" y="153807"/>
                </a:lnTo>
                <a:lnTo>
                  <a:pt x="1196095" y="92638"/>
                </a:lnTo>
                <a:lnTo>
                  <a:pt x="1165300" y="42843"/>
                </a:lnTo>
                <a:lnTo>
                  <a:pt x="1120800" y="9853"/>
                </a:lnTo>
                <a:lnTo>
                  <a:pt x="1093509" y="0"/>
                </a:lnTo>
                <a:close/>
              </a:path>
              <a:path w="12141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67408" y="1875456"/>
            <a:ext cx="4629150" cy="1016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679"/>
              </a:lnSpc>
            </a:pPr>
            <a:r>
              <a:rPr dirty="0" sz="3200" spc="25">
                <a:latin typeface="Cambria Math"/>
                <a:cs typeface="Cambria Math"/>
              </a:rPr>
              <a:t>argmax</a:t>
            </a:r>
            <a:r>
              <a:rPr dirty="0" baseline="-20531" sz="3450" spc="37">
                <a:latin typeface="Cambria Math"/>
                <a:cs typeface="Cambria Math"/>
              </a:rPr>
              <a:t>𝑨</a:t>
            </a:r>
            <a:r>
              <a:rPr dirty="0" sz="1900" spc="25">
                <a:latin typeface="Cambria Math"/>
                <a:cs typeface="Cambria Math"/>
              </a:rPr>
              <a:t>"</a:t>
            </a:r>
            <a:r>
              <a:rPr dirty="0" baseline="-20531" sz="3450" spc="37">
                <a:latin typeface="Cambria Math"/>
                <a:cs typeface="Cambria Math"/>
              </a:rPr>
              <a:t>,𝑿</a:t>
            </a:r>
            <a:r>
              <a:rPr dirty="0" sz="1900" spc="25">
                <a:latin typeface="Cambria Math"/>
                <a:cs typeface="Cambria Math"/>
              </a:rPr>
              <a:t>"</a:t>
            </a:r>
            <a:r>
              <a:rPr dirty="0" sz="3200" spc="25">
                <a:solidFill>
                  <a:srgbClr val="0000FF"/>
                </a:solidFill>
                <a:latin typeface="Cambria Math"/>
                <a:cs typeface="Cambria Math"/>
              </a:rPr>
              <a:t>𝚫(𝑣; </a:t>
            </a: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𝑨′,</a:t>
            </a:r>
            <a:r>
              <a:rPr dirty="0" sz="3200" spc="-39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𝑿′)</a:t>
            </a:r>
            <a:endParaRPr sz="3200">
              <a:latin typeface="Cambria Math"/>
              <a:cs typeface="Cambria Math"/>
            </a:endParaRPr>
          </a:p>
          <a:p>
            <a:pPr marL="58419">
              <a:lnSpc>
                <a:spcPct val="100000"/>
              </a:lnSpc>
              <a:spcBef>
                <a:spcPts val="265"/>
              </a:spcBef>
              <a:tabLst>
                <a:tab pos="1950085" algn="l"/>
                <a:tab pos="3178810" algn="l"/>
              </a:tabLst>
            </a:pPr>
            <a:r>
              <a:rPr dirty="0" sz="3200" spc="-5">
                <a:latin typeface="Calibri"/>
                <a:cs typeface="Calibri"/>
              </a:rPr>
              <a:t>subject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to	</a:t>
            </a:r>
            <a:r>
              <a:rPr dirty="0" sz="3200" spc="-15">
                <a:latin typeface="Cambria Math"/>
                <a:cs typeface="Cambria Math"/>
              </a:rPr>
              <a:t>𝑨</a:t>
            </a:r>
            <a:r>
              <a:rPr dirty="0" baseline="28985" sz="3450" spc="-22">
                <a:latin typeface="Cambria Math"/>
                <a:cs typeface="Cambria Math"/>
              </a:rPr>
              <a:t>(</a:t>
            </a:r>
            <a:r>
              <a:rPr dirty="0" sz="3200" spc="-15">
                <a:latin typeface="Cambria Math"/>
                <a:cs typeface="Cambria Math"/>
              </a:rPr>
              <a:t>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 spc="-70">
                <a:latin typeface="Cambria Math"/>
                <a:cs typeface="Cambria Math"/>
              </a:rPr>
              <a:t>𝑿</a:t>
            </a:r>
            <a:r>
              <a:rPr dirty="0" baseline="28985" sz="3450" spc="-104">
                <a:latin typeface="Cambria Math"/>
                <a:cs typeface="Cambria Math"/>
              </a:rPr>
              <a:t>(	</a:t>
            </a:r>
            <a:r>
              <a:rPr dirty="0" sz="3200">
                <a:latin typeface="Cambria Math"/>
                <a:cs typeface="Cambria Math"/>
              </a:rPr>
              <a:t>≈ </a:t>
            </a:r>
            <a:r>
              <a:rPr dirty="0" sz="3200" spc="-5">
                <a:latin typeface="Cambria Math"/>
                <a:cs typeface="Cambria Math"/>
              </a:rPr>
              <a:t>(𝑨,</a:t>
            </a:r>
            <a:r>
              <a:rPr dirty="0" sz="3200" spc="-80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𝑿)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86038" y="5121038"/>
            <a:ext cx="1206500" cy="282575"/>
          </a:xfrm>
          <a:custGeom>
            <a:avLst/>
            <a:gdLst/>
            <a:ahLst/>
            <a:cxnLst/>
            <a:rect l="l" t="t" r="r" b="b"/>
            <a:pathLst>
              <a:path w="1206500" h="282575">
                <a:moveTo>
                  <a:pt x="1115852" y="0"/>
                </a:moveTo>
                <a:lnTo>
                  <a:pt x="1111834" y="11459"/>
                </a:lnTo>
                <a:lnTo>
                  <a:pt x="1128177" y="18552"/>
                </a:lnTo>
                <a:lnTo>
                  <a:pt x="1142232" y="28370"/>
                </a:lnTo>
                <a:lnTo>
                  <a:pt x="1170770" y="73878"/>
                </a:lnTo>
                <a:lnTo>
                  <a:pt x="1179104" y="115662"/>
                </a:lnTo>
                <a:lnTo>
                  <a:pt x="1180146" y="139749"/>
                </a:lnTo>
                <a:lnTo>
                  <a:pt x="1179099" y="164650"/>
                </a:lnTo>
                <a:lnTo>
                  <a:pt x="1170727" y="207587"/>
                </a:lnTo>
                <a:lnTo>
                  <a:pt x="1142250" y="253826"/>
                </a:lnTo>
                <a:lnTo>
                  <a:pt x="1112279" y="270866"/>
                </a:lnTo>
                <a:lnTo>
                  <a:pt x="1115852" y="282327"/>
                </a:lnTo>
                <a:lnTo>
                  <a:pt x="1154361" y="264263"/>
                </a:lnTo>
                <a:lnTo>
                  <a:pt x="1182676" y="232990"/>
                </a:lnTo>
                <a:lnTo>
                  <a:pt x="1200088" y="191113"/>
                </a:lnTo>
                <a:lnTo>
                  <a:pt x="1205892" y="141237"/>
                </a:lnTo>
                <a:lnTo>
                  <a:pt x="1204437" y="115355"/>
                </a:lnTo>
                <a:lnTo>
                  <a:pt x="1192791" y="69479"/>
                </a:lnTo>
                <a:lnTo>
                  <a:pt x="1169695" y="32133"/>
                </a:lnTo>
                <a:lnTo>
                  <a:pt x="1136320" y="7390"/>
                </a:lnTo>
                <a:lnTo>
                  <a:pt x="1115852" y="0"/>
                </a:lnTo>
                <a:close/>
              </a:path>
              <a:path w="1206500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6" y="263742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5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8108" y="2765721"/>
            <a:ext cx="8106409" cy="339534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4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Challenges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in </a:t>
            </a:r>
            <a:r>
              <a:rPr dirty="0" sz="3200" spc="0" b="1">
                <a:solidFill>
                  <a:srgbClr val="D60093"/>
                </a:solidFill>
                <a:latin typeface="Calibri"/>
                <a:cs typeface="Calibri"/>
              </a:rPr>
              <a:t>opBmizing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</a:t>
            </a:r>
            <a:r>
              <a:rPr dirty="0" sz="3200" spc="-5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objecBve</a:t>
            </a:r>
            <a:endParaRPr sz="3200">
              <a:latin typeface="Calibri"/>
              <a:cs typeface="Calibri"/>
            </a:endParaRPr>
          </a:p>
          <a:p>
            <a:pPr lvl="1" marL="625475" marR="618490" indent="-274320">
              <a:lnSpc>
                <a:spcPct val="100800"/>
              </a:lnSpc>
              <a:spcBef>
                <a:spcPts val="5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Adjacency </a:t>
            </a:r>
            <a:r>
              <a:rPr dirty="0" sz="2400" spc="-10">
                <a:latin typeface="Calibri"/>
                <a:cs typeface="Calibri"/>
              </a:rPr>
              <a:t>matrix </a:t>
            </a:r>
            <a:r>
              <a:rPr dirty="0" sz="2400" spc="125">
                <a:latin typeface="Cambria Math"/>
                <a:cs typeface="Cambria Math"/>
              </a:rPr>
              <a:t>𝑨</a:t>
            </a:r>
            <a:r>
              <a:rPr dirty="0" baseline="27777" sz="2700" spc="187">
                <a:latin typeface="Cambria Math"/>
                <a:cs typeface="Cambria Math"/>
              </a:rPr>
              <a:t>,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5">
                <a:latin typeface="Calibri"/>
                <a:cs typeface="Calibri"/>
              </a:rPr>
              <a:t>discrete </a:t>
            </a:r>
            <a:r>
              <a:rPr dirty="0" sz="2400" spc="-5">
                <a:latin typeface="Calibri"/>
                <a:cs typeface="Calibri"/>
              </a:rPr>
              <a:t>object: </a:t>
            </a:r>
            <a:r>
              <a:rPr dirty="0" sz="2400" spc="-40">
                <a:latin typeface="Calibri"/>
                <a:cs typeface="Calibri"/>
              </a:rPr>
              <a:t>gradient-based  </a:t>
            </a:r>
            <a:r>
              <a:rPr dirty="0" sz="2400" spc="-5">
                <a:latin typeface="Calibri"/>
                <a:cs typeface="Calibri"/>
              </a:rPr>
              <a:t>opRmizaRon cannot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used.</a:t>
            </a:r>
            <a:endParaRPr sz="2400">
              <a:latin typeface="Calibri"/>
              <a:cs typeface="Calibri"/>
            </a:endParaRPr>
          </a:p>
          <a:p>
            <a:pPr lvl="1" marL="625475" marR="462915" indent="-274320">
              <a:lnSpc>
                <a:spcPts val="2810"/>
              </a:lnSpc>
              <a:spcBef>
                <a:spcPts val="7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5">
                <a:latin typeface="Calibri"/>
                <a:cs typeface="Calibri"/>
              </a:rPr>
              <a:t>For </a:t>
            </a:r>
            <a:r>
              <a:rPr dirty="0" sz="2400" spc="-10">
                <a:latin typeface="Calibri"/>
                <a:cs typeface="Calibri"/>
              </a:rPr>
              <a:t>every </a:t>
            </a:r>
            <a:r>
              <a:rPr dirty="0" sz="2400" spc="-5">
                <a:latin typeface="Calibri"/>
                <a:cs typeface="Calibri"/>
              </a:rPr>
              <a:t>modiﬁed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 spc="125">
                <a:latin typeface="Cambria Math"/>
                <a:cs typeface="Cambria Math"/>
              </a:rPr>
              <a:t>𝑨</a:t>
            </a:r>
            <a:r>
              <a:rPr dirty="0" baseline="26234" sz="2700" spc="187">
                <a:latin typeface="Cambria Math"/>
                <a:cs typeface="Cambria Math"/>
              </a:rPr>
              <a:t>,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100">
                <a:latin typeface="Cambria Math"/>
                <a:cs typeface="Cambria Math"/>
              </a:rPr>
              <a:t>𝑿</a:t>
            </a:r>
            <a:r>
              <a:rPr dirty="0" baseline="26234" sz="2700" spc="150">
                <a:latin typeface="Cambria Math"/>
                <a:cs typeface="Cambria Math"/>
              </a:rPr>
              <a:t>,</a:t>
            </a:r>
            <a:r>
              <a:rPr dirty="0" sz="2400" spc="100">
                <a:latin typeface="Calibri"/>
                <a:cs typeface="Calibri"/>
              </a:rPr>
              <a:t>, </a:t>
            </a:r>
            <a:r>
              <a:rPr dirty="0" sz="2400" spc="-5">
                <a:latin typeface="Calibri"/>
                <a:cs typeface="Calibri"/>
              </a:rPr>
              <a:t>GCN </a:t>
            </a:r>
            <a:r>
              <a:rPr dirty="0" sz="2400">
                <a:latin typeface="Calibri"/>
                <a:cs typeface="Calibri"/>
              </a:rPr>
              <a:t>needs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90">
                <a:latin typeface="Calibri"/>
                <a:cs typeface="Calibri"/>
              </a:rPr>
              <a:t>re-  </a:t>
            </a:r>
            <a:r>
              <a:rPr dirty="0" sz="2400" spc="-10">
                <a:latin typeface="Calibri"/>
                <a:cs typeface="Calibri"/>
              </a:rPr>
              <a:t>trained </a:t>
            </a:r>
            <a:r>
              <a:rPr dirty="0" sz="2400" spc="-5">
                <a:latin typeface="Calibri"/>
                <a:cs typeface="Calibri"/>
              </a:rPr>
              <a:t>(this is </a:t>
            </a:r>
            <a:r>
              <a:rPr dirty="0" sz="2400" spc="-10">
                <a:latin typeface="Calibri"/>
                <a:cs typeface="Calibri"/>
              </a:rPr>
              <a:t>computaRonally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expensive):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75">
                <a:solidFill>
                  <a:srgbClr val="D60093"/>
                </a:solidFill>
                <a:latin typeface="Cambria Math"/>
                <a:cs typeface="Cambria Math"/>
              </a:rPr>
              <a:t>𝜽</a:t>
            </a:r>
            <a:r>
              <a:rPr dirty="0" baseline="27777" sz="2700" spc="112">
                <a:solidFill>
                  <a:srgbClr val="D60093"/>
                </a:solidFill>
                <a:latin typeface="Cambria Math"/>
                <a:cs typeface="Cambria Math"/>
              </a:rPr>
              <a:t>∗,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25">
                <a:latin typeface="Cambria Math"/>
                <a:cs typeface="Cambria Math"/>
              </a:rPr>
              <a:t>argmin</a:t>
            </a:r>
            <a:r>
              <a:rPr dirty="0" baseline="-15432" sz="2700" spc="37">
                <a:latin typeface="Cambria Math"/>
                <a:cs typeface="Cambria Math"/>
              </a:rPr>
              <a:t>𝜽</a:t>
            </a:r>
            <a:r>
              <a:rPr dirty="0" sz="2400" spc="25">
                <a:latin typeface="Cambria Math"/>
                <a:cs typeface="Cambria Math"/>
              </a:rPr>
              <a:t>ℒ</a:t>
            </a:r>
            <a:r>
              <a:rPr dirty="0" baseline="-15432" sz="2700" spc="37">
                <a:latin typeface="Cambria Math"/>
                <a:cs typeface="Cambria Math"/>
              </a:rPr>
              <a:t>./012  </a:t>
            </a:r>
            <a:r>
              <a:rPr dirty="0" sz="2400">
                <a:latin typeface="Cambria Math"/>
                <a:cs typeface="Cambria Math"/>
              </a:rPr>
              <a:t>𝜽; </a:t>
            </a:r>
            <a:r>
              <a:rPr dirty="0" sz="2400" spc="-5">
                <a:solidFill>
                  <a:srgbClr val="D60093"/>
                </a:solidFill>
                <a:latin typeface="Cambria Math"/>
                <a:cs typeface="Cambria Math"/>
              </a:rPr>
              <a:t>𝑨′,</a:t>
            </a:r>
            <a:r>
              <a:rPr dirty="0" sz="2400" spc="-8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𝑿′</a:t>
            </a:r>
            <a:endParaRPr sz="2400">
              <a:latin typeface="Cambria Math"/>
              <a:cs typeface="Cambria Math"/>
            </a:endParaRPr>
          </a:p>
          <a:p>
            <a:pPr marL="332740" marR="5080" indent="-320040">
              <a:lnSpc>
                <a:spcPct val="100800"/>
              </a:lnSpc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5">
                <a:latin typeface="Calibri"/>
                <a:cs typeface="Calibri"/>
              </a:rPr>
              <a:t>Several </a:t>
            </a:r>
            <a:r>
              <a:rPr dirty="0" sz="2400" spc="-10">
                <a:latin typeface="Calibri"/>
                <a:cs typeface="Calibri"/>
              </a:rPr>
              <a:t>approximaRons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10">
                <a:latin typeface="Calibri"/>
                <a:cs typeface="Calibri"/>
              </a:rPr>
              <a:t>proposed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make </a:t>
            </a:r>
            <a:r>
              <a:rPr dirty="0" sz="2400" spc="-5">
                <a:latin typeface="Calibri"/>
                <a:cs typeface="Calibri"/>
              </a:rPr>
              <a:t>the opRmizaRon  </a:t>
            </a:r>
            <a:r>
              <a:rPr dirty="0" sz="2400" spc="-15">
                <a:latin typeface="Calibri"/>
                <a:cs typeface="Calibri"/>
              </a:rPr>
              <a:t>tractable </a:t>
            </a:r>
            <a:r>
              <a:rPr dirty="0" sz="2400" spc="-5">
                <a:latin typeface="Calibri"/>
                <a:cs typeface="Calibri"/>
              </a:rPr>
              <a:t>[Zügner </a:t>
            </a:r>
            <a:r>
              <a:rPr dirty="0" sz="2400" spc="-10">
                <a:latin typeface="Calibri"/>
                <a:cs typeface="Calibri"/>
              </a:rPr>
              <a:t>et </a:t>
            </a:r>
            <a:r>
              <a:rPr dirty="0" sz="2400">
                <a:latin typeface="Calibri"/>
                <a:cs typeface="Calibri"/>
              </a:rPr>
              <a:t>al.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KDD2018].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1475" y="1890530"/>
            <a:ext cx="4983480" cy="983615"/>
          </a:xfrm>
          <a:custGeom>
            <a:avLst/>
            <a:gdLst/>
            <a:ahLst/>
            <a:cxnLst/>
            <a:rect l="l" t="t" r="r" b="b"/>
            <a:pathLst>
              <a:path w="4983480" h="983614">
                <a:moveTo>
                  <a:pt x="0" y="0"/>
                </a:moveTo>
                <a:lnTo>
                  <a:pt x="4983380" y="0"/>
                </a:lnTo>
                <a:lnTo>
                  <a:pt x="4983380" y="983297"/>
                </a:lnTo>
                <a:lnTo>
                  <a:pt x="0" y="983297"/>
                </a:lnTo>
                <a:lnTo>
                  <a:pt x="0" y="0"/>
                </a:lnTo>
                <a:close/>
              </a:path>
            </a:pathLst>
          </a:custGeom>
          <a:solidFill>
            <a:srgbClr val="F0AD00">
              <a:alpha val="231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7475" y="1866530"/>
            <a:ext cx="5031740" cy="1031875"/>
          </a:xfrm>
          <a:custGeom>
            <a:avLst/>
            <a:gdLst/>
            <a:ahLst/>
            <a:cxnLst/>
            <a:rect l="l" t="t" r="r" b="b"/>
            <a:pathLst>
              <a:path w="5031740" h="1031875">
                <a:moveTo>
                  <a:pt x="5007380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1007297"/>
                </a:lnTo>
                <a:lnTo>
                  <a:pt x="1886" y="1016639"/>
                </a:lnTo>
                <a:lnTo>
                  <a:pt x="7029" y="1024268"/>
                </a:lnTo>
                <a:lnTo>
                  <a:pt x="14658" y="1029412"/>
                </a:lnTo>
                <a:lnTo>
                  <a:pt x="24000" y="1031298"/>
                </a:lnTo>
                <a:lnTo>
                  <a:pt x="5007380" y="1031298"/>
                </a:lnTo>
                <a:lnTo>
                  <a:pt x="5016722" y="1029412"/>
                </a:lnTo>
                <a:lnTo>
                  <a:pt x="5024351" y="1024268"/>
                </a:lnTo>
                <a:lnTo>
                  <a:pt x="5029495" y="1016639"/>
                </a:lnTo>
                <a:lnTo>
                  <a:pt x="5031381" y="1007297"/>
                </a:lnTo>
                <a:lnTo>
                  <a:pt x="5031381" y="1002498"/>
                </a:lnTo>
                <a:lnTo>
                  <a:pt x="28800" y="1002498"/>
                </a:lnTo>
                <a:lnTo>
                  <a:pt x="28800" y="28801"/>
                </a:lnTo>
                <a:lnTo>
                  <a:pt x="5031381" y="28801"/>
                </a:lnTo>
                <a:lnTo>
                  <a:pt x="5031381" y="24000"/>
                </a:lnTo>
                <a:lnTo>
                  <a:pt x="5029495" y="14658"/>
                </a:lnTo>
                <a:lnTo>
                  <a:pt x="5024351" y="7029"/>
                </a:lnTo>
                <a:lnTo>
                  <a:pt x="5016722" y="1886"/>
                </a:lnTo>
                <a:lnTo>
                  <a:pt x="5007380" y="0"/>
                </a:lnTo>
                <a:close/>
              </a:path>
              <a:path w="5031740" h="1031875">
                <a:moveTo>
                  <a:pt x="5031381" y="28801"/>
                </a:moveTo>
                <a:lnTo>
                  <a:pt x="5002580" y="28801"/>
                </a:lnTo>
                <a:lnTo>
                  <a:pt x="5002580" y="1002498"/>
                </a:lnTo>
                <a:lnTo>
                  <a:pt x="5031381" y="1002498"/>
                </a:lnTo>
                <a:lnTo>
                  <a:pt x="5031381" y="28801"/>
                </a:lnTo>
                <a:close/>
              </a:path>
              <a:path w="5031740" h="1031875">
                <a:moveTo>
                  <a:pt x="4992980" y="38400"/>
                </a:moveTo>
                <a:lnTo>
                  <a:pt x="38400" y="38400"/>
                </a:lnTo>
                <a:lnTo>
                  <a:pt x="38400" y="992898"/>
                </a:lnTo>
                <a:lnTo>
                  <a:pt x="4992980" y="992898"/>
                </a:lnTo>
                <a:lnTo>
                  <a:pt x="4992980" y="983298"/>
                </a:lnTo>
                <a:lnTo>
                  <a:pt x="48000" y="983298"/>
                </a:lnTo>
                <a:lnTo>
                  <a:pt x="48000" y="48000"/>
                </a:lnTo>
                <a:lnTo>
                  <a:pt x="4992980" y="48000"/>
                </a:lnTo>
                <a:lnTo>
                  <a:pt x="4992980" y="38400"/>
                </a:lnTo>
                <a:close/>
              </a:path>
              <a:path w="5031740" h="1031875">
                <a:moveTo>
                  <a:pt x="4992980" y="48000"/>
                </a:moveTo>
                <a:lnTo>
                  <a:pt x="4983380" y="48000"/>
                </a:lnTo>
                <a:lnTo>
                  <a:pt x="4983380" y="983298"/>
                </a:lnTo>
                <a:lnTo>
                  <a:pt x="4992980" y="983298"/>
                </a:lnTo>
                <a:lnTo>
                  <a:pt x="4992980" y="4800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8882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5770" marR="5080">
              <a:lnSpc>
                <a:spcPct val="100000"/>
              </a:lnSpc>
              <a:spcBef>
                <a:spcPts val="100"/>
              </a:spcBef>
            </a:pPr>
            <a:r>
              <a:rPr dirty="0" sz="3000" spc="-5">
                <a:solidFill>
                  <a:srgbClr val="D60093"/>
                </a:solidFill>
              </a:rPr>
              <a:t>Semi-supervised node </a:t>
            </a:r>
            <a:r>
              <a:rPr dirty="0" sz="3000" spc="-10">
                <a:solidFill>
                  <a:srgbClr val="D60093"/>
                </a:solidFill>
              </a:rPr>
              <a:t>classification </a:t>
            </a:r>
            <a:r>
              <a:rPr dirty="0" sz="3000" spc="-5">
                <a:solidFill>
                  <a:srgbClr val="D60093"/>
                </a:solidFill>
              </a:rPr>
              <a:t>with GCN on </a:t>
            </a:r>
            <a:r>
              <a:rPr dirty="0" sz="3000">
                <a:solidFill>
                  <a:srgbClr val="D60093"/>
                </a:solidFill>
              </a:rPr>
              <a:t>a  </a:t>
            </a:r>
            <a:r>
              <a:rPr dirty="0" sz="3000" spc="-5">
                <a:solidFill>
                  <a:srgbClr val="D60093"/>
                </a:solidFill>
              </a:rPr>
              <a:t>paper </a:t>
            </a:r>
            <a:r>
              <a:rPr dirty="0" sz="3000" spc="-15">
                <a:solidFill>
                  <a:srgbClr val="D60093"/>
                </a:solidFill>
              </a:rPr>
              <a:t>citation </a:t>
            </a:r>
            <a:r>
              <a:rPr dirty="0" sz="3000" spc="-10">
                <a:solidFill>
                  <a:srgbClr val="D60093"/>
                </a:solidFill>
              </a:rPr>
              <a:t>network </a:t>
            </a:r>
            <a:r>
              <a:rPr dirty="0" sz="2400" spc="-5">
                <a:solidFill>
                  <a:srgbClr val="D60093"/>
                </a:solidFill>
              </a:rPr>
              <a:t>(2,800 nodes, 8,000</a:t>
            </a:r>
            <a:r>
              <a:rPr dirty="0" sz="2400" spc="15">
                <a:solidFill>
                  <a:srgbClr val="D60093"/>
                </a:solidFill>
              </a:rPr>
              <a:t> </a:t>
            </a:r>
            <a:r>
              <a:rPr dirty="0" sz="2400" spc="-5">
                <a:solidFill>
                  <a:srgbClr val="D60093"/>
                </a:solidFill>
              </a:rPr>
              <a:t>edges).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781184" y="3070249"/>
            <a:ext cx="5682343" cy="34737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98231" y="3181517"/>
            <a:ext cx="4749165" cy="2733675"/>
          </a:xfrm>
          <a:custGeom>
            <a:avLst/>
            <a:gdLst/>
            <a:ahLst/>
            <a:cxnLst/>
            <a:rect l="l" t="t" r="r" b="b"/>
            <a:pathLst>
              <a:path w="4749165" h="2733675">
                <a:moveTo>
                  <a:pt x="0" y="0"/>
                </a:moveTo>
                <a:lnTo>
                  <a:pt x="4749114" y="0"/>
                </a:lnTo>
                <a:lnTo>
                  <a:pt x="4749114" y="2733482"/>
                </a:lnTo>
                <a:lnTo>
                  <a:pt x="0" y="2733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46886" y="5706824"/>
            <a:ext cx="79375" cy="153670"/>
          </a:xfrm>
          <a:custGeom>
            <a:avLst/>
            <a:gdLst/>
            <a:ahLst/>
            <a:cxnLst/>
            <a:rect l="l" t="t" r="r" b="b"/>
            <a:pathLst>
              <a:path w="79375" h="153670">
                <a:moveTo>
                  <a:pt x="0" y="0"/>
                </a:moveTo>
                <a:lnTo>
                  <a:pt x="79319" y="0"/>
                </a:lnTo>
                <a:lnTo>
                  <a:pt x="79319" y="153240"/>
                </a:lnTo>
                <a:lnTo>
                  <a:pt x="0" y="153240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42635" y="5635443"/>
            <a:ext cx="79375" cy="224790"/>
          </a:xfrm>
          <a:custGeom>
            <a:avLst/>
            <a:gdLst/>
            <a:ahLst/>
            <a:cxnLst/>
            <a:rect l="l" t="t" r="r" b="b"/>
            <a:pathLst>
              <a:path w="79375" h="224789">
                <a:moveTo>
                  <a:pt x="0" y="0"/>
                </a:moveTo>
                <a:lnTo>
                  <a:pt x="79317" y="0"/>
                </a:lnTo>
                <a:lnTo>
                  <a:pt x="79317" y="224620"/>
                </a:lnTo>
                <a:lnTo>
                  <a:pt x="0" y="224620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38383" y="5846746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 h="0">
                <a:moveTo>
                  <a:pt x="0" y="0"/>
                </a:moveTo>
                <a:lnTo>
                  <a:pt x="79319" y="0"/>
                </a:lnTo>
              </a:path>
            </a:pathLst>
          </a:custGeom>
          <a:ln w="26636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34132" y="5600205"/>
            <a:ext cx="79375" cy="260350"/>
          </a:xfrm>
          <a:custGeom>
            <a:avLst/>
            <a:gdLst/>
            <a:ahLst/>
            <a:cxnLst/>
            <a:rect l="l" t="t" r="r" b="b"/>
            <a:pathLst>
              <a:path w="79375" h="260350">
                <a:moveTo>
                  <a:pt x="0" y="0"/>
                </a:moveTo>
                <a:lnTo>
                  <a:pt x="79317" y="0"/>
                </a:lnTo>
                <a:lnTo>
                  <a:pt x="79317" y="259858"/>
                </a:lnTo>
                <a:lnTo>
                  <a:pt x="0" y="259858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29880" y="5764650"/>
            <a:ext cx="79375" cy="95885"/>
          </a:xfrm>
          <a:custGeom>
            <a:avLst/>
            <a:gdLst/>
            <a:ahLst/>
            <a:cxnLst/>
            <a:rect l="l" t="t" r="r" b="b"/>
            <a:pathLst>
              <a:path w="79375" h="95885">
                <a:moveTo>
                  <a:pt x="0" y="0"/>
                </a:moveTo>
                <a:lnTo>
                  <a:pt x="79319" y="0"/>
                </a:lnTo>
                <a:lnTo>
                  <a:pt x="79319" y="95414"/>
                </a:lnTo>
                <a:lnTo>
                  <a:pt x="0" y="95414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15425" y="5687125"/>
            <a:ext cx="79375" cy="173355"/>
          </a:xfrm>
          <a:custGeom>
            <a:avLst/>
            <a:gdLst/>
            <a:ahLst/>
            <a:cxnLst/>
            <a:rect l="l" t="t" r="r" b="b"/>
            <a:pathLst>
              <a:path w="79375" h="173354">
                <a:moveTo>
                  <a:pt x="0" y="0"/>
                </a:moveTo>
                <a:lnTo>
                  <a:pt x="79319" y="0"/>
                </a:lnTo>
                <a:lnTo>
                  <a:pt x="79319" y="172938"/>
                </a:lnTo>
                <a:lnTo>
                  <a:pt x="0" y="172938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11174" y="5266616"/>
            <a:ext cx="79375" cy="593725"/>
          </a:xfrm>
          <a:custGeom>
            <a:avLst/>
            <a:gdLst/>
            <a:ahLst/>
            <a:cxnLst/>
            <a:rect l="l" t="t" r="r" b="b"/>
            <a:pathLst>
              <a:path w="79375" h="593725">
                <a:moveTo>
                  <a:pt x="0" y="0"/>
                </a:moveTo>
                <a:lnTo>
                  <a:pt x="79319" y="0"/>
                </a:lnTo>
                <a:lnTo>
                  <a:pt x="79319" y="593448"/>
                </a:lnTo>
                <a:lnTo>
                  <a:pt x="0" y="593448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06922" y="5858732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 h="0">
                <a:moveTo>
                  <a:pt x="0" y="0"/>
                </a:moveTo>
                <a:lnTo>
                  <a:pt x="79319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02671" y="5731760"/>
            <a:ext cx="79375" cy="128905"/>
          </a:xfrm>
          <a:custGeom>
            <a:avLst/>
            <a:gdLst/>
            <a:ahLst/>
            <a:cxnLst/>
            <a:rect l="l" t="t" r="r" b="b"/>
            <a:pathLst>
              <a:path w="79375" h="128904">
                <a:moveTo>
                  <a:pt x="0" y="0"/>
                </a:moveTo>
                <a:lnTo>
                  <a:pt x="79319" y="0"/>
                </a:lnTo>
                <a:lnTo>
                  <a:pt x="79319" y="128302"/>
                </a:lnTo>
                <a:lnTo>
                  <a:pt x="0" y="128302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98419" y="5840548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 h="0">
                <a:moveTo>
                  <a:pt x="0" y="0"/>
                </a:moveTo>
                <a:lnTo>
                  <a:pt x="79319" y="0"/>
                </a:lnTo>
              </a:path>
            </a:pathLst>
          </a:custGeom>
          <a:ln w="39033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86232" y="5771697"/>
            <a:ext cx="79375" cy="88900"/>
          </a:xfrm>
          <a:custGeom>
            <a:avLst/>
            <a:gdLst/>
            <a:ahLst/>
            <a:cxnLst/>
            <a:rect l="l" t="t" r="r" b="b"/>
            <a:pathLst>
              <a:path w="79375" h="88900">
                <a:moveTo>
                  <a:pt x="0" y="0"/>
                </a:moveTo>
                <a:lnTo>
                  <a:pt x="79319" y="0"/>
                </a:lnTo>
                <a:lnTo>
                  <a:pt x="79319" y="88367"/>
                </a:lnTo>
                <a:lnTo>
                  <a:pt x="0" y="88367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81981" y="5705919"/>
            <a:ext cx="79375" cy="154305"/>
          </a:xfrm>
          <a:custGeom>
            <a:avLst/>
            <a:gdLst/>
            <a:ahLst/>
            <a:cxnLst/>
            <a:rect l="l" t="t" r="r" b="b"/>
            <a:pathLst>
              <a:path w="79375" h="154304">
                <a:moveTo>
                  <a:pt x="0" y="0"/>
                </a:moveTo>
                <a:lnTo>
                  <a:pt x="79319" y="0"/>
                </a:lnTo>
                <a:lnTo>
                  <a:pt x="79319" y="154145"/>
                </a:lnTo>
                <a:lnTo>
                  <a:pt x="0" y="154145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77729" y="5838198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 h="0">
                <a:moveTo>
                  <a:pt x="0" y="0"/>
                </a:moveTo>
                <a:lnTo>
                  <a:pt x="79319" y="0"/>
                </a:lnTo>
              </a:path>
            </a:pathLst>
          </a:custGeom>
          <a:ln w="43732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73478" y="5623697"/>
            <a:ext cx="79375" cy="236854"/>
          </a:xfrm>
          <a:custGeom>
            <a:avLst/>
            <a:gdLst/>
            <a:ahLst/>
            <a:cxnLst/>
            <a:rect l="l" t="t" r="r" b="b"/>
            <a:pathLst>
              <a:path w="79375" h="236854">
                <a:moveTo>
                  <a:pt x="0" y="0"/>
                </a:moveTo>
                <a:lnTo>
                  <a:pt x="79319" y="0"/>
                </a:lnTo>
                <a:lnTo>
                  <a:pt x="79319" y="236367"/>
                </a:lnTo>
                <a:lnTo>
                  <a:pt x="0" y="236367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69226" y="5851688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 h="0">
                <a:moveTo>
                  <a:pt x="0" y="0"/>
                </a:moveTo>
                <a:lnTo>
                  <a:pt x="79319" y="0"/>
                </a:lnTo>
              </a:path>
            </a:pathLst>
          </a:custGeom>
          <a:ln w="13318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52504" y="5637793"/>
            <a:ext cx="79375" cy="222885"/>
          </a:xfrm>
          <a:custGeom>
            <a:avLst/>
            <a:gdLst/>
            <a:ahLst/>
            <a:cxnLst/>
            <a:rect l="l" t="t" r="r" b="b"/>
            <a:pathLst>
              <a:path w="79375" h="222885">
                <a:moveTo>
                  <a:pt x="0" y="0"/>
                </a:moveTo>
                <a:lnTo>
                  <a:pt x="79319" y="0"/>
                </a:lnTo>
                <a:lnTo>
                  <a:pt x="79319" y="222271"/>
                </a:lnTo>
                <a:lnTo>
                  <a:pt x="0" y="222271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48253" y="5802236"/>
            <a:ext cx="79375" cy="58419"/>
          </a:xfrm>
          <a:custGeom>
            <a:avLst/>
            <a:gdLst/>
            <a:ahLst/>
            <a:cxnLst/>
            <a:rect l="l" t="t" r="r" b="b"/>
            <a:pathLst>
              <a:path w="79375" h="58420">
                <a:moveTo>
                  <a:pt x="0" y="0"/>
                </a:moveTo>
                <a:lnTo>
                  <a:pt x="79319" y="0"/>
                </a:lnTo>
                <a:lnTo>
                  <a:pt x="79319" y="57827"/>
                </a:lnTo>
                <a:lnTo>
                  <a:pt x="0" y="57827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44001" y="5792841"/>
            <a:ext cx="79375" cy="67310"/>
          </a:xfrm>
          <a:custGeom>
            <a:avLst/>
            <a:gdLst/>
            <a:ahLst/>
            <a:cxnLst/>
            <a:rect l="l" t="t" r="r" b="b"/>
            <a:pathLst>
              <a:path w="79375" h="67310">
                <a:moveTo>
                  <a:pt x="0" y="0"/>
                </a:moveTo>
                <a:lnTo>
                  <a:pt x="79319" y="0"/>
                </a:lnTo>
                <a:lnTo>
                  <a:pt x="79319" y="67224"/>
                </a:lnTo>
                <a:lnTo>
                  <a:pt x="0" y="67224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39750" y="5792840"/>
            <a:ext cx="79375" cy="67310"/>
          </a:xfrm>
          <a:custGeom>
            <a:avLst/>
            <a:gdLst/>
            <a:ahLst/>
            <a:cxnLst/>
            <a:rect l="l" t="t" r="r" b="b"/>
            <a:pathLst>
              <a:path w="79375" h="67310">
                <a:moveTo>
                  <a:pt x="0" y="0"/>
                </a:moveTo>
                <a:lnTo>
                  <a:pt x="79319" y="0"/>
                </a:lnTo>
                <a:lnTo>
                  <a:pt x="79319" y="67224"/>
                </a:lnTo>
                <a:lnTo>
                  <a:pt x="0" y="67224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035499" y="5834991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 h="0">
                <a:moveTo>
                  <a:pt x="0" y="0"/>
                </a:moveTo>
                <a:lnTo>
                  <a:pt x="79319" y="0"/>
                </a:lnTo>
              </a:path>
            </a:pathLst>
          </a:custGeom>
          <a:ln w="46714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321044" y="5720014"/>
            <a:ext cx="79375" cy="140335"/>
          </a:xfrm>
          <a:custGeom>
            <a:avLst/>
            <a:gdLst/>
            <a:ahLst/>
            <a:cxnLst/>
            <a:rect l="l" t="t" r="r" b="b"/>
            <a:pathLst>
              <a:path w="79375" h="140335">
                <a:moveTo>
                  <a:pt x="0" y="0"/>
                </a:moveTo>
                <a:lnTo>
                  <a:pt x="79319" y="0"/>
                </a:lnTo>
                <a:lnTo>
                  <a:pt x="79319" y="140050"/>
                </a:lnTo>
                <a:lnTo>
                  <a:pt x="0" y="140050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416793" y="5614301"/>
            <a:ext cx="79375" cy="246379"/>
          </a:xfrm>
          <a:custGeom>
            <a:avLst/>
            <a:gdLst/>
            <a:ahLst/>
            <a:cxnLst/>
            <a:rect l="l" t="t" r="r" b="b"/>
            <a:pathLst>
              <a:path w="79375" h="246379">
                <a:moveTo>
                  <a:pt x="0" y="0"/>
                </a:moveTo>
                <a:lnTo>
                  <a:pt x="79319" y="0"/>
                </a:lnTo>
                <a:lnTo>
                  <a:pt x="79319" y="245764"/>
                </a:lnTo>
                <a:lnTo>
                  <a:pt x="0" y="245764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12542" y="5722365"/>
            <a:ext cx="79375" cy="137795"/>
          </a:xfrm>
          <a:custGeom>
            <a:avLst/>
            <a:gdLst/>
            <a:ahLst/>
            <a:cxnLst/>
            <a:rect l="l" t="t" r="r" b="b"/>
            <a:pathLst>
              <a:path w="79375" h="137795">
                <a:moveTo>
                  <a:pt x="0" y="0"/>
                </a:moveTo>
                <a:lnTo>
                  <a:pt x="79319" y="0"/>
                </a:lnTo>
                <a:lnTo>
                  <a:pt x="79319" y="137701"/>
                </a:lnTo>
                <a:lnTo>
                  <a:pt x="0" y="137701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608291" y="5715317"/>
            <a:ext cx="79375" cy="144780"/>
          </a:xfrm>
          <a:custGeom>
            <a:avLst/>
            <a:gdLst/>
            <a:ahLst/>
            <a:cxnLst/>
            <a:rect l="l" t="t" r="r" b="b"/>
            <a:pathLst>
              <a:path w="79375" h="144779">
                <a:moveTo>
                  <a:pt x="0" y="0"/>
                </a:moveTo>
                <a:lnTo>
                  <a:pt x="79317" y="0"/>
                </a:lnTo>
                <a:lnTo>
                  <a:pt x="79317" y="144747"/>
                </a:lnTo>
                <a:lnTo>
                  <a:pt x="0" y="144747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04038" y="5832641"/>
            <a:ext cx="79375" cy="0"/>
          </a:xfrm>
          <a:custGeom>
            <a:avLst/>
            <a:gdLst/>
            <a:ahLst/>
            <a:cxnLst/>
            <a:rect l="l" t="t" r="r" b="b"/>
            <a:pathLst>
              <a:path w="79375" h="0">
                <a:moveTo>
                  <a:pt x="0" y="0"/>
                </a:moveTo>
                <a:lnTo>
                  <a:pt x="79319" y="0"/>
                </a:lnTo>
              </a:path>
            </a:pathLst>
          </a:custGeom>
          <a:ln w="51412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89584" y="4211819"/>
            <a:ext cx="79375" cy="1648460"/>
          </a:xfrm>
          <a:custGeom>
            <a:avLst/>
            <a:gdLst/>
            <a:ahLst/>
            <a:cxnLst/>
            <a:rect l="l" t="t" r="r" b="b"/>
            <a:pathLst>
              <a:path w="79375" h="1648460">
                <a:moveTo>
                  <a:pt x="0" y="0"/>
                </a:moveTo>
                <a:lnTo>
                  <a:pt x="79319" y="0"/>
                </a:lnTo>
                <a:lnTo>
                  <a:pt x="79319" y="1648246"/>
                </a:lnTo>
                <a:lnTo>
                  <a:pt x="0" y="1648246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85334" y="4822615"/>
            <a:ext cx="79375" cy="1037590"/>
          </a:xfrm>
          <a:custGeom>
            <a:avLst/>
            <a:gdLst/>
            <a:ahLst/>
            <a:cxnLst/>
            <a:rect l="l" t="t" r="r" b="b"/>
            <a:pathLst>
              <a:path w="79375" h="1037589">
                <a:moveTo>
                  <a:pt x="0" y="0"/>
                </a:moveTo>
                <a:lnTo>
                  <a:pt x="79319" y="0"/>
                </a:lnTo>
                <a:lnTo>
                  <a:pt x="79319" y="1037450"/>
                </a:lnTo>
                <a:lnTo>
                  <a:pt x="0" y="1037450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181081" y="3619817"/>
            <a:ext cx="79375" cy="2240280"/>
          </a:xfrm>
          <a:custGeom>
            <a:avLst/>
            <a:gdLst/>
            <a:ahLst/>
            <a:cxnLst/>
            <a:rect l="l" t="t" r="r" b="b"/>
            <a:pathLst>
              <a:path w="79375" h="2240279">
                <a:moveTo>
                  <a:pt x="0" y="0"/>
                </a:moveTo>
                <a:lnTo>
                  <a:pt x="79319" y="0"/>
                </a:lnTo>
                <a:lnTo>
                  <a:pt x="79319" y="2240248"/>
                </a:lnTo>
                <a:lnTo>
                  <a:pt x="0" y="2240248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276831" y="4383313"/>
            <a:ext cx="79375" cy="1477010"/>
          </a:xfrm>
          <a:custGeom>
            <a:avLst/>
            <a:gdLst/>
            <a:ahLst/>
            <a:cxnLst/>
            <a:rect l="l" t="t" r="r" b="b"/>
            <a:pathLst>
              <a:path w="79375" h="1477010">
                <a:moveTo>
                  <a:pt x="0" y="0"/>
                </a:moveTo>
                <a:lnTo>
                  <a:pt x="79319" y="0"/>
                </a:lnTo>
                <a:lnTo>
                  <a:pt x="79319" y="1476752"/>
                </a:lnTo>
                <a:lnTo>
                  <a:pt x="0" y="1476752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372578" y="3812452"/>
            <a:ext cx="79375" cy="2045970"/>
          </a:xfrm>
          <a:custGeom>
            <a:avLst/>
            <a:gdLst/>
            <a:ahLst/>
            <a:cxnLst/>
            <a:rect l="l" t="t" r="r" b="b"/>
            <a:pathLst>
              <a:path w="79375" h="2045970">
                <a:moveTo>
                  <a:pt x="0" y="0"/>
                </a:moveTo>
                <a:lnTo>
                  <a:pt x="79319" y="0"/>
                </a:lnTo>
                <a:lnTo>
                  <a:pt x="79319" y="2045895"/>
                </a:lnTo>
                <a:lnTo>
                  <a:pt x="0" y="2045895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655857" y="5651888"/>
            <a:ext cx="79375" cy="208279"/>
          </a:xfrm>
          <a:custGeom>
            <a:avLst/>
            <a:gdLst/>
            <a:ahLst/>
            <a:cxnLst/>
            <a:rect l="l" t="t" r="r" b="b"/>
            <a:pathLst>
              <a:path w="79375" h="208279">
                <a:moveTo>
                  <a:pt x="0" y="0"/>
                </a:moveTo>
                <a:lnTo>
                  <a:pt x="79319" y="0"/>
                </a:lnTo>
                <a:lnTo>
                  <a:pt x="79319" y="208177"/>
                </a:lnTo>
                <a:lnTo>
                  <a:pt x="0" y="208177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751606" y="5534426"/>
            <a:ext cx="79375" cy="325755"/>
          </a:xfrm>
          <a:custGeom>
            <a:avLst/>
            <a:gdLst/>
            <a:ahLst/>
            <a:cxnLst/>
            <a:rect l="l" t="t" r="r" b="b"/>
            <a:pathLst>
              <a:path w="79375" h="325754">
                <a:moveTo>
                  <a:pt x="0" y="0"/>
                </a:moveTo>
                <a:lnTo>
                  <a:pt x="79319" y="0"/>
                </a:lnTo>
                <a:lnTo>
                  <a:pt x="79319" y="325638"/>
                </a:lnTo>
                <a:lnTo>
                  <a:pt x="0" y="325638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847355" y="5738807"/>
            <a:ext cx="79375" cy="121285"/>
          </a:xfrm>
          <a:custGeom>
            <a:avLst/>
            <a:gdLst/>
            <a:ahLst/>
            <a:cxnLst/>
            <a:rect l="l" t="t" r="r" b="b"/>
            <a:pathLst>
              <a:path w="79375" h="121285">
                <a:moveTo>
                  <a:pt x="0" y="0"/>
                </a:moveTo>
                <a:lnTo>
                  <a:pt x="79319" y="0"/>
                </a:lnTo>
                <a:lnTo>
                  <a:pt x="79319" y="121255"/>
                </a:lnTo>
                <a:lnTo>
                  <a:pt x="0" y="121255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943103" y="5539126"/>
            <a:ext cx="79375" cy="321310"/>
          </a:xfrm>
          <a:custGeom>
            <a:avLst/>
            <a:gdLst/>
            <a:ahLst/>
            <a:cxnLst/>
            <a:rect l="l" t="t" r="r" b="b"/>
            <a:pathLst>
              <a:path w="79375" h="321310">
                <a:moveTo>
                  <a:pt x="0" y="0"/>
                </a:moveTo>
                <a:lnTo>
                  <a:pt x="79319" y="0"/>
                </a:lnTo>
                <a:lnTo>
                  <a:pt x="79319" y="320939"/>
                </a:lnTo>
                <a:lnTo>
                  <a:pt x="0" y="320939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38852" y="5517982"/>
            <a:ext cx="79375" cy="340995"/>
          </a:xfrm>
          <a:custGeom>
            <a:avLst/>
            <a:gdLst/>
            <a:ahLst/>
            <a:cxnLst/>
            <a:rect l="l" t="t" r="r" b="b"/>
            <a:pathLst>
              <a:path w="79375" h="340995">
                <a:moveTo>
                  <a:pt x="0" y="0"/>
                </a:moveTo>
                <a:lnTo>
                  <a:pt x="79319" y="0"/>
                </a:lnTo>
                <a:lnTo>
                  <a:pt x="79319" y="340366"/>
                </a:lnTo>
                <a:lnTo>
                  <a:pt x="0" y="34036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498231" y="6067728"/>
            <a:ext cx="4965700" cy="3784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2225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175"/>
              </a:spcBef>
              <a:tabLst>
                <a:tab pos="815340" algn="l"/>
                <a:tab pos="1501140" algn="l"/>
                <a:tab pos="2162175" algn="l"/>
                <a:tab pos="2814320" algn="l"/>
                <a:tab pos="3489325" algn="l"/>
                <a:tab pos="4152900" algn="l"/>
              </a:tabLst>
            </a:pPr>
            <a:r>
              <a:rPr dirty="0" sz="1100">
                <a:latin typeface="Arial"/>
                <a:cs typeface="Arial"/>
              </a:rPr>
              <a:t>Class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1	Class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	Class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	Class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4	Class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5	</a:t>
            </a:r>
            <a:r>
              <a:rPr dirty="0" sz="1100" spc="-5" b="1">
                <a:solidFill>
                  <a:srgbClr val="9A3130"/>
                </a:solidFill>
                <a:latin typeface="Arial"/>
                <a:cs typeface="Arial"/>
              </a:rPr>
              <a:t>Class </a:t>
            </a:r>
            <a:r>
              <a:rPr dirty="0" sz="1100" b="1">
                <a:solidFill>
                  <a:srgbClr val="9A3130"/>
                </a:solidFill>
                <a:latin typeface="Arial"/>
                <a:cs typeface="Arial"/>
              </a:rPr>
              <a:t>6	</a:t>
            </a:r>
            <a:r>
              <a:rPr dirty="0" sz="1100">
                <a:latin typeface="Arial"/>
                <a:cs typeface="Arial"/>
              </a:rPr>
              <a:t>Class</a:t>
            </a:r>
            <a:r>
              <a:rPr dirty="0" sz="1100" spc="-10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7</a:t>
            </a:r>
            <a:endParaRPr sz="1100">
              <a:latin typeface="Arial"/>
              <a:cs typeface="Arial"/>
            </a:endParaRPr>
          </a:p>
          <a:p>
            <a:pPr algn="r" marR="941069">
              <a:lnSpc>
                <a:spcPct val="100000"/>
              </a:lnSpc>
            </a:pPr>
            <a:r>
              <a:rPr dirty="0" sz="1100" spc="-5" b="1">
                <a:solidFill>
                  <a:srgbClr val="9A3130"/>
                </a:solidFill>
                <a:latin typeface="Arial"/>
                <a:cs typeface="Arial"/>
              </a:rPr>
              <a:t>(</a:t>
            </a:r>
            <a:r>
              <a:rPr dirty="0" sz="1100" b="1">
                <a:solidFill>
                  <a:srgbClr val="9A3130"/>
                </a:solidFill>
                <a:latin typeface="Arial"/>
                <a:cs typeface="Arial"/>
              </a:rPr>
              <a:t>co</a:t>
            </a:r>
            <a:r>
              <a:rPr dirty="0" sz="1100" spc="-5" b="1">
                <a:solidFill>
                  <a:srgbClr val="9A3130"/>
                </a:solidFill>
                <a:latin typeface="Arial"/>
                <a:cs typeface="Arial"/>
              </a:rPr>
              <a:t>rr</a:t>
            </a:r>
            <a:r>
              <a:rPr dirty="0" sz="1100" b="1">
                <a:solidFill>
                  <a:srgbClr val="9A3130"/>
                </a:solidFill>
                <a:latin typeface="Arial"/>
                <a:cs typeface="Arial"/>
              </a:rPr>
              <a:t>ec</a:t>
            </a:r>
            <a:r>
              <a:rPr dirty="0" sz="1100" spc="-5" b="1">
                <a:solidFill>
                  <a:srgbClr val="9A3130"/>
                </a:solidFill>
                <a:latin typeface="Arial"/>
                <a:cs typeface="Arial"/>
              </a:rPr>
              <a:t>t)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021361" y="3812452"/>
            <a:ext cx="114935" cy="1705610"/>
          </a:xfrm>
          <a:custGeom>
            <a:avLst/>
            <a:gdLst/>
            <a:ahLst/>
            <a:cxnLst/>
            <a:rect l="l" t="t" r="r" b="b"/>
            <a:pathLst>
              <a:path w="114935" h="1705610">
                <a:moveTo>
                  <a:pt x="38100" y="1591229"/>
                </a:moveTo>
                <a:lnTo>
                  <a:pt x="0" y="1591229"/>
                </a:lnTo>
                <a:lnTo>
                  <a:pt x="57150" y="1705529"/>
                </a:lnTo>
                <a:lnTo>
                  <a:pt x="95250" y="1629329"/>
                </a:lnTo>
                <a:lnTo>
                  <a:pt x="57150" y="1629329"/>
                </a:lnTo>
                <a:lnTo>
                  <a:pt x="49735" y="1627833"/>
                </a:lnTo>
                <a:lnTo>
                  <a:pt x="43679" y="1623750"/>
                </a:lnTo>
                <a:lnTo>
                  <a:pt x="39597" y="1617695"/>
                </a:lnTo>
                <a:lnTo>
                  <a:pt x="38100" y="1610279"/>
                </a:lnTo>
                <a:lnTo>
                  <a:pt x="38100" y="1591229"/>
                </a:lnTo>
                <a:close/>
              </a:path>
              <a:path w="114935" h="1705610">
                <a:moveTo>
                  <a:pt x="57151" y="76198"/>
                </a:moveTo>
                <a:lnTo>
                  <a:pt x="38100" y="1610279"/>
                </a:lnTo>
                <a:lnTo>
                  <a:pt x="39597" y="1617695"/>
                </a:lnTo>
                <a:lnTo>
                  <a:pt x="43679" y="1623750"/>
                </a:lnTo>
                <a:lnTo>
                  <a:pt x="49735" y="1627833"/>
                </a:lnTo>
                <a:lnTo>
                  <a:pt x="57150" y="1629329"/>
                </a:lnTo>
                <a:lnTo>
                  <a:pt x="64564" y="1627833"/>
                </a:lnTo>
                <a:lnTo>
                  <a:pt x="70620" y="1623750"/>
                </a:lnTo>
                <a:lnTo>
                  <a:pt x="74702" y="1617695"/>
                </a:lnTo>
                <a:lnTo>
                  <a:pt x="76200" y="1610279"/>
                </a:lnTo>
                <a:lnTo>
                  <a:pt x="76201" y="95248"/>
                </a:lnTo>
                <a:lnTo>
                  <a:pt x="74704" y="87833"/>
                </a:lnTo>
                <a:lnTo>
                  <a:pt x="70621" y="81778"/>
                </a:lnTo>
                <a:lnTo>
                  <a:pt x="64566" y="77695"/>
                </a:lnTo>
                <a:lnTo>
                  <a:pt x="57151" y="76198"/>
                </a:lnTo>
                <a:close/>
              </a:path>
              <a:path w="114935" h="1705610">
                <a:moveTo>
                  <a:pt x="114300" y="1591229"/>
                </a:moveTo>
                <a:lnTo>
                  <a:pt x="76200" y="1591229"/>
                </a:lnTo>
                <a:lnTo>
                  <a:pt x="76200" y="1610279"/>
                </a:lnTo>
                <a:lnTo>
                  <a:pt x="74702" y="1617695"/>
                </a:lnTo>
                <a:lnTo>
                  <a:pt x="70620" y="1623750"/>
                </a:lnTo>
                <a:lnTo>
                  <a:pt x="64564" y="1627833"/>
                </a:lnTo>
                <a:lnTo>
                  <a:pt x="57150" y="1629329"/>
                </a:lnTo>
                <a:lnTo>
                  <a:pt x="95250" y="1629329"/>
                </a:lnTo>
                <a:lnTo>
                  <a:pt x="114300" y="1591229"/>
                </a:lnTo>
                <a:close/>
              </a:path>
              <a:path w="114935" h="1705610">
                <a:moveTo>
                  <a:pt x="57151" y="0"/>
                </a:moveTo>
                <a:lnTo>
                  <a:pt x="1" y="114298"/>
                </a:lnTo>
                <a:lnTo>
                  <a:pt x="38101" y="114298"/>
                </a:lnTo>
                <a:lnTo>
                  <a:pt x="38101" y="95248"/>
                </a:lnTo>
                <a:lnTo>
                  <a:pt x="39598" y="87833"/>
                </a:lnTo>
                <a:lnTo>
                  <a:pt x="43680" y="81778"/>
                </a:lnTo>
                <a:lnTo>
                  <a:pt x="49735" y="77695"/>
                </a:lnTo>
                <a:lnTo>
                  <a:pt x="57151" y="76198"/>
                </a:lnTo>
                <a:lnTo>
                  <a:pt x="95251" y="76198"/>
                </a:lnTo>
                <a:lnTo>
                  <a:pt x="57151" y="0"/>
                </a:lnTo>
                <a:close/>
              </a:path>
              <a:path w="114935" h="1705610">
                <a:moveTo>
                  <a:pt x="95251" y="76198"/>
                </a:moveTo>
                <a:lnTo>
                  <a:pt x="57151" y="76198"/>
                </a:lnTo>
                <a:lnTo>
                  <a:pt x="64566" y="77695"/>
                </a:lnTo>
                <a:lnTo>
                  <a:pt x="70621" y="81778"/>
                </a:lnTo>
                <a:lnTo>
                  <a:pt x="74704" y="87833"/>
                </a:lnTo>
                <a:lnTo>
                  <a:pt x="76201" y="95248"/>
                </a:lnTo>
                <a:lnTo>
                  <a:pt x="76201" y="114298"/>
                </a:lnTo>
                <a:lnTo>
                  <a:pt x="114301" y="114298"/>
                </a:lnTo>
                <a:lnTo>
                  <a:pt x="95251" y="76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479586" y="3798165"/>
            <a:ext cx="653415" cy="28575"/>
          </a:xfrm>
          <a:custGeom>
            <a:avLst/>
            <a:gdLst/>
            <a:ahLst/>
            <a:cxnLst/>
            <a:rect l="l" t="t" r="r" b="b"/>
            <a:pathLst>
              <a:path w="653414" h="28575">
                <a:moveTo>
                  <a:pt x="107903" y="0"/>
                </a:moveTo>
                <a:lnTo>
                  <a:pt x="6396" y="0"/>
                </a:lnTo>
                <a:lnTo>
                  <a:pt x="0" y="6395"/>
                </a:lnTo>
                <a:lnTo>
                  <a:pt x="0" y="22178"/>
                </a:lnTo>
                <a:lnTo>
                  <a:pt x="6396" y="28575"/>
                </a:lnTo>
                <a:lnTo>
                  <a:pt x="107903" y="28575"/>
                </a:lnTo>
                <a:lnTo>
                  <a:pt x="114300" y="22178"/>
                </a:lnTo>
                <a:lnTo>
                  <a:pt x="114298" y="6395"/>
                </a:lnTo>
                <a:lnTo>
                  <a:pt x="107903" y="0"/>
                </a:lnTo>
                <a:close/>
              </a:path>
              <a:path w="653414" h="28575">
                <a:moveTo>
                  <a:pt x="307928" y="0"/>
                </a:moveTo>
                <a:lnTo>
                  <a:pt x="206421" y="0"/>
                </a:lnTo>
                <a:lnTo>
                  <a:pt x="200025" y="6396"/>
                </a:lnTo>
                <a:lnTo>
                  <a:pt x="200025" y="22178"/>
                </a:lnTo>
                <a:lnTo>
                  <a:pt x="206421" y="28575"/>
                </a:lnTo>
                <a:lnTo>
                  <a:pt x="307928" y="28575"/>
                </a:lnTo>
                <a:lnTo>
                  <a:pt x="314325" y="22178"/>
                </a:lnTo>
                <a:lnTo>
                  <a:pt x="314325" y="6396"/>
                </a:lnTo>
                <a:lnTo>
                  <a:pt x="307928" y="0"/>
                </a:lnTo>
                <a:close/>
              </a:path>
              <a:path w="653414" h="28575">
                <a:moveTo>
                  <a:pt x="507953" y="0"/>
                </a:moveTo>
                <a:lnTo>
                  <a:pt x="406446" y="0"/>
                </a:lnTo>
                <a:lnTo>
                  <a:pt x="400050" y="6396"/>
                </a:lnTo>
                <a:lnTo>
                  <a:pt x="400050" y="22178"/>
                </a:lnTo>
                <a:lnTo>
                  <a:pt x="406446" y="28575"/>
                </a:lnTo>
                <a:lnTo>
                  <a:pt x="507953" y="28575"/>
                </a:lnTo>
                <a:lnTo>
                  <a:pt x="514350" y="22178"/>
                </a:lnTo>
                <a:lnTo>
                  <a:pt x="514350" y="6396"/>
                </a:lnTo>
                <a:lnTo>
                  <a:pt x="507953" y="0"/>
                </a:lnTo>
                <a:close/>
              </a:path>
              <a:path w="653414" h="28575">
                <a:moveTo>
                  <a:pt x="646474" y="0"/>
                </a:moveTo>
                <a:lnTo>
                  <a:pt x="606471" y="0"/>
                </a:lnTo>
                <a:lnTo>
                  <a:pt x="600075" y="6396"/>
                </a:lnTo>
                <a:lnTo>
                  <a:pt x="600075" y="22179"/>
                </a:lnTo>
                <a:lnTo>
                  <a:pt x="606471" y="28575"/>
                </a:lnTo>
                <a:lnTo>
                  <a:pt x="646474" y="28575"/>
                </a:lnTo>
                <a:lnTo>
                  <a:pt x="652871" y="22179"/>
                </a:lnTo>
                <a:lnTo>
                  <a:pt x="652871" y="6396"/>
                </a:lnTo>
                <a:lnTo>
                  <a:pt x="646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438516" y="4185411"/>
            <a:ext cx="2428240" cy="754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Classification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margin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910"/>
              </a:lnSpc>
            </a:pPr>
            <a:r>
              <a:rPr dirty="0" sz="1600">
                <a:latin typeface="Arial"/>
                <a:cs typeface="Arial"/>
              </a:rPr>
              <a:t>&gt; </a:t>
            </a:r>
            <a:r>
              <a:rPr dirty="0" sz="1600" spc="-5">
                <a:latin typeface="Arial"/>
                <a:cs typeface="Arial"/>
              </a:rPr>
              <a:t>0: Correct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classification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910"/>
              </a:lnSpc>
            </a:pPr>
            <a:r>
              <a:rPr dirty="0" sz="1600">
                <a:latin typeface="Arial"/>
                <a:cs typeface="Arial"/>
              </a:rPr>
              <a:t>&lt; </a:t>
            </a:r>
            <a:r>
              <a:rPr dirty="0" sz="1600" spc="-5">
                <a:latin typeface="Arial"/>
                <a:cs typeface="Arial"/>
              </a:rPr>
              <a:t>0: Incorrect classification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45" name="object 45"/>
          <p:cNvSpPr txBox="1"/>
          <p:nvPr/>
        </p:nvSpPr>
        <p:spPr>
          <a:xfrm>
            <a:off x="1376015" y="2453132"/>
            <a:ext cx="5028565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Predicted probabilities over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re-trainings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(without graph manipulation, i.e., clean</a:t>
            </a:r>
            <a:r>
              <a:rPr dirty="0" sz="1800" spc="2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graph)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98231" y="4057396"/>
            <a:ext cx="4749165" cy="7512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810895" marR="1623060">
              <a:lnSpc>
                <a:spcPts val="1900"/>
              </a:lnSpc>
              <a:spcBef>
                <a:spcPts val="180"/>
              </a:spcBef>
            </a:pP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GCN </a:t>
            </a: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is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able </a:t>
            </a: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correctly  classify the target node  </a:t>
            </a: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with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high</a:t>
            </a:r>
            <a:r>
              <a:rPr dirty="0" sz="16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confidence.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8882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445770" marR="5080">
              <a:lnSpc>
                <a:spcPct val="101400"/>
              </a:lnSpc>
              <a:spcBef>
                <a:spcPts val="50"/>
              </a:spcBef>
            </a:pPr>
            <a:r>
              <a:rPr dirty="0" spc="-35"/>
              <a:t>GCN’s </a:t>
            </a:r>
            <a:r>
              <a:rPr dirty="0" spc="-10"/>
              <a:t>prediction after carefully </a:t>
            </a:r>
            <a:r>
              <a:rPr dirty="0" spc="-5"/>
              <a:t>modifying </a:t>
            </a:r>
            <a:r>
              <a:rPr dirty="0" spc="-15"/>
              <a:t>just </a:t>
            </a:r>
            <a:r>
              <a:rPr dirty="0"/>
              <a:t>5 </a:t>
            </a:r>
            <a:r>
              <a:rPr dirty="0" spc="-10"/>
              <a:t>edges  </a:t>
            </a:r>
            <a:r>
              <a:rPr dirty="0" spc="-15"/>
              <a:t>attached to </a:t>
            </a:r>
            <a:r>
              <a:rPr dirty="0" spc="-5"/>
              <a:t>the </a:t>
            </a:r>
            <a:r>
              <a:rPr dirty="0" spc="-20"/>
              <a:t>target </a:t>
            </a:r>
            <a:r>
              <a:rPr dirty="0" spc="-5"/>
              <a:t>node </a:t>
            </a:r>
            <a:r>
              <a:rPr dirty="0" spc="-10"/>
              <a:t>(</a:t>
            </a:r>
            <a:r>
              <a:rPr dirty="0" spc="-10">
                <a:solidFill>
                  <a:srgbClr val="D60093"/>
                </a:solidFill>
              </a:rPr>
              <a:t>direct adversarial</a:t>
            </a:r>
            <a:r>
              <a:rPr dirty="0" spc="150">
                <a:solidFill>
                  <a:srgbClr val="D60093"/>
                </a:solidFill>
              </a:rPr>
              <a:t> </a:t>
            </a:r>
            <a:r>
              <a:rPr dirty="0" spc="-10">
                <a:solidFill>
                  <a:srgbClr val="D60093"/>
                </a:solidFill>
              </a:rPr>
              <a:t>attack</a:t>
            </a:r>
            <a:r>
              <a:rPr dirty="0" spc="-10"/>
              <a:t>).</a:t>
            </a:r>
          </a:p>
        </p:txBody>
      </p:sp>
      <p:sp>
        <p:nvSpPr>
          <p:cNvPr id="4" name="object 4"/>
          <p:cNvSpPr/>
          <p:nvPr/>
        </p:nvSpPr>
        <p:spPr>
          <a:xfrm>
            <a:off x="1651951" y="2919552"/>
            <a:ext cx="5970728" cy="35211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05390" y="3032338"/>
            <a:ext cx="4990465" cy="2771140"/>
          </a:xfrm>
          <a:custGeom>
            <a:avLst/>
            <a:gdLst/>
            <a:ahLst/>
            <a:cxnLst/>
            <a:rect l="l" t="t" r="r" b="b"/>
            <a:pathLst>
              <a:path w="4990465" h="2771140">
                <a:moveTo>
                  <a:pt x="0" y="0"/>
                </a:moveTo>
                <a:lnTo>
                  <a:pt x="4990136" y="0"/>
                </a:lnTo>
                <a:lnTo>
                  <a:pt x="4990136" y="2770756"/>
                </a:lnTo>
                <a:lnTo>
                  <a:pt x="0" y="27707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61587" y="5746060"/>
            <a:ext cx="83820" cy="0"/>
          </a:xfrm>
          <a:custGeom>
            <a:avLst/>
            <a:gdLst/>
            <a:ahLst/>
            <a:cxnLst/>
            <a:rect l="l" t="t" r="r" b="b"/>
            <a:pathLst>
              <a:path w="83819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62195" y="5730267"/>
            <a:ext cx="83820" cy="0"/>
          </a:xfrm>
          <a:custGeom>
            <a:avLst/>
            <a:gdLst/>
            <a:ahLst/>
            <a:cxnLst/>
            <a:rect l="l" t="t" r="r" b="b"/>
            <a:pathLst>
              <a:path w="83819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34288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62803" y="5744710"/>
            <a:ext cx="83820" cy="0"/>
          </a:xfrm>
          <a:custGeom>
            <a:avLst/>
            <a:gdLst/>
            <a:ahLst/>
            <a:cxnLst/>
            <a:rect l="l" t="t" r="r" b="b"/>
            <a:pathLst>
              <a:path w="83819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5399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63411" y="5737961"/>
            <a:ext cx="83820" cy="0"/>
          </a:xfrm>
          <a:custGeom>
            <a:avLst/>
            <a:gdLst/>
            <a:ahLst/>
            <a:cxnLst/>
            <a:rect l="l" t="t" r="r" b="b"/>
            <a:pathLst>
              <a:path w="83819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189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64018" y="5746060"/>
            <a:ext cx="83820" cy="0"/>
          </a:xfrm>
          <a:custGeom>
            <a:avLst/>
            <a:gdLst/>
            <a:ahLst/>
            <a:cxnLst/>
            <a:rect l="l" t="t" r="r" b="b"/>
            <a:pathLst>
              <a:path w="83819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64057" y="574606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64664" y="574606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65272" y="574066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13499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65880" y="5617357"/>
            <a:ext cx="83820" cy="130175"/>
          </a:xfrm>
          <a:custGeom>
            <a:avLst/>
            <a:gdLst/>
            <a:ahLst/>
            <a:cxnLst/>
            <a:rect l="l" t="t" r="r" b="b"/>
            <a:pathLst>
              <a:path w="83820" h="130175">
                <a:moveTo>
                  <a:pt x="0" y="0"/>
                </a:moveTo>
                <a:lnTo>
                  <a:pt x="83343" y="0"/>
                </a:lnTo>
                <a:lnTo>
                  <a:pt x="83343" y="130052"/>
                </a:lnTo>
                <a:lnTo>
                  <a:pt x="0" y="130052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66487" y="5727627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3956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68907" y="574606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69514" y="5730266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34288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70122" y="573931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162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70730" y="5572113"/>
            <a:ext cx="83820" cy="175895"/>
          </a:xfrm>
          <a:custGeom>
            <a:avLst/>
            <a:gdLst/>
            <a:ahLst/>
            <a:cxnLst/>
            <a:rect l="l" t="t" r="r" b="b"/>
            <a:pathLst>
              <a:path w="83820" h="175895">
                <a:moveTo>
                  <a:pt x="0" y="0"/>
                </a:moveTo>
                <a:lnTo>
                  <a:pt x="83343" y="0"/>
                </a:lnTo>
                <a:lnTo>
                  <a:pt x="83343" y="175298"/>
                </a:lnTo>
                <a:lnTo>
                  <a:pt x="0" y="175298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71337" y="574471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5399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68993" y="573661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216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69601" y="574471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5399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70210" y="574471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5399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70818" y="5657838"/>
            <a:ext cx="83820" cy="90170"/>
          </a:xfrm>
          <a:custGeom>
            <a:avLst/>
            <a:gdLst/>
            <a:ahLst/>
            <a:cxnLst/>
            <a:rect l="l" t="t" r="r" b="b"/>
            <a:pathLst>
              <a:path w="83820" h="90170">
                <a:moveTo>
                  <a:pt x="0" y="0"/>
                </a:moveTo>
                <a:lnTo>
                  <a:pt x="83343" y="0"/>
                </a:lnTo>
                <a:lnTo>
                  <a:pt x="83343" y="89571"/>
                </a:lnTo>
                <a:lnTo>
                  <a:pt x="0" y="89571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71426" y="574606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71462" y="5744321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472070" y="5740661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13499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572678" y="5744711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54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673287" y="574471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5399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73893" y="5744321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31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73932" y="573487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3" y="0"/>
                </a:lnTo>
              </a:path>
            </a:pathLst>
          </a:custGeom>
          <a:ln w="21600">
            <a:solidFill>
              <a:srgbClr val="9A31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74539" y="5742970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345" y="0"/>
                </a:lnTo>
              </a:path>
            </a:pathLst>
          </a:custGeom>
          <a:ln w="5400">
            <a:solidFill>
              <a:srgbClr val="9A31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75147" y="5688795"/>
            <a:ext cx="83820" cy="59055"/>
          </a:xfrm>
          <a:custGeom>
            <a:avLst/>
            <a:gdLst/>
            <a:ahLst/>
            <a:cxnLst/>
            <a:rect l="l" t="t" r="r" b="b"/>
            <a:pathLst>
              <a:path w="83820" h="59054">
                <a:moveTo>
                  <a:pt x="0" y="0"/>
                </a:moveTo>
                <a:lnTo>
                  <a:pt x="83345" y="0"/>
                </a:lnTo>
                <a:lnTo>
                  <a:pt x="83345" y="58616"/>
                </a:lnTo>
                <a:lnTo>
                  <a:pt x="0" y="58616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375755" y="5623968"/>
            <a:ext cx="83820" cy="123825"/>
          </a:xfrm>
          <a:custGeom>
            <a:avLst/>
            <a:gdLst/>
            <a:ahLst/>
            <a:cxnLst/>
            <a:rect l="l" t="t" r="r" b="b"/>
            <a:pathLst>
              <a:path w="83820" h="123825">
                <a:moveTo>
                  <a:pt x="0" y="0"/>
                </a:moveTo>
                <a:lnTo>
                  <a:pt x="83343" y="0"/>
                </a:lnTo>
                <a:lnTo>
                  <a:pt x="83343" y="123442"/>
                </a:lnTo>
                <a:lnTo>
                  <a:pt x="0" y="123442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476362" y="5565965"/>
            <a:ext cx="83820" cy="179705"/>
          </a:xfrm>
          <a:custGeom>
            <a:avLst/>
            <a:gdLst/>
            <a:ahLst/>
            <a:cxnLst/>
            <a:rect l="l" t="t" r="r" b="b"/>
            <a:pathLst>
              <a:path w="83820" h="179704">
                <a:moveTo>
                  <a:pt x="0" y="0"/>
                </a:moveTo>
                <a:lnTo>
                  <a:pt x="83345" y="0"/>
                </a:lnTo>
                <a:lnTo>
                  <a:pt x="83345" y="179705"/>
                </a:lnTo>
                <a:lnTo>
                  <a:pt x="0" y="179705"/>
                </a:lnTo>
                <a:lnTo>
                  <a:pt x="0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774019" y="3126427"/>
            <a:ext cx="83820" cy="2621280"/>
          </a:xfrm>
          <a:custGeom>
            <a:avLst/>
            <a:gdLst/>
            <a:ahLst/>
            <a:cxnLst/>
            <a:rect l="l" t="t" r="r" b="b"/>
            <a:pathLst>
              <a:path w="83820" h="2621279">
                <a:moveTo>
                  <a:pt x="0" y="0"/>
                </a:moveTo>
                <a:lnTo>
                  <a:pt x="83345" y="0"/>
                </a:lnTo>
                <a:lnTo>
                  <a:pt x="83345" y="2620984"/>
                </a:lnTo>
                <a:lnTo>
                  <a:pt x="0" y="2620984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874626" y="3170783"/>
            <a:ext cx="83820" cy="2576830"/>
          </a:xfrm>
          <a:custGeom>
            <a:avLst/>
            <a:gdLst/>
            <a:ahLst/>
            <a:cxnLst/>
            <a:rect l="l" t="t" r="r" b="b"/>
            <a:pathLst>
              <a:path w="83820" h="2576829">
                <a:moveTo>
                  <a:pt x="0" y="0"/>
                </a:moveTo>
                <a:lnTo>
                  <a:pt x="83343" y="0"/>
                </a:lnTo>
                <a:lnTo>
                  <a:pt x="83343" y="2576628"/>
                </a:lnTo>
                <a:lnTo>
                  <a:pt x="0" y="257662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975234" y="3181018"/>
            <a:ext cx="83820" cy="2566670"/>
          </a:xfrm>
          <a:custGeom>
            <a:avLst/>
            <a:gdLst/>
            <a:ahLst/>
            <a:cxnLst/>
            <a:rect l="l" t="t" r="r" b="b"/>
            <a:pathLst>
              <a:path w="83820" h="2566670">
                <a:moveTo>
                  <a:pt x="0" y="0"/>
                </a:moveTo>
                <a:lnTo>
                  <a:pt x="83343" y="0"/>
                </a:lnTo>
                <a:lnTo>
                  <a:pt x="83343" y="2566392"/>
                </a:lnTo>
                <a:lnTo>
                  <a:pt x="0" y="256639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075843" y="3481269"/>
            <a:ext cx="83820" cy="2266315"/>
          </a:xfrm>
          <a:custGeom>
            <a:avLst/>
            <a:gdLst/>
            <a:ahLst/>
            <a:cxnLst/>
            <a:rect l="l" t="t" r="r" b="b"/>
            <a:pathLst>
              <a:path w="83820" h="2266315">
                <a:moveTo>
                  <a:pt x="0" y="0"/>
                </a:moveTo>
                <a:lnTo>
                  <a:pt x="83343" y="0"/>
                </a:lnTo>
                <a:lnTo>
                  <a:pt x="83343" y="2266142"/>
                </a:lnTo>
                <a:lnTo>
                  <a:pt x="0" y="226614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76451" y="3249259"/>
            <a:ext cx="83820" cy="2496820"/>
          </a:xfrm>
          <a:custGeom>
            <a:avLst/>
            <a:gdLst/>
            <a:ahLst/>
            <a:cxnLst/>
            <a:rect l="l" t="t" r="r" b="b"/>
            <a:pathLst>
              <a:path w="83820" h="2496820">
                <a:moveTo>
                  <a:pt x="0" y="0"/>
                </a:moveTo>
                <a:lnTo>
                  <a:pt x="83343" y="0"/>
                </a:lnTo>
                <a:lnTo>
                  <a:pt x="83343" y="2496412"/>
                </a:lnTo>
                <a:lnTo>
                  <a:pt x="0" y="249641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405390" y="5957906"/>
            <a:ext cx="5217795" cy="383540"/>
          </a:xfrm>
          <a:custGeom>
            <a:avLst/>
            <a:gdLst/>
            <a:ahLst/>
            <a:cxnLst/>
            <a:rect l="l" t="t" r="r" b="b"/>
            <a:pathLst>
              <a:path w="5217795" h="383539">
                <a:moveTo>
                  <a:pt x="0" y="0"/>
                </a:moveTo>
                <a:lnTo>
                  <a:pt x="5217288" y="0"/>
                </a:lnTo>
                <a:lnTo>
                  <a:pt x="5217288" y="383351"/>
                </a:lnTo>
                <a:lnTo>
                  <a:pt x="0" y="383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553651" y="5957315"/>
            <a:ext cx="50545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Class</a:t>
            </a:r>
            <a:r>
              <a:rPr dirty="0" sz="1400" spc="-11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1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3/4/21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43" name="object 43"/>
          <p:cNvSpPr txBox="1"/>
          <p:nvPr/>
        </p:nvSpPr>
        <p:spPr>
          <a:xfrm>
            <a:off x="3251256" y="5957315"/>
            <a:ext cx="5168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Class</a:t>
            </a:r>
            <a:r>
              <a:rPr dirty="0" sz="1400" spc="-11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2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76541" y="5957315"/>
            <a:ext cx="5067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Class</a:t>
            </a:r>
            <a:r>
              <a:rPr dirty="0" sz="1400" spc="-11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3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65468" y="5957315"/>
            <a:ext cx="5175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Class</a:t>
            </a:r>
            <a:r>
              <a:rPr dirty="0" sz="1400" spc="-11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4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54443" y="5957315"/>
            <a:ext cx="5111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Class</a:t>
            </a:r>
            <a:r>
              <a:rPr dirty="0" sz="1400" spc="-11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05211" y="5957315"/>
            <a:ext cx="1262380" cy="44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>
              <a:lnSpc>
                <a:spcPts val="1630"/>
              </a:lnSpc>
              <a:spcBef>
                <a:spcPts val="100"/>
              </a:spcBef>
              <a:tabLst>
                <a:tab pos="772795" algn="l"/>
              </a:tabLst>
            </a:pPr>
            <a:r>
              <a:rPr dirty="0" sz="1400" spc="-20" b="1">
                <a:solidFill>
                  <a:srgbClr val="9A3130"/>
                </a:solidFill>
                <a:latin typeface="Corbel"/>
                <a:cs typeface="Corbel"/>
              </a:rPr>
              <a:t>Class</a:t>
            </a:r>
            <a:r>
              <a:rPr dirty="0" sz="1400" spc="-35" b="1">
                <a:solidFill>
                  <a:srgbClr val="9A3130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9A3130"/>
                </a:solidFill>
                <a:latin typeface="Corbel"/>
                <a:cs typeface="Corbel"/>
              </a:rPr>
              <a:t>6	</a:t>
            </a:r>
            <a:r>
              <a:rPr dirty="0" sz="1400" spc="-20">
                <a:latin typeface="Corbel"/>
                <a:cs typeface="Corbel"/>
              </a:rPr>
              <a:t>Class</a:t>
            </a:r>
            <a:r>
              <a:rPr dirty="0" sz="1400" spc="-11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7</a:t>
            </a:r>
            <a:endParaRPr sz="1400">
              <a:latin typeface="Corbel"/>
              <a:cs typeface="Corbel"/>
            </a:endParaRPr>
          </a:p>
          <a:p>
            <a:pPr marL="12700">
              <a:lnSpc>
                <a:spcPts val="1630"/>
              </a:lnSpc>
            </a:pPr>
            <a:r>
              <a:rPr dirty="0" sz="1400" spc="-25" b="1">
                <a:solidFill>
                  <a:srgbClr val="9A3130"/>
                </a:solidFill>
                <a:latin typeface="Corbel"/>
                <a:cs typeface="Corbel"/>
              </a:rPr>
              <a:t>(correct)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664128" y="2276348"/>
            <a:ext cx="4178935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Predicted probabilities over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re-trainings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(with adversarial</a:t>
            </a:r>
            <a:r>
              <a:rPr dirty="0" sz="1800" spc="-5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attacks)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05390" y="3803396"/>
            <a:ext cx="499046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656590" marR="1125220">
              <a:lnSpc>
                <a:spcPts val="2110"/>
              </a:lnSpc>
              <a:spcBef>
                <a:spcPts val="21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model confidently makes 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wrong</a:t>
            </a: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prediction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03452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738" y="1347723"/>
            <a:ext cx="3947160" cy="3018790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332740" marR="5080" indent="-320040">
              <a:lnSpc>
                <a:spcPct val="100499"/>
              </a:lnSpc>
              <a:spcBef>
                <a:spcPts val="8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10">
                <a:solidFill>
                  <a:srgbClr val="D60093"/>
                </a:solidFill>
              </a:rPr>
              <a:t>Adversarial direct </a:t>
            </a:r>
            <a:r>
              <a:rPr dirty="0" spc="-15">
                <a:solidFill>
                  <a:srgbClr val="D60093"/>
                </a:solidFill>
              </a:rPr>
              <a:t>attack </a:t>
            </a:r>
            <a:r>
              <a:rPr dirty="0" spc="-15"/>
              <a:t> </a:t>
            </a:r>
            <a:r>
              <a:rPr dirty="0" spc="-5" b="0">
                <a:latin typeface="Calibri"/>
                <a:cs typeface="Calibri"/>
              </a:rPr>
              <a:t>is the </a:t>
            </a:r>
            <a:r>
              <a:rPr dirty="0" spc="-20" b="0">
                <a:latin typeface="Calibri"/>
                <a:cs typeface="Calibri"/>
              </a:rPr>
              <a:t>strongest attack,  </a:t>
            </a:r>
            <a:r>
              <a:rPr dirty="0" spc="-10" b="0">
                <a:latin typeface="Calibri"/>
                <a:cs typeface="Calibri"/>
              </a:rPr>
              <a:t>significantly </a:t>
            </a:r>
            <a:r>
              <a:rPr dirty="0" spc="-15" b="0">
                <a:latin typeface="Calibri"/>
                <a:cs typeface="Calibri"/>
              </a:rPr>
              <a:t>worsening  </a:t>
            </a:r>
            <a:r>
              <a:rPr dirty="0" spc="-40" b="0">
                <a:latin typeface="Calibri"/>
                <a:cs typeface="Calibri"/>
              </a:rPr>
              <a:t>GCN’s </a:t>
            </a:r>
            <a:r>
              <a:rPr dirty="0" spc="-10" b="0">
                <a:latin typeface="Calibri"/>
                <a:cs typeface="Calibri"/>
              </a:rPr>
              <a:t>performance  (compared </a:t>
            </a:r>
            <a:r>
              <a:rPr dirty="0" spc="-15" b="0">
                <a:latin typeface="Calibri"/>
                <a:cs typeface="Calibri"/>
              </a:rPr>
              <a:t>to </a:t>
            </a:r>
            <a:r>
              <a:rPr dirty="0" spc="-5">
                <a:solidFill>
                  <a:srgbClr val="00B050"/>
                </a:solidFill>
              </a:rPr>
              <a:t>no</a:t>
            </a:r>
            <a:r>
              <a:rPr dirty="0" spc="-50">
                <a:solidFill>
                  <a:srgbClr val="00B050"/>
                </a:solidFill>
              </a:rPr>
              <a:t> </a:t>
            </a:r>
            <a:r>
              <a:rPr dirty="0" spc="-10">
                <a:solidFill>
                  <a:srgbClr val="00B050"/>
                </a:solidFill>
              </a:rPr>
              <a:t>attack</a:t>
            </a:r>
            <a:r>
              <a:rPr dirty="0" spc="-10" b="0">
                <a:latin typeface="Calibri"/>
                <a:cs typeface="Calibri"/>
              </a:rPr>
              <a:t>).</a:t>
            </a:r>
          </a:p>
          <a:p>
            <a:pPr marL="332740" marR="103505" indent="-320040">
              <a:lnSpc>
                <a:spcPts val="341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pc="-5">
                <a:solidFill>
                  <a:srgbClr val="FF0000"/>
                </a:solidFill>
              </a:rPr>
              <a:t>Random </a:t>
            </a:r>
            <a:r>
              <a:rPr dirty="0" spc="-20" b="0">
                <a:latin typeface="Calibri"/>
                <a:cs typeface="Calibri"/>
              </a:rPr>
              <a:t>attack </a:t>
            </a:r>
            <a:r>
              <a:rPr dirty="0" spc="-5" b="0">
                <a:latin typeface="Calibri"/>
                <a:cs typeface="Calibri"/>
              </a:rPr>
              <a:t>is </a:t>
            </a:r>
            <a:r>
              <a:rPr dirty="0" b="0">
                <a:latin typeface="Calibri"/>
                <a:cs typeface="Calibri"/>
              </a:rPr>
              <a:t>much  </a:t>
            </a:r>
            <a:r>
              <a:rPr dirty="0" spc="-25" b="0">
                <a:latin typeface="Calibri"/>
                <a:cs typeface="Calibri"/>
              </a:rPr>
              <a:t>weaker </a:t>
            </a:r>
            <a:r>
              <a:rPr dirty="0" spc="-5" b="0">
                <a:latin typeface="Calibri"/>
                <a:cs typeface="Calibri"/>
              </a:rPr>
              <a:t>than</a:t>
            </a:r>
            <a:r>
              <a:rPr dirty="0" spc="0" b="0">
                <a:latin typeface="Calibri"/>
                <a:cs typeface="Calibri"/>
              </a:rPr>
              <a:t> </a:t>
            </a:r>
            <a:r>
              <a:rPr dirty="0" spc="-10">
                <a:solidFill>
                  <a:srgbClr val="D60093"/>
                </a:solidFill>
              </a:rPr>
              <a:t>adversarial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7738" y="4331715"/>
            <a:ext cx="3642360" cy="173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latin typeface="Calibri"/>
                <a:cs typeface="Calibri"/>
              </a:rPr>
              <a:t>attack.</a:t>
            </a:r>
            <a:endParaRPr sz="2800">
              <a:latin typeface="Calibri"/>
              <a:cs typeface="Calibri"/>
            </a:endParaRPr>
          </a:p>
          <a:p>
            <a:pPr algn="just" marL="332740" marR="5080" indent="-320040">
              <a:lnSpc>
                <a:spcPct val="99600"/>
              </a:lnSpc>
              <a:spcBef>
                <a:spcPts val="6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740" algn="l"/>
              </a:tabLst>
            </a:pP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Indirect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attack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>
                <a:latin typeface="Calibri"/>
                <a:cs typeface="Calibri"/>
              </a:rPr>
              <a:t>more  </a:t>
            </a:r>
            <a:r>
              <a:rPr dirty="0" sz="2800" spc="-5">
                <a:latin typeface="Calibri"/>
                <a:cs typeface="Calibri"/>
              </a:rPr>
              <a:t>challenging than </a:t>
            </a:r>
            <a:r>
              <a:rPr dirty="0" sz="2800" spc="-10">
                <a:latin typeface="Calibri"/>
                <a:cs typeface="Calibri"/>
              </a:rPr>
              <a:t>direct  </a:t>
            </a:r>
            <a:r>
              <a:rPr dirty="0" sz="2800" spc="-20">
                <a:latin typeface="Calibri"/>
                <a:cs typeface="Calibri"/>
              </a:rPr>
              <a:t>attack.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3322" y="2047687"/>
            <a:ext cx="3952601" cy="37787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658574" y="2845780"/>
            <a:ext cx="252729" cy="1898014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Cl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ss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1600" spc="0">
                <a:solidFill>
                  <a:srgbClr val="008000"/>
                </a:solidFill>
                <a:latin typeface="Arial"/>
                <a:cs typeface="Arial"/>
              </a:rPr>
              <a:t>f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c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sz="1600" spc="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n m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g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34315" y="1262380"/>
            <a:ext cx="31210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Each dot indicates one attack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trial.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30320" y="2236081"/>
            <a:ext cx="1687830" cy="3157220"/>
          </a:xfrm>
          <a:custGeom>
            <a:avLst/>
            <a:gdLst/>
            <a:ahLst/>
            <a:cxnLst/>
            <a:rect l="l" t="t" r="r" b="b"/>
            <a:pathLst>
              <a:path w="1687829" h="3157220">
                <a:moveTo>
                  <a:pt x="0" y="0"/>
                </a:moveTo>
                <a:lnTo>
                  <a:pt x="1687285" y="0"/>
                </a:lnTo>
                <a:lnTo>
                  <a:pt x="1687285" y="3156856"/>
                </a:lnTo>
                <a:lnTo>
                  <a:pt x="0" y="3156856"/>
                </a:lnTo>
                <a:lnTo>
                  <a:pt x="0" y="0"/>
                </a:lnTo>
                <a:close/>
              </a:path>
            </a:pathLst>
          </a:custGeom>
          <a:solidFill>
            <a:srgbClr val="D60093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30320" y="2236081"/>
            <a:ext cx="1687830" cy="3157220"/>
          </a:xfrm>
          <a:custGeom>
            <a:avLst/>
            <a:gdLst/>
            <a:ahLst/>
            <a:cxnLst/>
            <a:rect l="l" t="t" r="r" b="b"/>
            <a:pathLst>
              <a:path w="1687829" h="3157220">
                <a:moveTo>
                  <a:pt x="0" y="0"/>
                </a:moveTo>
                <a:lnTo>
                  <a:pt x="1687285" y="0"/>
                </a:lnTo>
                <a:lnTo>
                  <a:pt x="1687285" y="3156857"/>
                </a:lnTo>
                <a:lnTo>
                  <a:pt x="0" y="315685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32639" y="2236081"/>
            <a:ext cx="725805" cy="3157220"/>
          </a:xfrm>
          <a:custGeom>
            <a:avLst/>
            <a:gdLst/>
            <a:ahLst/>
            <a:cxnLst/>
            <a:rect l="l" t="t" r="r" b="b"/>
            <a:pathLst>
              <a:path w="725804" h="3157220">
                <a:moveTo>
                  <a:pt x="0" y="0"/>
                </a:moveTo>
                <a:lnTo>
                  <a:pt x="725195" y="0"/>
                </a:lnTo>
                <a:lnTo>
                  <a:pt x="725195" y="3156856"/>
                </a:lnTo>
                <a:lnTo>
                  <a:pt x="0" y="3156856"/>
                </a:lnTo>
                <a:lnTo>
                  <a:pt x="0" y="0"/>
                </a:lnTo>
                <a:close/>
              </a:path>
            </a:pathLst>
          </a:custGeom>
          <a:solidFill>
            <a:srgbClr val="92D050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32639" y="2236081"/>
            <a:ext cx="725805" cy="3157220"/>
          </a:xfrm>
          <a:custGeom>
            <a:avLst/>
            <a:gdLst/>
            <a:ahLst/>
            <a:cxnLst/>
            <a:rect l="l" t="t" r="r" b="b"/>
            <a:pathLst>
              <a:path w="725804" h="3157220">
                <a:moveTo>
                  <a:pt x="0" y="0"/>
                </a:moveTo>
                <a:lnTo>
                  <a:pt x="725195" y="0"/>
                </a:lnTo>
                <a:lnTo>
                  <a:pt x="725195" y="3156857"/>
                </a:lnTo>
                <a:lnTo>
                  <a:pt x="0" y="315685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30078" y="2236080"/>
            <a:ext cx="740410" cy="3157220"/>
          </a:xfrm>
          <a:custGeom>
            <a:avLst/>
            <a:gdLst/>
            <a:ahLst/>
            <a:cxnLst/>
            <a:rect l="l" t="t" r="r" b="b"/>
            <a:pathLst>
              <a:path w="740409" h="3157220">
                <a:moveTo>
                  <a:pt x="0" y="0"/>
                </a:moveTo>
                <a:lnTo>
                  <a:pt x="740228" y="0"/>
                </a:lnTo>
                <a:lnTo>
                  <a:pt x="740228" y="3156856"/>
                </a:lnTo>
                <a:lnTo>
                  <a:pt x="0" y="3156856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030078" y="2236080"/>
            <a:ext cx="740410" cy="3157220"/>
          </a:xfrm>
          <a:custGeom>
            <a:avLst/>
            <a:gdLst/>
            <a:ahLst/>
            <a:cxnLst/>
            <a:rect l="l" t="t" r="r" b="b"/>
            <a:pathLst>
              <a:path w="740409" h="3157220">
                <a:moveTo>
                  <a:pt x="0" y="0"/>
                </a:moveTo>
                <a:lnTo>
                  <a:pt x="740229" y="0"/>
                </a:lnTo>
                <a:lnTo>
                  <a:pt x="740229" y="3156857"/>
                </a:lnTo>
                <a:lnTo>
                  <a:pt x="0" y="315685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609060" y="1831339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Direct</a:t>
            </a:r>
            <a:r>
              <a:rPr dirty="0" sz="1800" spc="-6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attack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75176" y="1608836"/>
            <a:ext cx="330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B050"/>
                </a:solidFill>
                <a:latin typeface="Arial"/>
                <a:cs typeface="Arial"/>
              </a:rPr>
              <a:t>No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83090" y="1575308"/>
            <a:ext cx="85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Indirect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75176" y="1840483"/>
            <a:ext cx="14941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0419" algn="l"/>
              </a:tabLst>
            </a:pPr>
            <a:r>
              <a:rPr dirty="0" baseline="-7716" sz="2700" spc="-7" b="1">
                <a:solidFill>
                  <a:srgbClr val="00B050"/>
                </a:solidFill>
                <a:latin typeface="Arial"/>
                <a:cs typeface="Arial"/>
              </a:rPr>
              <a:t>a</a:t>
            </a:r>
            <a:r>
              <a:rPr dirty="0" baseline="-7716" sz="2700" b="1">
                <a:solidFill>
                  <a:srgbClr val="00B050"/>
                </a:solidFill>
                <a:latin typeface="Arial"/>
                <a:cs typeface="Arial"/>
              </a:rPr>
              <a:t>tt</a:t>
            </a:r>
            <a:r>
              <a:rPr dirty="0" baseline="-7716" sz="2700" spc="-7" b="1">
                <a:solidFill>
                  <a:srgbClr val="00B050"/>
                </a:solidFill>
                <a:latin typeface="Arial"/>
                <a:cs typeface="Arial"/>
              </a:rPr>
              <a:t>ac</a:t>
            </a:r>
            <a:r>
              <a:rPr dirty="0" baseline="-7716" sz="2700" b="1">
                <a:solidFill>
                  <a:srgbClr val="00B050"/>
                </a:solidFill>
                <a:latin typeface="Arial"/>
                <a:cs typeface="Arial"/>
              </a:rPr>
              <a:t>k	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tt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ack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57833" y="5450583"/>
            <a:ext cx="1094105" cy="692785"/>
          </a:xfrm>
          <a:custGeom>
            <a:avLst/>
            <a:gdLst/>
            <a:ahLst/>
            <a:cxnLst/>
            <a:rect l="l" t="t" r="r" b="b"/>
            <a:pathLst>
              <a:path w="1094104" h="692785">
                <a:moveTo>
                  <a:pt x="0" y="0"/>
                </a:moveTo>
                <a:lnTo>
                  <a:pt x="1093674" y="0"/>
                </a:lnTo>
                <a:lnTo>
                  <a:pt x="1093674" y="692497"/>
                </a:lnTo>
                <a:lnTo>
                  <a:pt x="0" y="6924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036573" y="5482335"/>
            <a:ext cx="92583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5" b="1">
                <a:solidFill>
                  <a:srgbClr val="D60093"/>
                </a:solidFill>
                <a:latin typeface="Arial"/>
                <a:cs typeface="Arial"/>
              </a:rPr>
              <a:t>A</a:t>
            </a:r>
            <a:r>
              <a:rPr dirty="0" sz="1300" spc="0" b="1">
                <a:solidFill>
                  <a:srgbClr val="D60093"/>
                </a:solidFill>
                <a:latin typeface="Arial"/>
                <a:cs typeface="Arial"/>
              </a:rPr>
              <a:t>d</a:t>
            </a:r>
            <a:r>
              <a:rPr dirty="0" sz="1300" b="1">
                <a:solidFill>
                  <a:srgbClr val="D60093"/>
                </a:solidFill>
                <a:latin typeface="Arial"/>
                <a:cs typeface="Arial"/>
              </a:rPr>
              <a:t>ve</a:t>
            </a:r>
            <a:r>
              <a:rPr dirty="0" sz="1300" spc="-10" b="1">
                <a:solidFill>
                  <a:srgbClr val="D60093"/>
                </a:solidFill>
                <a:latin typeface="Arial"/>
                <a:cs typeface="Arial"/>
              </a:rPr>
              <a:t>r</a:t>
            </a:r>
            <a:r>
              <a:rPr dirty="0" sz="1300" b="1">
                <a:solidFill>
                  <a:srgbClr val="D60093"/>
                </a:solidFill>
                <a:latin typeface="Arial"/>
                <a:cs typeface="Arial"/>
              </a:rPr>
              <a:t>sa</a:t>
            </a:r>
            <a:r>
              <a:rPr dirty="0" sz="1300" spc="-10" b="1">
                <a:solidFill>
                  <a:srgbClr val="D60093"/>
                </a:solidFill>
                <a:latin typeface="Arial"/>
                <a:cs typeface="Arial"/>
              </a:rPr>
              <a:t>r</a:t>
            </a:r>
            <a:r>
              <a:rPr dirty="0" sz="1300" b="1">
                <a:solidFill>
                  <a:srgbClr val="D60093"/>
                </a:solidFill>
                <a:latin typeface="Arial"/>
                <a:cs typeface="Arial"/>
              </a:rPr>
              <a:t>ial  </a:t>
            </a:r>
            <a:r>
              <a:rPr dirty="0" sz="1300" spc="-5">
                <a:latin typeface="Arial"/>
                <a:cs typeface="Arial"/>
              </a:rPr>
              <a:t>indirect  </a:t>
            </a:r>
            <a:r>
              <a:rPr dirty="0" sz="1300">
                <a:latin typeface="Arial"/>
                <a:cs typeface="Arial"/>
              </a:rPr>
              <a:t>attack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55577" y="5450583"/>
            <a:ext cx="918844" cy="462280"/>
          </a:xfrm>
          <a:custGeom>
            <a:avLst/>
            <a:gdLst/>
            <a:ahLst/>
            <a:cxnLst/>
            <a:rect l="l" t="t" r="r" b="b"/>
            <a:pathLst>
              <a:path w="918845" h="462279">
                <a:moveTo>
                  <a:pt x="0" y="461665"/>
                </a:moveTo>
                <a:lnTo>
                  <a:pt x="918386" y="461665"/>
                </a:lnTo>
                <a:lnTo>
                  <a:pt x="918386" y="0"/>
                </a:lnTo>
                <a:lnTo>
                  <a:pt x="0" y="0"/>
                </a:lnTo>
                <a:lnTo>
                  <a:pt x="0" y="4616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534317" y="5662676"/>
            <a:ext cx="846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direct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attack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52703" y="5656579"/>
            <a:ext cx="73406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Arial"/>
                <a:cs typeface="Arial"/>
              </a:rPr>
              <a:t>add</a:t>
            </a:r>
            <a:r>
              <a:rPr dirty="0" sz="1200" spc="-9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edges  </a:t>
            </a:r>
            <a:r>
              <a:rPr dirty="0" sz="1200" spc="-10">
                <a:latin typeface="Arial"/>
                <a:cs typeface="Arial"/>
              </a:rPr>
              <a:t>between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52703" y="6025388"/>
            <a:ext cx="884555" cy="754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05"/>
              </a:spcBef>
            </a:pPr>
            <a:r>
              <a:rPr dirty="0" sz="1200" spc="-5">
                <a:latin typeface="Arial"/>
                <a:cs typeface="Arial"/>
              </a:rPr>
              <a:t>target nodes  and nodes  with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different  </a:t>
            </a:r>
            <a:r>
              <a:rPr dirty="0" sz="1200" spc="-5">
                <a:latin typeface="Arial"/>
                <a:cs typeface="Arial"/>
              </a:rPr>
              <a:t>labels.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77808" y="5450583"/>
            <a:ext cx="670560" cy="2927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445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dirty="0" sz="1300" spc="-5">
                <a:latin typeface="Arial"/>
                <a:cs typeface="Arial"/>
              </a:rPr>
              <a:t>Clean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968201" y="3814509"/>
            <a:ext cx="562610" cy="1905"/>
          </a:xfrm>
          <a:custGeom>
            <a:avLst/>
            <a:gdLst/>
            <a:ahLst/>
            <a:cxnLst/>
            <a:rect l="l" t="t" r="r" b="b"/>
            <a:pathLst>
              <a:path w="562610" h="1904">
                <a:moveTo>
                  <a:pt x="0" y="1740"/>
                </a:moveTo>
                <a:lnTo>
                  <a:pt x="56211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852208" y="3816249"/>
            <a:ext cx="232410" cy="1456690"/>
          </a:xfrm>
          <a:custGeom>
            <a:avLst/>
            <a:gdLst/>
            <a:ahLst/>
            <a:cxnLst/>
            <a:rect l="l" t="t" r="r" b="b"/>
            <a:pathLst>
              <a:path w="232410" h="1456689">
                <a:moveTo>
                  <a:pt x="231987" y="1340453"/>
                </a:moveTo>
                <a:lnTo>
                  <a:pt x="0" y="1340453"/>
                </a:lnTo>
                <a:lnTo>
                  <a:pt x="115992" y="1456447"/>
                </a:lnTo>
                <a:lnTo>
                  <a:pt x="231987" y="1340453"/>
                </a:lnTo>
                <a:close/>
              </a:path>
              <a:path w="232410" h="1456689">
                <a:moveTo>
                  <a:pt x="173989" y="0"/>
                </a:moveTo>
                <a:lnTo>
                  <a:pt x="57997" y="0"/>
                </a:lnTo>
                <a:lnTo>
                  <a:pt x="57997" y="1340453"/>
                </a:lnTo>
                <a:lnTo>
                  <a:pt x="173989" y="1340453"/>
                </a:lnTo>
                <a:lnTo>
                  <a:pt x="173989" y="0"/>
                </a:lnTo>
                <a:close/>
              </a:path>
            </a:pathLst>
          </a:custGeom>
          <a:solidFill>
            <a:srgbClr val="DD91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852209" y="3816250"/>
            <a:ext cx="232410" cy="1456690"/>
          </a:xfrm>
          <a:custGeom>
            <a:avLst/>
            <a:gdLst/>
            <a:ahLst/>
            <a:cxnLst/>
            <a:rect l="l" t="t" r="r" b="b"/>
            <a:pathLst>
              <a:path w="232410" h="1456689">
                <a:moveTo>
                  <a:pt x="231987" y="1340453"/>
                </a:moveTo>
                <a:lnTo>
                  <a:pt x="115993" y="1456447"/>
                </a:lnTo>
                <a:lnTo>
                  <a:pt x="0" y="1340453"/>
                </a:lnTo>
                <a:lnTo>
                  <a:pt x="57996" y="1340453"/>
                </a:lnTo>
                <a:lnTo>
                  <a:pt x="57996" y="0"/>
                </a:lnTo>
                <a:lnTo>
                  <a:pt x="173990" y="0"/>
                </a:lnTo>
                <a:lnTo>
                  <a:pt x="173990" y="1340453"/>
                </a:lnTo>
                <a:lnTo>
                  <a:pt x="231987" y="1340453"/>
                </a:lnTo>
                <a:close/>
              </a:path>
            </a:pathLst>
          </a:custGeom>
          <a:ln w="38100">
            <a:solidFill>
              <a:srgbClr val="C6484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407984" y="5176520"/>
            <a:ext cx="3860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C00000"/>
                </a:solidFill>
                <a:latin typeface="Arial"/>
                <a:cs typeface="Arial"/>
              </a:rPr>
              <a:t>Mi</a:t>
            </a:r>
            <a:r>
              <a:rPr dirty="0" sz="1500" spc="-5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1500">
                <a:solidFill>
                  <a:srgbClr val="C00000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07984" y="5444744"/>
            <a:ext cx="28079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2250" spc="-7">
                <a:solidFill>
                  <a:srgbClr val="C00000"/>
                </a:solidFill>
                <a:latin typeface="Arial"/>
                <a:cs typeface="Arial"/>
              </a:rPr>
              <a:t>classification </a:t>
            </a:r>
            <a:r>
              <a:rPr dirty="0" sz="1200" spc="-10" b="1">
                <a:solidFill>
                  <a:srgbClr val="D60093"/>
                </a:solidFill>
                <a:latin typeface="Arial"/>
                <a:cs typeface="Arial"/>
              </a:rPr>
              <a:t>Adversarial </a:t>
            </a:r>
            <a:r>
              <a:rPr dirty="0" sz="1200" spc="15" b="1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Randomly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47738" y="6290564"/>
            <a:ext cx="9385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Adopted</a:t>
            </a:r>
            <a:r>
              <a:rPr dirty="0" sz="1200" spc="-6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7F7F7F"/>
                </a:solidFill>
                <a:latin typeface="Arial"/>
                <a:cs typeface="Arial"/>
              </a:rPr>
              <a:t>from  Zügner et al.  </a:t>
            </a:r>
            <a:r>
              <a:rPr dirty="0" baseline="2314" sz="1800" spc="-7">
                <a:solidFill>
                  <a:srgbClr val="7F7F7F"/>
                </a:solidFill>
                <a:latin typeface="Arial"/>
                <a:cs typeface="Arial"/>
              </a:rPr>
              <a:t>KDD </a:t>
            </a:r>
            <a:r>
              <a:rPr dirty="0" baseline="2314" sz="1800" spc="-15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r>
              <a:rPr dirty="0" baseline="2314" sz="1800" spc="202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431"/>
            <a:ext cx="7779384" cy="1348740"/>
          </a:xfrm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332740" marR="5080" indent="-320040">
              <a:lnSpc>
                <a:spcPts val="3410"/>
              </a:lnSpc>
              <a:spcBef>
                <a:spcPts val="470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55" b="0">
                <a:latin typeface="Calibri"/>
                <a:cs typeface="Calibri"/>
              </a:rPr>
              <a:t>We </a:t>
            </a:r>
            <a:r>
              <a:rPr dirty="0" sz="3100" spc="-15" b="0">
                <a:latin typeface="Calibri"/>
                <a:cs typeface="Calibri"/>
              </a:rPr>
              <a:t>study </a:t>
            </a:r>
            <a:r>
              <a:rPr dirty="0" sz="3100" spc="-5" b="0">
                <a:latin typeface="Calibri"/>
                <a:cs typeface="Calibri"/>
              </a:rPr>
              <a:t>the </a:t>
            </a:r>
            <a:r>
              <a:rPr dirty="0" sz="3100" spc="-15" b="0">
                <a:latin typeface="Calibri"/>
                <a:cs typeface="Calibri"/>
              </a:rPr>
              <a:t>adversarial robustness </a:t>
            </a:r>
            <a:r>
              <a:rPr dirty="0" sz="3100" b="0">
                <a:latin typeface="Calibri"/>
                <a:cs typeface="Calibri"/>
              </a:rPr>
              <a:t>of </a:t>
            </a:r>
            <a:r>
              <a:rPr dirty="0" sz="3100" spc="-5" b="0">
                <a:latin typeface="Calibri"/>
                <a:cs typeface="Calibri"/>
              </a:rPr>
              <a:t>GCN  applied </a:t>
            </a:r>
            <a:r>
              <a:rPr dirty="0" sz="3100" spc="-20" b="0">
                <a:latin typeface="Calibri"/>
                <a:cs typeface="Calibri"/>
              </a:rPr>
              <a:t>to </a:t>
            </a:r>
            <a:r>
              <a:rPr dirty="0" sz="3100" spc="-5" b="0">
                <a:latin typeface="Calibri"/>
                <a:cs typeface="Calibri"/>
              </a:rPr>
              <a:t>semi-supervised node</a:t>
            </a:r>
            <a:r>
              <a:rPr dirty="0" sz="3100" spc="-15" b="0">
                <a:latin typeface="Calibri"/>
                <a:cs typeface="Calibri"/>
              </a:rPr>
              <a:t> </a:t>
            </a:r>
            <a:r>
              <a:rPr dirty="0" sz="3100" spc="-5" b="0">
                <a:latin typeface="Calibri"/>
                <a:cs typeface="Calibri"/>
              </a:rPr>
              <a:t>classification.</a:t>
            </a:r>
            <a:endParaRPr sz="3100">
              <a:latin typeface="Calibri"/>
              <a:cs typeface="Calibri"/>
            </a:endParaRPr>
          </a:p>
          <a:p>
            <a:pPr marL="332740" indent="-320040">
              <a:lnSpc>
                <a:spcPts val="3225"/>
              </a:lnSpc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55" b="0">
                <a:latin typeface="Calibri"/>
                <a:cs typeface="Calibri"/>
              </a:rPr>
              <a:t>We </a:t>
            </a:r>
            <a:r>
              <a:rPr dirty="0" sz="3100" spc="-5" b="0">
                <a:latin typeface="Calibri"/>
                <a:cs typeface="Calibri"/>
              </a:rPr>
              <a:t>consider </a:t>
            </a:r>
            <a:r>
              <a:rPr dirty="0" sz="3100" spc="-25" b="0">
                <a:latin typeface="Calibri"/>
                <a:cs typeface="Calibri"/>
              </a:rPr>
              <a:t>different </a:t>
            </a:r>
            <a:r>
              <a:rPr dirty="0" sz="3100" spc="-20">
                <a:solidFill>
                  <a:srgbClr val="D60093"/>
                </a:solidFill>
              </a:rPr>
              <a:t>attack </a:t>
            </a:r>
            <a:r>
              <a:rPr dirty="0" sz="3100" spc="-5">
                <a:solidFill>
                  <a:srgbClr val="D60093"/>
                </a:solidFill>
              </a:rPr>
              <a:t>possibilities</a:t>
            </a:r>
            <a:r>
              <a:rPr dirty="0" sz="3100" spc="40">
                <a:solidFill>
                  <a:srgbClr val="D60093"/>
                </a:solidFill>
              </a:rPr>
              <a:t> </a:t>
            </a:r>
            <a:r>
              <a:rPr dirty="0" sz="3100" spc="-5">
                <a:solidFill>
                  <a:srgbClr val="D60093"/>
                </a:solidFill>
              </a:rPr>
              <a:t>on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580639"/>
            <a:ext cx="8343265" cy="3902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ts val="3504"/>
              </a:lnSpc>
              <a:spcBef>
                <a:spcPts val="100"/>
              </a:spcBef>
            </a:pPr>
            <a:r>
              <a:rPr dirty="0" sz="3100" spc="-15" b="1">
                <a:solidFill>
                  <a:srgbClr val="D60093"/>
                </a:solidFill>
                <a:latin typeface="Calibri"/>
                <a:cs typeface="Calibri"/>
              </a:rPr>
              <a:t>graph-structured</a:t>
            </a:r>
            <a:r>
              <a:rPr dirty="0" sz="3100" spc="-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100" spc="-20" b="1">
                <a:solidFill>
                  <a:srgbClr val="D60093"/>
                </a:solidFill>
                <a:latin typeface="Calibri"/>
                <a:cs typeface="Calibri"/>
              </a:rPr>
              <a:t>data.</a:t>
            </a:r>
            <a:endParaRPr sz="3100">
              <a:latin typeface="Calibri"/>
              <a:cs typeface="Calibri"/>
            </a:endParaRPr>
          </a:p>
          <a:p>
            <a:pPr marL="332740" marR="687705" indent="-320040">
              <a:lnSpc>
                <a:spcPts val="3410"/>
              </a:lnSpc>
              <a:spcBef>
                <a:spcPts val="155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55">
                <a:latin typeface="Calibri"/>
                <a:cs typeface="Calibri"/>
              </a:rPr>
              <a:t>We </a:t>
            </a:r>
            <a:r>
              <a:rPr dirty="0" sz="3100" spc="-10">
                <a:latin typeface="Calibri"/>
                <a:cs typeface="Calibri"/>
              </a:rPr>
              <a:t>mathematically </a:t>
            </a:r>
            <a:r>
              <a:rPr dirty="0" sz="3100" spc="-20" b="1">
                <a:solidFill>
                  <a:srgbClr val="008000"/>
                </a:solidFill>
                <a:latin typeface="Calibri"/>
                <a:cs typeface="Calibri"/>
              </a:rPr>
              <a:t>formulate </a:t>
            </a:r>
            <a:r>
              <a:rPr dirty="0" sz="3100" spc="-5" b="1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3100" spc="-15" b="1">
                <a:solidFill>
                  <a:srgbClr val="008000"/>
                </a:solidFill>
                <a:latin typeface="Calibri"/>
                <a:cs typeface="Calibri"/>
              </a:rPr>
              <a:t>adversarial  </a:t>
            </a:r>
            <a:r>
              <a:rPr dirty="0" sz="3100" spc="-20" b="1">
                <a:solidFill>
                  <a:srgbClr val="008000"/>
                </a:solidFill>
                <a:latin typeface="Calibri"/>
                <a:cs typeface="Calibri"/>
              </a:rPr>
              <a:t>attack </a:t>
            </a:r>
            <a:r>
              <a:rPr dirty="0" sz="3100" spc="-5" b="1">
                <a:solidFill>
                  <a:srgbClr val="008000"/>
                </a:solidFill>
                <a:latin typeface="Calibri"/>
                <a:cs typeface="Calibri"/>
              </a:rPr>
              <a:t>as an </a:t>
            </a:r>
            <a:r>
              <a:rPr dirty="0" sz="3100" spc="-10" b="1">
                <a:solidFill>
                  <a:srgbClr val="008000"/>
                </a:solidFill>
                <a:latin typeface="Calibri"/>
                <a:cs typeface="Calibri"/>
              </a:rPr>
              <a:t>optimization</a:t>
            </a:r>
            <a:r>
              <a:rPr dirty="0" sz="3100" spc="-4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100" spc="-10" b="1">
                <a:solidFill>
                  <a:srgbClr val="008000"/>
                </a:solidFill>
                <a:latin typeface="Calibri"/>
                <a:cs typeface="Calibri"/>
              </a:rPr>
              <a:t>problem</a:t>
            </a:r>
            <a:r>
              <a:rPr dirty="0" sz="3100" spc="-10">
                <a:latin typeface="Calibri"/>
                <a:cs typeface="Calibri"/>
              </a:rPr>
              <a:t>.</a:t>
            </a:r>
            <a:endParaRPr sz="3100">
              <a:latin typeface="Calibri"/>
              <a:cs typeface="Calibri"/>
            </a:endParaRPr>
          </a:p>
          <a:p>
            <a:pPr marL="332740" indent="-320040">
              <a:lnSpc>
                <a:spcPts val="3080"/>
              </a:lnSpc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55">
                <a:latin typeface="Calibri"/>
                <a:cs typeface="Calibri"/>
              </a:rPr>
              <a:t>We </a:t>
            </a:r>
            <a:r>
              <a:rPr dirty="0" sz="3100" spc="-5">
                <a:latin typeface="Calibri"/>
                <a:cs typeface="Calibri"/>
              </a:rPr>
              <a:t>empirically </a:t>
            </a:r>
            <a:r>
              <a:rPr dirty="0" sz="3100" spc="-20">
                <a:latin typeface="Calibri"/>
                <a:cs typeface="Calibri"/>
              </a:rPr>
              <a:t>demonstrate </a:t>
            </a:r>
            <a:r>
              <a:rPr dirty="0" sz="3100" spc="-10">
                <a:latin typeface="Calibri"/>
                <a:cs typeface="Calibri"/>
              </a:rPr>
              <a:t>that </a:t>
            </a:r>
            <a:r>
              <a:rPr dirty="0" sz="3100" spc="-45">
                <a:latin typeface="Calibri"/>
                <a:cs typeface="Calibri"/>
              </a:rPr>
              <a:t>GCN’s</a:t>
            </a:r>
            <a:r>
              <a:rPr dirty="0" sz="3100" spc="1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prediction</a:t>
            </a:r>
            <a:endParaRPr sz="3100">
              <a:latin typeface="Calibri"/>
              <a:cs typeface="Calibri"/>
            </a:endParaRPr>
          </a:p>
          <a:p>
            <a:pPr marL="332740" marR="1005840">
              <a:lnSpc>
                <a:spcPts val="3310"/>
              </a:lnSpc>
              <a:spcBef>
                <a:spcPts val="284"/>
              </a:spcBef>
            </a:pPr>
            <a:r>
              <a:rPr dirty="0" sz="3100" spc="-10">
                <a:latin typeface="Calibri"/>
                <a:cs typeface="Calibri"/>
              </a:rPr>
              <a:t>performance can </a:t>
            </a:r>
            <a:r>
              <a:rPr dirty="0" sz="3100" spc="-5">
                <a:latin typeface="Calibri"/>
                <a:cs typeface="Calibri"/>
              </a:rPr>
              <a:t>be significantly harmed </a:t>
            </a:r>
            <a:r>
              <a:rPr dirty="0" sz="3100" spc="-10">
                <a:latin typeface="Calibri"/>
                <a:cs typeface="Calibri"/>
              </a:rPr>
              <a:t>by  </a:t>
            </a:r>
            <a:r>
              <a:rPr dirty="0" sz="3100" spc="-15">
                <a:latin typeface="Calibri"/>
                <a:cs typeface="Calibri"/>
              </a:rPr>
              <a:t>adversarial</a:t>
            </a:r>
            <a:r>
              <a:rPr dirty="0" sz="3100" spc="-65">
                <a:latin typeface="Calibri"/>
                <a:cs typeface="Calibri"/>
              </a:rPr>
              <a:t> </a:t>
            </a:r>
            <a:r>
              <a:rPr dirty="0" sz="3100" spc="-20">
                <a:latin typeface="Calibri"/>
                <a:cs typeface="Calibri"/>
              </a:rPr>
              <a:t>attacks.</a:t>
            </a:r>
            <a:endParaRPr sz="3100">
              <a:latin typeface="Calibri"/>
              <a:cs typeface="Calibri"/>
            </a:endParaRPr>
          </a:p>
          <a:p>
            <a:pPr marL="332740" marR="48260" indent="-320040">
              <a:lnSpc>
                <a:spcPts val="3310"/>
              </a:lnSpc>
              <a:spcBef>
                <a:spcPts val="75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5" b="1">
                <a:solidFill>
                  <a:srgbClr val="0000FF"/>
                </a:solidFill>
                <a:latin typeface="Calibri"/>
                <a:cs typeface="Calibri"/>
              </a:rPr>
              <a:t>GCN </a:t>
            </a:r>
            <a:r>
              <a:rPr dirty="0" sz="3100" b="1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dirty="0" sz="3100" b="1" i="1">
                <a:solidFill>
                  <a:srgbClr val="0000FF"/>
                </a:solidFill>
                <a:latin typeface="Calibri"/>
                <a:cs typeface="Calibri"/>
              </a:rPr>
              <a:t>not </a:t>
            </a:r>
            <a:r>
              <a:rPr dirty="0" sz="3100" spc="-15" b="1">
                <a:solidFill>
                  <a:srgbClr val="0000FF"/>
                </a:solidFill>
                <a:latin typeface="Calibri"/>
                <a:cs typeface="Calibri"/>
              </a:rPr>
              <a:t>robust </a:t>
            </a:r>
            <a:r>
              <a:rPr dirty="0" sz="3100" spc="-20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100" spc="-15" b="1">
                <a:solidFill>
                  <a:srgbClr val="0000FF"/>
                </a:solidFill>
                <a:latin typeface="Calibri"/>
                <a:cs typeface="Calibri"/>
              </a:rPr>
              <a:t>adversarial </a:t>
            </a:r>
            <a:r>
              <a:rPr dirty="0" sz="3100" spc="-25" b="1">
                <a:solidFill>
                  <a:srgbClr val="0000FF"/>
                </a:solidFill>
                <a:latin typeface="Calibri"/>
                <a:cs typeface="Calibri"/>
              </a:rPr>
              <a:t>attacks </a:t>
            </a:r>
            <a:r>
              <a:rPr dirty="0" sz="3100" spc="-5" b="1">
                <a:solidFill>
                  <a:srgbClr val="0000FF"/>
                </a:solidFill>
                <a:latin typeface="Calibri"/>
                <a:cs typeface="Calibri"/>
              </a:rPr>
              <a:t>but </a:t>
            </a:r>
            <a:r>
              <a:rPr dirty="0" sz="3100" b="1">
                <a:solidFill>
                  <a:srgbClr val="0000FF"/>
                </a:solidFill>
                <a:latin typeface="Calibri"/>
                <a:cs typeface="Calibri"/>
              </a:rPr>
              <a:t>it is  </a:t>
            </a:r>
            <a:r>
              <a:rPr dirty="0" sz="3100" spc="-10" b="1">
                <a:solidFill>
                  <a:srgbClr val="0000FF"/>
                </a:solidFill>
                <a:latin typeface="Calibri"/>
                <a:cs typeface="Calibri"/>
              </a:rPr>
              <a:t>somewhat </a:t>
            </a:r>
            <a:r>
              <a:rPr dirty="0" sz="3100" spc="-15" b="1">
                <a:solidFill>
                  <a:srgbClr val="0000FF"/>
                </a:solidFill>
                <a:latin typeface="Calibri"/>
                <a:cs typeface="Calibri"/>
              </a:rPr>
              <a:t>robust </a:t>
            </a:r>
            <a:r>
              <a:rPr dirty="0" sz="3100" spc="-20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100" spc="-10" b="1">
                <a:solidFill>
                  <a:srgbClr val="0000FF"/>
                </a:solidFill>
                <a:latin typeface="Calibri"/>
                <a:cs typeface="Calibri"/>
              </a:rPr>
              <a:t>indirect </a:t>
            </a:r>
            <a:r>
              <a:rPr dirty="0" sz="3100" spc="-25" b="1">
                <a:solidFill>
                  <a:srgbClr val="0000FF"/>
                </a:solidFill>
                <a:latin typeface="Calibri"/>
                <a:cs typeface="Calibri"/>
              </a:rPr>
              <a:t>attacks </a:t>
            </a:r>
            <a:r>
              <a:rPr dirty="0" sz="3100" spc="-5" b="1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dirty="0" sz="3100" spc="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100" spc="-20" b="1">
                <a:solidFill>
                  <a:srgbClr val="0000FF"/>
                </a:solidFill>
                <a:latin typeface="Calibri"/>
                <a:cs typeface="Calibri"/>
              </a:rPr>
              <a:t>random</a:t>
            </a:r>
            <a:endParaRPr sz="3100">
              <a:latin typeface="Calibri"/>
              <a:cs typeface="Calibri"/>
            </a:endParaRPr>
          </a:p>
          <a:p>
            <a:pPr marL="332740">
              <a:lnSpc>
                <a:spcPts val="3365"/>
              </a:lnSpc>
            </a:pPr>
            <a:r>
              <a:rPr dirty="0" sz="3100" spc="-5" b="1">
                <a:solidFill>
                  <a:srgbClr val="0000FF"/>
                </a:solidFill>
                <a:latin typeface="Calibri"/>
                <a:cs typeface="Calibri"/>
              </a:rPr>
              <a:t>noise.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2026-10-21T00:01:01Z</dcterms:created>
  <dcterms:modified xsi:type="dcterms:W3CDTF">2026-10-21T00:01:01Z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2021-03-04T00:00:00Z</vt:filetime>
  </property>
  <property fmtid="{D5CDD505-2E9C-101B-9397-08002B2CF9AE}" pid="3" name="LastSaved">
    <vt:filetime>2026-10-20T00:00:00Z</vt:filetime>
  </property>
</Properties>
</file>