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8108" y="1348740"/>
            <a:ext cx="7907782" cy="1973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8108" y="1348740"/>
            <a:ext cx="7967980" cy="1973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54227" y="6699893"/>
            <a:ext cx="40068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673615" y="6699893"/>
            <a:ext cx="402780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5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20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60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jpg"/><Relationship Id="rId3" Type="http://schemas.openxmlformats.org/officeDocument/2006/relationships/image" Target="../media/image62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68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6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7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3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98.jp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9.png"/><Relationship Id="rId3" Type="http://schemas.openxmlformats.org/officeDocument/2006/relationships/image" Target="../media/image100.pn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2.pn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3.png"/><Relationship Id="rId3" Type="http://schemas.openxmlformats.org/officeDocument/2006/relationships/image" Target="../media/image104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png"/><Relationship Id="rId3" Type="http://schemas.openxmlformats.org/officeDocument/2006/relationships/image" Target="../media/image106.pn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.png"/><Relationship Id="rId3" Type="http://schemas.openxmlformats.org/officeDocument/2006/relationships/image" Target="../media/image108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Relationship Id="rId6" Type="http://schemas.openxmlformats.org/officeDocument/2006/relationships/image" Target="../media/image111.png"/><Relationship Id="rId7" Type="http://schemas.openxmlformats.org/officeDocument/2006/relationships/image" Target="../media/image112.png"/><Relationship Id="rId8" Type="http://schemas.openxmlformats.org/officeDocument/2006/relationships/image" Target="../media/image113.png"/><Relationship Id="rId9" Type="http://schemas.openxmlformats.org/officeDocument/2006/relationships/image" Target="../media/image114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5.pn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6.pn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7.png"/><Relationship Id="rId3" Type="http://schemas.openxmlformats.org/officeDocument/2006/relationships/image" Target="../media/image118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jp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Relationship Id="rId4" Type="http://schemas.openxmlformats.org/officeDocument/2006/relationships/image" Target="../media/image136.png"/><Relationship Id="rId5" Type="http://schemas.openxmlformats.org/officeDocument/2006/relationships/image" Target="../media/image137.jpg"/><Relationship Id="rId6" Type="http://schemas.openxmlformats.org/officeDocument/2006/relationships/image" Target="../media/image138.png"/><Relationship Id="rId7" Type="http://schemas.openxmlformats.org/officeDocument/2006/relationships/image" Target="../media/image139.png"/><Relationship Id="rId8" Type="http://schemas.openxmlformats.org/officeDocument/2006/relationships/image" Target="../media/image140.png"/><Relationship Id="rId9" Type="http://schemas.openxmlformats.org/officeDocument/2006/relationships/image" Target="../media/image141.png"/><Relationship Id="rId10" Type="http://schemas.openxmlformats.org/officeDocument/2006/relationships/image" Target="../media/image142.png"/><Relationship Id="rId11" Type="http://schemas.openxmlformats.org/officeDocument/2006/relationships/image" Target="../media/image143.pn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4.png"/><Relationship Id="rId3" Type="http://schemas.openxmlformats.org/officeDocument/2006/relationships/image" Target="../media/image145.png"/><Relationship Id="rId4" Type="http://schemas.openxmlformats.org/officeDocument/2006/relationships/image" Target="../media/image146.pn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7.png"/><Relationship Id="rId3" Type="http://schemas.openxmlformats.org/officeDocument/2006/relationships/image" Target="../media/image148.jpg"/><Relationship Id="rId4" Type="http://schemas.openxmlformats.org/officeDocument/2006/relationships/image" Target="../media/image149.jp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0.png"/><Relationship Id="rId3" Type="http://schemas.openxmlformats.org/officeDocument/2006/relationships/image" Target="../media/image151.jpg"/><Relationship Id="rId4" Type="http://schemas.openxmlformats.org/officeDocument/2006/relationships/image" Target="../media/image152.jp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3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4672" y="2560320"/>
            <a:ext cx="6327648" cy="18867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67496" y="3273472"/>
            <a:ext cx="1228725" cy="469900"/>
          </a:xfrm>
          <a:custGeom>
            <a:avLst/>
            <a:gdLst/>
            <a:ahLst/>
            <a:cxnLst/>
            <a:rect l="l" t="t" r="r" b="b"/>
            <a:pathLst>
              <a:path w="1228725" h="469900">
                <a:moveTo>
                  <a:pt x="0" y="469393"/>
                </a:moveTo>
                <a:lnTo>
                  <a:pt x="122859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278657" y="3152222"/>
            <a:ext cx="1317625" cy="121285"/>
          </a:xfrm>
          <a:custGeom>
            <a:avLst/>
            <a:gdLst/>
            <a:ahLst/>
            <a:cxnLst/>
            <a:rect l="l" t="t" r="r" b="b"/>
            <a:pathLst>
              <a:path w="1317625" h="121285">
                <a:moveTo>
                  <a:pt x="0" y="0"/>
                </a:moveTo>
                <a:lnTo>
                  <a:pt x="1317430" y="12125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399140" y="2768338"/>
            <a:ext cx="1106805" cy="1057275"/>
          </a:xfrm>
          <a:custGeom>
            <a:avLst/>
            <a:gdLst/>
            <a:ahLst/>
            <a:cxnLst/>
            <a:rect l="l" t="t" r="r" b="b"/>
            <a:pathLst>
              <a:path w="1106804" h="1057275">
                <a:moveTo>
                  <a:pt x="0" y="1056998"/>
                </a:moveTo>
                <a:lnTo>
                  <a:pt x="1106213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78657" y="2756552"/>
            <a:ext cx="1263015" cy="396240"/>
          </a:xfrm>
          <a:custGeom>
            <a:avLst/>
            <a:gdLst/>
            <a:ahLst/>
            <a:cxnLst/>
            <a:rect l="l" t="t" r="r" b="b"/>
            <a:pathLst>
              <a:path w="1263015" h="396239">
                <a:moveTo>
                  <a:pt x="0" y="395670"/>
                </a:moveTo>
                <a:lnTo>
                  <a:pt x="1262768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399140" y="2506411"/>
            <a:ext cx="807720" cy="1319530"/>
          </a:xfrm>
          <a:custGeom>
            <a:avLst/>
            <a:gdLst/>
            <a:ahLst/>
            <a:cxnLst/>
            <a:rect l="l" t="t" r="r" b="b"/>
            <a:pathLst>
              <a:path w="807720" h="1319529">
                <a:moveTo>
                  <a:pt x="0" y="1318925"/>
                </a:moveTo>
                <a:lnTo>
                  <a:pt x="807546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10302" y="2506410"/>
            <a:ext cx="896619" cy="728345"/>
          </a:xfrm>
          <a:custGeom>
            <a:avLst/>
            <a:gdLst/>
            <a:ahLst/>
            <a:cxnLst/>
            <a:rect l="l" t="t" r="r" b="b"/>
            <a:pathLst>
              <a:path w="896620" h="728344">
                <a:moveTo>
                  <a:pt x="0" y="728281"/>
                </a:moveTo>
                <a:lnTo>
                  <a:pt x="896384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475538" y="2332727"/>
            <a:ext cx="307340" cy="1527175"/>
          </a:xfrm>
          <a:custGeom>
            <a:avLst/>
            <a:gdLst/>
            <a:ahLst/>
            <a:cxnLst/>
            <a:rect l="l" t="t" r="r" b="b"/>
            <a:pathLst>
              <a:path w="307339" h="1527175">
                <a:moveTo>
                  <a:pt x="307041" y="0"/>
                </a:moveTo>
                <a:lnTo>
                  <a:pt x="0" y="152676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10302" y="2332726"/>
            <a:ext cx="472440" cy="902335"/>
          </a:xfrm>
          <a:custGeom>
            <a:avLst/>
            <a:gdLst/>
            <a:ahLst/>
            <a:cxnLst/>
            <a:rect l="l" t="t" r="r" b="b"/>
            <a:pathLst>
              <a:path w="472439" h="902335">
                <a:moveTo>
                  <a:pt x="0" y="901965"/>
                </a:moveTo>
                <a:lnTo>
                  <a:pt x="472277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434869" y="2172987"/>
            <a:ext cx="117475" cy="1652905"/>
          </a:xfrm>
          <a:custGeom>
            <a:avLst/>
            <a:gdLst/>
            <a:ahLst/>
            <a:cxnLst/>
            <a:rect l="l" t="t" r="r" b="b"/>
            <a:pathLst>
              <a:path w="117475" h="1652904">
                <a:moveTo>
                  <a:pt x="117066" y="1652349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386701" y="2172986"/>
            <a:ext cx="48260" cy="1096010"/>
          </a:xfrm>
          <a:custGeom>
            <a:avLst/>
            <a:gdLst/>
            <a:ahLst/>
            <a:cxnLst/>
            <a:rect l="l" t="t" r="r" b="b"/>
            <a:pathLst>
              <a:path w="48260" h="1096010">
                <a:moveTo>
                  <a:pt x="0" y="1095865"/>
                </a:moveTo>
                <a:lnTo>
                  <a:pt x="4816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75538" y="3626235"/>
            <a:ext cx="180340" cy="1206500"/>
          </a:xfrm>
          <a:custGeom>
            <a:avLst/>
            <a:gdLst/>
            <a:ahLst/>
            <a:cxnLst/>
            <a:rect l="l" t="t" r="r" b="b"/>
            <a:pathLst>
              <a:path w="180339" h="1206500">
                <a:moveTo>
                  <a:pt x="180090" y="1206140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341684" y="3626235"/>
            <a:ext cx="133985" cy="843280"/>
          </a:xfrm>
          <a:custGeom>
            <a:avLst/>
            <a:gdLst/>
            <a:ahLst/>
            <a:cxnLst/>
            <a:rect l="l" t="t" r="r" b="b"/>
            <a:pathLst>
              <a:path w="133985" h="843279">
                <a:moveTo>
                  <a:pt x="0" y="842756"/>
                </a:moveTo>
                <a:lnTo>
                  <a:pt x="133854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22405" y="3626236"/>
            <a:ext cx="353695" cy="942975"/>
          </a:xfrm>
          <a:custGeom>
            <a:avLst/>
            <a:gdLst/>
            <a:ahLst/>
            <a:cxnLst/>
            <a:rect l="l" t="t" r="r" b="b"/>
            <a:pathLst>
              <a:path w="353695" h="942975">
                <a:moveTo>
                  <a:pt x="0" y="942703"/>
                </a:moveTo>
                <a:lnTo>
                  <a:pt x="353134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046007" y="3035591"/>
            <a:ext cx="340995" cy="1732914"/>
          </a:xfrm>
          <a:custGeom>
            <a:avLst/>
            <a:gdLst/>
            <a:ahLst/>
            <a:cxnLst/>
            <a:rect l="l" t="t" r="r" b="b"/>
            <a:pathLst>
              <a:path w="340995" h="1732914">
                <a:moveTo>
                  <a:pt x="0" y="1732447"/>
                </a:moveTo>
                <a:lnTo>
                  <a:pt x="340693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310302" y="3069752"/>
            <a:ext cx="993775" cy="1642745"/>
          </a:xfrm>
          <a:custGeom>
            <a:avLst/>
            <a:gdLst/>
            <a:ahLst/>
            <a:cxnLst/>
            <a:rect l="l" t="t" r="r" b="b"/>
            <a:pathLst>
              <a:path w="993775" h="1642745">
                <a:moveTo>
                  <a:pt x="993657" y="1642485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310302" y="3069751"/>
            <a:ext cx="1127760" cy="1163955"/>
          </a:xfrm>
          <a:custGeom>
            <a:avLst/>
            <a:gdLst/>
            <a:ahLst/>
            <a:cxnLst/>
            <a:rect l="l" t="t" r="r" b="b"/>
            <a:pathLst>
              <a:path w="1127760" h="1163954">
                <a:moveTo>
                  <a:pt x="1127170" y="1163892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399140" y="3660396"/>
            <a:ext cx="904875" cy="1052195"/>
          </a:xfrm>
          <a:custGeom>
            <a:avLst/>
            <a:gdLst/>
            <a:ahLst/>
            <a:cxnLst/>
            <a:rect l="l" t="t" r="r" b="b"/>
            <a:pathLst>
              <a:path w="904875" h="1052195">
                <a:moveTo>
                  <a:pt x="904819" y="1051841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227562" y="4068702"/>
            <a:ext cx="210185" cy="678180"/>
          </a:xfrm>
          <a:custGeom>
            <a:avLst/>
            <a:gdLst/>
            <a:ahLst/>
            <a:cxnLst/>
            <a:rect l="l" t="t" r="r" b="b"/>
            <a:pathLst>
              <a:path w="210185" h="678179">
                <a:moveTo>
                  <a:pt x="209909" y="0"/>
                </a:moveTo>
                <a:lnTo>
                  <a:pt x="0" y="677694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284676" y="3691038"/>
            <a:ext cx="890905" cy="542925"/>
          </a:xfrm>
          <a:custGeom>
            <a:avLst/>
            <a:gdLst/>
            <a:ahLst/>
            <a:cxnLst/>
            <a:rect l="l" t="t" r="r" b="b"/>
            <a:pathLst>
              <a:path w="890904" h="542925">
                <a:moveTo>
                  <a:pt x="0" y="542604"/>
                </a:moveTo>
                <a:lnTo>
                  <a:pt x="890283" y="0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399140" y="3660395"/>
            <a:ext cx="1038860" cy="573405"/>
          </a:xfrm>
          <a:custGeom>
            <a:avLst/>
            <a:gdLst/>
            <a:ahLst/>
            <a:cxnLst/>
            <a:rect l="l" t="t" r="r" b="b"/>
            <a:pathLst>
              <a:path w="1038860" h="573404">
                <a:moveTo>
                  <a:pt x="1038331" y="573247"/>
                </a:moveTo>
                <a:lnTo>
                  <a:pt x="0" y="0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192530" y="4047510"/>
            <a:ext cx="1930400" cy="686435"/>
          </a:xfrm>
          <a:custGeom>
            <a:avLst/>
            <a:gdLst/>
            <a:ahLst/>
            <a:cxnLst/>
            <a:rect l="l" t="t" r="r" b="b"/>
            <a:pathLst>
              <a:path w="1930400" h="686435">
                <a:moveTo>
                  <a:pt x="1929875" y="686369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830436" y="4715746"/>
            <a:ext cx="1933575" cy="267970"/>
          </a:xfrm>
          <a:custGeom>
            <a:avLst/>
            <a:gdLst/>
            <a:ahLst/>
            <a:cxnLst/>
            <a:rect l="l" t="t" r="r" b="b"/>
            <a:pathLst>
              <a:path w="1933575" h="267970">
                <a:moveTo>
                  <a:pt x="1933234" y="0"/>
                </a:moveTo>
                <a:lnTo>
                  <a:pt x="0" y="267576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830436" y="4269892"/>
            <a:ext cx="1588135" cy="713740"/>
          </a:xfrm>
          <a:custGeom>
            <a:avLst/>
            <a:gdLst/>
            <a:ahLst/>
            <a:cxnLst/>
            <a:rect l="l" t="t" r="r" b="b"/>
            <a:pathLst>
              <a:path w="1588135" h="713739">
                <a:moveTo>
                  <a:pt x="1587645" y="0"/>
                </a:moveTo>
                <a:lnTo>
                  <a:pt x="0" y="71343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830436" y="3910838"/>
            <a:ext cx="1284605" cy="1072515"/>
          </a:xfrm>
          <a:custGeom>
            <a:avLst/>
            <a:gdLst/>
            <a:ahLst/>
            <a:cxnLst/>
            <a:rect l="l" t="t" r="r" b="b"/>
            <a:pathLst>
              <a:path w="1284604" h="1072514">
                <a:moveTo>
                  <a:pt x="1284562" y="0"/>
                </a:moveTo>
                <a:lnTo>
                  <a:pt x="0" y="1072484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830437" y="3069751"/>
            <a:ext cx="1633220" cy="1913889"/>
          </a:xfrm>
          <a:custGeom>
            <a:avLst/>
            <a:gdLst/>
            <a:ahLst/>
            <a:cxnLst/>
            <a:rect l="l" t="t" r="r" b="b"/>
            <a:pathLst>
              <a:path w="1633220" h="1913889">
                <a:moveTo>
                  <a:pt x="1632661" y="0"/>
                </a:moveTo>
                <a:lnTo>
                  <a:pt x="0" y="191357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224175" y="4722103"/>
            <a:ext cx="803910" cy="209550"/>
          </a:xfrm>
          <a:custGeom>
            <a:avLst/>
            <a:gdLst/>
            <a:ahLst/>
            <a:cxnLst/>
            <a:rect l="l" t="t" r="r" b="b"/>
            <a:pathLst>
              <a:path w="803910" h="209550">
                <a:moveTo>
                  <a:pt x="803816" y="209366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173602" y="3643987"/>
            <a:ext cx="1410335" cy="99060"/>
          </a:xfrm>
          <a:custGeom>
            <a:avLst/>
            <a:gdLst/>
            <a:ahLst/>
            <a:cxnLst/>
            <a:rect l="l" t="t" r="r" b="b"/>
            <a:pathLst>
              <a:path w="1410335" h="99060">
                <a:moveTo>
                  <a:pt x="1409978" y="98878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772141" y="3643988"/>
            <a:ext cx="1617980" cy="246379"/>
          </a:xfrm>
          <a:custGeom>
            <a:avLst/>
            <a:gdLst/>
            <a:ahLst/>
            <a:cxnLst/>
            <a:rect l="l" t="t" r="r" b="b"/>
            <a:pathLst>
              <a:path w="1617979" h="246379">
                <a:moveTo>
                  <a:pt x="1617546" y="0"/>
                </a:moveTo>
                <a:lnTo>
                  <a:pt x="0" y="24615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906834" y="3527357"/>
            <a:ext cx="375285" cy="1490345"/>
          </a:xfrm>
          <a:custGeom>
            <a:avLst/>
            <a:gdLst/>
            <a:ahLst/>
            <a:cxnLst/>
            <a:rect l="l" t="t" r="r" b="b"/>
            <a:pathLst>
              <a:path w="375285" h="1490345">
                <a:moveTo>
                  <a:pt x="0" y="1490124"/>
                </a:moveTo>
                <a:lnTo>
                  <a:pt x="37481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817996" y="3790123"/>
            <a:ext cx="88900" cy="1227455"/>
          </a:xfrm>
          <a:custGeom>
            <a:avLst/>
            <a:gdLst/>
            <a:ahLst/>
            <a:cxnLst/>
            <a:rect l="l" t="t" r="r" b="b"/>
            <a:pathLst>
              <a:path w="88900" h="1227454">
                <a:moveTo>
                  <a:pt x="0" y="0"/>
                </a:moveTo>
                <a:lnTo>
                  <a:pt x="88839" y="122735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332217" y="3790123"/>
            <a:ext cx="486409" cy="1049020"/>
          </a:xfrm>
          <a:custGeom>
            <a:avLst/>
            <a:gdLst/>
            <a:ahLst/>
            <a:cxnLst/>
            <a:rect l="l" t="t" r="r" b="b"/>
            <a:pathLst>
              <a:path w="486410" h="1049020">
                <a:moveTo>
                  <a:pt x="485778" y="0"/>
                </a:moveTo>
                <a:lnTo>
                  <a:pt x="0" y="104861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709952" y="3742865"/>
            <a:ext cx="1873885" cy="164465"/>
          </a:xfrm>
          <a:custGeom>
            <a:avLst/>
            <a:gdLst/>
            <a:ahLst/>
            <a:cxnLst/>
            <a:rect l="l" t="t" r="r" b="b"/>
            <a:pathLst>
              <a:path w="1873885" h="164464">
                <a:moveTo>
                  <a:pt x="1873628" y="0"/>
                </a:moveTo>
                <a:lnTo>
                  <a:pt x="0" y="16388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772141" y="3890139"/>
            <a:ext cx="1154430" cy="17145"/>
          </a:xfrm>
          <a:custGeom>
            <a:avLst/>
            <a:gdLst/>
            <a:ahLst/>
            <a:cxnLst/>
            <a:rect l="l" t="t" r="r" b="b"/>
            <a:pathLst>
              <a:path w="1154429" h="17145">
                <a:moveTo>
                  <a:pt x="1153896" y="16614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551752" y="3060440"/>
            <a:ext cx="1157605" cy="782320"/>
          </a:xfrm>
          <a:custGeom>
            <a:avLst/>
            <a:gdLst/>
            <a:ahLst/>
            <a:cxnLst/>
            <a:rect l="l" t="t" r="r" b="b"/>
            <a:pathLst>
              <a:path w="1157604" h="782320">
                <a:moveTo>
                  <a:pt x="1157069" y="781975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205247" y="3069751"/>
            <a:ext cx="1257935" cy="657225"/>
          </a:xfrm>
          <a:custGeom>
            <a:avLst/>
            <a:gdLst/>
            <a:ahLst/>
            <a:cxnLst/>
            <a:rect l="l" t="t" r="r" b="b"/>
            <a:pathLst>
              <a:path w="1257935" h="657225">
                <a:moveTo>
                  <a:pt x="1257850" y="0"/>
                </a:moveTo>
                <a:lnTo>
                  <a:pt x="0" y="656706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398957" y="2895500"/>
            <a:ext cx="1064260" cy="339725"/>
          </a:xfrm>
          <a:custGeom>
            <a:avLst/>
            <a:gdLst/>
            <a:ahLst/>
            <a:cxnLst/>
            <a:rect l="l" t="t" r="r" b="b"/>
            <a:pathLst>
              <a:path w="1064260" h="339725">
                <a:moveTo>
                  <a:pt x="1064141" y="339191"/>
                </a:moveTo>
                <a:lnTo>
                  <a:pt x="0" y="0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281646" y="2861341"/>
            <a:ext cx="194310" cy="899794"/>
          </a:xfrm>
          <a:custGeom>
            <a:avLst/>
            <a:gdLst/>
            <a:ahLst/>
            <a:cxnLst/>
            <a:rect l="l" t="t" r="r" b="b"/>
            <a:pathLst>
              <a:path w="194310" h="899795">
                <a:moveTo>
                  <a:pt x="0" y="899277"/>
                </a:moveTo>
                <a:lnTo>
                  <a:pt x="193709" y="0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452964" y="2895500"/>
            <a:ext cx="1099185" cy="694055"/>
          </a:xfrm>
          <a:custGeom>
            <a:avLst/>
            <a:gdLst/>
            <a:ahLst/>
            <a:cxnLst/>
            <a:rect l="l" t="t" r="r" b="b"/>
            <a:pathLst>
              <a:path w="1099185" h="694054">
                <a:moveTo>
                  <a:pt x="0" y="694045"/>
                </a:moveTo>
                <a:lnTo>
                  <a:pt x="1098787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452964" y="3424605"/>
            <a:ext cx="467359" cy="570230"/>
          </a:xfrm>
          <a:custGeom>
            <a:avLst/>
            <a:gdLst/>
            <a:ahLst/>
            <a:cxnLst/>
            <a:rect l="l" t="t" r="r" b="b"/>
            <a:pathLst>
              <a:path w="467360" h="570229">
                <a:moveTo>
                  <a:pt x="0" y="0"/>
                </a:moveTo>
                <a:lnTo>
                  <a:pt x="466982" y="569634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529362" y="3390446"/>
            <a:ext cx="403860" cy="1644650"/>
          </a:xfrm>
          <a:custGeom>
            <a:avLst/>
            <a:gdLst/>
            <a:ahLst/>
            <a:cxnLst/>
            <a:rect l="l" t="t" r="r" b="b"/>
            <a:pathLst>
              <a:path w="403860" h="1644650">
                <a:moveTo>
                  <a:pt x="0" y="0"/>
                </a:moveTo>
                <a:lnTo>
                  <a:pt x="403290" y="1644056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408615" y="3390446"/>
            <a:ext cx="121285" cy="1249680"/>
          </a:xfrm>
          <a:custGeom>
            <a:avLst/>
            <a:gdLst/>
            <a:ahLst/>
            <a:cxnLst/>
            <a:rect l="l" t="t" r="r" b="b"/>
            <a:pathLst>
              <a:path w="121285" h="1249679">
                <a:moveTo>
                  <a:pt x="120748" y="0"/>
                </a:moveTo>
                <a:lnTo>
                  <a:pt x="0" y="1249188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283991" y="3390446"/>
            <a:ext cx="245745" cy="780415"/>
          </a:xfrm>
          <a:custGeom>
            <a:avLst/>
            <a:gdLst/>
            <a:ahLst/>
            <a:cxnLst/>
            <a:rect l="l" t="t" r="r" b="b"/>
            <a:pathLst>
              <a:path w="245745" h="780414">
                <a:moveTo>
                  <a:pt x="245372" y="0"/>
                </a:moveTo>
                <a:lnTo>
                  <a:pt x="0" y="77997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996344" y="2904200"/>
            <a:ext cx="1555750" cy="921385"/>
          </a:xfrm>
          <a:custGeom>
            <a:avLst/>
            <a:gdLst/>
            <a:ahLst/>
            <a:cxnLst/>
            <a:rect l="l" t="t" r="r" b="b"/>
            <a:pathLst>
              <a:path w="1555750" h="921385">
                <a:moveTo>
                  <a:pt x="0" y="0"/>
                </a:moveTo>
                <a:lnTo>
                  <a:pt x="1555591" y="921136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605759" y="2705100"/>
            <a:ext cx="314325" cy="720090"/>
          </a:xfrm>
          <a:custGeom>
            <a:avLst/>
            <a:gdLst/>
            <a:ahLst/>
            <a:cxnLst/>
            <a:rect l="l" t="t" r="r" b="b"/>
            <a:pathLst>
              <a:path w="314325" h="720089">
                <a:moveTo>
                  <a:pt x="314188" y="0"/>
                </a:moveTo>
                <a:lnTo>
                  <a:pt x="0" y="719506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803786" y="2705100"/>
            <a:ext cx="1116330" cy="1268095"/>
          </a:xfrm>
          <a:custGeom>
            <a:avLst/>
            <a:gdLst/>
            <a:ahLst/>
            <a:cxnLst/>
            <a:rect l="l" t="t" r="r" b="b"/>
            <a:pathLst>
              <a:path w="1116329" h="1268095">
                <a:moveTo>
                  <a:pt x="1116161" y="0"/>
                </a:moveTo>
                <a:lnTo>
                  <a:pt x="0" y="126750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602755" y="2873181"/>
            <a:ext cx="1003300" cy="716915"/>
          </a:xfrm>
          <a:custGeom>
            <a:avLst/>
            <a:gdLst/>
            <a:ahLst/>
            <a:cxnLst/>
            <a:rect l="l" t="t" r="r" b="b"/>
            <a:pathLst>
              <a:path w="1003300" h="716914">
                <a:moveTo>
                  <a:pt x="1003004" y="716364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679153" y="2839021"/>
            <a:ext cx="201295" cy="1167765"/>
          </a:xfrm>
          <a:custGeom>
            <a:avLst/>
            <a:gdLst/>
            <a:ahLst/>
            <a:cxnLst/>
            <a:rect l="l" t="t" r="r" b="b"/>
            <a:pathLst>
              <a:path w="201294" h="1167764">
                <a:moveTo>
                  <a:pt x="0" y="0"/>
                </a:moveTo>
                <a:lnTo>
                  <a:pt x="201031" y="116774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803786" y="3424605"/>
            <a:ext cx="802005" cy="548005"/>
          </a:xfrm>
          <a:custGeom>
            <a:avLst/>
            <a:gdLst/>
            <a:ahLst/>
            <a:cxnLst/>
            <a:rect l="l" t="t" r="r" b="b"/>
            <a:pathLst>
              <a:path w="802004" h="548004">
                <a:moveTo>
                  <a:pt x="801973" y="0"/>
                </a:moveTo>
                <a:lnTo>
                  <a:pt x="0" y="54800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308399" y="3189042"/>
            <a:ext cx="648335" cy="783590"/>
          </a:xfrm>
          <a:custGeom>
            <a:avLst/>
            <a:gdLst/>
            <a:ahLst/>
            <a:cxnLst/>
            <a:rect l="l" t="t" r="r" b="b"/>
            <a:pathLst>
              <a:path w="648335" h="783589">
                <a:moveTo>
                  <a:pt x="648182" y="783566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276754" y="3271512"/>
            <a:ext cx="1360805" cy="235585"/>
          </a:xfrm>
          <a:custGeom>
            <a:avLst/>
            <a:gdLst/>
            <a:ahLst/>
            <a:cxnLst/>
            <a:rect l="l" t="t" r="r" b="b"/>
            <a:pathLst>
              <a:path w="1360804" h="235585">
                <a:moveTo>
                  <a:pt x="1360650" y="235563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376969" y="4129980"/>
            <a:ext cx="606425" cy="853440"/>
          </a:xfrm>
          <a:custGeom>
            <a:avLst/>
            <a:gdLst/>
            <a:ahLst/>
            <a:cxnLst/>
            <a:rect l="l" t="t" r="r" b="b"/>
            <a:pathLst>
              <a:path w="606425" h="853439">
                <a:moveTo>
                  <a:pt x="0" y="0"/>
                </a:moveTo>
                <a:lnTo>
                  <a:pt x="606262" y="853342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591360" y="3807668"/>
            <a:ext cx="365760" cy="767080"/>
          </a:xfrm>
          <a:custGeom>
            <a:avLst/>
            <a:gdLst/>
            <a:ahLst/>
            <a:cxnLst/>
            <a:rect l="l" t="t" r="r" b="b"/>
            <a:pathLst>
              <a:path w="365760" h="767079">
                <a:moveTo>
                  <a:pt x="365221" y="0"/>
                </a:moveTo>
                <a:lnTo>
                  <a:pt x="0" y="766515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515012" y="3890139"/>
            <a:ext cx="1473835" cy="419100"/>
          </a:xfrm>
          <a:custGeom>
            <a:avLst/>
            <a:gdLst/>
            <a:ahLst/>
            <a:cxnLst/>
            <a:rect l="l" t="t" r="r" b="b"/>
            <a:pathLst>
              <a:path w="1473835" h="419100">
                <a:moveTo>
                  <a:pt x="1473215" y="0"/>
                </a:moveTo>
                <a:lnTo>
                  <a:pt x="0" y="41890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274358" y="3720048"/>
            <a:ext cx="1714500" cy="170180"/>
          </a:xfrm>
          <a:custGeom>
            <a:avLst/>
            <a:gdLst/>
            <a:ahLst/>
            <a:cxnLst/>
            <a:rect l="l" t="t" r="r" b="b"/>
            <a:pathLst>
              <a:path w="1714500" h="170179">
                <a:moveTo>
                  <a:pt x="1713869" y="170091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73023" y="347472"/>
            <a:ext cx="260604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>
            <a:spLocks noGrp="1"/>
          </p:cNvSpPr>
          <p:nvPr>
            <p:ph type="title"/>
          </p:nvPr>
        </p:nvSpPr>
        <p:spPr>
          <a:xfrm>
            <a:off x="618108" y="1330452"/>
            <a:ext cx="634428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 b="1">
                <a:solidFill>
                  <a:srgbClr val="C00000"/>
                </a:solidFill>
                <a:latin typeface="Calibri"/>
                <a:cs typeface="Calibri"/>
              </a:rPr>
              <a:t>Subgraphs </a:t>
            </a:r>
            <a:r>
              <a:rPr dirty="0" spc="-20"/>
              <a:t>are </a:t>
            </a:r>
            <a:r>
              <a:rPr dirty="0"/>
              <a:t>the building </a:t>
            </a:r>
            <a:r>
              <a:rPr dirty="0" spc="-10"/>
              <a:t>blocks </a:t>
            </a:r>
            <a:r>
              <a:rPr dirty="0"/>
              <a:t>of  </a:t>
            </a:r>
            <a:r>
              <a:rPr dirty="0" spc="-15"/>
              <a:t>networks: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618108" y="5228844"/>
            <a:ext cx="7095490" cy="1007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latin typeface="Calibri"/>
                <a:cs typeface="Calibri"/>
              </a:rPr>
              <a:t>They </a:t>
            </a:r>
            <a:r>
              <a:rPr dirty="0" sz="3200" spc="-20">
                <a:latin typeface="Calibri"/>
                <a:cs typeface="Calibri"/>
              </a:rPr>
              <a:t>have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power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characterize</a:t>
            </a:r>
            <a:r>
              <a:rPr dirty="0" sz="3200" spc="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45"/>
              </a:spcBef>
            </a:pP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discriminate</a:t>
            </a:r>
            <a:r>
              <a:rPr dirty="0" sz="32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networks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203371" y="1450414"/>
            <a:ext cx="1380352" cy="13439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200604" y="1446737"/>
            <a:ext cx="1388110" cy="1351915"/>
          </a:xfrm>
          <a:custGeom>
            <a:avLst/>
            <a:gdLst/>
            <a:ahLst/>
            <a:cxnLst/>
            <a:rect l="l" t="t" r="r" b="b"/>
            <a:pathLst>
              <a:path w="1388109" h="1351914">
                <a:moveTo>
                  <a:pt x="0" y="1351340"/>
                </a:moveTo>
                <a:lnTo>
                  <a:pt x="1387728" y="1351340"/>
                </a:lnTo>
                <a:lnTo>
                  <a:pt x="1387728" y="0"/>
                </a:lnTo>
                <a:lnTo>
                  <a:pt x="0" y="0"/>
                </a:lnTo>
                <a:lnTo>
                  <a:pt x="0" y="1351340"/>
                </a:lnTo>
                <a:close/>
              </a:path>
            </a:pathLst>
          </a:custGeom>
          <a:ln w="6774">
            <a:solidFill>
              <a:srgbClr val="17347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058273" y="3603418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4" h="233679">
                <a:moveTo>
                  <a:pt x="108042" y="0"/>
                </a:moveTo>
                <a:lnTo>
                  <a:pt x="65987" y="9165"/>
                </a:lnTo>
                <a:lnTo>
                  <a:pt x="31644" y="34160"/>
                </a:lnTo>
                <a:lnTo>
                  <a:pt x="8490" y="71232"/>
                </a:lnTo>
                <a:lnTo>
                  <a:pt x="0" y="116630"/>
                </a:lnTo>
                <a:lnTo>
                  <a:pt x="8490" y="162027"/>
                </a:lnTo>
                <a:lnTo>
                  <a:pt x="31644" y="199099"/>
                </a:lnTo>
                <a:lnTo>
                  <a:pt x="65987" y="224094"/>
                </a:lnTo>
                <a:lnTo>
                  <a:pt x="108042" y="233259"/>
                </a:lnTo>
                <a:lnTo>
                  <a:pt x="150097" y="224094"/>
                </a:lnTo>
                <a:lnTo>
                  <a:pt x="184439" y="199099"/>
                </a:lnTo>
                <a:lnTo>
                  <a:pt x="207593" y="162027"/>
                </a:lnTo>
                <a:lnTo>
                  <a:pt x="216084" y="116630"/>
                </a:lnTo>
                <a:lnTo>
                  <a:pt x="207593" y="71232"/>
                </a:lnTo>
                <a:lnTo>
                  <a:pt x="184439" y="34160"/>
                </a:lnTo>
                <a:lnTo>
                  <a:pt x="150097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FFF0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058273" y="3603418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4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298926" y="4192408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4" h="233679">
                <a:moveTo>
                  <a:pt x="108042" y="0"/>
                </a:moveTo>
                <a:lnTo>
                  <a:pt x="65987" y="9165"/>
                </a:lnTo>
                <a:lnTo>
                  <a:pt x="31645" y="34160"/>
                </a:lnTo>
                <a:lnTo>
                  <a:pt x="8490" y="71232"/>
                </a:lnTo>
                <a:lnTo>
                  <a:pt x="0" y="116630"/>
                </a:lnTo>
                <a:lnTo>
                  <a:pt x="8490" y="162028"/>
                </a:lnTo>
                <a:lnTo>
                  <a:pt x="31645" y="199100"/>
                </a:lnTo>
                <a:lnTo>
                  <a:pt x="65987" y="224095"/>
                </a:lnTo>
                <a:lnTo>
                  <a:pt x="108042" y="233260"/>
                </a:lnTo>
                <a:lnTo>
                  <a:pt x="150097" y="224095"/>
                </a:lnTo>
                <a:lnTo>
                  <a:pt x="184440" y="199100"/>
                </a:lnTo>
                <a:lnTo>
                  <a:pt x="207594" y="162028"/>
                </a:lnTo>
                <a:lnTo>
                  <a:pt x="216085" y="116630"/>
                </a:lnTo>
                <a:lnTo>
                  <a:pt x="207594" y="71232"/>
                </a:lnTo>
                <a:lnTo>
                  <a:pt x="184440" y="34160"/>
                </a:lnTo>
                <a:lnTo>
                  <a:pt x="150097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FFF0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298926" y="4192408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4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735097" y="4109938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4" h="233679">
                <a:moveTo>
                  <a:pt x="108042" y="0"/>
                </a:moveTo>
                <a:lnTo>
                  <a:pt x="65987" y="9165"/>
                </a:lnTo>
                <a:lnTo>
                  <a:pt x="31644" y="34159"/>
                </a:lnTo>
                <a:lnTo>
                  <a:pt x="8490" y="71231"/>
                </a:lnTo>
                <a:lnTo>
                  <a:pt x="0" y="116629"/>
                </a:lnTo>
                <a:lnTo>
                  <a:pt x="8490" y="162026"/>
                </a:lnTo>
                <a:lnTo>
                  <a:pt x="31644" y="199099"/>
                </a:lnTo>
                <a:lnTo>
                  <a:pt x="65987" y="224094"/>
                </a:lnTo>
                <a:lnTo>
                  <a:pt x="108042" y="233259"/>
                </a:lnTo>
                <a:lnTo>
                  <a:pt x="150097" y="224094"/>
                </a:lnTo>
                <a:lnTo>
                  <a:pt x="184440" y="199099"/>
                </a:lnTo>
                <a:lnTo>
                  <a:pt x="207594" y="162026"/>
                </a:lnTo>
                <a:lnTo>
                  <a:pt x="216085" y="116629"/>
                </a:lnTo>
                <a:lnTo>
                  <a:pt x="207594" y="71231"/>
                </a:lnTo>
                <a:lnTo>
                  <a:pt x="184440" y="34159"/>
                </a:lnTo>
                <a:lnTo>
                  <a:pt x="150097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FFF0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35097" y="4109938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4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242713" y="3802517"/>
            <a:ext cx="88265" cy="424180"/>
          </a:xfrm>
          <a:custGeom>
            <a:avLst/>
            <a:gdLst/>
            <a:ahLst/>
            <a:cxnLst/>
            <a:rect l="l" t="t" r="r" b="b"/>
            <a:pathLst>
              <a:path w="88265" h="424179">
                <a:moveTo>
                  <a:pt x="0" y="0"/>
                </a:moveTo>
                <a:lnTo>
                  <a:pt x="87858" y="424052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843140" y="3802518"/>
            <a:ext cx="247015" cy="307975"/>
          </a:xfrm>
          <a:custGeom>
            <a:avLst/>
            <a:gdLst/>
            <a:ahLst/>
            <a:cxnLst/>
            <a:rect l="l" t="t" r="r" b="b"/>
            <a:pathLst>
              <a:path w="247015" h="307975">
                <a:moveTo>
                  <a:pt x="246778" y="0"/>
                </a:moveTo>
                <a:lnTo>
                  <a:pt x="0" y="307420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951182" y="4226567"/>
            <a:ext cx="347980" cy="82550"/>
          </a:xfrm>
          <a:custGeom>
            <a:avLst/>
            <a:gdLst/>
            <a:ahLst/>
            <a:cxnLst/>
            <a:rect l="l" t="t" r="r" b="b"/>
            <a:pathLst>
              <a:path w="347980" h="82550">
                <a:moveTo>
                  <a:pt x="0" y="0"/>
                </a:moveTo>
                <a:lnTo>
                  <a:pt x="347744" y="82471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574774" y="3364596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108042" y="0"/>
                </a:moveTo>
                <a:lnTo>
                  <a:pt x="65987" y="9165"/>
                </a:lnTo>
                <a:lnTo>
                  <a:pt x="31645" y="34160"/>
                </a:lnTo>
                <a:lnTo>
                  <a:pt x="8490" y="71232"/>
                </a:lnTo>
                <a:lnTo>
                  <a:pt x="0" y="116629"/>
                </a:lnTo>
                <a:lnTo>
                  <a:pt x="8490" y="162026"/>
                </a:lnTo>
                <a:lnTo>
                  <a:pt x="31645" y="199099"/>
                </a:lnTo>
                <a:lnTo>
                  <a:pt x="65987" y="224094"/>
                </a:lnTo>
                <a:lnTo>
                  <a:pt x="108042" y="233259"/>
                </a:lnTo>
                <a:lnTo>
                  <a:pt x="150098" y="224094"/>
                </a:lnTo>
                <a:lnTo>
                  <a:pt x="184440" y="199099"/>
                </a:lnTo>
                <a:lnTo>
                  <a:pt x="207594" y="162026"/>
                </a:lnTo>
                <a:lnTo>
                  <a:pt x="216085" y="116629"/>
                </a:lnTo>
                <a:lnTo>
                  <a:pt x="207594" y="71232"/>
                </a:lnTo>
                <a:lnTo>
                  <a:pt x="184440" y="34160"/>
                </a:lnTo>
                <a:lnTo>
                  <a:pt x="150098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6868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574774" y="3364596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682817" y="3804141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108041" y="0"/>
                </a:moveTo>
                <a:lnTo>
                  <a:pt x="65986" y="9165"/>
                </a:lnTo>
                <a:lnTo>
                  <a:pt x="31644" y="34159"/>
                </a:lnTo>
                <a:lnTo>
                  <a:pt x="8490" y="71231"/>
                </a:lnTo>
                <a:lnTo>
                  <a:pt x="0" y="116629"/>
                </a:lnTo>
                <a:lnTo>
                  <a:pt x="8490" y="162026"/>
                </a:lnTo>
                <a:lnTo>
                  <a:pt x="31644" y="199099"/>
                </a:lnTo>
                <a:lnTo>
                  <a:pt x="65986" y="224094"/>
                </a:lnTo>
                <a:lnTo>
                  <a:pt x="108041" y="233259"/>
                </a:lnTo>
                <a:lnTo>
                  <a:pt x="150096" y="224094"/>
                </a:lnTo>
                <a:lnTo>
                  <a:pt x="184439" y="199099"/>
                </a:lnTo>
                <a:lnTo>
                  <a:pt x="207593" y="162026"/>
                </a:lnTo>
                <a:lnTo>
                  <a:pt x="216084" y="116629"/>
                </a:lnTo>
                <a:lnTo>
                  <a:pt x="207593" y="71231"/>
                </a:lnTo>
                <a:lnTo>
                  <a:pt x="184439" y="34159"/>
                </a:lnTo>
                <a:lnTo>
                  <a:pt x="150096" y="9165"/>
                </a:lnTo>
                <a:lnTo>
                  <a:pt x="108041" y="0"/>
                </a:lnTo>
                <a:close/>
              </a:path>
            </a:pathLst>
          </a:custGeom>
          <a:solidFill>
            <a:srgbClr val="6868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682817" y="3804141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699206" y="4550077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108042" y="0"/>
                </a:moveTo>
                <a:lnTo>
                  <a:pt x="65987" y="9165"/>
                </a:lnTo>
                <a:lnTo>
                  <a:pt x="31645" y="34159"/>
                </a:lnTo>
                <a:lnTo>
                  <a:pt x="8490" y="71231"/>
                </a:lnTo>
                <a:lnTo>
                  <a:pt x="0" y="116629"/>
                </a:lnTo>
                <a:lnTo>
                  <a:pt x="8490" y="162026"/>
                </a:lnTo>
                <a:lnTo>
                  <a:pt x="31645" y="199099"/>
                </a:lnTo>
                <a:lnTo>
                  <a:pt x="65987" y="224094"/>
                </a:lnTo>
                <a:lnTo>
                  <a:pt x="108042" y="233259"/>
                </a:lnTo>
                <a:lnTo>
                  <a:pt x="150097" y="224094"/>
                </a:lnTo>
                <a:lnTo>
                  <a:pt x="184440" y="199099"/>
                </a:lnTo>
                <a:lnTo>
                  <a:pt x="207594" y="162026"/>
                </a:lnTo>
                <a:lnTo>
                  <a:pt x="216085" y="116629"/>
                </a:lnTo>
                <a:lnTo>
                  <a:pt x="207594" y="71231"/>
                </a:lnTo>
                <a:lnTo>
                  <a:pt x="184440" y="34159"/>
                </a:lnTo>
                <a:lnTo>
                  <a:pt x="150097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6868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699206" y="4550077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276754" y="3154883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108042" y="0"/>
                </a:moveTo>
                <a:lnTo>
                  <a:pt x="65987" y="9165"/>
                </a:lnTo>
                <a:lnTo>
                  <a:pt x="31645" y="34160"/>
                </a:lnTo>
                <a:lnTo>
                  <a:pt x="8490" y="71232"/>
                </a:lnTo>
                <a:lnTo>
                  <a:pt x="0" y="116630"/>
                </a:lnTo>
                <a:lnTo>
                  <a:pt x="8490" y="162027"/>
                </a:lnTo>
                <a:lnTo>
                  <a:pt x="31645" y="199099"/>
                </a:lnTo>
                <a:lnTo>
                  <a:pt x="65987" y="224094"/>
                </a:lnTo>
                <a:lnTo>
                  <a:pt x="108042" y="233259"/>
                </a:lnTo>
                <a:lnTo>
                  <a:pt x="150098" y="224094"/>
                </a:lnTo>
                <a:lnTo>
                  <a:pt x="184440" y="199099"/>
                </a:lnTo>
                <a:lnTo>
                  <a:pt x="207594" y="162027"/>
                </a:lnTo>
                <a:lnTo>
                  <a:pt x="216085" y="116630"/>
                </a:lnTo>
                <a:lnTo>
                  <a:pt x="207594" y="71232"/>
                </a:lnTo>
                <a:lnTo>
                  <a:pt x="184440" y="34160"/>
                </a:lnTo>
                <a:lnTo>
                  <a:pt x="150098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6868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276754" y="3154883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571111" y="2839021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80">
                <a:moveTo>
                  <a:pt x="108042" y="0"/>
                </a:moveTo>
                <a:lnTo>
                  <a:pt x="65987" y="9165"/>
                </a:lnTo>
                <a:lnTo>
                  <a:pt x="31644" y="34160"/>
                </a:lnTo>
                <a:lnTo>
                  <a:pt x="8490" y="71232"/>
                </a:lnTo>
                <a:lnTo>
                  <a:pt x="0" y="116630"/>
                </a:lnTo>
                <a:lnTo>
                  <a:pt x="8490" y="162028"/>
                </a:lnTo>
                <a:lnTo>
                  <a:pt x="31644" y="199100"/>
                </a:lnTo>
                <a:lnTo>
                  <a:pt x="65987" y="224095"/>
                </a:lnTo>
                <a:lnTo>
                  <a:pt x="108042" y="233260"/>
                </a:lnTo>
                <a:lnTo>
                  <a:pt x="150097" y="224095"/>
                </a:lnTo>
                <a:lnTo>
                  <a:pt x="184439" y="199100"/>
                </a:lnTo>
                <a:lnTo>
                  <a:pt x="207593" y="162028"/>
                </a:lnTo>
                <a:lnTo>
                  <a:pt x="216084" y="116630"/>
                </a:lnTo>
                <a:lnTo>
                  <a:pt x="207593" y="71232"/>
                </a:lnTo>
                <a:lnTo>
                  <a:pt x="184439" y="34160"/>
                </a:lnTo>
                <a:lnTo>
                  <a:pt x="150097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6868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2571111" y="2839021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80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772142" y="3773509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108042" y="0"/>
                </a:moveTo>
                <a:lnTo>
                  <a:pt x="65987" y="9165"/>
                </a:lnTo>
                <a:lnTo>
                  <a:pt x="31644" y="34159"/>
                </a:lnTo>
                <a:lnTo>
                  <a:pt x="8490" y="71231"/>
                </a:lnTo>
                <a:lnTo>
                  <a:pt x="0" y="116629"/>
                </a:lnTo>
                <a:lnTo>
                  <a:pt x="8490" y="162026"/>
                </a:lnTo>
                <a:lnTo>
                  <a:pt x="31644" y="199099"/>
                </a:lnTo>
                <a:lnTo>
                  <a:pt x="65987" y="224094"/>
                </a:lnTo>
                <a:lnTo>
                  <a:pt x="108042" y="233259"/>
                </a:lnTo>
                <a:lnTo>
                  <a:pt x="150097" y="224094"/>
                </a:lnTo>
                <a:lnTo>
                  <a:pt x="184440" y="199099"/>
                </a:lnTo>
                <a:lnTo>
                  <a:pt x="207594" y="162026"/>
                </a:lnTo>
                <a:lnTo>
                  <a:pt x="216085" y="116629"/>
                </a:lnTo>
                <a:lnTo>
                  <a:pt x="207594" y="71231"/>
                </a:lnTo>
                <a:lnTo>
                  <a:pt x="184440" y="34159"/>
                </a:lnTo>
                <a:lnTo>
                  <a:pt x="150097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FFF0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772142" y="3773509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2483317" y="4574184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108042" y="0"/>
                </a:moveTo>
                <a:lnTo>
                  <a:pt x="65987" y="9165"/>
                </a:lnTo>
                <a:lnTo>
                  <a:pt x="31645" y="34159"/>
                </a:lnTo>
                <a:lnTo>
                  <a:pt x="8490" y="71231"/>
                </a:lnTo>
                <a:lnTo>
                  <a:pt x="0" y="116629"/>
                </a:lnTo>
                <a:lnTo>
                  <a:pt x="8490" y="162026"/>
                </a:lnTo>
                <a:lnTo>
                  <a:pt x="31645" y="199099"/>
                </a:lnTo>
                <a:lnTo>
                  <a:pt x="65987" y="224094"/>
                </a:lnTo>
                <a:lnTo>
                  <a:pt x="108042" y="233259"/>
                </a:lnTo>
                <a:lnTo>
                  <a:pt x="150098" y="224094"/>
                </a:lnTo>
                <a:lnTo>
                  <a:pt x="184440" y="199099"/>
                </a:lnTo>
                <a:lnTo>
                  <a:pt x="207594" y="162026"/>
                </a:lnTo>
                <a:lnTo>
                  <a:pt x="216085" y="116629"/>
                </a:lnTo>
                <a:lnTo>
                  <a:pt x="207594" y="71231"/>
                </a:lnTo>
                <a:lnTo>
                  <a:pt x="184440" y="34159"/>
                </a:lnTo>
                <a:lnTo>
                  <a:pt x="150098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FFF0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2483317" y="4574184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224174" y="4605473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108042" y="0"/>
                </a:moveTo>
                <a:lnTo>
                  <a:pt x="65987" y="9165"/>
                </a:lnTo>
                <a:lnTo>
                  <a:pt x="31645" y="34160"/>
                </a:lnTo>
                <a:lnTo>
                  <a:pt x="8490" y="71232"/>
                </a:lnTo>
                <a:lnTo>
                  <a:pt x="0" y="116630"/>
                </a:lnTo>
                <a:lnTo>
                  <a:pt x="8490" y="162028"/>
                </a:lnTo>
                <a:lnTo>
                  <a:pt x="31645" y="199100"/>
                </a:lnTo>
                <a:lnTo>
                  <a:pt x="65987" y="224095"/>
                </a:lnTo>
                <a:lnTo>
                  <a:pt x="108042" y="233260"/>
                </a:lnTo>
                <a:lnTo>
                  <a:pt x="150098" y="224095"/>
                </a:lnTo>
                <a:lnTo>
                  <a:pt x="184440" y="199100"/>
                </a:lnTo>
                <a:lnTo>
                  <a:pt x="207594" y="162028"/>
                </a:lnTo>
                <a:lnTo>
                  <a:pt x="216085" y="116630"/>
                </a:lnTo>
                <a:lnTo>
                  <a:pt x="207594" y="71232"/>
                </a:lnTo>
                <a:lnTo>
                  <a:pt x="184440" y="34160"/>
                </a:lnTo>
                <a:lnTo>
                  <a:pt x="150098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FFF0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3224174" y="4605473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3192529" y="3930879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108042" y="0"/>
                </a:moveTo>
                <a:lnTo>
                  <a:pt x="65987" y="9165"/>
                </a:lnTo>
                <a:lnTo>
                  <a:pt x="31644" y="34160"/>
                </a:lnTo>
                <a:lnTo>
                  <a:pt x="8490" y="71232"/>
                </a:lnTo>
                <a:lnTo>
                  <a:pt x="0" y="116630"/>
                </a:lnTo>
                <a:lnTo>
                  <a:pt x="8490" y="162028"/>
                </a:lnTo>
                <a:lnTo>
                  <a:pt x="31644" y="199099"/>
                </a:lnTo>
                <a:lnTo>
                  <a:pt x="65987" y="224094"/>
                </a:lnTo>
                <a:lnTo>
                  <a:pt x="108042" y="233259"/>
                </a:lnTo>
                <a:lnTo>
                  <a:pt x="150097" y="224094"/>
                </a:lnTo>
                <a:lnTo>
                  <a:pt x="184440" y="199099"/>
                </a:lnTo>
                <a:lnTo>
                  <a:pt x="207594" y="162028"/>
                </a:lnTo>
                <a:lnTo>
                  <a:pt x="216085" y="116630"/>
                </a:lnTo>
                <a:lnTo>
                  <a:pt x="207594" y="71232"/>
                </a:lnTo>
                <a:lnTo>
                  <a:pt x="184440" y="34160"/>
                </a:lnTo>
                <a:lnTo>
                  <a:pt x="150097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6868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3192529" y="3930879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3421320" y="3390446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108042" y="0"/>
                </a:moveTo>
                <a:lnTo>
                  <a:pt x="65987" y="9165"/>
                </a:lnTo>
                <a:lnTo>
                  <a:pt x="31644" y="34159"/>
                </a:lnTo>
                <a:lnTo>
                  <a:pt x="8490" y="71231"/>
                </a:lnTo>
                <a:lnTo>
                  <a:pt x="0" y="116629"/>
                </a:lnTo>
                <a:lnTo>
                  <a:pt x="8490" y="162026"/>
                </a:lnTo>
                <a:lnTo>
                  <a:pt x="31644" y="199099"/>
                </a:lnTo>
                <a:lnTo>
                  <a:pt x="65987" y="224094"/>
                </a:lnTo>
                <a:lnTo>
                  <a:pt x="108042" y="233259"/>
                </a:lnTo>
                <a:lnTo>
                  <a:pt x="150097" y="224094"/>
                </a:lnTo>
                <a:lnTo>
                  <a:pt x="184439" y="199099"/>
                </a:lnTo>
                <a:lnTo>
                  <a:pt x="207593" y="162026"/>
                </a:lnTo>
                <a:lnTo>
                  <a:pt x="216084" y="116629"/>
                </a:lnTo>
                <a:lnTo>
                  <a:pt x="207593" y="71231"/>
                </a:lnTo>
                <a:lnTo>
                  <a:pt x="184439" y="34159"/>
                </a:lnTo>
                <a:lnTo>
                  <a:pt x="150097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6868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3421320" y="3390446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3709953" y="3790123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108042" y="0"/>
                </a:moveTo>
                <a:lnTo>
                  <a:pt x="65987" y="9165"/>
                </a:lnTo>
                <a:lnTo>
                  <a:pt x="31644" y="34159"/>
                </a:lnTo>
                <a:lnTo>
                  <a:pt x="8490" y="71231"/>
                </a:lnTo>
                <a:lnTo>
                  <a:pt x="0" y="116629"/>
                </a:lnTo>
                <a:lnTo>
                  <a:pt x="8490" y="162026"/>
                </a:lnTo>
                <a:lnTo>
                  <a:pt x="31644" y="199099"/>
                </a:lnTo>
                <a:lnTo>
                  <a:pt x="65987" y="224094"/>
                </a:lnTo>
                <a:lnTo>
                  <a:pt x="108042" y="233259"/>
                </a:lnTo>
                <a:lnTo>
                  <a:pt x="150097" y="224094"/>
                </a:lnTo>
                <a:lnTo>
                  <a:pt x="184439" y="199099"/>
                </a:lnTo>
                <a:lnTo>
                  <a:pt x="207593" y="162026"/>
                </a:lnTo>
                <a:lnTo>
                  <a:pt x="216084" y="116629"/>
                </a:lnTo>
                <a:lnTo>
                  <a:pt x="207593" y="71231"/>
                </a:lnTo>
                <a:lnTo>
                  <a:pt x="184439" y="34159"/>
                </a:lnTo>
                <a:lnTo>
                  <a:pt x="150097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6868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3709953" y="3790123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3798792" y="4784221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108042" y="0"/>
                </a:moveTo>
                <a:lnTo>
                  <a:pt x="65987" y="9165"/>
                </a:lnTo>
                <a:lnTo>
                  <a:pt x="31644" y="34159"/>
                </a:lnTo>
                <a:lnTo>
                  <a:pt x="8490" y="71231"/>
                </a:lnTo>
                <a:lnTo>
                  <a:pt x="0" y="116629"/>
                </a:lnTo>
                <a:lnTo>
                  <a:pt x="8490" y="162026"/>
                </a:lnTo>
                <a:lnTo>
                  <a:pt x="31644" y="199099"/>
                </a:lnTo>
                <a:lnTo>
                  <a:pt x="65987" y="224094"/>
                </a:lnTo>
                <a:lnTo>
                  <a:pt x="108042" y="233259"/>
                </a:lnTo>
                <a:lnTo>
                  <a:pt x="150097" y="224094"/>
                </a:lnTo>
                <a:lnTo>
                  <a:pt x="184440" y="199099"/>
                </a:lnTo>
                <a:lnTo>
                  <a:pt x="207594" y="162026"/>
                </a:lnTo>
                <a:lnTo>
                  <a:pt x="216085" y="116629"/>
                </a:lnTo>
                <a:lnTo>
                  <a:pt x="207594" y="71231"/>
                </a:lnTo>
                <a:lnTo>
                  <a:pt x="184440" y="34159"/>
                </a:lnTo>
                <a:lnTo>
                  <a:pt x="150097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6868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3798792" y="4784221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811904" y="2705100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80">
                <a:moveTo>
                  <a:pt x="108042" y="0"/>
                </a:moveTo>
                <a:lnTo>
                  <a:pt x="65987" y="9165"/>
                </a:lnTo>
                <a:lnTo>
                  <a:pt x="31644" y="34160"/>
                </a:lnTo>
                <a:lnTo>
                  <a:pt x="8490" y="71232"/>
                </a:lnTo>
                <a:lnTo>
                  <a:pt x="0" y="116630"/>
                </a:lnTo>
                <a:lnTo>
                  <a:pt x="8490" y="162027"/>
                </a:lnTo>
                <a:lnTo>
                  <a:pt x="31644" y="199099"/>
                </a:lnTo>
                <a:lnTo>
                  <a:pt x="65987" y="224094"/>
                </a:lnTo>
                <a:lnTo>
                  <a:pt x="108042" y="233259"/>
                </a:lnTo>
                <a:lnTo>
                  <a:pt x="150097" y="224094"/>
                </a:lnTo>
                <a:lnTo>
                  <a:pt x="184440" y="199099"/>
                </a:lnTo>
                <a:lnTo>
                  <a:pt x="207594" y="162027"/>
                </a:lnTo>
                <a:lnTo>
                  <a:pt x="216085" y="116630"/>
                </a:lnTo>
                <a:lnTo>
                  <a:pt x="207594" y="71232"/>
                </a:lnTo>
                <a:lnTo>
                  <a:pt x="184440" y="34160"/>
                </a:lnTo>
                <a:lnTo>
                  <a:pt x="150097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6868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811904" y="2705100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80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4367311" y="2861340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80">
                <a:moveTo>
                  <a:pt x="108042" y="0"/>
                </a:moveTo>
                <a:lnTo>
                  <a:pt x="65987" y="9165"/>
                </a:lnTo>
                <a:lnTo>
                  <a:pt x="31645" y="34160"/>
                </a:lnTo>
                <a:lnTo>
                  <a:pt x="8490" y="71232"/>
                </a:lnTo>
                <a:lnTo>
                  <a:pt x="0" y="116630"/>
                </a:lnTo>
                <a:lnTo>
                  <a:pt x="8490" y="162028"/>
                </a:lnTo>
                <a:lnTo>
                  <a:pt x="31645" y="199100"/>
                </a:lnTo>
                <a:lnTo>
                  <a:pt x="65987" y="224095"/>
                </a:lnTo>
                <a:lnTo>
                  <a:pt x="108042" y="233260"/>
                </a:lnTo>
                <a:lnTo>
                  <a:pt x="150097" y="224095"/>
                </a:lnTo>
                <a:lnTo>
                  <a:pt x="184440" y="199100"/>
                </a:lnTo>
                <a:lnTo>
                  <a:pt x="207594" y="162028"/>
                </a:lnTo>
                <a:lnTo>
                  <a:pt x="216085" y="116630"/>
                </a:lnTo>
                <a:lnTo>
                  <a:pt x="207594" y="71232"/>
                </a:lnTo>
                <a:lnTo>
                  <a:pt x="184440" y="34160"/>
                </a:lnTo>
                <a:lnTo>
                  <a:pt x="150097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FFF0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4367311" y="2861340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80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4173603" y="3527357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108041" y="0"/>
                </a:moveTo>
                <a:lnTo>
                  <a:pt x="65986" y="9165"/>
                </a:lnTo>
                <a:lnTo>
                  <a:pt x="31644" y="34160"/>
                </a:lnTo>
                <a:lnTo>
                  <a:pt x="8490" y="71232"/>
                </a:lnTo>
                <a:lnTo>
                  <a:pt x="0" y="116630"/>
                </a:lnTo>
                <a:lnTo>
                  <a:pt x="8490" y="162028"/>
                </a:lnTo>
                <a:lnTo>
                  <a:pt x="31644" y="199099"/>
                </a:lnTo>
                <a:lnTo>
                  <a:pt x="65986" y="224094"/>
                </a:lnTo>
                <a:lnTo>
                  <a:pt x="108041" y="233259"/>
                </a:lnTo>
                <a:lnTo>
                  <a:pt x="150096" y="224094"/>
                </a:lnTo>
                <a:lnTo>
                  <a:pt x="184439" y="199099"/>
                </a:lnTo>
                <a:lnTo>
                  <a:pt x="207593" y="162028"/>
                </a:lnTo>
                <a:lnTo>
                  <a:pt x="216084" y="116630"/>
                </a:lnTo>
                <a:lnTo>
                  <a:pt x="207593" y="71232"/>
                </a:lnTo>
                <a:lnTo>
                  <a:pt x="184439" y="34160"/>
                </a:lnTo>
                <a:lnTo>
                  <a:pt x="150096" y="9165"/>
                </a:lnTo>
                <a:lnTo>
                  <a:pt x="108041" y="0"/>
                </a:lnTo>
                <a:close/>
              </a:path>
            </a:pathLst>
          </a:custGeom>
          <a:solidFill>
            <a:srgbClr val="FFF0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4173603" y="3527357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5278657" y="3035592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108042" y="0"/>
                </a:moveTo>
                <a:lnTo>
                  <a:pt x="65987" y="9165"/>
                </a:lnTo>
                <a:lnTo>
                  <a:pt x="31645" y="34160"/>
                </a:lnTo>
                <a:lnTo>
                  <a:pt x="8490" y="71232"/>
                </a:lnTo>
                <a:lnTo>
                  <a:pt x="0" y="116630"/>
                </a:lnTo>
                <a:lnTo>
                  <a:pt x="8490" y="162027"/>
                </a:lnTo>
                <a:lnTo>
                  <a:pt x="31645" y="199099"/>
                </a:lnTo>
                <a:lnTo>
                  <a:pt x="65987" y="224094"/>
                </a:lnTo>
                <a:lnTo>
                  <a:pt x="108042" y="233259"/>
                </a:lnTo>
                <a:lnTo>
                  <a:pt x="150098" y="224094"/>
                </a:lnTo>
                <a:lnTo>
                  <a:pt x="184440" y="199099"/>
                </a:lnTo>
                <a:lnTo>
                  <a:pt x="207594" y="162027"/>
                </a:lnTo>
                <a:lnTo>
                  <a:pt x="216085" y="116630"/>
                </a:lnTo>
                <a:lnTo>
                  <a:pt x="207594" y="71232"/>
                </a:lnTo>
                <a:lnTo>
                  <a:pt x="184440" y="34160"/>
                </a:lnTo>
                <a:lnTo>
                  <a:pt x="150098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FFF0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5278657" y="3035592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5367496" y="3626236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108042" y="0"/>
                </a:moveTo>
                <a:lnTo>
                  <a:pt x="65987" y="9165"/>
                </a:lnTo>
                <a:lnTo>
                  <a:pt x="31644" y="34160"/>
                </a:lnTo>
                <a:lnTo>
                  <a:pt x="8490" y="71232"/>
                </a:lnTo>
                <a:lnTo>
                  <a:pt x="0" y="116629"/>
                </a:lnTo>
                <a:lnTo>
                  <a:pt x="8490" y="162026"/>
                </a:lnTo>
                <a:lnTo>
                  <a:pt x="31644" y="199099"/>
                </a:lnTo>
                <a:lnTo>
                  <a:pt x="65987" y="224094"/>
                </a:lnTo>
                <a:lnTo>
                  <a:pt x="108042" y="233259"/>
                </a:lnTo>
                <a:lnTo>
                  <a:pt x="150097" y="224094"/>
                </a:lnTo>
                <a:lnTo>
                  <a:pt x="184439" y="199099"/>
                </a:lnTo>
                <a:lnTo>
                  <a:pt x="207593" y="162026"/>
                </a:lnTo>
                <a:lnTo>
                  <a:pt x="216084" y="116629"/>
                </a:lnTo>
                <a:lnTo>
                  <a:pt x="207593" y="71232"/>
                </a:lnTo>
                <a:lnTo>
                  <a:pt x="184439" y="34160"/>
                </a:lnTo>
                <a:lnTo>
                  <a:pt x="150097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FFF0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5367496" y="3626236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6253031" y="4034542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108042" y="0"/>
                </a:moveTo>
                <a:lnTo>
                  <a:pt x="65987" y="9165"/>
                </a:lnTo>
                <a:lnTo>
                  <a:pt x="31645" y="34160"/>
                </a:lnTo>
                <a:lnTo>
                  <a:pt x="8490" y="71232"/>
                </a:lnTo>
                <a:lnTo>
                  <a:pt x="0" y="116630"/>
                </a:lnTo>
                <a:lnTo>
                  <a:pt x="8490" y="162028"/>
                </a:lnTo>
                <a:lnTo>
                  <a:pt x="31645" y="199100"/>
                </a:lnTo>
                <a:lnTo>
                  <a:pt x="65987" y="224095"/>
                </a:lnTo>
                <a:lnTo>
                  <a:pt x="108042" y="233260"/>
                </a:lnTo>
                <a:lnTo>
                  <a:pt x="150098" y="224095"/>
                </a:lnTo>
                <a:lnTo>
                  <a:pt x="184440" y="199100"/>
                </a:lnTo>
                <a:lnTo>
                  <a:pt x="207594" y="162028"/>
                </a:lnTo>
                <a:lnTo>
                  <a:pt x="216085" y="116630"/>
                </a:lnTo>
                <a:lnTo>
                  <a:pt x="207594" y="71232"/>
                </a:lnTo>
                <a:lnTo>
                  <a:pt x="184440" y="34160"/>
                </a:lnTo>
                <a:lnTo>
                  <a:pt x="150098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FFF0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6253031" y="4034542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6990520" y="3656878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4" h="233679">
                <a:moveTo>
                  <a:pt x="108041" y="0"/>
                </a:moveTo>
                <a:lnTo>
                  <a:pt x="65986" y="9165"/>
                </a:lnTo>
                <a:lnTo>
                  <a:pt x="31644" y="34160"/>
                </a:lnTo>
                <a:lnTo>
                  <a:pt x="8490" y="71232"/>
                </a:lnTo>
                <a:lnTo>
                  <a:pt x="0" y="116630"/>
                </a:lnTo>
                <a:lnTo>
                  <a:pt x="8490" y="162028"/>
                </a:lnTo>
                <a:lnTo>
                  <a:pt x="31644" y="199099"/>
                </a:lnTo>
                <a:lnTo>
                  <a:pt x="65986" y="224094"/>
                </a:lnTo>
                <a:lnTo>
                  <a:pt x="108041" y="233259"/>
                </a:lnTo>
                <a:lnTo>
                  <a:pt x="150096" y="224094"/>
                </a:lnTo>
                <a:lnTo>
                  <a:pt x="184439" y="199099"/>
                </a:lnTo>
                <a:lnTo>
                  <a:pt x="207593" y="162028"/>
                </a:lnTo>
                <a:lnTo>
                  <a:pt x="216084" y="116630"/>
                </a:lnTo>
                <a:lnTo>
                  <a:pt x="207593" y="71232"/>
                </a:lnTo>
                <a:lnTo>
                  <a:pt x="184439" y="34160"/>
                </a:lnTo>
                <a:lnTo>
                  <a:pt x="150096" y="9165"/>
                </a:lnTo>
                <a:lnTo>
                  <a:pt x="108041" y="0"/>
                </a:lnTo>
                <a:close/>
              </a:path>
            </a:pathLst>
          </a:custGeom>
          <a:solidFill>
            <a:srgbClr val="FFF0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6990520" y="3656878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4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4937964" y="4534779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108042" y="0"/>
                </a:moveTo>
                <a:lnTo>
                  <a:pt x="65987" y="9165"/>
                </a:lnTo>
                <a:lnTo>
                  <a:pt x="31645" y="34160"/>
                </a:lnTo>
                <a:lnTo>
                  <a:pt x="8490" y="71232"/>
                </a:lnTo>
                <a:lnTo>
                  <a:pt x="0" y="116630"/>
                </a:lnTo>
                <a:lnTo>
                  <a:pt x="8490" y="162027"/>
                </a:lnTo>
                <a:lnTo>
                  <a:pt x="31645" y="199099"/>
                </a:lnTo>
                <a:lnTo>
                  <a:pt x="65987" y="224094"/>
                </a:lnTo>
                <a:lnTo>
                  <a:pt x="108042" y="233259"/>
                </a:lnTo>
                <a:lnTo>
                  <a:pt x="150098" y="224094"/>
                </a:lnTo>
                <a:lnTo>
                  <a:pt x="184440" y="199099"/>
                </a:lnTo>
                <a:lnTo>
                  <a:pt x="207594" y="162027"/>
                </a:lnTo>
                <a:lnTo>
                  <a:pt x="216085" y="116630"/>
                </a:lnTo>
                <a:lnTo>
                  <a:pt x="207594" y="71232"/>
                </a:lnTo>
                <a:lnTo>
                  <a:pt x="184440" y="34160"/>
                </a:lnTo>
                <a:lnTo>
                  <a:pt x="150098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FFF0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4937964" y="4534779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4629820" y="5017481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108041" y="0"/>
                </a:moveTo>
                <a:lnTo>
                  <a:pt x="65986" y="9165"/>
                </a:lnTo>
                <a:lnTo>
                  <a:pt x="31644" y="34160"/>
                </a:lnTo>
                <a:lnTo>
                  <a:pt x="8490" y="71232"/>
                </a:lnTo>
                <a:lnTo>
                  <a:pt x="0" y="116630"/>
                </a:lnTo>
                <a:lnTo>
                  <a:pt x="8490" y="162028"/>
                </a:lnTo>
                <a:lnTo>
                  <a:pt x="31644" y="199099"/>
                </a:lnTo>
                <a:lnTo>
                  <a:pt x="65986" y="224094"/>
                </a:lnTo>
                <a:lnTo>
                  <a:pt x="108041" y="233259"/>
                </a:lnTo>
                <a:lnTo>
                  <a:pt x="150096" y="224094"/>
                </a:lnTo>
                <a:lnTo>
                  <a:pt x="184439" y="199099"/>
                </a:lnTo>
                <a:lnTo>
                  <a:pt x="207593" y="162028"/>
                </a:lnTo>
                <a:lnTo>
                  <a:pt x="216084" y="116630"/>
                </a:lnTo>
                <a:lnTo>
                  <a:pt x="207593" y="71232"/>
                </a:lnTo>
                <a:lnTo>
                  <a:pt x="184439" y="34160"/>
                </a:lnTo>
                <a:lnTo>
                  <a:pt x="150096" y="9165"/>
                </a:lnTo>
                <a:lnTo>
                  <a:pt x="108041" y="0"/>
                </a:lnTo>
                <a:close/>
              </a:path>
            </a:pathLst>
          </a:custGeom>
          <a:solidFill>
            <a:srgbClr val="FFF0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4629820" y="5017481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5352805" y="4988410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108042" y="0"/>
                </a:moveTo>
                <a:lnTo>
                  <a:pt x="65987" y="9165"/>
                </a:lnTo>
                <a:lnTo>
                  <a:pt x="31645" y="34160"/>
                </a:lnTo>
                <a:lnTo>
                  <a:pt x="8490" y="71232"/>
                </a:lnTo>
                <a:lnTo>
                  <a:pt x="0" y="116629"/>
                </a:lnTo>
                <a:lnTo>
                  <a:pt x="8490" y="162026"/>
                </a:lnTo>
                <a:lnTo>
                  <a:pt x="31645" y="199099"/>
                </a:lnTo>
                <a:lnTo>
                  <a:pt x="65987" y="224094"/>
                </a:lnTo>
                <a:lnTo>
                  <a:pt x="108042" y="233259"/>
                </a:lnTo>
                <a:lnTo>
                  <a:pt x="150097" y="224094"/>
                </a:lnTo>
                <a:lnTo>
                  <a:pt x="184440" y="199099"/>
                </a:lnTo>
                <a:lnTo>
                  <a:pt x="207594" y="162026"/>
                </a:lnTo>
                <a:lnTo>
                  <a:pt x="216085" y="116629"/>
                </a:lnTo>
                <a:lnTo>
                  <a:pt x="207594" y="71232"/>
                </a:lnTo>
                <a:lnTo>
                  <a:pt x="184440" y="34160"/>
                </a:lnTo>
                <a:lnTo>
                  <a:pt x="150097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FFF0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5352805" y="4988410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5326827" y="2172986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80">
                <a:moveTo>
                  <a:pt x="108042" y="0"/>
                </a:moveTo>
                <a:lnTo>
                  <a:pt x="65987" y="9165"/>
                </a:lnTo>
                <a:lnTo>
                  <a:pt x="31644" y="34160"/>
                </a:lnTo>
                <a:lnTo>
                  <a:pt x="8490" y="71232"/>
                </a:lnTo>
                <a:lnTo>
                  <a:pt x="0" y="116630"/>
                </a:lnTo>
                <a:lnTo>
                  <a:pt x="8490" y="162028"/>
                </a:lnTo>
                <a:lnTo>
                  <a:pt x="31644" y="199100"/>
                </a:lnTo>
                <a:lnTo>
                  <a:pt x="65987" y="224095"/>
                </a:lnTo>
                <a:lnTo>
                  <a:pt x="108042" y="233260"/>
                </a:lnTo>
                <a:lnTo>
                  <a:pt x="150097" y="224095"/>
                </a:lnTo>
                <a:lnTo>
                  <a:pt x="184439" y="199100"/>
                </a:lnTo>
                <a:lnTo>
                  <a:pt x="207593" y="162028"/>
                </a:lnTo>
                <a:lnTo>
                  <a:pt x="216084" y="116630"/>
                </a:lnTo>
                <a:lnTo>
                  <a:pt x="207593" y="71232"/>
                </a:lnTo>
                <a:lnTo>
                  <a:pt x="184439" y="34160"/>
                </a:lnTo>
                <a:lnTo>
                  <a:pt x="150097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6868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5326827" y="2172986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80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5674536" y="2332727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80">
                <a:moveTo>
                  <a:pt x="108042" y="0"/>
                </a:moveTo>
                <a:lnTo>
                  <a:pt x="65987" y="9165"/>
                </a:lnTo>
                <a:lnTo>
                  <a:pt x="31645" y="34160"/>
                </a:lnTo>
                <a:lnTo>
                  <a:pt x="8490" y="71232"/>
                </a:lnTo>
                <a:lnTo>
                  <a:pt x="0" y="116630"/>
                </a:lnTo>
                <a:lnTo>
                  <a:pt x="8490" y="162027"/>
                </a:lnTo>
                <a:lnTo>
                  <a:pt x="31645" y="199099"/>
                </a:lnTo>
                <a:lnTo>
                  <a:pt x="65987" y="224094"/>
                </a:lnTo>
                <a:lnTo>
                  <a:pt x="108042" y="233259"/>
                </a:lnTo>
                <a:lnTo>
                  <a:pt x="150098" y="224094"/>
                </a:lnTo>
                <a:lnTo>
                  <a:pt x="184440" y="199099"/>
                </a:lnTo>
                <a:lnTo>
                  <a:pt x="207594" y="162027"/>
                </a:lnTo>
                <a:lnTo>
                  <a:pt x="216085" y="116630"/>
                </a:lnTo>
                <a:lnTo>
                  <a:pt x="207594" y="71232"/>
                </a:lnTo>
                <a:lnTo>
                  <a:pt x="184440" y="34160"/>
                </a:lnTo>
                <a:lnTo>
                  <a:pt x="150098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6868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5674536" y="2332727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80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6022247" y="2472250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80">
                <a:moveTo>
                  <a:pt x="108042" y="0"/>
                </a:moveTo>
                <a:lnTo>
                  <a:pt x="65987" y="9165"/>
                </a:lnTo>
                <a:lnTo>
                  <a:pt x="31644" y="34160"/>
                </a:lnTo>
                <a:lnTo>
                  <a:pt x="8490" y="71232"/>
                </a:lnTo>
                <a:lnTo>
                  <a:pt x="0" y="116630"/>
                </a:lnTo>
                <a:lnTo>
                  <a:pt x="8490" y="162028"/>
                </a:lnTo>
                <a:lnTo>
                  <a:pt x="31644" y="199100"/>
                </a:lnTo>
                <a:lnTo>
                  <a:pt x="65987" y="224095"/>
                </a:lnTo>
                <a:lnTo>
                  <a:pt x="108042" y="233260"/>
                </a:lnTo>
                <a:lnTo>
                  <a:pt x="150097" y="224095"/>
                </a:lnTo>
                <a:lnTo>
                  <a:pt x="184439" y="199100"/>
                </a:lnTo>
                <a:lnTo>
                  <a:pt x="207593" y="162028"/>
                </a:lnTo>
                <a:lnTo>
                  <a:pt x="216084" y="116630"/>
                </a:lnTo>
                <a:lnTo>
                  <a:pt x="207593" y="71232"/>
                </a:lnTo>
                <a:lnTo>
                  <a:pt x="184439" y="34160"/>
                </a:lnTo>
                <a:lnTo>
                  <a:pt x="150097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6868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6022247" y="2472250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80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6356984" y="2722392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4" h="233680">
                <a:moveTo>
                  <a:pt x="108042" y="0"/>
                </a:moveTo>
                <a:lnTo>
                  <a:pt x="65987" y="9165"/>
                </a:lnTo>
                <a:lnTo>
                  <a:pt x="31645" y="34159"/>
                </a:lnTo>
                <a:lnTo>
                  <a:pt x="8490" y="71231"/>
                </a:lnTo>
                <a:lnTo>
                  <a:pt x="0" y="116629"/>
                </a:lnTo>
                <a:lnTo>
                  <a:pt x="8490" y="162026"/>
                </a:lnTo>
                <a:lnTo>
                  <a:pt x="31645" y="199099"/>
                </a:lnTo>
                <a:lnTo>
                  <a:pt x="65987" y="224094"/>
                </a:lnTo>
                <a:lnTo>
                  <a:pt x="108042" y="233259"/>
                </a:lnTo>
                <a:lnTo>
                  <a:pt x="150098" y="224094"/>
                </a:lnTo>
                <a:lnTo>
                  <a:pt x="184440" y="199099"/>
                </a:lnTo>
                <a:lnTo>
                  <a:pt x="207594" y="162026"/>
                </a:lnTo>
                <a:lnTo>
                  <a:pt x="216085" y="116629"/>
                </a:lnTo>
                <a:lnTo>
                  <a:pt x="207594" y="71231"/>
                </a:lnTo>
                <a:lnTo>
                  <a:pt x="184440" y="34159"/>
                </a:lnTo>
                <a:lnTo>
                  <a:pt x="150098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6868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6356984" y="2722392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4" h="233680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6380002" y="3156842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4" h="233679">
                <a:moveTo>
                  <a:pt x="108042" y="0"/>
                </a:moveTo>
                <a:lnTo>
                  <a:pt x="65987" y="9165"/>
                </a:lnTo>
                <a:lnTo>
                  <a:pt x="31645" y="34160"/>
                </a:lnTo>
                <a:lnTo>
                  <a:pt x="8490" y="71232"/>
                </a:lnTo>
                <a:lnTo>
                  <a:pt x="0" y="116630"/>
                </a:lnTo>
                <a:lnTo>
                  <a:pt x="8490" y="162027"/>
                </a:lnTo>
                <a:lnTo>
                  <a:pt x="31645" y="199099"/>
                </a:lnTo>
                <a:lnTo>
                  <a:pt x="65987" y="224094"/>
                </a:lnTo>
                <a:lnTo>
                  <a:pt x="108042" y="233259"/>
                </a:lnTo>
                <a:lnTo>
                  <a:pt x="150097" y="224094"/>
                </a:lnTo>
                <a:lnTo>
                  <a:pt x="184440" y="199099"/>
                </a:lnTo>
                <a:lnTo>
                  <a:pt x="207594" y="162027"/>
                </a:lnTo>
                <a:lnTo>
                  <a:pt x="216085" y="116630"/>
                </a:lnTo>
                <a:lnTo>
                  <a:pt x="207594" y="71232"/>
                </a:lnTo>
                <a:lnTo>
                  <a:pt x="184440" y="34160"/>
                </a:lnTo>
                <a:lnTo>
                  <a:pt x="150097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6868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6380002" y="3156842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4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4930559" y="3876677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108042" y="0"/>
                </a:moveTo>
                <a:lnTo>
                  <a:pt x="65987" y="9165"/>
                </a:lnTo>
                <a:lnTo>
                  <a:pt x="31644" y="34160"/>
                </a:lnTo>
                <a:lnTo>
                  <a:pt x="8490" y="71232"/>
                </a:lnTo>
                <a:lnTo>
                  <a:pt x="0" y="116630"/>
                </a:lnTo>
                <a:lnTo>
                  <a:pt x="8490" y="162028"/>
                </a:lnTo>
                <a:lnTo>
                  <a:pt x="31644" y="199100"/>
                </a:lnTo>
                <a:lnTo>
                  <a:pt x="65987" y="224095"/>
                </a:lnTo>
                <a:lnTo>
                  <a:pt x="108042" y="233260"/>
                </a:lnTo>
                <a:lnTo>
                  <a:pt x="150097" y="224095"/>
                </a:lnTo>
                <a:lnTo>
                  <a:pt x="184439" y="199100"/>
                </a:lnTo>
                <a:lnTo>
                  <a:pt x="207593" y="162028"/>
                </a:lnTo>
                <a:lnTo>
                  <a:pt x="216084" y="116630"/>
                </a:lnTo>
                <a:lnTo>
                  <a:pt x="207593" y="71232"/>
                </a:lnTo>
                <a:lnTo>
                  <a:pt x="184439" y="34160"/>
                </a:lnTo>
                <a:lnTo>
                  <a:pt x="150097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6868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4930559" y="3876677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5233642" y="4235731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108042" y="0"/>
                </a:moveTo>
                <a:lnTo>
                  <a:pt x="65987" y="9165"/>
                </a:lnTo>
                <a:lnTo>
                  <a:pt x="31644" y="34160"/>
                </a:lnTo>
                <a:lnTo>
                  <a:pt x="8490" y="71232"/>
                </a:lnTo>
                <a:lnTo>
                  <a:pt x="0" y="116630"/>
                </a:lnTo>
                <a:lnTo>
                  <a:pt x="8490" y="162028"/>
                </a:lnTo>
                <a:lnTo>
                  <a:pt x="31644" y="199099"/>
                </a:lnTo>
                <a:lnTo>
                  <a:pt x="65987" y="224094"/>
                </a:lnTo>
                <a:lnTo>
                  <a:pt x="108042" y="233259"/>
                </a:lnTo>
                <a:lnTo>
                  <a:pt x="150097" y="224094"/>
                </a:lnTo>
                <a:lnTo>
                  <a:pt x="184439" y="199099"/>
                </a:lnTo>
                <a:lnTo>
                  <a:pt x="207593" y="162028"/>
                </a:lnTo>
                <a:lnTo>
                  <a:pt x="216084" y="116630"/>
                </a:lnTo>
                <a:lnTo>
                  <a:pt x="207593" y="71232"/>
                </a:lnTo>
                <a:lnTo>
                  <a:pt x="184439" y="34160"/>
                </a:lnTo>
                <a:lnTo>
                  <a:pt x="150097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6868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5233642" y="4235731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5547586" y="4599115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108042" y="0"/>
                </a:moveTo>
                <a:lnTo>
                  <a:pt x="65987" y="9165"/>
                </a:lnTo>
                <a:lnTo>
                  <a:pt x="31644" y="34160"/>
                </a:lnTo>
                <a:lnTo>
                  <a:pt x="8490" y="71232"/>
                </a:lnTo>
                <a:lnTo>
                  <a:pt x="0" y="116630"/>
                </a:lnTo>
                <a:lnTo>
                  <a:pt x="8490" y="162028"/>
                </a:lnTo>
                <a:lnTo>
                  <a:pt x="31644" y="199099"/>
                </a:lnTo>
                <a:lnTo>
                  <a:pt x="65987" y="224094"/>
                </a:lnTo>
                <a:lnTo>
                  <a:pt x="108042" y="233259"/>
                </a:lnTo>
                <a:lnTo>
                  <a:pt x="150097" y="224094"/>
                </a:lnTo>
                <a:lnTo>
                  <a:pt x="184439" y="199099"/>
                </a:lnTo>
                <a:lnTo>
                  <a:pt x="207593" y="162028"/>
                </a:lnTo>
                <a:lnTo>
                  <a:pt x="216084" y="116630"/>
                </a:lnTo>
                <a:lnTo>
                  <a:pt x="207593" y="71232"/>
                </a:lnTo>
                <a:lnTo>
                  <a:pt x="184439" y="34160"/>
                </a:lnTo>
                <a:lnTo>
                  <a:pt x="150097" y="9165"/>
                </a:lnTo>
                <a:lnTo>
                  <a:pt x="108042" y="0"/>
                </a:lnTo>
                <a:close/>
              </a:path>
            </a:pathLst>
          </a:custGeom>
          <a:solidFill>
            <a:srgbClr val="6868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5547586" y="4599115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6119520" y="4513136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108041" y="0"/>
                </a:moveTo>
                <a:lnTo>
                  <a:pt x="65986" y="9165"/>
                </a:lnTo>
                <a:lnTo>
                  <a:pt x="31644" y="34160"/>
                </a:lnTo>
                <a:lnTo>
                  <a:pt x="8490" y="71232"/>
                </a:lnTo>
                <a:lnTo>
                  <a:pt x="0" y="116630"/>
                </a:lnTo>
                <a:lnTo>
                  <a:pt x="8490" y="162028"/>
                </a:lnTo>
                <a:lnTo>
                  <a:pt x="31644" y="199099"/>
                </a:lnTo>
                <a:lnTo>
                  <a:pt x="65986" y="224094"/>
                </a:lnTo>
                <a:lnTo>
                  <a:pt x="108041" y="233259"/>
                </a:lnTo>
                <a:lnTo>
                  <a:pt x="150096" y="224094"/>
                </a:lnTo>
                <a:lnTo>
                  <a:pt x="184439" y="199099"/>
                </a:lnTo>
                <a:lnTo>
                  <a:pt x="207593" y="162028"/>
                </a:lnTo>
                <a:lnTo>
                  <a:pt x="216084" y="116630"/>
                </a:lnTo>
                <a:lnTo>
                  <a:pt x="207593" y="71232"/>
                </a:lnTo>
                <a:lnTo>
                  <a:pt x="184439" y="34160"/>
                </a:lnTo>
                <a:lnTo>
                  <a:pt x="150096" y="9165"/>
                </a:lnTo>
                <a:lnTo>
                  <a:pt x="108041" y="0"/>
                </a:lnTo>
                <a:close/>
              </a:path>
            </a:pathLst>
          </a:custGeom>
          <a:solidFill>
            <a:srgbClr val="6868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6119520" y="4513136"/>
            <a:ext cx="216535" cy="233679"/>
          </a:xfrm>
          <a:custGeom>
            <a:avLst/>
            <a:gdLst/>
            <a:ahLst/>
            <a:cxnLst/>
            <a:rect l="l" t="t" r="r" b="b"/>
            <a:pathLst>
              <a:path w="216535" h="233679">
                <a:moveTo>
                  <a:pt x="0" y="116630"/>
                </a:moveTo>
                <a:lnTo>
                  <a:pt x="8490" y="71232"/>
                </a:lnTo>
                <a:lnTo>
                  <a:pt x="31644" y="34160"/>
                </a:lnTo>
                <a:lnTo>
                  <a:pt x="65987" y="9165"/>
                </a:lnTo>
                <a:lnTo>
                  <a:pt x="108042" y="0"/>
                </a:lnTo>
                <a:lnTo>
                  <a:pt x="150097" y="9165"/>
                </a:lnTo>
                <a:lnTo>
                  <a:pt x="184440" y="34160"/>
                </a:lnTo>
                <a:lnTo>
                  <a:pt x="207594" y="71232"/>
                </a:lnTo>
                <a:lnTo>
                  <a:pt x="216085" y="116630"/>
                </a:lnTo>
                <a:lnTo>
                  <a:pt x="207594" y="162027"/>
                </a:lnTo>
                <a:lnTo>
                  <a:pt x="184440" y="199099"/>
                </a:lnTo>
                <a:lnTo>
                  <a:pt x="150097" y="224094"/>
                </a:lnTo>
                <a:lnTo>
                  <a:pt x="108042" y="233260"/>
                </a:lnTo>
                <a:lnTo>
                  <a:pt x="65987" y="224094"/>
                </a:lnTo>
                <a:lnTo>
                  <a:pt x="31644" y="199099"/>
                </a:lnTo>
                <a:lnTo>
                  <a:pt x="8490" y="162027"/>
                </a:lnTo>
                <a:lnTo>
                  <a:pt x="0" y="11663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1242712" y="3481227"/>
            <a:ext cx="332105" cy="156845"/>
          </a:xfrm>
          <a:custGeom>
            <a:avLst/>
            <a:gdLst/>
            <a:ahLst/>
            <a:cxnLst/>
            <a:rect l="l" t="t" r="r" b="b"/>
            <a:pathLst>
              <a:path w="332105" h="156845">
                <a:moveTo>
                  <a:pt x="332062" y="0"/>
                </a:moveTo>
                <a:lnTo>
                  <a:pt x="0" y="15635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1741585" y="3612253"/>
            <a:ext cx="49530" cy="192405"/>
          </a:xfrm>
          <a:custGeom>
            <a:avLst/>
            <a:gdLst/>
            <a:ahLst/>
            <a:cxnLst/>
            <a:rect l="l" t="t" r="r" b="b"/>
            <a:pathLst>
              <a:path w="49530" h="192404">
                <a:moveTo>
                  <a:pt x="0" y="0"/>
                </a:moveTo>
                <a:lnTo>
                  <a:pt x="49275" y="19188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1483366" y="4003240"/>
            <a:ext cx="231140" cy="223520"/>
          </a:xfrm>
          <a:custGeom>
            <a:avLst/>
            <a:gdLst/>
            <a:ahLst/>
            <a:cxnLst/>
            <a:rect l="l" t="t" r="r" b="b"/>
            <a:pathLst>
              <a:path w="231139" h="223520">
                <a:moveTo>
                  <a:pt x="231095" y="0"/>
                </a:moveTo>
                <a:lnTo>
                  <a:pt x="0" y="223328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1790859" y="3481226"/>
            <a:ext cx="1013460" cy="327025"/>
          </a:xfrm>
          <a:custGeom>
            <a:avLst/>
            <a:gdLst/>
            <a:ahLst/>
            <a:cxnLst/>
            <a:rect l="l" t="t" r="r" b="b"/>
            <a:pathLst>
              <a:path w="1013460" h="327025">
                <a:moveTo>
                  <a:pt x="1012927" y="326442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1898901" y="3890139"/>
            <a:ext cx="873760" cy="31115"/>
          </a:xfrm>
          <a:custGeom>
            <a:avLst/>
            <a:gdLst/>
            <a:ahLst/>
            <a:cxnLst/>
            <a:rect l="l" t="t" r="r" b="b"/>
            <a:pathLst>
              <a:path w="873760" h="31114">
                <a:moveTo>
                  <a:pt x="873240" y="0"/>
                </a:moveTo>
                <a:lnTo>
                  <a:pt x="0" y="30632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1883646" y="3972608"/>
            <a:ext cx="920750" cy="612140"/>
          </a:xfrm>
          <a:custGeom>
            <a:avLst/>
            <a:gdLst/>
            <a:ahLst/>
            <a:cxnLst/>
            <a:rect l="l" t="t" r="r" b="b"/>
            <a:pathLst>
              <a:path w="920750" h="612139">
                <a:moveTo>
                  <a:pt x="920140" y="0"/>
                </a:moveTo>
                <a:lnTo>
                  <a:pt x="0" y="611628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2880184" y="4006768"/>
            <a:ext cx="375920" cy="633095"/>
          </a:xfrm>
          <a:custGeom>
            <a:avLst/>
            <a:gdLst/>
            <a:ahLst/>
            <a:cxnLst/>
            <a:rect l="l" t="t" r="r" b="b"/>
            <a:pathLst>
              <a:path w="375920" h="633095">
                <a:moveTo>
                  <a:pt x="0" y="0"/>
                </a:moveTo>
                <a:lnTo>
                  <a:pt x="375635" y="632865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2699402" y="4690813"/>
            <a:ext cx="525145" cy="31750"/>
          </a:xfrm>
          <a:custGeom>
            <a:avLst/>
            <a:gdLst/>
            <a:ahLst/>
            <a:cxnLst/>
            <a:rect l="l" t="t" r="r" b="b"/>
            <a:pathLst>
              <a:path w="525144" h="31750">
                <a:moveTo>
                  <a:pt x="524772" y="31290"/>
                </a:moveTo>
                <a:lnTo>
                  <a:pt x="0" y="0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2988226" y="3890139"/>
            <a:ext cx="236220" cy="74930"/>
          </a:xfrm>
          <a:custGeom>
            <a:avLst/>
            <a:gdLst/>
            <a:ahLst/>
            <a:cxnLst/>
            <a:rect l="l" t="t" r="r" b="b"/>
            <a:pathLst>
              <a:path w="236219" h="74929">
                <a:moveTo>
                  <a:pt x="235948" y="74901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2956581" y="3972608"/>
            <a:ext cx="874394" cy="845819"/>
          </a:xfrm>
          <a:custGeom>
            <a:avLst/>
            <a:gdLst/>
            <a:ahLst/>
            <a:cxnLst/>
            <a:rect l="l" t="t" r="r" b="b"/>
            <a:pathLst>
              <a:path w="874395" h="845820">
                <a:moveTo>
                  <a:pt x="0" y="0"/>
                </a:moveTo>
                <a:lnTo>
                  <a:pt x="873855" y="84577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4814260" y="4733879"/>
            <a:ext cx="155575" cy="318135"/>
          </a:xfrm>
          <a:custGeom>
            <a:avLst/>
            <a:gdLst/>
            <a:ahLst/>
            <a:cxnLst/>
            <a:rect l="l" t="t" r="r" b="b"/>
            <a:pathLst>
              <a:path w="155575" h="318135">
                <a:moveTo>
                  <a:pt x="155350" y="0"/>
                </a:moveTo>
                <a:lnTo>
                  <a:pt x="0" y="317763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4845904" y="5105039"/>
            <a:ext cx="507365" cy="29209"/>
          </a:xfrm>
          <a:custGeom>
            <a:avLst/>
            <a:gdLst/>
            <a:ahLst/>
            <a:cxnLst/>
            <a:rect l="l" t="t" r="r" b="b"/>
            <a:pathLst>
              <a:path w="507364" h="29210">
                <a:moveTo>
                  <a:pt x="506900" y="0"/>
                </a:moveTo>
                <a:lnTo>
                  <a:pt x="0" y="29072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5122404" y="4733879"/>
            <a:ext cx="262255" cy="288925"/>
          </a:xfrm>
          <a:custGeom>
            <a:avLst/>
            <a:gdLst/>
            <a:ahLst/>
            <a:cxnLst/>
            <a:rect l="l" t="t" r="r" b="b"/>
            <a:pathLst>
              <a:path w="262254" h="288925">
                <a:moveTo>
                  <a:pt x="262045" y="288691"/>
                </a:moveTo>
                <a:lnTo>
                  <a:pt x="0" y="0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4814259" y="4798216"/>
            <a:ext cx="765175" cy="254000"/>
          </a:xfrm>
          <a:custGeom>
            <a:avLst/>
            <a:gdLst/>
            <a:ahLst/>
            <a:cxnLst/>
            <a:rect l="l" t="t" r="r" b="b"/>
            <a:pathLst>
              <a:path w="765175" h="254000">
                <a:moveTo>
                  <a:pt x="764971" y="0"/>
                </a:moveTo>
                <a:lnTo>
                  <a:pt x="0" y="253426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5568889" y="4746397"/>
            <a:ext cx="659130" cy="358775"/>
          </a:xfrm>
          <a:custGeom>
            <a:avLst/>
            <a:gdLst/>
            <a:ahLst/>
            <a:cxnLst/>
            <a:rect l="l" t="t" r="r" b="b"/>
            <a:pathLst>
              <a:path w="659129" h="358775">
                <a:moveTo>
                  <a:pt x="658673" y="0"/>
                </a:moveTo>
                <a:lnTo>
                  <a:pt x="0" y="35864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5763671" y="4629767"/>
            <a:ext cx="356235" cy="86360"/>
          </a:xfrm>
          <a:custGeom>
            <a:avLst/>
            <a:gdLst/>
            <a:ahLst/>
            <a:cxnLst/>
            <a:rect l="l" t="t" r="r" b="b"/>
            <a:pathLst>
              <a:path w="356235" h="86360">
                <a:moveTo>
                  <a:pt x="355849" y="0"/>
                </a:moveTo>
                <a:lnTo>
                  <a:pt x="0" y="8597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5583581" y="3742866"/>
            <a:ext cx="1407160" cy="31115"/>
          </a:xfrm>
          <a:custGeom>
            <a:avLst/>
            <a:gdLst/>
            <a:ahLst/>
            <a:cxnLst/>
            <a:rect l="l" t="t" r="r" b="b"/>
            <a:pathLst>
              <a:path w="1407159" h="31114">
                <a:moveTo>
                  <a:pt x="1406939" y="30643"/>
                </a:moveTo>
                <a:lnTo>
                  <a:pt x="0" y="0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150" name="object 15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51" name="object 151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95866" y="3305507"/>
            <a:ext cx="1054735" cy="1419225"/>
          </a:xfrm>
          <a:custGeom>
            <a:avLst/>
            <a:gdLst/>
            <a:ahLst/>
            <a:cxnLst/>
            <a:rect l="l" t="t" r="r" b="b"/>
            <a:pathLst>
              <a:path w="1054735" h="1419225">
                <a:moveTo>
                  <a:pt x="33072" y="775866"/>
                </a:moveTo>
                <a:lnTo>
                  <a:pt x="33080" y="776006"/>
                </a:lnTo>
                <a:lnTo>
                  <a:pt x="28295" y="776308"/>
                </a:lnTo>
                <a:lnTo>
                  <a:pt x="4480" y="779329"/>
                </a:lnTo>
                <a:lnTo>
                  <a:pt x="13338" y="848793"/>
                </a:lnTo>
                <a:lnTo>
                  <a:pt x="25455" y="912078"/>
                </a:lnTo>
                <a:lnTo>
                  <a:pt x="53741" y="906661"/>
                </a:lnTo>
                <a:lnTo>
                  <a:pt x="41624" y="843377"/>
                </a:lnTo>
                <a:lnTo>
                  <a:pt x="33072" y="775866"/>
                </a:lnTo>
                <a:close/>
              </a:path>
              <a:path w="1054735" h="1419225">
                <a:moveTo>
                  <a:pt x="52196" y="774057"/>
                </a:moveTo>
                <a:lnTo>
                  <a:pt x="52242" y="774797"/>
                </a:lnTo>
                <a:lnTo>
                  <a:pt x="42689" y="775400"/>
                </a:lnTo>
                <a:lnTo>
                  <a:pt x="51054" y="841571"/>
                </a:lnTo>
                <a:lnTo>
                  <a:pt x="63169" y="904857"/>
                </a:lnTo>
                <a:lnTo>
                  <a:pt x="72599" y="903051"/>
                </a:lnTo>
                <a:lnTo>
                  <a:pt x="60482" y="839767"/>
                </a:lnTo>
                <a:lnTo>
                  <a:pt x="52196" y="774057"/>
                </a:lnTo>
                <a:close/>
              </a:path>
              <a:path w="1054735" h="1419225">
                <a:moveTo>
                  <a:pt x="3721" y="630946"/>
                </a:moveTo>
                <a:lnTo>
                  <a:pt x="1394" y="665900"/>
                </a:lnTo>
                <a:lnTo>
                  <a:pt x="0" y="709101"/>
                </a:lnTo>
                <a:lnTo>
                  <a:pt x="4338" y="777821"/>
                </a:lnTo>
                <a:lnTo>
                  <a:pt x="28295" y="776308"/>
                </a:lnTo>
                <a:lnTo>
                  <a:pt x="33051" y="775705"/>
                </a:lnTo>
                <a:lnTo>
                  <a:pt x="28857" y="709101"/>
                </a:lnTo>
                <a:lnTo>
                  <a:pt x="28785" y="706078"/>
                </a:lnTo>
                <a:lnTo>
                  <a:pt x="30152" y="667576"/>
                </a:lnTo>
                <a:lnTo>
                  <a:pt x="30243" y="665900"/>
                </a:lnTo>
                <a:lnTo>
                  <a:pt x="32456" y="632867"/>
                </a:lnTo>
                <a:lnTo>
                  <a:pt x="3721" y="630946"/>
                </a:lnTo>
                <a:close/>
              </a:path>
              <a:path w="1054735" h="1419225">
                <a:moveTo>
                  <a:pt x="33051" y="775705"/>
                </a:moveTo>
                <a:lnTo>
                  <a:pt x="28295" y="776308"/>
                </a:lnTo>
                <a:lnTo>
                  <a:pt x="33080" y="776006"/>
                </a:lnTo>
                <a:lnTo>
                  <a:pt x="33051" y="775705"/>
                </a:lnTo>
                <a:close/>
              </a:path>
              <a:path w="1054735" h="1419225">
                <a:moveTo>
                  <a:pt x="33061" y="775705"/>
                </a:moveTo>
                <a:lnTo>
                  <a:pt x="33072" y="775866"/>
                </a:lnTo>
                <a:lnTo>
                  <a:pt x="33061" y="775705"/>
                </a:lnTo>
                <a:close/>
              </a:path>
              <a:path w="1054735" h="1419225">
                <a:moveTo>
                  <a:pt x="52099" y="773290"/>
                </a:moveTo>
                <a:lnTo>
                  <a:pt x="42604" y="774494"/>
                </a:lnTo>
                <a:lnTo>
                  <a:pt x="42689" y="775400"/>
                </a:lnTo>
                <a:lnTo>
                  <a:pt x="52242" y="774797"/>
                </a:lnTo>
                <a:lnTo>
                  <a:pt x="52196" y="774057"/>
                </a:lnTo>
                <a:lnTo>
                  <a:pt x="52099" y="773290"/>
                </a:lnTo>
                <a:close/>
              </a:path>
              <a:path w="1054735" h="1419225">
                <a:moveTo>
                  <a:pt x="42034" y="633509"/>
                </a:moveTo>
                <a:lnTo>
                  <a:pt x="39759" y="667576"/>
                </a:lnTo>
                <a:lnTo>
                  <a:pt x="38345" y="706078"/>
                </a:lnTo>
                <a:lnTo>
                  <a:pt x="38361" y="707287"/>
                </a:lnTo>
                <a:lnTo>
                  <a:pt x="42604" y="774494"/>
                </a:lnTo>
                <a:lnTo>
                  <a:pt x="52099" y="773290"/>
                </a:lnTo>
                <a:lnTo>
                  <a:pt x="47904" y="706078"/>
                </a:lnTo>
                <a:lnTo>
                  <a:pt x="49364" y="667576"/>
                </a:lnTo>
                <a:lnTo>
                  <a:pt x="51614" y="634150"/>
                </a:lnTo>
                <a:lnTo>
                  <a:pt x="42034" y="633509"/>
                </a:lnTo>
                <a:close/>
              </a:path>
              <a:path w="1054735" h="1419225">
                <a:moveTo>
                  <a:pt x="52147" y="773290"/>
                </a:moveTo>
                <a:lnTo>
                  <a:pt x="52196" y="774057"/>
                </a:lnTo>
                <a:lnTo>
                  <a:pt x="52147" y="773290"/>
                </a:lnTo>
                <a:close/>
              </a:path>
              <a:path w="1054735" h="1419225">
                <a:moveTo>
                  <a:pt x="73491" y="447535"/>
                </a:moveTo>
                <a:lnTo>
                  <a:pt x="57224" y="517899"/>
                </a:lnTo>
                <a:lnTo>
                  <a:pt x="46671" y="586708"/>
                </a:lnTo>
                <a:lnTo>
                  <a:pt x="56186" y="587989"/>
                </a:lnTo>
                <a:lnTo>
                  <a:pt x="60672" y="554662"/>
                </a:lnTo>
                <a:lnTo>
                  <a:pt x="66687" y="519515"/>
                </a:lnTo>
                <a:lnTo>
                  <a:pt x="73770" y="485618"/>
                </a:lnTo>
                <a:lnTo>
                  <a:pt x="81889" y="452979"/>
                </a:lnTo>
                <a:lnTo>
                  <a:pt x="82711" y="450208"/>
                </a:lnTo>
                <a:lnTo>
                  <a:pt x="73491" y="447535"/>
                </a:lnTo>
                <a:close/>
              </a:path>
              <a:path w="1054735" h="1419225">
                <a:moveTo>
                  <a:pt x="36611" y="436839"/>
                </a:moveTo>
                <a:lnTo>
                  <a:pt x="26781" y="475822"/>
                </a:lnTo>
                <a:lnTo>
                  <a:pt x="13101" y="548257"/>
                </a:lnTo>
                <a:lnTo>
                  <a:pt x="8614" y="581585"/>
                </a:lnTo>
                <a:lnTo>
                  <a:pt x="37157" y="585426"/>
                </a:lnTo>
                <a:lnTo>
                  <a:pt x="41644" y="552100"/>
                </a:lnTo>
                <a:lnTo>
                  <a:pt x="47762" y="516284"/>
                </a:lnTo>
                <a:lnTo>
                  <a:pt x="54975" y="481700"/>
                </a:lnTo>
                <a:lnTo>
                  <a:pt x="63254" y="448354"/>
                </a:lnTo>
                <a:lnTo>
                  <a:pt x="64270" y="444860"/>
                </a:lnTo>
                <a:lnTo>
                  <a:pt x="36611" y="436839"/>
                </a:lnTo>
                <a:close/>
              </a:path>
              <a:path w="1054735" h="1419225">
                <a:moveTo>
                  <a:pt x="145084" y="274058"/>
                </a:moveTo>
                <a:lnTo>
                  <a:pt x="115222" y="331243"/>
                </a:lnTo>
                <a:lnTo>
                  <a:pt x="91989" y="388438"/>
                </a:lnTo>
                <a:lnTo>
                  <a:pt x="87388" y="402206"/>
                </a:lnTo>
                <a:lnTo>
                  <a:pt x="96493" y="405249"/>
                </a:lnTo>
                <a:lnTo>
                  <a:pt x="101094" y="391482"/>
                </a:lnTo>
                <a:lnTo>
                  <a:pt x="112115" y="362629"/>
                </a:lnTo>
                <a:lnTo>
                  <a:pt x="124037" y="335045"/>
                </a:lnTo>
                <a:lnTo>
                  <a:pt x="136825" y="308730"/>
                </a:lnTo>
                <a:lnTo>
                  <a:pt x="150448" y="283686"/>
                </a:lnTo>
                <a:lnTo>
                  <a:pt x="153297" y="279029"/>
                </a:lnTo>
                <a:lnTo>
                  <a:pt x="145084" y="274058"/>
                </a:lnTo>
                <a:close/>
              </a:path>
              <a:path w="1054735" h="1419225">
                <a:moveTo>
                  <a:pt x="112234" y="254171"/>
                </a:moveTo>
                <a:lnTo>
                  <a:pt x="93637" y="287784"/>
                </a:lnTo>
                <a:lnTo>
                  <a:pt x="67264" y="345532"/>
                </a:lnTo>
                <a:lnTo>
                  <a:pt x="50968" y="390033"/>
                </a:lnTo>
                <a:lnTo>
                  <a:pt x="78284" y="399163"/>
                </a:lnTo>
                <a:lnTo>
                  <a:pt x="82885" y="385395"/>
                </a:lnTo>
                <a:lnTo>
                  <a:pt x="94175" y="355790"/>
                </a:lnTo>
                <a:lnTo>
                  <a:pt x="106406" y="327441"/>
                </a:lnTo>
                <a:lnTo>
                  <a:pt x="119550" y="300352"/>
                </a:lnTo>
                <a:lnTo>
                  <a:pt x="133573" y="274527"/>
                </a:lnTo>
                <a:lnTo>
                  <a:pt x="136872" y="269086"/>
                </a:lnTo>
                <a:lnTo>
                  <a:pt x="112234" y="254171"/>
                </a:lnTo>
                <a:close/>
              </a:path>
              <a:path w="1054735" h="1419225">
                <a:moveTo>
                  <a:pt x="265386" y="132590"/>
                </a:moveTo>
                <a:lnTo>
                  <a:pt x="222871" y="170997"/>
                </a:lnTo>
                <a:lnTo>
                  <a:pt x="188302" y="210422"/>
                </a:lnTo>
                <a:lnTo>
                  <a:pt x="170613" y="234251"/>
                </a:lnTo>
                <a:lnTo>
                  <a:pt x="178575" y="239613"/>
                </a:lnTo>
                <a:lnTo>
                  <a:pt x="180061" y="237407"/>
                </a:lnTo>
                <a:lnTo>
                  <a:pt x="195988" y="216174"/>
                </a:lnTo>
                <a:lnTo>
                  <a:pt x="229925" y="177509"/>
                </a:lnTo>
                <a:lnTo>
                  <a:pt x="266439" y="143903"/>
                </a:lnTo>
                <a:lnTo>
                  <a:pt x="271296" y="140157"/>
                </a:lnTo>
                <a:lnTo>
                  <a:pt x="265386" y="132590"/>
                </a:lnTo>
                <a:close/>
              </a:path>
              <a:path w="1054735" h="1419225">
                <a:moveTo>
                  <a:pt x="241752" y="102327"/>
                </a:moveTo>
                <a:lnTo>
                  <a:pt x="194655" y="144951"/>
                </a:lnTo>
                <a:lnTo>
                  <a:pt x="157557" y="187415"/>
                </a:lnTo>
                <a:lnTo>
                  <a:pt x="138764" y="212799"/>
                </a:lnTo>
                <a:lnTo>
                  <a:pt x="162651" y="228888"/>
                </a:lnTo>
                <a:lnTo>
                  <a:pt x="164137" y="226682"/>
                </a:lnTo>
                <a:lnTo>
                  <a:pt x="180616" y="204670"/>
                </a:lnTo>
                <a:lnTo>
                  <a:pt x="215817" y="164486"/>
                </a:lnTo>
                <a:lnTo>
                  <a:pt x="253808" y="129444"/>
                </a:lnTo>
                <a:lnTo>
                  <a:pt x="259478" y="125025"/>
                </a:lnTo>
                <a:lnTo>
                  <a:pt x="241752" y="102327"/>
                </a:lnTo>
                <a:close/>
              </a:path>
              <a:path w="1054735" h="1419225">
                <a:moveTo>
                  <a:pt x="431011" y="50631"/>
                </a:moveTo>
                <a:lnTo>
                  <a:pt x="385707" y="64355"/>
                </a:lnTo>
                <a:lnTo>
                  <a:pt x="341759" y="83345"/>
                </a:lnTo>
                <a:lnTo>
                  <a:pt x="303020" y="105519"/>
                </a:lnTo>
                <a:lnTo>
                  <a:pt x="308046" y="113698"/>
                </a:lnTo>
                <a:lnTo>
                  <a:pt x="325554" y="102939"/>
                </a:lnTo>
                <a:lnTo>
                  <a:pt x="346313" y="91795"/>
                </a:lnTo>
                <a:lnTo>
                  <a:pt x="367560" y="81906"/>
                </a:lnTo>
                <a:lnTo>
                  <a:pt x="389271" y="73270"/>
                </a:lnTo>
                <a:lnTo>
                  <a:pt x="411422" y="65890"/>
                </a:lnTo>
                <a:lnTo>
                  <a:pt x="433538" y="59891"/>
                </a:lnTo>
                <a:lnTo>
                  <a:pt x="431011" y="50631"/>
                </a:lnTo>
                <a:close/>
              </a:path>
              <a:path w="1054735" h="1419225">
                <a:moveTo>
                  <a:pt x="420898" y="13586"/>
                </a:moveTo>
                <a:lnTo>
                  <a:pt x="371455" y="28698"/>
                </a:lnTo>
                <a:lnTo>
                  <a:pt x="323542" y="49541"/>
                </a:lnTo>
                <a:lnTo>
                  <a:pt x="282915" y="72802"/>
                </a:lnTo>
                <a:lnTo>
                  <a:pt x="297994" y="97340"/>
                </a:lnTo>
                <a:lnTo>
                  <a:pt x="315502" y="86580"/>
                </a:lnTo>
                <a:lnTo>
                  <a:pt x="337205" y="74893"/>
                </a:lnTo>
                <a:lnTo>
                  <a:pt x="359429" y="64512"/>
                </a:lnTo>
                <a:lnTo>
                  <a:pt x="382144" y="55441"/>
                </a:lnTo>
                <a:lnTo>
                  <a:pt x="405324" y="47684"/>
                </a:lnTo>
                <a:lnTo>
                  <a:pt x="428482" y="41370"/>
                </a:lnTo>
                <a:lnTo>
                  <a:pt x="420898" y="13586"/>
                </a:lnTo>
                <a:close/>
              </a:path>
              <a:path w="1054735" h="1419225">
                <a:moveTo>
                  <a:pt x="618379" y="28770"/>
                </a:moveTo>
                <a:lnTo>
                  <a:pt x="527168" y="28770"/>
                </a:lnTo>
                <a:lnTo>
                  <a:pt x="550952" y="28835"/>
                </a:lnTo>
                <a:lnTo>
                  <a:pt x="574597" y="30520"/>
                </a:lnTo>
                <a:lnTo>
                  <a:pt x="598159" y="33794"/>
                </a:lnTo>
                <a:lnTo>
                  <a:pt x="616560" y="37595"/>
                </a:lnTo>
                <a:lnTo>
                  <a:pt x="618379" y="28770"/>
                </a:lnTo>
                <a:close/>
              </a:path>
              <a:path w="1054735" h="1419225">
                <a:moveTo>
                  <a:pt x="525877" y="0"/>
                </a:moveTo>
                <a:lnTo>
                  <a:pt x="499249" y="1229"/>
                </a:lnTo>
                <a:lnTo>
                  <a:pt x="472928" y="3884"/>
                </a:lnTo>
                <a:lnTo>
                  <a:pt x="470696" y="4232"/>
                </a:lnTo>
                <a:lnTo>
                  <a:pt x="475123" y="32689"/>
                </a:lnTo>
                <a:lnTo>
                  <a:pt x="477354" y="32343"/>
                </a:lnTo>
                <a:lnTo>
                  <a:pt x="502102" y="29888"/>
                </a:lnTo>
                <a:lnTo>
                  <a:pt x="527168" y="28770"/>
                </a:lnTo>
                <a:lnTo>
                  <a:pt x="618379" y="28770"/>
                </a:lnTo>
                <a:lnTo>
                  <a:pt x="622372" y="9387"/>
                </a:lnTo>
                <a:lnTo>
                  <a:pt x="602110" y="5266"/>
                </a:lnTo>
                <a:lnTo>
                  <a:pt x="576630" y="1791"/>
                </a:lnTo>
                <a:lnTo>
                  <a:pt x="551023" y="35"/>
                </a:lnTo>
                <a:lnTo>
                  <a:pt x="525877" y="0"/>
                </a:lnTo>
                <a:close/>
              </a:path>
              <a:path w="1054735" h="1419225">
                <a:moveTo>
                  <a:pt x="614427" y="47951"/>
                </a:moveTo>
                <a:lnTo>
                  <a:pt x="528027" y="47951"/>
                </a:lnTo>
                <a:lnTo>
                  <a:pt x="550904" y="48035"/>
                </a:lnTo>
                <a:lnTo>
                  <a:pt x="573241" y="49672"/>
                </a:lnTo>
                <a:lnTo>
                  <a:pt x="595525" y="52812"/>
                </a:lnTo>
                <a:lnTo>
                  <a:pt x="612686" y="56400"/>
                </a:lnTo>
                <a:lnTo>
                  <a:pt x="614427" y="47951"/>
                </a:lnTo>
                <a:close/>
              </a:path>
              <a:path w="1054735" h="1419225">
                <a:moveTo>
                  <a:pt x="527598" y="38361"/>
                </a:moveTo>
                <a:lnTo>
                  <a:pt x="503052" y="39441"/>
                </a:lnTo>
                <a:lnTo>
                  <a:pt x="478830" y="41828"/>
                </a:lnTo>
                <a:lnTo>
                  <a:pt x="476599" y="42175"/>
                </a:lnTo>
                <a:lnTo>
                  <a:pt x="478074" y="51662"/>
                </a:lnTo>
                <a:lnTo>
                  <a:pt x="480306" y="51314"/>
                </a:lnTo>
                <a:lnTo>
                  <a:pt x="504002" y="48994"/>
                </a:lnTo>
                <a:lnTo>
                  <a:pt x="528027" y="47951"/>
                </a:lnTo>
                <a:lnTo>
                  <a:pt x="614427" y="47951"/>
                </a:lnTo>
                <a:lnTo>
                  <a:pt x="614624" y="46998"/>
                </a:lnTo>
                <a:lnTo>
                  <a:pt x="596842" y="43303"/>
                </a:lnTo>
                <a:lnTo>
                  <a:pt x="573919" y="40096"/>
                </a:lnTo>
                <a:lnTo>
                  <a:pt x="550928" y="38435"/>
                </a:lnTo>
                <a:lnTo>
                  <a:pt x="527598" y="38361"/>
                </a:lnTo>
                <a:close/>
              </a:path>
              <a:path w="1054735" h="1419225">
                <a:moveTo>
                  <a:pt x="658900" y="59975"/>
                </a:moveTo>
                <a:lnTo>
                  <a:pt x="655791" y="69058"/>
                </a:lnTo>
                <a:lnTo>
                  <a:pt x="661663" y="71069"/>
                </a:lnTo>
                <a:lnTo>
                  <a:pt x="683324" y="80040"/>
                </a:lnTo>
                <a:lnTo>
                  <a:pt x="725793" y="102204"/>
                </a:lnTo>
                <a:lnTo>
                  <a:pt x="766792" y="129870"/>
                </a:lnTo>
                <a:lnTo>
                  <a:pt x="773583" y="135327"/>
                </a:lnTo>
                <a:lnTo>
                  <a:pt x="779566" y="127820"/>
                </a:lnTo>
                <a:lnTo>
                  <a:pt x="730463" y="93816"/>
                </a:lnTo>
                <a:lnTo>
                  <a:pt x="686982" y="71164"/>
                </a:lnTo>
                <a:lnTo>
                  <a:pt x="664772" y="61986"/>
                </a:lnTo>
                <a:lnTo>
                  <a:pt x="658900" y="59975"/>
                </a:lnTo>
                <a:close/>
              </a:path>
              <a:path w="1054735" h="1419225">
                <a:moveTo>
                  <a:pt x="671334" y="23644"/>
                </a:moveTo>
                <a:lnTo>
                  <a:pt x="662007" y="50893"/>
                </a:lnTo>
                <a:lnTo>
                  <a:pt x="667881" y="52903"/>
                </a:lnTo>
                <a:lnTo>
                  <a:pt x="690638" y="62287"/>
                </a:lnTo>
                <a:lnTo>
                  <a:pt x="735133" y="85429"/>
                </a:lnTo>
                <a:lnTo>
                  <a:pt x="777938" y="114236"/>
                </a:lnTo>
                <a:lnTo>
                  <a:pt x="785550" y="120313"/>
                </a:lnTo>
                <a:lnTo>
                  <a:pt x="803502" y="97792"/>
                </a:lnTo>
                <a:lnTo>
                  <a:pt x="772176" y="74802"/>
                </a:lnTo>
                <a:lnTo>
                  <a:pt x="725603" y="47205"/>
                </a:lnTo>
                <a:lnTo>
                  <a:pt x="677208" y="25655"/>
                </a:lnTo>
                <a:lnTo>
                  <a:pt x="671334" y="23644"/>
                </a:lnTo>
                <a:close/>
              </a:path>
              <a:path w="1054735" h="1419225">
                <a:moveTo>
                  <a:pt x="814778" y="158167"/>
                </a:moveTo>
                <a:lnTo>
                  <a:pt x="808050" y="165013"/>
                </a:lnTo>
                <a:lnTo>
                  <a:pt x="824654" y="181329"/>
                </a:lnTo>
                <a:lnTo>
                  <a:pt x="842765" y="201051"/>
                </a:lnTo>
                <a:lnTo>
                  <a:pt x="860204" y="222020"/>
                </a:lnTo>
                <a:lnTo>
                  <a:pt x="876915" y="244212"/>
                </a:lnTo>
                <a:lnTo>
                  <a:pt x="892853" y="267602"/>
                </a:lnTo>
                <a:lnTo>
                  <a:pt x="895341" y="271691"/>
                </a:lnTo>
                <a:lnTo>
                  <a:pt x="903513" y="266654"/>
                </a:lnTo>
                <a:lnTo>
                  <a:pt x="867578" y="215873"/>
                </a:lnTo>
                <a:lnTo>
                  <a:pt x="831382" y="174481"/>
                </a:lnTo>
                <a:lnTo>
                  <a:pt x="814778" y="158167"/>
                </a:lnTo>
                <a:close/>
              </a:path>
              <a:path w="1054735" h="1419225">
                <a:moveTo>
                  <a:pt x="841693" y="130776"/>
                </a:moveTo>
                <a:lnTo>
                  <a:pt x="821508" y="151319"/>
                </a:lnTo>
                <a:lnTo>
                  <a:pt x="838111" y="167634"/>
                </a:lnTo>
                <a:lnTo>
                  <a:pt x="856893" y="188048"/>
                </a:lnTo>
                <a:lnTo>
                  <a:pt x="874952" y="209727"/>
                </a:lnTo>
                <a:lnTo>
                  <a:pt x="892242" y="232644"/>
                </a:lnTo>
                <a:lnTo>
                  <a:pt x="908710" y="256777"/>
                </a:lnTo>
                <a:lnTo>
                  <a:pt x="911687" y="261617"/>
                </a:lnTo>
                <a:lnTo>
                  <a:pt x="936204" y="246508"/>
                </a:lnTo>
                <a:lnTo>
                  <a:pt x="897077" y="191288"/>
                </a:lnTo>
                <a:lnTo>
                  <a:pt x="858296" y="147092"/>
                </a:lnTo>
                <a:lnTo>
                  <a:pt x="841693" y="130776"/>
                </a:lnTo>
                <a:close/>
              </a:path>
              <a:path w="1054735" h="1419225">
                <a:moveTo>
                  <a:pt x="927409" y="307502"/>
                </a:moveTo>
                <a:lnTo>
                  <a:pt x="919013" y="312157"/>
                </a:lnTo>
                <a:lnTo>
                  <a:pt x="922191" y="317887"/>
                </a:lnTo>
                <a:lnTo>
                  <a:pt x="948030" y="373165"/>
                </a:lnTo>
                <a:lnTo>
                  <a:pt x="959098" y="401706"/>
                </a:lnTo>
                <a:lnTo>
                  <a:pt x="969305" y="431786"/>
                </a:lnTo>
                <a:lnTo>
                  <a:pt x="971735" y="440175"/>
                </a:lnTo>
                <a:lnTo>
                  <a:pt x="980949" y="437480"/>
                </a:lnTo>
                <a:lnTo>
                  <a:pt x="978394" y="428694"/>
                </a:lnTo>
                <a:lnTo>
                  <a:pt x="968043" y="398219"/>
                </a:lnTo>
                <a:lnTo>
                  <a:pt x="956724" y="369092"/>
                </a:lnTo>
                <a:lnTo>
                  <a:pt x="930587" y="313232"/>
                </a:lnTo>
                <a:lnTo>
                  <a:pt x="927409" y="307502"/>
                </a:lnTo>
                <a:close/>
              </a:path>
              <a:path w="1054735" h="1419225">
                <a:moveTo>
                  <a:pt x="960993" y="288883"/>
                </a:moveTo>
                <a:lnTo>
                  <a:pt x="935805" y="302848"/>
                </a:lnTo>
                <a:lnTo>
                  <a:pt x="938983" y="308576"/>
                </a:lnTo>
                <a:lnTo>
                  <a:pt x="965417" y="365018"/>
                </a:lnTo>
                <a:lnTo>
                  <a:pt x="976988" y="394733"/>
                </a:lnTo>
                <a:lnTo>
                  <a:pt x="987482" y="425603"/>
                </a:lnTo>
                <a:lnTo>
                  <a:pt x="990163" y="434787"/>
                </a:lnTo>
                <a:lnTo>
                  <a:pt x="1017805" y="426702"/>
                </a:lnTo>
                <a:lnTo>
                  <a:pt x="1014749" y="416328"/>
                </a:lnTo>
                <a:lnTo>
                  <a:pt x="1003821" y="384274"/>
                </a:lnTo>
                <a:lnTo>
                  <a:pt x="991496" y="352798"/>
                </a:lnTo>
                <a:lnTo>
                  <a:pt x="964170" y="294612"/>
                </a:lnTo>
                <a:lnTo>
                  <a:pt x="960993" y="288883"/>
                </a:lnTo>
                <a:close/>
              </a:path>
              <a:path w="1054735" h="1419225">
                <a:moveTo>
                  <a:pt x="993254" y="483226"/>
                </a:moveTo>
                <a:lnTo>
                  <a:pt x="983933" y="485523"/>
                </a:lnTo>
                <a:lnTo>
                  <a:pt x="986271" y="495009"/>
                </a:lnTo>
                <a:lnTo>
                  <a:pt x="992929" y="528102"/>
                </a:lnTo>
                <a:lnTo>
                  <a:pt x="998303" y="562154"/>
                </a:lnTo>
                <a:lnTo>
                  <a:pt x="1002344" y="597136"/>
                </a:lnTo>
                <a:lnTo>
                  <a:pt x="1004314" y="623837"/>
                </a:lnTo>
                <a:lnTo>
                  <a:pt x="1013889" y="623124"/>
                </a:lnTo>
                <a:lnTo>
                  <a:pt x="1011880" y="596028"/>
                </a:lnTo>
                <a:lnTo>
                  <a:pt x="1007785" y="560650"/>
                </a:lnTo>
                <a:lnTo>
                  <a:pt x="1002339" y="526202"/>
                </a:lnTo>
                <a:lnTo>
                  <a:pt x="995592" y="492711"/>
                </a:lnTo>
                <a:lnTo>
                  <a:pt x="993254" y="483226"/>
                </a:lnTo>
                <a:close/>
              </a:path>
              <a:path w="1054735" h="1419225">
                <a:moveTo>
                  <a:pt x="1030538" y="474037"/>
                </a:moveTo>
                <a:lnTo>
                  <a:pt x="1002576" y="480929"/>
                </a:lnTo>
                <a:lnTo>
                  <a:pt x="1004912" y="490414"/>
                </a:lnTo>
                <a:lnTo>
                  <a:pt x="1011749" y="524304"/>
                </a:lnTo>
                <a:lnTo>
                  <a:pt x="1017267" y="559147"/>
                </a:lnTo>
                <a:lnTo>
                  <a:pt x="1021416" y="594922"/>
                </a:lnTo>
                <a:lnTo>
                  <a:pt x="1023462" y="622410"/>
                </a:lnTo>
                <a:lnTo>
                  <a:pt x="1052182" y="620269"/>
                </a:lnTo>
                <a:lnTo>
                  <a:pt x="1050024" y="591600"/>
                </a:lnTo>
                <a:lnTo>
                  <a:pt x="1045712" y="554640"/>
                </a:lnTo>
                <a:lnTo>
                  <a:pt x="1039980" y="518605"/>
                </a:lnTo>
                <a:lnTo>
                  <a:pt x="1032877" y="483523"/>
                </a:lnTo>
                <a:lnTo>
                  <a:pt x="1030538" y="474037"/>
                </a:lnTo>
                <a:close/>
              </a:path>
              <a:path w="1054735" h="1419225">
                <a:moveTo>
                  <a:pt x="1025400" y="669975"/>
                </a:moveTo>
                <a:lnTo>
                  <a:pt x="1024939" y="742652"/>
                </a:lnTo>
                <a:lnTo>
                  <a:pt x="1023360" y="776884"/>
                </a:lnTo>
                <a:lnTo>
                  <a:pt x="1020434" y="810906"/>
                </a:lnTo>
                <a:lnTo>
                  <a:pt x="1020140" y="813224"/>
                </a:lnTo>
                <a:lnTo>
                  <a:pt x="1048715" y="816817"/>
                </a:lnTo>
                <a:lnTo>
                  <a:pt x="1049141" y="813224"/>
                </a:lnTo>
                <a:lnTo>
                  <a:pt x="1052130" y="778207"/>
                </a:lnTo>
                <a:lnTo>
                  <a:pt x="1053748" y="742482"/>
                </a:lnTo>
                <a:lnTo>
                  <a:pt x="1054200" y="670163"/>
                </a:lnTo>
                <a:lnTo>
                  <a:pt x="1025400" y="669975"/>
                </a:lnTo>
                <a:close/>
              </a:path>
              <a:path w="1054735" h="1419225">
                <a:moveTo>
                  <a:pt x="1006200" y="669850"/>
                </a:moveTo>
                <a:lnTo>
                  <a:pt x="1005744" y="742425"/>
                </a:lnTo>
                <a:lnTo>
                  <a:pt x="1004181" y="776001"/>
                </a:lnTo>
                <a:lnTo>
                  <a:pt x="1001306" y="809263"/>
                </a:lnTo>
                <a:lnTo>
                  <a:pt x="1001090" y="810828"/>
                </a:lnTo>
                <a:lnTo>
                  <a:pt x="1010615" y="812026"/>
                </a:lnTo>
                <a:lnTo>
                  <a:pt x="1010870" y="810084"/>
                </a:lnTo>
                <a:lnTo>
                  <a:pt x="1013771" y="776442"/>
                </a:lnTo>
                <a:lnTo>
                  <a:pt x="1015347" y="742368"/>
                </a:lnTo>
                <a:lnTo>
                  <a:pt x="1015800" y="669912"/>
                </a:lnTo>
                <a:lnTo>
                  <a:pt x="1006200" y="669850"/>
                </a:lnTo>
                <a:close/>
              </a:path>
              <a:path w="1054735" h="1419225">
                <a:moveTo>
                  <a:pt x="1013541" y="860569"/>
                </a:moveTo>
                <a:lnTo>
                  <a:pt x="1004007" y="910149"/>
                </a:lnTo>
                <a:lnTo>
                  <a:pt x="987061" y="973406"/>
                </a:lnTo>
                <a:lnTo>
                  <a:pt x="977997" y="999009"/>
                </a:lnTo>
                <a:lnTo>
                  <a:pt x="1005149" y="1008613"/>
                </a:lnTo>
                <a:lnTo>
                  <a:pt x="1024067" y="949012"/>
                </a:lnTo>
                <a:lnTo>
                  <a:pt x="1039133" y="882302"/>
                </a:lnTo>
                <a:lnTo>
                  <a:pt x="1041953" y="865278"/>
                </a:lnTo>
                <a:lnTo>
                  <a:pt x="1013541" y="860569"/>
                </a:lnTo>
                <a:close/>
              </a:path>
              <a:path w="1054735" h="1419225">
                <a:moveTo>
                  <a:pt x="994599" y="857431"/>
                </a:moveTo>
                <a:lnTo>
                  <a:pt x="985202" y="906273"/>
                </a:lnTo>
                <a:lnTo>
                  <a:pt x="968616" y="968079"/>
                </a:lnTo>
                <a:lnTo>
                  <a:pt x="959896" y="992607"/>
                </a:lnTo>
                <a:lnTo>
                  <a:pt x="968946" y="995808"/>
                </a:lnTo>
                <a:lnTo>
                  <a:pt x="986788" y="939802"/>
                </a:lnTo>
                <a:lnTo>
                  <a:pt x="1001248" y="876024"/>
                </a:lnTo>
                <a:lnTo>
                  <a:pt x="1004070" y="859001"/>
                </a:lnTo>
                <a:lnTo>
                  <a:pt x="994599" y="857431"/>
                </a:lnTo>
                <a:close/>
              </a:path>
              <a:path w="1054735" h="1419225">
                <a:moveTo>
                  <a:pt x="961320" y="1043583"/>
                </a:moveTo>
                <a:lnTo>
                  <a:pt x="940135" y="1091065"/>
                </a:lnTo>
                <a:lnTo>
                  <a:pt x="910804" y="1144496"/>
                </a:lnTo>
                <a:lnTo>
                  <a:pt x="894861" y="1169592"/>
                </a:lnTo>
                <a:lnTo>
                  <a:pt x="894622" y="1169926"/>
                </a:lnTo>
                <a:lnTo>
                  <a:pt x="918234" y="1186416"/>
                </a:lnTo>
                <a:lnTo>
                  <a:pt x="919175" y="1185028"/>
                </a:lnTo>
                <a:lnTo>
                  <a:pt x="936054" y="1158347"/>
                </a:lnTo>
                <a:lnTo>
                  <a:pt x="966435" y="1102800"/>
                </a:lnTo>
                <a:lnTo>
                  <a:pt x="987621" y="1055317"/>
                </a:lnTo>
                <a:lnTo>
                  <a:pt x="961320" y="1043583"/>
                </a:lnTo>
                <a:close/>
              </a:path>
              <a:path w="1054735" h="1419225">
                <a:moveTo>
                  <a:pt x="943786" y="1035759"/>
                </a:moveTo>
                <a:lnTo>
                  <a:pt x="922601" y="1083242"/>
                </a:lnTo>
                <a:lnTo>
                  <a:pt x="893972" y="1135260"/>
                </a:lnTo>
                <a:lnTo>
                  <a:pt x="878652" y="1159301"/>
                </a:lnTo>
                <a:lnTo>
                  <a:pt x="886755" y="1164446"/>
                </a:lnTo>
                <a:lnTo>
                  <a:pt x="902388" y="1139878"/>
                </a:lnTo>
                <a:lnTo>
                  <a:pt x="931368" y="1087154"/>
                </a:lnTo>
                <a:lnTo>
                  <a:pt x="952553" y="1039671"/>
                </a:lnTo>
                <a:lnTo>
                  <a:pt x="943786" y="1035759"/>
                </a:lnTo>
                <a:close/>
              </a:path>
              <a:path w="1054735" h="1419225">
                <a:moveTo>
                  <a:pt x="866571" y="1208594"/>
                </a:moveTo>
                <a:lnTo>
                  <a:pt x="842017" y="1238364"/>
                </a:lnTo>
                <a:lnTo>
                  <a:pt x="803132" y="1278016"/>
                </a:lnTo>
                <a:lnTo>
                  <a:pt x="765722" y="1309061"/>
                </a:lnTo>
                <a:lnTo>
                  <a:pt x="783435" y="1331770"/>
                </a:lnTo>
                <a:lnTo>
                  <a:pt x="823179" y="1298693"/>
                </a:lnTo>
                <a:lnTo>
                  <a:pt x="864011" y="1256958"/>
                </a:lnTo>
                <a:lnTo>
                  <a:pt x="889412" y="1226136"/>
                </a:lnTo>
                <a:lnTo>
                  <a:pt x="866571" y="1208594"/>
                </a:lnTo>
                <a:close/>
              </a:path>
              <a:path w="1054735" h="1419225">
                <a:moveTo>
                  <a:pt x="851344" y="1196898"/>
                </a:moveTo>
                <a:lnTo>
                  <a:pt x="808871" y="1245753"/>
                </a:lnTo>
                <a:lnTo>
                  <a:pt x="770091" y="1281351"/>
                </a:lnTo>
                <a:lnTo>
                  <a:pt x="753915" y="1293921"/>
                </a:lnTo>
                <a:lnTo>
                  <a:pt x="759819" y="1301490"/>
                </a:lnTo>
                <a:lnTo>
                  <a:pt x="796450" y="1271123"/>
                </a:lnTo>
                <a:lnTo>
                  <a:pt x="834687" y="1232166"/>
                </a:lnTo>
                <a:lnTo>
                  <a:pt x="858958" y="1202745"/>
                </a:lnTo>
                <a:lnTo>
                  <a:pt x="851344" y="1196898"/>
                </a:lnTo>
                <a:close/>
              </a:path>
              <a:path w="1054735" h="1419225">
                <a:moveTo>
                  <a:pt x="726344" y="1335451"/>
                </a:moveTo>
                <a:lnTo>
                  <a:pt x="672411" y="1362485"/>
                </a:lnTo>
                <a:lnTo>
                  <a:pt x="625194" y="1377739"/>
                </a:lnTo>
                <a:lnTo>
                  <a:pt x="593803" y="1383638"/>
                </a:lnTo>
                <a:lnTo>
                  <a:pt x="597490" y="1412201"/>
                </a:lnTo>
                <a:lnTo>
                  <a:pt x="658816" y="1398050"/>
                </a:lnTo>
                <a:lnTo>
                  <a:pt x="708788" y="1377825"/>
                </a:lnTo>
                <a:lnTo>
                  <a:pt x="741273" y="1360079"/>
                </a:lnTo>
                <a:lnTo>
                  <a:pt x="726344" y="1335451"/>
                </a:lnTo>
                <a:close/>
              </a:path>
              <a:path w="1054735" h="1419225">
                <a:moveTo>
                  <a:pt x="716391" y="1319032"/>
                </a:moveTo>
                <a:lnTo>
                  <a:pt x="664641" y="1344927"/>
                </a:lnTo>
                <a:lnTo>
                  <a:pt x="619937" y="1359273"/>
                </a:lnTo>
                <a:lnTo>
                  <a:pt x="591346" y="1364595"/>
                </a:lnTo>
                <a:lnTo>
                  <a:pt x="592574" y="1374117"/>
                </a:lnTo>
                <a:lnTo>
                  <a:pt x="645709" y="1361955"/>
                </a:lnTo>
                <a:lnTo>
                  <a:pt x="690982" y="1343803"/>
                </a:lnTo>
                <a:lnTo>
                  <a:pt x="721368" y="1327242"/>
                </a:lnTo>
                <a:lnTo>
                  <a:pt x="716391" y="1319032"/>
                </a:lnTo>
                <a:close/>
              </a:path>
              <a:path w="1054735" h="1419225">
                <a:moveTo>
                  <a:pt x="404685" y="1380566"/>
                </a:moveTo>
                <a:lnTo>
                  <a:pt x="398124" y="1408609"/>
                </a:lnTo>
                <a:lnTo>
                  <a:pt x="418715" y="1413337"/>
                </a:lnTo>
                <a:lnTo>
                  <a:pt x="446081" y="1417251"/>
                </a:lnTo>
                <a:lnTo>
                  <a:pt x="474041" y="1418838"/>
                </a:lnTo>
                <a:lnTo>
                  <a:pt x="502537" y="1418031"/>
                </a:lnTo>
                <a:lnTo>
                  <a:pt x="526298" y="1415195"/>
                </a:lnTo>
                <a:lnTo>
                  <a:pt x="545955" y="1415195"/>
                </a:lnTo>
                <a:lnTo>
                  <a:pt x="546641" y="1390048"/>
                </a:lnTo>
                <a:lnTo>
                  <a:pt x="473311" y="1390048"/>
                </a:lnTo>
                <a:lnTo>
                  <a:pt x="447803" y="1388502"/>
                </a:lnTo>
                <a:lnTo>
                  <a:pt x="422882" y="1384841"/>
                </a:lnTo>
                <a:lnTo>
                  <a:pt x="404685" y="1380566"/>
                </a:lnTo>
                <a:close/>
              </a:path>
              <a:path w="1054735" h="1419225">
                <a:moveTo>
                  <a:pt x="545955" y="1415195"/>
                </a:moveTo>
                <a:lnTo>
                  <a:pt x="526298" y="1415195"/>
                </a:lnTo>
                <a:lnTo>
                  <a:pt x="545941" y="1415731"/>
                </a:lnTo>
                <a:lnTo>
                  <a:pt x="545955" y="1415195"/>
                </a:lnTo>
                <a:close/>
              </a:path>
              <a:path w="1054735" h="1419225">
                <a:moveTo>
                  <a:pt x="527084" y="1386405"/>
                </a:moveTo>
                <a:lnTo>
                  <a:pt x="499393" y="1389402"/>
                </a:lnTo>
                <a:lnTo>
                  <a:pt x="473311" y="1390048"/>
                </a:lnTo>
                <a:lnTo>
                  <a:pt x="546641" y="1390048"/>
                </a:lnTo>
                <a:lnTo>
                  <a:pt x="546726" y="1386941"/>
                </a:lnTo>
                <a:lnTo>
                  <a:pt x="527084" y="1386405"/>
                </a:lnTo>
                <a:close/>
              </a:path>
              <a:path w="1054735" h="1419225">
                <a:moveTo>
                  <a:pt x="409058" y="1361870"/>
                </a:moveTo>
                <a:lnTo>
                  <a:pt x="406871" y="1371218"/>
                </a:lnTo>
                <a:lnTo>
                  <a:pt x="424271" y="1375341"/>
                </a:lnTo>
                <a:lnTo>
                  <a:pt x="448377" y="1378920"/>
                </a:lnTo>
                <a:lnTo>
                  <a:pt x="473067" y="1380450"/>
                </a:lnTo>
                <a:lnTo>
                  <a:pt x="498344" y="1379860"/>
                </a:lnTo>
                <a:lnTo>
                  <a:pt x="527345" y="1376809"/>
                </a:lnTo>
                <a:lnTo>
                  <a:pt x="547002" y="1376809"/>
                </a:lnTo>
                <a:lnTo>
                  <a:pt x="547164" y="1370854"/>
                </a:lnTo>
                <a:lnTo>
                  <a:pt x="472823" y="1370854"/>
                </a:lnTo>
                <a:lnTo>
                  <a:pt x="448951" y="1369336"/>
                </a:lnTo>
                <a:lnTo>
                  <a:pt x="425660" y="1365843"/>
                </a:lnTo>
                <a:lnTo>
                  <a:pt x="409058" y="1361870"/>
                </a:lnTo>
                <a:close/>
              </a:path>
              <a:path w="1054735" h="1419225">
                <a:moveTo>
                  <a:pt x="547002" y="1376809"/>
                </a:moveTo>
                <a:lnTo>
                  <a:pt x="527345" y="1376809"/>
                </a:lnTo>
                <a:lnTo>
                  <a:pt x="546987" y="1377345"/>
                </a:lnTo>
                <a:lnTo>
                  <a:pt x="547002" y="1376809"/>
                </a:lnTo>
                <a:close/>
              </a:path>
              <a:path w="1054735" h="1419225">
                <a:moveTo>
                  <a:pt x="527607" y="1367213"/>
                </a:moveTo>
                <a:lnTo>
                  <a:pt x="497296" y="1370317"/>
                </a:lnTo>
                <a:lnTo>
                  <a:pt x="472823" y="1370854"/>
                </a:lnTo>
                <a:lnTo>
                  <a:pt x="547164" y="1370854"/>
                </a:lnTo>
                <a:lnTo>
                  <a:pt x="547249" y="1367748"/>
                </a:lnTo>
                <a:lnTo>
                  <a:pt x="527607" y="1367213"/>
                </a:lnTo>
                <a:close/>
              </a:path>
              <a:path w="1054735" h="1419225">
                <a:moveTo>
                  <a:pt x="243757" y="1285284"/>
                </a:moveTo>
                <a:lnTo>
                  <a:pt x="223105" y="1305356"/>
                </a:lnTo>
                <a:lnTo>
                  <a:pt x="226623" y="1308917"/>
                </a:lnTo>
                <a:lnTo>
                  <a:pt x="247741" y="1328188"/>
                </a:lnTo>
                <a:lnTo>
                  <a:pt x="292557" y="1361875"/>
                </a:lnTo>
                <a:lnTo>
                  <a:pt x="340711" y="1388464"/>
                </a:lnTo>
                <a:lnTo>
                  <a:pt x="349042" y="1391917"/>
                </a:lnTo>
                <a:lnTo>
                  <a:pt x="360070" y="1365312"/>
                </a:lnTo>
                <a:lnTo>
                  <a:pt x="351737" y="1361859"/>
                </a:lnTo>
                <a:lnTo>
                  <a:pt x="329271" y="1350429"/>
                </a:lnTo>
                <a:lnTo>
                  <a:pt x="307454" y="1337227"/>
                </a:lnTo>
                <a:lnTo>
                  <a:pt x="286302" y="1322322"/>
                </a:lnTo>
                <a:lnTo>
                  <a:pt x="265835" y="1305782"/>
                </a:lnTo>
                <a:lnTo>
                  <a:pt x="246070" y="1287675"/>
                </a:lnTo>
                <a:lnTo>
                  <a:pt x="243757" y="1285284"/>
                </a:lnTo>
                <a:close/>
              </a:path>
              <a:path w="1054735" h="1419225">
                <a:moveTo>
                  <a:pt x="257526" y="1271902"/>
                </a:moveTo>
                <a:lnTo>
                  <a:pt x="250642" y="1278592"/>
                </a:lnTo>
                <a:lnTo>
                  <a:pt x="252553" y="1280594"/>
                </a:lnTo>
                <a:lnTo>
                  <a:pt x="271866" y="1298313"/>
                </a:lnTo>
                <a:lnTo>
                  <a:pt x="312420" y="1329011"/>
                </a:lnTo>
                <a:lnTo>
                  <a:pt x="355413" y="1352990"/>
                </a:lnTo>
                <a:lnTo>
                  <a:pt x="363745" y="1356443"/>
                </a:lnTo>
                <a:lnTo>
                  <a:pt x="367421" y="1347575"/>
                </a:lnTo>
                <a:lnTo>
                  <a:pt x="359088" y="1344122"/>
                </a:lnTo>
                <a:lnTo>
                  <a:pt x="337967" y="1333310"/>
                </a:lnTo>
                <a:lnTo>
                  <a:pt x="317385" y="1320796"/>
                </a:lnTo>
                <a:lnTo>
                  <a:pt x="297355" y="1306622"/>
                </a:lnTo>
                <a:lnTo>
                  <a:pt x="277896" y="1290844"/>
                </a:lnTo>
                <a:lnTo>
                  <a:pt x="259035" y="1273514"/>
                </a:lnTo>
                <a:lnTo>
                  <a:pt x="257526" y="1271902"/>
                </a:lnTo>
                <a:close/>
              </a:path>
              <a:path w="1054735" h="1419225">
                <a:moveTo>
                  <a:pt x="133690" y="1130809"/>
                </a:moveTo>
                <a:lnTo>
                  <a:pt x="107956" y="1143737"/>
                </a:lnTo>
                <a:lnTo>
                  <a:pt x="118480" y="1164584"/>
                </a:lnTo>
                <a:lnTo>
                  <a:pt x="134256" y="1191667"/>
                </a:lnTo>
                <a:lnTo>
                  <a:pt x="150943" y="1217639"/>
                </a:lnTo>
                <a:lnTo>
                  <a:pt x="168530" y="1242427"/>
                </a:lnTo>
                <a:lnTo>
                  <a:pt x="187010" y="1265955"/>
                </a:lnTo>
                <a:lnTo>
                  <a:pt x="189727" y="1269076"/>
                </a:lnTo>
                <a:lnTo>
                  <a:pt x="211449" y="1250166"/>
                </a:lnTo>
                <a:lnTo>
                  <a:pt x="208732" y="1247044"/>
                </a:lnTo>
                <a:lnTo>
                  <a:pt x="191198" y="1224660"/>
                </a:lnTo>
                <a:lnTo>
                  <a:pt x="174447" y="1200995"/>
                </a:lnTo>
                <a:lnTo>
                  <a:pt x="158499" y="1176120"/>
                </a:lnTo>
                <a:lnTo>
                  <a:pt x="143376" y="1150106"/>
                </a:lnTo>
                <a:lnTo>
                  <a:pt x="133690" y="1130809"/>
                </a:lnTo>
                <a:close/>
              </a:path>
              <a:path w="1054735" h="1419225">
                <a:moveTo>
                  <a:pt x="150846" y="1122188"/>
                </a:moveTo>
                <a:lnTo>
                  <a:pt x="166580" y="1170937"/>
                </a:lnTo>
                <a:lnTo>
                  <a:pt x="198753" y="1218738"/>
                </a:lnTo>
                <a:lnTo>
                  <a:pt x="218690" y="1243862"/>
                </a:lnTo>
                <a:lnTo>
                  <a:pt x="225931" y="1237559"/>
                </a:lnTo>
                <a:lnTo>
                  <a:pt x="223213" y="1234437"/>
                </a:lnTo>
                <a:lnTo>
                  <a:pt x="206310" y="1212818"/>
                </a:lnTo>
                <a:lnTo>
                  <a:pt x="190116" y="1189901"/>
                </a:lnTo>
                <a:lnTo>
                  <a:pt x="174661" y="1165755"/>
                </a:lnTo>
                <a:lnTo>
                  <a:pt x="159973" y="1140453"/>
                </a:lnTo>
                <a:lnTo>
                  <a:pt x="150846" y="1122188"/>
                </a:lnTo>
                <a:close/>
              </a:path>
              <a:path w="1054735" h="1419225">
                <a:moveTo>
                  <a:pt x="65488" y="952878"/>
                </a:moveTo>
                <a:lnTo>
                  <a:pt x="37608" y="960095"/>
                </a:lnTo>
                <a:lnTo>
                  <a:pt x="43641" y="983189"/>
                </a:lnTo>
                <a:lnTo>
                  <a:pt x="64833" y="1046999"/>
                </a:lnTo>
                <a:lnTo>
                  <a:pt x="86189" y="1098953"/>
                </a:lnTo>
                <a:lnTo>
                  <a:pt x="112826" y="1088003"/>
                </a:lnTo>
                <a:lnTo>
                  <a:pt x="91470" y="1036049"/>
                </a:lnTo>
                <a:lnTo>
                  <a:pt x="70980" y="974135"/>
                </a:lnTo>
                <a:lnTo>
                  <a:pt x="65488" y="952878"/>
                </a:lnTo>
                <a:close/>
              </a:path>
              <a:path w="1054735" h="1419225">
                <a:moveTo>
                  <a:pt x="84076" y="948066"/>
                </a:moveTo>
                <a:lnTo>
                  <a:pt x="74782" y="950473"/>
                </a:lnTo>
                <a:lnTo>
                  <a:pt x="80093" y="971118"/>
                </a:lnTo>
                <a:lnTo>
                  <a:pt x="100349" y="1032399"/>
                </a:lnTo>
                <a:lnTo>
                  <a:pt x="121705" y="1084353"/>
                </a:lnTo>
                <a:lnTo>
                  <a:pt x="130585" y="1080703"/>
                </a:lnTo>
                <a:lnTo>
                  <a:pt x="109228" y="1028749"/>
                </a:lnTo>
                <a:lnTo>
                  <a:pt x="89207" y="968100"/>
                </a:lnTo>
                <a:lnTo>
                  <a:pt x="84076" y="948066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5216" y="341375"/>
            <a:ext cx="6867144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06995" y="1452482"/>
            <a:ext cx="2640595" cy="14569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10851" y="1330491"/>
            <a:ext cx="2600091" cy="17008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340118" y="1264549"/>
            <a:ext cx="2296886" cy="17668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47156" y="3096986"/>
            <a:ext cx="626110" cy="419100"/>
          </a:xfrm>
          <a:custGeom>
            <a:avLst/>
            <a:gdLst/>
            <a:ahLst/>
            <a:cxnLst/>
            <a:rect l="l" t="t" r="r" b="b"/>
            <a:pathLst>
              <a:path w="626110" h="419100">
                <a:moveTo>
                  <a:pt x="625929" y="209550"/>
                </a:moveTo>
                <a:lnTo>
                  <a:pt x="0" y="209550"/>
                </a:lnTo>
                <a:lnTo>
                  <a:pt x="312964" y="419100"/>
                </a:lnTo>
                <a:lnTo>
                  <a:pt x="625929" y="209550"/>
                </a:lnTo>
                <a:close/>
              </a:path>
              <a:path w="626110" h="419100">
                <a:moveTo>
                  <a:pt x="469446" y="0"/>
                </a:moveTo>
                <a:lnTo>
                  <a:pt x="156481" y="0"/>
                </a:lnTo>
                <a:lnTo>
                  <a:pt x="156481" y="209550"/>
                </a:lnTo>
                <a:lnTo>
                  <a:pt x="469446" y="209550"/>
                </a:lnTo>
                <a:lnTo>
                  <a:pt x="46944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68175" y="3072987"/>
            <a:ext cx="784225" cy="472440"/>
          </a:xfrm>
          <a:custGeom>
            <a:avLst/>
            <a:gdLst/>
            <a:ahLst/>
            <a:cxnLst/>
            <a:rect l="l" t="t" r="r" b="b"/>
            <a:pathLst>
              <a:path w="784225" h="472439">
                <a:moveTo>
                  <a:pt x="572428" y="0"/>
                </a:moveTo>
                <a:lnTo>
                  <a:pt x="211463" y="0"/>
                </a:lnTo>
                <a:lnTo>
                  <a:pt x="211463" y="209550"/>
                </a:lnTo>
                <a:lnTo>
                  <a:pt x="0" y="209550"/>
                </a:lnTo>
                <a:lnTo>
                  <a:pt x="391946" y="471982"/>
                </a:lnTo>
                <a:lnTo>
                  <a:pt x="443710" y="437323"/>
                </a:lnTo>
                <a:lnTo>
                  <a:pt x="391946" y="437323"/>
                </a:lnTo>
                <a:lnTo>
                  <a:pt x="94777" y="238349"/>
                </a:lnTo>
                <a:lnTo>
                  <a:pt x="240263" y="238349"/>
                </a:lnTo>
                <a:lnTo>
                  <a:pt x="240263" y="28799"/>
                </a:lnTo>
                <a:lnTo>
                  <a:pt x="572428" y="28799"/>
                </a:lnTo>
                <a:lnTo>
                  <a:pt x="572428" y="0"/>
                </a:lnTo>
                <a:close/>
              </a:path>
              <a:path w="784225" h="472439">
                <a:moveTo>
                  <a:pt x="572428" y="28799"/>
                </a:moveTo>
                <a:lnTo>
                  <a:pt x="543628" y="28799"/>
                </a:lnTo>
                <a:lnTo>
                  <a:pt x="543628" y="238349"/>
                </a:lnTo>
                <a:lnTo>
                  <a:pt x="689114" y="238349"/>
                </a:lnTo>
                <a:lnTo>
                  <a:pt x="391946" y="437323"/>
                </a:lnTo>
                <a:lnTo>
                  <a:pt x="443710" y="437323"/>
                </a:lnTo>
                <a:lnTo>
                  <a:pt x="783892" y="209550"/>
                </a:lnTo>
                <a:lnTo>
                  <a:pt x="572428" y="209550"/>
                </a:lnTo>
                <a:lnTo>
                  <a:pt x="572428" y="28799"/>
                </a:lnTo>
                <a:close/>
              </a:path>
              <a:path w="784225" h="472439">
                <a:moveTo>
                  <a:pt x="534028" y="38399"/>
                </a:moveTo>
                <a:lnTo>
                  <a:pt x="249863" y="38399"/>
                </a:lnTo>
                <a:lnTo>
                  <a:pt x="249863" y="247949"/>
                </a:lnTo>
                <a:lnTo>
                  <a:pt x="126370" y="247949"/>
                </a:lnTo>
                <a:lnTo>
                  <a:pt x="391946" y="425770"/>
                </a:lnTo>
                <a:lnTo>
                  <a:pt x="409200" y="414216"/>
                </a:lnTo>
                <a:lnTo>
                  <a:pt x="391946" y="414216"/>
                </a:lnTo>
                <a:lnTo>
                  <a:pt x="157962" y="257549"/>
                </a:lnTo>
                <a:lnTo>
                  <a:pt x="259463" y="257549"/>
                </a:lnTo>
                <a:lnTo>
                  <a:pt x="259463" y="47999"/>
                </a:lnTo>
                <a:lnTo>
                  <a:pt x="534028" y="47999"/>
                </a:lnTo>
                <a:lnTo>
                  <a:pt x="534028" y="38399"/>
                </a:lnTo>
                <a:close/>
              </a:path>
              <a:path w="784225" h="472439">
                <a:moveTo>
                  <a:pt x="534028" y="47999"/>
                </a:moveTo>
                <a:lnTo>
                  <a:pt x="524428" y="47999"/>
                </a:lnTo>
                <a:lnTo>
                  <a:pt x="524428" y="257549"/>
                </a:lnTo>
                <a:lnTo>
                  <a:pt x="625929" y="257549"/>
                </a:lnTo>
                <a:lnTo>
                  <a:pt x="391946" y="414216"/>
                </a:lnTo>
                <a:lnTo>
                  <a:pt x="409200" y="414216"/>
                </a:lnTo>
                <a:lnTo>
                  <a:pt x="657522" y="247949"/>
                </a:lnTo>
                <a:lnTo>
                  <a:pt x="534028" y="247949"/>
                </a:lnTo>
                <a:lnTo>
                  <a:pt x="534028" y="47999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23371" y="3072987"/>
            <a:ext cx="2219775" cy="228048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720588" y="3072987"/>
            <a:ext cx="1842861" cy="20905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03396" y="3611676"/>
            <a:ext cx="2420346" cy="17534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00505" y="5616955"/>
            <a:ext cx="6415405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" b="1">
                <a:latin typeface="Calibri"/>
                <a:cs typeface="Calibri"/>
              </a:rPr>
              <a:t>In </a:t>
            </a:r>
            <a:r>
              <a:rPr dirty="0" sz="2400" spc="-15" b="1">
                <a:latin typeface="Calibri"/>
                <a:cs typeface="Calibri"/>
              </a:rPr>
              <a:t>many </a:t>
            </a:r>
            <a:r>
              <a:rPr dirty="0" sz="2400" spc="-5" b="1">
                <a:latin typeface="Calibri"/>
                <a:cs typeface="Calibri"/>
              </a:rPr>
              <a:t>domains, </a:t>
            </a:r>
            <a:r>
              <a:rPr dirty="0" sz="2400" spc="-10" b="1">
                <a:latin typeface="Calibri"/>
                <a:cs typeface="Calibri"/>
              </a:rPr>
              <a:t>recurring </a:t>
            </a:r>
            <a:r>
              <a:rPr dirty="0" sz="2400" spc="-15" b="1">
                <a:latin typeface="Calibri"/>
                <a:cs typeface="Calibri"/>
              </a:rPr>
              <a:t>structural </a:t>
            </a:r>
            <a:r>
              <a:rPr dirty="0" sz="2400" spc="-10" b="1">
                <a:latin typeface="Calibri"/>
                <a:cs typeface="Calibri"/>
              </a:rPr>
              <a:t>components  determine </a:t>
            </a:r>
            <a:r>
              <a:rPr dirty="0" sz="2400" spc="-5" b="1">
                <a:latin typeface="Calibri"/>
                <a:cs typeface="Calibri"/>
              </a:rPr>
              <a:t>the function or </a:t>
            </a:r>
            <a:r>
              <a:rPr dirty="0" sz="2400" spc="-10" b="1">
                <a:latin typeface="Calibri"/>
                <a:cs typeface="Calibri"/>
              </a:rPr>
              <a:t>behavior </a:t>
            </a:r>
            <a:r>
              <a:rPr dirty="0" sz="2400" spc="-5" b="1">
                <a:latin typeface="Calibri"/>
                <a:cs typeface="Calibri"/>
              </a:rPr>
              <a:t>of the</a:t>
            </a:r>
            <a:r>
              <a:rPr dirty="0" sz="2400" spc="5" b="1">
                <a:latin typeface="Calibri"/>
                <a:cs typeface="Calibri"/>
              </a:rPr>
              <a:t> </a:t>
            </a:r>
            <a:r>
              <a:rPr dirty="0" sz="2400" spc="-15" b="1">
                <a:latin typeface="Calibri"/>
                <a:cs typeface="Calibri"/>
              </a:rPr>
              <a:t>graph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25821" y="4470016"/>
            <a:ext cx="4212590" cy="1087120"/>
          </a:xfrm>
          <a:custGeom>
            <a:avLst/>
            <a:gdLst/>
            <a:ahLst/>
            <a:cxnLst/>
            <a:rect l="l" t="t" r="r" b="b"/>
            <a:pathLst>
              <a:path w="4212590" h="1087120">
                <a:moveTo>
                  <a:pt x="173351" y="55536"/>
                </a:moveTo>
                <a:lnTo>
                  <a:pt x="159866" y="111072"/>
                </a:lnTo>
                <a:lnTo>
                  <a:pt x="4177014" y="1086468"/>
                </a:lnTo>
                <a:lnTo>
                  <a:pt x="4188353" y="1086910"/>
                </a:lnTo>
                <a:lnTo>
                  <a:pt x="4198625" y="1083102"/>
                </a:lnTo>
                <a:lnTo>
                  <a:pt x="4206719" y="1075721"/>
                </a:lnTo>
                <a:lnTo>
                  <a:pt x="4211525" y="1065442"/>
                </a:lnTo>
                <a:lnTo>
                  <a:pt x="4211968" y="1054104"/>
                </a:lnTo>
                <a:lnTo>
                  <a:pt x="4208160" y="1043833"/>
                </a:lnTo>
                <a:lnTo>
                  <a:pt x="4200778" y="1035739"/>
                </a:lnTo>
                <a:lnTo>
                  <a:pt x="4190499" y="1030932"/>
                </a:lnTo>
                <a:lnTo>
                  <a:pt x="173351" y="55536"/>
                </a:lnTo>
                <a:close/>
              </a:path>
              <a:path w="4212590" h="1087120">
                <a:moveTo>
                  <a:pt x="186836" y="0"/>
                </a:moveTo>
                <a:lnTo>
                  <a:pt x="0" y="42851"/>
                </a:lnTo>
                <a:lnTo>
                  <a:pt x="146381" y="166608"/>
                </a:lnTo>
                <a:lnTo>
                  <a:pt x="159866" y="111072"/>
                </a:lnTo>
                <a:lnTo>
                  <a:pt x="132095" y="104329"/>
                </a:lnTo>
                <a:lnTo>
                  <a:pt x="121816" y="99522"/>
                </a:lnTo>
                <a:lnTo>
                  <a:pt x="114434" y="91428"/>
                </a:lnTo>
                <a:lnTo>
                  <a:pt x="110626" y="81157"/>
                </a:lnTo>
                <a:lnTo>
                  <a:pt x="111069" y="69819"/>
                </a:lnTo>
                <a:lnTo>
                  <a:pt x="115875" y="59540"/>
                </a:lnTo>
                <a:lnTo>
                  <a:pt x="123969" y="52158"/>
                </a:lnTo>
                <a:lnTo>
                  <a:pt x="134241" y="48351"/>
                </a:lnTo>
                <a:lnTo>
                  <a:pt x="175095" y="48351"/>
                </a:lnTo>
                <a:lnTo>
                  <a:pt x="186836" y="0"/>
                </a:lnTo>
                <a:close/>
              </a:path>
              <a:path w="4212590" h="1087120">
                <a:moveTo>
                  <a:pt x="134241" y="48351"/>
                </a:moveTo>
                <a:lnTo>
                  <a:pt x="123969" y="52158"/>
                </a:lnTo>
                <a:lnTo>
                  <a:pt x="115875" y="59540"/>
                </a:lnTo>
                <a:lnTo>
                  <a:pt x="111069" y="69819"/>
                </a:lnTo>
                <a:lnTo>
                  <a:pt x="110626" y="81157"/>
                </a:lnTo>
                <a:lnTo>
                  <a:pt x="114434" y="91428"/>
                </a:lnTo>
                <a:lnTo>
                  <a:pt x="121816" y="99522"/>
                </a:lnTo>
                <a:lnTo>
                  <a:pt x="132095" y="104329"/>
                </a:lnTo>
                <a:lnTo>
                  <a:pt x="159866" y="111072"/>
                </a:lnTo>
                <a:lnTo>
                  <a:pt x="173351" y="55536"/>
                </a:lnTo>
                <a:lnTo>
                  <a:pt x="145580" y="48793"/>
                </a:lnTo>
                <a:lnTo>
                  <a:pt x="134241" y="48351"/>
                </a:lnTo>
                <a:close/>
              </a:path>
              <a:path w="4212590" h="1087120">
                <a:moveTo>
                  <a:pt x="175095" y="48351"/>
                </a:moveTo>
                <a:lnTo>
                  <a:pt x="134241" y="48351"/>
                </a:lnTo>
                <a:lnTo>
                  <a:pt x="145580" y="48793"/>
                </a:lnTo>
                <a:lnTo>
                  <a:pt x="173351" y="55536"/>
                </a:lnTo>
                <a:lnTo>
                  <a:pt x="175095" y="48351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918902" y="4621062"/>
            <a:ext cx="1620520" cy="873760"/>
          </a:xfrm>
          <a:custGeom>
            <a:avLst/>
            <a:gdLst/>
            <a:ahLst/>
            <a:cxnLst/>
            <a:rect l="l" t="t" r="r" b="b"/>
            <a:pathLst>
              <a:path w="1620520" h="873760">
                <a:moveTo>
                  <a:pt x="164833" y="55152"/>
                </a:moveTo>
                <a:lnTo>
                  <a:pt x="138035" y="105631"/>
                </a:lnTo>
                <a:lnTo>
                  <a:pt x="1578248" y="870198"/>
                </a:lnTo>
                <a:lnTo>
                  <a:pt x="1589124" y="873431"/>
                </a:lnTo>
                <a:lnTo>
                  <a:pt x="1600018" y="872281"/>
                </a:lnTo>
                <a:lnTo>
                  <a:pt x="1609686" y="867130"/>
                </a:lnTo>
                <a:lnTo>
                  <a:pt x="1616885" y="858358"/>
                </a:lnTo>
                <a:lnTo>
                  <a:pt x="1620117" y="847481"/>
                </a:lnTo>
                <a:lnTo>
                  <a:pt x="1618967" y="836587"/>
                </a:lnTo>
                <a:lnTo>
                  <a:pt x="1613816" y="826919"/>
                </a:lnTo>
                <a:lnTo>
                  <a:pt x="1605045" y="819721"/>
                </a:lnTo>
                <a:lnTo>
                  <a:pt x="164833" y="55152"/>
                </a:lnTo>
                <a:close/>
              </a:path>
              <a:path w="1620520" h="873760">
                <a:moveTo>
                  <a:pt x="0" y="0"/>
                </a:moveTo>
                <a:lnTo>
                  <a:pt x="111238" y="156109"/>
                </a:lnTo>
                <a:lnTo>
                  <a:pt x="138035" y="105631"/>
                </a:lnTo>
                <a:lnTo>
                  <a:pt x="112796" y="92232"/>
                </a:lnTo>
                <a:lnTo>
                  <a:pt x="104024" y="85033"/>
                </a:lnTo>
                <a:lnTo>
                  <a:pt x="98873" y="75365"/>
                </a:lnTo>
                <a:lnTo>
                  <a:pt x="97723" y="64471"/>
                </a:lnTo>
                <a:lnTo>
                  <a:pt x="100956" y="53593"/>
                </a:lnTo>
                <a:lnTo>
                  <a:pt x="108154" y="44823"/>
                </a:lnTo>
                <a:lnTo>
                  <a:pt x="117822" y="39672"/>
                </a:lnTo>
                <a:lnTo>
                  <a:pt x="128716" y="38522"/>
                </a:lnTo>
                <a:lnTo>
                  <a:pt x="173661" y="38522"/>
                </a:lnTo>
                <a:lnTo>
                  <a:pt x="191630" y="4674"/>
                </a:lnTo>
                <a:lnTo>
                  <a:pt x="0" y="0"/>
                </a:lnTo>
                <a:close/>
              </a:path>
              <a:path w="1620520" h="873760">
                <a:moveTo>
                  <a:pt x="128716" y="38522"/>
                </a:moveTo>
                <a:lnTo>
                  <a:pt x="117822" y="39672"/>
                </a:lnTo>
                <a:lnTo>
                  <a:pt x="108154" y="44823"/>
                </a:lnTo>
                <a:lnTo>
                  <a:pt x="100956" y="53593"/>
                </a:lnTo>
                <a:lnTo>
                  <a:pt x="97723" y="64471"/>
                </a:lnTo>
                <a:lnTo>
                  <a:pt x="98873" y="75365"/>
                </a:lnTo>
                <a:lnTo>
                  <a:pt x="104024" y="85033"/>
                </a:lnTo>
                <a:lnTo>
                  <a:pt x="112796" y="92232"/>
                </a:lnTo>
                <a:lnTo>
                  <a:pt x="138035" y="105631"/>
                </a:lnTo>
                <a:lnTo>
                  <a:pt x="164833" y="55152"/>
                </a:lnTo>
                <a:lnTo>
                  <a:pt x="139593" y="41753"/>
                </a:lnTo>
                <a:lnTo>
                  <a:pt x="128716" y="38522"/>
                </a:lnTo>
                <a:close/>
              </a:path>
              <a:path w="1620520" h="873760">
                <a:moveTo>
                  <a:pt x="173661" y="38522"/>
                </a:moveTo>
                <a:lnTo>
                  <a:pt x="128716" y="38522"/>
                </a:lnTo>
                <a:lnTo>
                  <a:pt x="139593" y="41753"/>
                </a:lnTo>
                <a:lnTo>
                  <a:pt x="164833" y="55152"/>
                </a:lnTo>
                <a:lnTo>
                  <a:pt x="173661" y="38522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682473" y="4779733"/>
            <a:ext cx="356870" cy="704850"/>
          </a:xfrm>
          <a:custGeom>
            <a:avLst/>
            <a:gdLst/>
            <a:ahLst/>
            <a:cxnLst/>
            <a:rect l="l" t="t" r="r" b="b"/>
            <a:pathLst>
              <a:path w="356870" h="704850">
                <a:moveTo>
                  <a:pt x="253637" y="142102"/>
                </a:moveTo>
                <a:lnTo>
                  <a:pt x="2799" y="663369"/>
                </a:lnTo>
                <a:lnTo>
                  <a:pt x="0" y="674365"/>
                </a:lnTo>
                <a:lnTo>
                  <a:pt x="1579" y="685205"/>
                </a:lnTo>
                <a:lnTo>
                  <a:pt x="7108" y="694662"/>
                </a:lnTo>
                <a:lnTo>
                  <a:pt x="16157" y="701508"/>
                </a:lnTo>
                <a:lnTo>
                  <a:pt x="27153" y="704307"/>
                </a:lnTo>
                <a:lnTo>
                  <a:pt x="37993" y="702728"/>
                </a:lnTo>
                <a:lnTo>
                  <a:pt x="47450" y="697199"/>
                </a:lnTo>
                <a:lnTo>
                  <a:pt x="54296" y="688150"/>
                </a:lnTo>
                <a:lnTo>
                  <a:pt x="305135" y="166883"/>
                </a:lnTo>
                <a:lnTo>
                  <a:pt x="253637" y="142102"/>
                </a:lnTo>
                <a:close/>
              </a:path>
              <a:path w="356870" h="704850">
                <a:moveTo>
                  <a:pt x="355247" y="100196"/>
                </a:moveTo>
                <a:lnTo>
                  <a:pt x="293171" y="100196"/>
                </a:lnTo>
                <a:lnTo>
                  <a:pt x="304167" y="102995"/>
                </a:lnTo>
                <a:lnTo>
                  <a:pt x="313216" y="109842"/>
                </a:lnTo>
                <a:lnTo>
                  <a:pt x="318745" y="119298"/>
                </a:lnTo>
                <a:lnTo>
                  <a:pt x="320324" y="130138"/>
                </a:lnTo>
                <a:lnTo>
                  <a:pt x="317525" y="141135"/>
                </a:lnTo>
                <a:lnTo>
                  <a:pt x="305135" y="166883"/>
                </a:lnTo>
                <a:lnTo>
                  <a:pt x="356632" y="191664"/>
                </a:lnTo>
                <a:lnTo>
                  <a:pt x="355247" y="100196"/>
                </a:lnTo>
                <a:close/>
              </a:path>
              <a:path w="356870" h="704850">
                <a:moveTo>
                  <a:pt x="293171" y="100196"/>
                </a:moveTo>
                <a:lnTo>
                  <a:pt x="282331" y="101776"/>
                </a:lnTo>
                <a:lnTo>
                  <a:pt x="272874" y="107305"/>
                </a:lnTo>
                <a:lnTo>
                  <a:pt x="266028" y="116353"/>
                </a:lnTo>
                <a:lnTo>
                  <a:pt x="253637" y="142102"/>
                </a:lnTo>
                <a:lnTo>
                  <a:pt x="305135" y="166883"/>
                </a:lnTo>
                <a:lnTo>
                  <a:pt x="317525" y="141135"/>
                </a:lnTo>
                <a:lnTo>
                  <a:pt x="320324" y="130138"/>
                </a:lnTo>
                <a:lnTo>
                  <a:pt x="318745" y="119298"/>
                </a:lnTo>
                <a:lnTo>
                  <a:pt x="313216" y="109842"/>
                </a:lnTo>
                <a:lnTo>
                  <a:pt x="304167" y="102995"/>
                </a:lnTo>
                <a:lnTo>
                  <a:pt x="293171" y="100196"/>
                </a:lnTo>
                <a:close/>
              </a:path>
              <a:path w="356870" h="704850">
                <a:moveTo>
                  <a:pt x="353729" y="0"/>
                </a:moveTo>
                <a:lnTo>
                  <a:pt x="202139" y="117321"/>
                </a:lnTo>
                <a:lnTo>
                  <a:pt x="253637" y="142102"/>
                </a:lnTo>
                <a:lnTo>
                  <a:pt x="266028" y="116353"/>
                </a:lnTo>
                <a:lnTo>
                  <a:pt x="272874" y="107305"/>
                </a:lnTo>
                <a:lnTo>
                  <a:pt x="282331" y="101776"/>
                </a:lnTo>
                <a:lnTo>
                  <a:pt x="293171" y="100196"/>
                </a:lnTo>
                <a:lnTo>
                  <a:pt x="355247" y="100196"/>
                </a:lnTo>
                <a:lnTo>
                  <a:pt x="353729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432484" y="5494647"/>
            <a:ext cx="1544320" cy="646430"/>
          </a:xfrm>
          <a:prstGeom prst="rect">
            <a:avLst/>
          </a:prstGeom>
          <a:ln w="57150">
            <a:solidFill>
              <a:srgbClr val="0070C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marL="62230" marR="86360">
              <a:lnSpc>
                <a:spcPts val="2090"/>
              </a:lnSpc>
              <a:spcBef>
                <a:spcPts val="175"/>
              </a:spcBef>
            </a:pPr>
            <a:r>
              <a:rPr dirty="0" sz="1800" spc="-5">
                <a:latin typeface="Corbel"/>
                <a:cs typeface="Corbel"/>
              </a:rPr>
              <a:t>Carboxyl  group </a:t>
            </a:r>
            <a:r>
              <a:rPr dirty="0" sz="1800">
                <a:latin typeface="Corbel"/>
                <a:cs typeface="Corbel"/>
              </a:rPr>
              <a:t>=</a:t>
            </a:r>
            <a:r>
              <a:rPr dirty="0" sz="1800" spc="-150">
                <a:latin typeface="Corbel"/>
                <a:cs typeface="Corbel"/>
              </a:rPr>
              <a:t> </a:t>
            </a:r>
            <a:r>
              <a:rPr dirty="0" sz="1800" spc="-10">
                <a:latin typeface="Corbel"/>
                <a:cs typeface="Corbel"/>
              </a:rPr>
              <a:t>Acidic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3477767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6963" y="1349755"/>
            <a:ext cx="453834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5" b="1">
                <a:solidFill>
                  <a:srgbClr val="F0AD00"/>
                </a:solidFill>
                <a:latin typeface="Calibri"/>
                <a:cs typeface="Calibri"/>
              </a:rPr>
              <a:t>1) </a:t>
            </a:r>
            <a:r>
              <a:rPr dirty="0" sz="3600" spc="-15" b="1">
                <a:solidFill>
                  <a:srgbClr val="D60093"/>
                </a:solidFill>
                <a:latin typeface="Calibri"/>
                <a:cs typeface="Calibri"/>
              </a:rPr>
              <a:t>Subgraphs </a:t>
            </a:r>
            <a:r>
              <a:rPr dirty="0" sz="3600" spc="-5" b="1">
                <a:solidFill>
                  <a:srgbClr val="D60093"/>
                </a:solidFill>
                <a:latin typeface="Calibri"/>
                <a:cs typeface="Calibri"/>
              </a:rPr>
              <a:t>and</a:t>
            </a:r>
            <a:r>
              <a:rPr dirty="0" sz="3600" spc="-1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D60093"/>
                </a:solidFill>
                <a:latin typeface="Calibri"/>
                <a:cs typeface="Calibri"/>
              </a:rPr>
              <a:t>motifs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6963" y="1926844"/>
            <a:ext cx="6785609" cy="347472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762635" indent="-45720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762000" algn="l"/>
                <a:tab pos="762635" algn="l"/>
              </a:tabLst>
            </a:pPr>
            <a:r>
              <a:rPr dirty="0" sz="2800" spc="-10">
                <a:latin typeface="Calibri"/>
                <a:cs typeface="Calibri"/>
              </a:rPr>
              <a:t>Defining Subgraphs </a:t>
            </a:r>
            <a:r>
              <a:rPr dirty="0" sz="2800" spc="-5">
                <a:latin typeface="Calibri"/>
                <a:cs typeface="Calibri"/>
              </a:rPr>
              <a:t>and</a:t>
            </a:r>
            <a:r>
              <a:rPr dirty="0" sz="2800" spc="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Motifs</a:t>
            </a:r>
            <a:endParaRPr sz="2800">
              <a:latin typeface="Calibri"/>
              <a:cs typeface="Calibri"/>
            </a:endParaRPr>
          </a:p>
          <a:p>
            <a:pPr marL="762635" indent="-45720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762000" algn="l"/>
                <a:tab pos="762635" algn="l"/>
              </a:tabLst>
            </a:pPr>
            <a:r>
              <a:rPr dirty="0" sz="2800" spc="-10">
                <a:latin typeface="Calibri"/>
                <a:cs typeface="Calibri"/>
              </a:rPr>
              <a:t>Determining </a:t>
            </a:r>
            <a:r>
              <a:rPr dirty="0" sz="2800" spc="-5">
                <a:latin typeface="Calibri"/>
                <a:cs typeface="Calibri"/>
              </a:rPr>
              <a:t>Motif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Significance</a:t>
            </a:r>
            <a:endParaRPr sz="2800">
              <a:latin typeface="Calibri"/>
              <a:cs typeface="Calibri"/>
            </a:endParaRPr>
          </a:p>
          <a:p>
            <a:pPr marL="412750" indent="-400050">
              <a:lnSpc>
                <a:spcPct val="100000"/>
              </a:lnSpc>
              <a:spcBef>
                <a:spcPts val="2030"/>
              </a:spcBef>
              <a:buClr>
                <a:srgbClr val="F0AD00"/>
              </a:buClr>
              <a:buSzPct val="80555"/>
              <a:buAutoNum type="arabicParenR" startAt="2"/>
              <a:tabLst>
                <a:tab pos="412750" algn="l"/>
              </a:tabLst>
            </a:pPr>
            <a:r>
              <a:rPr dirty="0" sz="3600" spc="-20" b="1">
                <a:latin typeface="Calibri"/>
                <a:cs typeface="Calibri"/>
              </a:rPr>
              <a:t>Neural </a:t>
            </a:r>
            <a:r>
              <a:rPr dirty="0" sz="3600" spc="-15" b="1">
                <a:latin typeface="Calibri"/>
                <a:cs typeface="Calibri"/>
              </a:rPr>
              <a:t>Subgraph</a:t>
            </a:r>
            <a:r>
              <a:rPr dirty="0" sz="3600" spc="0" b="1">
                <a:latin typeface="Calibri"/>
                <a:cs typeface="Calibri"/>
              </a:rPr>
              <a:t> </a:t>
            </a:r>
            <a:r>
              <a:rPr dirty="0" sz="3600" spc="-15" b="1">
                <a:latin typeface="Calibri"/>
                <a:cs typeface="Calibri"/>
              </a:rPr>
              <a:t>Representations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F0AD00"/>
              </a:buClr>
              <a:buFont typeface="Calibri"/>
              <a:buAutoNum type="arabicParenR" startAt="2"/>
            </a:pPr>
            <a:endParaRPr sz="4400">
              <a:latin typeface="Times New Roman"/>
              <a:cs typeface="Times New Roman"/>
            </a:endParaRPr>
          </a:p>
          <a:p>
            <a:pPr marL="412750" indent="-400050">
              <a:lnSpc>
                <a:spcPct val="100000"/>
              </a:lnSpc>
              <a:spcBef>
                <a:spcPts val="3410"/>
              </a:spcBef>
              <a:buClr>
                <a:srgbClr val="F0AD00"/>
              </a:buClr>
              <a:buSzPct val="80555"/>
              <a:buAutoNum type="arabicParenR" startAt="2"/>
              <a:tabLst>
                <a:tab pos="412750" algn="l"/>
              </a:tabLst>
            </a:pPr>
            <a:r>
              <a:rPr dirty="0" sz="3600" spc="-5" b="1">
                <a:latin typeface="Calibri"/>
                <a:cs typeface="Calibri"/>
              </a:rPr>
              <a:t>Mining </a:t>
            </a:r>
            <a:r>
              <a:rPr dirty="0" sz="3600" spc="-15" b="1">
                <a:latin typeface="Calibri"/>
                <a:cs typeface="Calibri"/>
              </a:rPr>
              <a:t>Frequent </a:t>
            </a:r>
            <a:r>
              <a:rPr dirty="0" sz="3600" spc="-10" b="1">
                <a:latin typeface="Calibri"/>
                <a:cs typeface="Calibri"/>
              </a:rPr>
              <a:t>Motifs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320667" y="1295400"/>
            <a:ext cx="1250660" cy="1250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4672" y="3477767"/>
            <a:ext cx="5583936" cy="12984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5830824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23392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40" b="1">
                <a:solidFill>
                  <a:srgbClr val="0070C0"/>
                </a:solidFill>
                <a:latin typeface="Calibri"/>
                <a:cs typeface="Calibri"/>
              </a:rPr>
              <a:t>Two </a:t>
            </a:r>
            <a:r>
              <a:rPr dirty="0" sz="2800" spc="-25" b="1">
                <a:solidFill>
                  <a:srgbClr val="0070C0"/>
                </a:solidFill>
                <a:latin typeface="Calibri"/>
                <a:cs typeface="Calibri"/>
              </a:rPr>
              <a:t>ways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to formalize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"network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building</a:t>
            </a:r>
            <a:r>
              <a:rPr dirty="0" sz="2800" spc="11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blocks"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6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780539"/>
            <a:ext cx="7693659" cy="4326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329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>
                <a:latin typeface="Calibri"/>
                <a:cs typeface="Calibri"/>
              </a:rPr>
              <a:t>Given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>
                <a:latin typeface="Cambria Math"/>
                <a:cs typeface="Cambria Math"/>
              </a:rPr>
              <a:t>𝑮 = </a:t>
            </a:r>
            <a:r>
              <a:rPr dirty="0" sz="2800" spc="-5">
                <a:latin typeface="Cambria Math"/>
                <a:cs typeface="Cambria Math"/>
              </a:rPr>
              <a:t>(𝑽,</a:t>
            </a:r>
            <a:r>
              <a:rPr dirty="0" sz="2800" spc="10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𝑬):</a:t>
            </a:r>
            <a:endParaRPr sz="2800">
              <a:latin typeface="Cambria Math"/>
              <a:cs typeface="Cambria Math"/>
            </a:endParaRPr>
          </a:p>
          <a:p>
            <a:pPr marL="12700" marR="5080">
              <a:lnSpc>
                <a:spcPts val="3910"/>
              </a:lnSpc>
              <a:spcBef>
                <a:spcPts val="40"/>
              </a:spcBef>
            </a:pP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Def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1.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Node-induced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subgraph</a:t>
            </a:r>
            <a:r>
              <a:rPr dirty="0" sz="3200" spc="-15" b="1">
                <a:latin typeface="Calibri"/>
                <a:cs typeface="Calibri"/>
              </a:rPr>
              <a:t>: </a:t>
            </a:r>
            <a:r>
              <a:rPr dirty="0" sz="3200" spc="-90">
                <a:latin typeface="Calibri"/>
                <a:cs typeface="Calibri"/>
              </a:rPr>
              <a:t>Take </a:t>
            </a:r>
            <a:r>
              <a:rPr dirty="0" sz="3200" spc="-10">
                <a:latin typeface="Calibri"/>
                <a:cs typeface="Calibri"/>
              </a:rPr>
              <a:t>subset </a:t>
            </a:r>
            <a:r>
              <a:rPr dirty="0" sz="3200" spc="-5">
                <a:latin typeface="Calibri"/>
                <a:cs typeface="Calibri"/>
              </a:rPr>
              <a:t>of 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 b="1">
                <a:latin typeface="Calibri"/>
                <a:cs typeface="Calibri"/>
              </a:rPr>
              <a:t>nodes </a:t>
            </a:r>
            <a:r>
              <a:rPr dirty="0" sz="3200">
                <a:latin typeface="Calibri"/>
                <a:cs typeface="Calibri"/>
              </a:rPr>
              <a:t>and all </a:t>
            </a:r>
            <a:r>
              <a:rPr dirty="0" sz="3200" spc="-10">
                <a:latin typeface="Calibri"/>
                <a:cs typeface="Calibri"/>
              </a:rPr>
              <a:t>edges </a:t>
            </a:r>
            <a:r>
              <a:rPr dirty="0" sz="3200" spc="-5">
                <a:latin typeface="Calibri"/>
                <a:cs typeface="Calibri"/>
              </a:rPr>
              <a:t>induced by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nodes: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49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mbria Math"/>
                <a:cs typeface="Cambria Math"/>
              </a:rPr>
              <a:t>𝐺′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-5">
                <a:latin typeface="Cambria Math"/>
                <a:cs typeface="Cambria Math"/>
              </a:rPr>
              <a:t>(𝑉′, </a:t>
            </a:r>
            <a:r>
              <a:rPr dirty="0" sz="2800">
                <a:latin typeface="Cambria Math"/>
                <a:cs typeface="Cambria Math"/>
              </a:rPr>
              <a:t>𝐸′)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node induced </a:t>
            </a:r>
            <a:r>
              <a:rPr dirty="0" sz="2800" spc="-10">
                <a:latin typeface="Calibri"/>
                <a:cs typeface="Calibri"/>
              </a:rPr>
              <a:t>subgraph</a:t>
            </a:r>
            <a:r>
              <a:rPr dirty="0" sz="2800" spc="15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iff</a:t>
            </a:r>
            <a:endParaRPr sz="2800">
              <a:latin typeface="Calibri"/>
              <a:cs typeface="Calibri"/>
            </a:endParaRPr>
          </a:p>
          <a:p>
            <a:pPr lvl="2" marL="890269" indent="-228600">
              <a:lnSpc>
                <a:spcPct val="100000"/>
              </a:lnSpc>
              <a:spcBef>
                <a:spcPts val="645"/>
              </a:spcBef>
              <a:buClr>
                <a:srgbClr val="E66C7D"/>
              </a:buClr>
              <a:buFont typeface="Malgun Gothic"/>
              <a:buChar char="▪"/>
              <a:tabLst>
                <a:tab pos="890269" algn="l"/>
              </a:tabLst>
            </a:pPr>
            <a:r>
              <a:rPr dirty="0" sz="2800" spc="140">
                <a:latin typeface="Cambria Math"/>
                <a:cs typeface="Cambria Math"/>
              </a:rPr>
              <a:t>𝑉</a:t>
            </a:r>
            <a:r>
              <a:rPr dirty="0" baseline="29166" sz="3000" spc="209">
                <a:latin typeface="Cambria Math"/>
                <a:cs typeface="Cambria Math"/>
              </a:rPr>
              <a:t>! </a:t>
            </a:r>
            <a:r>
              <a:rPr dirty="0" sz="2800">
                <a:latin typeface="Cambria Math"/>
                <a:cs typeface="Cambria Math"/>
              </a:rPr>
              <a:t>⊆</a:t>
            </a:r>
            <a:r>
              <a:rPr dirty="0" sz="2800" spc="11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𝑉</a:t>
            </a:r>
            <a:endParaRPr sz="2800">
              <a:latin typeface="Cambria Math"/>
              <a:cs typeface="Cambria Math"/>
            </a:endParaRPr>
          </a:p>
          <a:p>
            <a:pPr lvl="2" marL="890269" indent="-228600">
              <a:lnSpc>
                <a:spcPct val="100000"/>
              </a:lnSpc>
              <a:spcBef>
                <a:spcPts val="745"/>
              </a:spcBef>
              <a:buClr>
                <a:srgbClr val="E66C7D"/>
              </a:buClr>
              <a:buFont typeface="Malgun Gothic"/>
              <a:buChar char="▪"/>
              <a:tabLst>
                <a:tab pos="890269" algn="l"/>
              </a:tabLst>
            </a:pPr>
            <a:r>
              <a:rPr dirty="0" sz="2800">
                <a:latin typeface="Cambria Math"/>
                <a:cs typeface="Cambria Math"/>
              </a:rPr>
              <a:t>𝐸′ = </a:t>
            </a:r>
            <a:r>
              <a:rPr dirty="0" sz="2800" spc="10">
                <a:latin typeface="Cambria Math"/>
                <a:cs typeface="Cambria Math"/>
              </a:rPr>
              <a:t>{(𝑢, </a:t>
            </a:r>
            <a:r>
              <a:rPr dirty="0" sz="2800" spc="30">
                <a:latin typeface="Cambria Math"/>
                <a:cs typeface="Cambria Math"/>
              </a:rPr>
              <a:t>𝑣) </a:t>
            </a:r>
            <a:r>
              <a:rPr dirty="0" sz="2800">
                <a:latin typeface="Cambria Math"/>
                <a:cs typeface="Cambria Math"/>
              </a:rPr>
              <a:t>∈ 𝐸 | </a:t>
            </a:r>
            <a:r>
              <a:rPr dirty="0" sz="2800" spc="30">
                <a:latin typeface="Cambria Math"/>
                <a:cs typeface="Cambria Math"/>
              </a:rPr>
              <a:t>𝑢, </a:t>
            </a:r>
            <a:r>
              <a:rPr dirty="0" sz="2800">
                <a:latin typeface="Cambria Math"/>
                <a:cs typeface="Cambria Math"/>
              </a:rPr>
              <a:t>𝑣  ∈</a:t>
            </a:r>
            <a:r>
              <a:rPr dirty="0" sz="2800" spc="80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𝑉′}</a:t>
            </a:r>
            <a:endParaRPr sz="2800">
              <a:latin typeface="Cambria Math"/>
              <a:cs typeface="Cambria Math"/>
            </a:endParaRPr>
          </a:p>
          <a:p>
            <a:pPr lvl="2" marL="890269" indent="-228600">
              <a:lnSpc>
                <a:spcPct val="100000"/>
              </a:lnSpc>
              <a:spcBef>
                <a:spcPts val="645"/>
              </a:spcBef>
              <a:buClr>
                <a:srgbClr val="E66C7D"/>
              </a:buClr>
              <a:buFont typeface="Malgun Gothic"/>
              <a:buChar char="▪"/>
              <a:tabLst>
                <a:tab pos="890269" algn="l"/>
              </a:tabLst>
            </a:pPr>
            <a:r>
              <a:rPr dirty="0" sz="2800" spc="-5">
                <a:latin typeface="Cambria Math"/>
                <a:cs typeface="Cambria Math"/>
              </a:rPr>
              <a:t>𝐺′ </a:t>
            </a:r>
            <a:r>
              <a:rPr dirty="0" sz="2800" spc="-5">
                <a:latin typeface="Calibri"/>
                <a:cs typeface="Calibri"/>
              </a:rPr>
              <a:t>is the </a:t>
            </a:r>
            <a:r>
              <a:rPr dirty="0" sz="2800" spc="-10">
                <a:latin typeface="Calibri"/>
                <a:cs typeface="Calibri"/>
              </a:rPr>
              <a:t>subgraph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>
                <a:latin typeface="Cambria Math"/>
                <a:cs typeface="Cambria Math"/>
              </a:rPr>
              <a:t>𝐺 </a:t>
            </a:r>
            <a:r>
              <a:rPr dirty="0" sz="2800" spc="-5" b="1">
                <a:latin typeface="Calibri"/>
                <a:cs typeface="Calibri"/>
              </a:rPr>
              <a:t>induced </a:t>
            </a:r>
            <a:r>
              <a:rPr dirty="0" sz="2800" spc="-5">
                <a:latin typeface="Calibri"/>
                <a:cs typeface="Calibri"/>
              </a:rPr>
              <a:t>by</a:t>
            </a:r>
            <a:r>
              <a:rPr dirty="0" sz="2800" spc="130">
                <a:latin typeface="Calibri"/>
                <a:cs typeface="Calibri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𝑉′</a:t>
            </a:r>
            <a:endParaRPr sz="2800">
              <a:latin typeface="Cambria Math"/>
              <a:cs typeface="Cambria Math"/>
            </a:endParaRPr>
          </a:p>
          <a:p>
            <a:pPr lvl="2">
              <a:lnSpc>
                <a:spcPct val="100000"/>
              </a:lnSpc>
              <a:spcBef>
                <a:spcPts val="50"/>
              </a:spcBef>
              <a:buClr>
                <a:srgbClr val="E66C7D"/>
              </a:buClr>
              <a:buFont typeface="Malgun Gothic"/>
              <a:buChar char="▪"/>
            </a:pPr>
            <a:endParaRPr sz="285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5" b="1">
                <a:latin typeface="Calibri"/>
                <a:cs typeface="Calibri"/>
              </a:rPr>
              <a:t>Alternate </a:t>
            </a:r>
            <a:r>
              <a:rPr dirty="0" sz="2800" spc="-10" b="1">
                <a:latin typeface="Calibri"/>
                <a:cs typeface="Calibri"/>
              </a:rPr>
              <a:t>terminology: </a:t>
            </a:r>
            <a:r>
              <a:rPr dirty="0" sz="2800" spc="-5">
                <a:latin typeface="Calibri"/>
                <a:cs typeface="Calibri"/>
              </a:rPr>
              <a:t>"induced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subgraph"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5833872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23392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40" b="1">
                <a:solidFill>
                  <a:srgbClr val="0070C0"/>
                </a:solidFill>
                <a:latin typeface="Calibri"/>
                <a:cs typeface="Calibri"/>
              </a:rPr>
              <a:t>Two </a:t>
            </a:r>
            <a:r>
              <a:rPr dirty="0" sz="2800" spc="-25" b="1">
                <a:solidFill>
                  <a:srgbClr val="0070C0"/>
                </a:solidFill>
                <a:latin typeface="Calibri"/>
                <a:cs typeface="Calibri"/>
              </a:rPr>
              <a:t>ways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to formalize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"network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building</a:t>
            </a:r>
            <a:r>
              <a:rPr dirty="0" sz="2800" spc="11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blocks"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6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742313"/>
            <a:ext cx="7724775" cy="430085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4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>
                <a:latin typeface="Calibri"/>
                <a:cs typeface="Calibri"/>
              </a:rPr>
              <a:t>Given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>
                <a:latin typeface="Cambria Math"/>
                <a:cs typeface="Cambria Math"/>
              </a:rPr>
              <a:t>𝑮 = </a:t>
            </a:r>
            <a:r>
              <a:rPr dirty="0" sz="2800" spc="-5">
                <a:latin typeface="Cambria Math"/>
                <a:cs typeface="Cambria Math"/>
              </a:rPr>
              <a:t>(𝑽,</a:t>
            </a:r>
            <a:r>
              <a:rPr dirty="0" sz="2800" spc="10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𝑬):</a:t>
            </a:r>
            <a:endParaRPr sz="2800">
              <a:latin typeface="Cambria Math"/>
              <a:cs typeface="Cambria Math"/>
            </a:endParaRPr>
          </a:p>
          <a:p>
            <a:pPr marL="12700" marR="144145">
              <a:lnSpc>
                <a:spcPct val="101299"/>
              </a:lnSpc>
              <a:spcBef>
                <a:spcPts val="290"/>
              </a:spcBef>
            </a:pP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Def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2.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Edge-induced subgraph</a:t>
            </a:r>
            <a:r>
              <a:rPr dirty="0" sz="3200" spc="-15" b="1">
                <a:latin typeface="Calibri"/>
                <a:cs typeface="Calibri"/>
              </a:rPr>
              <a:t>: </a:t>
            </a:r>
            <a:r>
              <a:rPr dirty="0" sz="3200" spc="-90">
                <a:latin typeface="Calibri"/>
                <a:cs typeface="Calibri"/>
              </a:rPr>
              <a:t>Take </a:t>
            </a:r>
            <a:r>
              <a:rPr dirty="0" sz="3200" spc="-10">
                <a:latin typeface="Calibri"/>
                <a:cs typeface="Calibri"/>
              </a:rPr>
              <a:t>subset </a:t>
            </a:r>
            <a:r>
              <a:rPr dirty="0" sz="3200" spc="-5">
                <a:latin typeface="Calibri"/>
                <a:cs typeface="Calibri"/>
              </a:rPr>
              <a:t>of 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edges </a:t>
            </a:r>
            <a:r>
              <a:rPr dirty="0" sz="3200">
                <a:latin typeface="Calibri"/>
                <a:cs typeface="Calibri"/>
              </a:rPr>
              <a:t>and all </a:t>
            </a:r>
            <a:r>
              <a:rPr dirty="0" sz="3200" spc="-10">
                <a:latin typeface="Calibri"/>
                <a:cs typeface="Calibri"/>
              </a:rPr>
              <a:t>corresponding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nodes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mbria Math"/>
                <a:cs typeface="Cambria Math"/>
              </a:rPr>
              <a:t>𝐺′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-5">
                <a:latin typeface="Cambria Math"/>
                <a:cs typeface="Cambria Math"/>
              </a:rPr>
              <a:t>(𝑉′, </a:t>
            </a:r>
            <a:r>
              <a:rPr dirty="0" sz="2800">
                <a:latin typeface="Cambria Math"/>
                <a:cs typeface="Cambria Math"/>
              </a:rPr>
              <a:t>𝐸′) </a:t>
            </a:r>
            <a:r>
              <a:rPr dirty="0" sz="2800" spc="-5">
                <a:latin typeface="Calibri"/>
                <a:cs typeface="Calibri"/>
              </a:rPr>
              <a:t>is an </a:t>
            </a:r>
            <a:r>
              <a:rPr dirty="0" sz="2800" spc="-10">
                <a:latin typeface="Calibri"/>
                <a:cs typeface="Calibri"/>
              </a:rPr>
              <a:t>edge </a:t>
            </a:r>
            <a:r>
              <a:rPr dirty="0" sz="2800" spc="-5">
                <a:latin typeface="Calibri"/>
                <a:cs typeface="Calibri"/>
              </a:rPr>
              <a:t>induced </a:t>
            </a:r>
            <a:r>
              <a:rPr dirty="0" sz="2800" spc="-10">
                <a:latin typeface="Calibri"/>
                <a:cs typeface="Calibri"/>
              </a:rPr>
              <a:t>subgraph</a:t>
            </a:r>
            <a:r>
              <a:rPr dirty="0" sz="2800" spc="15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iff</a:t>
            </a:r>
            <a:endParaRPr sz="2800">
              <a:latin typeface="Calibri"/>
              <a:cs typeface="Calibri"/>
            </a:endParaRPr>
          </a:p>
          <a:p>
            <a:pPr lvl="2" marL="890269" indent="-228600">
              <a:lnSpc>
                <a:spcPct val="100000"/>
              </a:lnSpc>
              <a:spcBef>
                <a:spcPts val="650"/>
              </a:spcBef>
              <a:buClr>
                <a:srgbClr val="E66C7D"/>
              </a:buClr>
              <a:buFont typeface="Malgun Gothic"/>
              <a:buChar char="▪"/>
              <a:tabLst>
                <a:tab pos="890269" algn="l"/>
              </a:tabLst>
            </a:pPr>
            <a:r>
              <a:rPr dirty="0" sz="2700">
                <a:latin typeface="Cambria Math"/>
                <a:cs typeface="Cambria Math"/>
              </a:rPr>
              <a:t>𝐸′ ⊆</a:t>
            </a:r>
            <a:r>
              <a:rPr dirty="0" sz="2700" spc="200">
                <a:latin typeface="Cambria Math"/>
                <a:cs typeface="Cambria Math"/>
              </a:rPr>
              <a:t> </a:t>
            </a:r>
            <a:r>
              <a:rPr dirty="0" sz="2700">
                <a:latin typeface="Cambria Math"/>
                <a:cs typeface="Cambria Math"/>
              </a:rPr>
              <a:t>𝐸</a:t>
            </a:r>
            <a:endParaRPr sz="2700">
              <a:latin typeface="Cambria Math"/>
              <a:cs typeface="Cambria Math"/>
            </a:endParaRPr>
          </a:p>
          <a:p>
            <a:pPr lvl="2" marL="890269" indent="-228600">
              <a:lnSpc>
                <a:spcPct val="100000"/>
              </a:lnSpc>
              <a:spcBef>
                <a:spcPts val="645"/>
              </a:spcBef>
              <a:buClr>
                <a:srgbClr val="E66C7D"/>
              </a:buClr>
              <a:buFont typeface="Malgun Gothic"/>
              <a:buChar char="▪"/>
              <a:tabLst>
                <a:tab pos="890269" algn="l"/>
                <a:tab pos="2139950" algn="l"/>
                <a:tab pos="2525395" algn="l"/>
              </a:tabLst>
            </a:pPr>
            <a:r>
              <a:rPr dirty="0" sz="2700" spc="-5">
                <a:latin typeface="Cambria Math"/>
                <a:cs typeface="Cambria Math"/>
              </a:rPr>
              <a:t>𝑉′</a:t>
            </a:r>
            <a:r>
              <a:rPr dirty="0" sz="2700" spc="150">
                <a:latin typeface="Cambria Math"/>
                <a:cs typeface="Cambria Math"/>
              </a:rPr>
              <a:t> </a:t>
            </a:r>
            <a:r>
              <a:rPr dirty="0" sz="2700">
                <a:latin typeface="Cambria Math"/>
                <a:cs typeface="Cambria Math"/>
              </a:rPr>
              <a:t>=</a:t>
            </a:r>
            <a:r>
              <a:rPr dirty="0" sz="2700" spc="150">
                <a:latin typeface="Cambria Math"/>
                <a:cs typeface="Cambria Math"/>
              </a:rPr>
              <a:t> </a:t>
            </a:r>
            <a:r>
              <a:rPr dirty="0" sz="2700">
                <a:latin typeface="Cambria Math"/>
                <a:cs typeface="Cambria Math"/>
              </a:rPr>
              <a:t>{𝑣	∈	𝑉 | </a:t>
            </a:r>
            <a:r>
              <a:rPr dirty="0" sz="2700" spc="15">
                <a:latin typeface="Cambria Math"/>
                <a:cs typeface="Cambria Math"/>
              </a:rPr>
              <a:t>(𝑣, </a:t>
            </a:r>
            <a:r>
              <a:rPr dirty="0" sz="2700" spc="25">
                <a:latin typeface="Cambria Math"/>
                <a:cs typeface="Cambria Math"/>
              </a:rPr>
              <a:t>𝑢) </a:t>
            </a:r>
            <a:r>
              <a:rPr dirty="0" sz="2700">
                <a:latin typeface="Cambria Math"/>
                <a:cs typeface="Cambria Math"/>
              </a:rPr>
              <a:t>∈ 𝐸′ </a:t>
            </a:r>
            <a:r>
              <a:rPr dirty="0" sz="2700" spc="-5">
                <a:latin typeface="Corbel"/>
                <a:cs typeface="Corbel"/>
              </a:rPr>
              <a:t>for some</a:t>
            </a:r>
            <a:r>
              <a:rPr dirty="0" sz="2700" spc="110">
                <a:latin typeface="Corbel"/>
                <a:cs typeface="Corbel"/>
              </a:rPr>
              <a:t> </a:t>
            </a:r>
            <a:r>
              <a:rPr dirty="0" sz="2700" spc="25">
                <a:latin typeface="Cambria Math"/>
                <a:cs typeface="Cambria Math"/>
              </a:rPr>
              <a:t>𝑢}</a:t>
            </a:r>
            <a:endParaRPr sz="2700">
              <a:latin typeface="Cambria Math"/>
              <a:cs typeface="Cambria Math"/>
            </a:endParaRPr>
          </a:p>
          <a:p>
            <a:pPr lvl="2">
              <a:lnSpc>
                <a:spcPct val="100000"/>
              </a:lnSpc>
              <a:spcBef>
                <a:spcPts val="55"/>
              </a:spcBef>
              <a:buClr>
                <a:srgbClr val="E66C7D"/>
              </a:buClr>
              <a:buFont typeface="Malgun Gothic"/>
              <a:buChar char="▪"/>
            </a:pPr>
            <a:endParaRPr sz="3000">
              <a:latin typeface="Times New Roman"/>
              <a:cs typeface="Times New Roman"/>
            </a:endParaRPr>
          </a:p>
          <a:p>
            <a:pPr marL="332740" marR="5080" indent="-320040">
              <a:lnSpc>
                <a:spcPts val="3310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5" b="1">
                <a:latin typeface="Calibri"/>
                <a:cs typeface="Calibri"/>
              </a:rPr>
              <a:t>Alternate </a:t>
            </a:r>
            <a:r>
              <a:rPr dirty="0" sz="2800" spc="-10" b="1">
                <a:latin typeface="Calibri"/>
                <a:cs typeface="Calibri"/>
              </a:rPr>
              <a:t>terminology: </a:t>
            </a:r>
            <a:r>
              <a:rPr dirty="0" sz="2800" spc="-5">
                <a:latin typeface="Calibri"/>
                <a:cs typeface="Calibri"/>
              </a:rPr>
              <a:t>"non-induced </a:t>
            </a:r>
            <a:r>
              <a:rPr dirty="0" sz="2800" spc="-10">
                <a:latin typeface="Calibri"/>
                <a:cs typeface="Calibri"/>
              </a:rPr>
              <a:t>subgraph" </a:t>
            </a:r>
            <a:r>
              <a:rPr dirty="0" sz="2800" spc="-5">
                <a:latin typeface="Calibri"/>
                <a:cs typeface="Calibri"/>
              </a:rPr>
              <a:t>or  </a:t>
            </a:r>
            <a:r>
              <a:rPr dirty="0" sz="2800" spc="-10">
                <a:latin typeface="Calibri"/>
                <a:cs typeface="Calibri"/>
              </a:rPr>
              <a:t>just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"subgraph"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5827776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25944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 b="1">
                <a:solidFill>
                  <a:srgbClr val="0070C0"/>
                </a:solidFill>
                <a:latin typeface="Calibri"/>
                <a:cs typeface="Calibri"/>
              </a:rPr>
              <a:t>Two </a:t>
            </a:r>
            <a:r>
              <a:rPr dirty="0" spc="-35" b="1">
                <a:solidFill>
                  <a:srgbClr val="0070C0"/>
                </a:solidFill>
                <a:latin typeface="Calibri"/>
                <a:cs typeface="Calibri"/>
              </a:rPr>
              <a:t>ways </a:t>
            </a:r>
            <a:r>
              <a:rPr dirty="0" spc="-15" b="1">
                <a:solidFill>
                  <a:srgbClr val="0070C0"/>
                </a:solidFill>
                <a:latin typeface="Calibri"/>
                <a:cs typeface="Calibri"/>
              </a:rPr>
              <a:t>to formalize </a:t>
            </a:r>
            <a:r>
              <a:rPr dirty="0" spc="-10" b="1">
                <a:solidFill>
                  <a:srgbClr val="0070C0"/>
                </a:solidFill>
                <a:latin typeface="Calibri"/>
                <a:cs typeface="Calibri"/>
              </a:rPr>
              <a:t>"network </a:t>
            </a:r>
            <a:r>
              <a:rPr dirty="0" spc="-5" b="1">
                <a:solidFill>
                  <a:srgbClr val="0070C0"/>
                </a:solidFill>
                <a:latin typeface="Calibri"/>
                <a:cs typeface="Calibri"/>
              </a:rPr>
              <a:t>building</a:t>
            </a:r>
            <a:r>
              <a:rPr dirty="0" spc="11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0070C0"/>
                </a:solidFill>
                <a:latin typeface="Calibri"/>
                <a:cs typeface="Calibri"/>
              </a:rPr>
              <a:t>blocks"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6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275332"/>
            <a:ext cx="8106409" cy="2459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best </a:t>
            </a:r>
            <a:r>
              <a:rPr dirty="0" sz="3200" spc="-5">
                <a:latin typeface="Calibri"/>
                <a:cs typeface="Calibri"/>
              </a:rPr>
              <a:t>definition depends on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6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domain!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ts val="3815"/>
              </a:lnSpc>
            </a:pPr>
            <a:r>
              <a:rPr dirty="0" sz="3200" spc="-10" b="1">
                <a:latin typeface="Calibri"/>
                <a:cs typeface="Calibri"/>
              </a:rPr>
              <a:t>Examples: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solidFill>
                  <a:srgbClr val="CF5B1B"/>
                </a:solidFill>
                <a:latin typeface="Calibri"/>
                <a:cs typeface="Calibri"/>
              </a:rPr>
              <a:t>Chemistry</a:t>
            </a:r>
            <a:r>
              <a:rPr dirty="0" sz="2800" spc="-5" b="1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node-induced (functional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groups)</a:t>
            </a:r>
            <a:endParaRPr sz="2800">
              <a:latin typeface="Calibri"/>
              <a:cs typeface="Calibri"/>
            </a:endParaRPr>
          </a:p>
          <a:p>
            <a:pPr lvl="1" marL="625475" marR="5080" indent="-274320">
              <a:lnSpc>
                <a:spcPct val="101400"/>
              </a:lnSpc>
              <a:spcBef>
                <a:spcPts val="6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CF5B1B"/>
                </a:solidFill>
                <a:latin typeface="Calibri"/>
                <a:cs typeface="Calibri"/>
              </a:rPr>
              <a:t>Knowledge </a:t>
            </a:r>
            <a:r>
              <a:rPr dirty="0" sz="2800" spc="-15" b="1">
                <a:solidFill>
                  <a:srgbClr val="CF5B1B"/>
                </a:solidFill>
                <a:latin typeface="Calibri"/>
                <a:cs typeface="Calibri"/>
              </a:rPr>
              <a:t>graphs</a:t>
            </a:r>
            <a:r>
              <a:rPr dirty="0" sz="2800" spc="-15" b="1">
                <a:latin typeface="Calibri"/>
                <a:cs typeface="Calibri"/>
              </a:rPr>
              <a:t>: </a:t>
            </a:r>
            <a:r>
              <a:rPr dirty="0" sz="2800" spc="-15">
                <a:latin typeface="Calibri"/>
                <a:cs typeface="Calibri"/>
              </a:rPr>
              <a:t>Often </a:t>
            </a:r>
            <a:r>
              <a:rPr dirty="0" sz="2800" spc="-10">
                <a:latin typeface="Calibri"/>
                <a:cs typeface="Calibri"/>
              </a:rPr>
              <a:t>edge-induced </a:t>
            </a:r>
            <a:r>
              <a:rPr dirty="0" sz="2800" spc="-15">
                <a:latin typeface="Calibri"/>
                <a:cs typeface="Calibri"/>
              </a:rPr>
              <a:t>(focus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290">
                <a:latin typeface="Calibri"/>
                <a:cs typeface="Calibri"/>
              </a:rPr>
              <a:t>on  </a:t>
            </a:r>
            <a:r>
              <a:rPr dirty="0" sz="2800" spc="-10">
                <a:latin typeface="Calibri"/>
                <a:cs typeface="Calibri"/>
              </a:rPr>
              <a:t>edges </a:t>
            </a:r>
            <a:r>
              <a:rPr dirty="0" sz="2800" spc="-15">
                <a:latin typeface="Calibri"/>
                <a:cs typeface="Calibri"/>
              </a:rPr>
              <a:t>representing </a:t>
            </a:r>
            <a:r>
              <a:rPr dirty="0" sz="2800" spc="-10">
                <a:latin typeface="Calibri"/>
                <a:cs typeface="Calibri"/>
              </a:rPr>
              <a:t>logical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relations)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5849112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614920" cy="13030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/>
              <a:t>The </a:t>
            </a:r>
            <a:r>
              <a:rPr dirty="0" sz="2800" spc="-10"/>
              <a:t>preceding definitions define subgraphs</a:t>
            </a:r>
            <a:r>
              <a:rPr dirty="0" sz="2800" spc="25"/>
              <a:t> </a:t>
            </a:r>
            <a:r>
              <a:rPr dirty="0" sz="2800" spc="-5"/>
              <a:t>when</a:t>
            </a:r>
            <a:endParaRPr sz="2800"/>
          </a:p>
          <a:p>
            <a:pPr marL="332740" marR="5080">
              <a:lnSpc>
                <a:spcPts val="3290"/>
              </a:lnSpc>
              <a:spcBef>
                <a:spcPts val="215"/>
              </a:spcBef>
            </a:pPr>
            <a:r>
              <a:rPr dirty="0" sz="2800" spc="-5">
                <a:latin typeface="Cambria Math"/>
                <a:cs typeface="Cambria Math"/>
              </a:rPr>
              <a:t>𝑉′ </a:t>
            </a:r>
            <a:r>
              <a:rPr dirty="0" sz="2800">
                <a:latin typeface="Cambria Math"/>
                <a:cs typeface="Cambria Math"/>
              </a:rPr>
              <a:t>⊆ 𝑉 </a:t>
            </a:r>
            <a:r>
              <a:rPr dirty="0" sz="2800" spc="-5"/>
              <a:t>and </a:t>
            </a:r>
            <a:r>
              <a:rPr dirty="0" sz="2800">
                <a:latin typeface="Cambria Math"/>
                <a:cs typeface="Cambria Math"/>
              </a:rPr>
              <a:t>𝐸′ ⊆ </a:t>
            </a:r>
            <a:r>
              <a:rPr dirty="0" sz="2800" spc="50">
                <a:latin typeface="Cambria Math"/>
                <a:cs typeface="Cambria Math"/>
              </a:rPr>
              <a:t>𝐸</a:t>
            </a:r>
            <a:r>
              <a:rPr dirty="0" sz="2800" spc="50"/>
              <a:t>, </a:t>
            </a:r>
            <a:r>
              <a:rPr dirty="0" sz="2800" spc="-5"/>
              <a:t>i.e. nodes and </a:t>
            </a:r>
            <a:r>
              <a:rPr dirty="0" sz="2800" spc="-10"/>
              <a:t>edges </a:t>
            </a:r>
            <a:r>
              <a:rPr dirty="0" sz="2800" spc="-15"/>
              <a:t>are </a:t>
            </a:r>
            <a:r>
              <a:rPr dirty="0" sz="2800" spc="-30"/>
              <a:t>taken  </a:t>
            </a:r>
            <a:r>
              <a:rPr dirty="0" sz="2800" spc="-15"/>
              <a:t>from </a:t>
            </a:r>
            <a:r>
              <a:rPr dirty="0" sz="2800" spc="-5"/>
              <a:t>the </a:t>
            </a:r>
            <a:r>
              <a:rPr dirty="0" sz="2800" spc="-10"/>
              <a:t>original </a:t>
            </a:r>
            <a:r>
              <a:rPr dirty="0" sz="2800" spc="-15"/>
              <a:t>graph</a:t>
            </a:r>
            <a:r>
              <a:rPr dirty="0" sz="2800" spc="-20"/>
              <a:t> </a:t>
            </a:r>
            <a:r>
              <a:rPr dirty="0" sz="2800" spc="-5"/>
              <a:t>G.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00197" y="38174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7" y="0"/>
                </a:moveTo>
                <a:lnTo>
                  <a:pt x="146817" y="5031"/>
                </a:lnTo>
                <a:lnTo>
                  <a:pt x="106721" y="19362"/>
                </a:lnTo>
                <a:lnTo>
                  <a:pt x="71350" y="41850"/>
                </a:lnTo>
                <a:lnTo>
                  <a:pt x="41849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498"/>
                </a:lnTo>
                <a:lnTo>
                  <a:pt x="5031" y="234178"/>
                </a:lnTo>
                <a:lnTo>
                  <a:pt x="19362" y="274275"/>
                </a:lnTo>
                <a:lnTo>
                  <a:pt x="41849" y="309646"/>
                </a:lnTo>
                <a:lnTo>
                  <a:pt x="71350" y="339148"/>
                </a:lnTo>
                <a:lnTo>
                  <a:pt x="106721" y="361636"/>
                </a:lnTo>
                <a:lnTo>
                  <a:pt x="146817" y="375967"/>
                </a:lnTo>
                <a:lnTo>
                  <a:pt x="190497" y="380998"/>
                </a:lnTo>
                <a:lnTo>
                  <a:pt x="234177" y="375967"/>
                </a:lnTo>
                <a:lnTo>
                  <a:pt x="274273" y="361636"/>
                </a:lnTo>
                <a:lnTo>
                  <a:pt x="309644" y="339148"/>
                </a:lnTo>
                <a:lnTo>
                  <a:pt x="339145" y="309646"/>
                </a:lnTo>
                <a:lnTo>
                  <a:pt x="361633" y="274275"/>
                </a:lnTo>
                <a:lnTo>
                  <a:pt x="375964" y="234178"/>
                </a:lnTo>
                <a:lnTo>
                  <a:pt x="380996" y="190498"/>
                </a:lnTo>
                <a:lnTo>
                  <a:pt x="375964" y="146819"/>
                </a:lnTo>
                <a:lnTo>
                  <a:pt x="361633" y="106722"/>
                </a:lnTo>
                <a:lnTo>
                  <a:pt x="339145" y="71351"/>
                </a:lnTo>
                <a:lnTo>
                  <a:pt x="309644" y="41850"/>
                </a:lnTo>
                <a:lnTo>
                  <a:pt x="274273" y="19362"/>
                </a:lnTo>
                <a:lnTo>
                  <a:pt x="234177" y="5031"/>
                </a:lnTo>
                <a:lnTo>
                  <a:pt x="19049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00197" y="38174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512647" y="38174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8" y="0"/>
                </a:moveTo>
                <a:lnTo>
                  <a:pt x="146819" y="5031"/>
                </a:lnTo>
                <a:lnTo>
                  <a:pt x="106722" y="19362"/>
                </a:lnTo>
                <a:lnTo>
                  <a:pt x="71351" y="41850"/>
                </a:lnTo>
                <a:lnTo>
                  <a:pt x="41850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498"/>
                </a:lnTo>
                <a:lnTo>
                  <a:pt x="5031" y="234178"/>
                </a:lnTo>
                <a:lnTo>
                  <a:pt x="19362" y="274275"/>
                </a:lnTo>
                <a:lnTo>
                  <a:pt x="41850" y="309646"/>
                </a:lnTo>
                <a:lnTo>
                  <a:pt x="71351" y="339148"/>
                </a:lnTo>
                <a:lnTo>
                  <a:pt x="106722" y="361636"/>
                </a:lnTo>
                <a:lnTo>
                  <a:pt x="146819" y="375967"/>
                </a:lnTo>
                <a:lnTo>
                  <a:pt x="190498" y="380998"/>
                </a:lnTo>
                <a:lnTo>
                  <a:pt x="234178" y="375967"/>
                </a:lnTo>
                <a:lnTo>
                  <a:pt x="274275" y="361636"/>
                </a:lnTo>
                <a:lnTo>
                  <a:pt x="309645" y="339148"/>
                </a:lnTo>
                <a:lnTo>
                  <a:pt x="339146" y="309646"/>
                </a:lnTo>
                <a:lnTo>
                  <a:pt x="361634" y="274275"/>
                </a:lnTo>
                <a:lnTo>
                  <a:pt x="375966" y="234178"/>
                </a:lnTo>
                <a:lnTo>
                  <a:pt x="380997" y="190498"/>
                </a:lnTo>
                <a:lnTo>
                  <a:pt x="375966" y="146819"/>
                </a:lnTo>
                <a:lnTo>
                  <a:pt x="361634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5" y="19362"/>
                </a:lnTo>
                <a:lnTo>
                  <a:pt x="234178" y="5031"/>
                </a:lnTo>
                <a:lnTo>
                  <a:pt x="1904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512647" y="38174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75987" y="4615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8" y="0"/>
                </a:moveTo>
                <a:lnTo>
                  <a:pt x="146819" y="5031"/>
                </a:lnTo>
                <a:lnTo>
                  <a:pt x="106722" y="19362"/>
                </a:lnTo>
                <a:lnTo>
                  <a:pt x="71351" y="41850"/>
                </a:lnTo>
                <a:lnTo>
                  <a:pt x="41850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500"/>
                </a:lnTo>
                <a:lnTo>
                  <a:pt x="5031" y="234179"/>
                </a:lnTo>
                <a:lnTo>
                  <a:pt x="19362" y="274276"/>
                </a:lnTo>
                <a:lnTo>
                  <a:pt x="41850" y="309647"/>
                </a:lnTo>
                <a:lnTo>
                  <a:pt x="71351" y="339148"/>
                </a:lnTo>
                <a:lnTo>
                  <a:pt x="106722" y="361636"/>
                </a:lnTo>
                <a:lnTo>
                  <a:pt x="146819" y="375967"/>
                </a:lnTo>
                <a:lnTo>
                  <a:pt x="190498" y="380998"/>
                </a:lnTo>
                <a:lnTo>
                  <a:pt x="234178" y="375967"/>
                </a:lnTo>
                <a:lnTo>
                  <a:pt x="274275" y="361636"/>
                </a:lnTo>
                <a:lnTo>
                  <a:pt x="309645" y="339148"/>
                </a:lnTo>
                <a:lnTo>
                  <a:pt x="339146" y="309647"/>
                </a:lnTo>
                <a:lnTo>
                  <a:pt x="361634" y="274276"/>
                </a:lnTo>
                <a:lnTo>
                  <a:pt x="375966" y="234179"/>
                </a:lnTo>
                <a:lnTo>
                  <a:pt x="380997" y="190500"/>
                </a:lnTo>
                <a:lnTo>
                  <a:pt x="375966" y="146819"/>
                </a:lnTo>
                <a:lnTo>
                  <a:pt x="361634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5" y="19362"/>
                </a:lnTo>
                <a:lnTo>
                  <a:pt x="234178" y="5031"/>
                </a:lnTo>
                <a:lnTo>
                  <a:pt x="1904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75987" y="4615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81193" y="4007957"/>
            <a:ext cx="531495" cy="0"/>
          </a:xfrm>
          <a:custGeom>
            <a:avLst/>
            <a:gdLst/>
            <a:ahLst/>
            <a:cxnLst/>
            <a:rect l="l" t="t" r="r" b="b"/>
            <a:pathLst>
              <a:path w="531494" h="0">
                <a:moveTo>
                  <a:pt x="0" y="0"/>
                </a:moveTo>
                <a:lnTo>
                  <a:pt x="531454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790696" y="4198456"/>
            <a:ext cx="241300" cy="473075"/>
          </a:xfrm>
          <a:custGeom>
            <a:avLst/>
            <a:gdLst/>
            <a:ahLst/>
            <a:cxnLst/>
            <a:rect l="l" t="t" r="r" b="b"/>
            <a:pathLst>
              <a:path w="241300" h="473075">
                <a:moveTo>
                  <a:pt x="0" y="0"/>
                </a:moveTo>
                <a:lnTo>
                  <a:pt x="241088" y="47299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301189" y="4198456"/>
            <a:ext cx="402590" cy="473075"/>
          </a:xfrm>
          <a:custGeom>
            <a:avLst/>
            <a:gdLst/>
            <a:ahLst/>
            <a:cxnLst/>
            <a:rect l="l" t="t" r="r" b="b"/>
            <a:pathLst>
              <a:path w="402589" h="473075">
                <a:moveTo>
                  <a:pt x="0" y="472990"/>
                </a:moveTo>
                <a:lnTo>
                  <a:pt x="40195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847795" y="382466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8" y="0"/>
                </a:moveTo>
                <a:lnTo>
                  <a:pt x="146818" y="5031"/>
                </a:lnTo>
                <a:lnTo>
                  <a:pt x="106721" y="19362"/>
                </a:lnTo>
                <a:lnTo>
                  <a:pt x="71351" y="41850"/>
                </a:lnTo>
                <a:lnTo>
                  <a:pt x="41850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498"/>
                </a:lnTo>
                <a:lnTo>
                  <a:pt x="5031" y="234178"/>
                </a:lnTo>
                <a:lnTo>
                  <a:pt x="19362" y="274275"/>
                </a:lnTo>
                <a:lnTo>
                  <a:pt x="41850" y="309646"/>
                </a:lnTo>
                <a:lnTo>
                  <a:pt x="71351" y="339148"/>
                </a:lnTo>
                <a:lnTo>
                  <a:pt x="106721" y="361636"/>
                </a:lnTo>
                <a:lnTo>
                  <a:pt x="146818" y="375967"/>
                </a:lnTo>
                <a:lnTo>
                  <a:pt x="190498" y="380998"/>
                </a:lnTo>
                <a:lnTo>
                  <a:pt x="234178" y="375967"/>
                </a:lnTo>
                <a:lnTo>
                  <a:pt x="274274" y="361636"/>
                </a:lnTo>
                <a:lnTo>
                  <a:pt x="309645" y="339148"/>
                </a:lnTo>
                <a:lnTo>
                  <a:pt x="339146" y="309646"/>
                </a:lnTo>
                <a:lnTo>
                  <a:pt x="361633" y="274275"/>
                </a:lnTo>
                <a:lnTo>
                  <a:pt x="375965" y="234178"/>
                </a:lnTo>
                <a:lnTo>
                  <a:pt x="380996" y="190498"/>
                </a:lnTo>
                <a:lnTo>
                  <a:pt x="375965" y="146819"/>
                </a:lnTo>
                <a:lnTo>
                  <a:pt x="361633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4" y="19362"/>
                </a:lnTo>
                <a:lnTo>
                  <a:pt x="234178" y="5031"/>
                </a:lnTo>
                <a:lnTo>
                  <a:pt x="190498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847795" y="382466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60245" y="382466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8" y="0"/>
                </a:moveTo>
                <a:lnTo>
                  <a:pt x="146819" y="5031"/>
                </a:lnTo>
                <a:lnTo>
                  <a:pt x="106722" y="19362"/>
                </a:lnTo>
                <a:lnTo>
                  <a:pt x="71351" y="41850"/>
                </a:lnTo>
                <a:lnTo>
                  <a:pt x="41850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498"/>
                </a:lnTo>
                <a:lnTo>
                  <a:pt x="5031" y="234178"/>
                </a:lnTo>
                <a:lnTo>
                  <a:pt x="19362" y="274275"/>
                </a:lnTo>
                <a:lnTo>
                  <a:pt x="41850" y="309646"/>
                </a:lnTo>
                <a:lnTo>
                  <a:pt x="71351" y="339148"/>
                </a:lnTo>
                <a:lnTo>
                  <a:pt x="106722" y="361636"/>
                </a:lnTo>
                <a:lnTo>
                  <a:pt x="146819" y="375967"/>
                </a:lnTo>
                <a:lnTo>
                  <a:pt x="190498" y="380998"/>
                </a:lnTo>
                <a:lnTo>
                  <a:pt x="234178" y="375967"/>
                </a:lnTo>
                <a:lnTo>
                  <a:pt x="274275" y="361636"/>
                </a:lnTo>
                <a:lnTo>
                  <a:pt x="309645" y="339148"/>
                </a:lnTo>
                <a:lnTo>
                  <a:pt x="339146" y="309646"/>
                </a:lnTo>
                <a:lnTo>
                  <a:pt x="361634" y="274275"/>
                </a:lnTo>
                <a:lnTo>
                  <a:pt x="375966" y="234178"/>
                </a:lnTo>
                <a:lnTo>
                  <a:pt x="380997" y="190498"/>
                </a:lnTo>
                <a:lnTo>
                  <a:pt x="375966" y="146819"/>
                </a:lnTo>
                <a:lnTo>
                  <a:pt x="361634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5" y="19362"/>
                </a:lnTo>
                <a:lnTo>
                  <a:pt x="234178" y="5031"/>
                </a:lnTo>
                <a:lnTo>
                  <a:pt x="190498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60245" y="382466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23585" y="46228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8" y="0"/>
                </a:moveTo>
                <a:lnTo>
                  <a:pt x="146819" y="5031"/>
                </a:lnTo>
                <a:lnTo>
                  <a:pt x="106722" y="19362"/>
                </a:lnTo>
                <a:lnTo>
                  <a:pt x="71351" y="41850"/>
                </a:lnTo>
                <a:lnTo>
                  <a:pt x="41850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500"/>
                </a:lnTo>
                <a:lnTo>
                  <a:pt x="5031" y="234179"/>
                </a:lnTo>
                <a:lnTo>
                  <a:pt x="19362" y="274276"/>
                </a:lnTo>
                <a:lnTo>
                  <a:pt x="41850" y="309647"/>
                </a:lnTo>
                <a:lnTo>
                  <a:pt x="71351" y="339148"/>
                </a:lnTo>
                <a:lnTo>
                  <a:pt x="106722" y="361636"/>
                </a:lnTo>
                <a:lnTo>
                  <a:pt x="146819" y="375967"/>
                </a:lnTo>
                <a:lnTo>
                  <a:pt x="190498" y="380998"/>
                </a:lnTo>
                <a:lnTo>
                  <a:pt x="234178" y="375967"/>
                </a:lnTo>
                <a:lnTo>
                  <a:pt x="274275" y="361636"/>
                </a:lnTo>
                <a:lnTo>
                  <a:pt x="309645" y="339148"/>
                </a:lnTo>
                <a:lnTo>
                  <a:pt x="339146" y="309647"/>
                </a:lnTo>
                <a:lnTo>
                  <a:pt x="361634" y="274276"/>
                </a:lnTo>
                <a:lnTo>
                  <a:pt x="375966" y="234179"/>
                </a:lnTo>
                <a:lnTo>
                  <a:pt x="380997" y="190500"/>
                </a:lnTo>
                <a:lnTo>
                  <a:pt x="375966" y="146819"/>
                </a:lnTo>
                <a:lnTo>
                  <a:pt x="361634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5" y="19362"/>
                </a:lnTo>
                <a:lnTo>
                  <a:pt x="234178" y="5031"/>
                </a:lnTo>
                <a:lnTo>
                  <a:pt x="190498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223585" y="46228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228791" y="4015167"/>
            <a:ext cx="531495" cy="0"/>
          </a:xfrm>
          <a:custGeom>
            <a:avLst/>
            <a:gdLst/>
            <a:ahLst/>
            <a:cxnLst/>
            <a:rect l="l" t="t" r="r" b="b"/>
            <a:pathLst>
              <a:path w="531495" h="0">
                <a:moveTo>
                  <a:pt x="0" y="0"/>
                </a:moveTo>
                <a:lnTo>
                  <a:pt x="531454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038293" y="4205665"/>
            <a:ext cx="241300" cy="473075"/>
          </a:xfrm>
          <a:custGeom>
            <a:avLst/>
            <a:gdLst/>
            <a:ahLst/>
            <a:cxnLst/>
            <a:rect l="l" t="t" r="r" b="b"/>
            <a:pathLst>
              <a:path w="241300" h="473075">
                <a:moveTo>
                  <a:pt x="0" y="0"/>
                </a:moveTo>
                <a:lnTo>
                  <a:pt x="241088" y="47299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548787" y="4205665"/>
            <a:ext cx="402590" cy="473075"/>
          </a:xfrm>
          <a:custGeom>
            <a:avLst/>
            <a:gdLst/>
            <a:ahLst/>
            <a:cxnLst/>
            <a:rect l="l" t="t" r="r" b="b"/>
            <a:pathLst>
              <a:path w="402589" h="473075">
                <a:moveTo>
                  <a:pt x="0" y="472990"/>
                </a:moveTo>
                <a:lnTo>
                  <a:pt x="40195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717247" y="42693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8" y="0"/>
                </a:moveTo>
                <a:lnTo>
                  <a:pt x="146819" y="5031"/>
                </a:lnTo>
                <a:lnTo>
                  <a:pt x="106722" y="19362"/>
                </a:lnTo>
                <a:lnTo>
                  <a:pt x="71351" y="41850"/>
                </a:lnTo>
                <a:lnTo>
                  <a:pt x="41850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498"/>
                </a:lnTo>
                <a:lnTo>
                  <a:pt x="5031" y="234178"/>
                </a:lnTo>
                <a:lnTo>
                  <a:pt x="19362" y="274275"/>
                </a:lnTo>
                <a:lnTo>
                  <a:pt x="41850" y="309646"/>
                </a:lnTo>
                <a:lnTo>
                  <a:pt x="71351" y="339148"/>
                </a:lnTo>
                <a:lnTo>
                  <a:pt x="106722" y="361636"/>
                </a:lnTo>
                <a:lnTo>
                  <a:pt x="146819" y="375967"/>
                </a:lnTo>
                <a:lnTo>
                  <a:pt x="190498" y="380998"/>
                </a:lnTo>
                <a:lnTo>
                  <a:pt x="234178" y="375967"/>
                </a:lnTo>
                <a:lnTo>
                  <a:pt x="274275" y="361636"/>
                </a:lnTo>
                <a:lnTo>
                  <a:pt x="309645" y="339148"/>
                </a:lnTo>
                <a:lnTo>
                  <a:pt x="339146" y="309646"/>
                </a:lnTo>
                <a:lnTo>
                  <a:pt x="361634" y="274275"/>
                </a:lnTo>
                <a:lnTo>
                  <a:pt x="375966" y="234178"/>
                </a:lnTo>
                <a:lnTo>
                  <a:pt x="380997" y="190498"/>
                </a:lnTo>
                <a:lnTo>
                  <a:pt x="375966" y="146819"/>
                </a:lnTo>
                <a:lnTo>
                  <a:pt x="361634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5" y="19362"/>
                </a:lnTo>
                <a:lnTo>
                  <a:pt x="234178" y="5031"/>
                </a:lnTo>
                <a:lnTo>
                  <a:pt x="190498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717247" y="42693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18108" y="2630931"/>
            <a:ext cx="7550150" cy="343662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32740" marR="327660" indent="-320040">
              <a:lnSpc>
                <a:spcPct val="101400"/>
              </a:lnSpc>
              <a:spcBef>
                <a:spcPts val="5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What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if </a:t>
            </a:r>
            <a:r>
              <a:rPr dirty="0" sz="2800" spc="-5">
                <a:solidFill>
                  <a:srgbClr val="C00000"/>
                </a:solidFill>
                <a:latin typeface="Cambria Math"/>
                <a:cs typeface="Cambria Math"/>
              </a:rPr>
              <a:t>𝑽′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and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𝑬′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come from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totally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different  graph?</a:t>
            </a:r>
            <a:r>
              <a:rPr dirty="0" sz="28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  <a:p>
            <a:pPr marL="1099820">
              <a:lnSpc>
                <a:spcPct val="100000"/>
              </a:lnSpc>
              <a:spcBef>
                <a:spcPts val="2845"/>
              </a:spcBef>
              <a:tabLst>
                <a:tab pos="2017395" algn="l"/>
                <a:tab pos="3353435" algn="l"/>
                <a:tab pos="4265295" algn="l"/>
              </a:tabLst>
            </a:pPr>
            <a:r>
              <a:rPr dirty="0" baseline="1543" sz="2700">
                <a:solidFill>
                  <a:srgbClr val="FFFFFF"/>
                </a:solidFill>
                <a:latin typeface="Corbel"/>
                <a:cs typeface="Corbel"/>
              </a:rPr>
              <a:t>A	B	</a:t>
            </a:r>
            <a:r>
              <a:rPr dirty="0" sz="1800">
                <a:solidFill>
                  <a:srgbClr val="FFFFFF"/>
                </a:solidFill>
                <a:latin typeface="Corbel"/>
                <a:cs typeface="Corbel"/>
              </a:rPr>
              <a:t>X	Z</a:t>
            </a:r>
            <a:endParaRPr sz="1800">
              <a:latin typeface="Corbel"/>
              <a:cs typeface="Corbel"/>
            </a:endParaRPr>
          </a:p>
          <a:p>
            <a:pPr algn="r" marR="2151380">
              <a:lnSpc>
                <a:spcPct val="100000"/>
              </a:lnSpc>
              <a:spcBef>
                <a:spcPts val="1340"/>
              </a:spcBef>
            </a:pPr>
            <a:r>
              <a:rPr dirty="0" sz="1800">
                <a:solidFill>
                  <a:srgbClr val="FFFFFF"/>
                </a:solidFill>
                <a:latin typeface="Corbel"/>
                <a:cs typeface="Corbel"/>
              </a:rPr>
              <a:t>W</a:t>
            </a:r>
            <a:endParaRPr sz="1800">
              <a:latin typeface="Corbel"/>
              <a:cs typeface="Corbel"/>
            </a:endParaRPr>
          </a:p>
          <a:p>
            <a:pPr marL="1480820">
              <a:lnSpc>
                <a:spcPct val="100000"/>
              </a:lnSpc>
              <a:spcBef>
                <a:spcPts val="620"/>
              </a:spcBef>
              <a:tabLst>
                <a:tab pos="3727450" algn="l"/>
              </a:tabLst>
            </a:pPr>
            <a:r>
              <a:rPr dirty="0" baseline="1543" sz="2700">
                <a:solidFill>
                  <a:srgbClr val="FFFFFF"/>
                </a:solidFill>
                <a:latin typeface="Corbel"/>
                <a:cs typeface="Corbel"/>
              </a:rPr>
              <a:t>C	</a:t>
            </a:r>
            <a:r>
              <a:rPr dirty="0" sz="180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endParaRPr sz="1800">
              <a:latin typeface="Corbel"/>
              <a:cs typeface="Corbel"/>
            </a:endParaRPr>
          </a:p>
          <a:p>
            <a:pPr marL="1443990">
              <a:lnSpc>
                <a:spcPct val="100000"/>
              </a:lnSpc>
              <a:spcBef>
                <a:spcPts val="480"/>
              </a:spcBef>
              <a:tabLst>
                <a:tab pos="3989070" algn="l"/>
              </a:tabLst>
            </a:pPr>
            <a:r>
              <a:rPr dirty="0" baseline="2314" sz="3600" spc="284">
                <a:latin typeface="Cambria Math"/>
                <a:cs typeface="Cambria Math"/>
              </a:rPr>
              <a:t>𝐺</a:t>
            </a:r>
            <a:r>
              <a:rPr dirty="0" baseline="-12345" sz="2700" spc="284">
                <a:latin typeface="Cambria Math"/>
                <a:cs typeface="Cambria Math"/>
              </a:rPr>
              <a:t>!	</a:t>
            </a:r>
            <a:r>
              <a:rPr dirty="0" sz="2400" spc="125">
                <a:latin typeface="Cambria Math"/>
                <a:cs typeface="Cambria Math"/>
              </a:rPr>
              <a:t>𝐺</a:t>
            </a:r>
            <a:r>
              <a:rPr dirty="0" baseline="-15432" sz="2700" spc="187">
                <a:latin typeface="Cambria Math"/>
                <a:cs typeface="Cambria Math"/>
              </a:rPr>
              <a:t>"</a:t>
            </a:r>
            <a:endParaRPr baseline="-15432" sz="27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207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5" b="1">
                <a:latin typeface="Calibri"/>
                <a:cs typeface="Calibri"/>
              </a:rPr>
              <a:t>We </a:t>
            </a:r>
            <a:r>
              <a:rPr dirty="0" sz="2800" spc="-10" b="1">
                <a:latin typeface="Calibri"/>
                <a:cs typeface="Calibri"/>
              </a:rPr>
              <a:t>would </a:t>
            </a:r>
            <a:r>
              <a:rPr dirty="0" sz="2800" spc="-25" b="1">
                <a:latin typeface="Calibri"/>
                <a:cs typeface="Calibri"/>
              </a:rPr>
              <a:t>like </a:t>
            </a:r>
            <a:r>
              <a:rPr dirty="0" sz="2800" spc="-15" b="1">
                <a:latin typeface="Calibri"/>
                <a:cs typeface="Calibri"/>
              </a:rPr>
              <a:t>to </a:t>
            </a:r>
            <a:r>
              <a:rPr dirty="0" sz="2800" spc="-20" b="1">
                <a:latin typeface="Calibri"/>
                <a:cs typeface="Calibri"/>
              </a:rPr>
              <a:t>say </a:t>
            </a:r>
            <a:r>
              <a:rPr dirty="0" sz="2800" spc="-10" b="1">
                <a:latin typeface="Calibri"/>
                <a:cs typeface="Calibri"/>
              </a:rPr>
              <a:t>that </a:t>
            </a:r>
            <a:r>
              <a:rPr dirty="0" sz="2800" spc="-5">
                <a:solidFill>
                  <a:srgbClr val="008000"/>
                </a:solidFill>
                <a:latin typeface="Cambria Math"/>
                <a:cs typeface="Cambria Math"/>
              </a:rPr>
              <a:t>𝑮</a:t>
            </a:r>
            <a:r>
              <a:rPr dirty="0" baseline="-16666" sz="3000" spc="-7">
                <a:solidFill>
                  <a:srgbClr val="008000"/>
                </a:solidFill>
                <a:latin typeface="Cambria Math"/>
                <a:cs typeface="Cambria Math"/>
              </a:rPr>
              <a:t>𝟏 </a:t>
            </a:r>
            <a:r>
              <a:rPr dirty="0" sz="2800" spc="-5" b="1">
                <a:solidFill>
                  <a:srgbClr val="008000"/>
                </a:solidFill>
                <a:latin typeface="Calibri"/>
                <a:cs typeface="Calibri"/>
              </a:rPr>
              <a:t>is </a:t>
            </a:r>
            <a:r>
              <a:rPr dirty="0" sz="2800" spc="-25" b="1">
                <a:solidFill>
                  <a:srgbClr val="008000"/>
                </a:solidFill>
                <a:latin typeface="Calibri"/>
                <a:cs typeface="Calibri"/>
              </a:rPr>
              <a:t>“contained </a:t>
            </a:r>
            <a:r>
              <a:rPr dirty="0" sz="2800" spc="-5" b="1">
                <a:solidFill>
                  <a:srgbClr val="008000"/>
                </a:solidFill>
                <a:latin typeface="Calibri"/>
                <a:cs typeface="Calibri"/>
              </a:rPr>
              <a:t>in”</a:t>
            </a:r>
            <a:r>
              <a:rPr dirty="0" sz="2800" spc="305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008000"/>
                </a:solidFill>
                <a:latin typeface="Cambria Math"/>
                <a:cs typeface="Cambria Math"/>
              </a:rPr>
              <a:t>𝑮</a:t>
            </a:r>
            <a:r>
              <a:rPr dirty="0" baseline="-16666" sz="3000" spc="-7">
                <a:solidFill>
                  <a:srgbClr val="008000"/>
                </a:solidFill>
                <a:latin typeface="Cambria Math"/>
                <a:cs typeface="Cambria Math"/>
              </a:rPr>
              <a:t>𝟐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085446" y="4149869"/>
            <a:ext cx="626110" cy="233679"/>
          </a:xfrm>
          <a:custGeom>
            <a:avLst/>
            <a:gdLst/>
            <a:ahLst/>
            <a:cxnLst/>
            <a:rect l="l" t="t" r="r" b="b"/>
            <a:pathLst>
              <a:path w="626110" h="233679">
                <a:moveTo>
                  <a:pt x="0" y="0"/>
                </a:moveTo>
                <a:lnTo>
                  <a:pt x="625823" y="23363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6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480364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11147"/>
            <a:ext cx="7571740" cy="833119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332740" marR="5080" indent="-320040">
              <a:lnSpc>
                <a:spcPts val="3000"/>
              </a:lnSpc>
              <a:spcBef>
                <a:spcPts val="5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5" b="1">
                <a:solidFill>
                  <a:srgbClr val="D60093"/>
                </a:solidFill>
                <a:latin typeface="Calibri"/>
                <a:cs typeface="Calibri"/>
              </a:rPr>
              <a:t>Graph </a:t>
            </a: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isomorphism </a:t>
            </a: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problem: </a:t>
            </a:r>
            <a:r>
              <a:rPr dirty="0" sz="2800" spc="-5"/>
              <a:t>Check </a:t>
            </a:r>
            <a:r>
              <a:rPr dirty="0" sz="2800" spc="-10"/>
              <a:t>whether two  </a:t>
            </a:r>
            <a:r>
              <a:rPr dirty="0" sz="2800" spc="-15"/>
              <a:t>graphs are</a:t>
            </a:r>
            <a:r>
              <a:rPr dirty="0" sz="2800" spc="-60"/>
              <a:t> </a:t>
            </a:r>
            <a:r>
              <a:rPr dirty="0" sz="2800" spc="-10"/>
              <a:t>identical: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23428" y="2959977"/>
            <a:ext cx="1668780" cy="399415"/>
          </a:xfrm>
          <a:custGeom>
            <a:avLst/>
            <a:gdLst/>
            <a:ahLst/>
            <a:cxnLst/>
            <a:rect l="l" t="t" r="r" b="b"/>
            <a:pathLst>
              <a:path w="1668779" h="399414">
                <a:moveTo>
                  <a:pt x="1563782" y="0"/>
                </a:moveTo>
                <a:lnTo>
                  <a:pt x="1559751" y="13221"/>
                </a:lnTo>
                <a:lnTo>
                  <a:pt x="1578076" y="22723"/>
                </a:lnTo>
                <a:lnTo>
                  <a:pt x="1594032" y="36559"/>
                </a:lnTo>
                <a:lnTo>
                  <a:pt x="1618842" y="77229"/>
                </a:lnTo>
                <a:lnTo>
                  <a:pt x="1633897" y="132491"/>
                </a:lnTo>
                <a:lnTo>
                  <a:pt x="1638915" y="199603"/>
                </a:lnTo>
                <a:lnTo>
                  <a:pt x="1637661" y="234565"/>
                </a:lnTo>
                <a:lnTo>
                  <a:pt x="1627624" y="295631"/>
                </a:lnTo>
                <a:lnTo>
                  <a:pt x="1607621" y="344201"/>
                </a:lnTo>
                <a:lnTo>
                  <a:pt x="1578076" y="376165"/>
                </a:lnTo>
                <a:lnTo>
                  <a:pt x="1559751" y="385663"/>
                </a:lnTo>
                <a:lnTo>
                  <a:pt x="1563782" y="398884"/>
                </a:lnTo>
                <a:lnTo>
                  <a:pt x="1608322" y="375143"/>
                </a:lnTo>
                <a:lnTo>
                  <a:pt x="1641334" y="330361"/>
                </a:lnTo>
                <a:lnTo>
                  <a:pt x="1661769" y="269980"/>
                </a:lnTo>
                <a:lnTo>
                  <a:pt x="1668581" y="199442"/>
                </a:lnTo>
                <a:lnTo>
                  <a:pt x="1666878" y="162903"/>
                </a:lnTo>
                <a:lnTo>
                  <a:pt x="1653254" y="97443"/>
                </a:lnTo>
                <a:lnTo>
                  <a:pt x="1626269" y="43502"/>
                </a:lnTo>
                <a:lnTo>
                  <a:pt x="1587493" y="9240"/>
                </a:lnTo>
                <a:lnTo>
                  <a:pt x="1563782" y="0"/>
                </a:lnTo>
                <a:close/>
              </a:path>
              <a:path w="1668779" h="399414">
                <a:moveTo>
                  <a:pt x="104800" y="0"/>
                </a:moveTo>
                <a:lnTo>
                  <a:pt x="60260" y="23741"/>
                </a:lnTo>
                <a:lnTo>
                  <a:pt x="27247" y="68522"/>
                </a:lnTo>
                <a:lnTo>
                  <a:pt x="6812" y="128903"/>
                </a:lnTo>
                <a:lnTo>
                  <a:pt x="0" y="199442"/>
                </a:lnTo>
                <a:lnTo>
                  <a:pt x="1703" y="235980"/>
                </a:lnTo>
                <a:lnTo>
                  <a:pt x="15327" y="301440"/>
                </a:lnTo>
                <a:lnTo>
                  <a:pt x="42313" y="355382"/>
                </a:lnTo>
                <a:lnTo>
                  <a:pt x="81089" y="389643"/>
                </a:lnTo>
                <a:lnTo>
                  <a:pt x="104800" y="398884"/>
                </a:lnTo>
                <a:lnTo>
                  <a:pt x="108831" y="385663"/>
                </a:lnTo>
                <a:lnTo>
                  <a:pt x="90506" y="376165"/>
                </a:lnTo>
                <a:lnTo>
                  <a:pt x="74549" y="362345"/>
                </a:lnTo>
                <a:lnTo>
                  <a:pt x="49739" y="321735"/>
                </a:lnTo>
                <a:lnTo>
                  <a:pt x="34685" y="266574"/>
                </a:lnTo>
                <a:lnTo>
                  <a:pt x="29672" y="199442"/>
                </a:lnTo>
                <a:lnTo>
                  <a:pt x="30921" y="164565"/>
                </a:lnTo>
                <a:lnTo>
                  <a:pt x="40957" y="103379"/>
                </a:lnTo>
                <a:lnTo>
                  <a:pt x="60960" y="54727"/>
                </a:lnTo>
                <a:lnTo>
                  <a:pt x="90506" y="22723"/>
                </a:lnTo>
                <a:lnTo>
                  <a:pt x="108831" y="13221"/>
                </a:lnTo>
                <a:lnTo>
                  <a:pt x="10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62393" y="3006538"/>
            <a:ext cx="408305" cy="306070"/>
          </a:xfrm>
          <a:custGeom>
            <a:avLst/>
            <a:gdLst/>
            <a:ahLst/>
            <a:cxnLst/>
            <a:rect l="l" t="t" r="r" b="b"/>
            <a:pathLst>
              <a:path w="408305" h="306070">
                <a:moveTo>
                  <a:pt x="310705" y="0"/>
                </a:moveTo>
                <a:lnTo>
                  <a:pt x="306351" y="12414"/>
                </a:lnTo>
                <a:lnTo>
                  <a:pt x="324056" y="20097"/>
                </a:lnTo>
                <a:lnTo>
                  <a:pt x="339283" y="30733"/>
                </a:lnTo>
                <a:lnTo>
                  <a:pt x="370199" y="80034"/>
                </a:lnTo>
                <a:lnTo>
                  <a:pt x="379228" y="125300"/>
                </a:lnTo>
                <a:lnTo>
                  <a:pt x="380357" y="151395"/>
                </a:lnTo>
                <a:lnTo>
                  <a:pt x="379223" y="178370"/>
                </a:lnTo>
                <a:lnTo>
                  <a:pt x="370153" y="224885"/>
                </a:lnTo>
                <a:lnTo>
                  <a:pt x="351955" y="261213"/>
                </a:lnTo>
                <a:lnTo>
                  <a:pt x="306835" y="293438"/>
                </a:lnTo>
                <a:lnTo>
                  <a:pt x="310705" y="305854"/>
                </a:lnTo>
                <a:lnTo>
                  <a:pt x="352423" y="286284"/>
                </a:lnTo>
                <a:lnTo>
                  <a:pt x="383098" y="252406"/>
                </a:lnTo>
                <a:lnTo>
                  <a:pt x="401961" y="207039"/>
                </a:lnTo>
                <a:lnTo>
                  <a:pt x="408249" y="153007"/>
                </a:lnTo>
                <a:lnTo>
                  <a:pt x="406672" y="124968"/>
                </a:lnTo>
                <a:lnTo>
                  <a:pt x="394056" y="75269"/>
                </a:lnTo>
                <a:lnTo>
                  <a:pt x="369035" y="34810"/>
                </a:lnTo>
                <a:lnTo>
                  <a:pt x="332879" y="8006"/>
                </a:lnTo>
                <a:lnTo>
                  <a:pt x="310705" y="0"/>
                </a:lnTo>
                <a:close/>
              </a:path>
              <a:path w="408305" h="306070">
                <a:moveTo>
                  <a:pt x="97543" y="0"/>
                </a:moveTo>
                <a:lnTo>
                  <a:pt x="55926" y="19609"/>
                </a:lnTo>
                <a:lnTo>
                  <a:pt x="25232" y="53609"/>
                </a:lnTo>
                <a:lnTo>
                  <a:pt x="6307" y="99055"/>
                </a:lnTo>
                <a:lnTo>
                  <a:pt x="0" y="153007"/>
                </a:lnTo>
                <a:lnTo>
                  <a:pt x="1571" y="181106"/>
                </a:lnTo>
                <a:lnTo>
                  <a:pt x="14147" y="230806"/>
                </a:lnTo>
                <a:lnTo>
                  <a:pt x="39107" y="271133"/>
                </a:lnTo>
                <a:lnTo>
                  <a:pt x="75303" y="297857"/>
                </a:lnTo>
                <a:lnTo>
                  <a:pt x="97543" y="305854"/>
                </a:lnTo>
                <a:lnTo>
                  <a:pt x="101413" y="293438"/>
                </a:lnTo>
                <a:lnTo>
                  <a:pt x="83985" y="285719"/>
                </a:lnTo>
                <a:lnTo>
                  <a:pt x="68945" y="274978"/>
                </a:lnTo>
                <a:lnTo>
                  <a:pt x="46031" y="244425"/>
                </a:lnTo>
                <a:lnTo>
                  <a:pt x="32426" y="202867"/>
                </a:lnTo>
                <a:lnTo>
                  <a:pt x="27891" y="151395"/>
                </a:lnTo>
                <a:lnTo>
                  <a:pt x="29025" y="125300"/>
                </a:lnTo>
                <a:lnTo>
                  <a:pt x="38095" y="80034"/>
                </a:lnTo>
                <a:lnTo>
                  <a:pt x="56324" y="44322"/>
                </a:lnTo>
                <a:lnTo>
                  <a:pt x="101897" y="12414"/>
                </a:lnTo>
                <a:lnTo>
                  <a:pt x="975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42616" y="3006538"/>
            <a:ext cx="401320" cy="306070"/>
          </a:xfrm>
          <a:custGeom>
            <a:avLst/>
            <a:gdLst/>
            <a:ahLst/>
            <a:cxnLst/>
            <a:rect l="l" t="t" r="r" b="b"/>
            <a:pathLst>
              <a:path w="401320" h="306070">
                <a:moveTo>
                  <a:pt x="303531" y="0"/>
                </a:moveTo>
                <a:lnTo>
                  <a:pt x="299177" y="12414"/>
                </a:lnTo>
                <a:lnTo>
                  <a:pt x="316882" y="20097"/>
                </a:lnTo>
                <a:lnTo>
                  <a:pt x="332109" y="30733"/>
                </a:lnTo>
                <a:lnTo>
                  <a:pt x="363025" y="80034"/>
                </a:lnTo>
                <a:lnTo>
                  <a:pt x="372054" y="125300"/>
                </a:lnTo>
                <a:lnTo>
                  <a:pt x="373183" y="151395"/>
                </a:lnTo>
                <a:lnTo>
                  <a:pt x="372049" y="178370"/>
                </a:lnTo>
                <a:lnTo>
                  <a:pt x="362979" y="224885"/>
                </a:lnTo>
                <a:lnTo>
                  <a:pt x="344780" y="261213"/>
                </a:lnTo>
                <a:lnTo>
                  <a:pt x="299661" y="293438"/>
                </a:lnTo>
                <a:lnTo>
                  <a:pt x="303531" y="305854"/>
                </a:lnTo>
                <a:lnTo>
                  <a:pt x="345249" y="286284"/>
                </a:lnTo>
                <a:lnTo>
                  <a:pt x="375923" y="252406"/>
                </a:lnTo>
                <a:lnTo>
                  <a:pt x="394787" y="207039"/>
                </a:lnTo>
                <a:lnTo>
                  <a:pt x="401074" y="153007"/>
                </a:lnTo>
                <a:lnTo>
                  <a:pt x="399497" y="124968"/>
                </a:lnTo>
                <a:lnTo>
                  <a:pt x="386882" y="75269"/>
                </a:lnTo>
                <a:lnTo>
                  <a:pt x="361861" y="34810"/>
                </a:lnTo>
                <a:lnTo>
                  <a:pt x="325705" y="8006"/>
                </a:lnTo>
                <a:lnTo>
                  <a:pt x="303531" y="0"/>
                </a:lnTo>
                <a:close/>
              </a:path>
              <a:path w="401320" h="306070">
                <a:moveTo>
                  <a:pt x="97544" y="0"/>
                </a:moveTo>
                <a:lnTo>
                  <a:pt x="55927" y="19609"/>
                </a:lnTo>
                <a:lnTo>
                  <a:pt x="25233" y="53609"/>
                </a:lnTo>
                <a:lnTo>
                  <a:pt x="6308" y="99055"/>
                </a:lnTo>
                <a:lnTo>
                  <a:pt x="0" y="153007"/>
                </a:lnTo>
                <a:lnTo>
                  <a:pt x="1572" y="181106"/>
                </a:lnTo>
                <a:lnTo>
                  <a:pt x="14148" y="230806"/>
                </a:lnTo>
                <a:lnTo>
                  <a:pt x="39108" y="271133"/>
                </a:lnTo>
                <a:lnTo>
                  <a:pt x="75305" y="297857"/>
                </a:lnTo>
                <a:lnTo>
                  <a:pt x="97544" y="305854"/>
                </a:lnTo>
                <a:lnTo>
                  <a:pt x="101414" y="293438"/>
                </a:lnTo>
                <a:lnTo>
                  <a:pt x="83986" y="285719"/>
                </a:lnTo>
                <a:lnTo>
                  <a:pt x="68946" y="274978"/>
                </a:lnTo>
                <a:lnTo>
                  <a:pt x="46032" y="244425"/>
                </a:lnTo>
                <a:lnTo>
                  <a:pt x="32427" y="202867"/>
                </a:lnTo>
                <a:lnTo>
                  <a:pt x="27893" y="151395"/>
                </a:lnTo>
                <a:lnTo>
                  <a:pt x="29026" y="125300"/>
                </a:lnTo>
                <a:lnTo>
                  <a:pt x="38096" y="80034"/>
                </a:lnTo>
                <a:lnTo>
                  <a:pt x="56325" y="44322"/>
                </a:lnTo>
                <a:lnTo>
                  <a:pt x="101898" y="12414"/>
                </a:lnTo>
                <a:lnTo>
                  <a:pt x="975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56563" y="2162556"/>
            <a:ext cx="7355840" cy="161353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87020" marR="5080" indent="-274320">
              <a:lnSpc>
                <a:spcPts val="2780"/>
              </a:lnSpc>
              <a:spcBef>
                <a:spcPts val="47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  <a:tab pos="3781425" algn="l"/>
              </a:tabLst>
            </a:pPr>
            <a:r>
              <a:rPr dirty="0" sz="2600" spc="-5">
                <a:latin typeface="Cambria Math"/>
                <a:cs typeface="Cambria Math"/>
              </a:rPr>
              <a:t>𝐺</a:t>
            </a:r>
            <a:r>
              <a:rPr dirty="0" baseline="-16339" sz="2550" spc="-7">
                <a:latin typeface="Cambria Math"/>
                <a:cs typeface="Cambria Math"/>
              </a:rPr>
              <a:t>1 </a:t>
            </a:r>
            <a:r>
              <a:rPr dirty="0" sz="2600">
                <a:latin typeface="Cambria Math"/>
                <a:cs typeface="Cambria Math"/>
              </a:rPr>
              <a:t>= </a:t>
            </a:r>
            <a:r>
              <a:rPr dirty="0" sz="2600" spc="-5">
                <a:latin typeface="Cambria Math"/>
                <a:cs typeface="Cambria Math"/>
              </a:rPr>
              <a:t>(𝑉</a:t>
            </a:r>
            <a:r>
              <a:rPr dirty="0" baseline="-16339" sz="2550" spc="-7">
                <a:latin typeface="Cambria Math"/>
                <a:cs typeface="Cambria Math"/>
              </a:rPr>
              <a:t>1</a:t>
            </a:r>
            <a:r>
              <a:rPr dirty="0" sz="2600" spc="-5">
                <a:latin typeface="Cambria Math"/>
                <a:cs typeface="Cambria Math"/>
              </a:rPr>
              <a:t>, </a:t>
            </a:r>
            <a:r>
              <a:rPr dirty="0" sz="2600">
                <a:latin typeface="Cambria Math"/>
                <a:cs typeface="Cambria Math"/>
              </a:rPr>
              <a:t>𝐸</a:t>
            </a:r>
            <a:r>
              <a:rPr dirty="0" baseline="-16339" sz="2550">
                <a:latin typeface="Cambria Math"/>
                <a:cs typeface="Cambria Math"/>
              </a:rPr>
              <a:t>1</a:t>
            </a:r>
            <a:r>
              <a:rPr dirty="0" sz="2600">
                <a:latin typeface="Cambria Math"/>
                <a:cs typeface="Cambria Math"/>
              </a:rPr>
              <a:t>) </a:t>
            </a:r>
            <a:r>
              <a:rPr dirty="0" sz="2600" spc="-5">
                <a:latin typeface="Calibri"/>
                <a:cs typeface="Calibri"/>
              </a:rPr>
              <a:t>and </a:t>
            </a:r>
            <a:r>
              <a:rPr dirty="0" sz="2600" spc="-5">
                <a:latin typeface="Cambria Math"/>
                <a:cs typeface="Cambria Math"/>
              </a:rPr>
              <a:t>𝐺</a:t>
            </a:r>
            <a:r>
              <a:rPr dirty="0" baseline="-16339" sz="2550" spc="-7">
                <a:latin typeface="Cambria Math"/>
                <a:cs typeface="Cambria Math"/>
              </a:rPr>
              <a:t>2 </a:t>
            </a:r>
            <a:r>
              <a:rPr dirty="0" sz="2600">
                <a:latin typeface="Cambria Math"/>
                <a:cs typeface="Cambria Math"/>
              </a:rPr>
              <a:t>= </a:t>
            </a:r>
            <a:r>
              <a:rPr dirty="0" sz="2600" spc="-5">
                <a:latin typeface="Cambria Math"/>
                <a:cs typeface="Cambria Math"/>
              </a:rPr>
              <a:t>(𝑉</a:t>
            </a:r>
            <a:r>
              <a:rPr dirty="0" baseline="-16339" sz="2550" spc="-7">
                <a:latin typeface="Cambria Math"/>
                <a:cs typeface="Cambria Math"/>
              </a:rPr>
              <a:t>2</a:t>
            </a:r>
            <a:r>
              <a:rPr dirty="0" sz="2600" spc="-5">
                <a:latin typeface="Cambria Math"/>
                <a:cs typeface="Cambria Math"/>
              </a:rPr>
              <a:t>, </a:t>
            </a:r>
            <a:r>
              <a:rPr dirty="0" sz="2600">
                <a:latin typeface="Cambria Math"/>
                <a:cs typeface="Cambria Math"/>
              </a:rPr>
              <a:t>𝐸</a:t>
            </a:r>
            <a:r>
              <a:rPr dirty="0" baseline="-16339" sz="2550">
                <a:latin typeface="Cambria Math"/>
                <a:cs typeface="Cambria Math"/>
              </a:rPr>
              <a:t>2</a:t>
            </a:r>
            <a:r>
              <a:rPr dirty="0" sz="2600">
                <a:latin typeface="Cambria Math"/>
                <a:cs typeface="Cambria Math"/>
              </a:rPr>
              <a:t>) </a:t>
            </a:r>
            <a:r>
              <a:rPr dirty="0" sz="2600" spc="-10">
                <a:latin typeface="Calibri"/>
                <a:cs typeface="Calibri"/>
              </a:rPr>
              <a:t>are </a:t>
            </a:r>
            <a:r>
              <a:rPr dirty="0" sz="2600" spc="-5" b="1">
                <a:solidFill>
                  <a:srgbClr val="D60093"/>
                </a:solidFill>
                <a:latin typeface="Calibri"/>
                <a:cs typeface="Calibri"/>
              </a:rPr>
              <a:t>isomorphic </a:t>
            </a:r>
            <a:r>
              <a:rPr dirty="0" sz="2600">
                <a:latin typeface="Calibri"/>
                <a:cs typeface="Calibri"/>
              </a:rPr>
              <a:t>if  </a:t>
            </a:r>
            <a:r>
              <a:rPr dirty="0" sz="2600" spc="-10">
                <a:latin typeface="Calibri"/>
                <a:cs typeface="Calibri"/>
              </a:rPr>
              <a:t>there </a:t>
            </a:r>
            <a:r>
              <a:rPr dirty="0" sz="2600" spc="-15">
                <a:latin typeface="Calibri"/>
                <a:cs typeface="Calibri"/>
              </a:rPr>
              <a:t>exists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 spc="-5">
                <a:solidFill>
                  <a:srgbClr val="D60093"/>
                </a:solidFill>
                <a:latin typeface="Calibri"/>
                <a:cs typeface="Calibri"/>
              </a:rPr>
              <a:t>bijection </a:t>
            </a:r>
            <a:r>
              <a:rPr dirty="0" sz="2600" spc="25">
                <a:latin typeface="Cambria Math"/>
                <a:cs typeface="Cambria Math"/>
              </a:rPr>
              <a:t>𝑓:	</a:t>
            </a:r>
            <a:r>
              <a:rPr dirty="0" sz="2600" spc="-5">
                <a:latin typeface="Cambria Math"/>
                <a:cs typeface="Cambria Math"/>
              </a:rPr>
              <a:t>𝑉</a:t>
            </a:r>
            <a:r>
              <a:rPr dirty="0" baseline="-16339" sz="2550" spc="-7">
                <a:latin typeface="Cambria Math"/>
                <a:cs typeface="Cambria Math"/>
              </a:rPr>
              <a:t>1 </a:t>
            </a:r>
            <a:r>
              <a:rPr dirty="0" sz="2600">
                <a:latin typeface="Cambria Math"/>
                <a:cs typeface="Cambria Math"/>
              </a:rPr>
              <a:t>→ </a:t>
            </a:r>
            <a:r>
              <a:rPr dirty="0" sz="2600" spc="-5">
                <a:latin typeface="Cambria Math"/>
                <a:cs typeface="Cambria Math"/>
              </a:rPr>
              <a:t>𝑉</a:t>
            </a:r>
            <a:r>
              <a:rPr dirty="0" baseline="-16339" sz="2550" spc="-7">
                <a:latin typeface="Cambria Math"/>
                <a:cs typeface="Cambria Math"/>
              </a:rPr>
              <a:t>2 </a:t>
            </a:r>
            <a:r>
              <a:rPr dirty="0" sz="2600" spc="-5">
                <a:latin typeface="Calibri"/>
                <a:cs typeface="Calibri"/>
              </a:rPr>
              <a:t>such </a:t>
            </a:r>
            <a:r>
              <a:rPr dirty="0" sz="2600" spc="-10">
                <a:latin typeface="Calibri"/>
                <a:cs typeface="Calibri"/>
              </a:rPr>
              <a:t>that </a:t>
            </a:r>
            <a:r>
              <a:rPr dirty="0" sz="2600" spc="10">
                <a:latin typeface="Cambria Math"/>
                <a:cs typeface="Cambria Math"/>
              </a:rPr>
              <a:t>(𝑢, </a:t>
            </a:r>
            <a:r>
              <a:rPr dirty="0" sz="2600" spc="25">
                <a:latin typeface="Cambria Math"/>
                <a:cs typeface="Cambria Math"/>
              </a:rPr>
              <a:t>𝑣)</a:t>
            </a:r>
            <a:r>
              <a:rPr dirty="0" sz="2600" spc="105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∈</a:t>
            </a:r>
            <a:endParaRPr sz="2600">
              <a:latin typeface="Cambria Math"/>
              <a:cs typeface="Cambria Math"/>
            </a:endParaRPr>
          </a:p>
          <a:p>
            <a:pPr marL="287020">
              <a:lnSpc>
                <a:spcPts val="3060"/>
              </a:lnSpc>
              <a:tabLst>
                <a:tab pos="1185545" algn="l"/>
                <a:tab pos="1513205" algn="l"/>
                <a:tab pos="1842770" algn="l"/>
                <a:tab pos="2293620" algn="l"/>
                <a:tab pos="2855595" algn="l"/>
              </a:tabLst>
            </a:pPr>
            <a:r>
              <a:rPr dirty="0" sz="2600">
                <a:latin typeface="Cambria Math"/>
                <a:cs typeface="Cambria Math"/>
              </a:rPr>
              <a:t>𝐸</a:t>
            </a:r>
            <a:r>
              <a:rPr dirty="0" baseline="-16339" sz="2550">
                <a:latin typeface="Cambria Math"/>
                <a:cs typeface="Cambria Math"/>
              </a:rPr>
              <a:t>1</a:t>
            </a:r>
            <a:r>
              <a:rPr dirty="0" baseline="-16339" sz="2550" spc="22">
                <a:latin typeface="Cambria Math"/>
                <a:cs typeface="Cambria Math"/>
              </a:rPr>
              <a:t> </a:t>
            </a:r>
            <a:r>
              <a:rPr dirty="0" sz="2600" spc="-15">
                <a:latin typeface="Calibri"/>
                <a:cs typeface="Calibri"/>
              </a:rPr>
              <a:t>iff	</a:t>
            </a:r>
            <a:r>
              <a:rPr dirty="0" sz="2600">
                <a:latin typeface="Cambria Math"/>
                <a:cs typeface="Cambria Math"/>
              </a:rPr>
              <a:t>𝑓	𝑎	,</a:t>
            </a:r>
            <a:r>
              <a:rPr dirty="0" sz="2600" spc="-135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𝑓	𝑏	∈</a:t>
            </a:r>
            <a:r>
              <a:rPr dirty="0" sz="2600" spc="50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𝐸</a:t>
            </a:r>
            <a:r>
              <a:rPr dirty="0" baseline="-16339" sz="2550">
                <a:latin typeface="Cambria Math"/>
                <a:cs typeface="Cambria Math"/>
              </a:rPr>
              <a:t>2</a:t>
            </a:r>
            <a:endParaRPr baseline="-16339" sz="2550">
              <a:latin typeface="Cambria Math"/>
              <a:cs typeface="Cambria Math"/>
            </a:endParaRPr>
          </a:p>
          <a:p>
            <a:pPr lvl="1" marL="552450" indent="-228600">
              <a:lnSpc>
                <a:spcPct val="100000"/>
              </a:lnSpc>
              <a:spcBef>
                <a:spcPts val="384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600">
                <a:latin typeface="Cambria Math"/>
                <a:cs typeface="Cambria Math"/>
              </a:rPr>
              <a:t>𝑓 </a:t>
            </a:r>
            <a:r>
              <a:rPr dirty="0" sz="2600">
                <a:latin typeface="Calibri"/>
                <a:cs typeface="Calibri"/>
              </a:rPr>
              <a:t>is </a:t>
            </a:r>
            <a:r>
              <a:rPr dirty="0" sz="2600" spc="-10">
                <a:latin typeface="Calibri"/>
                <a:cs typeface="Calibri"/>
              </a:rPr>
              <a:t>called </a:t>
            </a:r>
            <a:r>
              <a:rPr dirty="0" sz="2600" spc="-5">
                <a:latin typeface="Calibri"/>
                <a:cs typeface="Calibri"/>
              </a:rPr>
              <a:t>the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 spc="-5" b="1">
                <a:latin typeface="Calibri"/>
                <a:cs typeface="Calibri"/>
              </a:rPr>
              <a:t>isomorphism: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108" y="5246115"/>
            <a:ext cx="7515859" cy="121412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algn="just" marL="332740" marR="5080" indent="-320040">
              <a:lnSpc>
                <a:spcPts val="3000"/>
              </a:lnSpc>
              <a:spcBef>
                <a:spcPts val="5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740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>
                <a:latin typeface="Calibri"/>
                <a:cs typeface="Calibri"/>
              </a:rPr>
              <a:t>do </a:t>
            </a:r>
            <a:r>
              <a:rPr dirty="0" sz="2800" spc="-5">
                <a:latin typeface="Calibri"/>
                <a:cs typeface="Calibri"/>
              </a:rPr>
              <a:t>not know if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5">
                <a:latin typeface="Calibri"/>
                <a:cs typeface="Calibri"/>
              </a:rPr>
              <a:t>isomorphism is </a:t>
            </a:r>
            <a:r>
              <a:rPr dirty="0" sz="2800" spc="-20">
                <a:latin typeface="Calibri"/>
                <a:cs typeface="Calibri"/>
              </a:rPr>
              <a:t>NP-hard,  </a:t>
            </a:r>
            <a:r>
              <a:rPr dirty="0" sz="2800" spc="-5">
                <a:latin typeface="Calibri"/>
                <a:cs typeface="Calibri"/>
              </a:rPr>
              <a:t>nor is </a:t>
            </a:r>
            <a:r>
              <a:rPr dirty="0" sz="2800" spc="-20">
                <a:latin typeface="Calibri"/>
                <a:cs typeface="Calibri"/>
              </a:rPr>
              <a:t>any </a:t>
            </a:r>
            <a:r>
              <a:rPr dirty="0" sz="2800" spc="-5">
                <a:latin typeface="Calibri"/>
                <a:cs typeface="Calibri"/>
              </a:rPr>
              <a:t>polynomial </a:t>
            </a:r>
            <a:r>
              <a:rPr dirty="0" sz="2800" spc="-10">
                <a:latin typeface="Calibri"/>
                <a:cs typeface="Calibri"/>
              </a:rPr>
              <a:t>algorithm </a:t>
            </a:r>
            <a:r>
              <a:rPr dirty="0" sz="2800" spc="-15">
                <a:latin typeface="Calibri"/>
                <a:cs typeface="Calibri"/>
              </a:rPr>
              <a:t>found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solving  </a:t>
            </a:r>
            <a:r>
              <a:rPr dirty="0" sz="2800" spc="-15">
                <a:latin typeface="Calibri"/>
                <a:cs typeface="Calibri"/>
              </a:rPr>
              <a:t>graph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isomorphism.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4852" y="4073236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5" h="228600">
                <a:moveTo>
                  <a:pt x="119495" y="0"/>
                </a:moveTo>
                <a:lnTo>
                  <a:pt x="72982" y="8982"/>
                </a:lnTo>
                <a:lnTo>
                  <a:pt x="34999" y="33477"/>
                </a:lnTo>
                <a:lnTo>
                  <a:pt x="9390" y="69809"/>
                </a:lnTo>
                <a:lnTo>
                  <a:pt x="0" y="114300"/>
                </a:lnTo>
                <a:lnTo>
                  <a:pt x="9390" y="158790"/>
                </a:lnTo>
                <a:lnTo>
                  <a:pt x="34999" y="195122"/>
                </a:lnTo>
                <a:lnTo>
                  <a:pt x="72982" y="219617"/>
                </a:lnTo>
                <a:lnTo>
                  <a:pt x="119495" y="228600"/>
                </a:lnTo>
                <a:lnTo>
                  <a:pt x="166008" y="219617"/>
                </a:lnTo>
                <a:lnTo>
                  <a:pt x="203991" y="195122"/>
                </a:lnTo>
                <a:lnTo>
                  <a:pt x="229600" y="158790"/>
                </a:lnTo>
                <a:lnTo>
                  <a:pt x="238991" y="114300"/>
                </a:lnTo>
                <a:lnTo>
                  <a:pt x="229600" y="69809"/>
                </a:lnTo>
                <a:lnTo>
                  <a:pt x="203991" y="33477"/>
                </a:lnTo>
                <a:lnTo>
                  <a:pt x="166008" y="8982"/>
                </a:lnTo>
                <a:lnTo>
                  <a:pt x="119495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4852" y="4073236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5" h="228600">
                <a:moveTo>
                  <a:pt x="0" y="114300"/>
                </a:moveTo>
                <a:lnTo>
                  <a:pt x="9390" y="69809"/>
                </a:lnTo>
                <a:lnTo>
                  <a:pt x="34999" y="33477"/>
                </a:lnTo>
                <a:lnTo>
                  <a:pt x="72982" y="8982"/>
                </a:lnTo>
                <a:lnTo>
                  <a:pt x="119495" y="0"/>
                </a:lnTo>
                <a:lnTo>
                  <a:pt x="166008" y="8982"/>
                </a:lnTo>
                <a:lnTo>
                  <a:pt x="203991" y="33477"/>
                </a:lnTo>
                <a:lnTo>
                  <a:pt x="229600" y="69809"/>
                </a:lnTo>
                <a:lnTo>
                  <a:pt x="238991" y="114300"/>
                </a:lnTo>
                <a:lnTo>
                  <a:pt x="229600" y="158790"/>
                </a:lnTo>
                <a:lnTo>
                  <a:pt x="203991" y="195122"/>
                </a:lnTo>
                <a:lnTo>
                  <a:pt x="166008" y="219617"/>
                </a:lnTo>
                <a:lnTo>
                  <a:pt x="119495" y="228600"/>
                </a:lnTo>
                <a:lnTo>
                  <a:pt x="72982" y="219617"/>
                </a:lnTo>
                <a:lnTo>
                  <a:pt x="34999" y="195122"/>
                </a:lnTo>
                <a:lnTo>
                  <a:pt x="9390" y="158790"/>
                </a:lnTo>
                <a:lnTo>
                  <a:pt x="0" y="114300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36683" y="4073236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4" h="228600">
                <a:moveTo>
                  <a:pt x="119495" y="0"/>
                </a:moveTo>
                <a:lnTo>
                  <a:pt x="72982" y="8982"/>
                </a:lnTo>
                <a:lnTo>
                  <a:pt x="34999" y="33477"/>
                </a:lnTo>
                <a:lnTo>
                  <a:pt x="9390" y="69809"/>
                </a:lnTo>
                <a:lnTo>
                  <a:pt x="0" y="114300"/>
                </a:lnTo>
                <a:lnTo>
                  <a:pt x="9390" y="158790"/>
                </a:lnTo>
                <a:lnTo>
                  <a:pt x="34999" y="195122"/>
                </a:lnTo>
                <a:lnTo>
                  <a:pt x="72982" y="219617"/>
                </a:lnTo>
                <a:lnTo>
                  <a:pt x="119495" y="228600"/>
                </a:lnTo>
                <a:lnTo>
                  <a:pt x="166008" y="219617"/>
                </a:lnTo>
                <a:lnTo>
                  <a:pt x="203991" y="195122"/>
                </a:lnTo>
                <a:lnTo>
                  <a:pt x="229600" y="158790"/>
                </a:lnTo>
                <a:lnTo>
                  <a:pt x="238991" y="114300"/>
                </a:lnTo>
                <a:lnTo>
                  <a:pt x="229600" y="69809"/>
                </a:lnTo>
                <a:lnTo>
                  <a:pt x="203991" y="33477"/>
                </a:lnTo>
                <a:lnTo>
                  <a:pt x="166008" y="8982"/>
                </a:lnTo>
                <a:lnTo>
                  <a:pt x="119495" y="0"/>
                </a:lnTo>
                <a:close/>
              </a:path>
            </a:pathLst>
          </a:custGeom>
          <a:solidFill>
            <a:srgbClr val="D925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36683" y="4073236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4" h="228600">
                <a:moveTo>
                  <a:pt x="0" y="114300"/>
                </a:moveTo>
                <a:lnTo>
                  <a:pt x="9390" y="69809"/>
                </a:lnTo>
                <a:lnTo>
                  <a:pt x="34999" y="33477"/>
                </a:lnTo>
                <a:lnTo>
                  <a:pt x="72982" y="8982"/>
                </a:lnTo>
                <a:lnTo>
                  <a:pt x="119495" y="0"/>
                </a:lnTo>
                <a:lnTo>
                  <a:pt x="166008" y="8982"/>
                </a:lnTo>
                <a:lnTo>
                  <a:pt x="203991" y="33477"/>
                </a:lnTo>
                <a:lnTo>
                  <a:pt x="229600" y="69809"/>
                </a:lnTo>
                <a:lnTo>
                  <a:pt x="238991" y="114300"/>
                </a:lnTo>
                <a:lnTo>
                  <a:pt x="229600" y="158790"/>
                </a:lnTo>
                <a:lnTo>
                  <a:pt x="203991" y="195122"/>
                </a:lnTo>
                <a:lnTo>
                  <a:pt x="166008" y="219617"/>
                </a:lnTo>
                <a:lnTo>
                  <a:pt x="119495" y="228600"/>
                </a:lnTo>
                <a:lnTo>
                  <a:pt x="72982" y="219617"/>
                </a:lnTo>
                <a:lnTo>
                  <a:pt x="34999" y="195122"/>
                </a:lnTo>
                <a:lnTo>
                  <a:pt x="9390" y="158790"/>
                </a:lnTo>
                <a:lnTo>
                  <a:pt x="0" y="114300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34851" y="4745183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5" h="228600">
                <a:moveTo>
                  <a:pt x="119495" y="0"/>
                </a:moveTo>
                <a:lnTo>
                  <a:pt x="72982" y="8982"/>
                </a:lnTo>
                <a:lnTo>
                  <a:pt x="34999" y="33477"/>
                </a:lnTo>
                <a:lnTo>
                  <a:pt x="9390" y="69809"/>
                </a:lnTo>
                <a:lnTo>
                  <a:pt x="0" y="114300"/>
                </a:lnTo>
                <a:lnTo>
                  <a:pt x="9390" y="158790"/>
                </a:lnTo>
                <a:lnTo>
                  <a:pt x="34999" y="195122"/>
                </a:lnTo>
                <a:lnTo>
                  <a:pt x="72982" y="219617"/>
                </a:lnTo>
                <a:lnTo>
                  <a:pt x="119495" y="228600"/>
                </a:lnTo>
                <a:lnTo>
                  <a:pt x="166008" y="219617"/>
                </a:lnTo>
                <a:lnTo>
                  <a:pt x="203991" y="195122"/>
                </a:lnTo>
                <a:lnTo>
                  <a:pt x="229600" y="158790"/>
                </a:lnTo>
                <a:lnTo>
                  <a:pt x="238991" y="114300"/>
                </a:lnTo>
                <a:lnTo>
                  <a:pt x="229600" y="69809"/>
                </a:lnTo>
                <a:lnTo>
                  <a:pt x="203991" y="33477"/>
                </a:lnTo>
                <a:lnTo>
                  <a:pt x="166008" y="8982"/>
                </a:lnTo>
                <a:lnTo>
                  <a:pt x="119495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4851" y="4745183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5" h="228600">
                <a:moveTo>
                  <a:pt x="0" y="114300"/>
                </a:moveTo>
                <a:lnTo>
                  <a:pt x="9390" y="69809"/>
                </a:lnTo>
                <a:lnTo>
                  <a:pt x="34999" y="33477"/>
                </a:lnTo>
                <a:lnTo>
                  <a:pt x="72982" y="8982"/>
                </a:lnTo>
                <a:lnTo>
                  <a:pt x="119495" y="0"/>
                </a:lnTo>
                <a:lnTo>
                  <a:pt x="166008" y="8982"/>
                </a:lnTo>
                <a:lnTo>
                  <a:pt x="203991" y="33477"/>
                </a:lnTo>
                <a:lnTo>
                  <a:pt x="229600" y="69809"/>
                </a:lnTo>
                <a:lnTo>
                  <a:pt x="238991" y="114300"/>
                </a:lnTo>
                <a:lnTo>
                  <a:pt x="229600" y="158790"/>
                </a:lnTo>
                <a:lnTo>
                  <a:pt x="203991" y="195122"/>
                </a:lnTo>
                <a:lnTo>
                  <a:pt x="166008" y="219617"/>
                </a:lnTo>
                <a:lnTo>
                  <a:pt x="119495" y="228600"/>
                </a:lnTo>
                <a:lnTo>
                  <a:pt x="72982" y="219617"/>
                </a:lnTo>
                <a:lnTo>
                  <a:pt x="34999" y="195122"/>
                </a:lnTo>
                <a:lnTo>
                  <a:pt x="9390" y="158790"/>
                </a:lnTo>
                <a:lnTo>
                  <a:pt x="0" y="114300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36683" y="4745183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4" h="228600">
                <a:moveTo>
                  <a:pt x="119495" y="0"/>
                </a:moveTo>
                <a:lnTo>
                  <a:pt x="72982" y="8982"/>
                </a:lnTo>
                <a:lnTo>
                  <a:pt x="34999" y="33477"/>
                </a:lnTo>
                <a:lnTo>
                  <a:pt x="9390" y="69809"/>
                </a:lnTo>
                <a:lnTo>
                  <a:pt x="0" y="114300"/>
                </a:lnTo>
                <a:lnTo>
                  <a:pt x="9390" y="158790"/>
                </a:lnTo>
                <a:lnTo>
                  <a:pt x="34999" y="195122"/>
                </a:lnTo>
                <a:lnTo>
                  <a:pt x="72982" y="219617"/>
                </a:lnTo>
                <a:lnTo>
                  <a:pt x="119495" y="228600"/>
                </a:lnTo>
                <a:lnTo>
                  <a:pt x="166008" y="219617"/>
                </a:lnTo>
                <a:lnTo>
                  <a:pt x="203991" y="195122"/>
                </a:lnTo>
                <a:lnTo>
                  <a:pt x="229600" y="158790"/>
                </a:lnTo>
                <a:lnTo>
                  <a:pt x="238991" y="114300"/>
                </a:lnTo>
                <a:lnTo>
                  <a:pt x="229600" y="69809"/>
                </a:lnTo>
                <a:lnTo>
                  <a:pt x="203991" y="33477"/>
                </a:lnTo>
                <a:lnTo>
                  <a:pt x="166008" y="8982"/>
                </a:lnTo>
                <a:lnTo>
                  <a:pt x="119495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36683" y="4745183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4" h="228600">
                <a:moveTo>
                  <a:pt x="0" y="114300"/>
                </a:moveTo>
                <a:lnTo>
                  <a:pt x="9390" y="69809"/>
                </a:lnTo>
                <a:lnTo>
                  <a:pt x="34999" y="33477"/>
                </a:lnTo>
                <a:lnTo>
                  <a:pt x="72982" y="8982"/>
                </a:lnTo>
                <a:lnTo>
                  <a:pt x="119495" y="0"/>
                </a:lnTo>
                <a:lnTo>
                  <a:pt x="166008" y="8982"/>
                </a:lnTo>
                <a:lnTo>
                  <a:pt x="203991" y="33477"/>
                </a:lnTo>
                <a:lnTo>
                  <a:pt x="229600" y="69809"/>
                </a:lnTo>
                <a:lnTo>
                  <a:pt x="238991" y="114300"/>
                </a:lnTo>
                <a:lnTo>
                  <a:pt x="229600" y="158790"/>
                </a:lnTo>
                <a:lnTo>
                  <a:pt x="203991" y="195122"/>
                </a:lnTo>
                <a:lnTo>
                  <a:pt x="166008" y="219617"/>
                </a:lnTo>
                <a:lnTo>
                  <a:pt x="119495" y="228600"/>
                </a:lnTo>
                <a:lnTo>
                  <a:pt x="72982" y="219617"/>
                </a:lnTo>
                <a:lnTo>
                  <a:pt x="34999" y="195122"/>
                </a:lnTo>
                <a:lnTo>
                  <a:pt x="9390" y="158790"/>
                </a:lnTo>
                <a:lnTo>
                  <a:pt x="0" y="114300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73843" y="4187536"/>
            <a:ext cx="563245" cy="0"/>
          </a:xfrm>
          <a:custGeom>
            <a:avLst/>
            <a:gdLst/>
            <a:ahLst/>
            <a:cxnLst/>
            <a:rect l="l" t="t" r="r" b="b"/>
            <a:pathLst>
              <a:path w="563244" h="0">
                <a:moveTo>
                  <a:pt x="0" y="0"/>
                </a:moveTo>
                <a:lnTo>
                  <a:pt x="56284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73842" y="4859483"/>
            <a:ext cx="563245" cy="0"/>
          </a:xfrm>
          <a:custGeom>
            <a:avLst/>
            <a:gdLst/>
            <a:ahLst/>
            <a:cxnLst/>
            <a:rect l="l" t="t" r="r" b="b"/>
            <a:pathLst>
              <a:path w="563244" h="0">
                <a:moveTo>
                  <a:pt x="0" y="0"/>
                </a:moveTo>
                <a:lnTo>
                  <a:pt x="562841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54346" y="4301836"/>
            <a:ext cx="0" cy="443865"/>
          </a:xfrm>
          <a:custGeom>
            <a:avLst/>
            <a:gdLst/>
            <a:ahLst/>
            <a:cxnLst/>
            <a:rect l="l" t="t" r="r" b="b"/>
            <a:pathLst>
              <a:path w="0" h="443864">
                <a:moveTo>
                  <a:pt x="1" y="0"/>
                </a:moveTo>
                <a:lnTo>
                  <a:pt x="0" y="44334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256178" y="4301836"/>
            <a:ext cx="0" cy="443865"/>
          </a:xfrm>
          <a:custGeom>
            <a:avLst/>
            <a:gdLst/>
            <a:ahLst/>
            <a:cxnLst/>
            <a:rect l="l" t="t" r="r" b="b"/>
            <a:pathLst>
              <a:path w="0" h="443864">
                <a:moveTo>
                  <a:pt x="0" y="0"/>
                </a:moveTo>
                <a:lnTo>
                  <a:pt x="1" y="44334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544778" y="4083627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5" h="228600">
                <a:moveTo>
                  <a:pt x="119495" y="0"/>
                </a:moveTo>
                <a:lnTo>
                  <a:pt x="72982" y="8982"/>
                </a:lnTo>
                <a:lnTo>
                  <a:pt x="34999" y="33477"/>
                </a:lnTo>
                <a:lnTo>
                  <a:pt x="9390" y="69809"/>
                </a:lnTo>
                <a:lnTo>
                  <a:pt x="0" y="114300"/>
                </a:lnTo>
                <a:lnTo>
                  <a:pt x="9390" y="158790"/>
                </a:lnTo>
                <a:lnTo>
                  <a:pt x="34999" y="195122"/>
                </a:lnTo>
                <a:lnTo>
                  <a:pt x="72982" y="219617"/>
                </a:lnTo>
                <a:lnTo>
                  <a:pt x="119495" y="228600"/>
                </a:lnTo>
                <a:lnTo>
                  <a:pt x="166008" y="219617"/>
                </a:lnTo>
                <a:lnTo>
                  <a:pt x="203991" y="195122"/>
                </a:lnTo>
                <a:lnTo>
                  <a:pt x="229600" y="158790"/>
                </a:lnTo>
                <a:lnTo>
                  <a:pt x="238991" y="114300"/>
                </a:lnTo>
                <a:lnTo>
                  <a:pt x="229600" y="69809"/>
                </a:lnTo>
                <a:lnTo>
                  <a:pt x="203991" y="33477"/>
                </a:lnTo>
                <a:lnTo>
                  <a:pt x="166008" y="8982"/>
                </a:lnTo>
                <a:lnTo>
                  <a:pt x="119495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544778" y="4083627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5" h="228600">
                <a:moveTo>
                  <a:pt x="0" y="114300"/>
                </a:moveTo>
                <a:lnTo>
                  <a:pt x="9390" y="69809"/>
                </a:lnTo>
                <a:lnTo>
                  <a:pt x="34999" y="33477"/>
                </a:lnTo>
                <a:lnTo>
                  <a:pt x="72982" y="8982"/>
                </a:lnTo>
                <a:lnTo>
                  <a:pt x="119495" y="0"/>
                </a:lnTo>
                <a:lnTo>
                  <a:pt x="166008" y="8982"/>
                </a:lnTo>
                <a:lnTo>
                  <a:pt x="203991" y="33477"/>
                </a:lnTo>
                <a:lnTo>
                  <a:pt x="229600" y="69809"/>
                </a:lnTo>
                <a:lnTo>
                  <a:pt x="238991" y="114300"/>
                </a:lnTo>
                <a:lnTo>
                  <a:pt x="229600" y="158790"/>
                </a:lnTo>
                <a:lnTo>
                  <a:pt x="203991" y="195122"/>
                </a:lnTo>
                <a:lnTo>
                  <a:pt x="166008" y="219617"/>
                </a:lnTo>
                <a:lnTo>
                  <a:pt x="119495" y="228600"/>
                </a:lnTo>
                <a:lnTo>
                  <a:pt x="72982" y="219617"/>
                </a:lnTo>
                <a:lnTo>
                  <a:pt x="34999" y="195122"/>
                </a:lnTo>
                <a:lnTo>
                  <a:pt x="9390" y="158790"/>
                </a:lnTo>
                <a:lnTo>
                  <a:pt x="0" y="114300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689872" y="4745183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4" h="228600">
                <a:moveTo>
                  <a:pt x="119495" y="0"/>
                </a:moveTo>
                <a:lnTo>
                  <a:pt x="72982" y="8982"/>
                </a:lnTo>
                <a:lnTo>
                  <a:pt x="34999" y="33477"/>
                </a:lnTo>
                <a:lnTo>
                  <a:pt x="9390" y="69809"/>
                </a:lnTo>
                <a:lnTo>
                  <a:pt x="0" y="114300"/>
                </a:lnTo>
                <a:lnTo>
                  <a:pt x="9390" y="158790"/>
                </a:lnTo>
                <a:lnTo>
                  <a:pt x="34999" y="195122"/>
                </a:lnTo>
                <a:lnTo>
                  <a:pt x="72982" y="219617"/>
                </a:lnTo>
                <a:lnTo>
                  <a:pt x="119495" y="228600"/>
                </a:lnTo>
                <a:lnTo>
                  <a:pt x="166008" y="219617"/>
                </a:lnTo>
                <a:lnTo>
                  <a:pt x="203991" y="195122"/>
                </a:lnTo>
                <a:lnTo>
                  <a:pt x="229600" y="158790"/>
                </a:lnTo>
                <a:lnTo>
                  <a:pt x="238991" y="114300"/>
                </a:lnTo>
                <a:lnTo>
                  <a:pt x="229600" y="69809"/>
                </a:lnTo>
                <a:lnTo>
                  <a:pt x="203991" y="33477"/>
                </a:lnTo>
                <a:lnTo>
                  <a:pt x="166008" y="8982"/>
                </a:lnTo>
                <a:lnTo>
                  <a:pt x="119495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689872" y="4745183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4" h="228600">
                <a:moveTo>
                  <a:pt x="0" y="114300"/>
                </a:moveTo>
                <a:lnTo>
                  <a:pt x="9390" y="69809"/>
                </a:lnTo>
                <a:lnTo>
                  <a:pt x="34999" y="33477"/>
                </a:lnTo>
                <a:lnTo>
                  <a:pt x="72982" y="8982"/>
                </a:lnTo>
                <a:lnTo>
                  <a:pt x="119495" y="0"/>
                </a:lnTo>
                <a:lnTo>
                  <a:pt x="166008" y="8982"/>
                </a:lnTo>
                <a:lnTo>
                  <a:pt x="203991" y="33477"/>
                </a:lnTo>
                <a:lnTo>
                  <a:pt x="229600" y="69809"/>
                </a:lnTo>
                <a:lnTo>
                  <a:pt x="238991" y="114300"/>
                </a:lnTo>
                <a:lnTo>
                  <a:pt x="229600" y="158790"/>
                </a:lnTo>
                <a:lnTo>
                  <a:pt x="203991" y="195122"/>
                </a:lnTo>
                <a:lnTo>
                  <a:pt x="166008" y="219617"/>
                </a:lnTo>
                <a:lnTo>
                  <a:pt x="119495" y="228600"/>
                </a:lnTo>
                <a:lnTo>
                  <a:pt x="72982" y="219617"/>
                </a:lnTo>
                <a:lnTo>
                  <a:pt x="34999" y="195122"/>
                </a:lnTo>
                <a:lnTo>
                  <a:pt x="9390" y="158790"/>
                </a:lnTo>
                <a:lnTo>
                  <a:pt x="0" y="114300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658080" y="4073236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4" h="228600">
                <a:moveTo>
                  <a:pt x="119495" y="0"/>
                </a:moveTo>
                <a:lnTo>
                  <a:pt x="72982" y="8982"/>
                </a:lnTo>
                <a:lnTo>
                  <a:pt x="34999" y="33477"/>
                </a:lnTo>
                <a:lnTo>
                  <a:pt x="9390" y="69809"/>
                </a:lnTo>
                <a:lnTo>
                  <a:pt x="0" y="114300"/>
                </a:lnTo>
                <a:lnTo>
                  <a:pt x="9390" y="158790"/>
                </a:lnTo>
                <a:lnTo>
                  <a:pt x="34999" y="195122"/>
                </a:lnTo>
                <a:lnTo>
                  <a:pt x="72982" y="219617"/>
                </a:lnTo>
                <a:lnTo>
                  <a:pt x="119495" y="228600"/>
                </a:lnTo>
                <a:lnTo>
                  <a:pt x="166008" y="219617"/>
                </a:lnTo>
                <a:lnTo>
                  <a:pt x="203991" y="195122"/>
                </a:lnTo>
                <a:lnTo>
                  <a:pt x="229600" y="158790"/>
                </a:lnTo>
                <a:lnTo>
                  <a:pt x="238991" y="114300"/>
                </a:lnTo>
                <a:lnTo>
                  <a:pt x="229600" y="69809"/>
                </a:lnTo>
                <a:lnTo>
                  <a:pt x="203991" y="33477"/>
                </a:lnTo>
                <a:lnTo>
                  <a:pt x="166008" y="8982"/>
                </a:lnTo>
                <a:lnTo>
                  <a:pt x="119495" y="0"/>
                </a:lnTo>
                <a:close/>
              </a:path>
            </a:pathLst>
          </a:custGeom>
          <a:solidFill>
            <a:srgbClr val="D925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658080" y="4073236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4" h="228600">
                <a:moveTo>
                  <a:pt x="0" y="114300"/>
                </a:moveTo>
                <a:lnTo>
                  <a:pt x="9390" y="69809"/>
                </a:lnTo>
                <a:lnTo>
                  <a:pt x="34999" y="33477"/>
                </a:lnTo>
                <a:lnTo>
                  <a:pt x="72982" y="8982"/>
                </a:lnTo>
                <a:lnTo>
                  <a:pt x="119495" y="0"/>
                </a:lnTo>
                <a:lnTo>
                  <a:pt x="166008" y="8982"/>
                </a:lnTo>
                <a:lnTo>
                  <a:pt x="203991" y="33477"/>
                </a:lnTo>
                <a:lnTo>
                  <a:pt x="229600" y="69809"/>
                </a:lnTo>
                <a:lnTo>
                  <a:pt x="238991" y="114300"/>
                </a:lnTo>
                <a:lnTo>
                  <a:pt x="229600" y="158790"/>
                </a:lnTo>
                <a:lnTo>
                  <a:pt x="203991" y="195122"/>
                </a:lnTo>
                <a:lnTo>
                  <a:pt x="166008" y="219617"/>
                </a:lnTo>
                <a:lnTo>
                  <a:pt x="119495" y="228600"/>
                </a:lnTo>
                <a:lnTo>
                  <a:pt x="72982" y="219617"/>
                </a:lnTo>
                <a:lnTo>
                  <a:pt x="34999" y="195122"/>
                </a:lnTo>
                <a:lnTo>
                  <a:pt x="9390" y="158790"/>
                </a:lnTo>
                <a:lnTo>
                  <a:pt x="0" y="114300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542181" y="4745183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5" h="228600">
                <a:moveTo>
                  <a:pt x="119495" y="0"/>
                </a:moveTo>
                <a:lnTo>
                  <a:pt x="72982" y="8982"/>
                </a:lnTo>
                <a:lnTo>
                  <a:pt x="34999" y="33477"/>
                </a:lnTo>
                <a:lnTo>
                  <a:pt x="9390" y="69809"/>
                </a:lnTo>
                <a:lnTo>
                  <a:pt x="0" y="114300"/>
                </a:lnTo>
                <a:lnTo>
                  <a:pt x="9390" y="158790"/>
                </a:lnTo>
                <a:lnTo>
                  <a:pt x="34999" y="195122"/>
                </a:lnTo>
                <a:lnTo>
                  <a:pt x="72982" y="219617"/>
                </a:lnTo>
                <a:lnTo>
                  <a:pt x="119495" y="228600"/>
                </a:lnTo>
                <a:lnTo>
                  <a:pt x="166008" y="219617"/>
                </a:lnTo>
                <a:lnTo>
                  <a:pt x="203991" y="195122"/>
                </a:lnTo>
                <a:lnTo>
                  <a:pt x="229600" y="158790"/>
                </a:lnTo>
                <a:lnTo>
                  <a:pt x="238991" y="114300"/>
                </a:lnTo>
                <a:lnTo>
                  <a:pt x="229600" y="69809"/>
                </a:lnTo>
                <a:lnTo>
                  <a:pt x="203991" y="33477"/>
                </a:lnTo>
                <a:lnTo>
                  <a:pt x="166008" y="8982"/>
                </a:lnTo>
                <a:lnTo>
                  <a:pt x="119495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542181" y="4745183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5" h="228600">
                <a:moveTo>
                  <a:pt x="0" y="114300"/>
                </a:moveTo>
                <a:lnTo>
                  <a:pt x="9390" y="69809"/>
                </a:lnTo>
                <a:lnTo>
                  <a:pt x="34999" y="33477"/>
                </a:lnTo>
                <a:lnTo>
                  <a:pt x="72982" y="8982"/>
                </a:lnTo>
                <a:lnTo>
                  <a:pt x="119495" y="0"/>
                </a:lnTo>
                <a:lnTo>
                  <a:pt x="166008" y="8982"/>
                </a:lnTo>
                <a:lnTo>
                  <a:pt x="203991" y="33477"/>
                </a:lnTo>
                <a:lnTo>
                  <a:pt x="229600" y="69809"/>
                </a:lnTo>
                <a:lnTo>
                  <a:pt x="238991" y="114300"/>
                </a:lnTo>
                <a:lnTo>
                  <a:pt x="229600" y="158790"/>
                </a:lnTo>
                <a:lnTo>
                  <a:pt x="203991" y="195122"/>
                </a:lnTo>
                <a:lnTo>
                  <a:pt x="166008" y="219617"/>
                </a:lnTo>
                <a:lnTo>
                  <a:pt x="119495" y="228600"/>
                </a:lnTo>
                <a:lnTo>
                  <a:pt x="72982" y="219617"/>
                </a:lnTo>
                <a:lnTo>
                  <a:pt x="34999" y="195122"/>
                </a:lnTo>
                <a:lnTo>
                  <a:pt x="9390" y="158790"/>
                </a:lnTo>
                <a:lnTo>
                  <a:pt x="0" y="114300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893864" y="4278750"/>
            <a:ext cx="686435" cy="500380"/>
          </a:xfrm>
          <a:custGeom>
            <a:avLst/>
            <a:gdLst/>
            <a:ahLst/>
            <a:cxnLst/>
            <a:rect l="l" t="t" r="r" b="b"/>
            <a:pathLst>
              <a:path w="686435" h="500379">
                <a:moveTo>
                  <a:pt x="685912" y="0"/>
                </a:moveTo>
                <a:lnTo>
                  <a:pt x="0" y="49991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862073" y="4268359"/>
            <a:ext cx="715645" cy="510540"/>
          </a:xfrm>
          <a:custGeom>
            <a:avLst/>
            <a:gdLst/>
            <a:ahLst/>
            <a:cxnLst/>
            <a:rect l="l" t="t" r="r" b="b"/>
            <a:pathLst>
              <a:path w="715645" h="510539">
                <a:moveTo>
                  <a:pt x="0" y="0"/>
                </a:moveTo>
                <a:lnTo>
                  <a:pt x="715107" y="51030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897072" y="4187537"/>
            <a:ext cx="648335" cy="10795"/>
          </a:xfrm>
          <a:custGeom>
            <a:avLst/>
            <a:gdLst/>
            <a:ahLst/>
            <a:cxnLst/>
            <a:rect l="l" t="t" r="r" b="b"/>
            <a:pathLst>
              <a:path w="648335" h="10795">
                <a:moveTo>
                  <a:pt x="647706" y="10391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928863" y="4859483"/>
            <a:ext cx="613410" cy="0"/>
          </a:xfrm>
          <a:custGeom>
            <a:avLst/>
            <a:gdLst/>
            <a:ahLst/>
            <a:cxnLst/>
            <a:rect l="l" t="t" r="r" b="b"/>
            <a:pathLst>
              <a:path w="613410" h="0">
                <a:moveTo>
                  <a:pt x="0" y="0"/>
                </a:moveTo>
                <a:lnTo>
                  <a:pt x="613317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424762" y="4588258"/>
            <a:ext cx="1134110" cy="123825"/>
          </a:xfrm>
          <a:custGeom>
            <a:avLst/>
            <a:gdLst/>
            <a:ahLst/>
            <a:cxnLst/>
            <a:rect l="l" t="t" r="r" b="b"/>
            <a:pathLst>
              <a:path w="1134110" h="123825">
                <a:moveTo>
                  <a:pt x="123825" y="0"/>
                </a:moveTo>
                <a:lnTo>
                  <a:pt x="0" y="61912"/>
                </a:lnTo>
                <a:lnTo>
                  <a:pt x="123825" y="123824"/>
                </a:lnTo>
                <a:lnTo>
                  <a:pt x="123825" y="82549"/>
                </a:lnTo>
                <a:lnTo>
                  <a:pt x="103187" y="82549"/>
                </a:lnTo>
                <a:lnTo>
                  <a:pt x="95154" y="80928"/>
                </a:lnTo>
                <a:lnTo>
                  <a:pt x="88594" y="76505"/>
                </a:lnTo>
                <a:lnTo>
                  <a:pt x="84171" y="69945"/>
                </a:lnTo>
                <a:lnTo>
                  <a:pt x="82550" y="61912"/>
                </a:lnTo>
                <a:lnTo>
                  <a:pt x="84171" y="53879"/>
                </a:lnTo>
                <a:lnTo>
                  <a:pt x="88594" y="47319"/>
                </a:lnTo>
                <a:lnTo>
                  <a:pt x="95154" y="42896"/>
                </a:lnTo>
                <a:lnTo>
                  <a:pt x="103187" y="41274"/>
                </a:lnTo>
                <a:lnTo>
                  <a:pt x="123825" y="41274"/>
                </a:lnTo>
                <a:lnTo>
                  <a:pt x="123825" y="0"/>
                </a:lnTo>
                <a:close/>
              </a:path>
              <a:path w="1134110" h="123825">
                <a:moveTo>
                  <a:pt x="1010255" y="0"/>
                </a:moveTo>
                <a:lnTo>
                  <a:pt x="1010255" y="123824"/>
                </a:lnTo>
                <a:lnTo>
                  <a:pt x="1092807" y="82549"/>
                </a:lnTo>
                <a:lnTo>
                  <a:pt x="1030893" y="82549"/>
                </a:lnTo>
                <a:lnTo>
                  <a:pt x="1038926" y="80928"/>
                </a:lnTo>
                <a:lnTo>
                  <a:pt x="1045486" y="76505"/>
                </a:lnTo>
                <a:lnTo>
                  <a:pt x="1049909" y="69945"/>
                </a:lnTo>
                <a:lnTo>
                  <a:pt x="1051530" y="61912"/>
                </a:lnTo>
                <a:lnTo>
                  <a:pt x="1049908" y="53879"/>
                </a:lnTo>
                <a:lnTo>
                  <a:pt x="1045485" y="47319"/>
                </a:lnTo>
                <a:lnTo>
                  <a:pt x="1038925" y="42896"/>
                </a:lnTo>
                <a:lnTo>
                  <a:pt x="1030893" y="41274"/>
                </a:lnTo>
                <a:lnTo>
                  <a:pt x="1092804" y="41274"/>
                </a:lnTo>
                <a:lnTo>
                  <a:pt x="1010255" y="0"/>
                </a:lnTo>
                <a:close/>
              </a:path>
              <a:path w="1134110" h="123825">
                <a:moveTo>
                  <a:pt x="123825" y="41274"/>
                </a:moveTo>
                <a:lnTo>
                  <a:pt x="103187" y="41274"/>
                </a:lnTo>
                <a:lnTo>
                  <a:pt x="95153" y="42896"/>
                </a:lnTo>
                <a:lnTo>
                  <a:pt x="88593" y="47320"/>
                </a:lnTo>
                <a:lnTo>
                  <a:pt x="84171" y="53880"/>
                </a:lnTo>
                <a:lnTo>
                  <a:pt x="82550" y="61913"/>
                </a:lnTo>
                <a:lnTo>
                  <a:pt x="84172" y="69946"/>
                </a:lnTo>
                <a:lnTo>
                  <a:pt x="88595" y="76505"/>
                </a:lnTo>
                <a:lnTo>
                  <a:pt x="95155" y="80928"/>
                </a:lnTo>
                <a:lnTo>
                  <a:pt x="103187" y="82549"/>
                </a:lnTo>
                <a:lnTo>
                  <a:pt x="123825" y="82549"/>
                </a:lnTo>
                <a:lnTo>
                  <a:pt x="123825" y="41274"/>
                </a:lnTo>
                <a:close/>
              </a:path>
              <a:path w="1134110" h="123825">
                <a:moveTo>
                  <a:pt x="1010255" y="41274"/>
                </a:moveTo>
                <a:lnTo>
                  <a:pt x="123825" y="41274"/>
                </a:lnTo>
                <a:lnTo>
                  <a:pt x="123825" y="82549"/>
                </a:lnTo>
                <a:lnTo>
                  <a:pt x="1010255" y="82549"/>
                </a:lnTo>
                <a:lnTo>
                  <a:pt x="1010255" y="41274"/>
                </a:lnTo>
                <a:close/>
              </a:path>
              <a:path w="1134110" h="123825">
                <a:moveTo>
                  <a:pt x="1092804" y="41274"/>
                </a:moveTo>
                <a:lnTo>
                  <a:pt x="1030893" y="41274"/>
                </a:lnTo>
                <a:lnTo>
                  <a:pt x="1038926" y="42896"/>
                </a:lnTo>
                <a:lnTo>
                  <a:pt x="1045486" y="47320"/>
                </a:lnTo>
                <a:lnTo>
                  <a:pt x="1049909" y="53880"/>
                </a:lnTo>
                <a:lnTo>
                  <a:pt x="1051530" y="61913"/>
                </a:lnTo>
                <a:lnTo>
                  <a:pt x="1049909" y="69946"/>
                </a:lnTo>
                <a:lnTo>
                  <a:pt x="1045486" y="76505"/>
                </a:lnTo>
                <a:lnTo>
                  <a:pt x="1038926" y="80928"/>
                </a:lnTo>
                <a:lnTo>
                  <a:pt x="1030893" y="82549"/>
                </a:lnTo>
                <a:lnTo>
                  <a:pt x="1092807" y="82549"/>
                </a:lnTo>
                <a:lnTo>
                  <a:pt x="1134080" y="61913"/>
                </a:lnTo>
                <a:lnTo>
                  <a:pt x="1092804" y="41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503502" y="4271772"/>
            <a:ext cx="10407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Arial"/>
                <a:cs typeface="Arial"/>
              </a:rPr>
              <a:t>Isomorphic!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914145" y="4061353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5" h="228600">
                <a:moveTo>
                  <a:pt x="119495" y="0"/>
                </a:moveTo>
                <a:lnTo>
                  <a:pt x="72982" y="8982"/>
                </a:lnTo>
                <a:lnTo>
                  <a:pt x="34999" y="33477"/>
                </a:lnTo>
                <a:lnTo>
                  <a:pt x="9390" y="69809"/>
                </a:lnTo>
                <a:lnTo>
                  <a:pt x="0" y="114299"/>
                </a:lnTo>
                <a:lnTo>
                  <a:pt x="9390" y="158790"/>
                </a:lnTo>
                <a:lnTo>
                  <a:pt x="34999" y="195122"/>
                </a:lnTo>
                <a:lnTo>
                  <a:pt x="72982" y="219617"/>
                </a:lnTo>
                <a:lnTo>
                  <a:pt x="119495" y="228599"/>
                </a:lnTo>
                <a:lnTo>
                  <a:pt x="166008" y="219617"/>
                </a:lnTo>
                <a:lnTo>
                  <a:pt x="203991" y="195122"/>
                </a:lnTo>
                <a:lnTo>
                  <a:pt x="229600" y="158790"/>
                </a:lnTo>
                <a:lnTo>
                  <a:pt x="238991" y="114299"/>
                </a:lnTo>
                <a:lnTo>
                  <a:pt x="229600" y="69809"/>
                </a:lnTo>
                <a:lnTo>
                  <a:pt x="203991" y="33477"/>
                </a:lnTo>
                <a:lnTo>
                  <a:pt x="166008" y="8982"/>
                </a:lnTo>
                <a:lnTo>
                  <a:pt x="11949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914145" y="4061353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5" h="228600">
                <a:moveTo>
                  <a:pt x="0" y="114300"/>
                </a:moveTo>
                <a:lnTo>
                  <a:pt x="9390" y="69809"/>
                </a:lnTo>
                <a:lnTo>
                  <a:pt x="34999" y="33477"/>
                </a:lnTo>
                <a:lnTo>
                  <a:pt x="72982" y="8982"/>
                </a:lnTo>
                <a:lnTo>
                  <a:pt x="119495" y="0"/>
                </a:lnTo>
                <a:lnTo>
                  <a:pt x="166008" y="8982"/>
                </a:lnTo>
                <a:lnTo>
                  <a:pt x="203991" y="33477"/>
                </a:lnTo>
                <a:lnTo>
                  <a:pt x="229600" y="69809"/>
                </a:lnTo>
                <a:lnTo>
                  <a:pt x="238991" y="114300"/>
                </a:lnTo>
                <a:lnTo>
                  <a:pt x="229600" y="158790"/>
                </a:lnTo>
                <a:lnTo>
                  <a:pt x="203991" y="195122"/>
                </a:lnTo>
                <a:lnTo>
                  <a:pt x="166008" y="219617"/>
                </a:lnTo>
                <a:lnTo>
                  <a:pt x="119495" y="228600"/>
                </a:lnTo>
                <a:lnTo>
                  <a:pt x="72982" y="219617"/>
                </a:lnTo>
                <a:lnTo>
                  <a:pt x="34999" y="195122"/>
                </a:lnTo>
                <a:lnTo>
                  <a:pt x="9390" y="158790"/>
                </a:lnTo>
                <a:lnTo>
                  <a:pt x="0" y="114300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715976" y="4061353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5" h="228600">
                <a:moveTo>
                  <a:pt x="119495" y="0"/>
                </a:moveTo>
                <a:lnTo>
                  <a:pt x="72982" y="8982"/>
                </a:lnTo>
                <a:lnTo>
                  <a:pt x="34999" y="33477"/>
                </a:lnTo>
                <a:lnTo>
                  <a:pt x="9390" y="69809"/>
                </a:lnTo>
                <a:lnTo>
                  <a:pt x="0" y="114299"/>
                </a:lnTo>
                <a:lnTo>
                  <a:pt x="9390" y="158790"/>
                </a:lnTo>
                <a:lnTo>
                  <a:pt x="34999" y="195122"/>
                </a:lnTo>
                <a:lnTo>
                  <a:pt x="72982" y="219617"/>
                </a:lnTo>
                <a:lnTo>
                  <a:pt x="119495" y="228599"/>
                </a:lnTo>
                <a:lnTo>
                  <a:pt x="166008" y="219617"/>
                </a:lnTo>
                <a:lnTo>
                  <a:pt x="203991" y="195122"/>
                </a:lnTo>
                <a:lnTo>
                  <a:pt x="229600" y="158790"/>
                </a:lnTo>
                <a:lnTo>
                  <a:pt x="238991" y="114299"/>
                </a:lnTo>
                <a:lnTo>
                  <a:pt x="229600" y="69809"/>
                </a:lnTo>
                <a:lnTo>
                  <a:pt x="203991" y="33477"/>
                </a:lnTo>
                <a:lnTo>
                  <a:pt x="166008" y="8982"/>
                </a:lnTo>
                <a:lnTo>
                  <a:pt x="11949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715976" y="4061353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5" h="228600">
                <a:moveTo>
                  <a:pt x="0" y="114300"/>
                </a:moveTo>
                <a:lnTo>
                  <a:pt x="9390" y="69809"/>
                </a:lnTo>
                <a:lnTo>
                  <a:pt x="34999" y="33477"/>
                </a:lnTo>
                <a:lnTo>
                  <a:pt x="72982" y="8982"/>
                </a:lnTo>
                <a:lnTo>
                  <a:pt x="119495" y="0"/>
                </a:lnTo>
                <a:lnTo>
                  <a:pt x="166008" y="8982"/>
                </a:lnTo>
                <a:lnTo>
                  <a:pt x="203991" y="33477"/>
                </a:lnTo>
                <a:lnTo>
                  <a:pt x="229600" y="69809"/>
                </a:lnTo>
                <a:lnTo>
                  <a:pt x="238991" y="114300"/>
                </a:lnTo>
                <a:lnTo>
                  <a:pt x="229600" y="158790"/>
                </a:lnTo>
                <a:lnTo>
                  <a:pt x="203991" y="195122"/>
                </a:lnTo>
                <a:lnTo>
                  <a:pt x="166008" y="219617"/>
                </a:lnTo>
                <a:lnTo>
                  <a:pt x="119495" y="228600"/>
                </a:lnTo>
                <a:lnTo>
                  <a:pt x="72982" y="219617"/>
                </a:lnTo>
                <a:lnTo>
                  <a:pt x="34999" y="195122"/>
                </a:lnTo>
                <a:lnTo>
                  <a:pt x="9390" y="158790"/>
                </a:lnTo>
                <a:lnTo>
                  <a:pt x="0" y="114300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914144" y="4733299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5" h="228600">
                <a:moveTo>
                  <a:pt x="119495" y="0"/>
                </a:moveTo>
                <a:lnTo>
                  <a:pt x="72982" y="8982"/>
                </a:lnTo>
                <a:lnTo>
                  <a:pt x="34999" y="33477"/>
                </a:lnTo>
                <a:lnTo>
                  <a:pt x="9390" y="69809"/>
                </a:lnTo>
                <a:lnTo>
                  <a:pt x="0" y="114300"/>
                </a:lnTo>
                <a:lnTo>
                  <a:pt x="9390" y="158790"/>
                </a:lnTo>
                <a:lnTo>
                  <a:pt x="34999" y="195122"/>
                </a:lnTo>
                <a:lnTo>
                  <a:pt x="72982" y="219617"/>
                </a:lnTo>
                <a:lnTo>
                  <a:pt x="119495" y="228600"/>
                </a:lnTo>
                <a:lnTo>
                  <a:pt x="166008" y="219617"/>
                </a:lnTo>
                <a:lnTo>
                  <a:pt x="203991" y="195122"/>
                </a:lnTo>
                <a:lnTo>
                  <a:pt x="229600" y="158790"/>
                </a:lnTo>
                <a:lnTo>
                  <a:pt x="238991" y="114300"/>
                </a:lnTo>
                <a:lnTo>
                  <a:pt x="229600" y="69809"/>
                </a:lnTo>
                <a:lnTo>
                  <a:pt x="203991" y="33477"/>
                </a:lnTo>
                <a:lnTo>
                  <a:pt x="166008" y="8982"/>
                </a:lnTo>
                <a:lnTo>
                  <a:pt x="11949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914144" y="4733299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5" h="228600">
                <a:moveTo>
                  <a:pt x="0" y="114300"/>
                </a:moveTo>
                <a:lnTo>
                  <a:pt x="9390" y="69809"/>
                </a:lnTo>
                <a:lnTo>
                  <a:pt x="34999" y="33477"/>
                </a:lnTo>
                <a:lnTo>
                  <a:pt x="72982" y="8982"/>
                </a:lnTo>
                <a:lnTo>
                  <a:pt x="119495" y="0"/>
                </a:lnTo>
                <a:lnTo>
                  <a:pt x="166008" y="8982"/>
                </a:lnTo>
                <a:lnTo>
                  <a:pt x="203991" y="33477"/>
                </a:lnTo>
                <a:lnTo>
                  <a:pt x="229600" y="69809"/>
                </a:lnTo>
                <a:lnTo>
                  <a:pt x="238991" y="114300"/>
                </a:lnTo>
                <a:lnTo>
                  <a:pt x="229600" y="158790"/>
                </a:lnTo>
                <a:lnTo>
                  <a:pt x="203991" y="195122"/>
                </a:lnTo>
                <a:lnTo>
                  <a:pt x="166008" y="219617"/>
                </a:lnTo>
                <a:lnTo>
                  <a:pt x="119495" y="228600"/>
                </a:lnTo>
                <a:lnTo>
                  <a:pt x="72982" y="219617"/>
                </a:lnTo>
                <a:lnTo>
                  <a:pt x="34999" y="195122"/>
                </a:lnTo>
                <a:lnTo>
                  <a:pt x="9390" y="158790"/>
                </a:lnTo>
                <a:lnTo>
                  <a:pt x="0" y="114300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715976" y="4733299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5" h="228600">
                <a:moveTo>
                  <a:pt x="119495" y="0"/>
                </a:moveTo>
                <a:lnTo>
                  <a:pt x="72982" y="8982"/>
                </a:lnTo>
                <a:lnTo>
                  <a:pt x="34999" y="33477"/>
                </a:lnTo>
                <a:lnTo>
                  <a:pt x="9390" y="69809"/>
                </a:lnTo>
                <a:lnTo>
                  <a:pt x="0" y="114300"/>
                </a:lnTo>
                <a:lnTo>
                  <a:pt x="9390" y="158790"/>
                </a:lnTo>
                <a:lnTo>
                  <a:pt x="34999" y="195122"/>
                </a:lnTo>
                <a:lnTo>
                  <a:pt x="72982" y="219617"/>
                </a:lnTo>
                <a:lnTo>
                  <a:pt x="119495" y="228600"/>
                </a:lnTo>
                <a:lnTo>
                  <a:pt x="166008" y="219617"/>
                </a:lnTo>
                <a:lnTo>
                  <a:pt x="203991" y="195122"/>
                </a:lnTo>
                <a:lnTo>
                  <a:pt x="229600" y="158790"/>
                </a:lnTo>
                <a:lnTo>
                  <a:pt x="238991" y="114300"/>
                </a:lnTo>
                <a:lnTo>
                  <a:pt x="229600" y="69809"/>
                </a:lnTo>
                <a:lnTo>
                  <a:pt x="203991" y="33477"/>
                </a:lnTo>
                <a:lnTo>
                  <a:pt x="166008" y="8982"/>
                </a:lnTo>
                <a:lnTo>
                  <a:pt x="11949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715976" y="4733299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5" h="228600">
                <a:moveTo>
                  <a:pt x="0" y="114300"/>
                </a:moveTo>
                <a:lnTo>
                  <a:pt x="9390" y="69809"/>
                </a:lnTo>
                <a:lnTo>
                  <a:pt x="34999" y="33477"/>
                </a:lnTo>
                <a:lnTo>
                  <a:pt x="72982" y="8982"/>
                </a:lnTo>
                <a:lnTo>
                  <a:pt x="119495" y="0"/>
                </a:lnTo>
                <a:lnTo>
                  <a:pt x="166008" y="8982"/>
                </a:lnTo>
                <a:lnTo>
                  <a:pt x="203991" y="33477"/>
                </a:lnTo>
                <a:lnTo>
                  <a:pt x="229600" y="69809"/>
                </a:lnTo>
                <a:lnTo>
                  <a:pt x="238991" y="114300"/>
                </a:lnTo>
                <a:lnTo>
                  <a:pt x="229600" y="158790"/>
                </a:lnTo>
                <a:lnTo>
                  <a:pt x="203991" y="195122"/>
                </a:lnTo>
                <a:lnTo>
                  <a:pt x="166008" y="219617"/>
                </a:lnTo>
                <a:lnTo>
                  <a:pt x="119495" y="228600"/>
                </a:lnTo>
                <a:lnTo>
                  <a:pt x="72982" y="219617"/>
                </a:lnTo>
                <a:lnTo>
                  <a:pt x="34999" y="195122"/>
                </a:lnTo>
                <a:lnTo>
                  <a:pt x="9390" y="158790"/>
                </a:lnTo>
                <a:lnTo>
                  <a:pt x="0" y="114300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153136" y="4175653"/>
            <a:ext cx="563245" cy="0"/>
          </a:xfrm>
          <a:custGeom>
            <a:avLst/>
            <a:gdLst/>
            <a:ahLst/>
            <a:cxnLst/>
            <a:rect l="l" t="t" r="r" b="b"/>
            <a:pathLst>
              <a:path w="563245" h="0">
                <a:moveTo>
                  <a:pt x="0" y="0"/>
                </a:moveTo>
                <a:lnTo>
                  <a:pt x="56284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153135" y="4847599"/>
            <a:ext cx="563245" cy="0"/>
          </a:xfrm>
          <a:custGeom>
            <a:avLst/>
            <a:gdLst/>
            <a:ahLst/>
            <a:cxnLst/>
            <a:rect l="l" t="t" r="r" b="b"/>
            <a:pathLst>
              <a:path w="563245" h="0">
                <a:moveTo>
                  <a:pt x="0" y="0"/>
                </a:moveTo>
                <a:lnTo>
                  <a:pt x="562841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033641" y="4289953"/>
            <a:ext cx="0" cy="443865"/>
          </a:xfrm>
          <a:custGeom>
            <a:avLst/>
            <a:gdLst/>
            <a:ahLst/>
            <a:cxnLst/>
            <a:rect l="l" t="t" r="r" b="b"/>
            <a:pathLst>
              <a:path w="0" h="443864">
                <a:moveTo>
                  <a:pt x="1" y="0"/>
                </a:moveTo>
                <a:lnTo>
                  <a:pt x="0" y="44334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835473" y="4289953"/>
            <a:ext cx="0" cy="443865"/>
          </a:xfrm>
          <a:custGeom>
            <a:avLst/>
            <a:gdLst/>
            <a:ahLst/>
            <a:cxnLst/>
            <a:rect l="l" t="t" r="r" b="b"/>
            <a:pathLst>
              <a:path w="0" h="443864">
                <a:moveTo>
                  <a:pt x="0" y="0"/>
                </a:moveTo>
                <a:lnTo>
                  <a:pt x="1" y="44334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211777" y="4071744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5" h="228600">
                <a:moveTo>
                  <a:pt x="119495" y="0"/>
                </a:moveTo>
                <a:lnTo>
                  <a:pt x="72982" y="8982"/>
                </a:lnTo>
                <a:lnTo>
                  <a:pt x="34999" y="33477"/>
                </a:lnTo>
                <a:lnTo>
                  <a:pt x="9390" y="69809"/>
                </a:lnTo>
                <a:lnTo>
                  <a:pt x="0" y="114300"/>
                </a:lnTo>
                <a:lnTo>
                  <a:pt x="9390" y="158790"/>
                </a:lnTo>
                <a:lnTo>
                  <a:pt x="34999" y="195122"/>
                </a:lnTo>
                <a:lnTo>
                  <a:pt x="72982" y="219617"/>
                </a:lnTo>
                <a:lnTo>
                  <a:pt x="119495" y="228600"/>
                </a:lnTo>
                <a:lnTo>
                  <a:pt x="166008" y="219617"/>
                </a:lnTo>
                <a:lnTo>
                  <a:pt x="203991" y="195122"/>
                </a:lnTo>
                <a:lnTo>
                  <a:pt x="229600" y="158790"/>
                </a:lnTo>
                <a:lnTo>
                  <a:pt x="238991" y="114300"/>
                </a:lnTo>
                <a:lnTo>
                  <a:pt x="229600" y="69809"/>
                </a:lnTo>
                <a:lnTo>
                  <a:pt x="203991" y="33477"/>
                </a:lnTo>
                <a:lnTo>
                  <a:pt x="166008" y="8982"/>
                </a:lnTo>
                <a:lnTo>
                  <a:pt x="11949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211777" y="4071744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5" h="228600">
                <a:moveTo>
                  <a:pt x="0" y="114300"/>
                </a:moveTo>
                <a:lnTo>
                  <a:pt x="9390" y="69809"/>
                </a:lnTo>
                <a:lnTo>
                  <a:pt x="34999" y="33477"/>
                </a:lnTo>
                <a:lnTo>
                  <a:pt x="72982" y="8982"/>
                </a:lnTo>
                <a:lnTo>
                  <a:pt x="119495" y="0"/>
                </a:lnTo>
                <a:lnTo>
                  <a:pt x="166008" y="8982"/>
                </a:lnTo>
                <a:lnTo>
                  <a:pt x="203991" y="33477"/>
                </a:lnTo>
                <a:lnTo>
                  <a:pt x="229600" y="69809"/>
                </a:lnTo>
                <a:lnTo>
                  <a:pt x="238991" y="114300"/>
                </a:lnTo>
                <a:lnTo>
                  <a:pt x="229600" y="158790"/>
                </a:lnTo>
                <a:lnTo>
                  <a:pt x="203991" y="195122"/>
                </a:lnTo>
                <a:lnTo>
                  <a:pt x="166008" y="219617"/>
                </a:lnTo>
                <a:lnTo>
                  <a:pt x="119495" y="228600"/>
                </a:lnTo>
                <a:lnTo>
                  <a:pt x="72982" y="219617"/>
                </a:lnTo>
                <a:lnTo>
                  <a:pt x="34999" y="195122"/>
                </a:lnTo>
                <a:lnTo>
                  <a:pt x="9390" y="158790"/>
                </a:lnTo>
                <a:lnTo>
                  <a:pt x="0" y="114300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356871" y="4733299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5" h="228600">
                <a:moveTo>
                  <a:pt x="119495" y="0"/>
                </a:moveTo>
                <a:lnTo>
                  <a:pt x="72982" y="8982"/>
                </a:lnTo>
                <a:lnTo>
                  <a:pt x="34999" y="33477"/>
                </a:lnTo>
                <a:lnTo>
                  <a:pt x="9390" y="69809"/>
                </a:lnTo>
                <a:lnTo>
                  <a:pt x="0" y="114300"/>
                </a:lnTo>
                <a:lnTo>
                  <a:pt x="9390" y="158790"/>
                </a:lnTo>
                <a:lnTo>
                  <a:pt x="34999" y="195122"/>
                </a:lnTo>
                <a:lnTo>
                  <a:pt x="72982" y="219617"/>
                </a:lnTo>
                <a:lnTo>
                  <a:pt x="119495" y="228600"/>
                </a:lnTo>
                <a:lnTo>
                  <a:pt x="166008" y="219617"/>
                </a:lnTo>
                <a:lnTo>
                  <a:pt x="203991" y="195122"/>
                </a:lnTo>
                <a:lnTo>
                  <a:pt x="229600" y="158790"/>
                </a:lnTo>
                <a:lnTo>
                  <a:pt x="238991" y="114300"/>
                </a:lnTo>
                <a:lnTo>
                  <a:pt x="229600" y="69809"/>
                </a:lnTo>
                <a:lnTo>
                  <a:pt x="203991" y="33477"/>
                </a:lnTo>
                <a:lnTo>
                  <a:pt x="166008" y="8982"/>
                </a:lnTo>
                <a:lnTo>
                  <a:pt x="11949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356871" y="4733299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5" h="228600">
                <a:moveTo>
                  <a:pt x="0" y="114300"/>
                </a:moveTo>
                <a:lnTo>
                  <a:pt x="9390" y="69809"/>
                </a:lnTo>
                <a:lnTo>
                  <a:pt x="34999" y="33477"/>
                </a:lnTo>
                <a:lnTo>
                  <a:pt x="72982" y="8982"/>
                </a:lnTo>
                <a:lnTo>
                  <a:pt x="119495" y="0"/>
                </a:lnTo>
                <a:lnTo>
                  <a:pt x="166008" y="8982"/>
                </a:lnTo>
                <a:lnTo>
                  <a:pt x="203991" y="33477"/>
                </a:lnTo>
                <a:lnTo>
                  <a:pt x="229600" y="69809"/>
                </a:lnTo>
                <a:lnTo>
                  <a:pt x="238991" y="114300"/>
                </a:lnTo>
                <a:lnTo>
                  <a:pt x="229600" y="158790"/>
                </a:lnTo>
                <a:lnTo>
                  <a:pt x="203991" y="195122"/>
                </a:lnTo>
                <a:lnTo>
                  <a:pt x="166008" y="219617"/>
                </a:lnTo>
                <a:lnTo>
                  <a:pt x="119495" y="228600"/>
                </a:lnTo>
                <a:lnTo>
                  <a:pt x="72982" y="219617"/>
                </a:lnTo>
                <a:lnTo>
                  <a:pt x="34999" y="195122"/>
                </a:lnTo>
                <a:lnTo>
                  <a:pt x="9390" y="158790"/>
                </a:lnTo>
                <a:lnTo>
                  <a:pt x="0" y="114300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325079" y="4061353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5" h="228600">
                <a:moveTo>
                  <a:pt x="119495" y="0"/>
                </a:moveTo>
                <a:lnTo>
                  <a:pt x="72982" y="8982"/>
                </a:lnTo>
                <a:lnTo>
                  <a:pt x="34999" y="33477"/>
                </a:lnTo>
                <a:lnTo>
                  <a:pt x="9390" y="69809"/>
                </a:lnTo>
                <a:lnTo>
                  <a:pt x="0" y="114299"/>
                </a:lnTo>
                <a:lnTo>
                  <a:pt x="9390" y="158790"/>
                </a:lnTo>
                <a:lnTo>
                  <a:pt x="34999" y="195122"/>
                </a:lnTo>
                <a:lnTo>
                  <a:pt x="72982" y="219617"/>
                </a:lnTo>
                <a:lnTo>
                  <a:pt x="119495" y="228599"/>
                </a:lnTo>
                <a:lnTo>
                  <a:pt x="166008" y="219617"/>
                </a:lnTo>
                <a:lnTo>
                  <a:pt x="203991" y="195122"/>
                </a:lnTo>
                <a:lnTo>
                  <a:pt x="229600" y="158790"/>
                </a:lnTo>
                <a:lnTo>
                  <a:pt x="238991" y="114299"/>
                </a:lnTo>
                <a:lnTo>
                  <a:pt x="229600" y="69809"/>
                </a:lnTo>
                <a:lnTo>
                  <a:pt x="203991" y="33477"/>
                </a:lnTo>
                <a:lnTo>
                  <a:pt x="166008" y="8982"/>
                </a:lnTo>
                <a:lnTo>
                  <a:pt x="11949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325079" y="4061353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5" h="228600">
                <a:moveTo>
                  <a:pt x="0" y="114300"/>
                </a:moveTo>
                <a:lnTo>
                  <a:pt x="9390" y="69809"/>
                </a:lnTo>
                <a:lnTo>
                  <a:pt x="34999" y="33477"/>
                </a:lnTo>
                <a:lnTo>
                  <a:pt x="72982" y="8982"/>
                </a:lnTo>
                <a:lnTo>
                  <a:pt x="119495" y="0"/>
                </a:lnTo>
                <a:lnTo>
                  <a:pt x="166008" y="8982"/>
                </a:lnTo>
                <a:lnTo>
                  <a:pt x="203991" y="33477"/>
                </a:lnTo>
                <a:lnTo>
                  <a:pt x="229600" y="69809"/>
                </a:lnTo>
                <a:lnTo>
                  <a:pt x="238991" y="114300"/>
                </a:lnTo>
                <a:lnTo>
                  <a:pt x="229600" y="158790"/>
                </a:lnTo>
                <a:lnTo>
                  <a:pt x="203991" y="195122"/>
                </a:lnTo>
                <a:lnTo>
                  <a:pt x="166008" y="219617"/>
                </a:lnTo>
                <a:lnTo>
                  <a:pt x="119495" y="228600"/>
                </a:lnTo>
                <a:lnTo>
                  <a:pt x="72982" y="219617"/>
                </a:lnTo>
                <a:lnTo>
                  <a:pt x="34999" y="195122"/>
                </a:lnTo>
                <a:lnTo>
                  <a:pt x="9390" y="158790"/>
                </a:lnTo>
                <a:lnTo>
                  <a:pt x="0" y="114300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209179" y="4733299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5" h="228600">
                <a:moveTo>
                  <a:pt x="119495" y="0"/>
                </a:moveTo>
                <a:lnTo>
                  <a:pt x="72982" y="8982"/>
                </a:lnTo>
                <a:lnTo>
                  <a:pt x="34999" y="33477"/>
                </a:lnTo>
                <a:lnTo>
                  <a:pt x="9390" y="69809"/>
                </a:lnTo>
                <a:lnTo>
                  <a:pt x="0" y="114300"/>
                </a:lnTo>
                <a:lnTo>
                  <a:pt x="9390" y="158790"/>
                </a:lnTo>
                <a:lnTo>
                  <a:pt x="34999" y="195122"/>
                </a:lnTo>
                <a:lnTo>
                  <a:pt x="72982" y="219617"/>
                </a:lnTo>
                <a:lnTo>
                  <a:pt x="119495" y="228600"/>
                </a:lnTo>
                <a:lnTo>
                  <a:pt x="166008" y="219617"/>
                </a:lnTo>
                <a:lnTo>
                  <a:pt x="203991" y="195122"/>
                </a:lnTo>
                <a:lnTo>
                  <a:pt x="229600" y="158790"/>
                </a:lnTo>
                <a:lnTo>
                  <a:pt x="238991" y="114300"/>
                </a:lnTo>
                <a:lnTo>
                  <a:pt x="229600" y="69809"/>
                </a:lnTo>
                <a:lnTo>
                  <a:pt x="203991" y="33477"/>
                </a:lnTo>
                <a:lnTo>
                  <a:pt x="166008" y="8982"/>
                </a:lnTo>
                <a:lnTo>
                  <a:pt x="11949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209179" y="4733299"/>
            <a:ext cx="239395" cy="228600"/>
          </a:xfrm>
          <a:custGeom>
            <a:avLst/>
            <a:gdLst/>
            <a:ahLst/>
            <a:cxnLst/>
            <a:rect l="l" t="t" r="r" b="b"/>
            <a:pathLst>
              <a:path w="239395" h="228600">
                <a:moveTo>
                  <a:pt x="0" y="114300"/>
                </a:moveTo>
                <a:lnTo>
                  <a:pt x="9390" y="69809"/>
                </a:lnTo>
                <a:lnTo>
                  <a:pt x="34999" y="33477"/>
                </a:lnTo>
                <a:lnTo>
                  <a:pt x="72982" y="8982"/>
                </a:lnTo>
                <a:lnTo>
                  <a:pt x="119495" y="0"/>
                </a:lnTo>
                <a:lnTo>
                  <a:pt x="166008" y="8982"/>
                </a:lnTo>
                <a:lnTo>
                  <a:pt x="203991" y="33477"/>
                </a:lnTo>
                <a:lnTo>
                  <a:pt x="229600" y="69809"/>
                </a:lnTo>
                <a:lnTo>
                  <a:pt x="238991" y="114300"/>
                </a:lnTo>
                <a:lnTo>
                  <a:pt x="229600" y="158790"/>
                </a:lnTo>
                <a:lnTo>
                  <a:pt x="203991" y="195122"/>
                </a:lnTo>
                <a:lnTo>
                  <a:pt x="166008" y="219617"/>
                </a:lnTo>
                <a:lnTo>
                  <a:pt x="119495" y="228600"/>
                </a:lnTo>
                <a:lnTo>
                  <a:pt x="72982" y="219617"/>
                </a:lnTo>
                <a:lnTo>
                  <a:pt x="34999" y="195122"/>
                </a:lnTo>
                <a:lnTo>
                  <a:pt x="9390" y="158790"/>
                </a:lnTo>
                <a:lnTo>
                  <a:pt x="0" y="114300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8328675" y="4300344"/>
            <a:ext cx="3175" cy="433070"/>
          </a:xfrm>
          <a:custGeom>
            <a:avLst/>
            <a:gdLst/>
            <a:ahLst/>
            <a:cxnLst/>
            <a:rect l="l" t="t" r="r" b="b"/>
            <a:pathLst>
              <a:path w="3175" h="433070">
                <a:moveTo>
                  <a:pt x="2597" y="0"/>
                </a:moveTo>
                <a:lnTo>
                  <a:pt x="0" y="43295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529071" y="4256474"/>
            <a:ext cx="715645" cy="510540"/>
          </a:xfrm>
          <a:custGeom>
            <a:avLst/>
            <a:gdLst/>
            <a:ahLst/>
            <a:cxnLst/>
            <a:rect l="l" t="t" r="r" b="b"/>
            <a:pathLst>
              <a:path w="715645" h="510539">
                <a:moveTo>
                  <a:pt x="0" y="0"/>
                </a:moveTo>
                <a:lnTo>
                  <a:pt x="715107" y="51030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564070" y="4175653"/>
            <a:ext cx="648335" cy="10795"/>
          </a:xfrm>
          <a:custGeom>
            <a:avLst/>
            <a:gdLst/>
            <a:ahLst/>
            <a:cxnLst/>
            <a:rect l="l" t="t" r="r" b="b"/>
            <a:pathLst>
              <a:path w="648334" h="10795">
                <a:moveTo>
                  <a:pt x="647706" y="10391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595862" y="4847599"/>
            <a:ext cx="613410" cy="0"/>
          </a:xfrm>
          <a:custGeom>
            <a:avLst/>
            <a:gdLst/>
            <a:ahLst/>
            <a:cxnLst/>
            <a:rect l="l" t="t" r="r" b="b"/>
            <a:pathLst>
              <a:path w="613409" h="0">
                <a:moveTo>
                  <a:pt x="0" y="0"/>
                </a:moveTo>
                <a:lnTo>
                  <a:pt x="613317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975749" y="4584310"/>
            <a:ext cx="1402080" cy="123825"/>
          </a:xfrm>
          <a:custGeom>
            <a:avLst/>
            <a:gdLst/>
            <a:ahLst/>
            <a:cxnLst/>
            <a:rect l="l" t="t" r="r" b="b"/>
            <a:pathLst>
              <a:path w="1402079" h="123825">
                <a:moveTo>
                  <a:pt x="123825" y="0"/>
                </a:moveTo>
                <a:lnTo>
                  <a:pt x="0" y="61911"/>
                </a:lnTo>
                <a:lnTo>
                  <a:pt x="123825" y="123825"/>
                </a:lnTo>
                <a:lnTo>
                  <a:pt x="123825" y="82550"/>
                </a:lnTo>
                <a:lnTo>
                  <a:pt x="103187" y="82550"/>
                </a:lnTo>
                <a:lnTo>
                  <a:pt x="95154" y="80928"/>
                </a:lnTo>
                <a:lnTo>
                  <a:pt x="88594" y="76505"/>
                </a:lnTo>
                <a:lnTo>
                  <a:pt x="84171" y="69945"/>
                </a:lnTo>
                <a:lnTo>
                  <a:pt x="82550" y="61911"/>
                </a:lnTo>
                <a:lnTo>
                  <a:pt x="84171" y="53879"/>
                </a:lnTo>
                <a:lnTo>
                  <a:pt x="88594" y="47319"/>
                </a:lnTo>
                <a:lnTo>
                  <a:pt x="95154" y="42896"/>
                </a:lnTo>
                <a:lnTo>
                  <a:pt x="103187" y="41275"/>
                </a:lnTo>
                <a:lnTo>
                  <a:pt x="123825" y="41275"/>
                </a:lnTo>
                <a:lnTo>
                  <a:pt x="123825" y="0"/>
                </a:lnTo>
                <a:close/>
              </a:path>
              <a:path w="1402079" h="123825">
                <a:moveTo>
                  <a:pt x="1278078" y="0"/>
                </a:moveTo>
                <a:lnTo>
                  <a:pt x="1278078" y="123825"/>
                </a:lnTo>
                <a:lnTo>
                  <a:pt x="1360628" y="82550"/>
                </a:lnTo>
                <a:lnTo>
                  <a:pt x="1298715" y="82550"/>
                </a:lnTo>
                <a:lnTo>
                  <a:pt x="1306749" y="80928"/>
                </a:lnTo>
                <a:lnTo>
                  <a:pt x="1313309" y="76505"/>
                </a:lnTo>
                <a:lnTo>
                  <a:pt x="1317731" y="69945"/>
                </a:lnTo>
                <a:lnTo>
                  <a:pt x="1319353" y="61911"/>
                </a:lnTo>
                <a:lnTo>
                  <a:pt x="1317731" y="53879"/>
                </a:lnTo>
                <a:lnTo>
                  <a:pt x="1313308" y="47319"/>
                </a:lnTo>
                <a:lnTo>
                  <a:pt x="1306748" y="42896"/>
                </a:lnTo>
                <a:lnTo>
                  <a:pt x="1298715" y="41275"/>
                </a:lnTo>
                <a:lnTo>
                  <a:pt x="1360628" y="41275"/>
                </a:lnTo>
                <a:lnTo>
                  <a:pt x="1278078" y="0"/>
                </a:lnTo>
                <a:close/>
              </a:path>
              <a:path w="1402079" h="123825">
                <a:moveTo>
                  <a:pt x="123825" y="41275"/>
                </a:moveTo>
                <a:lnTo>
                  <a:pt x="103187" y="41275"/>
                </a:lnTo>
                <a:lnTo>
                  <a:pt x="95153" y="42896"/>
                </a:lnTo>
                <a:lnTo>
                  <a:pt x="88594" y="47319"/>
                </a:lnTo>
                <a:lnTo>
                  <a:pt x="84171" y="53879"/>
                </a:lnTo>
                <a:lnTo>
                  <a:pt x="82550" y="61912"/>
                </a:lnTo>
                <a:lnTo>
                  <a:pt x="84172" y="69945"/>
                </a:lnTo>
                <a:lnTo>
                  <a:pt x="88595" y="76505"/>
                </a:lnTo>
                <a:lnTo>
                  <a:pt x="95155" y="80928"/>
                </a:lnTo>
                <a:lnTo>
                  <a:pt x="103187" y="82550"/>
                </a:lnTo>
                <a:lnTo>
                  <a:pt x="123825" y="82550"/>
                </a:lnTo>
                <a:lnTo>
                  <a:pt x="123825" y="41275"/>
                </a:lnTo>
                <a:close/>
              </a:path>
              <a:path w="1402079" h="123825">
                <a:moveTo>
                  <a:pt x="1278078" y="41275"/>
                </a:moveTo>
                <a:lnTo>
                  <a:pt x="123825" y="41275"/>
                </a:lnTo>
                <a:lnTo>
                  <a:pt x="123825" y="82550"/>
                </a:lnTo>
                <a:lnTo>
                  <a:pt x="1278078" y="82550"/>
                </a:lnTo>
                <a:lnTo>
                  <a:pt x="1278078" y="41275"/>
                </a:lnTo>
                <a:close/>
              </a:path>
              <a:path w="1402079" h="123825">
                <a:moveTo>
                  <a:pt x="1360628" y="41275"/>
                </a:moveTo>
                <a:lnTo>
                  <a:pt x="1298715" y="41275"/>
                </a:lnTo>
                <a:lnTo>
                  <a:pt x="1306749" y="42896"/>
                </a:lnTo>
                <a:lnTo>
                  <a:pt x="1313309" y="47319"/>
                </a:lnTo>
                <a:lnTo>
                  <a:pt x="1317731" y="53879"/>
                </a:lnTo>
                <a:lnTo>
                  <a:pt x="1319353" y="61912"/>
                </a:lnTo>
                <a:lnTo>
                  <a:pt x="1317731" y="69945"/>
                </a:lnTo>
                <a:lnTo>
                  <a:pt x="1313309" y="76505"/>
                </a:lnTo>
                <a:lnTo>
                  <a:pt x="1306749" y="80928"/>
                </a:lnTo>
                <a:lnTo>
                  <a:pt x="1298715" y="82550"/>
                </a:lnTo>
                <a:lnTo>
                  <a:pt x="1360628" y="82550"/>
                </a:lnTo>
                <a:lnTo>
                  <a:pt x="1401903" y="61912"/>
                </a:lnTo>
                <a:lnTo>
                  <a:pt x="1360628" y="412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5989409" y="4259579"/>
            <a:ext cx="138557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Arial"/>
                <a:cs typeface="Arial"/>
              </a:rPr>
              <a:t>Not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isomorphic!</a:t>
            </a:r>
            <a:endParaRPr sz="1400">
              <a:latin typeface="Arial"/>
              <a:cs typeface="Arial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569061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03389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280">
                <a:latin typeface="Cambria Math"/>
                <a:cs typeface="Cambria Math"/>
              </a:rPr>
              <a:t>𝐺</a:t>
            </a:r>
            <a:r>
              <a:rPr dirty="0" baseline="-15700" sz="3450" spc="419">
                <a:latin typeface="Cambria Math"/>
                <a:cs typeface="Cambria Math"/>
              </a:rPr>
              <a:t>! </a:t>
            </a:r>
            <a:r>
              <a:rPr dirty="0" sz="3200"/>
              <a:t>is </a:t>
            </a:r>
            <a:r>
              <a:rPr dirty="0" sz="3200" spc="-10" b="1">
                <a:solidFill>
                  <a:srgbClr val="0070C0"/>
                </a:solidFill>
                <a:latin typeface="Calibri"/>
                <a:cs typeface="Calibri"/>
              </a:rPr>
              <a:t>subgraph-isomorphic </a:t>
            </a:r>
            <a:r>
              <a:rPr dirty="0" sz="3200" spc="-15"/>
              <a:t>to </a:t>
            </a:r>
            <a:r>
              <a:rPr dirty="0" sz="3200" spc="125">
                <a:latin typeface="Cambria Math"/>
                <a:cs typeface="Cambria Math"/>
              </a:rPr>
              <a:t>𝐺</a:t>
            </a:r>
            <a:r>
              <a:rPr dirty="0" baseline="-15700" sz="3450" spc="187">
                <a:latin typeface="Cambria Math"/>
                <a:cs typeface="Cambria Math"/>
              </a:rPr>
              <a:t>" </a:t>
            </a:r>
            <a:r>
              <a:rPr dirty="0" sz="3200"/>
              <a:t>if </a:t>
            </a:r>
            <a:r>
              <a:rPr dirty="0" sz="3200" spc="-5"/>
              <a:t>some  </a:t>
            </a:r>
            <a:r>
              <a:rPr dirty="0" sz="3200" spc="-10"/>
              <a:t>subgraph </a:t>
            </a:r>
            <a:r>
              <a:rPr dirty="0" sz="3200"/>
              <a:t>of </a:t>
            </a:r>
            <a:r>
              <a:rPr dirty="0" sz="3200" spc="280">
                <a:latin typeface="Cambria Math"/>
                <a:cs typeface="Cambria Math"/>
              </a:rPr>
              <a:t>𝐺</a:t>
            </a:r>
            <a:r>
              <a:rPr dirty="0" baseline="-15700" sz="3450" spc="419">
                <a:latin typeface="Cambria Math"/>
                <a:cs typeface="Cambria Math"/>
              </a:rPr>
              <a:t>! </a:t>
            </a:r>
            <a:r>
              <a:rPr dirty="0" sz="3200"/>
              <a:t>is </a:t>
            </a:r>
            <a:r>
              <a:rPr dirty="0" sz="3200" spc="-5"/>
              <a:t>isomorphic </a:t>
            </a:r>
            <a:r>
              <a:rPr dirty="0" sz="3200" spc="-15"/>
              <a:t>to</a:t>
            </a:r>
            <a:r>
              <a:rPr dirty="0" sz="3200" spc="-180"/>
              <a:t> </a:t>
            </a:r>
            <a:r>
              <a:rPr dirty="0" sz="3200" spc="125">
                <a:latin typeface="Cambria Math"/>
                <a:cs typeface="Cambria Math"/>
              </a:rPr>
              <a:t>𝐺</a:t>
            </a:r>
            <a:r>
              <a:rPr dirty="0" baseline="-15700" sz="3450" spc="187">
                <a:latin typeface="Cambria Math"/>
                <a:cs typeface="Cambria Math"/>
              </a:rPr>
              <a:t>"</a:t>
            </a:r>
            <a:endParaRPr baseline="-15700" sz="345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2322067"/>
            <a:ext cx="6889750" cy="1717039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2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45">
                <a:latin typeface="Calibri"/>
                <a:cs typeface="Calibri"/>
              </a:rPr>
              <a:t>We </a:t>
            </a:r>
            <a:r>
              <a:rPr dirty="0" sz="2400" spc="-5">
                <a:latin typeface="Calibri"/>
                <a:cs typeface="Calibri"/>
              </a:rPr>
              <a:t>also </a:t>
            </a:r>
            <a:r>
              <a:rPr dirty="0" sz="2400" spc="-10">
                <a:latin typeface="Calibri"/>
                <a:cs typeface="Calibri"/>
              </a:rPr>
              <a:t>commonly </a:t>
            </a:r>
            <a:r>
              <a:rPr dirty="0" sz="2400" spc="-20">
                <a:latin typeface="Calibri"/>
                <a:cs typeface="Calibri"/>
              </a:rPr>
              <a:t>say </a:t>
            </a:r>
            <a:r>
              <a:rPr dirty="0" sz="2400" spc="190">
                <a:latin typeface="Cambria Math"/>
                <a:cs typeface="Cambria Math"/>
              </a:rPr>
              <a:t>𝐺</a:t>
            </a:r>
            <a:r>
              <a:rPr dirty="0" baseline="-15432" sz="2700" spc="284">
                <a:latin typeface="Cambria Math"/>
                <a:cs typeface="Cambria Math"/>
              </a:rPr>
              <a:t>! </a:t>
            </a:r>
            <a:r>
              <a:rPr dirty="0" sz="2400" spc="-5">
                <a:latin typeface="Calibri"/>
                <a:cs typeface="Calibri"/>
              </a:rPr>
              <a:t>is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10">
                <a:latin typeface="Calibri"/>
                <a:cs typeface="Calibri"/>
              </a:rPr>
              <a:t>subgraph </a:t>
            </a:r>
            <a:r>
              <a:rPr dirty="0" sz="2400" spc="-5">
                <a:latin typeface="Calibri"/>
                <a:cs typeface="Calibri"/>
              </a:rPr>
              <a:t>of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125">
                <a:latin typeface="Cambria Math"/>
                <a:cs typeface="Cambria Math"/>
              </a:rPr>
              <a:t>𝐺</a:t>
            </a:r>
            <a:r>
              <a:rPr dirty="0" baseline="-15432" sz="2700" spc="187">
                <a:latin typeface="Cambria Math"/>
                <a:cs typeface="Cambria Math"/>
              </a:rPr>
              <a:t>"</a:t>
            </a:r>
            <a:endParaRPr baseline="-15432" sz="2700">
              <a:latin typeface="Cambria Math"/>
              <a:cs typeface="Cambria Math"/>
            </a:endParaRPr>
          </a:p>
          <a:p>
            <a:pPr marL="287020" marR="5080" indent="-274320">
              <a:lnSpc>
                <a:spcPts val="2810"/>
              </a:lnSpc>
              <a:spcBef>
                <a:spcPts val="7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45">
                <a:latin typeface="Calibri"/>
                <a:cs typeface="Calibri"/>
              </a:rPr>
              <a:t>We </a:t>
            </a:r>
            <a:r>
              <a:rPr dirty="0" sz="2400" spc="-10">
                <a:latin typeface="Calibri"/>
                <a:cs typeface="Calibri"/>
              </a:rPr>
              <a:t>can </a:t>
            </a:r>
            <a:r>
              <a:rPr dirty="0" sz="2400" spc="-5">
                <a:latin typeface="Calibri"/>
                <a:cs typeface="Calibri"/>
              </a:rPr>
              <a:t>use either the node-induced or </a:t>
            </a:r>
            <a:r>
              <a:rPr dirty="0" sz="2400" spc="-50">
                <a:latin typeface="Calibri"/>
                <a:cs typeface="Calibri"/>
              </a:rPr>
              <a:t>edge-induced  </a:t>
            </a:r>
            <a:r>
              <a:rPr dirty="0" sz="2400" spc="-5">
                <a:latin typeface="Calibri"/>
                <a:cs typeface="Calibri"/>
              </a:rPr>
              <a:t>definition of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subgraph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5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This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problem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dirty="0" sz="24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NP-hard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4379" y="5798820"/>
            <a:ext cx="537146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latin typeface="Arial"/>
                <a:cs typeface="Arial"/>
              </a:rPr>
              <a:t>A-B-C matches with </a:t>
            </a:r>
            <a:r>
              <a:rPr dirty="0" sz="2000" spc="-35">
                <a:latin typeface="Arial"/>
                <a:cs typeface="Arial"/>
              </a:rPr>
              <a:t>X-Y-Z: </a:t>
            </a:r>
            <a:r>
              <a:rPr dirty="0" sz="2000" spc="-5">
                <a:latin typeface="Arial"/>
                <a:cs typeface="Arial"/>
              </a:rPr>
              <a:t>There </a:t>
            </a:r>
            <a:r>
              <a:rPr dirty="0" sz="2000">
                <a:latin typeface="Arial"/>
                <a:cs typeface="Arial"/>
              </a:rPr>
              <a:t>is a </a:t>
            </a:r>
            <a:r>
              <a:rPr dirty="0" sz="2000" spc="-5">
                <a:latin typeface="Arial"/>
                <a:cs typeface="Arial"/>
              </a:rPr>
              <a:t>subgraph  isomorphism between G1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G2.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48944" y="4396609"/>
            <a:ext cx="466725" cy="0"/>
          </a:xfrm>
          <a:custGeom>
            <a:avLst/>
            <a:gdLst/>
            <a:ahLst/>
            <a:cxnLst/>
            <a:rect l="l" t="t" r="r" b="b"/>
            <a:pathLst>
              <a:path w="466725" h="0">
                <a:moveTo>
                  <a:pt x="0" y="0"/>
                </a:moveTo>
                <a:lnTo>
                  <a:pt x="466296" y="1"/>
                </a:lnTo>
              </a:path>
            </a:pathLst>
          </a:custGeom>
          <a:ln w="4445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081802" y="4561812"/>
            <a:ext cx="212090" cy="410209"/>
          </a:xfrm>
          <a:custGeom>
            <a:avLst/>
            <a:gdLst/>
            <a:ahLst/>
            <a:cxnLst/>
            <a:rect l="l" t="t" r="r" b="b"/>
            <a:pathLst>
              <a:path w="212089" h="410210">
                <a:moveTo>
                  <a:pt x="0" y="0"/>
                </a:moveTo>
                <a:lnTo>
                  <a:pt x="211530" y="410181"/>
                </a:lnTo>
              </a:path>
            </a:pathLst>
          </a:custGeom>
          <a:ln w="4445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9707" y="4561811"/>
            <a:ext cx="353060" cy="410209"/>
          </a:xfrm>
          <a:custGeom>
            <a:avLst/>
            <a:gdLst/>
            <a:ahLst/>
            <a:cxnLst/>
            <a:rect l="l" t="t" r="r" b="b"/>
            <a:pathLst>
              <a:path w="353060" h="410210">
                <a:moveTo>
                  <a:pt x="0" y="410181"/>
                </a:moveTo>
                <a:lnTo>
                  <a:pt x="352676" y="0"/>
                </a:lnTo>
              </a:path>
            </a:pathLst>
          </a:custGeom>
          <a:ln w="4445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000570" y="4513424"/>
            <a:ext cx="549275" cy="203200"/>
          </a:xfrm>
          <a:custGeom>
            <a:avLst/>
            <a:gdLst/>
            <a:ahLst/>
            <a:cxnLst/>
            <a:rect l="l" t="t" r="r" b="b"/>
            <a:pathLst>
              <a:path w="549275" h="203200">
                <a:moveTo>
                  <a:pt x="0" y="0"/>
                </a:moveTo>
                <a:lnTo>
                  <a:pt x="549095" y="202613"/>
                </a:lnTo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26373" y="4374532"/>
            <a:ext cx="466725" cy="0"/>
          </a:xfrm>
          <a:custGeom>
            <a:avLst/>
            <a:gdLst/>
            <a:ahLst/>
            <a:cxnLst/>
            <a:rect l="l" t="t" r="r" b="b"/>
            <a:pathLst>
              <a:path w="466725" h="0">
                <a:moveTo>
                  <a:pt x="0" y="0"/>
                </a:moveTo>
                <a:lnTo>
                  <a:pt x="466296" y="1"/>
                </a:lnTo>
              </a:path>
            </a:pathLst>
          </a:custGeom>
          <a:ln w="4445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159232" y="4539735"/>
            <a:ext cx="212090" cy="410209"/>
          </a:xfrm>
          <a:custGeom>
            <a:avLst/>
            <a:gdLst/>
            <a:ahLst/>
            <a:cxnLst/>
            <a:rect l="l" t="t" r="r" b="b"/>
            <a:pathLst>
              <a:path w="212089" h="410210">
                <a:moveTo>
                  <a:pt x="0" y="0"/>
                </a:moveTo>
                <a:lnTo>
                  <a:pt x="211530" y="410181"/>
                </a:lnTo>
              </a:path>
            </a:pathLst>
          </a:custGeom>
          <a:ln w="4445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607137" y="4539735"/>
            <a:ext cx="353060" cy="410209"/>
          </a:xfrm>
          <a:custGeom>
            <a:avLst/>
            <a:gdLst/>
            <a:ahLst/>
            <a:cxnLst/>
            <a:rect l="l" t="t" r="r" b="b"/>
            <a:pathLst>
              <a:path w="353060" h="410210">
                <a:moveTo>
                  <a:pt x="0" y="410181"/>
                </a:moveTo>
                <a:lnTo>
                  <a:pt x="352677" y="0"/>
                </a:lnTo>
              </a:path>
            </a:pathLst>
          </a:custGeom>
          <a:ln w="4445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674039" y="5269484"/>
            <a:ext cx="3409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70">
                <a:latin typeface="Cambria Math"/>
                <a:cs typeface="Cambria Math"/>
              </a:rPr>
              <a:t>𝐺</a:t>
            </a:r>
            <a:r>
              <a:rPr dirty="0" baseline="-15432" sz="2700" spc="487">
                <a:latin typeface="Cambria Math"/>
                <a:cs typeface="Cambria Math"/>
              </a:rPr>
              <a:t>"</a:t>
            </a:r>
            <a:endParaRPr baseline="-15432" sz="2700">
              <a:latin typeface="Cambria Math"/>
              <a:cs typeface="Cambria Math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7170461" y="4046394"/>
          <a:ext cx="940435" cy="1496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518"/>
                <a:gridCol w="463868"/>
              </a:tblGrid>
              <a:tr h="330200"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𝑉</a:t>
                      </a:r>
                      <a:r>
                        <a:rPr dirty="0" baseline="-13888" sz="1800" spc="-7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  <a:endParaRPr baseline="-13888"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215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C64847"/>
                    </a:solidFill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𝑉</a:t>
                      </a:r>
                      <a:r>
                        <a:rPr dirty="0" baseline="-13888" sz="1800" spc="-7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endParaRPr baseline="-13888"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215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C64847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800">
                          <a:latin typeface="Corbel"/>
                          <a:cs typeface="Corbel"/>
                        </a:rPr>
                        <a:t>A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57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CFC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800">
                          <a:latin typeface="Corbel"/>
                          <a:cs typeface="Corbel"/>
                        </a:rPr>
                        <a:t>X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57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CFC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>
                          <a:latin typeface="Corbel"/>
                          <a:cs typeface="Corbel"/>
                        </a:rPr>
                        <a:t>B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>
                          <a:latin typeface="Corbel"/>
                          <a:cs typeface="Corbel"/>
                        </a:rPr>
                        <a:t>Y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E9E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>
                          <a:latin typeface="Corbel"/>
                          <a:cs typeface="Corbel"/>
                        </a:rPr>
                        <a:t>C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15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CFC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>
                          <a:latin typeface="Corbel"/>
                          <a:cs typeface="Corbel"/>
                        </a:rPr>
                        <a:t>Z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15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CFCF"/>
                    </a:solidFill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6877336" y="4650740"/>
            <a:ext cx="2832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75">
                <a:latin typeface="Cambria Math"/>
                <a:cs typeface="Cambria Math"/>
              </a:rPr>
              <a:t>𝑓</a:t>
            </a:r>
            <a:r>
              <a:rPr dirty="0" sz="2400">
                <a:latin typeface="Corbel"/>
                <a:cs typeface="Corbel"/>
              </a:rPr>
              <a:t>: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92089" y="4209329"/>
            <a:ext cx="334645" cy="330835"/>
          </a:xfrm>
          <a:custGeom>
            <a:avLst/>
            <a:gdLst/>
            <a:ahLst/>
            <a:cxnLst/>
            <a:rect l="l" t="t" r="r" b="b"/>
            <a:pathLst>
              <a:path w="334644" h="330835">
                <a:moveTo>
                  <a:pt x="167142" y="0"/>
                </a:moveTo>
                <a:lnTo>
                  <a:pt x="122709" y="5901"/>
                </a:lnTo>
                <a:lnTo>
                  <a:pt x="82782" y="22554"/>
                </a:lnTo>
                <a:lnTo>
                  <a:pt x="48954" y="48386"/>
                </a:lnTo>
                <a:lnTo>
                  <a:pt x="22819" y="81821"/>
                </a:lnTo>
                <a:lnTo>
                  <a:pt x="5970" y="121285"/>
                </a:lnTo>
                <a:lnTo>
                  <a:pt x="0" y="165202"/>
                </a:lnTo>
                <a:lnTo>
                  <a:pt x="5970" y="209120"/>
                </a:lnTo>
                <a:lnTo>
                  <a:pt x="22819" y="248584"/>
                </a:lnTo>
                <a:lnTo>
                  <a:pt x="48954" y="282019"/>
                </a:lnTo>
                <a:lnTo>
                  <a:pt x="82782" y="307850"/>
                </a:lnTo>
                <a:lnTo>
                  <a:pt x="122709" y="324504"/>
                </a:lnTo>
                <a:lnTo>
                  <a:pt x="167142" y="330405"/>
                </a:lnTo>
                <a:lnTo>
                  <a:pt x="211575" y="324504"/>
                </a:lnTo>
                <a:lnTo>
                  <a:pt x="251502" y="307850"/>
                </a:lnTo>
                <a:lnTo>
                  <a:pt x="285330" y="282019"/>
                </a:lnTo>
                <a:lnTo>
                  <a:pt x="311465" y="248584"/>
                </a:lnTo>
                <a:lnTo>
                  <a:pt x="328315" y="209120"/>
                </a:lnTo>
                <a:lnTo>
                  <a:pt x="334285" y="165202"/>
                </a:lnTo>
                <a:lnTo>
                  <a:pt x="328315" y="121285"/>
                </a:lnTo>
                <a:lnTo>
                  <a:pt x="311465" y="81821"/>
                </a:lnTo>
                <a:lnTo>
                  <a:pt x="285330" y="48386"/>
                </a:lnTo>
                <a:lnTo>
                  <a:pt x="251502" y="22554"/>
                </a:lnTo>
                <a:lnTo>
                  <a:pt x="211575" y="5901"/>
                </a:lnTo>
                <a:lnTo>
                  <a:pt x="16714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992089" y="4209329"/>
            <a:ext cx="334645" cy="330835"/>
          </a:xfrm>
          <a:custGeom>
            <a:avLst/>
            <a:gdLst/>
            <a:ahLst/>
            <a:cxnLst/>
            <a:rect l="l" t="t" r="r" b="b"/>
            <a:pathLst>
              <a:path w="334644" h="330835">
                <a:moveTo>
                  <a:pt x="0" y="165203"/>
                </a:moveTo>
                <a:lnTo>
                  <a:pt x="5970" y="121285"/>
                </a:lnTo>
                <a:lnTo>
                  <a:pt x="22819" y="81821"/>
                </a:lnTo>
                <a:lnTo>
                  <a:pt x="48954" y="48386"/>
                </a:lnTo>
                <a:lnTo>
                  <a:pt x="82782" y="22555"/>
                </a:lnTo>
                <a:lnTo>
                  <a:pt x="122709" y="5901"/>
                </a:lnTo>
                <a:lnTo>
                  <a:pt x="167142" y="0"/>
                </a:lnTo>
                <a:lnTo>
                  <a:pt x="211575" y="5901"/>
                </a:lnTo>
                <a:lnTo>
                  <a:pt x="251502" y="22555"/>
                </a:lnTo>
                <a:lnTo>
                  <a:pt x="285330" y="48386"/>
                </a:lnTo>
                <a:lnTo>
                  <a:pt x="311465" y="81821"/>
                </a:lnTo>
                <a:lnTo>
                  <a:pt x="328314" y="121285"/>
                </a:lnTo>
                <a:lnTo>
                  <a:pt x="334285" y="165203"/>
                </a:lnTo>
                <a:lnTo>
                  <a:pt x="328314" y="209120"/>
                </a:lnTo>
                <a:lnTo>
                  <a:pt x="311465" y="248584"/>
                </a:lnTo>
                <a:lnTo>
                  <a:pt x="285330" y="282019"/>
                </a:lnTo>
                <a:lnTo>
                  <a:pt x="251502" y="307850"/>
                </a:lnTo>
                <a:lnTo>
                  <a:pt x="211575" y="324504"/>
                </a:lnTo>
                <a:lnTo>
                  <a:pt x="167142" y="330406"/>
                </a:lnTo>
                <a:lnTo>
                  <a:pt x="122709" y="324504"/>
                </a:lnTo>
                <a:lnTo>
                  <a:pt x="82782" y="307850"/>
                </a:lnTo>
                <a:lnTo>
                  <a:pt x="48954" y="282019"/>
                </a:lnTo>
                <a:lnTo>
                  <a:pt x="22819" y="248584"/>
                </a:lnTo>
                <a:lnTo>
                  <a:pt x="5970" y="209120"/>
                </a:lnTo>
                <a:lnTo>
                  <a:pt x="0" y="16520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792670" y="4209329"/>
            <a:ext cx="334645" cy="330835"/>
          </a:xfrm>
          <a:custGeom>
            <a:avLst/>
            <a:gdLst/>
            <a:ahLst/>
            <a:cxnLst/>
            <a:rect l="l" t="t" r="r" b="b"/>
            <a:pathLst>
              <a:path w="334644" h="330835">
                <a:moveTo>
                  <a:pt x="167142" y="0"/>
                </a:moveTo>
                <a:lnTo>
                  <a:pt x="122709" y="5901"/>
                </a:lnTo>
                <a:lnTo>
                  <a:pt x="82782" y="22554"/>
                </a:lnTo>
                <a:lnTo>
                  <a:pt x="48954" y="48386"/>
                </a:lnTo>
                <a:lnTo>
                  <a:pt x="22819" y="81821"/>
                </a:lnTo>
                <a:lnTo>
                  <a:pt x="5970" y="121285"/>
                </a:lnTo>
                <a:lnTo>
                  <a:pt x="0" y="165202"/>
                </a:lnTo>
                <a:lnTo>
                  <a:pt x="5970" y="209120"/>
                </a:lnTo>
                <a:lnTo>
                  <a:pt x="22819" y="248584"/>
                </a:lnTo>
                <a:lnTo>
                  <a:pt x="48954" y="282019"/>
                </a:lnTo>
                <a:lnTo>
                  <a:pt x="82782" y="307850"/>
                </a:lnTo>
                <a:lnTo>
                  <a:pt x="122709" y="324504"/>
                </a:lnTo>
                <a:lnTo>
                  <a:pt x="167142" y="330405"/>
                </a:lnTo>
                <a:lnTo>
                  <a:pt x="211575" y="324504"/>
                </a:lnTo>
                <a:lnTo>
                  <a:pt x="251501" y="307850"/>
                </a:lnTo>
                <a:lnTo>
                  <a:pt x="285329" y="282019"/>
                </a:lnTo>
                <a:lnTo>
                  <a:pt x="311464" y="248584"/>
                </a:lnTo>
                <a:lnTo>
                  <a:pt x="328313" y="209120"/>
                </a:lnTo>
                <a:lnTo>
                  <a:pt x="334284" y="165202"/>
                </a:lnTo>
                <a:lnTo>
                  <a:pt x="328313" y="121285"/>
                </a:lnTo>
                <a:lnTo>
                  <a:pt x="311464" y="81821"/>
                </a:lnTo>
                <a:lnTo>
                  <a:pt x="285329" y="48386"/>
                </a:lnTo>
                <a:lnTo>
                  <a:pt x="251501" y="22554"/>
                </a:lnTo>
                <a:lnTo>
                  <a:pt x="211575" y="5901"/>
                </a:lnTo>
                <a:lnTo>
                  <a:pt x="16714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792670" y="4209329"/>
            <a:ext cx="334645" cy="330835"/>
          </a:xfrm>
          <a:custGeom>
            <a:avLst/>
            <a:gdLst/>
            <a:ahLst/>
            <a:cxnLst/>
            <a:rect l="l" t="t" r="r" b="b"/>
            <a:pathLst>
              <a:path w="334644" h="330835">
                <a:moveTo>
                  <a:pt x="0" y="165203"/>
                </a:moveTo>
                <a:lnTo>
                  <a:pt x="5970" y="121285"/>
                </a:lnTo>
                <a:lnTo>
                  <a:pt x="22819" y="81821"/>
                </a:lnTo>
                <a:lnTo>
                  <a:pt x="48954" y="48386"/>
                </a:lnTo>
                <a:lnTo>
                  <a:pt x="82782" y="22555"/>
                </a:lnTo>
                <a:lnTo>
                  <a:pt x="122709" y="5901"/>
                </a:lnTo>
                <a:lnTo>
                  <a:pt x="167142" y="0"/>
                </a:lnTo>
                <a:lnTo>
                  <a:pt x="211575" y="5901"/>
                </a:lnTo>
                <a:lnTo>
                  <a:pt x="251502" y="22555"/>
                </a:lnTo>
                <a:lnTo>
                  <a:pt x="285330" y="48386"/>
                </a:lnTo>
                <a:lnTo>
                  <a:pt x="311465" y="81821"/>
                </a:lnTo>
                <a:lnTo>
                  <a:pt x="328314" y="121285"/>
                </a:lnTo>
                <a:lnTo>
                  <a:pt x="334285" y="165203"/>
                </a:lnTo>
                <a:lnTo>
                  <a:pt x="328314" y="209120"/>
                </a:lnTo>
                <a:lnTo>
                  <a:pt x="311465" y="248584"/>
                </a:lnTo>
                <a:lnTo>
                  <a:pt x="285330" y="282019"/>
                </a:lnTo>
                <a:lnTo>
                  <a:pt x="251502" y="307850"/>
                </a:lnTo>
                <a:lnTo>
                  <a:pt x="211575" y="324504"/>
                </a:lnTo>
                <a:lnTo>
                  <a:pt x="167142" y="330406"/>
                </a:lnTo>
                <a:lnTo>
                  <a:pt x="122709" y="324504"/>
                </a:lnTo>
                <a:lnTo>
                  <a:pt x="82782" y="307850"/>
                </a:lnTo>
                <a:lnTo>
                  <a:pt x="48954" y="282019"/>
                </a:lnTo>
                <a:lnTo>
                  <a:pt x="22819" y="248584"/>
                </a:lnTo>
                <a:lnTo>
                  <a:pt x="5970" y="209120"/>
                </a:lnTo>
                <a:lnTo>
                  <a:pt x="0" y="16520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074299" y="4211828"/>
            <a:ext cx="96646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7880" algn="l"/>
              </a:tabLst>
            </a:pPr>
            <a:r>
              <a:rPr dirty="0" sz="1800">
                <a:latin typeface="Corbel"/>
                <a:cs typeface="Corbel"/>
              </a:rPr>
              <a:t>A	B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321806" y="4901529"/>
            <a:ext cx="334645" cy="330835"/>
          </a:xfrm>
          <a:custGeom>
            <a:avLst/>
            <a:gdLst/>
            <a:ahLst/>
            <a:cxnLst/>
            <a:rect l="l" t="t" r="r" b="b"/>
            <a:pathLst>
              <a:path w="334644" h="330835">
                <a:moveTo>
                  <a:pt x="167143" y="0"/>
                </a:moveTo>
                <a:lnTo>
                  <a:pt x="122709" y="5901"/>
                </a:lnTo>
                <a:lnTo>
                  <a:pt x="82782" y="22555"/>
                </a:lnTo>
                <a:lnTo>
                  <a:pt x="48955" y="48387"/>
                </a:lnTo>
                <a:lnTo>
                  <a:pt x="22819" y="81822"/>
                </a:lnTo>
                <a:lnTo>
                  <a:pt x="5970" y="121285"/>
                </a:lnTo>
                <a:lnTo>
                  <a:pt x="0" y="165202"/>
                </a:lnTo>
                <a:lnTo>
                  <a:pt x="5970" y="209120"/>
                </a:lnTo>
                <a:lnTo>
                  <a:pt x="22819" y="248584"/>
                </a:lnTo>
                <a:lnTo>
                  <a:pt x="48955" y="282019"/>
                </a:lnTo>
                <a:lnTo>
                  <a:pt x="82782" y="307851"/>
                </a:lnTo>
                <a:lnTo>
                  <a:pt x="122709" y="324505"/>
                </a:lnTo>
                <a:lnTo>
                  <a:pt x="167143" y="330407"/>
                </a:lnTo>
                <a:lnTo>
                  <a:pt x="211576" y="324505"/>
                </a:lnTo>
                <a:lnTo>
                  <a:pt x="251503" y="307851"/>
                </a:lnTo>
                <a:lnTo>
                  <a:pt x="285330" y="282019"/>
                </a:lnTo>
                <a:lnTo>
                  <a:pt x="311465" y="248584"/>
                </a:lnTo>
                <a:lnTo>
                  <a:pt x="328315" y="209120"/>
                </a:lnTo>
                <a:lnTo>
                  <a:pt x="334285" y="165202"/>
                </a:lnTo>
                <a:lnTo>
                  <a:pt x="328315" y="121285"/>
                </a:lnTo>
                <a:lnTo>
                  <a:pt x="311465" y="81822"/>
                </a:lnTo>
                <a:lnTo>
                  <a:pt x="285330" y="48387"/>
                </a:lnTo>
                <a:lnTo>
                  <a:pt x="251503" y="22555"/>
                </a:lnTo>
                <a:lnTo>
                  <a:pt x="211576" y="5901"/>
                </a:lnTo>
                <a:lnTo>
                  <a:pt x="16714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321806" y="4901529"/>
            <a:ext cx="334645" cy="330835"/>
          </a:xfrm>
          <a:custGeom>
            <a:avLst/>
            <a:gdLst/>
            <a:ahLst/>
            <a:cxnLst/>
            <a:rect l="l" t="t" r="r" b="b"/>
            <a:pathLst>
              <a:path w="334644" h="330835">
                <a:moveTo>
                  <a:pt x="0" y="165203"/>
                </a:moveTo>
                <a:lnTo>
                  <a:pt x="5970" y="121285"/>
                </a:lnTo>
                <a:lnTo>
                  <a:pt x="22819" y="81821"/>
                </a:lnTo>
                <a:lnTo>
                  <a:pt x="48954" y="48386"/>
                </a:lnTo>
                <a:lnTo>
                  <a:pt x="82782" y="22555"/>
                </a:lnTo>
                <a:lnTo>
                  <a:pt x="122709" y="5901"/>
                </a:lnTo>
                <a:lnTo>
                  <a:pt x="167142" y="0"/>
                </a:lnTo>
                <a:lnTo>
                  <a:pt x="211575" y="5901"/>
                </a:lnTo>
                <a:lnTo>
                  <a:pt x="251502" y="22555"/>
                </a:lnTo>
                <a:lnTo>
                  <a:pt x="285330" y="48386"/>
                </a:lnTo>
                <a:lnTo>
                  <a:pt x="311465" y="81821"/>
                </a:lnTo>
                <a:lnTo>
                  <a:pt x="328314" y="121285"/>
                </a:lnTo>
                <a:lnTo>
                  <a:pt x="334285" y="165203"/>
                </a:lnTo>
                <a:lnTo>
                  <a:pt x="328314" y="209120"/>
                </a:lnTo>
                <a:lnTo>
                  <a:pt x="311465" y="248584"/>
                </a:lnTo>
                <a:lnTo>
                  <a:pt x="285330" y="282019"/>
                </a:lnTo>
                <a:lnTo>
                  <a:pt x="251502" y="307850"/>
                </a:lnTo>
                <a:lnTo>
                  <a:pt x="211575" y="324504"/>
                </a:lnTo>
                <a:lnTo>
                  <a:pt x="167142" y="330406"/>
                </a:lnTo>
                <a:lnTo>
                  <a:pt x="122709" y="324504"/>
                </a:lnTo>
                <a:lnTo>
                  <a:pt x="82782" y="307850"/>
                </a:lnTo>
                <a:lnTo>
                  <a:pt x="48954" y="282019"/>
                </a:lnTo>
                <a:lnTo>
                  <a:pt x="22819" y="248584"/>
                </a:lnTo>
                <a:lnTo>
                  <a:pt x="5970" y="209120"/>
                </a:lnTo>
                <a:lnTo>
                  <a:pt x="0" y="16520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368690" y="4846573"/>
            <a:ext cx="334010" cy="79883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550"/>
              </a:spcBef>
            </a:pPr>
            <a:r>
              <a:rPr dirty="0" sz="1800">
                <a:latin typeface="Corbel"/>
                <a:cs typeface="Corbel"/>
              </a:rPr>
              <a:t>C</a:t>
            </a:r>
            <a:endParaRPr sz="18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400" spc="-130">
                <a:latin typeface="Cambria Math"/>
                <a:cs typeface="Cambria Math"/>
              </a:rPr>
              <a:t>𝐺</a:t>
            </a:r>
            <a:r>
              <a:rPr dirty="0" baseline="-15432" sz="2700" spc="787">
                <a:latin typeface="Cambria Math"/>
                <a:cs typeface="Cambria Math"/>
              </a:rPr>
              <a:t>!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914659" y="4231406"/>
            <a:ext cx="334645" cy="330835"/>
          </a:xfrm>
          <a:custGeom>
            <a:avLst/>
            <a:gdLst/>
            <a:ahLst/>
            <a:cxnLst/>
            <a:rect l="l" t="t" r="r" b="b"/>
            <a:pathLst>
              <a:path w="334645" h="330835">
                <a:moveTo>
                  <a:pt x="167143" y="0"/>
                </a:moveTo>
                <a:lnTo>
                  <a:pt x="122709" y="5901"/>
                </a:lnTo>
                <a:lnTo>
                  <a:pt x="82782" y="22554"/>
                </a:lnTo>
                <a:lnTo>
                  <a:pt x="48955" y="48386"/>
                </a:lnTo>
                <a:lnTo>
                  <a:pt x="22819" y="81821"/>
                </a:lnTo>
                <a:lnTo>
                  <a:pt x="5970" y="121285"/>
                </a:lnTo>
                <a:lnTo>
                  <a:pt x="0" y="165202"/>
                </a:lnTo>
                <a:lnTo>
                  <a:pt x="5970" y="209120"/>
                </a:lnTo>
                <a:lnTo>
                  <a:pt x="22819" y="248584"/>
                </a:lnTo>
                <a:lnTo>
                  <a:pt x="48955" y="282019"/>
                </a:lnTo>
                <a:lnTo>
                  <a:pt x="82782" y="307850"/>
                </a:lnTo>
                <a:lnTo>
                  <a:pt x="122709" y="324504"/>
                </a:lnTo>
                <a:lnTo>
                  <a:pt x="167143" y="330405"/>
                </a:lnTo>
                <a:lnTo>
                  <a:pt x="211576" y="324504"/>
                </a:lnTo>
                <a:lnTo>
                  <a:pt x="251503" y="307850"/>
                </a:lnTo>
                <a:lnTo>
                  <a:pt x="285330" y="282019"/>
                </a:lnTo>
                <a:lnTo>
                  <a:pt x="311465" y="248584"/>
                </a:lnTo>
                <a:lnTo>
                  <a:pt x="328315" y="209120"/>
                </a:lnTo>
                <a:lnTo>
                  <a:pt x="334285" y="165202"/>
                </a:lnTo>
                <a:lnTo>
                  <a:pt x="328315" y="121285"/>
                </a:lnTo>
                <a:lnTo>
                  <a:pt x="311465" y="81821"/>
                </a:lnTo>
                <a:lnTo>
                  <a:pt x="285330" y="48386"/>
                </a:lnTo>
                <a:lnTo>
                  <a:pt x="251503" y="22554"/>
                </a:lnTo>
                <a:lnTo>
                  <a:pt x="211576" y="5901"/>
                </a:lnTo>
                <a:lnTo>
                  <a:pt x="167143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914659" y="4231406"/>
            <a:ext cx="334645" cy="330835"/>
          </a:xfrm>
          <a:custGeom>
            <a:avLst/>
            <a:gdLst/>
            <a:ahLst/>
            <a:cxnLst/>
            <a:rect l="l" t="t" r="r" b="b"/>
            <a:pathLst>
              <a:path w="334645" h="330835">
                <a:moveTo>
                  <a:pt x="0" y="165203"/>
                </a:moveTo>
                <a:lnTo>
                  <a:pt x="5970" y="121285"/>
                </a:lnTo>
                <a:lnTo>
                  <a:pt x="22819" y="81821"/>
                </a:lnTo>
                <a:lnTo>
                  <a:pt x="48954" y="48386"/>
                </a:lnTo>
                <a:lnTo>
                  <a:pt x="82782" y="22555"/>
                </a:lnTo>
                <a:lnTo>
                  <a:pt x="122709" y="5901"/>
                </a:lnTo>
                <a:lnTo>
                  <a:pt x="167142" y="0"/>
                </a:lnTo>
                <a:lnTo>
                  <a:pt x="211575" y="5901"/>
                </a:lnTo>
                <a:lnTo>
                  <a:pt x="251502" y="22555"/>
                </a:lnTo>
                <a:lnTo>
                  <a:pt x="285330" y="48386"/>
                </a:lnTo>
                <a:lnTo>
                  <a:pt x="311465" y="81821"/>
                </a:lnTo>
                <a:lnTo>
                  <a:pt x="328314" y="121285"/>
                </a:lnTo>
                <a:lnTo>
                  <a:pt x="334285" y="165203"/>
                </a:lnTo>
                <a:lnTo>
                  <a:pt x="328314" y="209120"/>
                </a:lnTo>
                <a:lnTo>
                  <a:pt x="311465" y="248584"/>
                </a:lnTo>
                <a:lnTo>
                  <a:pt x="285330" y="282019"/>
                </a:lnTo>
                <a:lnTo>
                  <a:pt x="251502" y="307850"/>
                </a:lnTo>
                <a:lnTo>
                  <a:pt x="211575" y="324504"/>
                </a:lnTo>
                <a:lnTo>
                  <a:pt x="167142" y="330406"/>
                </a:lnTo>
                <a:lnTo>
                  <a:pt x="122709" y="324504"/>
                </a:lnTo>
                <a:lnTo>
                  <a:pt x="82782" y="307850"/>
                </a:lnTo>
                <a:lnTo>
                  <a:pt x="48954" y="282019"/>
                </a:lnTo>
                <a:lnTo>
                  <a:pt x="22819" y="248584"/>
                </a:lnTo>
                <a:lnTo>
                  <a:pt x="5970" y="209120"/>
                </a:lnTo>
                <a:lnTo>
                  <a:pt x="0" y="16520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002427" y="4233164"/>
            <a:ext cx="1593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X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715240" y="4231406"/>
            <a:ext cx="334645" cy="330835"/>
          </a:xfrm>
          <a:custGeom>
            <a:avLst/>
            <a:gdLst/>
            <a:ahLst/>
            <a:cxnLst/>
            <a:rect l="l" t="t" r="r" b="b"/>
            <a:pathLst>
              <a:path w="334645" h="330835">
                <a:moveTo>
                  <a:pt x="167142" y="0"/>
                </a:moveTo>
                <a:lnTo>
                  <a:pt x="122709" y="5901"/>
                </a:lnTo>
                <a:lnTo>
                  <a:pt x="82782" y="22554"/>
                </a:lnTo>
                <a:lnTo>
                  <a:pt x="48954" y="48386"/>
                </a:lnTo>
                <a:lnTo>
                  <a:pt x="22819" y="81821"/>
                </a:lnTo>
                <a:lnTo>
                  <a:pt x="5970" y="121285"/>
                </a:lnTo>
                <a:lnTo>
                  <a:pt x="0" y="165202"/>
                </a:lnTo>
                <a:lnTo>
                  <a:pt x="5970" y="209120"/>
                </a:lnTo>
                <a:lnTo>
                  <a:pt x="22819" y="248584"/>
                </a:lnTo>
                <a:lnTo>
                  <a:pt x="48954" y="282019"/>
                </a:lnTo>
                <a:lnTo>
                  <a:pt x="82782" y="307850"/>
                </a:lnTo>
                <a:lnTo>
                  <a:pt x="122709" y="324504"/>
                </a:lnTo>
                <a:lnTo>
                  <a:pt x="167142" y="330405"/>
                </a:lnTo>
                <a:lnTo>
                  <a:pt x="211575" y="324504"/>
                </a:lnTo>
                <a:lnTo>
                  <a:pt x="251502" y="307850"/>
                </a:lnTo>
                <a:lnTo>
                  <a:pt x="285330" y="282019"/>
                </a:lnTo>
                <a:lnTo>
                  <a:pt x="311465" y="248584"/>
                </a:lnTo>
                <a:lnTo>
                  <a:pt x="328315" y="209120"/>
                </a:lnTo>
                <a:lnTo>
                  <a:pt x="334285" y="165202"/>
                </a:lnTo>
                <a:lnTo>
                  <a:pt x="328315" y="121285"/>
                </a:lnTo>
                <a:lnTo>
                  <a:pt x="311465" y="81821"/>
                </a:lnTo>
                <a:lnTo>
                  <a:pt x="285330" y="48386"/>
                </a:lnTo>
                <a:lnTo>
                  <a:pt x="251502" y="22554"/>
                </a:lnTo>
                <a:lnTo>
                  <a:pt x="211575" y="5901"/>
                </a:lnTo>
                <a:lnTo>
                  <a:pt x="167142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715240" y="4231406"/>
            <a:ext cx="334645" cy="330835"/>
          </a:xfrm>
          <a:custGeom>
            <a:avLst/>
            <a:gdLst/>
            <a:ahLst/>
            <a:cxnLst/>
            <a:rect l="l" t="t" r="r" b="b"/>
            <a:pathLst>
              <a:path w="334645" h="330835">
                <a:moveTo>
                  <a:pt x="0" y="165203"/>
                </a:moveTo>
                <a:lnTo>
                  <a:pt x="5970" y="121285"/>
                </a:lnTo>
                <a:lnTo>
                  <a:pt x="22819" y="81821"/>
                </a:lnTo>
                <a:lnTo>
                  <a:pt x="48954" y="48386"/>
                </a:lnTo>
                <a:lnTo>
                  <a:pt x="82782" y="22555"/>
                </a:lnTo>
                <a:lnTo>
                  <a:pt x="122709" y="5901"/>
                </a:lnTo>
                <a:lnTo>
                  <a:pt x="167142" y="0"/>
                </a:lnTo>
                <a:lnTo>
                  <a:pt x="211575" y="5901"/>
                </a:lnTo>
                <a:lnTo>
                  <a:pt x="251502" y="22555"/>
                </a:lnTo>
                <a:lnTo>
                  <a:pt x="285330" y="48386"/>
                </a:lnTo>
                <a:lnTo>
                  <a:pt x="311465" y="81821"/>
                </a:lnTo>
                <a:lnTo>
                  <a:pt x="328314" y="121285"/>
                </a:lnTo>
                <a:lnTo>
                  <a:pt x="334285" y="165203"/>
                </a:lnTo>
                <a:lnTo>
                  <a:pt x="328314" y="209120"/>
                </a:lnTo>
                <a:lnTo>
                  <a:pt x="311465" y="248584"/>
                </a:lnTo>
                <a:lnTo>
                  <a:pt x="285330" y="282019"/>
                </a:lnTo>
                <a:lnTo>
                  <a:pt x="251502" y="307850"/>
                </a:lnTo>
                <a:lnTo>
                  <a:pt x="211575" y="324504"/>
                </a:lnTo>
                <a:lnTo>
                  <a:pt x="167142" y="330406"/>
                </a:lnTo>
                <a:lnTo>
                  <a:pt x="122709" y="324504"/>
                </a:lnTo>
                <a:lnTo>
                  <a:pt x="82782" y="307850"/>
                </a:lnTo>
                <a:lnTo>
                  <a:pt x="48954" y="282019"/>
                </a:lnTo>
                <a:lnTo>
                  <a:pt x="22819" y="248584"/>
                </a:lnTo>
                <a:lnTo>
                  <a:pt x="5970" y="209120"/>
                </a:lnTo>
                <a:lnTo>
                  <a:pt x="0" y="16520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803007" y="4233164"/>
            <a:ext cx="1593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Z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244378" y="4923605"/>
            <a:ext cx="334645" cy="330835"/>
          </a:xfrm>
          <a:custGeom>
            <a:avLst/>
            <a:gdLst/>
            <a:ahLst/>
            <a:cxnLst/>
            <a:rect l="l" t="t" r="r" b="b"/>
            <a:pathLst>
              <a:path w="334645" h="330835">
                <a:moveTo>
                  <a:pt x="167142" y="0"/>
                </a:moveTo>
                <a:lnTo>
                  <a:pt x="122709" y="5901"/>
                </a:lnTo>
                <a:lnTo>
                  <a:pt x="82782" y="22554"/>
                </a:lnTo>
                <a:lnTo>
                  <a:pt x="48954" y="48386"/>
                </a:lnTo>
                <a:lnTo>
                  <a:pt x="22819" y="81821"/>
                </a:lnTo>
                <a:lnTo>
                  <a:pt x="5970" y="121285"/>
                </a:lnTo>
                <a:lnTo>
                  <a:pt x="0" y="165202"/>
                </a:lnTo>
                <a:lnTo>
                  <a:pt x="5970" y="209120"/>
                </a:lnTo>
                <a:lnTo>
                  <a:pt x="22819" y="248584"/>
                </a:lnTo>
                <a:lnTo>
                  <a:pt x="48954" y="282019"/>
                </a:lnTo>
                <a:lnTo>
                  <a:pt x="82782" y="307850"/>
                </a:lnTo>
                <a:lnTo>
                  <a:pt x="122709" y="324504"/>
                </a:lnTo>
                <a:lnTo>
                  <a:pt x="167142" y="330405"/>
                </a:lnTo>
                <a:lnTo>
                  <a:pt x="211575" y="324504"/>
                </a:lnTo>
                <a:lnTo>
                  <a:pt x="251501" y="307850"/>
                </a:lnTo>
                <a:lnTo>
                  <a:pt x="285329" y="282019"/>
                </a:lnTo>
                <a:lnTo>
                  <a:pt x="311464" y="248584"/>
                </a:lnTo>
                <a:lnTo>
                  <a:pt x="328313" y="209120"/>
                </a:lnTo>
                <a:lnTo>
                  <a:pt x="334284" y="165202"/>
                </a:lnTo>
                <a:lnTo>
                  <a:pt x="328313" y="121285"/>
                </a:lnTo>
                <a:lnTo>
                  <a:pt x="311464" y="81821"/>
                </a:lnTo>
                <a:lnTo>
                  <a:pt x="285329" y="48386"/>
                </a:lnTo>
                <a:lnTo>
                  <a:pt x="251501" y="22554"/>
                </a:lnTo>
                <a:lnTo>
                  <a:pt x="211575" y="5901"/>
                </a:lnTo>
                <a:lnTo>
                  <a:pt x="167142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244378" y="4923605"/>
            <a:ext cx="334645" cy="330835"/>
          </a:xfrm>
          <a:custGeom>
            <a:avLst/>
            <a:gdLst/>
            <a:ahLst/>
            <a:cxnLst/>
            <a:rect l="l" t="t" r="r" b="b"/>
            <a:pathLst>
              <a:path w="334645" h="330835">
                <a:moveTo>
                  <a:pt x="0" y="165203"/>
                </a:moveTo>
                <a:lnTo>
                  <a:pt x="5970" y="121285"/>
                </a:lnTo>
                <a:lnTo>
                  <a:pt x="22819" y="81821"/>
                </a:lnTo>
                <a:lnTo>
                  <a:pt x="48954" y="48386"/>
                </a:lnTo>
                <a:lnTo>
                  <a:pt x="82782" y="22555"/>
                </a:lnTo>
                <a:lnTo>
                  <a:pt x="122709" y="5901"/>
                </a:lnTo>
                <a:lnTo>
                  <a:pt x="167142" y="0"/>
                </a:lnTo>
                <a:lnTo>
                  <a:pt x="211575" y="5901"/>
                </a:lnTo>
                <a:lnTo>
                  <a:pt x="251502" y="22555"/>
                </a:lnTo>
                <a:lnTo>
                  <a:pt x="285330" y="48386"/>
                </a:lnTo>
                <a:lnTo>
                  <a:pt x="311465" y="81821"/>
                </a:lnTo>
                <a:lnTo>
                  <a:pt x="328314" y="121285"/>
                </a:lnTo>
                <a:lnTo>
                  <a:pt x="334285" y="165203"/>
                </a:lnTo>
                <a:lnTo>
                  <a:pt x="328314" y="209120"/>
                </a:lnTo>
                <a:lnTo>
                  <a:pt x="311465" y="248584"/>
                </a:lnTo>
                <a:lnTo>
                  <a:pt x="285330" y="282019"/>
                </a:lnTo>
                <a:lnTo>
                  <a:pt x="251502" y="307850"/>
                </a:lnTo>
                <a:lnTo>
                  <a:pt x="211575" y="324504"/>
                </a:lnTo>
                <a:lnTo>
                  <a:pt x="167142" y="330406"/>
                </a:lnTo>
                <a:lnTo>
                  <a:pt x="122709" y="324504"/>
                </a:lnTo>
                <a:lnTo>
                  <a:pt x="82782" y="307850"/>
                </a:lnTo>
                <a:lnTo>
                  <a:pt x="48954" y="282019"/>
                </a:lnTo>
                <a:lnTo>
                  <a:pt x="22819" y="248584"/>
                </a:lnTo>
                <a:lnTo>
                  <a:pt x="5970" y="209120"/>
                </a:lnTo>
                <a:lnTo>
                  <a:pt x="0" y="16520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330557" y="4925059"/>
            <a:ext cx="161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Y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554911" y="4617007"/>
            <a:ext cx="334645" cy="330835"/>
          </a:xfrm>
          <a:custGeom>
            <a:avLst/>
            <a:gdLst/>
            <a:ahLst/>
            <a:cxnLst/>
            <a:rect l="l" t="t" r="r" b="b"/>
            <a:pathLst>
              <a:path w="334645" h="330835">
                <a:moveTo>
                  <a:pt x="167143" y="0"/>
                </a:moveTo>
                <a:lnTo>
                  <a:pt x="122709" y="5901"/>
                </a:lnTo>
                <a:lnTo>
                  <a:pt x="82782" y="22554"/>
                </a:lnTo>
                <a:lnTo>
                  <a:pt x="48955" y="48386"/>
                </a:lnTo>
                <a:lnTo>
                  <a:pt x="22819" y="81821"/>
                </a:lnTo>
                <a:lnTo>
                  <a:pt x="5970" y="121285"/>
                </a:lnTo>
                <a:lnTo>
                  <a:pt x="0" y="165202"/>
                </a:lnTo>
                <a:lnTo>
                  <a:pt x="5970" y="209120"/>
                </a:lnTo>
                <a:lnTo>
                  <a:pt x="22819" y="248583"/>
                </a:lnTo>
                <a:lnTo>
                  <a:pt x="48955" y="282018"/>
                </a:lnTo>
                <a:lnTo>
                  <a:pt x="82782" y="307850"/>
                </a:lnTo>
                <a:lnTo>
                  <a:pt x="122709" y="324504"/>
                </a:lnTo>
                <a:lnTo>
                  <a:pt x="167143" y="330405"/>
                </a:lnTo>
                <a:lnTo>
                  <a:pt x="211576" y="324504"/>
                </a:lnTo>
                <a:lnTo>
                  <a:pt x="251503" y="307850"/>
                </a:lnTo>
                <a:lnTo>
                  <a:pt x="285330" y="282018"/>
                </a:lnTo>
                <a:lnTo>
                  <a:pt x="311465" y="248583"/>
                </a:lnTo>
                <a:lnTo>
                  <a:pt x="328315" y="209120"/>
                </a:lnTo>
                <a:lnTo>
                  <a:pt x="334285" y="165202"/>
                </a:lnTo>
                <a:lnTo>
                  <a:pt x="328315" y="121285"/>
                </a:lnTo>
                <a:lnTo>
                  <a:pt x="311465" y="81821"/>
                </a:lnTo>
                <a:lnTo>
                  <a:pt x="285330" y="48386"/>
                </a:lnTo>
                <a:lnTo>
                  <a:pt x="251503" y="22554"/>
                </a:lnTo>
                <a:lnTo>
                  <a:pt x="211576" y="5901"/>
                </a:lnTo>
                <a:lnTo>
                  <a:pt x="167143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554911" y="4617007"/>
            <a:ext cx="334645" cy="330835"/>
          </a:xfrm>
          <a:custGeom>
            <a:avLst/>
            <a:gdLst/>
            <a:ahLst/>
            <a:cxnLst/>
            <a:rect l="l" t="t" r="r" b="b"/>
            <a:pathLst>
              <a:path w="334645" h="330835">
                <a:moveTo>
                  <a:pt x="0" y="165203"/>
                </a:moveTo>
                <a:lnTo>
                  <a:pt x="5970" y="121285"/>
                </a:lnTo>
                <a:lnTo>
                  <a:pt x="22819" y="81821"/>
                </a:lnTo>
                <a:lnTo>
                  <a:pt x="48954" y="48386"/>
                </a:lnTo>
                <a:lnTo>
                  <a:pt x="82782" y="22555"/>
                </a:lnTo>
                <a:lnTo>
                  <a:pt x="122709" y="5901"/>
                </a:lnTo>
                <a:lnTo>
                  <a:pt x="167142" y="0"/>
                </a:lnTo>
                <a:lnTo>
                  <a:pt x="211575" y="5901"/>
                </a:lnTo>
                <a:lnTo>
                  <a:pt x="251502" y="22555"/>
                </a:lnTo>
                <a:lnTo>
                  <a:pt x="285330" y="48386"/>
                </a:lnTo>
                <a:lnTo>
                  <a:pt x="311465" y="81821"/>
                </a:lnTo>
                <a:lnTo>
                  <a:pt x="328314" y="121285"/>
                </a:lnTo>
                <a:lnTo>
                  <a:pt x="334285" y="165203"/>
                </a:lnTo>
                <a:lnTo>
                  <a:pt x="328314" y="209120"/>
                </a:lnTo>
                <a:lnTo>
                  <a:pt x="311465" y="248584"/>
                </a:lnTo>
                <a:lnTo>
                  <a:pt x="285330" y="282019"/>
                </a:lnTo>
                <a:lnTo>
                  <a:pt x="251502" y="307850"/>
                </a:lnTo>
                <a:lnTo>
                  <a:pt x="211575" y="324504"/>
                </a:lnTo>
                <a:lnTo>
                  <a:pt x="167142" y="330406"/>
                </a:lnTo>
                <a:lnTo>
                  <a:pt x="122709" y="324504"/>
                </a:lnTo>
                <a:lnTo>
                  <a:pt x="82782" y="307850"/>
                </a:lnTo>
                <a:lnTo>
                  <a:pt x="48954" y="282019"/>
                </a:lnTo>
                <a:lnTo>
                  <a:pt x="22819" y="248584"/>
                </a:lnTo>
                <a:lnTo>
                  <a:pt x="5970" y="209120"/>
                </a:lnTo>
                <a:lnTo>
                  <a:pt x="0" y="16520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608547" y="4620259"/>
            <a:ext cx="22732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W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7513320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pc="-5" b="1">
                <a:solidFill>
                  <a:srgbClr val="0000FF"/>
                </a:solidFill>
                <a:latin typeface="Calibri"/>
                <a:cs typeface="Calibri"/>
              </a:rPr>
              <a:t>All non-isomorphic, </a:t>
            </a:r>
            <a:r>
              <a:rPr dirty="0" spc="-10" b="1">
                <a:solidFill>
                  <a:srgbClr val="0000FF"/>
                </a:solidFill>
                <a:latin typeface="Calibri"/>
                <a:cs typeface="Calibri"/>
              </a:rPr>
              <a:t>connected, </a:t>
            </a: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undirected  </a:t>
            </a:r>
            <a:r>
              <a:rPr dirty="0" spc="-20" b="1">
                <a:solidFill>
                  <a:srgbClr val="0000FF"/>
                </a:solidFill>
                <a:latin typeface="Calibri"/>
                <a:cs typeface="Calibri"/>
              </a:rPr>
              <a:t>graphs </a:t>
            </a:r>
            <a:r>
              <a:rPr dirty="0" b="1">
                <a:solidFill>
                  <a:srgbClr val="0000FF"/>
                </a:solidFill>
                <a:latin typeface="Calibri"/>
                <a:cs typeface="Calibri"/>
              </a:rPr>
              <a:t>of </a:t>
            </a:r>
            <a:r>
              <a:rPr dirty="0" spc="-20" b="1">
                <a:solidFill>
                  <a:srgbClr val="0000FF"/>
                </a:solidFill>
                <a:latin typeface="Calibri"/>
                <a:cs typeface="Calibri"/>
              </a:rPr>
              <a:t>size</a:t>
            </a:r>
            <a:r>
              <a:rPr dirty="0" spc="-5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0000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4" name="object 4"/>
          <p:cNvSpPr/>
          <p:nvPr/>
        </p:nvSpPr>
        <p:spPr>
          <a:xfrm>
            <a:off x="1394546" y="2857500"/>
            <a:ext cx="531495" cy="0"/>
          </a:xfrm>
          <a:custGeom>
            <a:avLst/>
            <a:gdLst/>
            <a:ahLst/>
            <a:cxnLst/>
            <a:rect l="l" t="t" r="r" b="b"/>
            <a:pathLst>
              <a:path w="531494" h="0">
                <a:moveTo>
                  <a:pt x="0" y="0"/>
                </a:moveTo>
                <a:lnTo>
                  <a:pt x="531454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4048" y="3047998"/>
            <a:ext cx="635" cy="381000"/>
          </a:xfrm>
          <a:custGeom>
            <a:avLst/>
            <a:gdLst/>
            <a:ahLst/>
            <a:cxnLst/>
            <a:rect l="l" t="t" r="r" b="b"/>
            <a:pathLst>
              <a:path w="634" h="381000">
                <a:moveTo>
                  <a:pt x="0" y="0"/>
                </a:moveTo>
                <a:lnTo>
                  <a:pt x="614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16498" y="3047998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381000"/>
                </a:moveTo>
                <a:lnTo>
                  <a:pt x="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99697" y="2863007"/>
            <a:ext cx="531495" cy="0"/>
          </a:xfrm>
          <a:custGeom>
            <a:avLst/>
            <a:gdLst/>
            <a:ahLst/>
            <a:cxnLst/>
            <a:rect l="l" t="t" r="r" b="b"/>
            <a:pathLst>
              <a:path w="531495" h="0">
                <a:moveTo>
                  <a:pt x="0" y="0"/>
                </a:moveTo>
                <a:lnTo>
                  <a:pt x="531454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09198" y="3053506"/>
            <a:ext cx="635" cy="381000"/>
          </a:xfrm>
          <a:custGeom>
            <a:avLst/>
            <a:gdLst/>
            <a:ahLst/>
            <a:cxnLst/>
            <a:rect l="l" t="t" r="r" b="b"/>
            <a:pathLst>
              <a:path w="635" h="381000">
                <a:moveTo>
                  <a:pt x="0" y="0"/>
                </a:moveTo>
                <a:lnTo>
                  <a:pt x="614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21649" y="3053506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381000"/>
                </a:moveTo>
                <a:lnTo>
                  <a:pt x="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00310" y="3625006"/>
            <a:ext cx="530860" cy="0"/>
          </a:xfrm>
          <a:custGeom>
            <a:avLst/>
            <a:gdLst/>
            <a:ahLst/>
            <a:cxnLst/>
            <a:rect l="l" t="t" r="r" b="b"/>
            <a:pathLst>
              <a:path w="530860" h="0">
                <a:moveTo>
                  <a:pt x="0" y="0"/>
                </a:moveTo>
                <a:lnTo>
                  <a:pt x="530839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604979" y="2866697"/>
            <a:ext cx="531495" cy="0"/>
          </a:xfrm>
          <a:custGeom>
            <a:avLst/>
            <a:gdLst/>
            <a:ahLst/>
            <a:cxnLst/>
            <a:rect l="l" t="t" r="r" b="b"/>
            <a:pathLst>
              <a:path w="531495" h="0">
                <a:moveTo>
                  <a:pt x="0" y="0"/>
                </a:moveTo>
                <a:lnTo>
                  <a:pt x="531454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14482" y="3057196"/>
            <a:ext cx="635" cy="381000"/>
          </a:xfrm>
          <a:custGeom>
            <a:avLst/>
            <a:gdLst/>
            <a:ahLst/>
            <a:cxnLst/>
            <a:rect l="l" t="t" r="r" b="b"/>
            <a:pathLst>
              <a:path w="635" h="381000">
                <a:moveTo>
                  <a:pt x="0" y="0"/>
                </a:moveTo>
                <a:lnTo>
                  <a:pt x="614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549798" y="3001400"/>
            <a:ext cx="642620" cy="492759"/>
          </a:xfrm>
          <a:custGeom>
            <a:avLst/>
            <a:gdLst/>
            <a:ahLst/>
            <a:cxnLst/>
            <a:rect l="l" t="t" r="r" b="b"/>
            <a:pathLst>
              <a:path w="642620" h="492760">
                <a:moveTo>
                  <a:pt x="0" y="492592"/>
                </a:moveTo>
                <a:lnTo>
                  <a:pt x="64243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605593" y="3628695"/>
            <a:ext cx="530860" cy="0"/>
          </a:xfrm>
          <a:custGeom>
            <a:avLst/>
            <a:gdLst/>
            <a:ahLst/>
            <a:cxnLst/>
            <a:rect l="l" t="t" r="r" b="b"/>
            <a:pathLst>
              <a:path w="530860" h="0">
                <a:moveTo>
                  <a:pt x="0" y="0"/>
                </a:moveTo>
                <a:lnTo>
                  <a:pt x="530839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390402" y="4697714"/>
            <a:ext cx="531495" cy="0"/>
          </a:xfrm>
          <a:custGeom>
            <a:avLst/>
            <a:gdLst/>
            <a:ahLst/>
            <a:cxnLst/>
            <a:rect l="l" t="t" r="r" b="b"/>
            <a:pathLst>
              <a:path w="531494" h="0">
                <a:moveTo>
                  <a:pt x="0" y="0"/>
                </a:moveTo>
                <a:lnTo>
                  <a:pt x="531454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99903" y="4888213"/>
            <a:ext cx="635" cy="381000"/>
          </a:xfrm>
          <a:custGeom>
            <a:avLst/>
            <a:gdLst/>
            <a:ahLst/>
            <a:cxnLst/>
            <a:rect l="l" t="t" r="r" b="b"/>
            <a:pathLst>
              <a:path w="634" h="381000">
                <a:moveTo>
                  <a:pt x="0" y="0"/>
                </a:moveTo>
                <a:lnTo>
                  <a:pt x="614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335219" y="4832417"/>
            <a:ext cx="642620" cy="492759"/>
          </a:xfrm>
          <a:custGeom>
            <a:avLst/>
            <a:gdLst/>
            <a:ahLst/>
            <a:cxnLst/>
            <a:rect l="l" t="t" r="r" b="b"/>
            <a:pathLst>
              <a:path w="642619" h="492760">
                <a:moveTo>
                  <a:pt x="0" y="492592"/>
                </a:moveTo>
                <a:lnTo>
                  <a:pt x="64243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91015" y="5459713"/>
            <a:ext cx="530860" cy="0"/>
          </a:xfrm>
          <a:custGeom>
            <a:avLst/>
            <a:gdLst/>
            <a:ahLst/>
            <a:cxnLst/>
            <a:rect l="l" t="t" r="r" b="b"/>
            <a:pathLst>
              <a:path w="530860" h="0">
                <a:moveTo>
                  <a:pt x="0" y="0"/>
                </a:moveTo>
                <a:lnTo>
                  <a:pt x="530839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112354" y="4888213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1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397545" y="4727452"/>
            <a:ext cx="531495" cy="0"/>
          </a:xfrm>
          <a:custGeom>
            <a:avLst/>
            <a:gdLst/>
            <a:ahLst/>
            <a:cxnLst/>
            <a:rect l="l" t="t" r="r" b="b"/>
            <a:pathLst>
              <a:path w="531495" h="0">
                <a:moveTo>
                  <a:pt x="0" y="0"/>
                </a:moveTo>
                <a:lnTo>
                  <a:pt x="531454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207048" y="4917951"/>
            <a:ext cx="635" cy="381000"/>
          </a:xfrm>
          <a:custGeom>
            <a:avLst/>
            <a:gdLst/>
            <a:ahLst/>
            <a:cxnLst/>
            <a:rect l="l" t="t" r="r" b="b"/>
            <a:pathLst>
              <a:path w="635" h="381000">
                <a:moveTo>
                  <a:pt x="0" y="0"/>
                </a:moveTo>
                <a:lnTo>
                  <a:pt x="614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342364" y="4862155"/>
            <a:ext cx="642620" cy="492759"/>
          </a:xfrm>
          <a:custGeom>
            <a:avLst/>
            <a:gdLst/>
            <a:ahLst/>
            <a:cxnLst/>
            <a:rect l="l" t="t" r="r" b="b"/>
            <a:pathLst>
              <a:path w="642620" h="492760">
                <a:moveTo>
                  <a:pt x="0" y="492592"/>
                </a:moveTo>
                <a:lnTo>
                  <a:pt x="64243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398159" y="5489451"/>
            <a:ext cx="530860" cy="0"/>
          </a:xfrm>
          <a:custGeom>
            <a:avLst/>
            <a:gdLst/>
            <a:ahLst/>
            <a:cxnLst/>
            <a:rect l="l" t="t" r="r" b="b"/>
            <a:pathLst>
              <a:path w="530860" h="0">
                <a:moveTo>
                  <a:pt x="0" y="0"/>
                </a:moveTo>
                <a:lnTo>
                  <a:pt x="530839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119498" y="4917951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1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341750" y="4862155"/>
            <a:ext cx="643255" cy="492759"/>
          </a:xfrm>
          <a:custGeom>
            <a:avLst/>
            <a:gdLst/>
            <a:ahLst/>
            <a:cxnLst/>
            <a:rect l="l" t="t" r="r" b="b"/>
            <a:pathLst>
              <a:path w="643254" h="492760">
                <a:moveTo>
                  <a:pt x="643045" y="492592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013548" y="266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8" y="0"/>
                </a:moveTo>
                <a:lnTo>
                  <a:pt x="146818" y="5031"/>
                </a:lnTo>
                <a:lnTo>
                  <a:pt x="106722" y="19362"/>
                </a:lnTo>
                <a:lnTo>
                  <a:pt x="71351" y="41850"/>
                </a:lnTo>
                <a:lnTo>
                  <a:pt x="41850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500"/>
                </a:lnTo>
                <a:lnTo>
                  <a:pt x="5031" y="234179"/>
                </a:lnTo>
                <a:lnTo>
                  <a:pt x="19362" y="274276"/>
                </a:lnTo>
                <a:lnTo>
                  <a:pt x="41850" y="309647"/>
                </a:lnTo>
                <a:lnTo>
                  <a:pt x="71351" y="339148"/>
                </a:lnTo>
                <a:lnTo>
                  <a:pt x="106722" y="361636"/>
                </a:lnTo>
                <a:lnTo>
                  <a:pt x="146818" y="375967"/>
                </a:lnTo>
                <a:lnTo>
                  <a:pt x="190498" y="380998"/>
                </a:lnTo>
                <a:lnTo>
                  <a:pt x="234178" y="375967"/>
                </a:lnTo>
                <a:lnTo>
                  <a:pt x="274274" y="361636"/>
                </a:lnTo>
                <a:lnTo>
                  <a:pt x="309645" y="339148"/>
                </a:lnTo>
                <a:lnTo>
                  <a:pt x="339146" y="309647"/>
                </a:lnTo>
                <a:lnTo>
                  <a:pt x="361634" y="274276"/>
                </a:lnTo>
                <a:lnTo>
                  <a:pt x="375966" y="234179"/>
                </a:lnTo>
                <a:lnTo>
                  <a:pt x="380997" y="190500"/>
                </a:lnTo>
                <a:lnTo>
                  <a:pt x="375966" y="146819"/>
                </a:lnTo>
                <a:lnTo>
                  <a:pt x="361634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4" y="19362"/>
                </a:lnTo>
                <a:lnTo>
                  <a:pt x="234178" y="5031"/>
                </a:lnTo>
                <a:lnTo>
                  <a:pt x="1904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013548" y="266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925999" y="266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8" y="0"/>
                </a:moveTo>
                <a:lnTo>
                  <a:pt x="146819" y="5031"/>
                </a:lnTo>
                <a:lnTo>
                  <a:pt x="106722" y="19362"/>
                </a:lnTo>
                <a:lnTo>
                  <a:pt x="71351" y="41850"/>
                </a:lnTo>
                <a:lnTo>
                  <a:pt x="41850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500"/>
                </a:lnTo>
                <a:lnTo>
                  <a:pt x="5031" y="234179"/>
                </a:lnTo>
                <a:lnTo>
                  <a:pt x="19362" y="274276"/>
                </a:lnTo>
                <a:lnTo>
                  <a:pt x="41850" y="309647"/>
                </a:lnTo>
                <a:lnTo>
                  <a:pt x="71351" y="339148"/>
                </a:lnTo>
                <a:lnTo>
                  <a:pt x="106722" y="361636"/>
                </a:lnTo>
                <a:lnTo>
                  <a:pt x="146819" y="375967"/>
                </a:lnTo>
                <a:lnTo>
                  <a:pt x="190498" y="380998"/>
                </a:lnTo>
                <a:lnTo>
                  <a:pt x="234178" y="375967"/>
                </a:lnTo>
                <a:lnTo>
                  <a:pt x="274275" y="361636"/>
                </a:lnTo>
                <a:lnTo>
                  <a:pt x="309645" y="339148"/>
                </a:lnTo>
                <a:lnTo>
                  <a:pt x="339146" y="309647"/>
                </a:lnTo>
                <a:lnTo>
                  <a:pt x="361634" y="274276"/>
                </a:lnTo>
                <a:lnTo>
                  <a:pt x="375966" y="234179"/>
                </a:lnTo>
                <a:lnTo>
                  <a:pt x="380997" y="190500"/>
                </a:lnTo>
                <a:lnTo>
                  <a:pt x="375966" y="146819"/>
                </a:lnTo>
                <a:lnTo>
                  <a:pt x="361634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5" y="19362"/>
                </a:lnTo>
                <a:lnTo>
                  <a:pt x="234178" y="5031"/>
                </a:lnTo>
                <a:lnTo>
                  <a:pt x="1904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925999" y="266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14162" y="34289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8" y="0"/>
                </a:moveTo>
                <a:lnTo>
                  <a:pt x="146819" y="5031"/>
                </a:lnTo>
                <a:lnTo>
                  <a:pt x="106722" y="19362"/>
                </a:lnTo>
                <a:lnTo>
                  <a:pt x="71351" y="41850"/>
                </a:lnTo>
                <a:lnTo>
                  <a:pt x="41850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499"/>
                </a:lnTo>
                <a:lnTo>
                  <a:pt x="5031" y="234179"/>
                </a:lnTo>
                <a:lnTo>
                  <a:pt x="19362" y="274276"/>
                </a:lnTo>
                <a:lnTo>
                  <a:pt x="41850" y="309647"/>
                </a:lnTo>
                <a:lnTo>
                  <a:pt x="71351" y="339148"/>
                </a:lnTo>
                <a:lnTo>
                  <a:pt x="106722" y="361636"/>
                </a:lnTo>
                <a:lnTo>
                  <a:pt x="146819" y="375967"/>
                </a:lnTo>
                <a:lnTo>
                  <a:pt x="190498" y="380998"/>
                </a:lnTo>
                <a:lnTo>
                  <a:pt x="234177" y="375967"/>
                </a:lnTo>
                <a:lnTo>
                  <a:pt x="274274" y="361636"/>
                </a:lnTo>
                <a:lnTo>
                  <a:pt x="309645" y="339148"/>
                </a:lnTo>
                <a:lnTo>
                  <a:pt x="339146" y="309647"/>
                </a:lnTo>
                <a:lnTo>
                  <a:pt x="361634" y="274276"/>
                </a:lnTo>
                <a:lnTo>
                  <a:pt x="375965" y="234179"/>
                </a:lnTo>
                <a:lnTo>
                  <a:pt x="380996" y="190499"/>
                </a:lnTo>
                <a:lnTo>
                  <a:pt x="375965" y="146819"/>
                </a:lnTo>
                <a:lnTo>
                  <a:pt x="361634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4" y="19362"/>
                </a:lnTo>
                <a:lnTo>
                  <a:pt x="234177" y="5031"/>
                </a:lnTo>
                <a:lnTo>
                  <a:pt x="1904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014162" y="34289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925999" y="34289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7" y="0"/>
                </a:moveTo>
                <a:lnTo>
                  <a:pt x="146817" y="5031"/>
                </a:lnTo>
                <a:lnTo>
                  <a:pt x="106721" y="19362"/>
                </a:lnTo>
                <a:lnTo>
                  <a:pt x="71350" y="41850"/>
                </a:lnTo>
                <a:lnTo>
                  <a:pt x="41849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499"/>
                </a:lnTo>
                <a:lnTo>
                  <a:pt x="5031" y="234179"/>
                </a:lnTo>
                <a:lnTo>
                  <a:pt x="19362" y="274276"/>
                </a:lnTo>
                <a:lnTo>
                  <a:pt x="41849" y="309647"/>
                </a:lnTo>
                <a:lnTo>
                  <a:pt x="71350" y="339148"/>
                </a:lnTo>
                <a:lnTo>
                  <a:pt x="106721" y="361636"/>
                </a:lnTo>
                <a:lnTo>
                  <a:pt x="146817" y="375967"/>
                </a:lnTo>
                <a:lnTo>
                  <a:pt x="190497" y="380998"/>
                </a:lnTo>
                <a:lnTo>
                  <a:pt x="234177" y="375967"/>
                </a:lnTo>
                <a:lnTo>
                  <a:pt x="274274" y="361636"/>
                </a:lnTo>
                <a:lnTo>
                  <a:pt x="309645" y="339148"/>
                </a:lnTo>
                <a:lnTo>
                  <a:pt x="339146" y="309647"/>
                </a:lnTo>
                <a:lnTo>
                  <a:pt x="361633" y="274276"/>
                </a:lnTo>
                <a:lnTo>
                  <a:pt x="375965" y="234179"/>
                </a:lnTo>
                <a:lnTo>
                  <a:pt x="380996" y="190499"/>
                </a:lnTo>
                <a:lnTo>
                  <a:pt x="375965" y="146819"/>
                </a:lnTo>
                <a:lnTo>
                  <a:pt x="361633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4" y="19362"/>
                </a:lnTo>
                <a:lnTo>
                  <a:pt x="234177" y="5031"/>
                </a:lnTo>
                <a:lnTo>
                  <a:pt x="19049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925999" y="34289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018699" y="267250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8" y="0"/>
                </a:moveTo>
                <a:lnTo>
                  <a:pt x="146819" y="5031"/>
                </a:lnTo>
                <a:lnTo>
                  <a:pt x="106722" y="19362"/>
                </a:lnTo>
                <a:lnTo>
                  <a:pt x="71351" y="41850"/>
                </a:lnTo>
                <a:lnTo>
                  <a:pt x="41850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500"/>
                </a:lnTo>
                <a:lnTo>
                  <a:pt x="5031" y="234179"/>
                </a:lnTo>
                <a:lnTo>
                  <a:pt x="19362" y="274276"/>
                </a:lnTo>
                <a:lnTo>
                  <a:pt x="41850" y="309647"/>
                </a:lnTo>
                <a:lnTo>
                  <a:pt x="71351" y="339148"/>
                </a:lnTo>
                <a:lnTo>
                  <a:pt x="106722" y="361636"/>
                </a:lnTo>
                <a:lnTo>
                  <a:pt x="146819" y="375967"/>
                </a:lnTo>
                <a:lnTo>
                  <a:pt x="190498" y="380998"/>
                </a:lnTo>
                <a:lnTo>
                  <a:pt x="234178" y="375967"/>
                </a:lnTo>
                <a:lnTo>
                  <a:pt x="274275" y="361636"/>
                </a:lnTo>
                <a:lnTo>
                  <a:pt x="309645" y="339148"/>
                </a:lnTo>
                <a:lnTo>
                  <a:pt x="339146" y="309647"/>
                </a:lnTo>
                <a:lnTo>
                  <a:pt x="361634" y="274276"/>
                </a:lnTo>
                <a:lnTo>
                  <a:pt x="375966" y="234179"/>
                </a:lnTo>
                <a:lnTo>
                  <a:pt x="380997" y="190500"/>
                </a:lnTo>
                <a:lnTo>
                  <a:pt x="375966" y="146819"/>
                </a:lnTo>
                <a:lnTo>
                  <a:pt x="361634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5" y="19362"/>
                </a:lnTo>
                <a:lnTo>
                  <a:pt x="234178" y="5031"/>
                </a:lnTo>
                <a:lnTo>
                  <a:pt x="1904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018699" y="267250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931150" y="267250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8" y="0"/>
                </a:moveTo>
                <a:lnTo>
                  <a:pt x="146819" y="5031"/>
                </a:lnTo>
                <a:lnTo>
                  <a:pt x="106722" y="19362"/>
                </a:lnTo>
                <a:lnTo>
                  <a:pt x="71351" y="41850"/>
                </a:lnTo>
                <a:lnTo>
                  <a:pt x="41850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500"/>
                </a:lnTo>
                <a:lnTo>
                  <a:pt x="5031" y="234179"/>
                </a:lnTo>
                <a:lnTo>
                  <a:pt x="19362" y="274276"/>
                </a:lnTo>
                <a:lnTo>
                  <a:pt x="41850" y="309647"/>
                </a:lnTo>
                <a:lnTo>
                  <a:pt x="71351" y="339148"/>
                </a:lnTo>
                <a:lnTo>
                  <a:pt x="106722" y="361636"/>
                </a:lnTo>
                <a:lnTo>
                  <a:pt x="146819" y="375967"/>
                </a:lnTo>
                <a:lnTo>
                  <a:pt x="190498" y="380998"/>
                </a:lnTo>
                <a:lnTo>
                  <a:pt x="234178" y="375967"/>
                </a:lnTo>
                <a:lnTo>
                  <a:pt x="274275" y="361636"/>
                </a:lnTo>
                <a:lnTo>
                  <a:pt x="309645" y="339148"/>
                </a:lnTo>
                <a:lnTo>
                  <a:pt x="339146" y="309647"/>
                </a:lnTo>
                <a:lnTo>
                  <a:pt x="361634" y="274276"/>
                </a:lnTo>
                <a:lnTo>
                  <a:pt x="375966" y="234179"/>
                </a:lnTo>
                <a:lnTo>
                  <a:pt x="380997" y="190500"/>
                </a:lnTo>
                <a:lnTo>
                  <a:pt x="375966" y="146819"/>
                </a:lnTo>
                <a:lnTo>
                  <a:pt x="361634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5" y="19362"/>
                </a:lnTo>
                <a:lnTo>
                  <a:pt x="234178" y="5031"/>
                </a:lnTo>
                <a:lnTo>
                  <a:pt x="1904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931150" y="267250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019313" y="34345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8" y="0"/>
                </a:moveTo>
                <a:lnTo>
                  <a:pt x="146819" y="5031"/>
                </a:lnTo>
                <a:lnTo>
                  <a:pt x="106722" y="19362"/>
                </a:lnTo>
                <a:lnTo>
                  <a:pt x="71351" y="41850"/>
                </a:lnTo>
                <a:lnTo>
                  <a:pt x="41850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500"/>
                </a:lnTo>
                <a:lnTo>
                  <a:pt x="5031" y="234179"/>
                </a:lnTo>
                <a:lnTo>
                  <a:pt x="19362" y="274276"/>
                </a:lnTo>
                <a:lnTo>
                  <a:pt x="41850" y="309647"/>
                </a:lnTo>
                <a:lnTo>
                  <a:pt x="71351" y="339148"/>
                </a:lnTo>
                <a:lnTo>
                  <a:pt x="106722" y="361636"/>
                </a:lnTo>
                <a:lnTo>
                  <a:pt x="146819" y="375967"/>
                </a:lnTo>
                <a:lnTo>
                  <a:pt x="190498" y="380998"/>
                </a:lnTo>
                <a:lnTo>
                  <a:pt x="234178" y="375967"/>
                </a:lnTo>
                <a:lnTo>
                  <a:pt x="274275" y="361636"/>
                </a:lnTo>
                <a:lnTo>
                  <a:pt x="309645" y="339148"/>
                </a:lnTo>
                <a:lnTo>
                  <a:pt x="339146" y="309647"/>
                </a:lnTo>
                <a:lnTo>
                  <a:pt x="361634" y="274276"/>
                </a:lnTo>
                <a:lnTo>
                  <a:pt x="375966" y="234179"/>
                </a:lnTo>
                <a:lnTo>
                  <a:pt x="380997" y="190500"/>
                </a:lnTo>
                <a:lnTo>
                  <a:pt x="375966" y="146819"/>
                </a:lnTo>
                <a:lnTo>
                  <a:pt x="361634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5" y="19362"/>
                </a:lnTo>
                <a:lnTo>
                  <a:pt x="234178" y="5031"/>
                </a:lnTo>
                <a:lnTo>
                  <a:pt x="1904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019313" y="34345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931149" y="34345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8" y="0"/>
                </a:moveTo>
                <a:lnTo>
                  <a:pt x="146819" y="5031"/>
                </a:lnTo>
                <a:lnTo>
                  <a:pt x="106722" y="19362"/>
                </a:lnTo>
                <a:lnTo>
                  <a:pt x="71351" y="41850"/>
                </a:lnTo>
                <a:lnTo>
                  <a:pt x="41850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500"/>
                </a:lnTo>
                <a:lnTo>
                  <a:pt x="5031" y="234179"/>
                </a:lnTo>
                <a:lnTo>
                  <a:pt x="19362" y="274276"/>
                </a:lnTo>
                <a:lnTo>
                  <a:pt x="41850" y="309647"/>
                </a:lnTo>
                <a:lnTo>
                  <a:pt x="71351" y="339148"/>
                </a:lnTo>
                <a:lnTo>
                  <a:pt x="106722" y="361636"/>
                </a:lnTo>
                <a:lnTo>
                  <a:pt x="146819" y="375967"/>
                </a:lnTo>
                <a:lnTo>
                  <a:pt x="190498" y="380998"/>
                </a:lnTo>
                <a:lnTo>
                  <a:pt x="234178" y="375967"/>
                </a:lnTo>
                <a:lnTo>
                  <a:pt x="274275" y="361636"/>
                </a:lnTo>
                <a:lnTo>
                  <a:pt x="309645" y="339148"/>
                </a:lnTo>
                <a:lnTo>
                  <a:pt x="339146" y="309647"/>
                </a:lnTo>
                <a:lnTo>
                  <a:pt x="361634" y="274276"/>
                </a:lnTo>
                <a:lnTo>
                  <a:pt x="375966" y="234179"/>
                </a:lnTo>
                <a:lnTo>
                  <a:pt x="380997" y="190500"/>
                </a:lnTo>
                <a:lnTo>
                  <a:pt x="375966" y="146819"/>
                </a:lnTo>
                <a:lnTo>
                  <a:pt x="361634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5" y="19362"/>
                </a:lnTo>
                <a:lnTo>
                  <a:pt x="234178" y="5031"/>
                </a:lnTo>
                <a:lnTo>
                  <a:pt x="1904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931149" y="34345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223982" y="267619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8" y="0"/>
                </a:moveTo>
                <a:lnTo>
                  <a:pt x="146819" y="5031"/>
                </a:lnTo>
                <a:lnTo>
                  <a:pt x="106722" y="19362"/>
                </a:lnTo>
                <a:lnTo>
                  <a:pt x="71351" y="41850"/>
                </a:lnTo>
                <a:lnTo>
                  <a:pt x="41850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498"/>
                </a:lnTo>
                <a:lnTo>
                  <a:pt x="5031" y="234178"/>
                </a:lnTo>
                <a:lnTo>
                  <a:pt x="19362" y="274275"/>
                </a:lnTo>
                <a:lnTo>
                  <a:pt x="41850" y="309646"/>
                </a:lnTo>
                <a:lnTo>
                  <a:pt x="71351" y="339148"/>
                </a:lnTo>
                <a:lnTo>
                  <a:pt x="106722" y="361636"/>
                </a:lnTo>
                <a:lnTo>
                  <a:pt x="146819" y="375967"/>
                </a:lnTo>
                <a:lnTo>
                  <a:pt x="190498" y="380998"/>
                </a:lnTo>
                <a:lnTo>
                  <a:pt x="234178" y="375967"/>
                </a:lnTo>
                <a:lnTo>
                  <a:pt x="274275" y="361636"/>
                </a:lnTo>
                <a:lnTo>
                  <a:pt x="309645" y="339148"/>
                </a:lnTo>
                <a:lnTo>
                  <a:pt x="339146" y="309646"/>
                </a:lnTo>
                <a:lnTo>
                  <a:pt x="361634" y="274275"/>
                </a:lnTo>
                <a:lnTo>
                  <a:pt x="375966" y="234178"/>
                </a:lnTo>
                <a:lnTo>
                  <a:pt x="380997" y="190498"/>
                </a:lnTo>
                <a:lnTo>
                  <a:pt x="375966" y="146819"/>
                </a:lnTo>
                <a:lnTo>
                  <a:pt x="361634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5" y="19362"/>
                </a:lnTo>
                <a:lnTo>
                  <a:pt x="234178" y="5031"/>
                </a:lnTo>
                <a:lnTo>
                  <a:pt x="1904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223982" y="267619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136434" y="267619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7" y="0"/>
                </a:moveTo>
                <a:lnTo>
                  <a:pt x="146817" y="5031"/>
                </a:lnTo>
                <a:lnTo>
                  <a:pt x="106721" y="19362"/>
                </a:lnTo>
                <a:lnTo>
                  <a:pt x="71350" y="41850"/>
                </a:lnTo>
                <a:lnTo>
                  <a:pt x="41849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498"/>
                </a:lnTo>
                <a:lnTo>
                  <a:pt x="5031" y="234178"/>
                </a:lnTo>
                <a:lnTo>
                  <a:pt x="19362" y="274275"/>
                </a:lnTo>
                <a:lnTo>
                  <a:pt x="41849" y="309646"/>
                </a:lnTo>
                <a:lnTo>
                  <a:pt x="71350" y="339148"/>
                </a:lnTo>
                <a:lnTo>
                  <a:pt x="106721" y="361636"/>
                </a:lnTo>
                <a:lnTo>
                  <a:pt x="146817" y="375967"/>
                </a:lnTo>
                <a:lnTo>
                  <a:pt x="190497" y="380998"/>
                </a:lnTo>
                <a:lnTo>
                  <a:pt x="234177" y="375967"/>
                </a:lnTo>
                <a:lnTo>
                  <a:pt x="274274" y="361636"/>
                </a:lnTo>
                <a:lnTo>
                  <a:pt x="309645" y="339148"/>
                </a:lnTo>
                <a:lnTo>
                  <a:pt x="339146" y="309646"/>
                </a:lnTo>
                <a:lnTo>
                  <a:pt x="361633" y="274275"/>
                </a:lnTo>
                <a:lnTo>
                  <a:pt x="375965" y="234178"/>
                </a:lnTo>
                <a:lnTo>
                  <a:pt x="380996" y="190498"/>
                </a:lnTo>
                <a:lnTo>
                  <a:pt x="375965" y="146819"/>
                </a:lnTo>
                <a:lnTo>
                  <a:pt x="361633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4" y="19362"/>
                </a:lnTo>
                <a:lnTo>
                  <a:pt x="234177" y="5031"/>
                </a:lnTo>
                <a:lnTo>
                  <a:pt x="19049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136434" y="267619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224596" y="343819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7" y="0"/>
                </a:moveTo>
                <a:lnTo>
                  <a:pt x="146817" y="5031"/>
                </a:lnTo>
                <a:lnTo>
                  <a:pt x="106721" y="19362"/>
                </a:lnTo>
                <a:lnTo>
                  <a:pt x="71350" y="41850"/>
                </a:lnTo>
                <a:lnTo>
                  <a:pt x="41849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499"/>
                </a:lnTo>
                <a:lnTo>
                  <a:pt x="5031" y="234179"/>
                </a:lnTo>
                <a:lnTo>
                  <a:pt x="19362" y="274276"/>
                </a:lnTo>
                <a:lnTo>
                  <a:pt x="41849" y="309647"/>
                </a:lnTo>
                <a:lnTo>
                  <a:pt x="71350" y="339148"/>
                </a:lnTo>
                <a:lnTo>
                  <a:pt x="106721" y="361636"/>
                </a:lnTo>
                <a:lnTo>
                  <a:pt x="146817" y="375967"/>
                </a:lnTo>
                <a:lnTo>
                  <a:pt x="190497" y="380998"/>
                </a:lnTo>
                <a:lnTo>
                  <a:pt x="234177" y="375967"/>
                </a:lnTo>
                <a:lnTo>
                  <a:pt x="274274" y="361636"/>
                </a:lnTo>
                <a:lnTo>
                  <a:pt x="309645" y="339148"/>
                </a:lnTo>
                <a:lnTo>
                  <a:pt x="339146" y="309647"/>
                </a:lnTo>
                <a:lnTo>
                  <a:pt x="361633" y="274276"/>
                </a:lnTo>
                <a:lnTo>
                  <a:pt x="375965" y="234179"/>
                </a:lnTo>
                <a:lnTo>
                  <a:pt x="380996" y="190499"/>
                </a:lnTo>
                <a:lnTo>
                  <a:pt x="375965" y="146819"/>
                </a:lnTo>
                <a:lnTo>
                  <a:pt x="361633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4" y="19362"/>
                </a:lnTo>
                <a:lnTo>
                  <a:pt x="234177" y="5031"/>
                </a:lnTo>
                <a:lnTo>
                  <a:pt x="19049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224596" y="343819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136432" y="343819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8" y="0"/>
                </a:moveTo>
                <a:lnTo>
                  <a:pt x="146819" y="5031"/>
                </a:lnTo>
                <a:lnTo>
                  <a:pt x="106722" y="19362"/>
                </a:lnTo>
                <a:lnTo>
                  <a:pt x="71351" y="41850"/>
                </a:lnTo>
                <a:lnTo>
                  <a:pt x="41850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499"/>
                </a:lnTo>
                <a:lnTo>
                  <a:pt x="5031" y="234179"/>
                </a:lnTo>
                <a:lnTo>
                  <a:pt x="19362" y="274276"/>
                </a:lnTo>
                <a:lnTo>
                  <a:pt x="41850" y="309647"/>
                </a:lnTo>
                <a:lnTo>
                  <a:pt x="71351" y="339148"/>
                </a:lnTo>
                <a:lnTo>
                  <a:pt x="106722" y="361636"/>
                </a:lnTo>
                <a:lnTo>
                  <a:pt x="146819" y="375967"/>
                </a:lnTo>
                <a:lnTo>
                  <a:pt x="190498" y="380998"/>
                </a:lnTo>
                <a:lnTo>
                  <a:pt x="234178" y="375967"/>
                </a:lnTo>
                <a:lnTo>
                  <a:pt x="274274" y="361636"/>
                </a:lnTo>
                <a:lnTo>
                  <a:pt x="309645" y="339148"/>
                </a:lnTo>
                <a:lnTo>
                  <a:pt x="339146" y="309647"/>
                </a:lnTo>
                <a:lnTo>
                  <a:pt x="361633" y="274276"/>
                </a:lnTo>
                <a:lnTo>
                  <a:pt x="375965" y="234179"/>
                </a:lnTo>
                <a:lnTo>
                  <a:pt x="380996" y="190499"/>
                </a:lnTo>
                <a:lnTo>
                  <a:pt x="375965" y="146819"/>
                </a:lnTo>
                <a:lnTo>
                  <a:pt x="361633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4" y="19362"/>
                </a:lnTo>
                <a:lnTo>
                  <a:pt x="234178" y="5031"/>
                </a:lnTo>
                <a:lnTo>
                  <a:pt x="1904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136432" y="343819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009405" y="450721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8" y="0"/>
                </a:moveTo>
                <a:lnTo>
                  <a:pt x="146818" y="5031"/>
                </a:lnTo>
                <a:lnTo>
                  <a:pt x="106722" y="19362"/>
                </a:lnTo>
                <a:lnTo>
                  <a:pt x="71351" y="41850"/>
                </a:lnTo>
                <a:lnTo>
                  <a:pt x="41850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500"/>
                </a:lnTo>
                <a:lnTo>
                  <a:pt x="5031" y="234179"/>
                </a:lnTo>
                <a:lnTo>
                  <a:pt x="19362" y="274276"/>
                </a:lnTo>
                <a:lnTo>
                  <a:pt x="41850" y="309647"/>
                </a:lnTo>
                <a:lnTo>
                  <a:pt x="71351" y="339148"/>
                </a:lnTo>
                <a:lnTo>
                  <a:pt x="106722" y="361636"/>
                </a:lnTo>
                <a:lnTo>
                  <a:pt x="146818" y="375967"/>
                </a:lnTo>
                <a:lnTo>
                  <a:pt x="190498" y="380998"/>
                </a:lnTo>
                <a:lnTo>
                  <a:pt x="234178" y="375967"/>
                </a:lnTo>
                <a:lnTo>
                  <a:pt x="274274" y="361636"/>
                </a:lnTo>
                <a:lnTo>
                  <a:pt x="309645" y="339148"/>
                </a:lnTo>
                <a:lnTo>
                  <a:pt x="339146" y="309647"/>
                </a:lnTo>
                <a:lnTo>
                  <a:pt x="361634" y="274276"/>
                </a:lnTo>
                <a:lnTo>
                  <a:pt x="375966" y="234179"/>
                </a:lnTo>
                <a:lnTo>
                  <a:pt x="380997" y="190500"/>
                </a:lnTo>
                <a:lnTo>
                  <a:pt x="375966" y="146819"/>
                </a:lnTo>
                <a:lnTo>
                  <a:pt x="361634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4" y="19362"/>
                </a:lnTo>
                <a:lnTo>
                  <a:pt x="234178" y="5031"/>
                </a:lnTo>
                <a:lnTo>
                  <a:pt x="1904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009405" y="450721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921855" y="450721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8" y="0"/>
                </a:moveTo>
                <a:lnTo>
                  <a:pt x="146819" y="5031"/>
                </a:lnTo>
                <a:lnTo>
                  <a:pt x="106722" y="19362"/>
                </a:lnTo>
                <a:lnTo>
                  <a:pt x="71351" y="41850"/>
                </a:lnTo>
                <a:lnTo>
                  <a:pt x="41850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500"/>
                </a:lnTo>
                <a:lnTo>
                  <a:pt x="5031" y="234179"/>
                </a:lnTo>
                <a:lnTo>
                  <a:pt x="19362" y="274276"/>
                </a:lnTo>
                <a:lnTo>
                  <a:pt x="41850" y="309647"/>
                </a:lnTo>
                <a:lnTo>
                  <a:pt x="71351" y="339148"/>
                </a:lnTo>
                <a:lnTo>
                  <a:pt x="106722" y="361636"/>
                </a:lnTo>
                <a:lnTo>
                  <a:pt x="146819" y="375967"/>
                </a:lnTo>
                <a:lnTo>
                  <a:pt x="190498" y="380998"/>
                </a:lnTo>
                <a:lnTo>
                  <a:pt x="234178" y="375967"/>
                </a:lnTo>
                <a:lnTo>
                  <a:pt x="274275" y="361636"/>
                </a:lnTo>
                <a:lnTo>
                  <a:pt x="309645" y="339148"/>
                </a:lnTo>
                <a:lnTo>
                  <a:pt x="339146" y="309647"/>
                </a:lnTo>
                <a:lnTo>
                  <a:pt x="361634" y="274276"/>
                </a:lnTo>
                <a:lnTo>
                  <a:pt x="375966" y="234179"/>
                </a:lnTo>
                <a:lnTo>
                  <a:pt x="380997" y="190500"/>
                </a:lnTo>
                <a:lnTo>
                  <a:pt x="375966" y="146819"/>
                </a:lnTo>
                <a:lnTo>
                  <a:pt x="361634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5" y="19362"/>
                </a:lnTo>
                <a:lnTo>
                  <a:pt x="234178" y="5031"/>
                </a:lnTo>
                <a:lnTo>
                  <a:pt x="1904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921855" y="450721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010018" y="52692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8" y="0"/>
                </a:moveTo>
                <a:lnTo>
                  <a:pt x="146818" y="5031"/>
                </a:lnTo>
                <a:lnTo>
                  <a:pt x="106722" y="19362"/>
                </a:lnTo>
                <a:lnTo>
                  <a:pt x="71351" y="41850"/>
                </a:lnTo>
                <a:lnTo>
                  <a:pt x="41850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499"/>
                </a:lnTo>
                <a:lnTo>
                  <a:pt x="5031" y="234179"/>
                </a:lnTo>
                <a:lnTo>
                  <a:pt x="19362" y="274276"/>
                </a:lnTo>
                <a:lnTo>
                  <a:pt x="41850" y="309647"/>
                </a:lnTo>
                <a:lnTo>
                  <a:pt x="71351" y="339148"/>
                </a:lnTo>
                <a:lnTo>
                  <a:pt x="106722" y="361636"/>
                </a:lnTo>
                <a:lnTo>
                  <a:pt x="146818" y="375968"/>
                </a:lnTo>
                <a:lnTo>
                  <a:pt x="190498" y="380999"/>
                </a:lnTo>
                <a:lnTo>
                  <a:pt x="234177" y="375968"/>
                </a:lnTo>
                <a:lnTo>
                  <a:pt x="274274" y="361636"/>
                </a:lnTo>
                <a:lnTo>
                  <a:pt x="309645" y="339148"/>
                </a:lnTo>
                <a:lnTo>
                  <a:pt x="339146" y="309647"/>
                </a:lnTo>
                <a:lnTo>
                  <a:pt x="361634" y="274276"/>
                </a:lnTo>
                <a:lnTo>
                  <a:pt x="375965" y="234179"/>
                </a:lnTo>
                <a:lnTo>
                  <a:pt x="380996" y="190499"/>
                </a:lnTo>
                <a:lnTo>
                  <a:pt x="375965" y="146819"/>
                </a:lnTo>
                <a:lnTo>
                  <a:pt x="361634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4" y="19362"/>
                </a:lnTo>
                <a:lnTo>
                  <a:pt x="234177" y="5031"/>
                </a:lnTo>
                <a:lnTo>
                  <a:pt x="1904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010018" y="52692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921855" y="52692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7" y="0"/>
                </a:moveTo>
                <a:lnTo>
                  <a:pt x="146817" y="5031"/>
                </a:lnTo>
                <a:lnTo>
                  <a:pt x="106721" y="19362"/>
                </a:lnTo>
                <a:lnTo>
                  <a:pt x="71350" y="41850"/>
                </a:lnTo>
                <a:lnTo>
                  <a:pt x="41849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499"/>
                </a:lnTo>
                <a:lnTo>
                  <a:pt x="5031" y="234179"/>
                </a:lnTo>
                <a:lnTo>
                  <a:pt x="19362" y="274276"/>
                </a:lnTo>
                <a:lnTo>
                  <a:pt x="41849" y="309647"/>
                </a:lnTo>
                <a:lnTo>
                  <a:pt x="71350" y="339148"/>
                </a:lnTo>
                <a:lnTo>
                  <a:pt x="106721" y="361636"/>
                </a:lnTo>
                <a:lnTo>
                  <a:pt x="146817" y="375968"/>
                </a:lnTo>
                <a:lnTo>
                  <a:pt x="190497" y="380999"/>
                </a:lnTo>
                <a:lnTo>
                  <a:pt x="234177" y="375968"/>
                </a:lnTo>
                <a:lnTo>
                  <a:pt x="274273" y="361636"/>
                </a:lnTo>
                <a:lnTo>
                  <a:pt x="309644" y="339148"/>
                </a:lnTo>
                <a:lnTo>
                  <a:pt x="339145" y="309647"/>
                </a:lnTo>
                <a:lnTo>
                  <a:pt x="361633" y="274276"/>
                </a:lnTo>
                <a:lnTo>
                  <a:pt x="375964" y="234179"/>
                </a:lnTo>
                <a:lnTo>
                  <a:pt x="380996" y="190499"/>
                </a:lnTo>
                <a:lnTo>
                  <a:pt x="375964" y="146819"/>
                </a:lnTo>
                <a:lnTo>
                  <a:pt x="361633" y="106722"/>
                </a:lnTo>
                <a:lnTo>
                  <a:pt x="339145" y="71351"/>
                </a:lnTo>
                <a:lnTo>
                  <a:pt x="309644" y="41850"/>
                </a:lnTo>
                <a:lnTo>
                  <a:pt x="274273" y="19362"/>
                </a:lnTo>
                <a:lnTo>
                  <a:pt x="234177" y="5031"/>
                </a:lnTo>
                <a:lnTo>
                  <a:pt x="19049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921855" y="52692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016548" y="45369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8" y="0"/>
                </a:moveTo>
                <a:lnTo>
                  <a:pt x="146819" y="5031"/>
                </a:lnTo>
                <a:lnTo>
                  <a:pt x="106722" y="19362"/>
                </a:lnTo>
                <a:lnTo>
                  <a:pt x="71351" y="41850"/>
                </a:lnTo>
                <a:lnTo>
                  <a:pt x="41850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498"/>
                </a:lnTo>
                <a:lnTo>
                  <a:pt x="5031" y="234178"/>
                </a:lnTo>
                <a:lnTo>
                  <a:pt x="19362" y="274275"/>
                </a:lnTo>
                <a:lnTo>
                  <a:pt x="41850" y="309646"/>
                </a:lnTo>
                <a:lnTo>
                  <a:pt x="71351" y="339148"/>
                </a:lnTo>
                <a:lnTo>
                  <a:pt x="106722" y="361636"/>
                </a:lnTo>
                <a:lnTo>
                  <a:pt x="146819" y="375967"/>
                </a:lnTo>
                <a:lnTo>
                  <a:pt x="190498" y="380998"/>
                </a:lnTo>
                <a:lnTo>
                  <a:pt x="234178" y="375967"/>
                </a:lnTo>
                <a:lnTo>
                  <a:pt x="274275" y="361636"/>
                </a:lnTo>
                <a:lnTo>
                  <a:pt x="309645" y="339148"/>
                </a:lnTo>
                <a:lnTo>
                  <a:pt x="339146" y="309646"/>
                </a:lnTo>
                <a:lnTo>
                  <a:pt x="361634" y="274275"/>
                </a:lnTo>
                <a:lnTo>
                  <a:pt x="375966" y="234178"/>
                </a:lnTo>
                <a:lnTo>
                  <a:pt x="380997" y="190498"/>
                </a:lnTo>
                <a:lnTo>
                  <a:pt x="375966" y="146819"/>
                </a:lnTo>
                <a:lnTo>
                  <a:pt x="361634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5" y="19362"/>
                </a:lnTo>
                <a:lnTo>
                  <a:pt x="234178" y="5031"/>
                </a:lnTo>
                <a:lnTo>
                  <a:pt x="1904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016548" y="45369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929000" y="45369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8" y="0"/>
                </a:moveTo>
                <a:lnTo>
                  <a:pt x="146818" y="5031"/>
                </a:lnTo>
                <a:lnTo>
                  <a:pt x="106721" y="19362"/>
                </a:lnTo>
                <a:lnTo>
                  <a:pt x="71351" y="41850"/>
                </a:lnTo>
                <a:lnTo>
                  <a:pt x="41850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498"/>
                </a:lnTo>
                <a:lnTo>
                  <a:pt x="5031" y="234178"/>
                </a:lnTo>
                <a:lnTo>
                  <a:pt x="19362" y="274275"/>
                </a:lnTo>
                <a:lnTo>
                  <a:pt x="41850" y="309646"/>
                </a:lnTo>
                <a:lnTo>
                  <a:pt x="71351" y="339148"/>
                </a:lnTo>
                <a:lnTo>
                  <a:pt x="106721" y="361636"/>
                </a:lnTo>
                <a:lnTo>
                  <a:pt x="146818" y="375967"/>
                </a:lnTo>
                <a:lnTo>
                  <a:pt x="190498" y="380998"/>
                </a:lnTo>
                <a:lnTo>
                  <a:pt x="234178" y="375967"/>
                </a:lnTo>
                <a:lnTo>
                  <a:pt x="274274" y="361636"/>
                </a:lnTo>
                <a:lnTo>
                  <a:pt x="309645" y="339148"/>
                </a:lnTo>
                <a:lnTo>
                  <a:pt x="339146" y="309646"/>
                </a:lnTo>
                <a:lnTo>
                  <a:pt x="361633" y="274275"/>
                </a:lnTo>
                <a:lnTo>
                  <a:pt x="375965" y="234178"/>
                </a:lnTo>
                <a:lnTo>
                  <a:pt x="380996" y="190498"/>
                </a:lnTo>
                <a:lnTo>
                  <a:pt x="375965" y="146819"/>
                </a:lnTo>
                <a:lnTo>
                  <a:pt x="361633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4" y="19362"/>
                </a:lnTo>
                <a:lnTo>
                  <a:pt x="234178" y="5031"/>
                </a:lnTo>
                <a:lnTo>
                  <a:pt x="1904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929000" y="45369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017163" y="529895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8" y="0"/>
                </a:moveTo>
                <a:lnTo>
                  <a:pt x="146819" y="5031"/>
                </a:lnTo>
                <a:lnTo>
                  <a:pt x="106722" y="19362"/>
                </a:lnTo>
                <a:lnTo>
                  <a:pt x="71351" y="41850"/>
                </a:lnTo>
                <a:lnTo>
                  <a:pt x="41850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500"/>
                </a:lnTo>
                <a:lnTo>
                  <a:pt x="5031" y="234179"/>
                </a:lnTo>
                <a:lnTo>
                  <a:pt x="19362" y="274276"/>
                </a:lnTo>
                <a:lnTo>
                  <a:pt x="41850" y="309647"/>
                </a:lnTo>
                <a:lnTo>
                  <a:pt x="71351" y="339148"/>
                </a:lnTo>
                <a:lnTo>
                  <a:pt x="106722" y="361636"/>
                </a:lnTo>
                <a:lnTo>
                  <a:pt x="146819" y="375967"/>
                </a:lnTo>
                <a:lnTo>
                  <a:pt x="190498" y="380999"/>
                </a:lnTo>
                <a:lnTo>
                  <a:pt x="234178" y="375967"/>
                </a:lnTo>
                <a:lnTo>
                  <a:pt x="274274" y="361636"/>
                </a:lnTo>
                <a:lnTo>
                  <a:pt x="309645" y="339148"/>
                </a:lnTo>
                <a:lnTo>
                  <a:pt x="339146" y="309647"/>
                </a:lnTo>
                <a:lnTo>
                  <a:pt x="361633" y="274276"/>
                </a:lnTo>
                <a:lnTo>
                  <a:pt x="375965" y="234179"/>
                </a:lnTo>
                <a:lnTo>
                  <a:pt x="380996" y="190500"/>
                </a:lnTo>
                <a:lnTo>
                  <a:pt x="375965" y="146819"/>
                </a:lnTo>
                <a:lnTo>
                  <a:pt x="361633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4" y="19362"/>
                </a:lnTo>
                <a:lnTo>
                  <a:pt x="234178" y="5031"/>
                </a:lnTo>
                <a:lnTo>
                  <a:pt x="1904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017163" y="529895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928998" y="529895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8" y="0"/>
                </a:moveTo>
                <a:lnTo>
                  <a:pt x="146819" y="5031"/>
                </a:lnTo>
                <a:lnTo>
                  <a:pt x="106722" y="19362"/>
                </a:lnTo>
                <a:lnTo>
                  <a:pt x="71351" y="41850"/>
                </a:lnTo>
                <a:lnTo>
                  <a:pt x="41850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500"/>
                </a:lnTo>
                <a:lnTo>
                  <a:pt x="5031" y="234179"/>
                </a:lnTo>
                <a:lnTo>
                  <a:pt x="19362" y="274276"/>
                </a:lnTo>
                <a:lnTo>
                  <a:pt x="41850" y="309647"/>
                </a:lnTo>
                <a:lnTo>
                  <a:pt x="71351" y="339148"/>
                </a:lnTo>
                <a:lnTo>
                  <a:pt x="106722" y="361636"/>
                </a:lnTo>
                <a:lnTo>
                  <a:pt x="146819" y="375967"/>
                </a:lnTo>
                <a:lnTo>
                  <a:pt x="190498" y="380999"/>
                </a:lnTo>
                <a:lnTo>
                  <a:pt x="234178" y="375967"/>
                </a:lnTo>
                <a:lnTo>
                  <a:pt x="274274" y="361636"/>
                </a:lnTo>
                <a:lnTo>
                  <a:pt x="309645" y="339148"/>
                </a:lnTo>
                <a:lnTo>
                  <a:pt x="339146" y="309647"/>
                </a:lnTo>
                <a:lnTo>
                  <a:pt x="361633" y="274276"/>
                </a:lnTo>
                <a:lnTo>
                  <a:pt x="375965" y="234179"/>
                </a:lnTo>
                <a:lnTo>
                  <a:pt x="380996" y="190500"/>
                </a:lnTo>
                <a:lnTo>
                  <a:pt x="375965" y="146819"/>
                </a:lnTo>
                <a:lnTo>
                  <a:pt x="361633" y="106722"/>
                </a:lnTo>
                <a:lnTo>
                  <a:pt x="339146" y="71351"/>
                </a:lnTo>
                <a:lnTo>
                  <a:pt x="309645" y="41850"/>
                </a:lnTo>
                <a:lnTo>
                  <a:pt x="274274" y="19362"/>
                </a:lnTo>
                <a:lnTo>
                  <a:pt x="234178" y="5031"/>
                </a:lnTo>
                <a:lnTo>
                  <a:pt x="1904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928998" y="529895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1" y="146819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18" y="5031"/>
                </a:lnTo>
                <a:lnTo>
                  <a:pt x="190498" y="0"/>
                </a:lnTo>
                <a:lnTo>
                  <a:pt x="234178" y="5031"/>
                </a:lnTo>
                <a:lnTo>
                  <a:pt x="274274" y="19362"/>
                </a:lnTo>
                <a:lnTo>
                  <a:pt x="309645" y="41850"/>
                </a:lnTo>
                <a:lnTo>
                  <a:pt x="339146" y="71351"/>
                </a:lnTo>
                <a:lnTo>
                  <a:pt x="361634" y="106722"/>
                </a:lnTo>
                <a:lnTo>
                  <a:pt x="375965" y="146819"/>
                </a:lnTo>
                <a:lnTo>
                  <a:pt x="380997" y="190499"/>
                </a:lnTo>
                <a:lnTo>
                  <a:pt x="375965" y="234179"/>
                </a:lnTo>
                <a:lnTo>
                  <a:pt x="361634" y="274276"/>
                </a:lnTo>
                <a:lnTo>
                  <a:pt x="339146" y="309647"/>
                </a:lnTo>
                <a:lnTo>
                  <a:pt x="309645" y="339148"/>
                </a:lnTo>
                <a:lnTo>
                  <a:pt x="274274" y="361636"/>
                </a:lnTo>
                <a:lnTo>
                  <a:pt x="234178" y="375967"/>
                </a:lnTo>
                <a:lnTo>
                  <a:pt x="190498" y="380999"/>
                </a:lnTo>
                <a:lnTo>
                  <a:pt x="146818" y="375967"/>
                </a:lnTo>
                <a:lnTo>
                  <a:pt x="106722" y="361636"/>
                </a:lnTo>
                <a:lnTo>
                  <a:pt x="71351" y="339148"/>
                </a:lnTo>
                <a:lnTo>
                  <a:pt x="41850" y="309647"/>
                </a:lnTo>
                <a:lnTo>
                  <a:pt x="19362" y="274276"/>
                </a:lnTo>
                <a:lnTo>
                  <a:pt x="5031" y="234179"/>
                </a:lnTo>
                <a:lnTo>
                  <a:pt x="0" y="19049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67" name="object 6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7516368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76148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pc="-5" b="1">
                <a:solidFill>
                  <a:srgbClr val="0000FF"/>
                </a:solidFill>
                <a:latin typeface="Calibri"/>
                <a:cs typeface="Calibri"/>
              </a:rPr>
              <a:t>All non-isomorphic, </a:t>
            </a:r>
            <a:r>
              <a:rPr dirty="0" spc="-10" b="1">
                <a:solidFill>
                  <a:srgbClr val="0000FF"/>
                </a:solidFill>
                <a:latin typeface="Calibri"/>
                <a:cs typeface="Calibri"/>
              </a:rPr>
              <a:t>connected, </a:t>
            </a:r>
            <a:r>
              <a:rPr dirty="0" spc="-15" b="1">
                <a:solidFill>
                  <a:srgbClr val="C00000"/>
                </a:solidFill>
                <a:latin typeface="Calibri"/>
                <a:cs typeface="Calibri"/>
              </a:rPr>
              <a:t>directed  </a:t>
            </a:r>
            <a:r>
              <a:rPr dirty="0" spc="-20" b="1">
                <a:solidFill>
                  <a:srgbClr val="0000FF"/>
                </a:solidFill>
                <a:latin typeface="Calibri"/>
                <a:cs typeface="Calibri"/>
              </a:rPr>
              <a:t>graphs </a:t>
            </a:r>
            <a:r>
              <a:rPr dirty="0" b="1">
                <a:solidFill>
                  <a:srgbClr val="0000FF"/>
                </a:solidFill>
                <a:latin typeface="Calibri"/>
                <a:cs typeface="Calibri"/>
              </a:rPr>
              <a:t>of </a:t>
            </a:r>
            <a:r>
              <a:rPr dirty="0" spc="-20" b="1">
                <a:solidFill>
                  <a:srgbClr val="0000FF"/>
                </a:solidFill>
                <a:latin typeface="Calibri"/>
                <a:cs typeface="Calibri"/>
              </a:rPr>
              <a:t>size</a:t>
            </a:r>
            <a:r>
              <a:rPr dirty="0" spc="-5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0000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4" name="object 4"/>
          <p:cNvSpPr/>
          <p:nvPr/>
        </p:nvSpPr>
        <p:spPr>
          <a:xfrm>
            <a:off x="743633" y="3105058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124549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49" y="247354"/>
                </a:lnTo>
                <a:lnTo>
                  <a:pt x="173030" y="237634"/>
                </a:lnTo>
                <a:lnTo>
                  <a:pt x="212620" y="211130"/>
                </a:lnTo>
                <a:lnTo>
                  <a:pt x="239312" y="171818"/>
                </a:lnTo>
                <a:lnTo>
                  <a:pt x="249099" y="123677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4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43633" y="3105058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26510" y="3453978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124549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49" y="247354"/>
                </a:lnTo>
                <a:lnTo>
                  <a:pt x="173030" y="237634"/>
                </a:lnTo>
                <a:lnTo>
                  <a:pt x="212619" y="211130"/>
                </a:lnTo>
                <a:lnTo>
                  <a:pt x="239311" y="171818"/>
                </a:lnTo>
                <a:lnTo>
                  <a:pt x="249099" y="123677"/>
                </a:lnTo>
                <a:lnTo>
                  <a:pt x="239311" y="75536"/>
                </a:lnTo>
                <a:lnTo>
                  <a:pt x="212619" y="36224"/>
                </a:lnTo>
                <a:lnTo>
                  <a:pt x="173030" y="9719"/>
                </a:lnTo>
                <a:lnTo>
                  <a:pt x="12454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26510" y="3453978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43631" y="3803708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30"/>
                </a:lnTo>
                <a:lnTo>
                  <a:pt x="239312" y="171818"/>
                </a:lnTo>
                <a:lnTo>
                  <a:pt x="249099" y="123677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43631" y="3803708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56254" y="3316188"/>
            <a:ext cx="222885" cy="190500"/>
          </a:xfrm>
          <a:custGeom>
            <a:avLst/>
            <a:gdLst/>
            <a:ahLst/>
            <a:cxnLst/>
            <a:rect l="l" t="t" r="r" b="b"/>
            <a:pathLst>
              <a:path w="222884" h="190500">
                <a:moveTo>
                  <a:pt x="74784" y="44273"/>
                </a:moveTo>
                <a:lnTo>
                  <a:pt x="56383" y="66134"/>
                </a:lnTo>
                <a:lnTo>
                  <a:pt x="203572" y="190027"/>
                </a:lnTo>
                <a:lnTo>
                  <a:pt x="212585" y="189252"/>
                </a:lnTo>
                <a:lnTo>
                  <a:pt x="222748" y="177178"/>
                </a:lnTo>
                <a:lnTo>
                  <a:pt x="221973" y="168165"/>
                </a:lnTo>
                <a:lnTo>
                  <a:pt x="74784" y="44273"/>
                </a:lnTo>
                <a:close/>
              </a:path>
              <a:path w="222884" h="190500">
                <a:moveTo>
                  <a:pt x="0" y="0"/>
                </a:moveTo>
                <a:lnTo>
                  <a:pt x="37982" y="87995"/>
                </a:lnTo>
                <a:lnTo>
                  <a:pt x="56383" y="66134"/>
                </a:lnTo>
                <a:lnTo>
                  <a:pt x="39415" y="51852"/>
                </a:lnTo>
                <a:lnTo>
                  <a:pt x="38641" y="42839"/>
                </a:lnTo>
                <a:lnTo>
                  <a:pt x="48804" y="30765"/>
                </a:lnTo>
                <a:lnTo>
                  <a:pt x="57817" y="29991"/>
                </a:lnTo>
                <a:lnTo>
                  <a:pt x="86806" y="29991"/>
                </a:lnTo>
                <a:lnTo>
                  <a:pt x="93186" y="22411"/>
                </a:lnTo>
                <a:lnTo>
                  <a:pt x="0" y="0"/>
                </a:lnTo>
                <a:close/>
              </a:path>
              <a:path w="222884" h="190500">
                <a:moveTo>
                  <a:pt x="57817" y="29991"/>
                </a:moveTo>
                <a:lnTo>
                  <a:pt x="48804" y="30765"/>
                </a:lnTo>
                <a:lnTo>
                  <a:pt x="38641" y="42839"/>
                </a:lnTo>
                <a:lnTo>
                  <a:pt x="39415" y="51852"/>
                </a:lnTo>
                <a:lnTo>
                  <a:pt x="56383" y="66134"/>
                </a:lnTo>
                <a:lnTo>
                  <a:pt x="74784" y="44273"/>
                </a:lnTo>
                <a:lnTo>
                  <a:pt x="57817" y="29991"/>
                </a:lnTo>
                <a:close/>
              </a:path>
              <a:path w="222884" h="190500">
                <a:moveTo>
                  <a:pt x="86806" y="29991"/>
                </a:moveTo>
                <a:lnTo>
                  <a:pt x="57817" y="29991"/>
                </a:lnTo>
                <a:lnTo>
                  <a:pt x="74784" y="44273"/>
                </a:lnTo>
                <a:lnTo>
                  <a:pt x="86806" y="299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56252" y="3649103"/>
            <a:ext cx="222885" cy="191135"/>
          </a:xfrm>
          <a:custGeom>
            <a:avLst/>
            <a:gdLst/>
            <a:ahLst/>
            <a:cxnLst/>
            <a:rect l="l" t="t" r="r" b="b"/>
            <a:pathLst>
              <a:path w="222884" h="191135">
                <a:moveTo>
                  <a:pt x="37780" y="102748"/>
                </a:moveTo>
                <a:lnTo>
                  <a:pt x="0" y="190830"/>
                </a:lnTo>
                <a:lnTo>
                  <a:pt x="93134" y="168205"/>
                </a:lnTo>
                <a:lnTo>
                  <a:pt x="86794" y="160707"/>
                </a:lnTo>
                <a:lnTo>
                  <a:pt x="57748" y="160707"/>
                </a:lnTo>
                <a:lnTo>
                  <a:pt x="48733" y="159952"/>
                </a:lnTo>
                <a:lnTo>
                  <a:pt x="38543" y="147902"/>
                </a:lnTo>
                <a:lnTo>
                  <a:pt x="39297" y="138887"/>
                </a:lnTo>
                <a:lnTo>
                  <a:pt x="56231" y="124566"/>
                </a:lnTo>
                <a:lnTo>
                  <a:pt x="37780" y="102748"/>
                </a:lnTo>
                <a:close/>
              </a:path>
              <a:path w="222884" h="191135">
                <a:moveTo>
                  <a:pt x="56231" y="124566"/>
                </a:moveTo>
                <a:lnTo>
                  <a:pt x="39297" y="138887"/>
                </a:lnTo>
                <a:lnTo>
                  <a:pt x="38543" y="147902"/>
                </a:lnTo>
                <a:lnTo>
                  <a:pt x="48733" y="159952"/>
                </a:lnTo>
                <a:lnTo>
                  <a:pt x="57748" y="160707"/>
                </a:lnTo>
                <a:lnTo>
                  <a:pt x="74683" y="146386"/>
                </a:lnTo>
                <a:lnTo>
                  <a:pt x="56231" y="124566"/>
                </a:lnTo>
                <a:close/>
              </a:path>
              <a:path w="222884" h="191135">
                <a:moveTo>
                  <a:pt x="74683" y="146386"/>
                </a:moveTo>
                <a:lnTo>
                  <a:pt x="57748" y="160707"/>
                </a:lnTo>
                <a:lnTo>
                  <a:pt x="86794" y="160707"/>
                </a:lnTo>
                <a:lnTo>
                  <a:pt x="74683" y="146386"/>
                </a:lnTo>
                <a:close/>
              </a:path>
              <a:path w="222884" h="191135">
                <a:moveTo>
                  <a:pt x="203536" y="0"/>
                </a:moveTo>
                <a:lnTo>
                  <a:pt x="56231" y="124566"/>
                </a:lnTo>
                <a:lnTo>
                  <a:pt x="74683" y="146386"/>
                </a:lnTo>
                <a:lnTo>
                  <a:pt x="221987" y="21819"/>
                </a:lnTo>
                <a:lnTo>
                  <a:pt x="222741" y="12805"/>
                </a:lnTo>
                <a:lnTo>
                  <a:pt x="212551" y="754"/>
                </a:lnTo>
                <a:lnTo>
                  <a:pt x="2035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380543" y="3800347"/>
            <a:ext cx="280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#1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06487" y="3087848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124548" y="0"/>
                </a:moveTo>
                <a:lnTo>
                  <a:pt x="76068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8" y="237634"/>
                </a:lnTo>
                <a:lnTo>
                  <a:pt x="124548" y="247354"/>
                </a:lnTo>
                <a:lnTo>
                  <a:pt x="173029" y="237634"/>
                </a:lnTo>
                <a:lnTo>
                  <a:pt x="212619" y="211130"/>
                </a:lnTo>
                <a:lnTo>
                  <a:pt x="239311" y="171818"/>
                </a:lnTo>
                <a:lnTo>
                  <a:pt x="249099" y="123677"/>
                </a:lnTo>
                <a:lnTo>
                  <a:pt x="239311" y="75536"/>
                </a:lnTo>
                <a:lnTo>
                  <a:pt x="212619" y="36224"/>
                </a:lnTo>
                <a:lnTo>
                  <a:pt x="173029" y="9719"/>
                </a:lnTo>
                <a:lnTo>
                  <a:pt x="1245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806487" y="3087848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89364" y="3436769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29"/>
                </a:lnTo>
                <a:lnTo>
                  <a:pt x="239312" y="171817"/>
                </a:lnTo>
                <a:lnTo>
                  <a:pt x="249100" y="123676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89364" y="3436769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806486" y="3786498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30"/>
                </a:lnTo>
                <a:lnTo>
                  <a:pt x="239312" y="171818"/>
                </a:lnTo>
                <a:lnTo>
                  <a:pt x="249100" y="123677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806486" y="3786498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019108" y="3298977"/>
            <a:ext cx="222885" cy="190500"/>
          </a:xfrm>
          <a:custGeom>
            <a:avLst/>
            <a:gdLst/>
            <a:ahLst/>
            <a:cxnLst/>
            <a:rect l="l" t="t" r="r" b="b"/>
            <a:pathLst>
              <a:path w="222885" h="190500">
                <a:moveTo>
                  <a:pt x="74784" y="44274"/>
                </a:moveTo>
                <a:lnTo>
                  <a:pt x="56383" y="66135"/>
                </a:lnTo>
                <a:lnTo>
                  <a:pt x="203572" y="190028"/>
                </a:lnTo>
                <a:lnTo>
                  <a:pt x="212585" y="189254"/>
                </a:lnTo>
                <a:lnTo>
                  <a:pt x="222747" y="177180"/>
                </a:lnTo>
                <a:lnTo>
                  <a:pt x="221973" y="168167"/>
                </a:lnTo>
                <a:lnTo>
                  <a:pt x="74784" y="44274"/>
                </a:lnTo>
                <a:close/>
              </a:path>
              <a:path w="222885" h="190500">
                <a:moveTo>
                  <a:pt x="0" y="0"/>
                </a:moveTo>
                <a:lnTo>
                  <a:pt x="37981" y="87997"/>
                </a:lnTo>
                <a:lnTo>
                  <a:pt x="56383" y="66135"/>
                </a:lnTo>
                <a:lnTo>
                  <a:pt x="39415" y="51852"/>
                </a:lnTo>
                <a:lnTo>
                  <a:pt x="38641" y="42839"/>
                </a:lnTo>
                <a:lnTo>
                  <a:pt x="48803" y="30767"/>
                </a:lnTo>
                <a:lnTo>
                  <a:pt x="57816" y="29992"/>
                </a:lnTo>
                <a:lnTo>
                  <a:pt x="86806" y="29992"/>
                </a:lnTo>
                <a:lnTo>
                  <a:pt x="93186" y="22412"/>
                </a:lnTo>
                <a:lnTo>
                  <a:pt x="0" y="0"/>
                </a:lnTo>
                <a:close/>
              </a:path>
              <a:path w="222885" h="190500">
                <a:moveTo>
                  <a:pt x="57816" y="29992"/>
                </a:moveTo>
                <a:lnTo>
                  <a:pt x="48803" y="30767"/>
                </a:lnTo>
                <a:lnTo>
                  <a:pt x="38641" y="42839"/>
                </a:lnTo>
                <a:lnTo>
                  <a:pt x="39415" y="51852"/>
                </a:lnTo>
                <a:lnTo>
                  <a:pt x="56383" y="66135"/>
                </a:lnTo>
                <a:lnTo>
                  <a:pt x="74784" y="44274"/>
                </a:lnTo>
                <a:lnTo>
                  <a:pt x="57816" y="29992"/>
                </a:lnTo>
                <a:close/>
              </a:path>
              <a:path w="222885" h="190500">
                <a:moveTo>
                  <a:pt x="86806" y="29992"/>
                </a:moveTo>
                <a:lnTo>
                  <a:pt x="57816" y="29992"/>
                </a:lnTo>
                <a:lnTo>
                  <a:pt x="74784" y="44274"/>
                </a:lnTo>
                <a:lnTo>
                  <a:pt x="86806" y="299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003101" y="3647899"/>
            <a:ext cx="222885" cy="191135"/>
          </a:xfrm>
          <a:custGeom>
            <a:avLst/>
            <a:gdLst/>
            <a:ahLst/>
            <a:cxnLst/>
            <a:rect l="l" t="t" r="r" b="b"/>
            <a:pathLst>
              <a:path w="222885" h="191135">
                <a:moveTo>
                  <a:pt x="148059" y="44443"/>
                </a:moveTo>
                <a:lnTo>
                  <a:pt x="754" y="169009"/>
                </a:lnTo>
                <a:lnTo>
                  <a:pt x="0" y="178023"/>
                </a:lnTo>
                <a:lnTo>
                  <a:pt x="10190" y="190074"/>
                </a:lnTo>
                <a:lnTo>
                  <a:pt x="19204" y="190827"/>
                </a:lnTo>
                <a:lnTo>
                  <a:pt x="166510" y="66262"/>
                </a:lnTo>
                <a:lnTo>
                  <a:pt x="148059" y="44443"/>
                </a:lnTo>
                <a:close/>
              </a:path>
              <a:path w="222885" h="191135">
                <a:moveTo>
                  <a:pt x="209822" y="30123"/>
                </a:moveTo>
                <a:lnTo>
                  <a:pt x="164994" y="30123"/>
                </a:lnTo>
                <a:lnTo>
                  <a:pt x="174010" y="30877"/>
                </a:lnTo>
                <a:lnTo>
                  <a:pt x="184199" y="42927"/>
                </a:lnTo>
                <a:lnTo>
                  <a:pt x="183446" y="51941"/>
                </a:lnTo>
                <a:lnTo>
                  <a:pt x="166510" y="66262"/>
                </a:lnTo>
                <a:lnTo>
                  <a:pt x="184961" y="88082"/>
                </a:lnTo>
                <a:lnTo>
                  <a:pt x="209822" y="30123"/>
                </a:lnTo>
                <a:close/>
              </a:path>
              <a:path w="222885" h="191135">
                <a:moveTo>
                  <a:pt x="164994" y="30123"/>
                </a:moveTo>
                <a:lnTo>
                  <a:pt x="148059" y="44443"/>
                </a:lnTo>
                <a:lnTo>
                  <a:pt x="166510" y="66262"/>
                </a:lnTo>
                <a:lnTo>
                  <a:pt x="183446" y="51941"/>
                </a:lnTo>
                <a:lnTo>
                  <a:pt x="184199" y="42927"/>
                </a:lnTo>
                <a:lnTo>
                  <a:pt x="174010" y="30877"/>
                </a:lnTo>
                <a:lnTo>
                  <a:pt x="164994" y="30123"/>
                </a:lnTo>
                <a:close/>
              </a:path>
              <a:path w="222885" h="191135">
                <a:moveTo>
                  <a:pt x="222744" y="0"/>
                </a:moveTo>
                <a:lnTo>
                  <a:pt x="129608" y="22623"/>
                </a:lnTo>
                <a:lnTo>
                  <a:pt x="148059" y="44443"/>
                </a:lnTo>
                <a:lnTo>
                  <a:pt x="164994" y="30123"/>
                </a:lnTo>
                <a:lnTo>
                  <a:pt x="209822" y="30123"/>
                </a:lnTo>
                <a:lnTo>
                  <a:pt x="2227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443397" y="3782059"/>
            <a:ext cx="280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#2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864228" y="3084982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7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30"/>
                </a:lnTo>
                <a:lnTo>
                  <a:pt x="239312" y="171818"/>
                </a:lnTo>
                <a:lnTo>
                  <a:pt x="249100" y="123677"/>
                </a:lnTo>
                <a:lnTo>
                  <a:pt x="239312" y="75537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864228" y="3084982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247105" y="3433903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30"/>
                </a:lnTo>
                <a:lnTo>
                  <a:pt x="239312" y="171818"/>
                </a:lnTo>
                <a:lnTo>
                  <a:pt x="249100" y="123677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247105" y="3433903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864228" y="3783632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124548" y="0"/>
                </a:moveTo>
                <a:lnTo>
                  <a:pt x="76068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8" y="237634"/>
                </a:lnTo>
                <a:lnTo>
                  <a:pt x="124548" y="247354"/>
                </a:lnTo>
                <a:lnTo>
                  <a:pt x="173029" y="237634"/>
                </a:lnTo>
                <a:lnTo>
                  <a:pt x="212619" y="211130"/>
                </a:lnTo>
                <a:lnTo>
                  <a:pt x="239311" y="171818"/>
                </a:lnTo>
                <a:lnTo>
                  <a:pt x="249099" y="123677"/>
                </a:lnTo>
                <a:lnTo>
                  <a:pt x="239311" y="75536"/>
                </a:lnTo>
                <a:lnTo>
                  <a:pt x="212619" y="36224"/>
                </a:lnTo>
                <a:lnTo>
                  <a:pt x="173029" y="9719"/>
                </a:lnTo>
                <a:lnTo>
                  <a:pt x="1245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864228" y="3783632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076849" y="3296113"/>
            <a:ext cx="222885" cy="190500"/>
          </a:xfrm>
          <a:custGeom>
            <a:avLst/>
            <a:gdLst/>
            <a:ahLst/>
            <a:cxnLst/>
            <a:rect l="l" t="t" r="r" b="b"/>
            <a:pathLst>
              <a:path w="222885" h="190500">
                <a:moveTo>
                  <a:pt x="74785" y="44272"/>
                </a:moveTo>
                <a:lnTo>
                  <a:pt x="56384" y="66133"/>
                </a:lnTo>
                <a:lnTo>
                  <a:pt x="203573" y="190027"/>
                </a:lnTo>
                <a:lnTo>
                  <a:pt x="212585" y="189252"/>
                </a:lnTo>
                <a:lnTo>
                  <a:pt x="222749" y="177178"/>
                </a:lnTo>
                <a:lnTo>
                  <a:pt x="221974" y="168165"/>
                </a:lnTo>
                <a:lnTo>
                  <a:pt x="74785" y="44272"/>
                </a:lnTo>
                <a:close/>
              </a:path>
              <a:path w="222885" h="190500">
                <a:moveTo>
                  <a:pt x="0" y="0"/>
                </a:moveTo>
                <a:lnTo>
                  <a:pt x="37983" y="87995"/>
                </a:lnTo>
                <a:lnTo>
                  <a:pt x="56384" y="66133"/>
                </a:lnTo>
                <a:lnTo>
                  <a:pt x="39416" y="51851"/>
                </a:lnTo>
                <a:lnTo>
                  <a:pt x="38642" y="42839"/>
                </a:lnTo>
                <a:lnTo>
                  <a:pt x="48804" y="30765"/>
                </a:lnTo>
                <a:lnTo>
                  <a:pt x="57818" y="29991"/>
                </a:lnTo>
                <a:lnTo>
                  <a:pt x="86806" y="29991"/>
                </a:lnTo>
                <a:lnTo>
                  <a:pt x="93186" y="22411"/>
                </a:lnTo>
                <a:lnTo>
                  <a:pt x="0" y="0"/>
                </a:lnTo>
                <a:close/>
              </a:path>
              <a:path w="222885" h="190500">
                <a:moveTo>
                  <a:pt x="57818" y="29991"/>
                </a:moveTo>
                <a:lnTo>
                  <a:pt x="48804" y="30765"/>
                </a:lnTo>
                <a:lnTo>
                  <a:pt x="38642" y="42839"/>
                </a:lnTo>
                <a:lnTo>
                  <a:pt x="39416" y="51851"/>
                </a:lnTo>
                <a:lnTo>
                  <a:pt x="56384" y="66133"/>
                </a:lnTo>
                <a:lnTo>
                  <a:pt x="74785" y="44272"/>
                </a:lnTo>
                <a:lnTo>
                  <a:pt x="57818" y="29991"/>
                </a:lnTo>
                <a:close/>
              </a:path>
              <a:path w="222885" h="190500">
                <a:moveTo>
                  <a:pt x="86806" y="29991"/>
                </a:moveTo>
                <a:lnTo>
                  <a:pt x="57818" y="29991"/>
                </a:lnTo>
                <a:lnTo>
                  <a:pt x="74785" y="44272"/>
                </a:lnTo>
                <a:lnTo>
                  <a:pt x="86806" y="299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459134" y="3754628"/>
            <a:ext cx="280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#3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927082" y="3067773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30"/>
                </a:lnTo>
                <a:lnTo>
                  <a:pt x="239312" y="171818"/>
                </a:lnTo>
                <a:lnTo>
                  <a:pt x="249100" y="123677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927082" y="3067773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309960" y="3416693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30"/>
                </a:lnTo>
                <a:lnTo>
                  <a:pt x="239312" y="171818"/>
                </a:lnTo>
                <a:lnTo>
                  <a:pt x="249100" y="123677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309960" y="3416693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927081" y="3766423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29"/>
                </a:lnTo>
                <a:lnTo>
                  <a:pt x="239312" y="171817"/>
                </a:lnTo>
                <a:lnTo>
                  <a:pt x="249100" y="123676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927081" y="3766423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139703" y="3278902"/>
            <a:ext cx="222885" cy="190500"/>
          </a:xfrm>
          <a:custGeom>
            <a:avLst/>
            <a:gdLst/>
            <a:ahLst/>
            <a:cxnLst/>
            <a:rect l="l" t="t" r="r" b="b"/>
            <a:pathLst>
              <a:path w="222885" h="190500">
                <a:moveTo>
                  <a:pt x="74785" y="44273"/>
                </a:moveTo>
                <a:lnTo>
                  <a:pt x="56383" y="66135"/>
                </a:lnTo>
                <a:lnTo>
                  <a:pt x="203572" y="190028"/>
                </a:lnTo>
                <a:lnTo>
                  <a:pt x="212585" y="189254"/>
                </a:lnTo>
                <a:lnTo>
                  <a:pt x="222747" y="177180"/>
                </a:lnTo>
                <a:lnTo>
                  <a:pt x="221974" y="168167"/>
                </a:lnTo>
                <a:lnTo>
                  <a:pt x="74785" y="44273"/>
                </a:lnTo>
                <a:close/>
              </a:path>
              <a:path w="222885" h="190500">
                <a:moveTo>
                  <a:pt x="0" y="0"/>
                </a:moveTo>
                <a:lnTo>
                  <a:pt x="37981" y="87997"/>
                </a:lnTo>
                <a:lnTo>
                  <a:pt x="56383" y="66135"/>
                </a:lnTo>
                <a:lnTo>
                  <a:pt x="39415" y="51852"/>
                </a:lnTo>
                <a:lnTo>
                  <a:pt x="38642" y="42839"/>
                </a:lnTo>
                <a:lnTo>
                  <a:pt x="48804" y="30765"/>
                </a:lnTo>
                <a:lnTo>
                  <a:pt x="57818" y="29992"/>
                </a:lnTo>
                <a:lnTo>
                  <a:pt x="86806" y="29992"/>
                </a:lnTo>
                <a:lnTo>
                  <a:pt x="93186" y="22412"/>
                </a:lnTo>
                <a:lnTo>
                  <a:pt x="0" y="0"/>
                </a:lnTo>
                <a:close/>
              </a:path>
              <a:path w="222885" h="190500">
                <a:moveTo>
                  <a:pt x="57818" y="29992"/>
                </a:moveTo>
                <a:lnTo>
                  <a:pt x="48804" y="30765"/>
                </a:lnTo>
                <a:lnTo>
                  <a:pt x="38642" y="42839"/>
                </a:lnTo>
                <a:lnTo>
                  <a:pt x="39415" y="51852"/>
                </a:lnTo>
                <a:lnTo>
                  <a:pt x="56383" y="66135"/>
                </a:lnTo>
                <a:lnTo>
                  <a:pt x="74785" y="44273"/>
                </a:lnTo>
                <a:lnTo>
                  <a:pt x="57818" y="29992"/>
                </a:lnTo>
                <a:close/>
              </a:path>
              <a:path w="222885" h="190500">
                <a:moveTo>
                  <a:pt x="86806" y="29992"/>
                </a:moveTo>
                <a:lnTo>
                  <a:pt x="57818" y="29992"/>
                </a:lnTo>
                <a:lnTo>
                  <a:pt x="74785" y="44273"/>
                </a:lnTo>
                <a:lnTo>
                  <a:pt x="86806" y="299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008770" y="3315127"/>
            <a:ext cx="85725" cy="466090"/>
          </a:xfrm>
          <a:custGeom>
            <a:avLst/>
            <a:gdLst/>
            <a:ahLst/>
            <a:cxnLst/>
            <a:rect l="l" t="t" r="r" b="b"/>
            <a:pathLst>
              <a:path w="85725" h="466089">
                <a:moveTo>
                  <a:pt x="50753" y="57150"/>
                </a:moveTo>
                <a:lnTo>
                  <a:pt x="34971" y="57150"/>
                </a:lnTo>
                <a:lnTo>
                  <a:pt x="28575" y="63546"/>
                </a:lnTo>
                <a:lnTo>
                  <a:pt x="28573" y="459186"/>
                </a:lnTo>
                <a:lnTo>
                  <a:pt x="34970" y="465583"/>
                </a:lnTo>
                <a:lnTo>
                  <a:pt x="50753" y="465583"/>
                </a:lnTo>
                <a:lnTo>
                  <a:pt x="57148" y="459186"/>
                </a:lnTo>
                <a:lnTo>
                  <a:pt x="57150" y="63546"/>
                </a:lnTo>
                <a:lnTo>
                  <a:pt x="50753" y="57150"/>
                </a:lnTo>
                <a:close/>
              </a:path>
              <a:path w="85725" h="466089">
                <a:moveTo>
                  <a:pt x="42862" y="0"/>
                </a:moveTo>
                <a:lnTo>
                  <a:pt x="0" y="85725"/>
                </a:lnTo>
                <a:lnTo>
                  <a:pt x="28574" y="85725"/>
                </a:lnTo>
                <a:lnTo>
                  <a:pt x="28575" y="63546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  <a:path w="85725" h="466089">
                <a:moveTo>
                  <a:pt x="71437" y="57150"/>
                </a:moveTo>
                <a:lnTo>
                  <a:pt x="50753" y="57150"/>
                </a:lnTo>
                <a:lnTo>
                  <a:pt x="57150" y="63546"/>
                </a:lnTo>
                <a:lnTo>
                  <a:pt x="57149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4563992" y="3760723"/>
            <a:ext cx="280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#4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916862" y="3052833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19" y="211130"/>
                </a:lnTo>
                <a:lnTo>
                  <a:pt x="239311" y="171818"/>
                </a:lnTo>
                <a:lnTo>
                  <a:pt x="249099" y="123677"/>
                </a:lnTo>
                <a:lnTo>
                  <a:pt x="239311" y="75536"/>
                </a:lnTo>
                <a:lnTo>
                  <a:pt x="212619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916862" y="3052833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299739" y="3401753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19" y="211130"/>
                </a:lnTo>
                <a:lnTo>
                  <a:pt x="239311" y="171818"/>
                </a:lnTo>
                <a:lnTo>
                  <a:pt x="249099" y="123677"/>
                </a:lnTo>
                <a:lnTo>
                  <a:pt x="239311" y="75536"/>
                </a:lnTo>
                <a:lnTo>
                  <a:pt x="212619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299739" y="3401753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916860" y="3751483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7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30"/>
                </a:lnTo>
                <a:lnTo>
                  <a:pt x="239312" y="171818"/>
                </a:lnTo>
                <a:lnTo>
                  <a:pt x="249100" y="123677"/>
                </a:lnTo>
                <a:lnTo>
                  <a:pt x="239312" y="75537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916860" y="3751483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129483" y="3263963"/>
            <a:ext cx="222885" cy="190500"/>
          </a:xfrm>
          <a:custGeom>
            <a:avLst/>
            <a:gdLst/>
            <a:ahLst/>
            <a:cxnLst/>
            <a:rect l="l" t="t" r="r" b="b"/>
            <a:pathLst>
              <a:path w="222885" h="190500">
                <a:moveTo>
                  <a:pt x="74784" y="44273"/>
                </a:moveTo>
                <a:lnTo>
                  <a:pt x="56383" y="66134"/>
                </a:lnTo>
                <a:lnTo>
                  <a:pt x="203572" y="190027"/>
                </a:lnTo>
                <a:lnTo>
                  <a:pt x="212585" y="189252"/>
                </a:lnTo>
                <a:lnTo>
                  <a:pt x="222747" y="177178"/>
                </a:lnTo>
                <a:lnTo>
                  <a:pt x="221973" y="168165"/>
                </a:lnTo>
                <a:lnTo>
                  <a:pt x="74784" y="44273"/>
                </a:lnTo>
                <a:close/>
              </a:path>
              <a:path w="222885" h="190500">
                <a:moveTo>
                  <a:pt x="0" y="0"/>
                </a:moveTo>
                <a:lnTo>
                  <a:pt x="37981" y="87995"/>
                </a:lnTo>
                <a:lnTo>
                  <a:pt x="56383" y="66134"/>
                </a:lnTo>
                <a:lnTo>
                  <a:pt x="39415" y="51852"/>
                </a:lnTo>
                <a:lnTo>
                  <a:pt x="38641" y="42839"/>
                </a:lnTo>
                <a:lnTo>
                  <a:pt x="48803" y="30765"/>
                </a:lnTo>
                <a:lnTo>
                  <a:pt x="57816" y="29991"/>
                </a:lnTo>
                <a:lnTo>
                  <a:pt x="86806" y="29991"/>
                </a:lnTo>
                <a:lnTo>
                  <a:pt x="93186" y="22411"/>
                </a:lnTo>
                <a:lnTo>
                  <a:pt x="0" y="0"/>
                </a:lnTo>
                <a:close/>
              </a:path>
              <a:path w="222885" h="190500">
                <a:moveTo>
                  <a:pt x="57816" y="29991"/>
                </a:moveTo>
                <a:lnTo>
                  <a:pt x="48803" y="30765"/>
                </a:lnTo>
                <a:lnTo>
                  <a:pt x="38641" y="42839"/>
                </a:lnTo>
                <a:lnTo>
                  <a:pt x="39415" y="51852"/>
                </a:lnTo>
                <a:lnTo>
                  <a:pt x="56383" y="66134"/>
                </a:lnTo>
                <a:lnTo>
                  <a:pt x="74784" y="44273"/>
                </a:lnTo>
                <a:lnTo>
                  <a:pt x="57816" y="29991"/>
                </a:lnTo>
                <a:close/>
              </a:path>
              <a:path w="222885" h="190500">
                <a:moveTo>
                  <a:pt x="86806" y="29991"/>
                </a:moveTo>
                <a:lnTo>
                  <a:pt x="57816" y="29991"/>
                </a:lnTo>
                <a:lnTo>
                  <a:pt x="74784" y="44273"/>
                </a:lnTo>
                <a:lnTo>
                  <a:pt x="86806" y="299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998548" y="3300187"/>
            <a:ext cx="85725" cy="466090"/>
          </a:xfrm>
          <a:custGeom>
            <a:avLst/>
            <a:gdLst/>
            <a:ahLst/>
            <a:cxnLst/>
            <a:rect l="l" t="t" r="r" b="b"/>
            <a:pathLst>
              <a:path w="85725" h="466089">
                <a:moveTo>
                  <a:pt x="50754" y="57150"/>
                </a:moveTo>
                <a:lnTo>
                  <a:pt x="34971" y="57150"/>
                </a:lnTo>
                <a:lnTo>
                  <a:pt x="28576" y="63546"/>
                </a:lnTo>
                <a:lnTo>
                  <a:pt x="28575" y="459187"/>
                </a:lnTo>
                <a:lnTo>
                  <a:pt x="34971" y="465583"/>
                </a:lnTo>
                <a:lnTo>
                  <a:pt x="50753" y="465583"/>
                </a:lnTo>
                <a:lnTo>
                  <a:pt x="57150" y="459187"/>
                </a:lnTo>
                <a:lnTo>
                  <a:pt x="57151" y="63546"/>
                </a:lnTo>
                <a:lnTo>
                  <a:pt x="50754" y="57150"/>
                </a:lnTo>
                <a:close/>
              </a:path>
              <a:path w="85725" h="466089">
                <a:moveTo>
                  <a:pt x="42863" y="0"/>
                </a:moveTo>
                <a:lnTo>
                  <a:pt x="0" y="85725"/>
                </a:lnTo>
                <a:lnTo>
                  <a:pt x="28576" y="85725"/>
                </a:lnTo>
                <a:lnTo>
                  <a:pt x="28576" y="63546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3" y="0"/>
                </a:lnTo>
                <a:close/>
              </a:path>
              <a:path w="85725" h="466089">
                <a:moveTo>
                  <a:pt x="71437" y="57150"/>
                </a:moveTo>
                <a:lnTo>
                  <a:pt x="50754" y="57150"/>
                </a:lnTo>
                <a:lnTo>
                  <a:pt x="57151" y="63546"/>
                </a:lnTo>
                <a:lnTo>
                  <a:pt x="57151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5553772" y="3748532"/>
            <a:ext cx="280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#5</a:t>
            </a:r>
            <a:endParaRPr sz="18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979716" y="3035623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30"/>
                </a:lnTo>
                <a:lnTo>
                  <a:pt x="239312" y="171818"/>
                </a:lnTo>
                <a:lnTo>
                  <a:pt x="249100" y="123677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979716" y="3035623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362594" y="3384544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19" y="211129"/>
                </a:lnTo>
                <a:lnTo>
                  <a:pt x="239311" y="171817"/>
                </a:lnTo>
                <a:lnTo>
                  <a:pt x="249099" y="123676"/>
                </a:lnTo>
                <a:lnTo>
                  <a:pt x="239311" y="75536"/>
                </a:lnTo>
                <a:lnTo>
                  <a:pt x="212619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362594" y="3384544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979714" y="3734273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30"/>
                </a:lnTo>
                <a:lnTo>
                  <a:pt x="239312" y="171818"/>
                </a:lnTo>
                <a:lnTo>
                  <a:pt x="249100" y="123677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979714" y="3734273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192337" y="3246752"/>
            <a:ext cx="222885" cy="190500"/>
          </a:xfrm>
          <a:custGeom>
            <a:avLst/>
            <a:gdLst/>
            <a:ahLst/>
            <a:cxnLst/>
            <a:rect l="l" t="t" r="r" b="b"/>
            <a:pathLst>
              <a:path w="222885" h="190500">
                <a:moveTo>
                  <a:pt x="74784" y="44274"/>
                </a:moveTo>
                <a:lnTo>
                  <a:pt x="56383" y="66135"/>
                </a:lnTo>
                <a:lnTo>
                  <a:pt x="203572" y="190028"/>
                </a:lnTo>
                <a:lnTo>
                  <a:pt x="212585" y="189254"/>
                </a:lnTo>
                <a:lnTo>
                  <a:pt x="222747" y="177180"/>
                </a:lnTo>
                <a:lnTo>
                  <a:pt x="221973" y="168167"/>
                </a:lnTo>
                <a:lnTo>
                  <a:pt x="74784" y="44274"/>
                </a:lnTo>
                <a:close/>
              </a:path>
              <a:path w="222885" h="190500">
                <a:moveTo>
                  <a:pt x="0" y="0"/>
                </a:moveTo>
                <a:lnTo>
                  <a:pt x="37981" y="87997"/>
                </a:lnTo>
                <a:lnTo>
                  <a:pt x="56383" y="66135"/>
                </a:lnTo>
                <a:lnTo>
                  <a:pt x="39415" y="51852"/>
                </a:lnTo>
                <a:lnTo>
                  <a:pt x="38641" y="42839"/>
                </a:lnTo>
                <a:lnTo>
                  <a:pt x="48803" y="30767"/>
                </a:lnTo>
                <a:lnTo>
                  <a:pt x="57816" y="29992"/>
                </a:lnTo>
                <a:lnTo>
                  <a:pt x="86806" y="29992"/>
                </a:lnTo>
                <a:lnTo>
                  <a:pt x="93186" y="22412"/>
                </a:lnTo>
                <a:lnTo>
                  <a:pt x="0" y="0"/>
                </a:lnTo>
                <a:close/>
              </a:path>
              <a:path w="222885" h="190500">
                <a:moveTo>
                  <a:pt x="57816" y="29992"/>
                </a:moveTo>
                <a:lnTo>
                  <a:pt x="48803" y="30767"/>
                </a:lnTo>
                <a:lnTo>
                  <a:pt x="38641" y="42839"/>
                </a:lnTo>
                <a:lnTo>
                  <a:pt x="39415" y="51852"/>
                </a:lnTo>
                <a:lnTo>
                  <a:pt x="56383" y="66135"/>
                </a:lnTo>
                <a:lnTo>
                  <a:pt x="74784" y="44274"/>
                </a:lnTo>
                <a:lnTo>
                  <a:pt x="57816" y="29992"/>
                </a:lnTo>
                <a:close/>
              </a:path>
              <a:path w="222885" h="190500">
                <a:moveTo>
                  <a:pt x="86806" y="29992"/>
                </a:moveTo>
                <a:lnTo>
                  <a:pt x="57816" y="29992"/>
                </a:lnTo>
                <a:lnTo>
                  <a:pt x="74784" y="44274"/>
                </a:lnTo>
                <a:lnTo>
                  <a:pt x="86806" y="299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061404" y="3282977"/>
            <a:ext cx="85725" cy="466090"/>
          </a:xfrm>
          <a:custGeom>
            <a:avLst/>
            <a:gdLst/>
            <a:ahLst/>
            <a:cxnLst/>
            <a:rect l="l" t="t" r="r" b="b"/>
            <a:pathLst>
              <a:path w="85725" h="466089">
                <a:moveTo>
                  <a:pt x="50753" y="57150"/>
                </a:moveTo>
                <a:lnTo>
                  <a:pt x="34970" y="57150"/>
                </a:lnTo>
                <a:lnTo>
                  <a:pt x="28575" y="63546"/>
                </a:lnTo>
                <a:lnTo>
                  <a:pt x="28573" y="459186"/>
                </a:lnTo>
                <a:lnTo>
                  <a:pt x="34970" y="465583"/>
                </a:lnTo>
                <a:lnTo>
                  <a:pt x="50751" y="465583"/>
                </a:lnTo>
                <a:lnTo>
                  <a:pt x="57148" y="459186"/>
                </a:lnTo>
                <a:lnTo>
                  <a:pt x="57150" y="63546"/>
                </a:lnTo>
                <a:lnTo>
                  <a:pt x="50753" y="57150"/>
                </a:lnTo>
                <a:close/>
              </a:path>
              <a:path w="85725" h="466089">
                <a:moveTo>
                  <a:pt x="42862" y="0"/>
                </a:moveTo>
                <a:lnTo>
                  <a:pt x="0" y="85725"/>
                </a:lnTo>
                <a:lnTo>
                  <a:pt x="28574" y="85725"/>
                </a:lnTo>
                <a:lnTo>
                  <a:pt x="28575" y="63546"/>
                </a:lnTo>
                <a:lnTo>
                  <a:pt x="34970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  <a:path w="85725" h="466089">
                <a:moveTo>
                  <a:pt x="71437" y="57150"/>
                </a:moveTo>
                <a:lnTo>
                  <a:pt x="50753" y="57150"/>
                </a:lnTo>
                <a:lnTo>
                  <a:pt x="57150" y="63546"/>
                </a:lnTo>
                <a:lnTo>
                  <a:pt x="57149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6616626" y="3730244"/>
            <a:ext cx="280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#6</a:t>
            </a:r>
            <a:endParaRPr sz="18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7042569" y="3045429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6"/>
                </a:lnTo>
                <a:lnTo>
                  <a:pt x="36479" y="211128"/>
                </a:lnTo>
                <a:lnTo>
                  <a:pt x="76069" y="237633"/>
                </a:lnTo>
                <a:lnTo>
                  <a:pt x="124550" y="247352"/>
                </a:lnTo>
                <a:lnTo>
                  <a:pt x="173030" y="237633"/>
                </a:lnTo>
                <a:lnTo>
                  <a:pt x="212620" y="211128"/>
                </a:lnTo>
                <a:lnTo>
                  <a:pt x="239312" y="171816"/>
                </a:lnTo>
                <a:lnTo>
                  <a:pt x="249100" y="123676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042569" y="3045429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425445" y="3394349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30"/>
                </a:lnTo>
                <a:lnTo>
                  <a:pt x="239312" y="171818"/>
                </a:lnTo>
                <a:lnTo>
                  <a:pt x="249100" y="123677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425445" y="3394349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7042567" y="3744078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7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30"/>
                </a:lnTo>
                <a:lnTo>
                  <a:pt x="239312" y="171818"/>
                </a:lnTo>
                <a:lnTo>
                  <a:pt x="249100" y="123677"/>
                </a:lnTo>
                <a:lnTo>
                  <a:pt x="239312" y="75537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042567" y="3744078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7239176" y="3240547"/>
            <a:ext cx="222885" cy="190500"/>
          </a:xfrm>
          <a:custGeom>
            <a:avLst/>
            <a:gdLst/>
            <a:ahLst/>
            <a:cxnLst/>
            <a:rect l="l" t="t" r="r" b="b"/>
            <a:pathLst>
              <a:path w="222884" h="190500">
                <a:moveTo>
                  <a:pt x="147964" y="145754"/>
                </a:moveTo>
                <a:lnTo>
                  <a:pt x="129564" y="167615"/>
                </a:lnTo>
                <a:lnTo>
                  <a:pt x="222750" y="190026"/>
                </a:lnTo>
                <a:lnTo>
                  <a:pt x="209805" y="160036"/>
                </a:lnTo>
                <a:lnTo>
                  <a:pt x="164932" y="160036"/>
                </a:lnTo>
                <a:lnTo>
                  <a:pt x="147964" y="145754"/>
                </a:lnTo>
                <a:close/>
              </a:path>
              <a:path w="222884" h="190500">
                <a:moveTo>
                  <a:pt x="166365" y="123892"/>
                </a:moveTo>
                <a:lnTo>
                  <a:pt x="147964" y="145754"/>
                </a:lnTo>
                <a:lnTo>
                  <a:pt x="164932" y="160036"/>
                </a:lnTo>
                <a:lnTo>
                  <a:pt x="173945" y="159261"/>
                </a:lnTo>
                <a:lnTo>
                  <a:pt x="184108" y="147187"/>
                </a:lnTo>
                <a:lnTo>
                  <a:pt x="183333" y="138174"/>
                </a:lnTo>
                <a:lnTo>
                  <a:pt x="166365" y="123892"/>
                </a:lnTo>
                <a:close/>
              </a:path>
              <a:path w="222884" h="190500">
                <a:moveTo>
                  <a:pt x="184767" y="102030"/>
                </a:moveTo>
                <a:lnTo>
                  <a:pt x="166365" y="123892"/>
                </a:lnTo>
                <a:lnTo>
                  <a:pt x="183333" y="138174"/>
                </a:lnTo>
                <a:lnTo>
                  <a:pt x="184108" y="147187"/>
                </a:lnTo>
                <a:lnTo>
                  <a:pt x="173945" y="159261"/>
                </a:lnTo>
                <a:lnTo>
                  <a:pt x="164932" y="160036"/>
                </a:lnTo>
                <a:lnTo>
                  <a:pt x="209805" y="160036"/>
                </a:lnTo>
                <a:lnTo>
                  <a:pt x="184767" y="102030"/>
                </a:lnTo>
                <a:close/>
              </a:path>
              <a:path w="222884" h="190500">
                <a:moveTo>
                  <a:pt x="19175" y="0"/>
                </a:moveTo>
                <a:lnTo>
                  <a:pt x="10162" y="774"/>
                </a:lnTo>
                <a:lnTo>
                  <a:pt x="0" y="12848"/>
                </a:lnTo>
                <a:lnTo>
                  <a:pt x="774" y="21861"/>
                </a:lnTo>
                <a:lnTo>
                  <a:pt x="147964" y="145754"/>
                </a:lnTo>
                <a:lnTo>
                  <a:pt x="166365" y="123892"/>
                </a:lnTo>
                <a:lnTo>
                  <a:pt x="19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7785909" y="3730244"/>
            <a:ext cx="280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#7</a:t>
            </a:r>
            <a:endParaRPr sz="18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306484" y="5053076"/>
            <a:ext cx="280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#8</a:t>
            </a:r>
            <a:endParaRPr sz="18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2003093" y="4561749"/>
            <a:ext cx="222885" cy="190500"/>
          </a:xfrm>
          <a:custGeom>
            <a:avLst/>
            <a:gdLst/>
            <a:ahLst/>
            <a:cxnLst/>
            <a:rect l="l" t="t" r="r" b="b"/>
            <a:pathLst>
              <a:path w="222885" h="190500">
                <a:moveTo>
                  <a:pt x="147964" y="145754"/>
                </a:moveTo>
                <a:lnTo>
                  <a:pt x="129564" y="167615"/>
                </a:lnTo>
                <a:lnTo>
                  <a:pt x="222750" y="190027"/>
                </a:lnTo>
                <a:lnTo>
                  <a:pt x="209805" y="160036"/>
                </a:lnTo>
                <a:lnTo>
                  <a:pt x="164932" y="160036"/>
                </a:lnTo>
                <a:lnTo>
                  <a:pt x="147964" y="145754"/>
                </a:lnTo>
                <a:close/>
              </a:path>
              <a:path w="222885" h="190500">
                <a:moveTo>
                  <a:pt x="166366" y="123892"/>
                </a:moveTo>
                <a:lnTo>
                  <a:pt x="147964" y="145754"/>
                </a:lnTo>
                <a:lnTo>
                  <a:pt x="164932" y="160036"/>
                </a:lnTo>
                <a:lnTo>
                  <a:pt x="173945" y="159261"/>
                </a:lnTo>
                <a:lnTo>
                  <a:pt x="184108" y="147187"/>
                </a:lnTo>
                <a:lnTo>
                  <a:pt x="183334" y="138174"/>
                </a:lnTo>
                <a:lnTo>
                  <a:pt x="166366" y="123892"/>
                </a:lnTo>
                <a:close/>
              </a:path>
              <a:path w="222885" h="190500">
                <a:moveTo>
                  <a:pt x="184767" y="102030"/>
                </a:moveTo>
                <a:lnTo>
                  <a:pt x="166366" y="123892"/>
                </a:lnTo>
                <a:lnTo>
                  <a:pt x="183334" y="138174"/>
                </a:lnTo>
                <a:lnTo>
                  <a:pt x="184108" y="147187"/>
                </a:lnTo>
                <a:lnTo>
                  <a:pt x="173945" y="159261"/>
                </a:lnTo>
                <a:lnTo>
                  <a:pt x="164932" y="160036"/>
                </a:lnTo>
                <a:lnTo>
                  <a:pt x="209805" y="160036"/>
                </a:lnTo>
                <a:lnTo>
                  <a:pt x="184767" y="102030"/>
                </a:lnTo>
                <a:close/>
              </a:path>
              <a:path w="222885" h="190500">
                <a:moveTo>
                  <a:pt x="19175" y="0"/>
                </a:moveTo>
                <a:lnTo>
                  <a:pt x="10162" y="774"/>
                </a:lnTo>
                <a:lnTo>
                  <a:pt x="0" y="12848"/>
                </a:lnTo>
                <a:lnTo>
                  <a:pt x="774" y="21861"/>
                </a:lnTo>
                <a:lnTo>
                  <a:pt x="147964" y="145754"/>
                </a:lnTo>
                <a:lnTo>
                  <a:pt x="166366" y="123892"/>
                </a:lnTo>
                <a:lnTo>
                  <a:pt x="19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888173" y="4613986"/>
            <a:ext cx="85725" cy="466090"/>
          </a:xfrm>
          <a:custGeom>
            <a:avLst/>
            <a:gdLst/>
            <a:ahLst/>
            <a:cxnLst/>
            <a:rect l="l" t="t" r="r" b="b"/>
            <a:pathLst>
              <a:path w="85725" h="466089">
                <a:moveTo>
                  <a:pt x="50753" y="57149"/>
                </a:moveTo>
                <a:lnTo>
                  <a:pt x="34970" y="57149"/>
                </a:lnTo>
                <a:lnTo>
                  <a:pt x="28575" y="63545"/>
                </a:lnTo>
                <a:lnTo>
                  <a:pt x="28573" y="459186"/>
                </a:lnTo>
                <a:lnTo>
                  <a:pt x="34970" y="465583"/>
                </a:lnTo>
                <a:lnTo>
                  <a:pt x="50751" y="465583"/>
                </a:lnTo>
                <a:lnTo>
                  <a:pt x="57148" y="459186"/>
                </a:lnTo>
                <a:lnTo>
                  <a:pt x="57148" y="63545"/>
                </a:lnTo>
                <a:lnTo>
                  <a:pt x="50753" y="57149"/>
                </a:lnTo>
                <a:close/>
              </a:path>
              <a:path w="85725" h="466089">
                <a:moveTo>
                  <a:pt x="42862" y="0"/>
                </a:moveTo>
                <a:lnTo>
                  <a:pt x="0" y="85724"/>
                </a:lnTo>
                <a:lnTo>
                  <a:pt x="28574" y="85724"/>
                </a:lnTo>
                <a:lnTo>
                  <a:pt x="28575" y="63545"/>
                </a:lnTo>
                <a:lnTo>
                  <a:pt x="34970" y="57149"/>
                </a:lnTo>
                <a:lnTo>
                  <a:pt x="71437" y="57149"/>
                </a:lnTo>
                <a:lnTo>
                  <a:pt x="42862" y="0"/>
                </a:lnTo>
                <a:close/>
              </a:path>
              <a:path w="85725" h="466089">
                <a:moveTo>
                  <a:pt x="71437" y="57149"/>
                </a:moveTo>
                <a:lnTo>
                  <a:pt x="50753" y="57149"/>
                </a:lnTo>
                <a:lnTo>
                  <a:pt x="57148" y="63545"/>
                </a:lnTo>
                <a:lnTo>
                  <a:pt x="57149" y="85724"/>
                </a:lnTo>
                <a:lnTo>
                  <a:pt x="85725" y="85724"/>
                </a:lnTo>
                <a:lnTo>
                  <a:pt x="71437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2390233" y="5043932"/>
            <a:ext cx="280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#9</a:t>
            </a:r>
            <a:endParaRPr sz="1800">
              <a:latin typeface="Arial"/>
              <a:cs typeface="Arial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945914" y="4611119"/>
            <a:ext cx="85725" cy="466090"/>
          </a:xfrm>
          <a:custGeom>
            <a:avLst/>
            <a:gdLst/>
            <a:ahLst/>
            <a:cxnLst/>
            <a:rect l="l" t="t" r="r" b="b"/>
            <a:pathLst>
              <a:path w="85725" h="466089">
                <a:moveTo>
                  <a:pt x="50754" y="57150"/>
                </a:moveTo>
                <a:lnTo>
                  <a:pt x="34971" y="57150"/>
                </a:lnTo>
                <a:lnTo>
                  <a:pt x="28575" y="63546"/>
                </a:lnTo>
                <a:lnTo>
                  <a:pt x="28575" y="459186"/>
                </a:lnTo>
                <a:lnTo>
                  <a:pt x="34970" y="465583"/>
                </a:lnTo>
                <a:lnTo>
                  <a:pt x="50753" y="465583"/>
                </a:lnTo>
                <a:lnTo>
                  <a:pt x="57150" y="459186"/>
                </a:lnTo>
                <a:lnTo>
                  <a:pt x="57150" y="63546"/>
                </a:lnTo>
                <a:lnTo>
                  <a:pt x="50754" y="57150"/>
                </a:lnTo>
                <a:close/>
              </a:path>
              <a:path w="85725" h="466089">
                <a:moveTo>
                  <a:pt x="42862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63546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  <a:path w="85725" h="466089">
                <a:moveTo>
                  <a:pt x="71437" y="57150"/>
                </a:moveTo>
                <a:lnTo>
                  <a:pt x="50754" y="57150"/>
                </a:lnTo>
                <a:lnTo>
                  <a:pt x="57150" y="63546"/>
                </a:lnTo>
                <a:lnTo>
                  <a:pt x="57150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076848" y="4907810"/>
            <a:ext cx="222885" cy="191135"/>
          </a:xfrm>
          <a:custGeom>
            <a:avLst/>
            <a:gdLst/>
            <a:ahLst/>
            <a:cxnLst/>
            <a:rect l="l" t="t" r="r" b="b"/>
            <a:pathLst>
              <a:path w="222885" h="191135">
                <a:moveTo>
                  <a:pt x="37781" y="102746"/>
                </a:moveTo>
                <a:lnTo>
                  <a:pt x="0" y="190830"/>
                </a:lnTo>
                <a:lnTo>
                  <a:pt x="93134" y="168205"/>
                </a:lnTo>
                <a:lnTo>
                  <a:pt x="86793" y="160707"/>
                </a:lnTo>
                <a:lnTo>
                  <a:pt x="57748" y="160707"/>
                </a:lnTo>
                <a:lnTo>
                  <a:pt x="48733" y="159952"/>
                </a:lnTo>
                <a:lnTo>
                  <a:pt x="38543" y="147901"/>
                </a:lnTo>
                <a:lnTo>
                  <a:pt x="39297" y="138887"/>
                </a:lnTo>
                <a:lnTo>
                  <a:pt x="56232" y="124566"/>
                </a:lnTo>
                <a:lnTo>
                  <a:pt x="37781" y="102746"/>
                </a:lnTo>
                <a:close/>
              </a:path>
              <a:path w="222885" h="191135">
                <a:moveTo>
                  <a:pt x="56232" y="124566"/>
                </a:moveTo>
                <a:lnTo>
                  <a:pt x="39297" y="138887"/>
                </a:lnTo>
                <a:lnTo>
                  <a:pt x="38543" y="147901"/>
                </a:lnTo>
                <a:lnTo>
                  <a:pt x="48733" y="159952"/>
                </a:lnTo>
                <a:lnTo>
                  <a:pt x="57748" y="160707"/>
                </a:lnTo>
                <a:lnTo>
                  <a:pt x="74683" y="146385"/>
                </a:lnTo>
                <a:lnTo>
                  <a:pt x="56232" y="124566"/>
                </a:lnTo>
                <a:close/>
              </a:path>
              <a:path w="222885" h="191135">
                <a:moveTo>
                  <a:pt x="74683" y="146385"/>
                </a:moveTo>
                <a:lnTo>
                  <a:pt x="57748" y="160707"/>
                </a:lnTo>
                <a:lnTo>
                  <a:pt x="86793" y="160707"/>
                </a:lnTo>
                <a:lnTo>
                  <a:pt x="74683" y="146385"/>
                </a:lnTo>
                <a:close/>
              </a:path>
              <a:path w="222885" h="191135">
                <a:moveTo>
                  <a:pt x="203536" y="0"/>
                </a:moveTo>
                <a:lnTo>
                  <a:pt x="56232" y="124566"/>
                </a:lnTo>
                <a:lnTo>
                  <a:pt x="74683" y="146385"/>
                </a:lnTo>
                <a:lnTo>
                  <a:pt x="221987" y="21819"/>
                </a:lnTo>
                <a:lnTo>
                  <a:pt x="222741" y="12804"/>
                </a:lnTo>
                <a:lnTo>
                  <a:pt x="212551" y="754"/>
                </a:lnTo>
                <a:lnTo>
                  <a:pt x="2035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3397487" y="5025644"/>
            <a:ext cx="4070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#10</a:t>
            </a:r>
            <a:endParaRPr sz="180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4008768" y="4593911"/>
            <a:ext cx="85725" cy="466090"/>
          </a:xfrm>
          <a:custGeom>
            <a:avLst/>
            <a:gdLst/>
            <a:ahLst/>
            <a:cxnLst/>
            <a:rect l="l" t="t" r="r" b="b"/>
            <a:pathLst>
              <a:path w="85725" h="466089">
                <a:moveTo>
                  <a:pt x="28575" y="85724"/>
                </a:moveTo>
                <a:lnTo>
                  <a:pt x="28575" y="459186"/>
                </a:lnTo>
                <a:lnTo>
                  <a:pt x="34970" y="465583"/>
                </a:lnTo>
                <a:lnTo>
                  <a:pt x="50753" y="465583"/>
                </a:lnTo>
                <a:lnTo>
                  <a:pt x="57150" y="459186"/>
                </a:lnTo>
                <a:lnTo>
                  <a:pt x="57150" y="85724"/>
                </a:lnTo>
                <a:lnTo>
                  <a:pt x="28575" y="85724"/>
                </a:lnTo>
                <a:close/>
              </a:path>
              <a:path w="85725" h="466089">
                <a:moveTo>
                  <a:pt x="71437" y="57150"/>
                </a:moveTo>
                <a:lnTo>
                  <a:pt x="50753" y="57150"/>
                </a:lnTo>
                <a:lnTo>
                  <a:pt x="57150" y="63545"/>
                </a:lnTo>
                <a:lnTo>
                  <a:pt x="57150" y="85724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  <a:path w="85725" h="466089">
                <a:moveTo>
                  <a:pt x="50753" y="57150"/>
                </a:moveTo>
                <a:lnTo>
                  <a:pt x="34971" y="57150"/>
                </a:lnTo>
                <a:lnTo>
                  <a:pt x="28575" y="63545"/>
                </a:lnTo>
                <a:lnTo>
                  <a:pt x="28575" y="85724"/>
                </a:lnTo>
                <a:lnTo>
                  <a:pt x="57150" y="85724"/>
                </a:lnTo>
                <a:lnTo>
                  <a:pt x="57150" y="63545"/>
                </a:lnTo>
                <a:lnTo>
                  <a:pt x="50753" y="57150"/>
                </a:lnTo>
                <a:close/>
              </a:path>
              <a:path w="85725" h="466089">
                <a:moveTo>
                  <a:pt x="42862" y="0"/>
                </a:moveTo>
                <a:lnTo>
                  <a:pt x="0" y="85723"/>
                </a:lnTo>
                <a:lnTo>
                  <a:pt x="28575" y="85724"/>
                </a:lnTo>
                <a:lnTo>
                  <a:pt x="28575" y="63545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4446036" y="5016500"/>
            <a:ext cx="3898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#</a:t>
            </a:r>
            <a:r>
              <a:rPr dirty="0" sz="1800" spc="-135">
                <a:latin typeface="Arial"/>
                <a:cs typeface="Arial"/>
              </a:rPr>
              <a:t>1</a:t>
            </a: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4998548" y="4578970"/>
            <a:ext cx="85725" cy="466090"/>
          </a:xfrm>
          <a:custGeom>
            <a:avLst/>
            <a:gdLst/>
            <a:ahLst/>
            <a:cxnLst/>
            <a:rect l="l" t="t" r="r" b="b"/>
            <a:pathLst>
              <a:path w="85725" h="466089">
                <a:moveTo>
                  <a:pt x="50753" y="57150"/>
                </a:moveTo>
                <a:lnTo>
                  <a:pt x="34970" y="57150"/>
                </a:lnTo>
                <a:lnTo>
                  <a:pt x="28575" y="63546"/>
                </a:lnTo>
                <a:lnTo>
                  <a:pt x="28573" y="459186"/>
                </a:lnTo>
                <a:lnTo>
                  <a:pt x="34970" y="465583"/>
                </a:lnTo>
                <a:lnTo>
                  <a:pt x="50751" y="465583"/>
                </a:lnTo>
                <a:lnTo>
                  <a:pt x="57148" y="459186"/>
                </a:lnTo>
                <a:lnTo>
                  <a:pt x="57150" y="63546"/>
                </a:lnTo>
                <a:lnTo>
                  <a:pt x="50753" y="57150"/>
                </a:lnTo>
                <a:close/>
              </a:path>
              <a:path w="85725" h="466089">
                <a:moveTo>
                  <a:pt x="42862" y="0"/>
                </a:moveTo>
                <a:lnTo>
                  <a:pt x="0" y="85725"/>
                </a:lnTo>
                <a:lnTo>
                  <a:pt x="28574" y="85725"/>
                </a:lnTo>
                <a:lnTo>
                  <a:pt x="28575" y="63546"/>
                </a:lnTo>
                <a:lnTo>
                  <a:pt x="34970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  <a:path w="85725" h="466089">
                <a:moveTo>
                  <a:pt x="71437" y="57150"/>
                </a:moveTo>
                <a:lnTo>
                  <a:pt x="50753" y="57150"/>
                </a:lnTo>
                <a:lnTo>
                  <a:pt x="57150" y="63546"/>
                </a:lnTo>
                <a:lnTo>
                  <a:pt x="57149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5425329" y="5025644"/>
            <a:ext cx="4070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#12</a:t>
            </a:r>
            <a:endParaRPr sz="180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5979714" y="4314407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29"/>
                </a:lnTo>
                <a:lnTo>
                  <a:pt x="239312" y="171817"/>
                </a:lnTo>
                <a:lnTo>
                  <a:pt x="249100" y="123676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979714" y="4314407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362593" y="4663328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48" y="0"/>
                </a:moveTo>
                <a:lnTo>
                  <a:pt x="76068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8" y="237634"/>
                </a:lnTo>
                <a:lnTo>
                  <a:pt x="124548" y="247354"/>
                </a:lnTo>
                <a:lnTo>
                  <a:pt x="173029" y="237634"/>
                </a:lnTo>
                <a:lnTo>
                  <a:pt x="212619" y="211129"/>
                </a:lnTo>
                <a:lnTo>
                  <a:pt x="239311" y="171817"/>
                </a:lnTo>
                <a:lnTo>
                  <a:pt x="249099" y="123676"/>
                </a:lnTo>
                <a:lnTo>
                  <a:pt x="239311" y="75536"/>
                </a:lnTo>
                <a:lnTo>
                  <a:pt x="212619" y="36224"/>
                </a:lnTo>
                <a:lnTo>
                  <a:pt x="173029" y="9719"/>
                </a:lnTo>
                <a:lnTo>
                  <a:pt x="1245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362593" y="4663328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5979713" y="5013057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29"/>
                </a:lnTo>
                <a:lnTo>
                  <a:pt x="239312" y="171817"/>
                </a:lnTo>
                <a:lnTo>
                  <a:pt x="249100" y="123676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5979713" y="5013057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6519981" y="5001259"/>
            <a:ext cx="4070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#13</a:t>
            </a:r>
            <a:endParaRPr sz="1800">
              <a:latin typeface="Arial"/>
              <a:cs typeface="Arial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3076848" y="3645034"/>
            <a:ext cx="207010" cy="175260"/>
          </a:xfrm>
          <a:custGeom>
            <a:avLst/>
            <a:gdLst/>
            <a:ahLst/>
            <a:cxnLst/>
            <a:rect l="l" t="t" r="r" b="b"/>
            <a:pathLst>
              <a:path w="207010" h="175260">
                <a:moveTo>
                  <a:pt x="37781" y="86739"/>
                </a:moveTo>
                <a:lnTo>
                  <a:pt x="0" y="174821"/>
                </a:lnTo>
                <a:lnTo>
                  <a:pt x="93135" y="152198"/>
                </a:lnTo>
                <a:lnTo>
                  <a:pt x="86794" y="144699"/>
                </a:lnTo>
                <a:lnTo>
                  <a:pt x="57748" y="144699"/>
                </a:lnTo>
                <a:lnTo>
                  <a:pt x="48733" y="143945"/>
                </a:lnTo>
                <a:lnTo>
                  <a:pt x="38543" y="131894"/>
                </a:lnTo>
                <a:lnTo>
                  <a:pt x="39297" y="122880"/>
                </a:lnTo>
                <a:lnTo>
                  <a:pt x="56232" y="108559"/>
                </a:lnTo>
                <a:lnTo>
                  <a:pt x="37781" y="86739"/>
                </a:lnTo>
                <a:close/>
              </a:path>
              <a:path w="207010" h="175260">
                <a:moveTo>
                  <a:pt x="56232" y="108559"/>
                </a:moveTo>
                <a:lnTo>
                  <a:pt x="39297" y="122880"/>
                </a:lnTo>
                <a:lnTo>
                  <a:pt x="38543" y="131894"/>
                </a:lnTo>
                <a:lnTo>
                  <a:pt x="48733" y="143945"/>
                </a:lnTo>
                <a:lnTo>
                  <a:pt x="57748" y="144699"/>
                </a:lnTo>
                <a:lnTo>
                  <a:pt x="74684" y="130378"/>
                </a:lnTo>
                <a:lnTo>
                  <a:pt x="56232" y="108559"/>
                </a:lnTo>
                <a:close/>
              </a:path>
              <a:path w="207010" h="175260">
                <a:moveTo>
                  <a:pt x="74684" y="130378"/>
                </a:moveTo>
                <a:lnTo>
                  <a:pt x="57748" y="144699"/>
                </a:lnTo>
                <a:lnTo>
                  <a:pt x="86794" y="144699"/>
                </a:lnTo>
                <a:lnTo>
                  <a:pt x="74684" y="130378"/>
                </a:lnTo>
                <a:close/>
              </a:path>
              <a:path w="207010" h="175260">
                <a:moveTo>
                  <a:pt x="132053" y="44443"/>
                </a:moveTo>
                <a:lnTo>
                  <a:pt x="56232" y="108559"/>
                </a:lnTo>
                <a:lnTo>
                  <a:pt x="74684" y="130378"/>
                </a:lnTo>
                <a:lnTo>
                  <a:pt x="150504" y="66262"/>
                </a:lnTo>
                <a:lnTo>
                  <a:pt x="132053" y="44443"/>
                </a:lnTo>
                <a:close/>
              </a:path>
              <a:path w="207010" h="175260">
                <a:moveTo>
                  <a:pt x="193817" y="30121"/>
                </a:moveTo>
                <a:lnTo>
                  <a:pt x="148988" y="30121"/>
                </a:lnTo>
                <a:lnTo>
                  <a:pt x="158003" y="30876"/>
                </a:lnTo>
                <a:lnTo>
                  <a:pt x="168193" y="42927"/>
                </a:lnTo>
                <a:lnTo>
                  <a:pt x="167440" y="51941"/>
                </a:lnTo>
                <a:lnTo>
                  <a:pt x="150504" y="66262"/>
                </a:lnTo>
                <a:lnTo>
                  <a:pt x="168955" y="88082"/>
                </a:lnTo>
                <a:lnTo>
                  <a:pt x="193817" y="30121"/>
                </a:lnTo>
                <a:close/>
              </a:path>
              <a:path w="207010" h="175260">
                <a:moveTo>
                  <a:pt x="148988" y="30121"/>
                </a:moveTo>
                <a:lnTo>
                  <a:pt x="132053" y="44443"/>
                </a:lnTo>
                <a:lnTo>
                  <a:pt x="150504" y="66262"/>
                </a:lnTo>
                <a:lnTo>
                  <a:pt x="167440" y="51941"/>
                </a:lnTo>
                <a:lnTo>
                  <a:pt x="168193" y="42927"/>
                </a:lnTo>
                <a:lnTo>
                  <a:pt x="158003" y="30876"/>
                </a:lnTo>
                <a:lnTo>
                  <a:pt x="148988" y="30121"/>
                </a:lnTo>
                <a:close/>
              </a:path>
              <a:path w="207010" h="175260">
                <a:moveTo>
                  <a:pt x="206738" y="0"/>
                </a:moveTo>
                <a:lnTo>
                  <a:pt x="113602" y="22623"/>
                </a:lnTo>
                <a:lnTo>
                  <a:pt x="132053" y="44443"/>
                </a:lnTo>
                <a:lnTo>
                  <a:pt x="148988" y="30121"/>
                </a:lnTo>
                <a:lnTo>
                  <a:pt x="193817" y="30121"/>
                </a:lnTo>
                <a:lnTo>
                  <a:pt x="2067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129480" y="3596878"/>
            <a:ext cx="222885" cy="191135"/>
          </a:xfrm>
          <a:custGeom>
            <a:avLst/>
            <a:gdLst/>
            <a:ahLst/>
            <a:cxnLst/>
            <a:rect l="l" t="t" r="r" b="b"/>
            <a:pathLst>
              <a:path w="222885" h="191135">
                <a:moveTo>
                  <a:pt x="37782" y="102746"/>
                </a:moveTo>
                <a:lnTo>
                  <a:pt x="0" y="190828"/>
                </a:lnTo>
                <a:lnTo>
                  <a:pt x="93135" y="168205"/>
                </a:lnTo>
                <a:lnTo>
                  <a:pt x="86793" y="160705"/>
                </a:lnTo>
                <a:lnTo>
                  <a:pt x="57749" y="160705"/>
                </a:lnTo>
                <a:lnTo>
                  <a:pt x="48734" y="159951"/>
                </a:lnTo>
                <a:lnTo>
                  <a:pt x="38544" y="147901"/>
                </a:lnTo>
                <a:lnTo>
                  <a:pt x="39297" y="138887"/>
                </a:lnTo>
                <a:lnTo>
                  <a:pt x="56233" y="124565"/>
                </a:lnTo>
                <a:lnTo>
                  <a:pt x="37782" y="102746"/>
                </a:lnTo>
                <a:close/>
              </a:path>
              <a:path w="222885" h="191135">
                <a:moveTo>
                  <a:pt x="56233" y="124565"/>
                </a:moveTo>
                <a:lnTo>
                  <a:pt x="39297" y="138887"/>
                </a:lnTo>
                <a:lnTo>
                  <a:pt x="38544" y="147901"/>
                </a:lnTo>
                <a:lnTo>
                  <a:pt x="48734" y="159951"/>
                </a:lnTo>
                <a:lnTo>
                  <a:pt x="57749" y="160705"/>
                </a:lnTo>
                <a:lnTo>
                  <a:pt x="74684" y="146385"/>
                </a:lnTo>
                <a:lnTo>
                  <a:pt x="56233" y="124565"/>
                </a:lnTo>
                <a:close/>
              </a:path>
              <a:path w="222885" h="191135">
                <a:moveTo>
                  <a:pt x="74684" y="146385"/>
                </a:moveTo>
                <a:lnTo>
                  <a:pt x="57749" y="160705"/>
                </a:lnTo>
                <a:lnTo>
                  <a:pt x="86793" y="160705"/>
                </a:lnTo>
                <a:lnTo>
                  <a:pt x="74684" y="146385"/>
                </a:lnTo>
                <a:close/>
              </a:path>
              <a:path w="222885" h="191135">
                <a:moveTo>
                  <a:pt x="203537" y="0"/>
                </a:moveTo>
                <a:lnTo>
                  <a:pt x="56233" y="124565"/>
                </a:lnTo>
                <a:lnTo>
                  <a:pt x="74684" y="146385"/>
                </a:lnTo>
                <a:lnTo>
                  <a:pt x="221989" y="21819"/>
                </a:lnTo>
                <a:lnTo>
                  <a:pt x="222742" y="12804"/>
                </a:lnTo>
                <a:lnTo>
                  <a:pt x="212553" y="754"/>
                </a:lnTo>
                <a:lnTo>
                  <a:pt x="203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6192334" y="3595674"/>
            <a:ext cx="207010" cy="175260"/>
          </a:xfrm>
          <a:custGeom>
            <a:avLst/>
            <a:gdLst/>
            <a:ahLst/>
            <a:cxnLst/>
            <a:rect l="l" t="t" r="r" b="b"/>
            <a:pathLst>
              <a:path w="207010" h="175260">
                <a:moveTo>
                  <a:pt x="37782" y="86740"/>
                </a:moveTo>
                <a:lnTo>
                  <a:pt x="0" y="174823"/>
                </a:lnTo>
                <a:lnTo>
                  <a:pt x="93135" y="152199"/>
                </a:lnTo>
                <a:lnTo>
                  <a:pt x="86793" y="144699"/>
                </a:lnTo>
                <a:lnTo>
                  <a:pt x="57749" y="144699"/>
                </a:lnTo>
                <a:lnTo>
                  <a:pt x="48733" y="143946"/>
                </a:lnTo>
                <a:lnTo>
                  <a:pt x="38544" y="131895"/>
                </a:lnTo>
                <a:lnTo>
                  <a:pt x="39297" y="122881"/>
                </a:lnTo>
                <a:lnTo>
                  <a:pt x="56233" y="108560"/>
                </a:lnTo>
                <a:lnTo>
                  <a:pt x="37782" y="86740"/>
                </a:lnTo>
                <a:close/>
              </a:path>
              <a:path w="207010" h="175260">
                <a:moveTo>
                  <a:pt x="56233" y="108560"/>
                </a:moveTo>
                <a:lnTo>
                  <a:pt x="39297" y="122881"/>
                </a:lnTo>
                <a:lnTo>
                  <a:pt x="38544" y="131895"/>
                </a:lnTo>
                <a:lnTo>
                  <a:pt x="48733" y="143946"/>
                </a:lnTo>
                <a:lnTo>
                  <a:pt x="57749" y="144699"/>
                </a:lnTo>
                <a:lnTo>
                  <a:pt x="74684" y="130379"/>
                </a:lnTo>
                <a:lnTo>
                  <a:pt x="56233" y="108560"/>
                </a:lnTo>
                <a:close/>
              </a:path>
              <a:path w="207010" h="175260">
                <a:moveTo>
                  <a:pt x="74684" y="130379"/>
                </a:moveTo>
                <a:lnTo>
                  <a:pt x="57749" y="144699"/>
                </a:lnTo>
                <a:lnTo>
                  <a:pt x="86793" y="144699"/>
                </a:lnTo>
                <a:lnTo>
                  <a:pt x="74684" y="130379"/>
                </a:lnTo>
                <a:close/>
              </a:path>
              <a:path w="207010" h="175260">
                <a:moveTo>
                  <a:pt x="132055" y="44443"/>
                </a:moveTo>
                <a:lnTo>
                  <a:pt x="56233" y="108560"/>
                </a:lnTo>
                <a:lnTo>
                  <a:pt x="74684" y="130379"/>
                </a:lnTo>
                <a:lnTo>
                  <a:pt x="150506" y="66262"/>
                </a:lnTo>
                <a:lnTo>
                  <a:pt x="132055" y="44443"/>
                </a:lnTo>
                <a:close/>
              </a:path>
              <a:path w="207010" h="175260">
                <a:moveTo>
                  <a:pt x="193818" y="30123"/>
                </a:moveTo>
                <a:lnTo>
                  <a:pt x="148990" y="30123"/>
                </a:lnTo>
                <a:lnTo>
                  <a:pt x="158005" y="30877"/>
                </a:lnTo>
                <a:lnTo>
                  <a:pt x="168194" y="42927"/>
                </a:lnTo>
                <a:lnTo>
                  <a:pt x="167441" y="51941"/>
                </a:lnTo>
                <a:lnTo>
                  <a:pt x="150506" y="66262"/>
                </a:lnTo>
                <a:lnTo>
                  <a:pt x="168956" y="88082"/>
                </a:lnTo>
                <a:lnTo>
                  <a:pt x="193818" y="30123"/>
                </a:lnTo>
                <a:close/>
              </a:path>
              <a:path w="207010" h="175260">
                <a:moveTo>
                  <a:pt x="148990" y="30123"/>
                </a:moveTo>
                <a:lnTo>
                  <a:pt x="132055" y="44443"/>
                </a:lnTo>
                <a:lnTo>
                  <a:pt x="150506" y="66262"/>
                </a:lnTo>
                <a:lnTo>
                  <a:pt x="167441" y="51941"/>
                </a:lnTo>
                <a:lnTo>
                  <a:pt x="168194" y="42927"/>
                </a:lnTo>
                <a:lnTo>
                  <a:pt x="158005" y="30877"/>
                </a:lnTo>
                <a:lnTo>
                  <a:pt x="148990" y="30123"/>
                </a:lnTo>
                <a:close/>
              </a:path>
              <a:path w="207010" h="175260">
                <a:moveTo>
                  <a:pt x="206739" y="0"/>
                </a:moveTo>
                <a:lnTo>
                  <a:pt x="113604" y="22623"/>
                </a:lnTo>
                <a:lnTo>
                  <a:pt x="132055" y="44443"/>
                </a:lnTo>
                <a:lnTo>
                  <a:pt x="148990" y="30123"/>
                </a:lnTo>
                <a:lnTo>
                  <a:pt x="193818" y="30123"/>
                </a:lnTo>
                <a:lnTo>
                  <a:pt x="2067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7255187" y="3605479"/>
            <a:ext cx="207010" cy="175260"/>
          </a:xfrm>
          <a:custGeom>
            <a:avLst/>
            <a:gdLst/>
            <a:ahLst/>
            <a:cxnLst/>
            <a:rect l="l" t="t" r="r" b="b"/>
            <a:pathLst>
              <a:path w="207009" h="175260">
                <a:moveTo>
                  <a:pt x="37782" y="86740"/>
                </a:moveTo>
                <a:lnTo>
                  <a:pt x="0" y="174823"/>
                </a:lnTo>
                <a:lnTo>
                  <a:pt x="93135" y="152199"/>
                </a:lnTo>
                <a:lnTo>
                  <a:pt x="86794" y="144701"/>
                </a:lnTo>
                <a:lnTo>
                  <a:pt x="57749" y="144701"/>
                </a:lnTo>
                <a:lnTo>
                  <a:pt x="48734" y="143946"/>
                </a:lnTo>
                <a:lnTo>
                  <a:pt x="38544" y="131895"/>
                </a:lnTo>
                <a:lnTo>
                  <a:pt x="39298" y="122881"/>
                </a:lnTo>
                <a:lnTo>
                  <a:pt x="56233" y="108560"/>
                </a:lnTo>
                <a:lnTo>
                  <a:pt x="37782" y="86740"/>
                </a:lnTo>
                <a:close/>
              </a:path>
              <a:path w="207009" h="175260">
                <a:moveTo>
                  <a:pt x="56233" y="108560"/>
                </a:moveTo>
                <a:lnTo>
                  <a:pt x="39298" y="122881"/>
                </a:lnTo>
                <a:lnTo>
                  <a:pt x="38544" y="131895"/>
                </a:lnTo>
                <a:lnTo>
                  <a:pt x="48734" y="143946"/>
                </a:lnTo>
                <a:lnTo>
                  <a:pt x="57749" y="144701"/>
                </a:lnTo>
                <a:lnTo>
                  <a:pt x="74684" y="130380"/>
                </a:lnTo>
                <a:lnTo>
                  <a:pt x="56233" y="108560"/>
                </a:lnTo>
                <a:close/>
              </a:path>
              <a:path w="207009" h="175260">
                <a:moveTo>
                  <a:pt x="74684" y="130380"/>
                </a:moveTo>
                <a:lnTo>
                  <a:pt x="57749" y="144701"/>
                </a:lnTo>
                <a:lnTo>
                  <a:pt x="86794" y="144701"/>
                </a:lnTo>
                <a:lnTo>
                  <a:pt x="74684" y="130380"/>
                </a:lnTo>
                <a:close/>
              </a:path>
              <a:path w="207009" h="175260">
                <a:moveTo>
                  <a:pt x="132054" y="44444"/>
                </a:moveTo>
                <a:lnTo>
                  <a:pt x="56233" y="108560"/>
                </a:lnTo>
                <a:lnTo>
                  <a:pt x="74684" y="130380"/>
                </a:lnTo>
                <a:lnTo>
                  <a:pt x="150506" y="66264"/>
                </a:lnTo>
                <a:lnTo>
                  <a:pt x="132054" y="44444"/>
                </a:lnTo>
                <a:close/>
              </a:path>
              <a:path w="207009" h="175260">
                <a:moveTo>
                  <a:pt x="193818" y="30123"/>
                </a:moveTo>
                <a:lnTo>
                  <a:pt x="148990" y="30123"/>
                </a:lnTo>
                <a:lnTo>
                  <a:pt x="158005" y="30877"/>
                </a:lnTo>
                <a:lnTo>
                  <a:pt x="168194" y="42927"/>
                </a:lnTo>
                <a:lnTo>
                  <a:pt x="167441" y="51942"/>
                </a:lnTo>
                <a:lnTo>
                  <a:pt x="150506" y="66264"/>
                </a:lnTo>
                <a:lnTo>
                  <a:pt x="168956" y="88083"/>
                </a:lnTo>
                <a:lnTo>
                  <a:pt x="193818" y="30123"/>
                </a:lnTo>
                <a:close/>
              </a:path>
              <a:path w="207009" h="175260">
                <a:moveTo>
                  <a:pt x="148990" y="30123"/>
                </a:moveTo>
                <a:lnTo>
                  <a:pt x="132054" y="44444"/>
                </a:lnTo>
                <a:lnTo>
                  <a:pt x="150506" y="66264"/>
                </a:lnTo>
                <a:lnTo>
                  <a:pt x="167441" y="51942"/>
                </a:lnTo>
                <a:lnTo>
                  <a:pt x="168194" y="42927"/>
                </a:lnTo>
                <a:lnTo>
                  <a:pt x="158005" y="30877"/>
                </a:lnTo>
                <a:lnTo>
                  <a:pt x="148990" y="30123"/>
                </a:lnTo>
                <a:close/>
              </a:path>
              <a:path w="207009" h="175260">
                <a:moveTo>
                  <a:pt x="206739" y="0"/>
                </a:moveTo>
                <a:lnTo>
                  <a:pt x="113604" y="22625"/>
                </a:lnTo>
                <a:lnTo>
                  <a:pt x="132054" y="44444"/>
                </a:lnTo>
                <a:lnTo>
                  <a:pt x="148990" y="30123"/>
                </a:lnTo>
                <a:lnTo>
                  <a:pt x="193818" y="30123"/>
                </a:lnTo>
                <a:lnTo>
                  <a:pt x="2067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956251" y="4594971"/>
            <a:ext cx="207010" cy="174625"/>
          </a:xfrm>
          <a:custGeom>
            <a:avLst/>
            <a:gdLst/>
            <a:ahLst/>
            <a:cxnLst/>
            <a:rect l="l" t="t" r="r" b="b"/>
            <a:pathLst>
              <a:path w="207009" h="174625">
                <a:moveTo>
                  <a:pt x="131951" y="129741"/>
                </a:moveTo>
                <a:lnTo>
                  <a:pt x="113550" y="151602"/>
                </a:lnTo>
                <a:lnTo>
                  <a:pt x="206737" y="174014"/>
                </a:lnTo>
                <a:lnTo>
                  <a:pt x="193791" y="144023"/>
                </a:lnTo>
                <a:lnTo>
                  <a:pt x="148919" y="144023"/>
                </a:lnTo>
                <a:lnTo>
                  <a:pt x="131951" y="129741"/>
                </a:lnTo>
                <a:close/>
              </a:path>
              <a:path w="207009" h="174625">
                <a:moveTo>
                  <a:pt x="150353" y="107879"/>
                </a:moveTo>
                <a:lnTo>
                  <a:pt x="131951" y="129741"/>
                </a:lnTo>
                <a:lnTo>
                  <a:pt x="148919" y="144023"/>
                </a:lnTo>
                <a:lnTo>
                  <a:pt x="157932" y="143248"/>
                </a:lnTo>
                <a:lnTo>
                  <a:pt x="168095" y="131174"/>
                </a:lnTo>
                <a:lnTo>
                  <a:pt x="167320" y="122161"/>
                </a:lnTo>
                <a:lnTo>
                  <a:pt x="150353" y="107879"/>
                </a:lnTo>
                <a:close/>
              </a:path>
              <a:path w="207009" h="174625">
                <a:moveTo>
                  <a:pt x="168754" y="86018"/>
                </a:moveTo>
                <a:lnTo>
                  <a:pt x="150353" y="107879"/>
                </a:lnTo>
                <a:lnTo>
                  <a:pt x="167320" y="122161"/>
                </a:lnTo>
                <a:lnTo>
                  <a:pt x="168095" y="131174"/>
                </a:lnTo>
                <a:lnTo>
                  <a:pt x="157932" y="143248"/>
                </a:lnTo>
                <a:lnTo>
                  <a:pt x="148919" y="144023"/>
                </a:lnTo>
                <a:lnTo>
                  <a:pt x="193791" y="144023"/>
                </a:lnTo>
                <a:lnTo>
                  <a:pt x="168754" y="86018"/>
                </a:lnTo>
                <a:close/>
              </a:path>
              <a:path w="207009" h="174625">
                <a:moveTo>
                  <a:pt x="74785" y="44272"/>
                </a:moveTo>
                <a:lnTo>
                  <a:pt x="56383" y="66134"/>
                </a:lnTo>
                <a:lnTo>
                  <a:pt x="131951" y="129741"/>
                </a:lnTo>
                <a:lnTo>
                  <a:pt x="150353" y="107879"/>
                </a:lnTo>
                <a:lnTo>
                  <a:pt x="74785" y="44272"/>
                </a:lnTo>
                <a:close/>
              </a:path>
              <a:path w="207009" h="174625">
                <a:moveTo>
                  <a:pt x="0" y="0"/>
                </a:moveTo>
                <a:lnTo>
                  <a:pt x="37982" y="87995"/>
                </a:lnTo>
                <a:lnTo>
                  <a:pt x="56383" y="66134"/>
                </a:lnTo>
                <a:lnTo>
                  <a:pt x="39416" y="51852"/>
                </a:lnTo>
                <a:lnTo>
                  <a:pt x="38641" y="42839"/>
                </a:lnTo>
                <a:lnTo>
                  <a:pt x="48804" y="30765"/>
                </a:lnTo>
                <a:lnTo>
                  <a:pt x="57817" y="29991"/>
                </a:lnTo>
                <a:lnTo>
                  <a:pt x="86806" y="29991"/>
                </a:lnTo>
                <a:lnTo>
                  <a:pt x="93186" y="22411"/>
                </a:lnTo>
                <a:lnTo>
                  <a:pt x="0" y="0"/>
                </a:lnTo>
                <a:close/>
              </a:path>
              <a:path w="207009" h="174625">
                <a:moveTo>
                  <a:pt x="57817" y="29991"/>
                </a:moveTo>
                <a:lnTo>
                  <a:pt x="48804" y="30765"/>
                </a:lnTo>
                <a:lnTo>
                  <a:pt x="38641" y="42839"/>
                </a:lnTo>
                <a:lnTo>
                  <a:pt x="39416" y="51852"/>
                </a:lnTo>
                <a:lnTo>
                  <a:pt x="56383" y="66134"/>
                </a:lnTo>
                <a:lnTo>
                  <a:pt x="74785" y="44272"/>
                </a:lnTo>
                <a:lnTo>
                  <a:pt x="57817" y="29991"/>
                </a:lnTo>
                <a:close/>
              </a:path>
              <a:path w="207009" h="174625">
                <a:moveTo>
                  <a:pt x="86806" y="29991"/>
                </a:moveTo>
                <a:lnTo>
                  <a:pt x="57817" y="29991"/>
                </a:lnTo>
                <a:lnTo>
                  <a:pt x="74785" y="44272"/>
                </a:lnTo>
                <a:lnTo>
                  <a:pt x="86806" y="299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956250" y="4943891"/>
            <a:ext cx="207010" cy="175260"/>
          </a:xfrm>
          <a:custGeom>
            <a:avLst/>
            <a:gdLst/>
            <a:ahLst/>
            <a:cxnLst/>
            <a:rect l="l" t="t" r="r" b="b"/>
            <a:pathLst>
              <a:path w="207009" h="175260">
                <a:moveTo>
                  <a:pt x="37781" y="86742"/>
                </a:moveTo>
                <a:lnTo>
                  <a:pt x="0" y="174824"/>
                </a:lnTo>
                <a:lnTo>
                  <a:pt x="93134" y="152200"/>
                </a:lnTo>
                <a:lnTo>
                  <a:pt x="86793" y="144701"/>
                </a:lnTo>
                <a:lnTo>
                  <a:pt x="57748" y="144701"/>
                </a:lnTo>
                <a:lnTo>
                  <a:pt x="48733" y="143946"/>
                </a:lnTo>
                <a:lnTo>
                  <a:pt x="38543" y="131897"/>
                </a:lnTo>
                <a:lnTo>
                  <a:pt x="39297" y="122882"/>
                </a:lnTo>
                <a:lnTo>
                  <a:pt x="56232" y="108561"/>
                </a:lnTo>
                <a:lnTo>
                  <a:pt x="37781" y="86742"/>
                </a:lnTo>
                <a:close/>
              </a:path>
              <a:path w="207009" h="175260">
                <a:moveTo>
                  <a:pt x="56232" y="108561"/>
                </a:moveTo>
                <a:lnTo>
                  <a:pt x="39297" y="122882"/>
                </a:lnTo>
                <a:lnTo>
                  <a:pt x="38543" y="131897"/>
                </a:lnTo>
                <a:lnTo>
                  <a:pt x="48733" y="143946"/>
                </a:lnTo>
                <a:lnTo>
                  <a:pt x="57748" y="144701"/>
                </a:lnTo>
                <a:lnTo>
                  <a:pt x="74683" y="130380"/>
                </a:lnTo>
                <a:lnTo>
                  <a:pt x="56232" y="108561"/>
                </a:lnTo>
                <a:close/>
              </a:path>
              <a:path w="207009" h="175260">
                <a:moveTo>
                  <a:pt x="74683" y="130380"/>
                </a:moveTo>
                <a:lnTo>
                  <a:pt x="57748" y="144701"/>
                </a:lnTo>
                <a:lnTo>
                  <a:pt x="86793" y="144701"/>
                </a:lnTo>
                <a:lnTo>
                  <a:pt x="74683" y="130380"/>
                </a:lnTo>
                <a:close/>
              </a:path>
              <a:path w="207009" h="175260">
                <a:moveTo>
                  <a:pt x="132054" y="44444"/>
                </a:moveTo>
                <a:lnTo>
                  <a:pt x="56232" y="108561"/>
                </a:lnTo>
                <a:lnTo>
                  <a:pt x="74683" y="130380"/>
                </a:lnTo>
                <a:lnTo>
                  <a:pt x="150505" y="66263"/>
                </a:lnTo>
                <a:lnTo>
                  <a:pt x="132054" y="44444"/>
                </a:lnTo>
                <a:close/>
              </a:path>
              <a:path w="207009" h="175260">
                <a:moveTo>
                  <a:pt x="193817" y="30123"/>
                </a:moveTo>
                <a:lnTo>
                  <a:pt x="148989" y="30123"/>
                </a:lnTo>
                <a:lnTo>
                  <a:pt x="158004" y="30877"/>
                </a:lnTo>
                <a:lnTo>
                  <a:pt x="168194" y="42928"/>
                </a:lnTo>
                <a:lnTo>
                  <a:pt x="167440" y="51943"/>
                </a:lnTo>
                <a:lnTo>
                  <a:pt x="150505" y="66263"/>
                </a:lnTo>
                <a:lnTo>
                  <a:pt x="168956" y="88083"/>
                </a:lnTo>
                <a:lnTo>
                  <a:pt x="193817" y="30123"/>
                </a:lnTo>
                <a:close/>
              </a:path>
              <a:path w="207009" h="175260">
                <a:moveTo>
                  <a:pt x="148989" y="30123"/>
                </a:moveTo>
                <a:lnTo>
                  <a:pt x="132054" y="44444"/>
                </a:lnTo>
                <a:lnTo>
                  <a:pt x="150505" y="66263"/>
                </a:lnTo>
                <a:lnTo>
                  <a:pt x="167440" y="51943"/>
                </a:lnTo>
                <a:lnTo>
                  <a:pt x="168194" y="42928"/>
                </a:lnTo>
                <a:lnTo>
                  <a:pt x="158004" y="30877"/>
                </a:lnTo>
                <a:lnTo>
                  <a:pt x="148989" y="30123"/>
                </a:lnTo>
                <a:close/>
              </a:path>
              <a:path w="207009" h="175260">
                <a:moveTo>
                  <a:pt x="206738" y="0"/>
                </a:moveTo>
                <a:lnTo>
                  <a:pt x="113603" y="22625"/>
                </a:lnTo>
                <a:lnTo>
                  <a:pt x="132054" y="44444"/>
                </a:lnTo>
                <a:lnTo>
                  <a:pt x="148989" y="30123"/>
                </a:lnTo>
                <a:lnTo>
                  <a:pt x="193817" y="30123"/>
                </a:lnTo>
                <a:lnTo>
                  <a:pt x="2067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019104" y="4910678"/>
            <a:ext cx="222885" cy="191135"/>
          </a:xfrm>
          <a:custGeom>
            <a:avLst/>
            <a:gdLst/>
            <a:ahLst/>
            <a:cxnLst/>
            <a:rect l="l" t="t" r="r" b="b"/>
            <a:pathLst>
              <a:path w="222885" h="191135">
                <a:moveTo>
                  <a:pt x="37782" y="102745"/>
                </a:moveTo>
                <a:lnTo>
                  <a:pt x="0" y="190827"/>
                </a:lnTo>
                <a:lnTo>
                  <a:pt x="93135" y="168203"/>
                </a:lnTo>
                <a:lnTo>
                  <a:pt x="86793" y="160704"/>
                </a:lnTo>
                <a:lnTo>
                  <a:pt x="57749" y="160704"/>
                </a:lnTo>
                <a:lnTo>
                  <a:pt x="48734" y="159950"/>
                </a:lnTo>
                <a:lnTo>
                  <a:pt x="38544" y="147900"/>
                </a:lnTo>
                <a:lnTo>
                  <a:pt x="39298" y="138884"/>
                </a:lnTo>
                <a:lnTo>
                  <a:pt x="56233" y="124564"/>
                </a:lnTo>
                <a:lnTo>
                  <a:pt x="37782" y="102745"/>
                </a:lnTo>
                <a:close/>
              </a:path>
              <a:path w="222885" h="191135">
                <a:moveTo>
                  <a:pt x="56233" y="124564"/>
                </a:moveTo>
                <a:lnTo>
                  <a:pt x="39298" y="138884"/>
                </a:lnTo>
                <a:lnTo>
                  <a:pt x="38544" y="147900"/>
                </a:lnTo>
                <a:lnTo>
                  <a:pt x="48734" y="159950"/>
                </a:lnTo>
                <a:lnTo>
                  <a:pt x="57749" y="160704"/>
                </a:lnTo>
                <a:lnTo>
                  <a:pt x="74684" y="146384"/>
                </a:lnTo>
                <a:lnTo>
                  <a:pt x="56233" y="124564"/>
                </a:lnTo>
                <a:close/>
              </a:path>
              <a:path w="222885" h="191135">
                <a:moveTo>
                  <a:pt x="74684" y="146384"/>
                </a:moveTo>
                <a:lnTo>
                  <a:pt x="57749" y="160704"/>
                </a:lnTo>
                <a:lnTo>
                  <a:pt x="86793" y="160704"/>
                </a:lnTo>
                <a:lnTo>
                  <a:pt x="74684" y="146384"/>
                </a:lnTo>
                <a:close/>
              </a:path>
              <a:path w="222885" h="191135">
                <a:moveTo>
                  <a:pt x="203539" y="0"/>
                </a:moveTo>
                <a:lnTo>
                  <a:pt x="56233" y="124564"/>
                </a:lnTo>
                <a:lnTo>
                  <a:pt x="74684" y="146384"/>
                </a:lnTo>
                <a:lnTo>
                  <a:pt x="221990" y="21818"/>
                </a:lnTo>
                <a:lnTo>
                  <a:pt x="222744" y="12804"/>
                </a:lnTo>
                <a:lnTo>
                  <a:pt x="212554" y="753"/>
                </a:lnTo>
                <a:lnTo>
                  <a:pt x="2035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3076848" y="4574895"/>
            <a:ext cx="207010" cy="174625"/>
          </a:xfrm>
          <a:custGeom>
            <a:avLst/>
            <a:gdLst/>
            <a:ahLst/>
            <a:cxnLst/>
            <a:rect l="l" t="t" r="r" b="b"/>
            <a:pathLst>
              <a:path w="207010" h="174625">
                <a:moveTo>
                  <a:pt x="131951" y="129742"/>
                </a:moveTo>
                <a:lnTo>
                  <a:pt x="113550" y="151603"/>
                </a:lnTo>
                <a:lnTo>
                  <a:pt x="206736" y="174015"/>
                </a:lnTo>
                <a:lnTo>
                  <a:pt x="193791" y="144024"/>
                </a:lnTo>
                <a:lnTo>
                  <a:pt x="148918" y="144024"/>
                </a:lnTo>
                <a:lnTo>
                  <a:pt x="131951" y="129742"/>
                </a:lnTo>
                <a:close/>
              </a:path>
              <a:path w="207010" h="174625">
                <a:moveTo>
                  <a:pt x="150353" y="107880"/>
                </a:moveTo>
                <a:lnTo>
                  <a:pt x="131951" y="129742"/>
                </a:lnTo>
                <a:lnTo>
                  <a:pt x="148918" y="144024"/>
                </a:lnTo>
                <a:lnTo>
                  <a:pt x="157932" y="143249"/>
                </a:lnTo>
                <a:lnTo>
                  <a:pt x="168094" y="131175"/>
                </a:lnTo>
                <a:lnTo>
                  <a:pt x="167321" y="122162"/>
                </a:lnTo>
                <a:lnTo>
                  <a:pt x="150353" y="107880"/>
                </a:lnTo>
                <a:close/>
              </a:path>
              <a:path w="207010" h="174625">
                <a:moveTo>
                  <a:pt x="168753" y="86019"/>
                </a:moveTo>
                <a:lnTo>
                  <a:pt x="150353" y="107880"/>
                </a:lnTo>
                <a:lnTo>
                  <a:pt x="167321" y="122162"/>
                </a:lnTo>
                <a:lnTo>
                  <a:pt x="168094" y="131175"/>
                </a:lnTo>
                <a:lnTo>
                  <a:pt x="157932" y="143249"/>
                </a:lnTo>
                <a:lnTo>
                  <a:pt x="148918" y="144024"/>
                </a:lnTo>
                <a:lnTo>
                  <a:pt x="193791" y="144024"/>
                </a:lnTo>
                <a:lnTo>
                  <a:pt x="168753" y="86019"/>
                </a:lnTo>
                <a:close/>
              </a:path>
              <a:path w="207010" h="174625">
                <a:moveTo>
                  <a:pt x="74784" y="44272"/>
                </a:moveTo>
                <a:lnTo>
                  <a:pt x="56383" y="66134"/>
                </a:lnTo>
                <a:lnTo>
                  <a:pt x="131951" y="129742"/>
                </a:lnTo>
                <a:lnTo>
                  <a:pt x="150353" y="107880"/>
                </a:lnTo>
                <a:lnTo>
                  <a:pt x="74784" y="44272"/>
                </a:lnTo>
                <a:close/>
              </a:path>
              <a:path w="207010" h="174625">
                <a:moveTo>
                  <a:pt x="0" y="0"/>
                </a:moveTo>
                <a:lnTo>
                  <a:pt x="37981" y="87995"/>
                </a:lnTo>
                <a:lnTo>
                  <a:pt x="56383" y="66134"/>
                </a:lnTo>
                <a:lnTo>
                  <a:pt x="39415" y="51852"/>
                </a:lnTo>
                <a:lnTo>
                  <a:pt x="38641" y="42839"/>
                </a:lnTo>
                <a:lnTo>
                  <a:pt x="48803" y="30765"/>
                </a:lnTo>
                <a:lnTo>
                  <a:pt x="57816" y="29991"/>
                </a:lnTo>
                <a:lnTo>
                  <a:pt x="86806" y="29991"/>
                </a:lnTo>
                <a:lnTo>
                  <a:pt x="93186" y="22411"/>
                </a:lnTo>
                <a:lnTo>
                  <a:pt x="0" y="0"/>
                </a:lnTo>
                <a:close/>
              </a:path>
              <a:path w="207010" h="174625">
                <a:moveTo>
                  <a:pt x="57816" y="29991"/>
                </a:moveTo>
                <a:lnTo>
                  <a:pt x="48803" y="30765"/>
                </a:lnTo>
                <a:lnTo>
                  <a:pt x="38641" y="42839"/>
                </a:lnTo>
                <a:lnTo>
                  <a:pt x="39415" y="51852"/>
                </a:lnTo>
                <a:lnTo>
                  <a:pt x="56383" y="66134"/>
                </a:lnTo>
                <a:lnTo>
                  <a:pt x="74784" y="44272"/>
                </a:lnTo>
                <a:lnTo>
                  <a:pt x="57816" y="29991"/>
                </a:lnTo>
                <a:close/>
              </a:path>
              <a:path w="207010" h="174625">
                <a:moveTo>
                  <a:pt x="86806" y="29991"/>
                </a:moveTo>
                <a:lnTo>
                  <a:pt x="57816" y="29991"/>
                </a:lnTo>
                <a:lnTo>
                  <a:pt x="74784" y="44272"/>
                </a:lnTo>
                <a:lnTo>
                  <a:pt x="86806" y="299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4123696" y="4906606"/>
            <a:ext cx="222885" cy="191135"/>
          </a:xfrm>
          <a:custGeom>
            <a:avLst/>
            <a:gdLst/>
            <a:ahLst/>
            <a:cxnLst/>
            <a:rect l="l" t="t" r="r" b="b"/>
            <a:pathLst>
              <a:path w="222885" h="191135">
                <a:moveTo>
                  <a:pt x="148059" y="44443"/>
                </a:moveTo>
                <a:lnTo>
                  <a:pt x="754" y="169009"/>
                </a:lnTo>
                <a:lnTo>
                  <a:pt x="0" y="178023"/>
                </a:lnTo>
                <a:lnTo>
                  <a:pt x="10190" y="190074"/>
                </a:lnTo>
                <a:lnTo>
                  <a:pt x="19204" y="190828"/>
                </a:lnTo>
                <a:lnTo>
                  <a:pt x="166510" y="66262"/>
                </a:lnTo>
                <a:lnTo>
                  <a:pt x="148059" y="44443"/>
                </a:lnTo>
                <a:close/>
              </a:path>
              <a:path w="222885" h="191135">
                <a:moveTo>
                  <a:pt x="209822" y="30123"/>
                </a:moveTo>
                <a:lnTo>
                  <a:pt x="164994" y="30123"/>
                </a:lnTo>
                <a:lnTo>
                  <a:pt x="174010" y="30876"/>
                </a:lnTo>
                <a:lnTo>
                  <a:pt x="184199" y="42927"/>
                </a:lnTo>
                <a:lnTo>
                  <a:pt x="183446" y="51941"/>
                </a:lnTo>
                <a:lnTo>
                  <a:pt x="166510" y="66262"/>
                </a:lnTo>
                <a:lnTo>
                  <a:pt x="184961" y="88082"/>
                </a:lnTo>
                <a:lnTo>
                  <a:pt x="209822" y="30123"/>
                </a:lnTo>
                <a:close/>
              </a:path>
              <a:path w="222885" h="191135">
                <a:moveTo>
                  <a:pt x="164994" y="30123"/>
                </a:moveTo>
                <a:lnTo>
                  <a:pt x="148059" y="44443"/>
                </a:lnTo>
                <a:lnTo>
                  <a:pt x="166510" y="66262"/>
                </a:lnTo>
                <a:lnTo>
                  <a:pt x="183446" y="51941"/>
                </a:lnTo>
                <a:lnTo>
                  <a:pt x="184199" y="42927"/>
                </a:lnTo>
                <a:lnTo>
                  <a:pt x="174010" y="30876"/>
                </a:lnTo>
                <a:lnTo>
                  <a:pt x="164994" y="30123"/>
                </a:lnTo>
                <a:close/>
              </a:path>
              <a:path w="222885" h="191135">
                <a:moveTo>
                  <a:pt x="222744" y="0"/>
                </a:moveTo>
                <a:lnTo>
                  <a:pt x="129608" y="22623"/>
                </a:lnTo>
                <a:lnTo>
                  <a:pt x="148059" y="44443"/>
                </a:lnTo>
                <a:lnTo>
                  <a:pt x="164994" y="30123"/>
                </a:lnTo>
                <a:lnTo>
                  <a:pt x="209822" y="30123"/>
                </a:lnTo>
                <a:lnTo>
                  <a:pt x="2227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4139701" y="4557686"/>
            <a:ext cx="207010" cy="174625"/>
          </a:xfrm>
          <a:custGeom>
            <a:avLst/>
            <a:gdLst/>
            <a:ahLst/>
            <a:cxnLst/>
            <a:rect l="l" t="t" r="r" b="b"/>
            <a:pathLst>
              <a:path w="207010" h="174625">
                <a:moveTo>
                  <a:pt x="131952" y="129740"/>
                </a:moveTo>
                <a:lnTo>
                  <a:pt x="113550" y="151602"/>
                </a:lnTo>
                <a:lnTo>
                  <a:pt x="206738" y="174014"/>
                </a:lnTo>
                <a:lnTo>
                  <a:pt x="193792" y="144023"/>
                </a:lnTo>
                <a:lnTo>
                  <a:pt x="148920" y="144023"/>
                </a:lnTo>
                <a:lnTo>
                  <a:pt x="131952" y="129740"/>
                </a:lnTo>
                <a:close/>
              </a:path>
              <a:path w="207010" h="174625">
                <a:moveTo>
                  <a:pt x="150353" y="107879"/>
                </a:moveTo>
                <a:lnTo>
                  <a:pt x="131952" y="129740"/>
                </a:lnTo>
                <a:lnTo>
                  <a:pt x="148920" y="144023"/>
                </a:lnTo>
                <a:lnTo>
                  <a:pt x="157933" y="143248"/>
                </a:lnTo>
                <a:lnTo>
                  <a:pt x="168095" y="131174"/>
                </a:lnTo>
                <a:lnTo>
                  <a:pt x="167321" y="122161"/>
                </a:lnTo>
                <a:lnTo>
                  <a:pt x="150353" y="107879"/>
                </a:lnTo>
                <a:close/>
              </a:path>
              <a:path w="207010" h="174625">
                <a:moveTo>
                  <a:pt x="168755" y="86018"/>
                </a:moveTo>
                <a:lnTo>
                  <a:pt x="150353" y="107879"/>
                </a:lnTo>
                <a:lnTo>
                  <a:pt x="167321" y="122161"/>
                </a:lnTo>
                <a:lnTo>
                  <a:pt x="168095" y="131174"/>
                </a:lnTo>
                <a:lnTo>
                  <a:pt x="157933" y="143248"/>
                </a:lnTo>
                <a:lnTo>
                  <a:pt x="148920" y="144023"/>
                </a:lnTo>
                <a:lnTo>
                  <a:pt x="193792" y="144023"/>
                </a:lnTo>
                <a:lnTo>
                  <a:pt x="168755" y="86018"/>
                </a:lnTo>
                <a:close/>
              </a:path>
              <a:path w="207010" h="174625">
                <a:moveTo>
                  <a:pt x="74784" y="44272"/>
                </a:moveTo>
                <a:lnTo>
                  <a:pt x="56384" y="66134"/>
                </a:lnTo>
                <a:lnTo>
                  <a:pt x="131952" y="129740"/>
                </a:lnTo>
                <a:lnTo>
                  <a:pt x="150353" y="107879"/>
                </a:lnTo>
                <a:lnTo>
                  <a:pt x="74784" y="44272"/>
                </a:lnTo>
                <a:close/>
              </a:path>
              <a:path w="207010" h="174625">
                <a:moveTo>
                  <a:pt x="0" y="0"/>
                </a:moveTo>
                <a:lnTo>
                  <a:pt x="37983" y="87995"/>
                </a:lnTo>
                <a:lnTo>
                  <a:pt x="56384" y="66134"/>
                </a:lnTo>
                <a:lnTo>
                  <a:pt x="39415" y="51851"/>
                </a:lnTo>
                <a:lnTo>
                  <a:pt x="38641" y="42838"/>
                </a:lnTo>
                <a:lnTo>
                  <a:pt x="48803" y="30764"/>
                </a:lnTo>
                <a:lnTo>
                  <a:pt x="57816" y="29989"/>
                </a:lnTo>
                <a:lnTo>
                  <a:pt x="86806" y="29989"/>
                </a:lnTo>
                <a:lnTo>
                  <a:pt x="93186" y="22410"/>
                </a:lnTo>
                <a:lnTo>
                  <a:pt x="0" y="0"/>
                </a:lnTo>
                <a:close/>
              </a:path>
              <a:path w="207010" h="174625">
                <a:moveTo>
                  <a:pt x="57816" y="29989"/>
                </a:moveTo>
                <a:lnTo>
                  <a:pt x="48803" y="30764"/>
                </a:lnTo>
                <a:lnTo>
                  <a:pt x="38641" y="42838"/>
                </a:lnTo>
                <a:lnTo>
                  <a:pt x="39415" y="51851"/>
                </a:lnTo>
                <a:lnTo>
                  <a:pt x="56384" y="66134"/>
                </a:lnTo>
                <a:lnTo>
                  <a:pt x="74784" y="44272"/>
                </a:lnTo>
                <a:lnTo>
                  <a:pt x="57816" y="29989"/>
                </a:lnTo>
                <a:close/>
              </a:path>
              <a:path w="207010" h="174625">
                <a:moveTo>
                  <a:pt x="86806" y="29989"/>
                </a:moveTo>
                <a:lnTo>
                  <a:pt x="57816" y="29989"/>
                </a:lnTo>
                <a:lnTo>
                  <a:pt x="74784" y="44272"/>
                </a:lnTo>
                <a:lnTo>
                  <a:pt x="86806" y="29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5129480" y="4542746"/>
            <a:ext cx="207010" cy="174625"/>
          </a:xfrm>
          <a:custGeom>
            <a:avLst/>
            <a:gdLst/>
            <a:ahLst/>
            <a:cxnLst/>
            <a:rect l="l" t="t" r="r" b="b"/>
            <a:pathLst>
              <a:path w="207010" h="174625">
                <a:moveTo>
                  <a:pt x="131952" y="129740"/>
                </a:moveTo>
                <a:lnTo>
                  <a:pt x="113550" y="151602"/>
                </a:lnTo>
                <a:lnTo>
                  <a:pt x="206736" y="174014"/>
                </a:lnTo>
                <a:lnTo>
                  <a:pt x="193791" y="144023"/>
                </a:lnTo>
                <a:lnTo>
                  <a:pt x="148920" y="144023"/>
                </a:lnTo>
                <a:lnTo>
                  <a:pt x="131952" y="129740"/>
                </a:lnTo>
                <a:close/>
              </a:path>
              <a:path w="207010" h="174625">
                <a:moveTo>
                  <a:pt x="150353" y="107879"/>
                </a:moveTo>
                <a:lnTo>
                  <a:pt x="131952" y="129740"/>
                </a:lnTo>
                <a:lnTo>
                  <a:pt x="148920" y="144023"/>
                </a:lnTo>
                <a:lnTo>
                  <a:pt x="157933" y="143248"/>
                </a:lnTo>
                <a:lnTo>
                  <a:pt x="168095" y="131174"/>
                </a:lnTo>
                <a:lnTo>
                  <a:pt x="167321" y="122161"/>
                </a:lnTo>
                <a:lnTo>
                  <a:pt x="150353" y="107879"/>
                </a:lnTo>
                <a:close/>
              </a:path>
              <a:path w="207010" h="174625">
                <a:moveTo>
                  <a:pt x="168755" y="86018"/>
                </a:moveTo>
                <a:lnTo>
                  <a:pt x="150353" y="107879"/>
                </a:lnTo>
                <a:lnTo>
                  <a:pt x="167321" y="122161"/>
                </a:lnTo>
                <a:lnTo>
                  <a:pt x="168095" y="131174"/>
                </a:lnTo>
                <a:lnTo>
                  <a:pt x="157933" y="143248"/>
                </a:lnTo>
                <a:lnTo>
                  <a:pt x="148920" y="144023"/>
                </a:lnTo>
                <a:lnTo>
                  <a:pt x="193791" y="144023"/>
                </a:lnTo>
                <a:lnTo>
                  <a:pt x="168755" y="86018"/>
                </a:lnTo>
                <a:close/>
              </a:path>
              <a:path w="207010" h="174625">
                <a:moveTo>
                  <a:pt x="74785" y="44273"/>
                </a:moveTo>
                <a:lnTo>
                  <a:pt x="56384" y="66134"/>
                </a:lnTo>
                <a:lnTo>
                  <a:pt x="131952" y="129740"/>
                </a:lnTo>
                <a:lnTo>
                  <a:pt x="150353" y="107879"/>
                </a:lnTo>
                <a:lnTo>
                  <a:pt x="74785" y="44273"/>
                </a:lnTo>
                <a:close/>
              </a:path>
              <a:path w="207010" h="174625">
                <a:moveTo>
                  <a:pt x="0" y="0"/>
                </a:moveTo>
                <a:lnTo>
                  <a:pt x="37983" y="87995"/>
                </a:lnTo>
                <a:lnTo>
                  <a:pt x="56384" y="66134"/>
                </a:lnTo>
                <a:lnTo>
                  <a:pt x="39416" y="51852"/>
                </a:lnTo>
                <a:lnTo>
                  <a:pt x="38642" y="42839"/>
                </a:lnTo>
                <a:lnTo>
                  <a:pt x="48804" y="30765"/>
                </a:lnTo>
                <a:lnTo>
                  <a:pt x="57818" y="29991"/>
                </a:lnTo>
                <a:lnTo>
                  <a:pt x="86807" y="29991"/>
                </a:lnTo>
                <a:lnTo>
                  <a:pt x="93187" y="22411"/>
                </a:lnTo>
                <a:lnTo>
                  <a:pt x="0" y="0"/>
                </a:lnTo>
                <a:close/>
              </a:path>
              <a:path w="207010" h="174625">
                <a:moveTo>
                  <a:pt x="57818" y="29991"/>
                </a:moveTo>
                <a:lnTo>
                  <a:pt x="48804" y="30765"/>
                </a:lnTo>
                <a:lnTo>
                  <a:pt x="38642" y="42839"/>
                </a:lnTo>
                <a:lnTo>
                  <a:pt x="39416" y="51852"/>
                </a:lnTo>
                <a:lnTo>
                  <a:pt x="56384" y="66134"/>
                </a:lnTo>
                <a:lnTo>
                  <a:pt x="74785" y="44273"/>
                </a:lnTo>
                <a:lnTo>
                  <a:pt x="57818" y="29991"/>
                </a:lnTo>
                <a:close/>
              </a:path>
              <a:path w="207010" h="174625">
                <a:moveTo>
                  <a:pt x="86807" y="29991"/>
                </a:moveTo>
                <a:lnTo>
                  <a:pt x="57818" y="29991"/>
                </a:lnTo>
                <a:lnTo>
                  <a:pt x="74785" y="44273"/>
                </a:lnTo>
                <a:lnTo>
                  <a:pt x="86807" y="299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5129479" y="4891666"/>
            <a:ext cx="207010" cy="175260"/>
          </a:xfrm>
          <a:custGeom>
            <a:avLst/>
            <a:gdLst/>
            <a:ahLst/>
            <a:cxnLst/>
            <a:rect l="l" t="t" r="r" b="b"/>
            <a:pathLst>
              <a:path w="207010" h="175260">
                <a:moveTo>
                  <a:pt x="37782" y="86742"/>
                </a:moveTo>
                <a:lnTo>
                  <a:pt x="0" y="174824"/>
                </a:lnTo>
                <a:lnTo>
                  <a:pt x="93135" y="152200"/>
                </a:lnTo>
                <a:lnTo>
                  <a:pt x="86793" y="144701"/>
                </a:lnTo>
                <a:lnTo>
                  <a:pt x="57749" y="144701"/>
                </a:lnTo>
                <a:lnTo>
                  <a:pt x="48734" y="143946"/>
                </a:lnTo>
                <a:lnTo>
                  <a:pt x="38544" y="131897"/>
                </a:lnTo>
                <a:lnTo>
                  <a:pt x="39297" y="122882"/>
                </a:lnTo>
                <a:lnTo>
                  <a:pt x="56233" y="108561"/>
                </a:lnTo>
                <a:lnTo>
                  <a:pt x="37782" y="86742"/>
                </a:lnTo>
                <a:close/>
              </a:path>
              <a:path w="207010" h="175260">
                <a:moveTo>
                  <a:pt x="56233" y="108561"/>
                </a:moveTo>
                <a:lnTo>
                  <a:pt x="39297" y="122882"/>
                </a:lnTo>
                <a:lnTo>
                  <a:pt x="38544" y="131897"/>
                </a:lnTo>
                <a:lnTo>
                  <a:pt x="48734" y="143946"/>
                </a:lnTo>
                <a:lnTo>
                  <a:pt x="57749" y="144701"/>
                </a:lnTo>
                <a:lnTo>
                  <a:pt x="74684" y="130380"/>
                </a:lnTo>
                <a:lnTo>
                  <a:pt x="56233" y="108561"/>
                </a:lnTo>
                <a:close/>
              </a:path>
              <a:path w="207010" h="175260">
                <a:moveTo>
                  <a:pt x="74684" y="130380"/>
                </a:moveTo>
                <a:lnTo>
                  <a:pt x="57749" y="144701"/>
                </a:lnTo>
                <a:lnTo>
                  <a:pt x="86793" y="144701"/>
                </a:lnTo>
                <a:lnTo>
                  <a:pt x="74684" y="130380"/>
                </a:lnTo>
                <a:close/>
              </a:path>
              <a:path w="207010" h="175260">
                <a:moveTo>
                  <a:pt x="132054" y="44444"/>
                </a:moveTo>
                <a:lnTo>
                  <a:pt x="56233" y="108561"/>
                </a:lnTo>
                <a:lnTo>
                  <a:pt x="74684" y="130380"/>
                </a:lnTo>
                <a:lnTo>
                  <a:pt x="150505" y="66263"/>
                </a:lnTo>
                <a:lnTo>
                  <a:pt x="132054" y="44444"/>
                </a:lnTo>
                <a:close/>
              </a:path>
              <a:path w="207010" h="175260">
                <a:moveTo>
                  <a:pt x="193817" y="30123"/>
                </a:moveTo>
                <a:lnTo>
                  <a:pt x="148990" y="30123"/>
                </a:lnTo>
                <a:lnTo>
                  <a:pt x="158004" y="30877"/>
                </a:lnTo>
                <a:lnTo>
                  <a:pt x="168194" y="42928"/>
                </a:lnTo>
                <a:lnTo>
                  <a:pt x="167440" y="51942"/>
                </a:lnTo>
                <a:lnTo>
                  <a:pt x="150505" y="66263"/>
                </a:lnTo>
                <a:lnTo>
                  <a:pt x="168956" y="88083"/>
                </a:lnTo>
                <a:lnTo>
                  <a:pt x="193817" y="30123"/>
                </a:lnTo>
                <a:close/>
              </a:path>
              <a:path w="207010" h="175260">
                <a:moveTo>
                  <a:pt x="148990" y="30123"/>
                </a:moveTo>
                <a:lnTo>
                  <a:pt x="132054" y="44444"/>
                </a:lnTo>
                <a:lnTo>
                  <a:pt x="150505" y="66263"/>
                </a:lnTo>
                <a:lnTo>
                  <a:pt x="167440" y="51942"/>
                </a:lnTo>
                <a:lnTo>
                  <a:pt x="168194" y="42928"/>
                </a:lnTo>
                <a:lnTo>
                  <a:pt x="158004" y="30877"/>
                </a:lnTo>
                <a:lnTo>
                  <a:pt x="148990" y="30123"/>
                </a:lnTo>
                <a:close/>
              </a:path>
              <a:path w="207010" h="175260">
                <a:moveTo>
                  <a:pt x="206738" y="0"/>
                </a:moveTo>
                <a:lnTo>
                  <a:pt x="113604" y="22625"/>
                </a:lnTo>
                <a:lnTo>
                  <a:pt x="132054" y="44444"/>
                </a:lnTo>
                <a:lnTo>
                  <a:pt x="148990" y="30123"/>
                </a:lnTo>
                <a:lnTo>
                  <a:pt x="193817" y="30123"/>
                </a:lnTo>
                <a:lnTo>
                  <a:pt x="2067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6061401" y="4561761"/>
            <a:ext cx="86360" cy="451484"/>
          </a:xfrm>
          <a:custGeom>
            <a:avLst/>
            <a:gdLst/>
            <a:ahLst/>
            <a:cxnLst/>
            <a:rect l="l" t="t" r="r" b="b"/>
            <a:pathLst>
              <a:path w="86360" h="451485">
                <a:moveTo>
                  <a:pt x="28575" y="365570"/>
                </a:moveTo>
                <a:lnTo>
                  <a:pt x="0" y="365570"/>
                </a:lnTo>
                <a:lnTo>
                  <a:pt x="42862" y="451295"/>
                </a:lnTo>
                <a:lnTo>
                  <a:pt x="71437" y="394145"/>
                </a:lnTo>
                <a:lnTo>
                  <a:pt x="34971" y="394145"/>
                </a:lnTo>
                <a:lnTo>
                  <a:pt x="28575" y="387748"/>
                </a:lnTo>
                <a:lnTo>
                  <a:pt x="28575" y="365570"/>
                </a:lnTo>
                <a:close/>
              </a:path>
              <a:path w="86360" h="451485">
                <a:moveTo>
                  <a:pt x="50754" y="57150"/>
                </a:moveTo>
                <a:lnTo>
                  <a:pt x="34973" y="57150"/>
                </a:lnTo>
                <a:lnTo>
                  <a:pt x="28576" y="63546"/>
                </a:lnTo>
                <a:lnTo>
                  <a:pt x="28575" y="387748"/>
                </a:lnTo>
                <a:lnTo>
                  <a:pt x="34971" y="394145"/>
                </a:lnTo>
                <a:lnTo>
                  <a:pt x="50753" y="394145"/>
                </a:lnTo>
                <a:lnTo>
                  <a:pt x="57150" y="387748"/>
                </a:lnTo>
                <a:lnTo>
                  <a:pt x="57151" y="63546"/>
                </a:lnTo>
                <a:lnTo>
                  <a:pt x="50754" y="57150"/>
                </a:lnTo>
                <a:close/>
              </a:path>
              <a:path w="86360" h="451485">
                <a:moveTo>
                  <a:pt x="85725" y="365570"/>
                </a:moveTo>
                <a:lnTo>
                  <a:pt x="57150" y="365570"/>
                </a:lnTo>
                <a:lnTo>
                  <a:pt x="57150" y="387748"/>
                </a:lnTo>
                <a:lnTo>
                  <a:pt x="50753" y="394145"/>
                </a:lnTo>
                <a:lnTo>
                  <a:pt x="71437" y="394145"/>
                </a:lnTo>
                <a:lnTo>
                  <a:pt x="85725" y="365570"/>
                </a:lnTo>
                <a:close/>
              </a:path>
              <a:path w="86360" h="451485">
                <a:moveTo>
                  <a:pt x="42863" y="0"/>
                </a:moveTo>
                <a:lnTo>
                  <a:pt x="1" y="85725"/>
                </a:lnTo>
                <a:lnTo>
                  <a:pt x="28576" y="85725"/>
                </a:lnTo>
                <a:lnTo>
                  <a:pt x="28576" y="63546"/>
                </a:lnTo>
                <a:lnTo>
                  <a:pt x="34973" y="57150"/>
                </a:lnTo>
                <a:lnTo>
                  <a:pt x="71438" y="57150"/>
                </a:lnTo>
                <a:lnTo>
                  <a:pt x="42863" y="0"/>
                </a:lnTo>
                <a:close/>
              </a:path>
              <a:path w="86360" h="451485">
                <a:moveTo>
                  <a:pt x="71438" y="57150"/>
                </a:moveTo>
                <a:lnTo>
                  <a:pt x="50754" y="57150"/>
                </a:lnTo>
                <a:lnTo>
                  <a:pt x="57151" y="63546"/>
                </a:lnTo>
                <a:lnTo>
                  <a:pt x="57151" y="85725"/>
                </a:lnTo>
                <a:lnTo>
                  <a:pt x="85726" y="85725"/>
                </a:lnTo>
                <a:lnTo>
                  <a:pt x="71438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6192333" y="4874458"/>
            <a:ext cx="207010" cy="175260"/>
          </a:xfrm>
          <a:custGeom>
            <a:avLst/>
            <a:gdLst/>
            <a:ahLst/>
            <a:cxnLst/>
            <a:rect l="l" t="t" r="r" b="b"/>
            <a:pathLst>
              <a:path w="207010" h="175260">
                <a:moveTo>
                  <a:pt x="37782" y="86739"/>
                </a:moveTo>
                <a:lnTo>
                  <a:pt x="0" y="174823"/>
                </a:lnTo>
                <a:lnTo>
                  <a:pt x="93135" y="152199"/>
                </a:lnTo>
                <a:lnTo>
                  <a:pt x="86793" y="144699"/>
                </a:lnTo>
                <a:lnTo>
                  <a:pt x="57749" y="144699"/>
                </a:lnTo>
                <a:lnTo>
                  <a:pt x="48734" y="143945"/>
                </a:lnTo>
                <a:lnTo>
                  <a:pt x="38544" y="131895"/>
                </a:lnTo>
                <a:lnTo>
                  <a:pt x="39298" y="122880"/>
                </a:lnTo>
                <a:lnTo>
                  <a:pt x="56233" y="108559"/>
                </a:lnTo>
                <a:lnTo>
                  <a:pt x="37782" y="86739"/>
                </a:lnTo>
                <a:close/>
              </a:path>
              <a:path w="207010" h="175260">
                <a:moveTo>
                  <a:pt x="56233" y="108559"/>
                </a:moveTo>
                <a:lnTo>
                  <a:pt x="39298" y="122880"/>
                </a:lnTo>
                <a:lnTo>
                  <a:pt x="38544" y="131895"/>
                </a:lnTo>
                <a:lnTo>
                  <a:pt x="48734" y="143945"/>
                </a:lnTo>
                <a:lnTo>
                  <a:pt x="57749" y="144699"/>
                </a:lnTo>
                <a:lnTo>
                  <a:pt x="74684" y="130379"/>
                </a:lnTo>
                <a:lnTo>
                  <a:pt x="56233" y="108559"/>
                </a:lnTo>
                <a:close/>
              </a:path>
              <a:path w="207010" h="175260">
                <a:moveTo>
                  <a:pt x="74684" y="130379"/>
                </a:moveTo>
                <a:lnTo>
                  <a:pt x="57749" y="144699"/>
                </a:lnTo>
                <a:lnTo>
                  <a:pt x="86793" y="144699"/>
                </a:lnTo>
                <a:lnTo>
                  <a:pt x="74684" y="130379"/>
                </a:lnTo>
                <a:close/>
              </a:path>
              <a:path w="207010" h="175260">
                <a:moveTo>
                  <a:pt x="132054" y="44443"/>
                </a:moveTo>
                <a:lnTo>
                  <a:pt x="56233" y="108559"/>
                </a:lnTo>
                <a:lnTo>
                  <a:pt x="74684" y="130379"/>
                </a:lnTo>
                <a:lnTo>
                  <a:pt x="150506" y="66262"/>
                </a:lnTo>
                <a:lnTo>
                  <a:pt x="132054" y="44443"/>
                </a:lnTo>
                <a:close/>
              </a:path>
              <a:path w="207010" h="175260">
                <a:moveTo>
                  <a:pt x="193818" y="30121"/>
                </a:moveTo>
                <a:lnTo>
                  <a:pt x="148990" y="30121"/>
                </a:lnTo>
                <a:lnTo>
                  <a:pt x="158005" y="30876"/>
                </a:lnTo>
                <a:lnTo>
                  <a:pt x="168194" y="42927"/>
                </a:lnTo>
                <a:lnTo>
                  <a:pt x="167441" y="51941"/>
                </a:lnTo>
                <a:lnTo>
                  <a:pt x="150506" y="66262"/>
                </a:lnTo>
                <a:lnTo>
                  <a:pt x="168956" y="88082"/>
                </a:lnTo>
                <a:lnTo>
                  <a:pt x="193818" y="30121"/>
                </a:lnTo>
                <a:close/>
              </a:path>
              <a:path w="207010" h="175260">
                <a:moveTo>
                  <a:pt x="148990" y="30121"/>
                </a:moveTo>
                <a:lnTo>
                  <a:pt x="132054" y="44443"/>
                </a:lnTo>
                <a:lnTo>
                  <a:pt x="150506" y="66262"/>
                </a:lnTo>
                <a:lnTo>
                  <a:pt x="167441" y="51941"/>
                </a:lnTo>
                <a:lnTo>
                  <a:pt x="168194" y="42927"/>
                </a:lnTo>
                <a:lnTo>
                  <a:pt x="158005" y="30876"/>
                </a:lnTo>
                <a:lnTo>
                  <a:pt x="148990" y="30121"/>
                </a:lnTo>
                <a:close/>
              </a:path>
              <a:path w="207010" h="175260">
                <a:moveTo>
                  <a:pt x="206739" y="0"/>
                </a:moveTo>
                <a:lnTo>
                  <a:pt x="113604" y="22623"/>
                </a:lnTo>
                <a:lnTo>
                  <a:pt x="132054" y="44443"/>
                </a:lnTo>
                <a:lnTo>
                  <a:pt x="148990" y="30121"/>
                </a:lnTo>
                <a:lnTo>
                  <a:pt x="193818" y="30121"/>
                </a:lnTo>
                <a:lnTo>
                  <a:pt x="2067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6192334" y="4525536"/>
            <a:ext cx="207010" cy="174625"/>
          </a:xfrm>
          <a:custGeom>
            <a:avLst/>
            <a:gdLst/>
            <a:ahLst/>
            <a:cxnLst/>
            <a:rect l="l" t="t" r="r" b="b"/>
            <a:pathLst>
              <a:path w="207010" h="174625">
                <a:moveTo>
                  <a:pt x="131952" y="129742"/>
                </a:moveTo>
                <a:lnTo>
                  <a:pt x="113551" y="151603"/>
                </a:lnTo>
                <a:lnTo>
                  <a:pt x="206738" y="174015"/>
                </a:lnTo>
                <a:lnTo>
                  <a:pt x="193792" y="144024"/>
                </a:lnTo>
                <a:lnTo>
                  <a:pt x="148920" y="144024"/>
                </a:lnTo>
                <a:lnTo>
                  <a:pt x="131952" y="129742"/>
                </a:lnTo>
                <a:close/>
              </a:path>
              <a:path w="207010" h="174625">
                <a:moveTo>
                  <a:pt x="150354" y="107880"/>
                </a:moveTo>
                <a:lnTo>
                  <a:pt x="131952" y="129742"/>
                </a:lnTo>
                <a:lnTo>
                  <a:pt x="148920" y="144024"/>
                </a:lnTo>
                <a:lnTo>
                  <a:pt x="157933" y="143249"/>
                </a:lnTo>
                <a:lnTo>
                  <a:pt x="168095" y="131175"/>
                </a:lnTo>
                <a:lnTo>
                  <a:pt x="167322" y="122162"/>
                </a:lnTo>
                <a:lnTo>
                  <a:pt x="150354" y="107880"/>
                </a:lnTo>
                <a:close/>
              </a:path>
              <a:path w="207010" h="174625">
                <a:moveTo>
                  <a:pt x="168755" y="86018"/>
                </a:moveTo>
                <a:lnTo>
                  <a:pt x="150354" y="107880"/>
                </a:lnTo>
                <a:lnTo>
                  <a:pt x="167322" y="122162"/>
                </a:lnTo>
                <a:lnTo>
                  <a:pt x="168095" y="131175"/>
                </a:lnTo>
                <a:lnTo>
                  <a:pt x="157933" y="143249"/>
                </a:lnTo>
                <a:lnTo>
                  <a:pt x="148920" y="144024"/>
                </a:lnTo>
                <a:lnTo>
                  <a:pt x="193792" y="144024"/>
                </a:lnTo>
                <a:lnTo>
                  <a:pt x="168755" y="86018"/>
                </a:lnTo>
                <a:close/>
              </a:path>
              <a:path w="207010" h="174625">
                <a:moveTo>
                  <a:pt x="74785" y="44272"/>
                </a:moveTo>
                <a:lnTo>
                  <a:pt x="56384" y="66134"/>
                </a:lnTo>
                <a:lnTo>
                  <a:pt x="131952" y="129742"/>
                </a:lnTo>
                <a:lnTo>
                  <a:pt x="150354" y="107880"/>
                </a:lnTo>
                <a:lnTo>
                  <a:pt x="74785" y="44272"/>
                </a:lnTo>
                <a:close/>
              </a:path>
              <a:path w="207010" h="174625">
                <a:moveTo>
                  <a:pt x="0" y="0"/>
                </a:moveTo>
                <a:lnTo>
                  <a:pt x="37983" y="87995"/>
                </a:lnTo>
                <a:lnTo>
                  <a:pt x="56384" y="66134"/>
                </a:lnTo>
                <a:lnTo>
                  <a:pt x="39416" y="51852"/>
                </a:lnTo>
                <a:lnTo>
                  <a:pt x="38642" y="42839"/>
                </a:lnTo>
                <a:lnTo>
                  <a:pt x="48804" y="30765"/>
                </a:lnTo>
                <a:lnTo>
                  <a:pt x="57818" y="29991"/>
                </a:lnTo>
                <a:lnTo>
                  <a:pt x="86806" y="29991"/>
                </a:lnTo>
                <a:lnTo>
                  <a:pt x="93186" y="22411"/>
                </a:lnTo>
                <a:lnTo>
                  <a:pt x="0" y="0"/>
                </a:lnTo>
                <a:close/>
              </a:path>
              <a:path w="207010" h="174625">
                <a:moveTo>
                  <a:pt x="57818" y="29991"/>
                </a:moveTo>
                <a:lnTo>
                  <a:pt x="48804" y="30765"/>
                </a:lnTo>
                <a:lnTo>
                  <a:pt x="38642" y="42839"/>
                </a:lnTo>
                <a:lnTo>
                  <a:pt x="39416" y="51852"/>
                </a:lnTo>
                <a:lnTo>
                  <a:pt x="56384" y="66134"/>
                </a:lnTo>
                <a:lnTo>
                  <a:pt x="74785" y="44272"/>
                </a:lnTo>
                <a:lnTo>
                  <a:pt x="57818" y="29991"/>
                </a:lnTo>
                <a:close/>
              </a:path>
              <a:path w="207010" h="174625">
                <a:moveTo>
                  <a:pt x="86806" y="29991"/>
                </a:moveTo>
                <a:lnTo>
                  <a:pt x="57818" y="29991"/>
                </a:lnTo>
                <a:lnTo>
                  <a:pt x="74785" y="44272"/>
                </a:lnTo>
                <a:lnTo>
                  <a:pt x="86806" y="299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743631" y="4383841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30"/>
                </a:lnTo>
                <a:lnTo>
                  <a:pt x="239312" y="171818"/>
                </a:lnTo>
                <a:lnTo>
                  <a:pt x="249099" y="123677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743631" y="4383841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1126508" y="4732761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30"/>
                </a:lnTo>
                <a:lnTo>
                  <a:pt x="239312" y="171818"/>
                </a:lnTo>
                <a:lnTo>
                  <a:pt x="249100" y="123677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1126508" y="4732761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743630" y="5082491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30"/>
                </a:lnTo>
                <a:lnTo>
                  <a:pt x="239312" y="171818"/>
                </a:lnTo>
                <a:lnTo>
                  <a:pt x="249099" y="123677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743630" y="5082491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1806486" y="4366632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29"/>
                </a:lnTo>
                <a:lnTo>
                  <a:pt x="239312" y="171817"/>
                </a:lnTo>
                <a:lnTo>
                  <a:pt x="249100" y="123676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1806486" y="4366632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2189364" y="4715553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19" y="211129"/>
                </a:lnTo>
                <a:lnTo>
                  <a:pt x="239311" y="171817"/>
                </a:lnTo>
                <a:lnTo>
                  <a:pt x="249099" y="123676"/>
                </a:lnTo>
                <a:lnTo>
                  <a:pt x="239311" y="75536"/>
                </a:lnTo>
                <a:lnTo>
                  <a:pt x="212619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2189364" y="4715553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1806484" y="5065281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29"/>
                </a:lnTo>
                <a:lnTo>
                  <a:pt x="239312" y="171817"/>
                </a:lnTo>
                <a:lnTo>
                  <a:pt x="249100" y="123676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1806484" y="5065281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2864228" y="4363765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124548" y="0"/>
                </a:moveTo>
                <a:lnTo>
                  <a:pt x="76068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8" y="237634"/>
                </a:lnTo>
                <a:lnTo>
                  <a:pt x="124548" y="247354"/>
                </a:lnTo>
                <a:lnTo>
                  <a:pt x="173029" y="237634"/>
                </a:lnTo>
                <a:lnTo>
                  <a:pt x="212619" y="211130"/>
                </a:lnTo>
                <a:lnTo>
                  <a:pt x="239311" y="171818"/>
                </a:lnTo>
                <a:lnTo>
                  <a:pt x="249099" y="123677"/>
                </a:lnTo>
                <a:lnTo>
                  <a:pt x="239311" y="75536"/>
                </a:lnTo>
                <a:lnTo>
                  <a:pt x="212619" y="36224"/>
                </a:lnTo>
                <a:lnTo>
                  <a:pt x="173029" y="9719"/>
                </a:lnTo>
                <a:lnTo>
                  <a:pt x="1245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2864228" y="4363765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3247104" y="471268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29"/>
                </a:lnTo>
                <a:lnTo>
                  <a:pt x="239312" y="171817"/>
                </a:lnTo>
                <a:lnTo>
                  <a:pt x="249100" y="123676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3247104" y="471268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2864227" y="5062415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30"/>
                </a:lnTo>
                <a:lnTo>
                  <a:pt x="239312" y="171818"/>
                </a:lnTo>
                <a:lnTo>
                  <a:pt x="249100" y="123677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2864227" y="5062415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3927081" y="4346557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29"/>
                </a:lnTo>
                <a:lnTo>
                  <a:pt x="239312" y="171817"/>
                </a:lnTo>
                <a:lnTo>
                  <a:pt x="249100" y="123676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3927081" y="4346557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4309959" y="469547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29"/>
                </a:lnTo>
                <a:lnTo>
                  <a:pt x="239312" y="171817"/>
                </a:lnTo>
                <a:lnTo>
                  <a:pt x="249100" y="123676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4309959" y="469547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3927081" y="5045207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48" y="0"/>
                </a:moveTo>
                <a:lnTo>
                  <a:pt x="76068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8" y="237634"/>
                </a:lnTo>
                <a:lnTo>
                  <a:pt x="124548" y="247354"/>
                </a:lnTo>
                <a:lnTo>
                  <a:pt x="173029" y="237634"/>
                </a:lnTo>
                <a:lnTo>
                  <a:pt x="212619" y="211129"/>
                </a:lnTo>
                <a:lnTo>
                  <a:pt x="239311" y="171817"/>
                </a:lnTo>
                <a:lnTo>
                  <a:pt x="249099" y="123676"/>
                </a:lnTo>
                <a:lnTo>
                  <a:pt x="239311" y="75536"/>
                </a:lnTo>
                <a:lnTo>
                  <a:pt x="212619" y="36224"/>
                </a:lnTo>
                <a:lnTo>
                  <a:pt x="173029" y="9719"/>
                </a:lnTo>
                <a:lnTo>
                  <a:pt x="1245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3927081" y="5045207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4916860" y="433161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29"/>
                </a:lnTo>
                <a:lnTo>
                  <a:pt x="239312" y="171817"/>
                </a:lnTo>
                <a:lnTo>
                  <a:pt x="249100" y="123676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4916860" y="433161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5299737" y="468053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30"/>
                </a:lnTo>
                <a:lnTo>
                  <a:pt x="239312" y="171818"/>
                </a:lnTo>
                <a:lnTo>
                  <a:pt x="249100" y="123677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5299737" y="468053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4916859" y="503026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30"/>
                </a:lnTo>
                <a:lnTo>
                  <a:pt x="239312" y="171818"/>
                </a:lnTo>
                <a:lnTo>
                  <a:pt x="249100" y="123677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4916859" y="503026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743631" y="3101891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29"/>
                </a:lnTo>
                <a:lnTo>
                  <a:pt x="239312" y="171817"/>
                </a:lnTo>
                <a:lnTo>
                  <a:pt x="249099" y="123676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743631" y="3101891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1126508" y="3450811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30"/>
                </a:lnTo>
                <a:lnTo>
                  <a:pt x="239312" y="171818"/>
                </a:lnTo>
                <a:lnTo>
                  <a:pt x="249100" y="123677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1126508" y="3450811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743630" y="3800540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29"/>
                </a:lnTo>
                <a:lnTo>
                  <a:pt x="239312" y="171817"/>
                </a:lnTo>
                <a:lnTo>
                  <a:pt x="249099" y="123676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743630" y="3800540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1806486" y="3084681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6"/>
                </a:lnTo>
                <a:lnTo>
                  <a:pt x="36479" y="211128"/>
                </a:lnTo>
                <a:lnTo>
                  <a:pt x="76069" y="237633"/>
                </a:lnTo>
                <a:lnTo>
                  <a:pt x="124550" y="247352"/>
                </a:lnTo>
                <a:lnTo>
                  <a:pt x="173030" y="237633"/>
                </a:lnTo>
                <a:lnTo>
                  <a:pt x="212620" y="211128"/>
                </a:lnTo>
                <a:lnTo>
                  <a:pt x="239312" y="171816"/>
                </a:lnTo>
                <a:lnTo>
                  <a:pt x="249100" y="123676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1806486" y="3084681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2189364" y="3433602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19" y="211129"/>
                </a:lnTo>
                <a:lnTo>
                  <a:pt x="239311" y="171817"/>
                </a:lnTo>
                <a:lnTo>
                  <a:pt x="249099" y="123676"/>
                </a:lnTo>
                <a:lnTo>
                  <a:pt x="239311" y="75536"/>
                </a:lnTo>
                <a:lnTo>
                  <a:pt x="212619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2189364" y="3433602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1806484" y="3783331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29"/>
                </a:lnTo>
                <a:lnTo>
                  <a:pt x="239312" y="171817"/>
                </a:lnTo>
                <a:lnTo>
                  <a:pt x="249100" y="123676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1806484" y="3783331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2864228" y="3081814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124548" y="0"/>
                </a:moveTo>
                <a:lnTo>
                  <a:pt x="76068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8" y="237634"/>
                </a:lnTo>
                <a:lnTo>
                  <a:pt x="124548" y="247354"/>
                </a:lnTo>
                <a:lnTo>
                  <a:pt x="173029" y="237634"/>
                </a:lnTo>
                <a:lnTo>
                  <a:pt x="212619" y="211129"/>
                </a:lnTo>
                <a:lnTo>
                  <a:pt x="239311" y="171817"/>
                </a:lnTo>
                <a:lnTo>
                  <a:pt x="249099" y="123676"/>
                </a:lnTo>
                <a:lnTo>
                  <a:pt x="239311" y="75536"/>
                </a:lnTo>
                <a:lnTo>
                  <a:pt x="212619" y="36224"/>
                </a:lnTo>
                <a:lnTo>
                  <a:pt x="173029" y="9719"/>
                </a:lnTo>
                <a:lnTo>
                  <a:pt x="1245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2864228" y="3081814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3247104" y="3430735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29"/>
                </a:lnTo>
                <a:lnTo>
                  <a:pt x="239312" y="171817"/>
                </a:lnTo>
                <a:lnTo>
                  <a:pt x="249100" y="123676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3247104" y="3430735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2864227" y="3780464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30"/>
                </a:lnTo>
                <a:lnTo>
                  <a:pt x="239312" y="171818"/>
                </a:lnTo>
                <a:lnTo>
                  <a:pt x="249100" y="123677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2864227" y="3780464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5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3927081" y="306460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6"/>
                </a:lnTo>
                <a:lnTo>
                  <a:pt x="36479" y="211129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29"/>
                </a:lnTo>
                <a:lnTo>
                  <a:pt x="239312" y="171816"/>
                </a:lnTo>
                <a:lnTo>
                  <a:pt x="249100" y="123676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3927081" y="306460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4309959" y="341352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29"/>
                </a:lnTo>
                <a:lnTo>
                  <a:pt x="239312" y="171817"/>
                </a:lnTo>
                <a:lnTo>
                  <a:pt x="249100" y="123676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4309959" y="341352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3927081" y="376325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48" y="0"/>
                </a:moveTo>
                <a:lnTo>
                  <a:pt x="76068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8" y="237634"/>
                </a:lnTo>
                <a:lnTo>
                  <a:pt x="124548" y="247354"/>
                </a:lnTo>
                <a:lnTo>
                  <a:pt x="173029" y="237634"/>
                </a:lnTo>
                <a:lnTo>
                  <a:pt x="212619" y="211129"/>
                </a:lnTo>
                <a:lnTo>
                  <a:pt x="239311" y="171817"/>
                </a:lnTo>
                <a:lnTo>
                  <a:pt x="249099" y="123676"/>
                </a:lnTo>
                <a:lnTo>
                  <a:pt x="239311" y="75536"/>
                </a:lnTo>
                <a:lnTo>
                  <a:pt x="212619" y="36224"/>
                </a:lnTo>
                <a:lnTo>
                  <a:pt x="173029" y="9719"/>
                </a:lnTo>
                <a:lnTo>
                  <a:pt x="1245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3927081" y="376325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4916860" y="304966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29"/>
                </a:lnTo>
                <a:lnTo>
                  <a:pt x="239312" y="171817"/>
                </a:lnTo>
                <a:lnTo>
                  <a:pt x="249100" y="123676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4916860" y="304966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5299737" y="3398585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29"/>
                </a:lnTo>
                <a:lnTo>
                  <a:pt x="239312" y="171817"/>
                </a:lnTo>
                <a:lnTo>
                  <a:pt x="249100" y="123676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5299737" y="3398585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4916859" y="374831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29"/>
                </a:lnTo>
                <a:lnTo>
                  <a:pt x="239312" y="171817"/>
                </a:lnTo>
                <a:lnTo>
                  <a:pt x="249100" y="123676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4916859" y="374831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5979714" y="303245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6"/>
                </a:lnTo>
                <a:lnTo>
                  <a:pt x="36479" y="211129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29"/>
                </a:lnTo>
                <a:lnTo>
                  <a:pt x="239312" y="171816"/>
                </a:lnTo>
                <a:lnTo>
                  <a:pt x="249100" y="123676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5979714" y="303245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6362593" y="338137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48" y="0"/>
                </a:moveTo>
                <a:lnTo>
                  <a:pt x="76068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8" y="237634"/>
                </a:lnTo>
                <a:lnTo>
                  <a:pt x="124548" y="247354"/>
                </a:lnTo>
                <a:lnTo>
                  <a:pt x="173029" y="237634"/>
                </a:lnTo>
                <a:lnTo>
                  <a:pt x="212619" y="211130"/>
                </a:lnTo>
                <a:lnTo>
                  <a:pt x="239311" y="171818"/>
                </a:lnTo>
                <a:lnTo>
                  <a:pt x="249099" y="123677"/>
                </a:lnTo>
                <a:lnTo>
                  <a:pt x="239311" y="75536"/>
                </a:lnTo>
                <a:lnTo>
                  <a:pt x="212619" y="36224"/>
                </a:lnTo>
                <a:lnTo>
                  <a:pt x="173029" y="9719"/>
                </a:lnTo>
                <a:lnTo>
                  <a:pt x="1245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6362593" y="338137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5979713" y="373110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6"/>
                </a:lnTo>
                <a:lnTo>
                  <a:pt x="36479" y="211128"/>
                </a:lnTo>
                <a:lnTo>
                  <a:pt x="76069" y="237633"/>
                </a:lnTo>
                <a:lnTo>
                  <a:pt x="124550" y="247352"/>
                </a:lnTo>
                <a:lnTo>
                  <a:pt x="173030" y="237633"/>
                </a:lnTo>
                <a:lnTo>
                  <a:pt x="212620" y="211128"/>
                </a:lnTo>
                <a:lnTo>
                  <a:pt x="239312" y="171816"/>
                </a:lnTo>
                <a:lnTo>
                  <a:pt x="249100" y="123676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5979713" y="3731106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7042567" y="3042260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30"/>
                </a:lnTo>
                <a:lnTo>
                  <a:pt x="239312" y="171818"/>
                </a:lnTo>
                <a:lnTo>
                  <a:pt x="249100" y="123677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7042567" y="3042260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7425445" y="3391181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7"/>
                </a:lnTo>
                <a:lnTo>
                  <a:pt x="36479" y="211129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19" y="211129"/>
                </a:lnTo>
                <a:lnTo>
                  <a:pt x="239311" y="171817"/>
                </a:lnTo>
                <a:lnTo>
                  <a:pt x="249099" y="123676"/>
                </a:lnTo>
                <a:lnTo>
                  <a:pt x="239311" y="75536"/>
                </a:lnTo>
                <a:lnTo>
                  <a:pt x="212619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7425445" y="3391181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7042566" y="3740910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30"/>
                </a:lnTo>
                <a:lnTo>
                  <a:pt x="239312" y="171818"/>
                </a:lnTo>
                <a:lnTo>
                  <a:pt x="249100" y="123677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7042566" y="3740910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5979713" y="4311238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30"/>
                </a:lnTo>
                <a:lnTo>
                  <a:pt x="239312" y="171818"/>
                </a:lnTo>
                <a:lnTo>
                  <a:pt x="249100" y="123677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5979713" y="4311238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6362591" y="4660159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7"/>
                </a:lnTo>
                <a:lnTo>
                  <a:pt x="9787" y="171818"/>
                </a:lnTo>
                <a:lnTo>
                  <a:pt x="36479" y="211130"/>
                </a:lnTo>
                <a:lnTo>
                  <a:pt x="76069" y="237634"/>
                </a:lnTo>
                <a:lnTo>
                  <a:pt x="124550" y="247354"/>
                </a:lnTo>
                <a:lnTo>
                  <a:pt x="173030" y="237634"/>
                </a:lnTo>
                <a:lnTo>
                  <a:pt x="212620" y="211130"/>
                </a:lnTo>
                <a:lnTo>
                  <a:pt x="239312" y="171818"/>
                </a:lnTo>
                <a:lnTo>
                  <a:pt x="249100" y="123677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6362591" y="4660159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5979712" y="5009889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124550" y="0"/>
                </a:moveTo>
                <a:lnTo>
                  <a:pt x="76069" y="9719"/>
                </a:lnTo>
                <a:lnTo>
                  <a:pt x="36479" y="36224"/>
                </a:lnTo>
                <a:lnTo>
                  <a:pt x="9787" y="75536"/>
                </a:lnTo>
                <a:lnTo>
                  <a:pt x="0" y="123676"/>
                </a:lnTo>
                <a:lnTo>
                  <a:pt x="9787" y="171816"/>
                </a:lnTo>
                <a:lnTo>
                  <a:pt x="36479" y="211128"/>
                </a:lnTo>
                <a:lnTo>
                  <a:pt x="76069" y="237633"/>
                </a:lnTo>
                <a:lnTo>
                  <a:pt x="124550" y="247352"/>
                </a:lnTo>
                <a:lnTo>
                  <a:pt x="173030" y="237633"/>
                </a:lnTo>
                <a:lnTo>
                  <a:pt x="212620" y="211128"/>
                </a:lnTo>
                <a:lnTo>
                  <a:pt x="239312" y="171816"/>
                </a:lnTo>
                <a:lnTo>
                  <a:pt x="249100" y="123676"/>
                </a:lnTo>
                <a:lnTo>
                  <a:pt x="239312" y="75536"/>
                </a:lnTo>
                <a:lnTo>
                  <a:pt x="212620" y="36224"/>
                </a:lnTo>
                <a:lnTo>
                  <a:pt x="173030" y="9719"/>
                </a:lnTo>
                <a:lnTo>
                  <a:pt x="1245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5979712" y="5009889"/>
            <a:ext cx="249554" cy="247650"/>
          </a:xfrm>
          <a:custGeom>
            <a:avLst/>
            <a:gdLst/>
            <a:ahLst/>
            <a:cxnLst/>
            <a:rect l="l" t="t" r="r" b="b"/>
            <a:pathLst>
              <a:path w="249554" h="247650">
                <a:moveTo>
                  <a:pt x="0" y="123677"/>
                </a:moveTo>
                <a:lnTo>
                  <a:pt x="9787" y="75536"/>
                </a:lnTo>
                <a:lnTo>
                  <a:pt x="36479" y="36224"/>
                </a:lnTo>
                <a:lnTo>
                  <a:pt x="76069" y="9719"/>
                </a:lnTo>
                <a:lnTo>
                  <a:pt x="124550" y="0"/>
                </a:lnTo>
                <a:lnTo>
                  <a:pt x="173030" y="9719"/>
                </a:lnTo>
                <a:lnTo>
                  <a:pt x="212620" y="36224"/>
                </a:lnTo>
                <a:lnTo>
                  <a:pt x="239312" y="75536"/>
                </a:lnTo>
                <a:lnTo>
                  <a:pt x="249100" y="123677"/>
                </a:lnTo>
                <a:lnTo>
                  <a:pt x="239312" y="171817"/>
                </a:lnTo>
                <a:lnTo>
                  <a:pt x="212620" y="211129"/>
                </a:lnTo>
                <a:lnTo>
                  <a:pt x="173030" y="237634"/>
                </a:lnTo>
                <a:lnTo>
                  <a:pt x="124550" y="247354"/>
                </a:lnTo>
                <a:lnTo>
                  <a:pt x="76069" y="237634"/>
                </a:lnTo>
                <a:lnTo>
                  <a:pt x="36479" y="211129"/>
                </a:lnTo>
                <a:lnTo>
                  <a:pt x="9787" y="171817"/>
                </a:lnTo>
                <a:lnTo>
                  <a:pt x="0" y="12367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177" name="object 17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78" name="object 17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3810000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74370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0000FF"/>
                </a:solidFill>
                <a:latin typeface="Calibri"/>
                <a:cs typeface="Calibri"/>
              </a:rPr>
              <a:t>Network motifs: </a:t>
            </a:r>
            <a:r>
              <a:rPr dirty="0" spc="-5"/>
              <a:t>“recurring, </a:t>
            </a:r>
            <a:r>
              <a:rPr dirty="0" spc="-10"/>
              <a:t>significant  </a:t>
            </a:r>
            <a:r>
              <a:rPr dirty="0" spc="-15"/>
              <a:t>patterns </a:t>
            </a:r>
            <a:r>
              <a:rPr dirty="0" spc="-5"/>
              <a:t>of</a:t>
            </a:r>
            <a:r>
              <a:rPr dirty="0" spc="25"/>
              <a:t> </a:t>
            </a:r>
            <a:r>
              <a:rPr dirty="0" spc="-15"/>
              <a:t>interconnections”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646607"/>
            <a:ext cx="7668895" cy="3561079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How </a:t>
            </a:r>
            <a:r>
              <a:rPr dirty="0" sz="3200" spc="-15" b="1">
                <a:latin typeface="Calibri"/>
                <a:cs typeface="Calibri"/>
              </a:rPr>
              <a:t>to </a:t>
            </a:r>
            <a:r>
              <a:rPr dirty="0" sz="3200" spc="-10" b="1">
                <a:latin typeface="Calibri"/>
                <a:cs typeface="Calibri"/>
              </a:rPr>
              <a:t>define </a:t>
            </a:r>
            <a:r>
              <a:rPr dirty="0" sz="3200" b="1">
                <a:latin typeface="Calibri"/>
                <a:cs typeface="Calibri"/>
              </a:rPr>
              <a:t>a </a:t>
            </a:r>
            <a:r>
              <a:rPr dirty="0" sz="3200" spc="-10" b="1">
                <a:latin typeface="Calibri"/>
                <a:cs typeface="Calibri"/>
              </a:rPr>
              <a:t>network</a:t>
            </a:r>
            <a:r>
              <a:rPr dirty="0" sz="3200" spc="-5" b="1">
                <a:latin typeface="Calibri"/>
                <a:cs typeface="Calibri"/>
              </a:rPr>
              <a:t> motif: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 b="1">
                <a:solidFill>
                  <a:srgbClr val="008000"/>
                </a:solidFill>
                <a:latin typeface="Calibri"/>
                <a:cs typeface="Calibri"/>
              </a:rPr>
              <a:t>Pattern: </a:t>
            </a:r>
            <a:r>
              <a:rPr dirty="0" sz="2800" spc="-5">
                <a:latin typeface="Calibri"/>
                <a:cs typeface="Calibri"/>
              </a:rPr>
              <a:t>Small (node-induced) </a:t>
            </a:r>
            <a:r>
              <a:rPr dirty="0" sz="2800" spc="-10">
                <a:latin typeface="Calibri"/>
                <a:cs typeface="Calibri"/>
              </a:rPr>
              <a:t>subgraph</a:t>
            </a:r>
            <a:endParaRPr sz="2800">
              <a:latin typeface="Calibri"/>
              <a:cs typeface="Calibri"/>
            </a:endParaRPr>
          </a:p>
          <a:p>
            <a:pPr lvl="1" marL="625475" marR="654685" indent="-274320">
              <a:lnSpc>
                <a:spcPct val="101400"/>
              </a:lnSpc>
              <a:spcBef>
                <a:spcPts val="6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  <a:tab pos="2444750" algn="l"/>
              </a:tabLst>
            </a:pP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Recurring: </a:t>
            </a:r>
            <a:r>
              <a:rPr dirty="0" sz="2800" spc="-10">
                <a:latin typeface="Calibri"/>
                <a:cs typeface="Calibri"/>
              </a:rPr>
              <a:t>Found </a:t>
            </a:r>
            <a:r>
              <a:rPr dirty="0" sz="2800" spc="-15">
                <a:latin typeface="Calibri"/>
                <a:cs typeface="Calibri"/>
              </a:rPr>
              <a:t>many </a:t>
            </a:r>
            <a:r>
              <a:rPr dirty="0" sz="2800" spc="-5">
                <a:latin typeface="Calibri"/>
                <a:cs typeface="Calibri"/>
              </a:rPr>
              <a:t>times, i.e., with </a:t>
            </a:r>
            <a:r>
              <a:rPr dirty="0" sz="2800" spc="-150">
                <a:latin typeface="Calibri"/>
                <a:cs typeface="Calibri"/>
              </a:rPr>
              <a:t>high  </a:t>
            </a:r>
            <a:r>
              <a:rPr dirty="0" sz="2800" spc="-10">
                <a:latin typeface="Calibri"/>
                <a:cs typeface="Calibri"/>
              </a:rPr>
              <a:t>frequency	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How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define</a:t>
            </a:r>
            <a:r>
              <a:rPr dirty="0" sz="28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frequency?</a:t>
            </a:r>
            <a:endParaRPr sz="2800">
              <a:latin typeface="Calibri"/>
              <a:cs typeface="Calibri"/>
            </a:endParaRPr>
          </a:p>
          <a:p>
            <a:pPr lvl="1" marL="625475" marR="5080" indent="-274320">
              <a:lnSpc>
                <a:spcPct val="101400"/>
              </a:lnSpc>
              <a:spcBef>
                <a:spcPts val="5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Significant: </a:t>
            </a:r>
            <a:r>
              <a:rPr dirty="0" sz="2800" spc="-15">
                <a:latin typeface="Calibri"/>
                <a:cs typeface="Calibri"/>
              </a:rPr>
              <a:t>More frequent </a:t>
            </a:r>
            <a:r>
              <a:rPr dirty="0" sz="2800" spc="-5">
                <a:latin typeface="Calibri"/>
                <a:cs typeface="Calibri"/>
              </a:rPr>
              <a:t>than </a:t>
            </a:r>
            <a:r>
              <a:rPr dirty="0" sz="2800" spc="-15">
                <a:latin typeface="Calibri"/>
                <a:cs typeface="Calibri"/>
              </a:rPr>
              <a:t>expected, </a:t>
            </a:r>
            <a:r>
              <a:rPr dirty="0" sz="2800" spc="-5">
                <a:latin typeface="Calibri"/>
                <a:cs typeface="Calibri"/>
              </a:rPr>
              <a:t>i.e., </a:t>
            </a:r>
            <a:r>
              <a:rPr dirty="0" sz="2800" spc="-285">
                <a:latin typeface="Calibri"/>
                <a:cs typeface="Calibri"/>
              </a:rPr>
              <a:t>in  </a:t>
            </a:r>
            <a:r>
              <a:rPr dirty="0" sz="2800" spc="-15">
                <a:latin typeface="Calibri"/>
                <a:cs typeface="Calibri"/>
              </a:rPr>
              <a:t>randomly </a:t>
            </a:r>
            <a:r>
              <a:rPr dirty="0" sz="2800" spc="-25">
                <a:latin typeface="Calibri"/>
                <a:cs typeface="Calibri"/>
              </a:rPr>
              <a:t>generated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graphs?</a:t>
            </a:r>
            <a:endParaRPr sz="2800">
              <a:latin typeface="Calibri"/>
              <a:cs typeface="Calibri"/>
            </a:endParaRPr>
          </a:p>
          <a:p>
            <a:pPr marL="2113915">
              <a:lnSpc>
                <a:spcPct val="100000"/>
              </a:lnSpc>
              <a:spcBef>
                <a:spcPts val="835"/>
              </a:spcBef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How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define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random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graphs?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6528816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14062" y="1218960"/>
            <a:ext cx="6917182" cy="54078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270476" y="2836639"/>
            <a:ext cx="1720214" cy="1644650"/>
          </a:xfrm>
          <a:custGeom>
            <a:avLst/>
            <a:gdLst/>
            <a:ahLst/>
            <a:cxnLst/>
            <a:rect l="l" t="t" r="r" b="b"/>
            <a:pathLst>
              <a:path w="1720215" h="1644650">
                <a:moveTo>
                  <a:pt x="0" y="1644070"/>
                </a:moveTo>
                <a:lnTo>
                  <a:pt x="477769" y="0"/>
                </a:lnTo>
                <a:lnTo>
                  <a:pt x="1719951" y="1178225"/>
                </a:lnTo>
                <a:lnTo>
                  <a:pt x="0" y="1644070"/>
                </a:lnTo>
                <a:close/>
              </a:path>
            </a:pathLst>
          </a:custGeom>
          <a:ln w="380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14061" y="3036417"/>
            <a:ext cx="1405255" cy="1617980"/>
          </a:xfrm>
          <a:custGeom>
            <a:avLst/>
            <a:gdLst/>
            <a:ahLst/>
            <a:cxnLst/>
            <a:rect l="l" t="t" r="r" b="b"/>
            <a:pathLst>
              <a:path w="1405254" h="1617979">
                <a:moveTo>
                  <a:pt x="0" y="0"/>
                </a:moveTo>
                <a:lnTo>
                  <a:pt x="1404742" y="666862"/>
                </a:lnTo>
                <a:lnTo>
                  <a:pt x="174208" y="1617541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98776" y="4098035"/>
            <a:ext cx="117665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FF0000"/>
                </a:solidFill>
                <a:latin typeface="Corbel"/>
                <a:cs typeface="Corbel"/>
              </a:rPr>
              <a:t>No</a:t>
            </a:r>
            <a:r>
              <a:rPr dirty="0" sz="2000" spc="-70" b="1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dirty="0" sz="2000" spc="-5" b="1">
                <a:solidFill>
                  <a:srgbClr val="FF0000"/>
                </a:solidFill>
                <a:latin typeface="Corbel"/>
                <a:cs typeface="Corbel"/>
              </a:rPr>
              <a:t>match!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solidFill>
                  <a:srgbClr val="FF0000"/>
                </a:solidFill>
                <a:latin typeface="Corbel"/>
                <a:cs typeface="Corbel"/>
              </a:rPr>
              <a:t>(not</a:t>
            </a:r>
            <a:r>
              <a:rPr dirty="0" sz="1400" spc="-60" b="1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dirty="0" sz="1400" spc="-10" b="1">
                <a:solidFill>
                  <a:srgbClr val="FF0000"/>
                </a:solidFill>
                <a:latin typeface="Corbel"/>
                <a:cs typeface="Corbel"/>
              </a:rPr>
              <a:t>induced)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27039" y="4274820"/>
            <a:ext cx="79184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0000FF"/>
                </a:solidFill>
                <a:latin typeface="Corbel"/>
                <a:cs typeface="Corbel"/>
              </a:rPr>
              <a:t>M</a:t>
            </a:r>
            <a:r>
              <a:rPr dirty="0" sz="2000" spc="-10" b="1">
                <a:solidFill>
                  <a:srgbClr val="0000FF"/>
                </a:solidFill>
                <a:latin typeface="Corbel"/>
                <a:cs typeface="Corbel"/>
              </a:rPr>
              <a:t>a</a:t>
            </a:r>
            <a:r>
              <a:rPr dirty="0" sz="2000" b="1">
                <a:solidFill>
                  <a:srgbClr val="0000FF"/>
                </a:solidFill>
                <a:latin typeface="Corbel"/>
                <a:cs typeface="Corbel"/>
              </a:rPr>
              <a:t>t</a:t>
            </a:r>
            <a:r>
              <a:rPr dirty="0" sz="2000" spc="0" b="1">
                <a:solidFill>
                  <a:srgbClr val="0000FF"/>
                </a:solidFill>
                <a:latin typeface="Corbel"/>
                <a:cs typeface="Corbel"/>
              </a:rPr>
              <a:t>ch</a:t>
            </a:r>
            <a:r>
              <a:rPr dirty="0" sz="2000" b="1">
                <a:solidFill>
                  <a:srgbClr val="0000FF"/>
                </a:solidFill>
                <a:latin typeface="Corbel"/>
                <a:cs typeface="Corbel"/>
              </a:rPr>
              <a:t>!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solidFill>
                  <a:srgbClr val="0000FF"/>
                </a:solidFill>
                <a:latin typeface="Corbel"/>
                <a:cs typeface="Corbel"/>
              </a:rPr>
              <a:t>(induced)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28953" y="2955340"/>
            <a:ext cx="292100" cy="292735"/>
          </a:xfrm>
          <a:custGeom>
            <a:avLst/>
            <a:gdLst/>
            <a:ahLst/>
            <a:cxnLst/>
            <a:rect l="l" t="t" r="r" b="b"/>
            <a:pathLst>
              <a:path w="292100" h="292735">
                <a:moveTo>
                  <a:pt x="0" y="0"/>
                </a:moveTo>
                <a:lnTo>
                  <a:pt x="291600" y="0"/>
                </a:lnTo>
                <a:lnTo>
                  <a:pt x="291600" y="292608"/>
                </a:lnTo>
                <a:lnTo>
                  <a:pt x="0" y="292608"/>
                </a:lnTo>
                <a:lnTo>
                  <a:pt x="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04954" y="2931340"/>
            <a:ext cx="339725" cy="340995"/>
          </a:xfrm>
          <a:custGeom>
            <a:avLst/>
            <a:gdLst/>
            <a:ahLst/>
            <a:cxnLst/>
            <a:rect l="l" t="t" r="r" b="b"/>
            <a:pathLst>
              <a:path w="339725" h="340995">
                <a:moveTo>
                  <a:pt x="315600" y="0"/>
                </a:moveTo>
                <a:lnTo>
                  <a:pt x="23999" y="0"/>
                </a:lnTo>
                <a:lnTo>
                  <a:pt x="14658" y="1886"/>
                </a:lnTo>
                <a:lnTo>
                  <a:pt x="7029" y="7029"/>
                </a:lnTo>
                <a:lnTo>
                  <a:pt x="1886" y="14658"/>
                </a:lnTo>
                <a:lnTo>
                  <a:pt x="0" y="24000"/>
                </a:lnTo>
                <a:lnTo>
                  <a:pt x="0" y="316608"/>
                </a:lnTo>
                <a:lnTo>
                  <a:pt x="1886" y="325950"/>
                </a:lnTo>
                <a:lnTo>
                  <a:pt x="7029" y="333579"/>
                </a:lnTo>
                <a:lnTo>
                  <a:pt x="14658" y="338722"/>
                </a:lnTo>
                <a:lnTo>
                  <a:pt x="23999" y="340608"/>
                </a:lnTo>
                <a:lnTo>
                  <a:pt x="315600" y="340608"/>
                </a:lnTo>
                <a:lnTo>
                  <a:pt x="324941" y="338722"/>
                </a:lnTo>
                <a:lnTo>
                  <a:pt x="332570" y="333579"/>
                </a:lnTo>
                <a:lnTo>
                  <a:pt x="337713" y="325950"/>
                </a:lnTo>
                <a:lnTo>
                  <a:pt x="339599" y="316608"/>
                </a:lnTo>
                <a:lnTo>
                  <a:pt x="339599" y="311809"/>
                </a:lnTo>
                <a:lnTo>
                  <a:pt x="28799" y="311809"/>
                </a:lnTo>
                <a:lnTo>
                  <a:pt x="28799" y="28801"/>
                </a:lnTo>
                <a:lnTo>
                  <a:pt x="339599" y="28801"/>
                </a:lnTo>
                <a:lnTo>
                  <a:pt x="339599" y="24000"/>
                </a:lnTo>
                <a:lnTo>
                  <a:pt x="337713" y="14658"/>
                </a:lnTo>
                <a:lnTo>
                  <a:pt x="332570" y="7029"/>
                </a:lnTo>
                <a:lnTo>
                  <a:pt x="324941" y="1886"/>
                </a:lnTo>
                <a:lnTo>
                  <a:pt x="315600" y="0"/>
                </a:lnTo>
                <a:close/>
              </a:path>
              <a:path w="339725" h="340995">
                <a:moveTo>
                  <a:pt x="339599" y="28801"/>
                </a:moveTo>
                <a:lnTo>
                  <a:pt x="310799" y="28801"/>
                </a:lnTo>
                <a:lnTo>
                  <a:pt x="310799" y="311809"/>
                </a:lnTo>
                <a:lnTo>
                  <a:pt x="339599" y="311809"/>
                </a:lnTo>
                <a:lnTo>
                  <a:pt x="339599" y="28801"/>
                </a:lnTo>
                <a:close/>
              </a:path>
              <a:path w="339725" h="340995">
                <a:moveTo>
                  <a:pt x="301199" y="38400"/>
                </a:moveTo>
                <a:lnTo>
                  <a:pt x="38399" y="38400"/>
                </a:lnTo>
                <a:lnTo>
                  <a:pt x="38399" y="302207"/>
                </a:lnTo>
                <a:lnTo>
                  <a:pt x="301199" y="302207"/>
                </a:lnTo>
                <a:lnTo>
                  <a:pt x="301199" y="292607"/>
                </a:lnTo>
                <a:lnTo>
                  <a:pt x="47999" y="292607"/>
                </a:lnTo>
                <a:lnTo>
                  <a:pt x="47999" y="48000"/>
                </a:lnTo>
                <a:lnTo>
                  <a:pt x="301199" y="48000"/>
                </a:lnTo>
                <a:lnTo>
                  <a:pt x="301199" y="38400"/>
                </a:lnTo>
                <a:close/>
              </a:path>
              <a:path w="339725" h="340995">
                <a:moveTo>
                  <a:pt x="301199" y="48000"/>
                </a:moveTo>
                <a:lnTo>
                  <a:pt x="291600" y="48000"/>
                </a:lnTo>
                <a:lnTo>
                  <a:pt x="291600" y="292607"/>
                </a:lnTo>
                <a:lnTo>
                  <a:pt x="301199" y="292607"/>
                </a:lnTo>
                <a:lnTo>
                  <a:pt x="301199" y="48000"/>
                </a:lnTo>
                <a:close/>
              </a:path>
            </a:pathLst>
          </a:custGeom>
          <a:solidFill>
            <a:srgbClr val="4484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1315" y="2961440"/>
            <a:ext cx="292100" cy="292735"/>
          </a:xfrm>
          <a:custGeom>
            <a:avLst/>
            <a:gdLst/>
            <a:ahLst/>
            <a:cxnLst/>
            <a:rect l="l" t="t" r="r" b="b"/>
            <a:pathLst>
              <a:path w="292100" h="292735">
                <a:moveTo>
                  <a:pt x="0" y="0"/>
                </a:moveTo>
                <a:lnTo>
                  <a:pt x="291600" y="0"/>
                </a:lnTo>
                <a:lnTo>
                  <a:pt x="291600" y="292608"/>
                </a:lnTo>
                <a:lnTo>
                  <a:pt x="0" y="292608"/>
                </a:lnTo>
                <a:lnTo>
                  <a:pt x="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67314" y="2937441"/>
            <a:ext cx="339725" cy="340995"/>
          </a:xfrm>
          <a:custGeom>
            <a:avLst/>
            <a:gdLst/>
            <a:ahLst/>
            <a:cxnLst/>
            <a:rect l="l" t="t" r="r" b="b"/>
            <a:pathLst>
              <a:path w="339725" h="340995">
                <a:moveTo>
                  <a:pt x="315600" y="0"/>
                </a:moveTo>
                <a:lnTo>
                  <a:pt x="24000" y="0"/>
                </a:lnTo>
                <a:lnTo>
                  <a:pt x="14658" y="1885"/>
                </a:lnTo>
                <a:lnTo>
                  <a:pt x="7029" y="7028"/>
                </a:lnTo>
                <a:lnTo>
                  <a:pt x="1886" y="14657"/>
                </a:lnTo>
                <a:lnTo>
                  <a:pt x="0" y="23999"/>
                </a:lnTo>
                <a:lnTo>
                  <a:pt x="0" y="316607"/>
                </a:lnTo>
                <a:lnTo>
                  <a:pt x="1886" y="325949"/>
                </a:lnTo>
                <a:lnTo>
                  <a:pt x="7029" y="333578"/>
                </a:lnTo>
                <a:lnTo>
                  <a:pt x="14658" y="338721"/>
                </a:lnTo>
                <a:lnTo>
                  <a:pt x="24000" y="340607"/>
                </a:lnTo>
                <a:lnTo>
                  <a:pt x="315600" y="340607"/>
                </a:lnTo>
                <a:lnTo>
                  <a:pt x="324941" y="338721"/>
                </a:lnTo>
                <a:lnTo>
                  <a:pt x="332570" y="333578"/>
                </a:lnTo>
                <a:lnTo>
                  <a:pt x="337713" y="325949"/>
                </a:lnTo>
                <a:lnTo>
                  <a:pt x="339600" y="316607"/>
                </a:lnTo>
                <a:lnTo>
                  <a:pt x="339600" y="311807"/>
                </a:lnTo>
                <a:lnTo>
                  <a:pt x="28800" y="311807"/>
                </a:lnTo>
                <a:lnTo>
                  <a:pt x="28800" y="28799"/>
                </a:lnTo>
                <a:lnTo>
                  <a:pt x="339600" y="28799"/>
                </a:lnTo>
                <a:lnTo>
                  <a:pt x="339600" y="23999"/>
                </a:lnTo>
                <a:lnTo>
                  <a:pt x="337713" y="14657"/>
                </a:lnTo>
                <a:lnTo>
                  <a:pt x="332570" y="7028"/>
                </a:lnTo>
                <a:lnTo>
                  <a:pt x="324941" y="1885"/>
                </a:lnTo>
                <a:lnTo>
                  <a:pt x="315600" y="0"/>
                </a:lnTo>
                <a:close/>
              </a:path>
              <a:path w="339725" h="340995">
                <a:moveTo>
                  <a:pt x="339600" y="28799"/>
                </a:moveTo>
                <a:lnTo>
                  <a:pt x="310799" y="28799"/>
                </a:lnTo>
                <a:lnTo>
                  <a:pt x="310799" y="311807"/>
                </a:lnTo>
                <a:lnTo>
                  <a:pt x="339600" y="311807"/>
                </a:lnTo>
                <a:lnTo>
                  <a:pt x="339600" y="28799"/>
                </a:lnTo>
                <a:close/>
              </a:path>
              <a:path w="339725" h="340995">
                <a:moveTo>
                  <a:pt x="301200" y="38399"/>
                </a:moveTo>
                <a:lnTo>
                  <a:pt x="38400" y="38399"/>
                </a:lnTo>
                <a:lnTo>
                  <a:pt x="38400" y="302207"/>
                </a:lnTo>
                <a:lnTo>
                  <a:pt x="301200" y="302207"/>
                </a:lnTo>
                <a:lnTo>
                  <a:pt x="301200" y="292608"/>
                </a:lnTo>
                <a:lnTo>
                  <a:pt x="48000" y="292608"/>
                </a:lnTo>
                <a:lnTo>
                  <a:pt x="48000" y="47999"/>
                </a:lnTo>
                <a:lnTo>
                  <a:pt x="301200" y="47999"/>
                </a:lnTo>
                <a:lnTo>
                  <a:pt x="301200" y="38399"/>
                </a:lnTo>
                <a:close/>
              </a:path>
              <a:path w="339725" h="340995">
                <a:moveTo>
                  <a:pt x="301200" y="47999"/>
                </a:moveTo>
                <a:lnTo>
                  <a:pt x="291600" y="47999"/>
                </a:lnTo>
                <a:lnTo>
                  <a:pt x="291600" y="292608"/>
                </a:lnTo>
                <a:lnTo>
                  <a:pt x="301200" y="292608"/>
                </a:lnTo>
                <a:lnTo>
                  <a:pt x="301200" y="47999"/>
                </a:lnTo>
                <a:close/>
              </a:path>
            </a:pathLst>
          </a:custGeom>
          <a:solidFill>
            <a:srgbClr val="4484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27811" y="2237235"/>
            <a:ext cx="292100" cy="292735"/>
          </a:xfrm>
          <a:custGeom>
            <a:avLst/>
            <a:gdLst/>
            <a:ahLst/>
            <a:cxnLst/>
            <a:rect l="l" t="t" r="r" b="b"/>
            <a:pathLst>
              <a:path w="292100" h="292735">
                <a:moveTo>
                  <a:pt x="0" y="0"/>
                </a:moveTo>
                <a:lnTo>
                  <a:pt x="291600" y="0"/>
                </a:lnTo>
                <a:lnTo>
                  <a:pt x="291600" y="292608"/>
                </a:lnTo>
                <a:lnTo>
                  <a:pt x="0" y="292608"/>
                </a:lnTo>
                <a:lnTo>
                  <a:pt x="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03811" y="2213236"/>
            <a:ext cx="339725" cy="340995"/>
          </a:xfrm>
          <a:custGeom>
            <a:avLst/>
            <a:gdLst/>
            <a:ahLst/>
            <a:cxnLst/>
            <a:rect l="l" t="t" r="r" b="b"/>
            <a:pathLst>
              <a:path w="339725" h="340994">
                <a:moveTo>
                  <a:pt x="315599" y="0"/>
                </a:moveTo>
                <a:lnTo>
                  <a:pt x="23999" y="0"/>
                </a:lnTo>
                <a:lnTo>
                  <a:pt x="14658" y="1885"/>
                </a:lnTo>
                <a:lnTo>
                  <a:pt x="7029" y="7028"/>
                </a:lnTo>
                <a:lnTo>
                  <a:pt x="1886" y="14657"/>
                </a:lnTo>
                <a:lnTo>
                  <a:pt x="0" y="23999"/>
                </a:lnTo>
                <a:lnTo>
                  <a:pt x="0" y="316607"/>
                </a:lnTo>
                <a:lnTo>
                  <a:pt x="1886" y="325949"/>
                </a:lnTo>
                <a:lnTo>
                  <a:pt x="7029" y="333578"/>
                </a:lnTo>
                <a:lnTo>
                  <a:pt x="14658" y="338721"/>
                </a:lnTo>
                <a:lnTo>
                  <a:pt x="23999" y="340607"/>
                </a:lnTo>
                <a:lnTo>
                  <a:pt x="315599" y="340607"/>
                </a:lnTo>
                <a:lnTo>
                  <a:pt x="324941" y="338721"/>
                </a:lnTo>
                <a:lnTo>
                  <a:pt x="332570" y="333578"/>
                </a:lnTo>
                <a:lnTo>
                  <a:pt x="337713" y="325949"/>
                </a:lnTo>
                <a:lnTo>
                  <a:pt x="339600" y="316607"/>
                </a:lnTo>
                <a:lnTo>
                  <a:pt x="339600" y="311807"/>
                </a:lnTo>
                <a:lnTo>
                  <a:pt x="28800" y="311807"/>
                </a:lnTo>
                <a:lnTo>
                  <a:pt x="28800" y="28799"/>
                </a:lnTo>
                <a:lnTo>
                  <a:pt x="339600" y="28799"/>
                </a:lnTo>
                <a:lnTo>
                  <a:pt x="339600" y="23999"/>
                </a:lnTo>
                <a:lnTo>
                  <a:pt x="337713" y="14657"/>
                </a:lnTo>
                <a:lnTo>
                  <a:pt x="332570" y="7028"/>
                </a:lnTo>
                <a:lnTo>
                  <a:pt x="324941" y="1885"/>
                </a:lnTo>
                <a:lnTo>
                  <a:pt x="315599" y="0"/>
                </a:lnTo>
                <a:close/>
              </a:path>
              <a:path w="339725" h="340994">
                <a:moveTo>
                  <a:pt x="339600" y="28799"/>
                </a:moveTo>
                <a:lnTo>
                  <a:pt x="310799" y="28799"/>
                </a:lnTo>
                <a:lnTo>
                  <a:pt x="310799" y="311807"/>
                </a:lnTo>
                <a:lnTo>
                  <a:pt x="339600" y="311807"/>
                </a:lnTo>
                <a:lnTo>
                  <a:pt x="339600" y="28799"/>
                </a:lnTo>
                <a:close/>
              </a:path>
              <a:path w="339725" h="340994">
                <a:moveTo>
                  <a:pt x="301199" y="38399"/>
                </a:moveTo>
                <a:lnTo>
                  <a:pt x="38399" y="38399"/>
                </a:lnTo>
                <a:lnTo>
                  <a:pt x="38399" y="302207"/>
                </a:lnTo>
                <a:lnTo>
                  <a:pt x="301199" y="302207"/>
                </a:lnTo>
                <a:lnTo>
                  <a:pt x="301199" y="292608"/>
                </a:lnTo>
                <a:lnTo>
                  <a:pt x="48000" y="292608"/>
                </a:lnTo>
                <a:lnTo>
                  <a:pt x="48000" y="47999"/>
                </a:lnTo>
                <a:lnTo>
                  <a:pt x="301199" y="47999"/>
                </a:lnTo>
                <a:lnTo>
                  <a:pt x="301199" y="38399"/>
                </a:lnTo>
                <a:close/>
              </a:path>
              <a:path w="339725" h="340994">
                <a:moveTo>
                  <a:pt x="301199" y="47999"/>
                </a:moveTo>
                <a:lnTo>
                  <a:pt x="291600" y="47999"/>
                </a:lnTo>
                <a:lnTo>
                  <a:pt x="291600" y="292608"/>
                </a:lnTo>
                <a:lnTo>
                  <a:pt x="301199" y="292608"/>
                </a:lnTo>
                <a:lnTo>
                  <a:pt x="301199" y="47999"/>
                </a:lnTo>
                <a:close/>
              </a:path>
            </a:pathLst>
          </a:custGeom>
          <a:solidFill>
            <a:srgbClr val="4484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73611" y="2529843"/>
            <a:ext cx="326390" cy="450850"/>
          </a:xfrm>
          <a:custGeom>
            <a:avLst/>
            <a:gdLst/>
            <a:ahLst/>
            <a:cxnLst/>
            <a:rect l="l" t="t" r="r" b="b"/>
            <a:pathLst>
              <a:path w="326390" h="450850">
                <a:moveTo>
                  <a:pt x="108773" y="109723"/>
                </a:moveTo>
                <a:lnTo>
                  <a:pt x="67308" y="139070"/>
                </a:lnTo>
                <a:lnTo>
                  <a:pt x="280408" y="440170"/>
                </a:lnTo>
                <a:lnTo>
                  <a:pt x="287749" y="447087"/>
                </a:lnTo>
                <a:lnTo>
                  <a:pt x="296856" y="450532"/>
                </a:lnTo>
                <a:lnTo>
                  <a:pt x="306591" y="450312"/>
                </a:lnTo>
                <a:lnTo>
                  <a:pt x="315814" y="446229"/>
                </a:lnTo>
                <a:lnTo>
                  <a:pt x="322732" y="438888"/>
                </a:lnTo>
                <a:lnTo>
                  <a:pt x="326178" y="429781"/>
                </a:lnTo>
                <a:lnTo>
                  <a:pt x="325957" y="420046"/>
                </a:lnTo>
                <a:lnTo>
                  <a:pt x="321875" y="410823"/>
                </a:lnTo>
                <a:lnTo>
                  <a:pt x="108773" y="109723"/>
                </a:lnTo>
                <a:close/>
              </a:path>
              <a:path w="326390" h="450850">
                <a:moveTo>
                  <a:pt x="0" y="0"/>
                </a:moveTo>
                <a:lnTo>
                  <a:pt x="25842" y="168417"/>
                </a:lnTo>
                <a:lnTo>
                  <a:pt x="67308" y="139070"/>
                </a:lnTo>
                <a:lnTo>
                  <a:pt x="52634" y="118337"/>
                </a:lnTo>
                <a:lnTo>
                  <a:pt x="48552" y="109114"/>
                </a:lnTo>
                <a:lnTo>
                  <a:pt x="77651" y="78627"/>
                </a:lnTo>
                <a:lnTo>
                  <a:pt x="146969" y="78627"/>
                </a:lnTo>
                <a:lnTo>
                  <a:pt x="0" y="0"/>
                </a:lnTo>
                <a:close/>
              </a:path>
              <a:path w="326390" h="450850">
                <a:moveTo>
                  <a:pt x="77651" y="78627"/>
                </a:moveTo>
                <a:lnTo>
                  <a:pt x="67917" y="78848"/>
                </a:lnTo>
                <a:lnTo>
                  <a:pt x="58693" y="82930"/>
                </a:lnTo>
                <a:lnTo>
                  <a:pt x="51776" y="90271"/>
                </a:lnTo>
                <a:lnTo>
                  <a:pt x="48331" y="99379"/>
                </a:lnTo>
                <a:lnTo>
                  <a:pt x="48552" y="109114"/>
                </a:lnTo>
                <a:lnTo>
                  <a:pt x="52634" y="118337"/>
                </a:lnTo>
                <a:lnTo>
                  <a:pt x="67308" y="139070"/>
                </a:lnTo>
                <a:lnTo>
                  <a:pt x="108773" y="109723"/>
                </a:lnTo>
                <a:lnTo>
                  <a:pt x="94100" y="88990"/>
                </a:lnTo>
                <a:lnTo>
                  <a:pt x="86759" y="82073"/>
                </a:lnTo>
                <a:lnTo>
                  <a:pt x="77651" y="78627"/>
                </a:lnTo>
                <a:close/>
              </a:path>
              <a:path w="326390" h="450850">
                <a:moveTo>
                  <a:pt x="146969" y="78627"/>
                </a:moveTo>
                <a:lnTo>
                  <a:pt x="77651" y="78627"/>
                </a:lnTo>
                <a:lnTo>
                  <a:pt x="86759" y="82073"/>
                </a:lnTo>
                <a:lnTo>
                  <a:pt x="94100" y="88990"/>
                </a:lnTo>
                <a:lnTo>
                  <a:pt x="108773" y="109723"/>
                </a:lnTo>
                <a:lnTo>
                  <a:pt x="150239" y="80377"/>
                </a:lnTo>
                <a:lnTo>
                  <a:pt x="146969" y="786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37114" y="2504636"/>
            <a:ext cx="361950" cy="457200"/>
          </a:xfrm>
          <a:custGeom>
            <a:avLst/>
            <a:gdLst/>
            <a:ahLst/>
            <a:cxnLst/>
            <a:rect l="l" t="t" r="r" b="b"/>
            <a:pathLst>
              <a:path w="361950" h="457200">
                <a:moveTo>
                  <a:pt x="33611" y="289763"/>
                </a:moveTo>
                <a:lnTo>
                  <a:pt x="0" y="456804"/>
                </a:lnTo>
                <a:lnTo>
                  <a:pt x="153799" y="383469"/>
                </a:lnTo>
                <a:lnTo>
                  <a:pt x="151729" y="381855"/>
                </a:lnTo>
                <a:lnTo>
                  <a:pt x="81208" y="381855"/>
                </a:lnTo>
                <a:lnTo>
                  <a:pt x="71494" y="381184"/>
                </a:lnTo>
                <a:lnTo>
                  <a:pt x="62470" y="376679"/>
                </a:lnTo>
                <a:lnTo>
                  <a:pt x="55900" y="369026"/>
                </a:lnTo>
                <a:lnTo>
                  <a:pt x="52879" y="359769"/>
                </a:lnTo>
                <a:lnTo>
                  <a:pt x="53551" y="350055"/>
                </a:lnTo>
                <a:lnTo>
                  <a:pt x="58056" y="341030"/>
                </a:lnTo>
                <a:lnTo>
                  <a:pt x="73674" y="320998"/>
                </a:lnTo>
                <a:lnTo>
                  <a:pt x="33611" y="289763"/>
                </a:lnTo>
                <a:close/>
              </a:path>
              <a:path w="361950" h="457200">
                <a:moveTo>
                  <a:pt x="73674" y="320998"/>
                </a:moveTo>
                <a:lnTo>
                  <a:pt x="58056" y="341030"/>
                </a:lnTo>
                <a:lnTo>
                  <a:pt x="53551" y="350055"/>
                </a:lnTo>
                <a:lnTo>
                  <a:pt x="52879" y="359769"/>
                </a:lnTo>
                <a:lnTo>
                  <a:pt x="55900" y="369026"/>
                </a:lnTo>
                <a:lnTo>
                  <a:pt x="62470" y="376679"/>
                </a:lnTo>
                <a:lnTo>
                  <a:pt x="71494" y="381184"/>
                </a:lnTo>
                <a:lnTo>
                  <a:pt x="81208" y="381855"/>
                </a:lnTo>
                <a:lnTo>
                  <a:pt x="90465" y="378835"/>
                </a:lnTo>
                <a:lnTo>
                  <a:pt x="98118" y="372265"/>
                </a:lnTo>
                <a:lnTo>
                  <a:pt x="113736" y="352233"/>
                </a:lnTo>
                <a:lnTo>
                  <a:pt x="73674" y="320998"/>
                </a:lnTo>
                <a:close/>
              </a:path>
              <a:path w="361950" h="457200">
                <a:moveTo>
                  <a:pt x="113736" y="352233"/>
                </a:moveTo>
                <a:lnTo>
                  <a:pt x="98118" y="372265"/>
                </a:lnTo>
                <a:lnTo>
                  <a:pt x="90465" y="378835"/>
                </a:lnTo>
                <a:lnTo>
                  <a:pt x="81208" y="381855"/>
                </a:lnTo>
                <a:lnTo>
                  <a:pt x="151729" y="381855"/>
                </a:lnTo>
                <a:lnTo>
                  <a:pt x="113736" y="352233"/>
                </a:lnTo>
                <a:close/>
              </a:path>
              <a:path w="361950" h="457200">
                <a:moveTo>
                  <a:pt x="333375" y="0"/>
                </a:moveTo>
                <a:lnTo>
                  <a:pt x="324118" y="3020"/>
                </a:lnTo>
                <a:lnTo>
                  <a:pt x="316465" y="9590"/>
                </a:lnTo>
                <a:lnTo>
                  <a:pt x="73674" y="320998"/>
                </a:lnTo>
                <a:lnTo>
                  <a:pt x="113736" y="352233"/>
                </a:lnTo>
                <a:lnTo>
                  <a:pt x="356528" y="40824"/>
                </a:lnTo>
                <a:lnTo>
                  <a:pt x="361033" y="31800"/>
                </a:lnTo>
                <a:lnTo>
                  <a:pt x="361704" y="22086"/>
                </a:lnTo>
                <a:lnTo>
                  <a:pt x="358684" y="12829"/>
                </a:lnTo>
                <a:lnTo>
                  <a:pt x="352114" y="5175"/>
                </a:lnTo>
                <a:lnTo>
                  <a:pt x="343090" y="671"/>
                </a:lnTo>
                <a:lnTo>
                  <a:pt x="3333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14301" y="1239011"/>
            <a:ext cx="1980564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3060" marR="5080" indent="-340995">
              <a:lnSpc>
                <a:spcPct val="100000"/>
              </a:lnSpc>
              <a:spcBef>
                <a:spcPts val="100"/>
              </a:spcBef>
            </a:pPr>
            <a:r>
              <a:rPr dirty="0" sz="2000" spc="-5" b="1" u="sng">
                <a:solidFill>
                  <a:srgbClr val="0000FF"/>
                </a:solidFill>
                <a:latin typeface="Corbel"/>
                <a:cs typeface="Corbel"/>
              </a:rPr>
              <a:t>Induced</a:t>
            </a:r>
            <a:r>
              <a:rPr dirty="0" sz="2000" spc="-55" b="1">
                <a:solidFill>
                  <a:srgbClr val="0000FF"/>
                </a:solidFill>
                <a:latin typeface="Corbel"/>
                <a:cs typeface="Corbel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Corbel"/>
                <a:cs typeface="Corbel"/>
              </a:rPr>
              <a:t>subgraph  </a:t>
            </a:r>
            <a:r>
              <a:rPr dirty="0" sz="2000" b="1">
                <a:solidFill>
                  <a:srgbClr val="0000FF"/>
                </a:solidFill>
                <a:latin typeface="Corbel"/>
                <a:cs typeface="Corbel"/>
              </a:rPr>
              <a:t>of </a:t>
            </a:r>
            <a:r>
              <a:rPr dirty="0" sz="2000" spc="-5" b="1">
                <a:solidFill>
                  <a:srgbClr val="0000FF"/>
                </a:solidFill>
                <a:latin typeface="Corbel"/>
                <a:cs typeface="Corbel"/>
              </a:rPr>
              <a:t>interest  (aka</a:t>
            </a:r>
            <a:r>
              <a:rPr dirty="0" sz="2000" spc="-50" b="1">
                <a:solidFill>
                  <a:srgbClr val="0000FF"/>
                </a:solidFill>
                <a:latin typeface="Corbel"/>
                <a:cs typeface="Corbel"/>
              </a:rPr>
              <a:t> </a:t>
            </a:r>
            <a:r>
              <a:rPr dirty="0" sz="2000" b="1">
                <a:solidFill>
                  <a:srgbClr val="0000FF"/>
                </a:solidFill>
                <a:latin typeface="Corbel"/>
                <a:cs typeface="Corbel"/>
              </a:rPr>
              <a:t>Motif):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57200" y="6096000"/>
            <a:ext cx="8650605" cy="339090"/>
          </a:xfrm>
          <a:custGeom>
            <a:avLst/>
            <a:gdLst/>
            <a:ahLst/>
            <a:cxnLst/>
            <a:rect l="l" t="t" r="r" b="b"/>
            <a:pathLst>
              <a:path w="8650605" h="339089">
                <a:moveTo>
                  <a:pt x="0" y="0"/>
                </a:moveTo>
                <a:lnTo>
                  <a:pt x="8650032" y="0"/>
                </a:lnTo>
                <a:lnTo>
                  <a:pt x="8650032" y="338513"/>
                </a:lnTo>
                <a:lnTo>
                  <a:pt x="0" y="3385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1375"/>
            <a:ext cx="6217920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15601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Motifs: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826259"/>
            <a:ext cx="6724015" cy="148590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Help </a:t>
            </a:r>
            <a:r>
              <a:rPr dirty="0" sz="2800">
                <a:latin typeface="Calibri"/>
                <a:cs typeface="Calibri"/>
              </a:rPr>
              <a:t>us </a:t>
            </a:r>
            <a:r>
              <a:rPr dirty="0" sz="2800" spc="-15">
                <a:latin typeface="Calibri"/>
                <a:cs typeface="Calibri"/>
              </a:rPr>
              <a:t>understand </a:t>
            </a:r>
            <a:r>
              <a:rPr dirty="0" sz="2800" spc="-5">
                <a:latin typeface="Calibri"/>
                <a:cs typeface="Calibri"/>
              </a:rPr>
              <a:t>how </a:t>
            </a:r>
            <a:r>
              <a:rPr dirty="0" sz="2800" spc="-15">
                <a:latin typeface="Calibri"/>
                <a:cs typeface="Calibri"/>
              </a:rPr>
              <a:t>graphs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work</a:t>
            </a:r>
            <a:endParaRPr sz="2800">
              <a:latin typeface="Calibri"/>
              <a:cs typeface="Calibri"/>
            </a:endParaRPr>
          </a:p>
          <a:p>
            <a:pPr marL="287020" marR="5080" indent="-274320">
              <a:lnSpc>
                <a:spcPts val="3290"/>
              </a:lnSpc>
              <a:spcBef>
                <a:spcPts val="90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Help </a:t>
            </a:r>
            <a:r>
              <a:rPr dirty="0" sz="2800">
                <a:latin typeface="Calibri"/>
                <a:cs typeface="Calibri"/>
              </a:rPr>
              <a:t>us </a:t>
            </a:r>
            <a:r>
              <a:rPr dirty="0" sz="2800" spc="-25">
                <a:latin typeface="Calibri"/>
                <a:cs typeface="Calibri"/>
              </a:rPr>
              <a:t>make </a:t>
            </a:r>
            <a:r>
              <a:rPr dirty="0" sz="2800" spc="-10">
                <a:latin typeface="Calibri"/>
                <a:cs typeface="Calibri"/>
              </a:rPr>
              <a:t>predictions </a:t>
            </a:r>
            <a:r>
              <a:rPr dirty="0" sz="2800" spc="-5">
                <a:latin typeface="Calibri"/>
                <a:cs typeface="Calibri"/>
              </a:rPr>
              <a:t>based on </a:t>
            </a:r>
            <a:r>
              <a:rPr dirty="0" sz="2800" spc="-65">
                <a:latin typeface="Calibri"/>
                <a:cs typeface="Calibri"/>
              </a:rPr>
              <a:t>presence  </a:t>
            </a:r>
            <a:r>
              <a:rPr dirty="0" sz="2800" spc="-5">
                <a:latin typeface="Calibri"/>
                <a:cs typeface="Calibri"/>
              </a:rPr>
              <a:t>or lack of </a:t>
            </a:r>
            <a:r>
              <a:rPr dirty="0" sz="2800" spc="-10">
                <a:latin typeface="Calibri"/>
                <a:cs typeface="Calibri"/>
              </a:rPr>
              <a:t>presence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graph</a:t>
            </a:r>
            <a:r>
              <a:rPr dirty="0" sz="2800" spc="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dataset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3290316"/>
            <a:ext cx="205232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Examples: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6563" y="3862323"/>
            <a:ext cx="7397115" cy="23329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87020" marR="5080" indent="-274320">
              <a:lnSpc>
                <a:spcPct val="101400"/>
              </a:lnSpc>
              <a:spcBef>
                <a:spcPts val="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 b="1">
                <a:solidFill>
                  <a:srgbClr val="D60093"/>
                </a:solidFill>
                <a:latin typeface="Calibri"/>
                <a:cs typeface="Calibri"/>
              </a:rPr>
              <a:t>Feed-forward </a:t>
            </a: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loops: </a:t>
            </a:r>
            <a:r>
              <a:rPr dirty="0" sz="2800" spc="-15">
                <a:latin typeface="Calibri"/>
                <a:cs typeface="Calibri"/>
              </a:rPr>
              <a:t>found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-15">
                <a:latin typeface="Calibri"/>
                <a:cs typeface="Calibri"/>
              </a:rPr>
              <a:t>networks </a:t>
            </a:r>
            <a:r>
              <a:rPr dirty="0" sz="2800" spc="-5">
                <a:latin typeface="Calibri"/>
                <a:cs typeface="Calibri"/>
              </a:rPr>
              <a:t>of  </a:t>
            </a:r>
            <a:r>
              <a:rPr dirty="0" sz="2800" spc="-10">
                <a:latin typeface="Calibri"/>
                <a:cs typeface="Calibri"/>
              </a:rPr>
              <a:t>neurons, </a:t>
            </a:r>
            <a:r>
              <a:rPr dirty="0" sz="2800" spc="-15">
                <a:latin typeface="Calibri"/>
                <a:cs typeface="Calibri"/>
              </a:rPr>
              <a:t>where </a:t>
            </a:r>
            <a:r>
              <a:rPr dirty="0" sz="2800" spc="-10">
                <a:latin typeface="Calibri"/>
                <a:cs typeface="Calibri"/>
              </a:rPr>
              <a:t>they </a:t>
            </a:r>
            <a:r>
              <a:rPr dirty="0" sz="2800" spc="-20">
                <a:latin typeface="Calibri"/>
                <a:cs typeface="Calibri"/>
              </a:rPr>
              <a:t>neutralize </a:t>
            </a:r>
            <a:r>
              <a:rPr dirty="0" sz="2800" spc="-10">
                <a:latin typeface="Calibri"/>
                <a:cs typeface="Calibri"/>
              </a:rPr>
              <a:t>“biological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noise”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 b="1">
                <a:solidFill>
                  <a:srgbClr val="008000"/>
                </a:solidFill>
                <a:latin typeface="Calibri"/>
                <a:cs typeface="Calibri"/>
              </a:rPr>
              <a:t>Parallel </a:t>
            </a: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loops: </a:t>
            </a:r>
            <a:r>
              <a:rPr dirty="0" sz="2800" spc="-15">
                <a:latin typeface="Calibri"/>
                <a:cs typeface="Calibri"/>
              </a:rPr>
              <a:t>found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-20">
                <a:latin typeface="Calibri"/>
                <a:cs typeface="Calibri"/>
              </a:rPr>
              <a:t>food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webs</a:t>
            </a:r>
            <a:endParaRPr sz="2800">
              <a:latin typeface="Calibri"/>
              <a:cs typeface="Calibri"/>
            </a:endParaRPr>
          </a:p>
          <a:p>
            <a:pPr marL="287020" marR="711200" indent="-274320">
              <a:lnSpc>
                <a:spcPct val="101400"/>
              </a:lnSpc>
              <a:spcBef>
                <a:spcPts val="5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Single-input modules: </a:t>
            </a:r>
            <a:r>
              <a:rPr dirty="0" sz="2800" spc="-15">
                <a:latin typeface="Calibri"/>
                <a:cs typeface="Calibri"/>
              </a:rPr>
              <a:t>found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-10">
                <a:latin typeface="Calibri"/>
                <a:cs typeface="Calibri"/>
              </a:rPr>
              <a:t>gene </a:t>
            </a:r>
            <a:r>
              <a:rPr dirty="0" sz="2800" spc="-105">
                <a:latin typeface="Calibri"/>
                <a:cs typeface="Calibri"/>
              </a:rPr>
              <a:t>control  </a:t>
            </a:r>
            <a:r>
              <a:rPr dirty="0" sz="2800" spc="-15">
                <a:latin typeface="Calibri"/>
                <a:cs typeface="Calibri"/>
              </a:rPr>
              <a:t>networks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187484" y="1242084"/>
            <a:ext cx="703462" cy="15652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564960" y="3017708"/>
            <a:ext cx="193675" cy="184150"/>
          </a:xfrm>
          <a:custGeom>
            <a:avLst/>
            <a:gdLst/>
            <a:ahLst/>
            <a:cxnLst/>
            <a:rect l="l" t="t" r="r" b="b"/>
            <a:pathLst>
              <a:path w="193675" h="184150">
                <a:moveTo>
                  <a:pt x="189078" y="0"/>
                </a:moveTo>
                <a:lnTo>
                  <a:pt x="10975" y="0"/>
                </a:lnTo>
                <a:lnTo>
                  <a:pt x="10975" y="39236"/>
                </a:lnTo>
                <a:lnTo>
                  <a:pt x="112947" y="39236"/>
                </a:lnTo>
                <a:lnTo>
                  <a:pt x="0" y="145667"/>
                </a:lnTo>
                <a:lnTo>
                  <a:pt x="0" y="183776"/>
                </a:lnTo>
                <a:lnTo>
                  <a:pt x="193247" y="183776"/>
                </a:lnTo>
                <a:lnTo>
                  <a:pt x="193247" y="144288"/>
                </a:lnTo>
                <a:lnTo>
                  <a:pt x="74881" y="144288"/>
                </a:lnTo>
                <a:lnTo>
                  <a:pt x="189078" y="36729"/>
                </a:lnTo>
                <a:lnTo>
                  <a:pt x="189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564959" y="3017706"/>
            <a:ext cx="193675" cy="184150"/>
          </a:xfrm>
          <a:custGeom>
            <a:avLst/>
            <a:gdLst/>
            <a:ahLst/>
            <a:cxnLst/>
            <a:rect l="l" t="t" r="r" b="b"/>
            <a:pathLst>
              <a:path w="193675" h="184150">
                <a:moveTo>
                  <a:pt x="10975" y="0"/>
                </a:moveTo>
                <a:lnTo>
                  <a:pt x="55501" y="0"/>
                </a:lnTo>
                <a:lnTo>
                  <a:pt x="100027" y="0"/>
                </a:lnTo>
                <a:lnTo>
                  <a:pt x="144553" y="0"/>
                </a:lnTo>
                <a:lnTo>
                  <a:pt x="189079" y="0"/>
                </a:lnTo>
                <a:lnTo>
                  <a:pt x="189079" y="9182"/>
                </a:lnTo>
                <a:lnTo>
                  <a:pt x="189079" y="18365"/>
                </a:lnTo>
                <a:lnTo>
                  <a:pt x="189079" y="27548"/>
                </a:lnTo>
                <a:lnTo>
                  <a:pt x="189079" y="36730"/>
                </a:lnTo>
                <a:lnTo>
                  <a:pt x="160529" y="63620"/>
                </a:lnTo>
                <a:lnTo>
                  <a:pt x="131980" y="90510"/>
                </a:lnTo>
                <a:lnTo>
                  <a:pt x="103430" y="117399"/>
                </a:lnTo>
                <a:lnTo>
                  <a:pt x="74881" y="144289"/>
                </a:lnTo>
                <a:lnTo>
                  <a:pt x="104472" y="144289"/>
                </a:lnTo>
                <a:lnTo>
                  <a:pt x="134064" y="144289"/>
                </a:lnTo>
                <a:lnTo>
                  <a:pt x="163655" y="144289"/>
                </a:lnTo>
                <a:lnTo>
                  <a:pt x="193247" y="144289"/>
                </a:lnTo>
                <a:lnTo>
                  <a:pt x="193247" y="154161"/>
                </a:lnTo>
                <a:lnTo>
                  <a:pt x="193247" y="164033"/>
                </a:lnTo>
                <a:lnTo>
                  <a:pt x="193247" y="173905"/>
                </a:lnTo>
                <a:lnTo>
                  <a:pt x="193247" y="183777"/>
                </a:lnTo>
                <a:lnTo>
                  <a:pt x="144935" y="183777"/>
                </a:lnTo>
                <a:lnTo>
                  <a:pt x="96623" y="183777"/>
                </a:lnTo>
                <a:lnTo>
                  <a:pt x="48311" y="183777"/>
                </a:lnTo>
                <a:lnTo>
                  <a:pt x="0" y="183777"/>
                </a:lnTo>
                <a:lnTo>
                  <a:pt x="0" y="174250"/>
                </a:lnTo>
                <a:lnTo>
                  <a:pt x="0" y="164723"/>
                </a:lnTo>
                <a:lnTo>
                  <a:pt x="0" y="155196"/>
                </a:lnTo>
                <a:lnTo>
                  <a:pt x="0" y="145669"/>
                </a:lnTo>
                <a:lnTo>
                  <a:pt x="28236" y="119061"/>
                </a:lnTo>
                <a:lnTo>
                  <a:pt x="56473" y="92453"/>
                </a:lnTo>
                <a:lnTo>
                  <a:pt x="84710" y="65845"/>
                </a:lnTo>
                <a:lnTo>
                  <a:pt x="112947" y="39237"/>
                </a:lnTo>
                <a:lnTo>
                  <a:pt x="87454" y="39237"/>
                </a:lnTo>
                <a:lnTo>
                  <a:pt x="61961" y="39237"/>
                </a:lnTo>
                <a:lnTo>
                  <a:pt x="36468" y="39237"/>
                </a:lnTo>
                <a:lnTo>
                  <a:pt x="10975" y="39237"/>
                </a:lnTo>
                <a:lnTo>
                  <a:pt x="10975" y="29428"/>
                </a:lnTo>
                <a:lnTo>
                  <a:pt x="10975" y="19618"/>
                </a:lnTo>
                <a:lnTo>
                  <a:pt x="10975" y="9809"/>
                </a:lnTo>
                <a:lnTo>
                  <a:pt x="10975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635000" y="1688598"/>
            <a:ext cx="76200" cy="288925"/>
          </a:xfrm>
          <a:custGeom>
            <a:avLst/>
            <a:gdLst/>
            <a:ahLst/>
            <a:cxnLst/>
            <a:rect l="l" t="t" r="r" b="b"/>
            <a:pathLst>
              <a:path w="76200" h="288925">
                <a:moveTo>
                  <a:pt x="33337" y="212725"/>
                </a:moveTo>
                <a:lnTo>
                  <a:pt x="0" y="212725"/>
                </a:lnTo>
                <a:lnTo>
                  <a:pt x="38101" y="288925"/>
                </a:lnTo>
                <a:lnTo>
                  <a:pt x="69850" y="225425"/>
                </a:lnTo>
                <a:lnTo>
                  <a:pt x="33337" y="225425"/>
                </a:lnTo>
                <a:lnTo>
                  <a:pt x="33337" y="212725"/>
                </a:lnTo>
                <a:close/>
              </a:path>
              <a:path w="76200" h="288925">
                <a:moveTo>
                  <a:pt x="42862" y="0"/>
                </a:moveTo>
                <a:lnTo>
                  <a:pt x="33337" y="0"/>
                </a:lnTo>
                <a:lnTo>
                  <a:pt x="33337" y="225425"/>
                </a:lnTo>
                <a:lnTo>
                  <a:pt x="42862" y="225425"/>
                </a:lnTo>
                <a:lnTo>
                  <a:pt x="42862" y="0"/>
                </a:lnTo>
                <a:close/>
              </a:path>
              <a:path w="76200" h="288925">
                <a:moveTo>
                  <a:pt x="76200" y="212725"/>
                </a:moveTo>
                <a:lnTo>
                  <a:pt x="42862" y="212725"/>
                </a:lnTo>
                <a:lnTo>
                  <a:pt x="42862" y="225425"/>
                </a:lnTo>
                <a:lnTo>
                  <a:pt x="69850" y="225425"/>
                </a:lnTo>
                <a:lnTo>
                  <a:pt x="76200" y="2127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635000" y="2491872"/>
            <a:ext cx="76200" cy="360680"/>
          </a:xfrm>
          <a:custGeom>
            <a:avLst/>
            <a:gdLst/>
            <a:ahLst/>
            <a:cxnLst/>
            <a:rect l="l" t="t" r="r" b="b"/>
            <a:pathLst>
              <a:path w="76200" h="360680">
                <a:moveTo>
                  <a:pt x="33337" y="284162"/>
                </a:moveTo>
                <a:lnTo>
                  <a:pt x="0" y="284162"/>
                </a:lnTo>
                <a:lnTo>
                  <a:pt x="38101" y="360362"/>
                </a:lnTo>
                <a:lnTo>
                  <a:pt x="69850" y="296862"/>
                </a:lnTo>
                <a:lnTo>
                  <a:pt x="33337" y="296862"/>
                </a:lnTo>
                <a:lnTo>
                  <a:pt x="33337" y="284162"/>
                </a:lnTo>
                <a:close/>
              </a:path>
              <a:path w="76200" h="360680">
                <a:moveTo>
                  <a:pt x="42862" y="0"/>
                </a:moveTo>
                <a:lnTo>
                  <a:pt x="33337" y="0"/>
                </a:lnTo>
                <a:lnTo>
                  <a:pt x="33337" y="296862"/>
                </a:lnTo>
                <a:lnTo>
                  <a:pt x="42862" y="296862"/>
                </a:lnTo>
                <a:lnTo>
                  <a:pt x="42862" y="0"/>
                </a:lnTo>
                <a:close/>
              </a:path>
              <a:path w="76200" h="360680">
                <a:moveTo>
                  <a:pt x="76200" y="284162"/>
                </a:moveTo>
                <a:lnTo>
                  <a:pt x="42862" y="284162"/>
                </a:lnTo>
                <a:lnTo>
                  <a:pt x="42862" y="296862"/>
                </a:lnTo>
                <a:lnTo>
                  <a:pt x="69850" y="296862"/>
                </a:lnTo>
                <a:lnTo>
                  <a:pt x="76200" y="284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782464" y="5746973"/>
            <a:ext cx="1485289" cy="9323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838163" y="4547603"/>
            <a:ext cx="1019977" cy="18289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255658" y="3294379"/>
            <a:ext cx="17437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D60093"/>
                </a:solidFill>
                <a:latin typeface="Calibri"/>
                <a:cs typeface="Calibri"/>
              </a:rPr>
              <a:t>Feed-forward</a:t>
            </a:r>
            <a:r>
              <a:rPr dirty="0" sz="1800" spc="-3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1800" spc="-5">
                <a:solidFill>
                  <a:srgbClr val="D60093"/>
                </a:solidFill>
                <a:latin typeface="Calibri"/>
                <a:cs typeface="Calibri"/>
              </a:rPr>
              <a:t>loop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74967" y="6278371"/>
            <a:ext cx="19018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0000FF"/>
                </a:solidFill>
                <a:latin typeface="Calibri"/>
                <a:cs typeface="Calibri"/>
              </a:rPr>
              <a:t>Single-input</a:t>
            </a:r>
            <a:r>
              <a:rPr dirty="0" sz="1800" spc="-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800" spc="-5">
                <a:solidFill>
                  <a:srgbClr val="0000FF"/>
                </a:solidFill>
                <a:latin typeface="Calibri"/>
                <a:cs typeface="Calibri"/>
              </a:rPr>
              <a:t>module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56693" y="6333235"/>
            <a:ext cx="11703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008000"/>
                </a:solidFill>
                <a:latin typeface="Calibri"/>
                <a:cs typeface="Calibri"/>
              </a:rPr>
              <a:t>Parallel</a:t>
            </a:r>
            <a:r>
              <a:rPr dirty="0" sz="1800" spc="-55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8000"/>
                </a:solidFill>
                <a:latin typeface="Calibri"/>
                <a:cs typeface="Calibri"/>
              </a:rPr>
              <a:t>loop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501181" y="2909280"/>
            <a:ext cx="337820" cy="327025"/>
          </a:xfrm>
          <a:custGeom>
            <a:avLst/>
            <a:gdLst/>
            <a:ahLst/>
            <a:cxnLst/>
            <a:rect l="l" t="t" r="r" b="b"/>
            <a:pathLst>
              <a:path w="337820" h="327025">
                <a:moveTo>
                  <a:pt x="168728" y="0"/>
                </a:moveTo>
                <a:lnTo>
                  <a:pt x="123873" y="5832"/>
                </a:lnTo>
                <a:lnTo>
                  <a:pt x="83567" y="22293"/>
                </a:lnTo>
                <a:lnTo>
                  <a:pt x="49419" y="47825"/>
                </a:lnTo>
                <a:lnTo>
                  <a:pt x="23036" y="80871"/>
                </a:lnTo>
                <a:lnTo>
                  <a:pt x="6027" y="119877"/>
                </a:lnTo>
                <a:lnTo>
                  <a:pt x="0" y="163285"/>
                </a:lnTo>
                <a:lnTo>
                  <a:pt x="6027" y="206693"/>
                </a:lnTo>
                <a:lnTo>
                  <a:pt x="23036" y="245698"/>
                </a:lnTo>
                <a:lnTo>
                  <a:pt x="49419" y="278745"/>
                </a:lnTo>
                <a:lnTo>
                  <a:pt x="83567" y="304278"/>
                </a:lnTo>
                <a:lnTo>
                  <a:pt x="123873" y="320738"/>
                </a:lnTo>
                <a:lnTo>
                  <a:pt x="168728" y="326571"/>
                </a:lnTo>
                <a:lnTo>
                  <a:pt x="213583" y="320738"/>
                </a:lnTo>
                <a:lnTo>
                  <a:pt x="253888" y="304278"/>
                </a:lnTo>
                <a:lnTo>
                  <a:pt x="288037" y="278745"/>
                </a:lnTo>
                <a:lnTo>
                  <a:pt x="314420" y="245698"/>
                </a:lnTo>
                <a:lnTo>
                  <a:pt x="331429" y="206693"/>
                </a:lnTo>
                <a:lnTo>
                  <a:pt x="337456" y="163285"/>
                </a:lnTo>
                <a:lnTo>
                  <a:pt x="331429" y="119877"/>
                </a:lnTo>
                <a:lnTo>
                  <a:pt x="314420" y="80871"/>
                </a:lnTo>
                <a:lnTo>
                  <a:pt x="288037" y="47825"/>
                </a:lnTo>
                <a:lnTo>
                  <a:pt x="253888" y="22293"/>
                </a:lnTo>
                <a:lnTo>
                  <a:pt x="213583" y="5832"/>
                </a:lnTo>
                <a:lnTo>
                  <a:pt x="16872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477214" y="2886443"/>
            <a:ext cx="385445" cy="373380"/>
          </a:xfrm>
          <a:custGeom>
            <a:avLst/>
            <a:gdLst/>
            <a:ahLst/>
            <a:cxnLst/>
            <a:rect l="l" t="t" r="r" b="b"/>
            <a:pathLst>
              <a:path w="385445" h="373379">
                <a:moveTo>
                  <a:pt x="211119" y="0"/>
                </a:moveTo>
                <a:lnTo>
                  <a:pt x="171937" y="0"/>
                </a:lnTo>
                <a:lnTo>
                  <a:pt x="134508" y="7619"/>
                </a:lnTo>
                <a:lnTo>
                  <a:pt x="84288" y="31750"/>
                </a:lnTo>
                <a:lnTo>
                  <a:pt x="43506" y="68579"/>
                </a:lnTo>
                <a:lnTo>
                  <a:pt x="14778" y="114300"/>
                </a:lnTo>
                <a:lnTo>
                  <a:pt x="871" y="168909"/>
                </a:lnTo>
                <a:lnTo>
                  <a:pt x="0" y="187959"/>
                </a:lnTo>
                <a:lnTo>
                  <a:pt x="1131" y="207009"/>
                </a:lnTo>
                <a:lnTo>
                  <a:pt x="15741" y="261619"/>
                </a:lnTo>
                <a:lnTo>
                  <a:pt x="45002" y="307339"/>
                </a:lnTo>
                <a:lnTo>
                  <a:pt x="86194" y="342900"/>
                </a:lnTo>
                <a:lnTo>
                  <a:pt x="136725" y="365759"/>
                </a:lnTo>
                <a:lnTo>
                  <a:pt x="174273" y="373379"/>
                </a:lnTo>
                <a:lnTo>
                  <a:pt x="213453" y="373379"/>
                </a:lnTo>
                <a:lnTo>
                  <a:pt x="250883" y="365759"/>
                </a:lnTo>
                <a:lnTo>
                  <a:pt x="268513" y="359409"/>
                </a:lnTo>
                <a:lnTo>
                  <a:pt x="285285" y="350519"/>
                </a:lnTo>
                <a:lnTo>
                  <a:pt x="294324" y="345439"/>
                </a:lnTo>
                <a:lnTo>
                  <a:pt x="192462" y="345439"/>
                </a:lnTo>
                <a:lnTo>
                  <a:pt x="175679" y="344169"/>
                </a:lnTo>
                <a:lnTo>
                  <a:pt x="128621" y="332739"/>
                </a:lnTo>
                <a:lnTo>
                  <a:pt x="88183" y="308609"/>
                </a:lnTo>
                <a:lnTo>
                  <a:pt x="56582" y="275589"/>
                </a:lnTo>
                <a:lnTo>
                  <a:pt x="36042" y="233679"/>
                </a:lnTo>
                <a:lnTo>
                  <a:pt x="28824" y="187959"/>
                </a:lnTo>
                <a:lnTo>
                  <a:pt x="28828" y="185419"/>
                </a:lnTo>
                <a:lnTo>
                  <a:pt x="36192" y="139700"/>
                </a:lnTo>
                <a:lnTo>
                  <a:pt x="56849" y="97789"/>
                </a:lnTo>
                <a:lnTo>
                  <a:pt x="88539" y="64769"/>
                </a:lnTo>
                <a:lnTo>
                  <a:pt x="129047" y="40639"/>
                </a:lnTo>
                <a:lnTo>
                  <a:pt x="176146" y="29209"/>
                </a:lnTo>
                <a:lnTo>
                  <a:pt x="192930" y="27939"/>
                </a:lnTo>
                <a:lnTo>
                  <a:pt x="294645" y="27939"/>
                </a:lnTo>
                <a:lnTo>
                  <a:pt x="283263" y="21589"/>
                </a:lnTo>
                <a:lnTo>
                  <a:pt x="266386" y="13969"/>
                </a:lnTo>
                <a:lnTo>
                  <a:pt x="248665" y="7619"/>
                </a:lnTo>
                <a:lnTo>
                  <a:pt x="230207" y="2539"/>
                </a:lnTo>
                <a:lnTo>
                  <a:pt x="211119" y="0"/>
                </a:lnTo>
                <a:close/>
              </a:path>
              <a:path w="385445" h="373379">
                <a:moveTo>
                  <a:pt x="294645" y="27939"/>
                </a:moveTo>
                <a:lnTo>
                  <a:pt x="192930" y="27939"/>
                </a:lnTo>
                <a:lnTo>
                  <a:pt x="209713" y="29209"/>
                </a:lnTo>
                <a:lnTo>
                  <a:pt x="225999" y="31750"/>
                </a:lnTo>
                <a:lnTo>
                  <a:pt x="271094" y="46989"/>
                </a:lnTo>
                <a:lnTo>
                  <a:pt x="308834" y="74929"/>
                </a:lnTo>
                <a:lnTo>
                  <a:pt x="336994" y="111759"/>
                </a:lnTo>
                <a:lnTo>
                  <a:pt x="353357" y="154939"/>
                </a:lnTo>
                <a:lnTo>
                  <a:pt x="356568" y="185419"/>
                </a:lnTo>
                <a:lnTo>
                  <a:pt x="356564" y="187959"/>
                </a:lnTo>
                <a:lnTo>
                  <a:pt x="349200" y="233679"/>
                </a:lnTo>
                <a:lnTo>
                  <a:pt x="328542" y="275589"/>
                </a:lnTo>
                <a:lnTo>
                  <a:pt x="296853" y="308609"/>
                </a:lnTo>
                <a:lnTo>
                  <a:pt x="256344" y="332739"/>
                </a:lnTo>
                <a:lnTo>
                  <a:pt x="209246" y="344169"/>
                </a:lnTo>
                <a:lnTo>
                  <a:pt x="192462" y="345439"/>
                </a:lnTo>
                <a:lnTo>
                  <a:pt x="294324" y="345439"/>
                </a:lnTo>
                <a:lnTo>
                  <a:pt x="329500" y="318769"/>
                </a:lnTo>
                <a:lnTo>
                  <a:pt x="362545" y="275589"/>
                </a:lnTo>
                <a:lnTo>
                  <a:pt x="381703" y="223519"/>
                </a:lnTo>
                <a:lnTo>
                  <a:pt x="385391" y="185419"/>
                </a:lnTo>
                <a:lnTo>
                  <a:pt x="384260" y="166369"/>
                </a:lnTo>
                <a:lnTo>
                  <a:pt x="369650" y="113029"/>
                </a:lnTo>
                <a:lnTo>
                  <a:pt x="340389" y="66039"/>
                </a:lnTo>
                <a:lnTo>
                  <a:pt x="299198" y="30479"/>
                </a:lnTo>
                <a:lnTo>
                  <a:pt x="294645" y="27939"/>
                </a:lnTo>
                <a:close/>
              </a:path>
              <a:path w="385445" h="373379">
                <a:moveTo>
                  <a:pt x="209245" y="38100"/>
                </a:moveTo>
                <a:lnTo>
                  <a:pt x="177548" y="38100"/>
                </a:lnTo>
                <a:lnTo>
                  <a:pt x="162168" y="40639"/>
                </a:lnTo>
                <a:lnTo>
                  <a:pt x="119567" y="55879"/>
                </a:lnTo>
                <a:lnTo>
                  <a:pt x="83883" y="81279"/>
                </a:lnTo>
                <a:lnTo>
                  <a:pt x="57223" y="115569"/>
                </a:lnTo>
                <a:lnTo>
                  <a:pt x="41620" y="156209"/>
                </a:lnTo>
                <a:lnTo>
                  <a:pt x="38347" y="185419"/>
                </a:lnTo>
                <a:lnTo>
                  <a:pt x="39062" y="200659"/>
                </a:lnTo>
                <a:lnTo>
                  <a:pt x="50118" y="243839"/>
                </a:lnTo>
                <a:lnTo>
                  <a:pt x="72993" y="280669"/>
                </a:lnTo>
                <a:lnTo>
                  <a:pt x="105656" y="309879"/>
                </a:lnTo>
                <a:lnTo>
                  <a:pt x="145999" y="328929"/>
                </a:lnTo>
                <a:lnTo>
                  <a:pt x="176147" y="335279"/>
                </a:lnTo>
                <a:lnTo>
                  <a:pt x="207843" y="335279"/>
                </a:lnTo>
                <a:lnTo>
                  <a:pt x="223224" y="332739"/>
                </a:lnTo>
                <a:lnTo>
                  <a:pt x="238062" y="328929"/>
                </a:lnTo>
                <a:lnTo>
                  <a:pt x="245175" y="326389"/>
                </a:lnTo>
                <a:lnTo>
                  <a:pt x="191524" y="326389"/>
                </a:lnTo>
                <a:lnTo>
                  <a:pt x="176616" y="325119"/>
                </a:lnTo>
                <a:lnTo>
                  <a:pt x="135032" y="314959"/>
                </a:lnTo>
                <a:lnTo>
                  <a:pt x="99439" y="293369"/>
                </a:lnTo>
                <a:lnTo>
                  <a:pt x="71775" y="262889"/>
                </a:lnTo>
                <a:lnTo>
                  <a:pt x="54001" y="227329"/>
                </a:lnTo>
                <a:lnTo>
                  <a:pt x="47934" y="185419"/>
                </a:lnTo>
                <a:lnTo>
                  <a:pt x="48806" y="171450"/>
                </a:lnTo>
                <a:lnTo>
                  <a:pt x="59674" y="132079"/>
                </a:lnTo>
                <a:lnTo>
                  <a:pt x="81488" y="97789"/>
                </a:lnTo>
                <a:lnTo>
                  <a:pt x="112429" y="71119"/>
                </a:lnTo>
                <a:lnTo>
                  <a:pt x="150534" y="53339"/>
                </a:lnTo>
                <a:lnTo>
                  <a:pt x="193868" y="46989"/>
                </a:lnTo>
                <a:lnTo>
                  <a:pt x="246479" y="46989"/>
                </a:lnTo>
                <a:lnTo>
                  <a:pt x="239393" y="44450"/>
                </a:lnTo>
                <a:lnTo>
                  <a:pt x="224596" y="40639"/>
                </a:lnTo>
                <a:lnTo>
                  <a:pt x="209245" y="38100"/>
                </a:lnTo>
                <a:close/>
              </a:path>
              <a:path w="385445" h="373379">
                <a:moveTo>
                  <a:pt x="246479" y="46989"/>
                </a:moveTo>
                <a:lnTo>
                  <a:pt x="193868" y="46989"/>
                </a:lnTo>
                <a:lnTo>
                  <a:pt x="208776" y="48259"/>
                </a:lnTo>
                <a:lnTo>
                  <a:pt x="223193" y="50800"/>
                </a:lnTo>
                <a:lnTo>
                  <a:pt x="262981" y="64769"/>
                </a:lnTo>
                <a:lnTo>
                  <a:pt x="296155" y="88900"/>
                </a:lnTo>
                <a:lnTo>
                  <a:pt x="320733" y="121919"/>
                </a:lnTo>
                <a:lnTo>
                  <a:pt x="334801" y="160019"/>
                </a:lnTo>
                <a:lnTo>
                  <a:pt x="337456" y="187959"/>
                </a:lnTo>
                <a:lnTo>
                  <a:pt x="336585" y="201929"/>
                </a:lnTo>
                <a:lnTo>
                  <a:pt x="325716" y="241300"/>
                </a:lnTo>
                <a:lnTo>
                  <a:pt x="303904" y="275589"/>
                </a:lnTo>
                <a:lnTo>
                  <a:pt x="272963" y="302259"/>
                </a:lnTo>
                <a:lnTo>
                  <a:pt x="234857" y="320039"/>
                </a:lnTo>
                <a:lnTo>
                  <a:pt x="191524" y="326389"/>
                </a:lnTo>
                <a:lnTo>
                  <a:pt x="245175" y="326389"/>
                </a:lnTo>
                <a:lnTo>
                  <a:pt x="290512" y="302259"/>
                </a:lnTo>
                <a:lnTo>
                  <a:pt x="320412" y="270509"/>
                </a:lnTo>
                <a:lnTo>
                  <a:pt x="339921" y="231139"/>
                </a:lnTo>
                <a:lnTo>
                  <a:pt x="347044" y="187959"/>
                </a:lnTo>
                <a:lnTo>
                  <a:pt x="346328" y="172719"/>
                </a:lnTo>
                <a:lnTo>
                  <a:pt x="335273" y="129539"/>
                </a:lnTo>
                <a:lnTo>
                  <a:pt x="312398" y="92709"/>
                </a:lnTo>
                <a:lnTo>
                  <a:pt x="279735" y="63500"/>
                </a:lnTo>
                <a:lnTo>
                  <a:pt x="253565" y="49529"/>
                </a:lnTo>
                <a:lnTo>
                  <a:pt x="246479" y="46989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66800" y="4402024"/>
            <a:ext cx="2727960" cy="2216150"/>
          </a:xfrm>
          <a:custGeom>
            <a:avLst/>
            <a:gdLst/>
            <a:ahLst/>
            <a:cxnLst/>
            <a:rect l="l" t="t" r="r" b="b"/>
            <a:pathLst>
              <a:path w="2727960" h="2216150">
                <a:moveTo>
                  <a:pt x="2358048" y="0"/>
                </a:moveTo>
                <a:lnTo>
                  <a:pt x="369364" y="0"/>
                </a:lnTo>
                <a:lnTo>
                  <a:pt x="323031" y="2877"/>
                </a:lnTo>
                <a:lnTo>
                  <a:pt x="278417" y="11280"/>
                </a:lnTo>
                <a:lnTo>
                  <a:pt x="235865" y="24862"/>
                </a:lnTo>
                <a:lnTo>
                  <a:pt x="195724" y="43276"/>
                </a:lnTo>
                <a:lnTo>
                  <a:pt x="158338" y="66177"/>
                </a:lnTo>
                <a:lnTo>
                  <a:pt x="124054" y="93219"/>
                </a:lnTo>
                <a:lnTo>
                  <a:pt x="93219" y="124054"/>
                </a:lnTo>
                <a:lnTo>
                  <a:pt x="66177" y="158338"/>
                </a:lnTo>
                <a:lnTo>
                  <a:pt x="43276" y="195724"/>
                </a:lnTo>
                <a:lnTo>
                  <a:pt x="24862" y="235866"/>
                </a:lnTo>
                <a:lnTo>
                  <a:pt x="11280" y="278417"/>
                </a:lnTo>
                <a:lnTo>
                  <a:pt x="2877" y="323032"/>
                </a:lnTo>
                <a:lnTo>
                  <a:pt x="0" y="369364"/>
                </a:lnTo>
                <a:lnTo>
                  <a:pt x="0" y="1846785"/>
                </a:lnTo>
                <a:lnTo>
                  <a:pt x="2877" y="1893117"/>
                </a:lnTo>
                <a:lnTo>
                  <a:pt x="11280" y="1937732"/>
                </a:lnTo>
                <a:lnTo>
                  <a:pt x="24862" y="1980283"/>
                </a:lnTo>
                <a:lnTo>
                  <a:pt x="43276" y="2020425"/>
                </a:lnTo>
                <a:lnTo>
                  <a:pt x="66177" y="2057810"/>
                </a:lnTo>
                <a:lnTo>
                  <a:pt x="93219" y="2092094"/>
                </a:lnTo>
                <a:lnTo>
                  <a:pt x="124054" y="2122930"/>
                </a:lnTo>
                <a:lnTo>
                  <a:pt x="158338" y="2149971"/>
                </a:lnTo>
                <a:lnTo>
                  <a:pt x="195724" y="2172872"/>
                </a:lnTo>
                <a:lnTo>
                  <a:pt x="235865" y="2191286"/>
                </a:lnTo>
                <a:lnTo>
                  <a:pt x="278417" y="2204868"/>
                </a:lnTo>
                <a:lnTo>
                  <a:pt x="323031" y="2213271"/>
                </a:lnTo>
                <a:lnTo>
                  <a:pt x="369364" y="2216149"/>
                </a:lnTo>
                <a:lnTo>
                  <a:pt x="2358048" y="2216149"/>
                </a:lnTo>
                <a:lnTo>
                  <a:pt x="2404380" y="2213271"/>
                </a:lnTo>
                <a:lnTo>
                  <a:pt x="2448995" y="2204868"/>
                </a:lnTo>
                <a:lnTo>
                  <a:pt x="2491546" y="2191286"/>
                </a:lnTo>
                <a:lnTo>
                  <a:pt x="2531687" y="2172872"/>
                </a:lnTo>
                <a:lnTo>
                  <a:pt x="2569073" y="2149971"/>
                </a:lnTo>
                <a:lnTo>
                  <a:pt x="2603357" y="2122930"/>
                </a:lnTo>
                <a:lnTo>
                  <a:pt x="2634192" y="2092094"/>
                </a:lnTo>
                <a:lnTo>
                  <a:pt x="2661233" y="2057810"/>
                </a:lnTo>
                <a:lnTo>
                  <a:pt x="2684134" y="2020425"/>
                </a:lnTo>
                <a:lnTo>
                  <a:pt x="2702549" y="1980283"/>
                </a:lnTo>
                <a:lnTo>
                  <a:pt x="2716130" y="1937732"/>
                </a:lnTo>
                <a:lnTo>
                  <a:pt x="2724533" y="1893117"/>
                </a:lnTo>
                <a:lnTo>
                  <a:pt x="2727411" y="1846785"/>
                </a:lnTo>
                <a:lnTo>
                  <a:pt x="2727411" y="369364"/>
                </a:lnTo>
                <a:lnTo>
                  <a:pt x="2724533" y="323032"/>
                </a:lnTo>
                <a:lnTo>
                  <a:pt x="2716130" y="278417"/>
                </a:lnTo>
                <a:lnTo>
                  <a:pt x="2702549" y="235866"/>
                </a:lnTo>
                <a:lnTo>
                  <a:pt x="2684134" y="195724"/>
                </a:lnTo>
                <a:lnTo>
                  <a:pt x="2661233" y="158338"/>
                </a:lnTo>
                <a:lnTo>
                  <a:pt x="2634192" y="124054"/>
                </a:lnTo>
                <a:lnTo>
                  <a:pt x="2603357" y="93219"/>
                </a:lnTo>
                <a:lnTo>
                  <a:pt x="2569073" y="66177"/>
                </a:lnTo>
                <a:lnTo>
                  <a:pt x="2531687" y="43276"/>
                </a:lnTo>
                <a:lnTo>
                  <a:pt x="2491546" y="24862"/>
                </a:lnTo>
                <a:lnTo>
                  <a:pt x="2448995" y="11280"/>
                </a:lnTo>
                <a:lnTo>
                  <a:pt x="2404380" y="2877"/>
                </a:lnTo>
                <a:lnTo>
                  <a:pt x="2358048" y="0"/>
                </a:lnTo>
                <a:close/>
              </a:path>
            </a:pathLst>
          </a:custGeom>
          <a:solidFill>
            <a:srgbClr val="FFF0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42799" y="4381573"/>
            <a:ext cx="2775585" cy="2260600"/>
          </a:xfrm>
          <a:custGeom>
            <a:avLst/>
            <a:gdLst/>
            <a:ahLst/>
            <a:cxnLst/>
            <a:rect l="l" t="t" r="r" b="b"/>
            <a:pathLst>
              <a:path w="2775585" h="2260600">
                <a:moveTo>
                  <a:pt x="2421023" y="0"/>
                </a:moveTo>
                <a:lnTo>
                  <a:pt x="351977" y="0"/>
                </a:lnTo>
                <a:lnTo>
                  <a:pt x="312947" y="12700"/>
                </a:lnTo>
                <a:lnTo>
                  <a:pt x="275277" y="25400"/>
                </a:lnTo>
                <a:lnTo>
                  <a:pt x="239174" y="38100"/>
                </a:lnTo>
                <a:lnTo>
                  <a:pt x="204842" y="50800"/>
                </a:lnTo>
                <a:lnTo>
                  <a:pt x="172476" y="76200"/>
                </a:lnTo>
                <a:lnTo>
                  <a:pt x="142272" y="88900"/>
                </a:lnTo>
                <a:lnTo>
                  <a:pt x="114423" y="114300"/>
                </a:lnTo>
                <a:lnTo>
                  <a:pt x="89124" y="152400"/>
                </a:lnTo>
                <a:lnTo>
                  <a:pt x="66570" y="177800"/>
                </a:lnTo>
                <a:lnTo>
                  <a:pt x="46958" y="215900"/>
                </a:lnTo>
                <a:lnTo>
                  <a:pt x="30488" y="241300"/>
                </a:lnTo>
                <a:lnTo>
                  <a:pt x="17362" y="279400"/>
                </a:lnTo>
                <a:lnTo>
                  <a:pt x="7778" y="317500"/>
                </a:lnTo>
                <a:lnTo>
                  <a:pt x="1937" y="355600"/>
                </a:lnTo>
                <a:lnTo>
                  <a:pt x="0" y="393700"/>
                </a:lnTo>
                <a:lnTo>
                  <a:pt x="30" y="1879600"/>
                </a:lnTo>
                <a:lnTo>
                  <a:pt x="2181" y="1917700"/>
                </a:lnTo>
                <a:lnTo>
                  <a:pt x="8260" y="1955800"/>
                </a:lnTo>
                <a:lnTo>
                  <a:pt x="18068" y="1993900"/>
                </a:lnTo>
                <a:lnTo>
                  <a:pt x="31404" y="2032000"/>
                </a:lnTo>
                <a:lnTo>
                  <a:pt x="48068" y="2057400"/>
                </a:lnTo>
                <a:lnTo>
                  <a:pt x="67861" y="2095500"/>
                </a:lnTo>
                <a:lnTo>
                  <a:pt x="116042" y="2146300"/>
                </a:lnTo>
                <a:lnTo>
                  <a:pt x="174388" y="2197100"/>
                </a:lnTo>
                <a:lnTo>
                  <a:pt x="206887" y="2222500"/>
                </a:lnTo>
                <a:lnTo>
                  <a:pt x="277549" y="2247900"/>
                </a:lnTo>
                <a:lnTo>
                  <a:pt x="315303" y="2260600"/>
                </a:lnTo>
                <a:lnTo>
                  <a:pt x="2462464" y="2260600"/>
                </a:lnTo>
                <a:lnTo>
                  <a:pt x="2500134" y="2247900"/>
                </a:lnTo>
                <a:lnTo>
                  <a:pt x="2536236" y="2235200"/>
                </a:lnTo>
                <a:lnTo>
                  <a:pt x="319648" y="2235200"/>
                </a:lnTo>
                <a:lnTo>
                  <a:pt x="284722" y="2222500"/>
                </a:lnTo>
                <a:lnTo>
                  <a:pt x="251241" y="2209800"/>
                </a:lnTo>
                <a:lnTo>
                  <a:pt x="219386" y="2197100"/>
                </a:lnTo>
                <a:lnTo>
                  <a:pt x="189341" y="2171700"/>
                </a:lnTo>
                <a:lnTo>
                  <a:pt x="161288" y="2159000"/>
                </a:lnTo>
                <a:lnTo>
                  <a:pt x="135412" y="2133600"/>
                </a:lnTo>
                <a:lnTo>
                  <a:pt x="111896" y="2108200"/>
                </a:lnTo>
                <a:lnTo>
                  <a:pt x="90925" y="2082800"/>
                </a:lnTo>
                <a:lnTo>
                  <a:pt x="72682" y="2044700"/>
                </a:lnTo>
                <a:lnTo>
                  <a:pt x="57350" y="2019300"/>
                </a:lnTo>
                <a:lnTo>
                  <a:pt x="45113" y="1981200"/>
                </a:lnTo>
                <a:lnTo>
                  <a:pt x="36152" y="1943100"/>
                </a:lnTo>
                <a:lnTo>
                  <a:pt x="30652" y="1905000"/>
                </a:lnTo>
                <a:lnTo>
                  <a:pt x="28793" y="1879600"/>
                </a:lnTo>
                <a:lnTo>
                  <a:pt x="28800" y="393700"/>
                </a:lnTo>
                <a:lnTo>
                  <a:pt x="30700" y="355600"/>
                </a:lnTo>
                <a:lnTo>
                  <a:pt x="36249" y="317500"/>
                </a:lnTo>
                <a:lnTo>
                  <a:pt x="45254" y="292100"/>
                </a:lnTo>
                <a:lnTo>
                  <a:pt x="57534" y="254000"/>
                </a:lnTo>
                <a:lnTo>
                  <a:pt x="72904" y="215900"/>
                </a:lnTo>
                <a:lnTo>
                  <a:pt x="112188" y="165100"/>
                </a:lnTo>
                <a:lnTo>
                  <a:pt x="161642" y="114300"/>
                </a:lnTo>
                <a:lnTo>
                  <a:pt x="219795" y="76200"/>
                </a:lnTo>
                <a:lnTo>
                  <a:pt x="285175" y="50800"/>
                </a:lnTo>
                <a:lnTo>
                  <a:pt x="320119" y="38100"/>
                </a:lnTo>
                <a:lnTo>
                  <a:pt x="356322" y="38100"/>
                </a:lnTo>
                <a:lnTo>
                  <a:pt x="393605" y="25400"/>
                </a:lnTo>
                <a:lnTo>
                  <a:pt x="2497862" y="25400"/>
                </a:lnTo>
                <a:lnTo>
                  <a:pt x="2460108" y="12700"/>
                </a:lnTo>
                <a:lnTo>
                  <a:pt x="2421023" y="0"/>
                </a:lnTo>
                <a:close/>
              </a:path>
              <a:path w="2775585" h="2260600">
                <a:moveTo>
                  <a:pt x="2497862" y="25400"/>
                </a:moveTo>
                <a:lnTo>
                  <a:pt x="2382048" y="25400"/>
                </a:lnTo>
                <a:lnTo>
                  <a:pt x="2419571" y="38100"/>
                </a:lnTo>
                <a:lnTo>
                  <a:pt x="2455763" y="38100"/>
                </a:lnTo>
                <a:lnTo>
                  <a:pt x="2490690" y="50800"/>
                </a:lnTo>
                <a:lnTo>
                  <a:pt x="2556025" y="76200"/>
                </a:lnTo>
                <a:lnTo>
                  <a:pt x="2614123" y="114300"/>
                </a:lnTo>
                <a:lnTo>
                  <a:pt x="2663514" y="165100"/>
                </a:lnTo>
                <a:lnTo>
                  <a:pt x="2702729" y="228600"/>
                </a:lnTo>
                <a:lnTo>
                  <a:pt x="2718061" y="254000"/>
                </a:lnTo>
                <a:lnTo>
                  <a:pt x="2730298" y="292100"/>
                </a:lnTo>
                <a:lnTo>
                  <a:pt x="2739258" y="317500"/>
                </a:lnTo>
                <a:lnTo>
                  <a:pt x="2744760" y="355600"/>
                </a:lnTo>
                <a:lnTo>
                  <a:pt x="2746618" y="393700"/>
                </a:lnTo>
                <a:lnTo>
                  <a:pt x="2746612" y="1879600"/>
                </a:lnTo>
                <a:lnTo>
                  <a:pt x="2744710" y="1905000"/>
                </a:lnTo>
                <a:lnTo>
                  <a:pt x="2739162" y="1943100"/>
                </a:lnTo>
                <a:lnTo>
                  <a:pt x="2730157" y="1981200"/>
                </a:lnTo>
                <a:lnTo>
                  <a:pt x="2717878" y="2019300"/>
                </a:lnTo>
                <a:lnTo>
                  <a:pt x="2702507" y="2044700"/>
                </a:lnTo>
                <a:lnTo>
                  <a:pt x="2684228" y="2082800"/>
                </a:lnTo>
                <a:lnTo>
                  <a:pt x="2663222" y="2108200"/>
                </a:lnTo>
                <a:lnTo>
                  <a:pt x="2639675" y="2133600"/>
                </a:lnTo>
                <a:lnTo>
                  <a:pt x="2613768" y="2159000"/>
                </a:lnTo>
                <a:lnTo>
                  <a:pt x="2585687" y="2171700"/>
                </a:lnTo>
                <a:lnTo>
                  <a:pt x="2555616" y="2197100"/>
                </a:lnTo>
                <a:lnTo>
                  <a:pt x="2523738" y="2209800"/>
                </a:lnTo>
                <a:lnTo>
                  <a:pt x="2490235" y="2222500"/>
                </a:lnTo>
                <a:lnTo>
                  <a:pt x="2455291" y="2235200"/>
                </a:lnTo>
                <a:lnTo>
                  <a:pt x="2536236" y="2235200"/>
                </a:lnTo>
                <a:lnTo>
                  <a:pt x="2602935" y="2197100"/>
                </a:lnTo>
                <a:lnTo>
                  <a:pt x="2633140" y="2171700"/>
                </a:lnTo>
                <a:lnTo>
                  <a:pt x="2686287" y="2120900"/>
                </a:lnTo>
                <a:lnTo>
                  <a:pt x="2728453" y="2057400"/>
                </a:lnTo>
                <a:lnTo>
                  <a:pt x="2744923" y="2019300"/>
                </a:lnTo>
                <a:lnTo>
                  <a:pt x="2758049" y="1993900"/>
                </a:lnTo>
                <a:lnTo>
                  <a:pt x="2767633" y="1955800"/>
                </a:lnTo>
                <a:lnTo>
                  <a:pt x="2773473" y="1917700"/>
                </a:lnTo>
                <a:lnTo>
                  <a:pt x="2775411" y="1879600"/>
                </a:lnTo>
                <a:lnTo>
                  <a:pt x="2775381" y="393700"/>
                </a:lnTo>
                <a:lnTo>
                  <a:pt x="2773230" y="355600"/>
                </a:lnTo>
                <a:lnTo>
                  <a:pt x="2767151" y="317500"/>
                </a:lnTo>
                <a:lnTo>
                  <a:pt x="2757343" y="279400"/>
                </a:lnTo>
                <a:lnTo>
                  <a:pt x="2744007" y="241300"/>
                </a:lnTo>
                <a:lnTo>
                  <a:pt x="2727343" y="203200"/>
                </a:lnTo>
                <a:lnTo>
                  <a:pt x="2707550" y="177800"/>
                </a:lnTo>
                <a:lnTo>
                  <a:pt x="2684827" y="139700"/>
                </a:lnTo>
                <a:lnTo>
                  <a:pt x="2631371" y="88900"/>
                </a:lnTo>
                <a:lnTo>
                  <a:pt x="2601024" y="63500"/>
                </a:lnTo>
                <a:lnTo>
                  <a:pt x="2534069" y="38100"/>
                </a:lnTo>
                <a:lnTo>
                  <a:pt x="2497862" y="25400"/>
                </a:lnTo>
                <a:close/>
              </a:path>
              <a:path w="2775585" h="2260600">
                <a:moveTo>
                  <a:pt x="359219" y="50800"/>
                </a:moveTo>
                <a:lnTo>
                  <a:pt x="288476" y="50800"/>
                </a:lnTo>
                <a:lnTo>
                  <a:pt x="255839" y="63500"/>
                </a:lnTo>
                <a:lnTo>
                  <a:pt x="224779" y="88900"/>
                </a:lnTo>
                <a:lnTo>
                  <a:pt x="195472" y="101600"/>
                </a:lnTo>
                <a:lnTo>
                  <a:pt x="168099" y="127000"/>
                </a:lnTo>
                <a:lnTo>
                  <a:pt x="142840" y="139700"/>
                </a:lnTo>
                <a:lnTo>
                  <a:pt x="119877" y="165100"/>
                </a:lnTo>
                <a:lnTo>
                  <a:pt x="99388" y="203200"/>
                </a:lnTo>
                <a:lnTo>
                  <a:pt x="81553" y="228600"/>
                </a:lnTo>
                <a:lnTo>
                  <a:pt x="66549" y="254000"/>
                </a:lnTo>
                <a:lnTo>
                  <a:pt x="54552" y="292100"/>
                </a:lnTo>
                <a:lnTo>
                  <a:pt x="45739" y="330200"/>
                </a:lnTo>
                <a:lnTo>
                  <a:pt x="38400" y="393700"/>
                </a:lnTo>
                <a:lnTo>
                  <a:pt x="38381" y="1866900"/>
                </a:lnTo>
                <a:lnTo>
                  <a:pt x="40142" y="1905000"/>
                </a:lnTo>
                <a:lnTo>
                  <a:pt x="45450" y="1943100"/>
                </a:lnTo>
                <a:lnTo>
                  <a:pt x="54128" y="1981200"/>
                </a:lnTo>
                <a:lnTo>
                  <a:pt x="65999" y="2006600"/>
                </a:lnTo>
                <a:lnTo>
                  <a:pt x="80887" y="2044700"/>
                </a:lnTo>
                <a:lnTo>
                  <a:pt x="119001" y="2095500"/>
                </a:lnTo>
                <a:lnTo>
                  <a:pt x="167037" y="2146300"/>
                </a:lnTo>
                <a:lnTo>
                  <a:pt x="223552" y="2184400"/>
                </a:lnTo>
                <a:lnTo>
                  <a:pt x="287112" y="2209800"/>
                </a:lnTo>
                <a:lnTo>
                  <a:pt x="321096" y="2222500"/>
                </a:lnTo>
                <a:lnTo>
                  <a:pt x="356808" y="2222500"/>
                </a:lnTo>
                <a:lnTo>
                  <a:pt x="322545" y="2209800"/>
                </a:lnTo>
                <a:lnTo>
                  <a:pt x="289502" y="2197100"/>
                </a:lnTo>
                <a:lnTo>
                  <a:pt x="257840" y="2197100"/>
                </a:lnTo>
                <a:lnTo>
                  <a:pt x="227719" y="2171700"/>
                </a:lnTo>
                <a:lnTo>
                  <a:pt x="199310" y="2159000"/>
                </a:lnTo>
                <a:lnTo>
                  <a:pt x="172786" y="2133600"/>
                </a:lnTo>
                <a:lnTo>
                  <a:pt x="148326" y="2120900"/>
                </a:lnTo>
                <a:lnTo>
                  <a:pt x="126105" y="2095500"/>
                </a:lnTo>
                <a:lnTo>
                  <a:pt x="106302" y="2070100"/>
                </a:lnTo>
                <a:lnTo>
                  <a:pt x="89091" y="2032000"/>
                </a:lnTo>
                <a:lnTo>
                  <a:pt x="74648" y="2006600"/>
                </a:lnTo>
                <a:lnTo>
                  <a:pt x="63143" y="1981200"/>
                </a:lnTo>
                <a:lnTo>
                  <a:pt x="54748" y="1943100"/>
                </a:lnTo>
                <a:lnTo>
                  <a:pt x="49632" y="1905000"/>
                </a:lnTo>
                <a:lnTo>
                  <a:pt x="47969" y="1866900"/>
                </a:lnTo>
                <a:lnTo>
                  <a:pt x="48000" y="393700"/>
                </a:lnTo>
                <a:lnTo>
                  <a:pt x="49876" y="355600"/>
                </a:lnTo>
                <a:lnTo>
                  <a:pt x="55229" y="330200"/>
                </a:lnTo>
                <a:lnTo>
                  <a:pt x="63849" y="292100"/>
                </a:lnTo>
                <a:lnTo>
                  <a:pt x="75564" y="266700"/>
                </a:lnTo>
                <a:lnTo>
                  <a:pt x="90202" y="228600"/>
                </a:lnTo>
                <a:lnTo>
                  <a:pt x="127565" y="177800"/>
                </a:lnTo>
                <a:lnTo>
                  <a:pt x="174556" y="127000"/>
                </a:lnTo>
                <a:lnTo>
                  <a:pt x="201221" y="114300"/>
                </a:lnTo>
                <a:lnTo>
                  <a:pt x="229764" y="88900"/>
                </a:lnTo>
                <a:lnTo>
                  <a:pt x="260006" y="76200"/>
                </a:lnTo>
                <a:lnTo>
                  <a:pt x="291775" y="63500"/>
                </a:lnTo>
                <a:lnTo>
                  <a:pt x="324901" y="63500"/>
                </a:lnTo>
                <a:lnTo>
                  <a:pt x="359219" y="50800"/>
                </a:lnTo>
                <a:close/>
              </a:path>
              <a:path w="2775585" h="2260600">
                <a:moveTo>
                  <a:pt x="2520872" y="63500"/>
                </a:moveTo>
                <a:lnTo>
                  <a:pt x="2485909" y="63500"/>
                </a:lnTo>
                <a:lnTo>
                  <a:pt x="2517572" y="76200"/>
                </a:lnTo>
                <a:lnTo>
                  <a:pt x="2547693" y="88900"/>
                </a:lnTo>
                <a:lnTo>
                  <a:pt x="2576101" y="114300"/>
                </a:lnTo>
                <a:lnTo>
                  <a:pt x="2602624" y="127000"/>
                </a:lnTo>
                <a:lnTo>
                  <a:pt x="2627086" y="152400"/>
                </a:lnTo>
                <a:lnTo>
                  <a:pt x="2649307" y="177800"/>
                </a:lnTo>
                <a:lnTo>
                  <a:pt x="2669110" y="203200"/>
                </a:lnTo>
                <a:lnTo>
                  <a:pt x="2686320" y="228600"/>
                </a:lnTo>
                <a:lnTo>
                  <a:pt x="2700763" y="266700"/>
                </a:lnTo>
                <a:lnTo>
                  <a:pt x="2712268" y="292100"/>
                </a:lnTo>
                <a:lnTo>
                  <a:pt x="2720663" y="330200"/>
                </a:lnTo>
                <a:lnTo>
                  <a:pt x="2725780" y="368300"/>
                </a:lnTo>
                <a:lnTo>
                  <a:pt x="2727442" y="393700"/>
                </a:lnTo>
                <a:lnTo>
                  <a:pt x="2727412" y="1879600"/>
                </a:lnTo>
                <a:lnTo>
                  <a:pt x="2725535" y="1905000"/>
                </a:lnTo>
                <a:lnTo>
                  <a:pt x="2720182" y="1943100"/>
                </a:lnTo>
                <a:lnTo>
                  <a:pt x="2711562" y="1981200"/>
                </a:lnTo>
                <a:lnTo>
                  <a:pt x="2699848" y="2006600"/>
                </a:lnTo>
                <a:lnTo>
                  <a:pt x="2685210" y="2044700"/>
                </a:lnTo>
                <a:lnTo>
                  <a:pt x="2647846" y="2095500"/>
                </a:lnTo>
                <a:lnTo>
                  <a:pt x="2600855" y="2146300"/>
                </a:lnTo>
                <a:lnTo>
                  <a:pt x="2545648" y="2171700"/>
                </a:lnTo>
                <a:lnTo>
                  <a:pt x="2515406" y="2197100"/>
                </a:lnTo>
                <a:lnTo>
                  <a:pt x="2483637" y="2209800"/>
                </a:lnTo>
                <a:lnTo>
                  <a:pt x="2450511" y="2209800"/>
                </a:lnTo>
                <a:lnTo>
                  <a:pt x="2416192" y="2222500"/>
                </a:lnTo>
                <a:lnTo>
                  <a:pt x="2452901" y="2222500"/>
                </a:lnTo>
                <a:lnTo>
                  <a:pt x="2486936" y="2209800"/>
                </a:lnTo>
                <a:lnTo>
                  <a:pt x="2550632" y="2184400"/>
                </a:lnTo>
                <a:lnTo>
                  <a:pt x="2607312" y="2146300"/>
                </a:lnTo>
                <a:lnTo>
                  <a:pt x="2655535" y="2095500"/>
                </a:lnTo>
                <a:lnTo>
                  <a:pt x="2693858" y="2044700"/>
                </a:lnTo>
                <a:lnTo>
                  <a:pt x="2708862" y="2006600"/>
                </a:lnTo>
                <a:lnTo>
                  <a:pt x="2720860" y="1981200"/>
                </a:lnTo>
                <a:lnTo>
                  <a:pt x="2729672" y="1943100"/>
                </a:lnTo>
                <a:lnTo>
                  <a:pt x="2735123" y="1905000"/>
                </a:lnTo>
                <a:lnTo>
                  <a:pt x="2737012" y="1879600"/>
                </a:lnTo>
                <a:lnTo>
                  <a:pt x="2737029" y="393700"/>
                </a:lnTo>
                <a:lnTo>
                  <a:pt x="2735269" y="355600"/>
                </a:lnTo>
                <a:lnTo>
                  <a:pt x="2721283" y="292100"/>
                </a:lnTo>
                <a:lnTo>
                  <a:pt x="2709412" y="254000"/>
                </a:lnTo>
                <a:lnTo>
                  <a:pt x="2676797" y="203200"/>
                </a:lnTo>
                <a:lnTo>
                  <a:pt x="2656410" y="165100"/>
                </a:lnTo>
                <a:lnTo>
                  <a:pt x="2633542" y="139700"/>
                </a:lnTo>
                <a:lnTo>
                  <a:pt x="2608373" y="127000"/>
                </a:lnTo>
                <a:lnTo>
                  <a:pt x="2581086" y="101600"/>
                </a:lnTo>
                <a:lnTo>
                  <a:pt x="2551858" y="88900"/>
                </a:lnTo>
                <a:lnTo>
                  <a:pt x="2520872" y="63500"/>
                </a:lnTo>
                <a:close/>
              </a:path>
              <a:path w="2775585" h="2260600">
                <a:moveTo>
                  <a:pt x="2419086" y="38100"/>
                </a:moveTo>
                <a:lnTo>
                  <a:pt x="357771" y="38100"/>
                </a:lnTo>
                <a:lnTo>
                  <a:pt x="322509" y="50800"/>
                </a:lnTo>
                <a:lnTo>
                  <a:pt x="2418602" y="50800"/>
                </a:lnTo>
                <a:lnTo>
                  <a:pt x="2452866" y="63500"/>
                </a:lnTo>
                <a:lnTo>
                  <a:pt x="2488299" y="63500"/>
                </a:lnTo>
                <a:lnTo>
                  <a:pt x="2454315" y="50800"/>
                </a:lnTo>
                <a:lnTo>
                  <a:pt x="2419086" y="3810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916173" y="5433352"/>
            <a:ext cx="248920" cy="247650"/>
          </a:xfrm>
          <a:custGeom>
            <a:avLst/>
            <a:gdLst/>
            <a:ahLst/>
            <a:cxnLst/>
            <a:rect l="l" t="t" r="r" b="b"/>
            <a:pathLst>
              <a:path w="248919" h="247650">
                <a:moveTo>
                  <a:pt x="0" y="247439"/>
                </a:moveTo>
                <a:lnTo>
                  <a:pt x="248729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64903" y="5433351"/>
            <a:ext cx="266700" cy="247650"/>
          </a:xfrm>
          <a:custGeom>
            <a:avLst/>
            <a:gdLst/>
            <a:ahLst/>
            <a:cxnLst/>
            <a:rect l="l" t="t" r="r" b="b"/>
            <a:pathLst>
              <a:path w="266700" h="247650">
                <a:moveTo>
                  <a:pt x="266248" y="247438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72633" y="5723990"/>
            <a:ext cx="375285" cy="3810"/>
          </a:xfrm>
          <a:custGeom>
            <a:avLst/>
            <a:gdLst/>
            <a:ahLst/>
            <a:cxnLst/>
            <a:rect l="l" t="t" r="r" b="b"/>
            <a:pathLst>
              <a:path w="375285" h="3810">
                <a:moveTo>
                  <a:pt x="-25400" y="1700"/>
                </a:moveTo>
                <a:lnTo>
                  <a:pt x="400582" y="1700"/>
                </a:lnTo>
              </a:path>
            </a:pathLst>
          </a:custGeom>
          <a:ln w="542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31031" y="4402024"/>
            <a:ext cx="3594735" cy="2216150"/>
          </a:xfrm>
          <a:custGeom>
            <a:avLst/>
            <a:gdLst/>
            <a:ahLst/>
            <a:cxnLst/>
            <a:rect l="l" t="t" r="r" b="b"/>
            <a:pathLst>
              <a:path w="3594734" h="2216150">
                <a:moveTo>
                  <a:pt x="3225097" y="0"/>
                </a:moveTo>
                <a:lnTo>
                  <a:pt x="369364" y="0"/>
                </a:lnTo>
                <a:lnTo>
                  <a:pt x="323031" y="2877"/>
                </a:lnTo>
                <a:lnTo>
                  <a:pt x="278416" y="11280"/>
                </a:lnTo>
                <a:lnTo>
                  <a:pt x="235865" y="24862"/>
                </a:lnTo>
                <a:lnTo>
                  <a:pt x="195723" y="43276"/>
                </a:lnTo>
                <a:lnTo>
                  <a:pt x="158338" y="66177"/>
                </a:lnTo>
                <a:lnTo>
                  <a:pt x="124054" y="93219"/>
                </a:lnTo>
                <a:lnTo>
                  <a:pt x="93218" y="124054"/>
                </a:lnTo>
                <a:lnTo>
                  <a:pt x="66177" y="158338"/>
                </a:lnTo>
                <a:lnTo>
                  <a:pt x="43276" y="195724"/>
                </a:lnTo>
                <a:lnTo>
                  <a:pt x="24862" y="235866"/>
                </a:lnTo>
                <a:lnTo>
                  <a:pt x="11280" y="278417"/>
                </a:lnTo>
                <a:lnTo>
                  <a:pt x="2877" y="323032"/>
                </a:lnTo>
                <a:lnTo>
                  <a:pt x="0" y="369364"/>
                </a:lnTo>
                <a:lnTo>
                  <a:pt x="0" y="1846785"/>
                </a:lnTo>
                <a:lnTo>
                  <a:pt x="2877" y="1893118"/>
                </a:lnTo>
                <a:lnTo>
                  <a:pt x="11280" y="1937733"/>
                </a:lnTo>
                <a:lnTo>
                  <a:pt x="24862" y="1980284"/>
                </a:lnTo>
                <a:lnTo>
                  <a:pt x="43276" y="2020425"/>
                </a:lnTo>
                <a:lnTo>
                  <a:pt x="66177" y="2057811"/>
                </a:lnTo>
                <a:lnTo>
                  <a:pt x="93218" y="2092095"/>
                </a:lnTo>
                <a:lnTo>
                  <a:pt x="124054" y="2122931"/>
                </a:lnTo>
                <a:lnTo>
                  <a:pt x="158338" y="2149972"/>
                </a:lnTo>
                <a:lnTo>
                  <a:pt x="195723" y="2172873"/>
                </a:lnTo>
                <a:lnTo>
                  <a:pt x="235865" y="2191287"/>
                </a:lnTo>
                <a:lnTo>
                  <a:pt x="278416" y="2204869"/>
                </a:lnTo>
                <a:lnTo>
                  <a:pt x="323031" y="2213272"/>
                </a:lnTo>
                <a:lnTo>
                  <a:pt x="369364" y="2216150"/>
                </a:lnTo>
                <a:lnTo>
                  <a:pt x="3225097" y="2216150"/>
                </a:lnTo>
                <a:lnTo>
                  <a:pt x="3271429" y="2213272"/>
                </a:lnTo>
                <a:lnTo>
                  <a:pt x="3316044" y="2204869"/>
                </a:lnTo>
                <a:lnTo>
                  <a:pt x="3358595" y="2191287"/>
                </a:lnTo>
                <a:lnTo>
                  <a:pt x="3398737" y="2172873"/>
                </a:lnTo>
                <a:lnTo>
                  <a:pt x="3436123" y="2149972"/>
                </a:lnTo>
                <a:lnTo>
                  <a:pt x="3470406" y="2122931"/>
                </a:lnTo>
                <a:lnTo>
                  <a:pt x="3501242" y="2092095"/>
                </a:lnTo>
                <a:lnTo>
                  <a:pt x="3528284" y="2057811"/>
                </a:lnTo>
                <a:lnTo>
                  <a:pt x="3551185" y="2020425"/>
                </a:lnTo>
                <a:lnTo>
                  <a:pt x="3569599" y="1980284"/>
                </a:lnTo>
                <a:lnTo>
                  <a:pt x="3583181" y="1937733"/>
                </a:lnTo>
                <a:lnTo>
                  <a:pt x="3591584" y="1893118"/>
                </a:lnTo>
                <a:lnTo>
                  <a:pt x="3594461" y="1846785"/>
                </a:lnTo>
                <a:lnTo>
                  <a:pt x="3594461" y="369364"/>
                </a:lnTo>
                <a:lnTo>
                  <a:pt x="3591584" y="323032"/>
                </a:lnTo>
                <a:lnTo>
                  <a:pt x="3583181" y="278417"/>
                </a:lnTo>
                <a:lnTo>
                  <a:pt x="3569599" y="235866"/>
                </a:lnTo>
                <a:lnTo>
                  <a:pt x="3551185" y="195724"/>
                </a:lnTo>
                <a:lnTo>
                  <a:pt x="3528284" y="158338"/>
                </a:lnTo>
                <a:lnTo>
                  <a:pt x="3501242" y="124054"/>
                </a:lnTo>
                <a:lnTo>
                  <a:pt x="3470406" y="93219"/>
                </a:lnTo>
                <a:lnTo>
                  <a:pt x="3436123" y="66177"/>
                </a:lnTo>
                <a:lnTo>
                  <a:pt x="3398737" y="43276"/>
                </a:lnTo>
                <a:lnTo>
                  <a:pt x="3358595" y="24862"/>
                </a:lnTo>
                <a:lnTo>
                  <a:pt x="3316044" y="11280"/>
                </a:lnTo>
                <a:lnTo>
                  <a:pt x="3271429" y="2877"/>
                </a:lnTo>
                <a:lnTo>
                  <a:pt x="3225097" y="0"/>
                </a:lnTo>
                <a:close/>
              </a:path>
            </a:pathLst>
          </a:custGeom>
          <a:solidFill>
            <a:srgbClr val="FFF0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407030" y="4381574"/>
            <a:ext cx="3642995" cy="2260600"/>
          </a:xfrm>
          <a:custGeom>
            <a:avLst/>
            <a:gdLst/>
            <a:ahLst/>
            <a:cxnLst/>
            <a:rect l="l" t="t" r="r" b="b"/>
            <a:pathLst>
              <a:path w="3642995" h="2260600">
                <a:moveTo>
                  <a:pt x="3288073" y="0"/>
                </a:moveTo>
                <a:lnTo>
                  <a:pt x="351977" y="0"/>
                </a:lnTo>
                <a:lnTo>
                  <a:pt x="312948" y="12700"/>
                </a:lnTo>
                <a:lnTo>
                  <a:pt x="275277" y="25400"/>
                </a:lnTo>
                <a:lnTo>
                  <a:pt x="239175" y="38100"/>
                </a:lnTo>
                <a:lnTo>
                  <a:pt x="204842" y="50800"/>
                </a:lnTo>
                <a:lnTo>
                  <a:pt x="172476" y="76200"/>
                </a:lnTo>
                <a:lnTo>
                  <a:pt x="142273" y="88900"/>
                </a:lnTo>
                <a:lnTo>
                  <a:pt x="114423" y="114300"/>
                </a:lnTo>
                <a:lnTo>
                  <a:pt x="89124" y="152400"/>
                </a:lnTo>
                <a:lnTo>
                  <a:pt x="66570" y="177800"/>
                </a:lnTo>
                <a:lnTo>
                  <a:pt x="46958" y="215900"/>
                </a:lnTo>
                <a:lnTo>
                  <a:pt x="30488" y="241300"/>
                </a:lnTo>
                <a:lnTo>
                  <a:pt x="17362" y="279400"/>
                </a:lnTo>
                <a:lnTo>
                  <a:pt x="7778" y="317500"/>
                </a:lnTo>
                <a:lnTo>
                  <a:pt x="1938" y="355600"/>
                </a:lnTo>
                <a:lnTo>
                  <a:pt x="0" y="393700"/>
                </a:lnTo>
                <a:lnTo>
                  <a:pt x="30" y="1879600"/>
                </a:lnTo>
                <a:lnTo>
                  <a:pt x="2181" y="1917700"/>
                </a:lnTo>
                <a:lnTo>
                  <a:pt x="8260" y="1955800"/>
                </a:lnTo>
                <a:lnTo>
                  <a:pt x="18068" y="1993900"/>
                </a:lnTo>
                <a:lnTo>
                  <a:pt x="31404" y="2032000"/>
                </a:lnTo>
                <a:lnTo>
                  <a:pt x="48069" y="2057400"/>
                </a:lnTo>
                <a:lnTo>
                  <a:pt x="67861" y="2095500"/>
                </a:lnTo>
                <a:lnTo>
                  <a:pt x="116042" y="2146300"/>
                </a:lnTo>
                <a:lnTo>
                  <a:pt x="174388" y="2197100"/>
                </a:lnTo>
                <a:lnTo>
                  <a:pt x="206888" y="2222500"/>
                </a:lnTo>
                <a:lnTo>
                  <a:pt x="277549" y="2247900"/>
                </a:lnTo>
                <a:lnTo>
                  <a:pt x="315304" y="2260600"/>
                </a:lnTo>
                <a:lnTo>
                  <a:pt x="3329514" y="2260600"/>
                </a:lnTo>
                <a:lnTo>
                  <a:pt x="3367184" y="2247900"/>
                </a:lnTo>
                <a:lnTo>
                  <a:pt x="3403286" y="2235200"/>
                </a:lnTo>
                <a:lnTo>
                  <a:pt x="319648" y="2235200"/>
                </a:lnTo>
                <a:lnTo>
                  <a:pt x="284722" y="2222500"/>
                </a:lnTo>
                <a:lnTo>
                  <a:pt x="251240" y="2209800"/>
                </a:lnTo>
                <a:lnTo>
                  <a:pt x="219386" y="2197100"/>
                </a:lnTo>
                <a:lnTo>
                  <a:pt x="189341" y="2171700"/>
                </a:lnTo>
                <a:lnTo>
                  <a:pt x="161288" y="2159000"/>
                </a:lnTo>
                <a:lnTo>
                  <a:pt x="135412" y="2133600"/>
                </a:lnTo>
                <a:lnTo>
                  <a:pt x="111897" y="2108200"/>
                </a:lnTo>
                <a:lnTo>
                  <a:pt x="90925" y="2082800"/>
                </a:lnTo>
                <a:lnTo>
                  <a:pt x="72683" y="2044700"/>
                </a:lnTo>
                <a:lnTo>
                  <a:pt x="57350" y="2019300"/>
                </a:lnTo>
                <a:lnTo>
                  <a:pt x="45114" y="1981200"/>
                </a:lnTo>
                <a:lnTo>
                  <a:pt x="36153" y="1943100"/>
                </a:lnTo>
                <a:lnTo>
                  <a:pt x="30652" y="1905000"/>
                </a:lnTo>
                <a:lnTo>
                  <a:pt x="28794" y="1879600"/>
                </a:lnTo>
                <a:lnTo>
                  <a:pt x="28799" y="393700"/>
                </a:lnTo>
                <a:lnTo>
                  <a:pt x="30700" y="355600"/>
                </a:lnTo>
                <a:lnTo>
                  <a:pt x="36249" y="317500"/>
                </a:lnTo>
                <a:lnTo>
                  <a:pt x="45255" y="292100"/>
                </a:lnTo>
                <a:lnTo>
                  <a:pt x="57534" y="254000"/>
                </a:lnTo>
                <a:lnTo>
                  <a:pt x="72904" y="215900"/>
                </a:lnTo>
                <a:lnTo>
                  <a:pt x="112189" y="165100"/>
                </a:lnTo>
                <a:lnTo>
                  <a:pt x="161643" y="114300"/>
                </a:lnTo>
                <a:lnTo>
                  <a:pt x="219795" y="76200"/>
                </a:lnTo>
                <a:lnTo>
                  <a:pt x="285175" y="50800"/>
                </a:lnTo>
                <a:lnTo>
                  <a:pt x="320120" y="38100"/>
                </a:lnTo>
                <a:lnTo>
                  <a:pt x="356322" y="38100"/>
                </a:lnTo>
                <a:lnTo>
                  <a:pt x="393606" y="25400"/>
                </a:lnTo>
                <a:lnTo>
                  <a:pt x="3364911" y="25400"/>
                </a:lnTo>
                <a:lnTo>
                  <a:pt x="3327158" y="12700"/>
                </a:lnTo>
                <a:lnTo>
                  <a:pt x="3288073" y="0"/>
                </a:lnTo>
                <a:close/>
              </a:path>
              <a:path w="3642995" h="2260600">
                <a:moveTo>
                  <a:pt x="3364911" y="25400"/>
                </a:moveTo>
                <a:lnTo>
                  <a:pt x="3249098" y="25400"/>
                </a:lnTo>
                <a:lnTo>
                  <a:pt x="3286621" y="38100"/>
                </a:lnTo>
                <a:lnTo>
                  <a:pt x="3322814" y="38100"/>
                </a:lnTo>
                <a:lnTo>
                  <a:pt x="3357740" y="50800"/>
                </a:lnTo>
                <a:lnTo>
                  <a:pt x="3423075" y="76200"/>
                </a:lnTo>
                <a:lnTo>
                  <a:pt x="3481172" y="114300"/>
                </a:lnTo>
                <a:lnTo>
                  <a:pt x="3530565" y="165100"/>
                </a:lnTo>
                <a:lnTo>
                  <a:pt x="3569779" y="228600"/>
                </a:lnTo>
                <a:lnTo>
                  <a:pt x="3585110" y="254000"/>
                </a:lnTo>
                <a:lnTo>
                  <a:pt x="3597348" y="292100"/>
                </a:lnTo>
                <a:lnTo>
                  <a:pt x="3606308" y="317500"/>
                </a:lnTo>
                <a:lnTo>
                  <a:pt x="3611810" y="355600"/>
                </a:lnTo>
                <a:lnTo>
                  <a:pt x="3613668" y="393700"/>
                </a:lnTo>
                <a:lnTo>
                  <a:pt x="3613661" y="1879600"/>
                </a:lnTo>
                <a:lnTo>
                  <a:pt x="3611760" y="1905000"/>
                </a:lnTo>
                <a:lnTo>
                  <a:pt x="3606213" y="1943100"/>
                </a:lnTo>
                <a:lnTo>
                  <a:pt x="3597207" y="1981200"/>
                </a:lnTo>
                <a:lnTo>
                  <a:pt x="3584928" y="2019300"/>
                </a:lnTo>
                <a:lnTo>
                  <a:pt x="3569557" y="2044700"/>
                </a:lnTo>
                <a:lnTo>
                  <a:pt x="3551278" y="2082800"/>
                </a:lnTo>
                <a:lnTo>
                  <a:pt x="3530273" y="2108200"/>
                </a:lnTo>
                <a:lnTo>
                  <a:pt x="3506725" y="2133600"/>
                </a:lnTo>
                <a:lnTo>
                  <a:pt x="3480819" y="2159000"/>
                </a:lnTo>
                <a:lnTo>
                  <a:pt x="3452738" y="2171700"/>
                </a:lnTo>
                <a:lnTo>
                  <a:pt x="3422666" y="2197100"/>
                </a:lnTo>
                <a:lnTo>
                  <a:pt x="3390788" y="2209800"/>
                </a:lnTo>
                <a:lnTo>
                  <a:pt x="3357285" y="2222500"/>
                </a:lnTo>
                <a:lnTo>
                  <a:pt x="3322342" y="2235200"/>
                </a:lnTo>
                <a:lnTo>
                  <a:pt x="3403286" y="2235200"/>
                </a:lnTo>
                <a:lnTo>
                  <a:pt x="3469985" y="2197100"/>
                </a:lnTo>
                <a:lnTo>
                  <a:pt x="3500189" y="2171700"/>
                </a:lnTo>
                <a:lnTo>
                  <a:pt x="3553338" y="2120900"/>
                </a:lnTo>
                <a:lnTo>
                  <a:pt x="3595503" y="2057400"/>
                </a:lnTo>
                <a:lnTo>
                  <a:pt x="3611973" y="2019300"/>
                </a:lnTo>
                <a:lnTo>
                  <a:pt x="3625100" y="1993900"/>
                </a:lnTo>
                <a:lnTo>
                  <a:pt x="3634682" y="1955800"/>
                </a:lnTo>
                <a:lnTo>
                  <a:pt x="3640524" y="1917700"/>
                </a:lnTo>
                <a:lnTo>
                  <a:pt x="3642461" y="1879600"/>
                </a:lnTo>
                <a:lnTo>
                  <a:pt x="3642431" y="393700"/>
                </a:lnTo>
                <a:lnTo>
                  <a:pt x="3640279" y="355600"/>
                </a:lnTo>
                <a:lnTo>
                  <a:pt x="3634201" y="317500"/>
                </a:lnTo>
                <a:lnTo>
                  <a:pt x="3624393" y="279400"/>
                </a:lnTo>
                <a:lnTo>
                  <a:pt x="3611057" y="241300"/>
                </a:lnTo>
                <a:lnTo>
                  <a:pt x="3594393" y="203200"/>
                </a:lnTo>
                <a:lnTo>
                  <a:pt x="3574601" y="177800"/>
                </a:lnTo>
                <a:lnTo>
                  <a:pt x="3551877" y="139700"/>
                </a:lnTo>
                <a:lnTo>
                  <a:pt x="3498420" y="88900"/>
                </a:lnTo>
                <a:lnTo>
                  <a:pt x="3468074" y="63500"/>
                </a:lnTo>
                <a:lnTo>
                  <a:pt x="3401119" y="38100"/>
                </a:lnTo>
                <a:lnTo>
                  <a:pt x="3364911" y="25400"/>
                </a:lnTo>
                <a:close/>
              </a:path>
              <a:path w="3642995" h="2260600">
                <a:moveTo>
                  <a:pt x="359219" y="50800"/>
                </a:moveTo>
                <a:lnTo>
                  <a:pt x="288475" y="50800"/>
                </a:lnTo>
                <a:lnTo>
                  <a:pt x="255840" y="63500"/>
                </a:lnTo>
                <a:lnTo>
                  <a:pt x="224779" y="88900"/>
                </a:lnTo>
                <a:lnTo>
                  <a:pt x="195473" y="101600"/>
                </a:lnTo>
                <a:lnTo>
                  <a:pt x="168099" y="127000"/>
                </a:lnTo>
                <a:lnTo>
                  <a:pt x="142840" y="139700"/>
                </a:lnTo>
                <a:lnTo>
                  <a:pt x="119877" y="165100"/>
                </a:lnTo>
                <a:lnTo>
                  <a:pt x="99388" y="203200"/>
                </a:lnTo>
                <a:lnTo>
                  <a:pt x="81553" y="228600"/>
                </a:lnTo>
                <a:lnTo>
                  <a:pt x="66549" y="254000"/>
                </a:lnTo>
                <a:lnTo>
                  <a:pt x="54552" y="292100"/>
                </a:lnTo>
                <a:lnTo>
                  <a:pt x="45739" y="330200"/>
                </a:lnTo>
                <a:lnTo>
                  <a:pt x="38399" y="393700"/>
                </a:lnTo>
                <a:lnTo>
                  <a:pt x="38381" y="1866900"/>
                </a:lnTo>
                <a:lnTo>
                  <a:pt x="40142" y="1905000"/>
                </a:lnTo>
                <a:lnTo>
                  <a:pt x="45450" y="1943100"/>
                </a:lnTo>
                <a:lnTo>
                  <a:pt x="54128" y="1981200"/>
                </a:lnTo>
                <a:lnTo>
                  <a:pt x="65999" y="2006600"/>
                </a:lnTo>
                <a:lnTo>
                  <a:pt x="80887" y="2044700"/>
                </a:lnTo>
                <a:lnTo>
                  <a:pt x="119001" y="2095500"/>
                </a:lnTo>
                <a:lnTo>
                  <a:pt x="167038" y="2146300"/>
                </a:lnTo>
                <a:lnTo>
                  <a:pt x="223553" y="2184400"/>
                </a:lnTo>
                <a:lnTo>
                  <a:pt x="287112" y="2209800"/>
                </a:lnTo>
                <a:lnTo>
                  <a:pt x="321096" y="2222500"/>
                </a:lnTo>
                <a:lnTo>
                  <a:pt x="356809" y="2222500"/>
                </a:lnTo>
                <a:lnTo>
                  <a:pt x="322545" y="2209800"/>
                </a:lnTo>
                <a:lnTo>
                  <a:pt x="289502" y="2197100"/>
                </a:lnTo>
                <a:lnTo>
                  <a:pt x="257840" y="2197100"/>
                </a:lnTo>
                <a:lnTo>
                  <a:pt x="227718" y="2171700"/>
                </a:lnTo>
                <a:lnTo>
                  <a:pt x="199309" y="2159000"/>
                </a:lnTo>
                <a:lnTo>
                  <a:pt x="172787" y="2133600"/>
                </a:lnTo>
                <a:lnTo>
                  <a:pt x="148325" y="2120900"/>
                </a:lnTo>
                <a:lnTo>
                  <a:pt x="126105" y="2095500"/>
                </a:lnTo>
                <a:lnTo>
                  <a:pt x="106302" y="2070100"/>
                </a:lnTo>
                <a:lnTo>
                  <a:pt x="89091" y="2032000"/>
                </a:lnTo>
                <a:lnTo>
                  <a:pt x="74648" y="2006600"/>
                </a:lnTo>
                <a:lnTo>
                  <a:pt x="63144" y="1981200"/>
                </a:lnTo>
                <a:lnTo>
                  <a:pt x="54748" y="1943100"/>
                </a:lnTo>
                <a:lnTo>
                  <a:pt x="49632" y="1905000"/>
                </a:lnTo>
                <a:lnTo>
                  <a:pt x="47969" y="1866900"/>
                </a:lnTo>
                <a:lnTo>
                  <a:pt x="47999" y="393700"/>
                </a:lnTo>
                <a:lnTo>
                  <a:pt x="49876" y="355600"/>
                </a:lnTo>
                <a:lnTo>
                  <a:pt x="55229" y="330200"/>
                </a:lnTo>
                <a:lnTo>
                  <a:pt x="63850" y="292100"/>
                </a:lnTo>
                <a:lnTo>
                  <a:pt x="75565" y="266700"/>
                </a:lnTo>
                <a:lnTo>
                  <a:pt x="90203" y="228600"/>
                </a:lnTo>
                <a:lnTo>
                  <a:pt x="127565" y="177800"/>
                </a:lnTo>
                <a:lnTo>
                  <a:pt x="174556" y="127000"/>
                </a:lnTo>
                <a:lnTo>
                  <a:pt x="201222" y="114300"/>
                </a:lnTo>
                <a:lnTo>
                  <a:pt x="229764" y="88900"/>
                </a:lnTo>
                <a:lnTo>
                  <a:pt x="260007" y="76200"/>
                </a:lnTo>
                <a:lnTo>
                  <a:pt x="291776" y="63500"/>
                </a:lnTo>
                <a:lnTo>
                  <a:pt x="324901" y="63500"/>
                </a:lnTo>
                <a:lnTo>
                  <a:pt x="359219" y="50800"/>
                </a:lnTo>
                <a:close/>
              </a:path>
              <a:path w="3642995" h="2260600">
                <a:moveTo>
                  <a:pt x="3387921" y="63500"/>
                </a:moveTo>
                <a:lnTo>
                  <a:pt x="3352958" y="63500"/>
                </a:lnTo>
                <a:lnTo>
                  <a:pt x="3384622" y="76200"/>
                </a:lnTo>
                <a:lnTo>
                  <a:pt x="3414742" y="88900"/>
                </a:lnTo>
                <a:lnTo>
                  <a:pt x="3443151" y="114300"/>
                </a:lnTo>
                <a:lnTo>
                  <a:pt x="3469675" y="127000"/>
                </a:lnTo>
                <a:lnTo>
                  <a:pt x="3494135" y="152400"/>
                </a:lnTo>
                <a:lnTo>
                  <a:pt x="3516356" y="177800"/>
                </a:lnTo>
                <a:lnTo>
                  <a:pt x="3536160" y="203200"/>
                </a:lnTo>
                <a:lnTo>
                  <a:pt x="3553369" y="228600"/>
                </a:lnTo>
                <a:lnTo>
                  <a:pt x="3567813" y="266700"/>
                </a:lnTo>
                <a:lnTo>
                  <a:pt x="3579318" y="292100"/>
                </a:lnTo>
                <a:lnTo>
                  <a:pt x="3587714" y="330200"/>
                </a:lnTo>
                <a:lnTo>
                  <a:pt x="3592830" y="368300"/>
                </a:lnTo>
                <a:lnTo>
                  <a:pt x="3594492" y="393700"/>
                </a:lnTo>
                <a:lnTo>
                  <a:pt x="3594461" y="1879600"/>
                </a:lnTo>
                <a:lnTo>
                  <a:pt x="3592586" y="1905000"/>
                </a:lnTo>
                <a:lnTo>
                  <a:pt x="3587233" y="1943100"/>
                </a:lnTo>
                <a:lnTo>
                  <a:pt x="3578612" y="1981200"/>
                </a:lnTo>
                <a:lnTo>
                  <a:pt x="3566897" y="2006600"/>
                </a:lnTo>
                <a:lnTo>
                  <a:pt x="3552259" y="2044700"/>
                </a:lnTo>
                <a:lnTo>
                  <a:pt x="3514896" y="2095500"/>
                </a:lnTo>
                <a:lnTo>
                  <a:pt x="3467906" y="2146300"/>
                </a:lnTo>
                <a:lnTo>
                  <a:pt x="3412698" y="2171700"/>
                </a:lnTo>
                <a:lnTo>
                  <a:pt x="3382455" y="2197100"/>
                </a:lnTo>
                <a:lnTo>
                  <a:pt x="3350686" y="2209800"/>
                </a:lnTo>
                <a:lnTo>
                  <a:pt x="3317561" y="2209800"/>
                </a:lnTo>
                <a:lnTo>
                  <a:pt x="3283242" y="2222500"/>
                </a:lnTo>
                <a:lnTo>
                  <a:pt x="3319951" y="2222500"/>
                </a:lnTo>
                <a:lnTo>
                  <a:pt x="3353986" y="2209800"/>
                </a:lnTo>
                <a:lnTo>
                  <a:pt x="3417681" y="2184400"/>
                </a:lnTo>
                <a:lnTo>
                  <a:pt x="3474363" y="2146300"/>
                </a:lnTo>
                <a:lnTo>
                  <a:pt x="3522585" y="2095500"/>
                </a:lnTo>
                <a:lnTo>
                  <a:pt x="3560908" y="2044700"/>
                </a:lnTo>
                <a:lnTo>
                  <a:pt x="3575912" y="2006600"/>
                </a:lnTo>
                <a:lnTo>
                  <a:pt x="3587910" y="1981200"/>
                </a:lnTo>
                <a:lnTo>
                  <a:pt x="3596722" y="1943100"/>
                </a:lnTo>
                <a:lnTo>
                  <a:pt x="3602173" y="1905000"/>
                </a:lnTo>
                <a:lnTo>
                  <a:pt x="3604061" y="1879600"/>
                </a:lnTo>
                <a:lnTo>
                  <a:pt x="3604080" y="393700"/>
                </a:lnTo>
                <a:lnTo>
                  <a:pt x="3602319" y="355600"/>
                </a:lnTo>
                <a:lnTo>
                  <a:pt x="3588332" y="292100"/>
                </a:lnTo>
                <a:lnTo>
                  <a:pt x="3576462" y="254000"/>
                </a:lnTo>
                <a:lnTo>
                  <a:pt x="3543848" y="203200"/>
                </a:lnTo>
                <a:lnTo>
                  <a:pt x="3523461" y="165100"/>
                </a:lnTo>
                <a:lnTo>
                  <a:pt x="3500592" y="139700"/>
                </a:lnTo>
                <a:lnTo>
                  <a:pt x="3475423" y="127000"/>
                </a:lnTo>
                <a:lnTo>
                  <a:pt x="3448136" y="101600"/>
                </a:lnTo>
                <a:lnTo>
                  <a:pt x="3418909" y="88900"/>
                </a:lnTo>
                <a:lnTo>
                  <a:pt x="3387921" y="63500"/>
                </a:lnTo>
                <a:close/>
              </a:path>
              <a:path w="3642995" h="2260600">
                <a:moveTo>
                  <a:pt x="3286137" y="38100"/>
                </a:moveTo>
                <a:lnTo>
                  <a:pt x="357771" y="38100"/>
                </a:lnTo>
                <a:lnTo>
                  <a:pt x="322510" y="50800"/>
                </a:lnTo>
                <a:lnTo>
                  <a:pt x="3285652" y="50800"/>
                </a:lnTo>
                <a:lnTo>
                  <a:pt x="3319917" y="63500"/>
                </a:lnTo>
                <a:lnTo>
                  <a:pt x="3355350" y="63500"/>
                </a:lnTo>
                <a:lnTo>
                  <a:pt x="3321364" y="50800"/>
                </a:lnTo>
                <a:lnTo>
                  <a:pt x="3286137" y="3810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73023" y="347472"/>
            <a:ext cx="580034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18108" y="1359915"/>
            <a:ext cx="7385684" cy="133032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marR="5080" indent="-320040">
              <a:lnSpc>
                <a:spcPts val="35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/>
              <a:t>Let </a:t>
            </a:r>
            <a:r>
              <a:rPr dirty="0" sz="2800" spc="140">
                <a:solidFill>
                  <a:srgbClr val="C00000"/>
                </a:solidFill>
                <a:latin typeface="Cambria Math"/>
                <a:cs typeface="Cambria Math"/>
              </a:rPr>
              <a:t>𝐺</a:t>
            </a:r>
            <a:r>
              <a:rPr dirty="0" baseline="-16666" sz="3000" spc="209">
                <a:solidFill>
                  <a:srgbClr val="C00000"/>
                </a:solidFill>
                <a:latin typeface="Cambria Math"/>
                <a:cs typeface="Cambria Math"/>
              </a:rPr>
              <a:t>$ </a:t>
            </a:r>
            <a:r>
              <a:rPr dirty="0" sz="2800"/>
              <a:t>be a </a:t>
            </a:r>
            <a:r>
              <a:rPr dirty="0" sz="2800" spc="-5"/>
              <a:t>small </a:t>
            </a:r>
            <a:r>
              <a:rPr dirty="0" sz="2800" spc="-15"/>
              <a:t>graph </a:t>
            </a:r>
            <a:r>
              <a:rPr dirty="0" sz="2800" spc="-5"/>
              <a:t>and </a:t>
            </a:r>
            <a:r>
              <a:rPr dirty="0" sz="2800" spc="-275">
                <a:solidFill>
                  <a:srgbClr val="0000FF"/>
                </a:solidFill>
                <a:latin typeface="Cambria Math"/>
                <a:cs typeface="Cambria Math"/>
              </a:rPr>
              <a:t>𝐺</a:t>
            </a:r>
            <a:r>
              <a:rPr dirty="0" baseline="-16666" sz="3000" spc="-412">
                <a:solidFill>
                  <a:srgbClr val="0000FF"/>
                </a:solidFill>
                <a:latin typeface="Cambria Math"/>
                <a:cs typeface="Cambria Math"/>
              </a:rPr>
              <a:t>% </a:t>
            </a:r>
            <a:r>
              <a:rPr dirty="0" sz="2800"/>
              <a:t>be a </a:t>
            </a:r>
            <a:r>
              <a:rPr dirty="0" sz="2800" spc="-25"/>
              <a:t>target </a:t>
            </a:r>
            <a:r>
              <a:rPr dirty="0" sz="2800" spc="-15"/>
              <a:t>graph  dataset.</a:t>
            </a:r>
            <a:endParaRPr sz="2800">
              <a:latin typeface="Cambria Math"/>
              <a:cs typeface="Cambria Math"/>
            </a:endParaRPr>
          </a:p>
          <a:p>
            <a:pPr marL="332740" indent="-320040">
              <a:lnSpc>
                <a:spcPts val="3270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5" b="1">
                <a:solidFill>
                  <a:srgbClr val="00B050"/>
                </a:solidFill>
                <a:latin typeface="Calibri"/>
                <a:cs typeface="Calibri"/>
              </a:rPr>
              <a:t>Graph-level </a:t>
            </a:r>
            <a:r>
              <a:rPr dirty="0" sz="2800" spc="-10" b="1">
                <a:solidFill>
                  <a:srgbClr val="00B050"/>
                </a:solidFill>
                <a:latin typeface="Calibri"/>
                <a:cs typeface="Calibri"/>
              </a:rPr>
              <a:t>Subgraph </a:t>
            </a:r>
            <a:r>
              <a:rPr dirty="0" sz="2800" spc="-5" b="1">
                <a:solidFill>
                  <a:srgbClr val="00B050"/>
                </a:solidFill>
                <a:latin typeface="Calibri"/>
                <a:cs typeface="Calibri"/>
              </a:rPr>
              <a:t>Frequency</a:t>
            </a:r>
            <a:r>
              <a:rPr dirty="0" sz="2800" spc="35" b="1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B050"/>
                </a:solidFill>
                <a:latin typeface="Calibri"/>
                <a:cs typeface="Calibri"/>
              </a:rPr>
              <a:t>Definition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8149" y="2670555"/>
            <a:ext cx="7571740" cy="132715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15"/>
              </a:spcBef>
            </a:pPr>
            <a:r>
              <a:rPr dirty="0" sz="2800" spc="-10">
                <a:latin typeface="Calibri"/>
                <a:cs typeface="Calibri"/>
              </a:rPr>
              <a:t>Frequency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140">
                <a:solidFill>
                  <a:srgbClr val="C00000"/>
                </a:solidFill>
                <a:latin typeface="Cambria Math"/>
                <a:cs typeface="Cambria Math"/>
              </a:rPr>
              <a:t>𝐺</a:t>
            </a:r>
            <a:r>
              <a:rPr dirty="0" baseline="-15277" sz="3000" spc="209">
                <a:solidFill>
                  <a:srgbClr val="C00000"/>
                </a:solidFill>
                <a:latin typeface="Cambria Math"/>
                <a:cs typeface="Cambria Math"/>
              </a:rPr>
              <a:t>$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-140">
                <a:solidFill>
                  <a:srgbClr val="0000FF"/>
                </a:solidFill>
                <a:latin typeface="Cambria Math"/>
                <a:cs typeface="Cambria Math"/>
              </a:rPr>
              <a:t>𝐺</a:t>
            </a:r>
            <a:r>
              <a:rPr dirty="0" baseline="-15277" sz="3000" spc="-209">
                <a:solidFill>
                  <a:srgbClr val="0000FF"/>
                </a:solidFill>
                <a:latin typeface="Cambria Math"/>
                <a:cs typeface="Cambria Math"/>
              </a:rPr>
              <a:t>%</a:t>
            </a:r>
            <a:r>
              <a:rPr dirty="0" sz="2800" spc="-140">
                <a:solidFill>
                  <a:srgbClr val="002060"/>
                </a:solidFill>
                <a:latin typeface="Cambria Math"/>
                <a:cs typeface="Cambria Math"/>
              </a:rPr>
              <a:t>: </a:t>
            </a:r>
            <a:r>
              <a:rPr dirty="0" sz="2800" spc="-5">
                <a:latin typeface="Calibri"/>
                <a:cs typeface="Calibri"/>
              </a:rPr>
              <a:t>number of unique </a:t>
            </a:r>
            <a:r>
              <a:rPr dirty="0" sz="2800" spc="-10">
                <a:latin typeface="Calibri"/>
                <a:cs typeface="Calibri"/>
              </a:rPr>
              <a:t>subsets </a:t>
            </a:r>
            <a:r>
              <a:rPr dirty="0" sz="2800" spc="-5">
                <a:latin typeface="Calibri"/>
                <a:cs typeface="Calibri"/>
              </a:rPr>
              <a:t>of  nodes </a:t>
            </a:r>
            <a:r>
              <a:rPr dirty="0" sz="2800" spc="-415">
                <a:solidFill>
                  <a:srgbClr val="0000FF"/>
                </a:solidFill>
                <a:latin typeface="Cambria Math"/>
                <a:cs typeface="Cambria Math"/>
              </a:rPr>
              <a:t>𝑉</a:t>
            </a:r>
            <a:r>
              <a:rPr dirty="0" baseline="-16666" sz="3000" spc="-622">
                <a:solidFill>
                  <a:srgbClr val="0000FF"/>
                </a:solidFill>
                <a:latin typeface="Cambria Math"/>
                <a:cs typeface="Cambria Math"/>
              </a:rPr>
              <a:t>%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275">
                <a:solidFill>
                  <a:srgbClr val="0000FF"/>
                </a:solidFill>
                <a:latin typeface="Cambria Math"/>
                <a:cs typeface="Cambria Math"/>
              </a:rPr>
              <a:t>𝐺</a:t>
            </a:r>
            <a:r>
              <a:rPr dirty="0" baseline="-16666" sz="3000" spc="-412">
                <a:solidFill>
                  <a:srgbClr val="0000FF"/>
                </a:solidFill>
                <a:latin typeface="Cambria Math"/>
                <a:cs typeface="Cambria Math"/>
              </a:rPr>
              <a:t>%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which the </a:t>
            </a:r>
            <a:r>
              <a:rPr dirty="0" sz="2800" spc="-10">
                <a:latin typeface="Calibri"/>
                <a:cs typeface="Calibri"/>
              </a:rPr>
              <a:t>subgraph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275">
                <a:solidFill>
                  <a:srgbClr val="0000FF"/>
                </a:solidFill>
                <a:latin typeface="Cambria Math"/>
                <a:cs typeface="Cambria Math"/>
              </a:rPr>
              <a:t>𝐺</a:t>
            </a:r>
            <a:r>
              <a:rPr dirty="0" baseline="-16666" sz="3000" spc="-412">
                <a:solidFill>
                  <a:srgbClr val="0000FF"/>
                </a:solidFill>
                <a:latin typeface="Cambria Math"/>
                <a:cs typeface="Cambria Math"/>
              </a:rPr>
              <a:t>%  </a:t>
            </a:r>
            <a:r>
              <a:rPr dirty="0" sz="2800" spc="-5">
                <a:latin typeface="Calibri"/>
                <a:cs typeface="Calibri"/>
              </a:rPr>
              <a:t>induced </a:t>
            </a:r>
            <a:r>
              <a:rPr dirty="0" sz="2800" spc="-10">
                <a:latin typeface="Calibri"/>
                <a:cs typeface="Calibri"/>
              </a:rPr>
              <a:t>by </a:t>
            </a:r>
            <a:r>
              <a:rPr dirty="0" sz="2800" spc="-5">
                <a:latin typeface="Calibri"/>
                <a:cs typeface="Calibri"/>
              </a:rPr>
              <a:t>the nodes </a:t>
            </a:r>
            <a:r>
              <a:rPr dirty="0" sz="2800" spc="-415">
                <a:solidFill>
                  <a:srgbClr val="0000FF"/>
                </a:solidFill>
                <a:latin typeface="Cambria Math"/>
                <a:cs typeface="Cambria Math"/>
              </a:rPr>
              <a:t>𝑉</a:t>
            </a:r>
            <a:r>
              <a:rPr dirty="0" baseline="-16666" sz="3000" spc="-622">
                <a:solidFill>
                  <a:srgbClr val="0000FF"/>
                </a:solidFill>
                <a:latin typeface="Cambria Math"/>
                <a:cs typeface="Cambria Math"/>
              </a:rPr>
              <a:t>%                       </a:t>
            </a:r>
            <a:r>
              <a:rPr dirty="0" sz="2800" spc="-5">
                <a:latin typeface="Calibri"/>
                <a:cs typeface="Calibri"/>
              </a:rPr>
              <a:t>is isomorphic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 spc="140">
                <a:solidFill>
                  <a:srgbClr val="C00000"/>
                </a:solidFill>
                <a:latin typeface="Cambria Math"/>
                <a:cs typeface="Cambria Math"/>
              </a:rPr>
              <a:t>𝐺</a:t>
            </a:r>
            <a:r>
              <a:rPr dirty="0" baseline="-16666" sz="3000" spc="209">
                <a:solidFill>
                  <a:srgbClr val="C00000"/>
                </a:solidFill>
                <a:latin typeface="Cambria Math"/>
                <a:cs typeface="Cambria Math"/>
              </a:rPr>
              <a:t>$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17023" y="5064793"/>
            <a:ext cx="248920" cy="247650"/>
          </a:xfrm>
          <a:custGeom>
            <a:avLst/>
            <a:gdLst/>
            <a:ahLst/>
            <a:cxnLst/>
            <a:rect l="l" t="t" r="r" b="b"/>
            <a:pathLst>
              <a:path w="248919" h="247650">
                <a:moveTo>
                  <a:pt x="0" y="247439"/>
                </a:moveTo>
                <a:lnTo>
                  <a:pt x="248729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67645" y="5411430"/>
            <a:ext cx="146050" cy="405130"/>
          </a:xfrm>
          <a:custGeom>
            <a:avLst/>
            <a:gdLst/>
            <a:ahLst/>
            <a:cxnLst/>
            <a:rect l="l" t="t" r="r" b="b"/>
            <a:pathLst>
              <a:path w="146050" h="405129">
                <a:moveTo>
                  <a:pt x="145682" y="404795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965751" y="5064792"/>
            <a:ext cx="266700" cy="247650"/>
          </a:xfrm>
          <a:custGeom>
            <a:avLst/>
            <a:gdLst/>
            <a:ahLst/>
            <a:cxnLst/>
            <a:rect l="l" t="t" r="r" b="b"/>
            <a:pathLst>
              <a:path w="266700" h="247650">
                <a:moveTo>
                  <a:pt x="266248" y="247438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239116" y="5445280"/>
            <a:ext cx="0" cy="288925"/>
          </a:xfrm>
          <a:custGeom>
            <a:avLst/>
            <a:gdLst/>
            <a:ahLst/>
            <a:cxnLst/>
            <a:rect l="l" t="t" r="r" b="b"/>
            <a:pathLst>
              <a:path w="0" h="288925">
                <a:moveTo>
                  <a:pt x="0" y="288528"/>
                </a:moveTo>
                <a:lnTo>
                  <a:pt x="1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773482" y="5355431"/>
            <a:ext cx="375285" cy="3810"/>
          </a:xfrm>
          <a:custGeom>
            <a:avLst/>
            <a:gdLst/>
            <a:ahLst/>
            <a:cxnLst/>
            <a:rect l="l" t="t" r="r" b="b"/>
            <a:pathLst>
              <a:path w="375285" h="3810">
                <a:moveTo>
                  <a:pt x="-25400" y="1700"/>
                </a:moveTo>
                <a:lnTo>
                  <a:pt x="400582" y="1700"/>
                </a:lnTo>
              </a:path>
            </a:pathLst>
          </a:custGeom>
          <a:ln w="542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823896" y="5085670"/>
            <a:ext cx="133985" cy="751840"/>
          </a:xfrm>
          <a:custGeom>
            <a:avLst/>
            <a:gdLst/>
            <a:ahLst/>
            <a:cxnLst/>
            <a:rect l="l" t="t" r="r" b="b"/>
            <a:pathLst>
              <a:path w="133985" h="751839">
                <a:moveTo>
                  <a:pt x="0" y="751433"/>
                </a:moveTo>
                <a:lnTo>
                  <a:pt x="13339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427349" y="4865115"/>
            <a:ext cx="1101725" cy="666750"/>
          </a:xfrm>
          <a:custGeom>
            <a:avLst/>
            <a:gdLst/>
            <a:ahLst/>
            <a:cxnLst/>
            <a:rect l="l" t="t" r="r" b="b"/>
            <a:pathLst>
              <a:path w="1101725" h="666750">
                <a:moveTo>
                  <a:pt x="0" y="333375"/>
                </a:moveTo>
                <a:lnTo>
                  <a:pt x="12705" y="261858"/>
                </a:lnTo>
                <a:lnTo>
                  <a:pt x="49029" y="195686"/>
                </a:lnTo>
                <a:lnTo>
                  <a:pt x="75208" y="165114"/>
                </a:lnTo>
                <a:lnTo>
                  <a:pt x="106283" y="136488"/>
                </a:lnTo>
                <a:lnTo>
                  <a:pt x="141919" y="110011"/>
                </a:lnTo>
                <a:lnTo>
                  <a:pt x="181780" y="85888"/>
                </a:lnTo>
                <a:lnTo>
                  <a:pt x="225529" y="64322"/>
                </a:lnTo>
                <a:lnTo>
                  <a:pt x="272830" y="45515"/>
                </a:lnTo>
                <a:lnTo>
                  <a:pt x="323347" y="29672"/>
                </a:lnTo>
                <a:lnTo>
                  <a:pt x="376745" y="16995"/>
                </a:lnTo>
                <a:lnTo>
                  <a:pt x="432687" y="7689"/>
                </a:lnTo>
                <a:lnTo>
                  <a:pt x="490837" y="1956"/>
                </a:lnTo>
                <a:lnTo>
                  <a:pt x="550859" y="0"/>
                </a:lnTo>
                <a:lnTo>
                  <a:pt x="610881" y="1956"/>
                </a:lnTo>
                <a:lnTo>
                  <a:pt x="669031" y="7689"/>
                </a:lnTo>
                <a:lnTo>
                  <a:pt x="724973" y="16995"/>
                </a:lnTo>
                <a:lnTo>
                  <a:pt x="778371" y="29672"/>
                </a:lnTo>
                <a:lnTo>
                  <a:pt x="828888" y="45515"/>
                </a:lnTo>
                <a:lnTo>
                  <a:pt x="876189" y="64322"/>
                </a:lnTo>
                <a:lnTo>
                  <a:pt x="919938" y="85888"/>
                </a:lnTo>
                <a:lnTo>
                  <a:pt x="959799" y="110011"/>
                </a:lnTo>
                <a:lnTo>
                  <a:pt x="995435" y="136488"/>
                </a:lnTo>
                <a:lnTo>
                  <a:pt x="1026510" y="165114"/>
                </a:lnTo>
                <a:lnTo>
                  <a:pt x="1052689" y="195686"/>
                </a:lnTo>
                <a:lnTo>
                  <a:pt x="1073635" y="228002"/>
                </a:lnTo>
                <a:lnTo>
                  <a:pt x="1098486" y="297050"/>
                </a:lnTo>
                <a:lnTo>
                  <a:pt x="1101719" y="333375"/>
                </a:lnTo>
                <a:lnTo>
                  <a:pt x="1098486" y="369699"/>
                </a:lnTo>
                <a:lnTo>
                  <a:pt x="1073635" y="438747"/>
                </a:lnTo>
                <a:lnTo>
                  <a:pt x="1052689" y="471063"/>
                </a:lnTo>
                <a:lnTo>
                  <a:pt x="1026510" y="501635"/>
                </a:lnTo>
                <a:lnTo>
                  <a:pt x="995435" y="530261"/>
                </a:lnTo>
                <a:lnTo>
                  <a:pt x="959799" y="556738"/>
                </a:lnTo>
                <a:lnTo>
                  <a:pt x="919938" y="580861"/>
                </a:lnTo>
                <a:lnTo>
                  <a:pt x="876189" y="602427"/>
                </a:lnTo>
                <a:lnTo>
                  <a:pt x="828888" y="621234"/>
                </a:lnTo>
                <a:lnTo>
                  <a:pt x="778371" y="637077"/>
                </a:lnTo>
                <a:lnTo>
                  <a:pt x="724973" y="649754"/>
                </a:lnTo>
                <a:lnTo>
                  <a:pt x="669031" y="659060"/>
                </a:lnTo>
                <a:lnTo>
                  <a:pt x="610881" y="664793"/>
                </a:lnTo>
                <a:lnTo>
                  <a:pt x="550859" y="666750"/>
                </a:lnTo>
                <a:lnTo>
                  <a:pt x="490837" y="664793"/>
                </a:lnTo>
                <a:lnTo>
                  <a:pt x="432687" y="659060"/>
                </a:lnTo>
                <a:lnTo>
                  <a:pt x="376745" y="649754"/>
                </a:lnTo>
                <a:lnTo>
                  <a:pt x="323347" y="637077"/>
                </a:lnTo>
                <a:lnTo>
                  <a:pt x="272830" y="621234"/>
                </a:lnTo>
                <a:lnTo>
                  <a:pt x="225529" y="602427"/>
                </a:lnTo>
                <a:lnTo>
                  <a:pt x="181780" y="580861"/>
                </a:lnTo>
                <a:lnTo>
                  <a:pt x="141919" y="556738"/>
                </a:lnTo>
                <a:lnTo>
                  <a:pt x="106283" y="530261"/>
                </a:lnTo>
                <a:lnTo>
                  <a:pt x="75208" y="501635"/>
                </a:lnTo>
                <a:lnTo>
                  <a:pt x="49029" y="471063"/>
                </a:lnTo>
                <a:lnTo>
                  <a:pt x="28083" y="438747"/>
                </a:lnTo>
                <a:lnTo>
                  <a:pt x="3232" y="369699"/>
                </a:lnTo>
                <a:lnTo>
                  <a:pt x="0" y="333375"/>
                </a:lnTo>
                <a:close/>
              </a:path>
            </a:pathLst>
          </a:custGeom>
          <a:ln w="480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510538" y="4867782"/>
            <a:ext cx="638175" cy="1133475"/>
          </a:xfrm>
          <a:custGeom>
            <a:avLst/>
            <a:gdLst/>
            <a:ahLst/>
            <a:cxnLst/>
            <a:rect l="l" t="t" r="r" b="b"/>
            <a:pathLst>
              <a:path w="638175" h="1133475">
                <a:moveTo>
                  <a:pt x="497759" y="5893"/>
                </a:moveTo>
                <a:lnTo>
                  <a:pt x="550352" y="36910"/>
                </a:lnTo>
                <a:lnTo>
                  <a:pt x="591039" y="90621"/>
                </a:lnTo>
                <a:lnTo>
                  <a:pt x="619404" y="163877"/>
                </a:lnTo>
                <a:lnTo>
                  <a:pt x="628835" y="206851"/>
                </a:lnTo>
                <a:lnTo>
                  <a:pt x="635028" y="253530"/>
                </a:lnTo>
                <a:lnTo>
                  <a:pt x="637932" y="303522"/>
                </a:lnTo>
                <a:lnTo>
                  <a:pt x="637494" y="356433"/>
                </a:lnTo>
                <a:lnTo>
                  <a:pt x="633662" y="411869"/>
                </a:lnTo>
                <a:lnTo>
                  <a:pt x="626384" y="469436"/>
                </a:lnTo>
                <a:lnTo>
                  <a:pt x="615608" y="528741"/>
                </a:lnTo>
                <a:lnTo>
                  <a:pt x="601280" y="589392"/>
                </a:lnTo>
                <a:lnTo>
                  <a:pt x="583350" y="650993"/>
                </a:lnTo>
                <a:lnTo>
                  <a:pt x="562318" y="711605"/>
                </a:lnTo>
                <a:lnTo>
                  <a:pt x="538897" y="769356"/>
                </a:lnTo>
                <a:lnTo>
                  <a:pt x="513359" y="823955"/>
                </a:lnTo>
                <a:lnTo>
                  <a:pt x="485975" y="875112"/>
                </a:lnTo>
                <a:lnTo>
                  <a:pt x="457014" y="922537"/>
                </a:lnTo>
                <a:lnTo>
                  <a:pt x="426747" y="965937"/>
                </a:lnTo>
                <a:lnTo>
                  <a:pt x="395444" y="1005024"/>
                </a:lnTo>
                <a:lnTo>
                  <a:pt x="363375" y="1039505"/>
                </a:lnTo>
                <a:lnTo>
                  <a:pt x="330812" y="1069091"/>
                </a:lnTo>
                <a:lnTo>
                  <a:pt x="298023" y="1093490"/>
                </a:lnTo>
                <a:lnTo>
                  <a:pt x="232854" y="1125566"/>
                </a:lnTo>
                <a:lnTo>
                  <a:pt x="170030" y="1133408"/>
                </a:lnTo>
                <a:lnTo>
                  <a:pt x="140173" y="1127515"/>
                </a:lnTo>
                <a:lnTo>
                  <a:pt x="87580" y="1096498"/>
                </a:lnTo>
                <a:lnTo>
                  <a:pt x="46892" y="1042787"/>
                </a:lnTo>
                <a:lnTo>
                  <a:pt x="18528" y="969531"/>
                </a:lnTo>
                <a:lnTo>
                  <a:pt x="9097" y="926557"/>
                </a:lnTo>
                <a:lnTo>
                  <a:pt x="2903" y="879877"/>
                </a:lnTo>
                <a:lnTo>
                  <a:pt x="0" y="829885"/>
                </a:lnTo>
                <a:lnTo>
                  <a:pt x="437" y="776975"/>
                </a:lnTo>
                <a:lnTo>
                  <a:pt x="4269" y="721539"/>
                </a:lnTo>
                <a:lnTo>
                  <a:pt x="11548" y="663972"/>
                </a:lnTo>
                <a:lnTo>
                  <a:pt x="22324" y="604666"/>
                </a:lnTo>
                <a:lnTo>
                  <a:pt x="36651" y="544016"/>
                </a:lnTo>
                <a:lnTo>
                  <a:pt x="54581" y="482415"/>
                </a:lnTo>
                <a:lnTo>
                  <a:pt x="75614" y="421803"/>
                </a:lnTo>
                <a:lnTo>
                  <a:pt x="99035" y="364052"/>
                </a:lnTo>
                <a:lnTo>
                  <a:pt x="124572" y="309452"/>
                </a:lnTo>
                <a:lnTo>
                  <a:pt x="151957" y="258295"/>
                </a:lnTo>
                <a:lnTo>
                  <a:pt x="180918" y="210871"/>
                </a:lnTo>
                <a:lnTo>
                  <a:pt x="211185" y="167470"/>
                </a:lnTo>
                <a:lnTo>
                  <a:pt x="242488" y="128384"/>
                </a:lnTo>
                <a:lnTo>
                  <a:pt x="274557" y="93903"/>
                </a:lnTo>
                <a:lnTo>
                  <a:pt x="307120" y="64317"/>
                </a:lnTo>
                <a:lnTo>
                  <a:pt x="339909" y="39918"/>
                </a:lnTo>
                <a:lnTo>
                  <a:pt x="405078" y="7842"/>
                </a:lnTo>
                <a:lnTo>
                  <a:pt x="467902" y="0"/>
                </a:lnTo>
                <a:lnTo>
                  <a:pt x="497759" y="5893"/>
                </a:lnTo>
                <a:close/>
              </a:path>
            </a:pathLst>
          </a:custGeom>
          <a:ln w="47999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713142" y="6145784"/>
            <a:ext cx="1685289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solidFill>
                  <a:srgbClr val="00B050"/>
                </a:solidFill>
                <a:latin typeface="Arial"/>
                <a:cs typeface="Arial"/>
              </a:rPr>
              <a:t>Frequency:</a:t>
            </a:r>
            <a:r>
              <a:rPr dirty="0" sz="2100" spc="-9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00B050"/>
                </a:solidFill>
                <a:latin typeface="Arial"/>
                <a:cs typeface="Arial"/>
              </a:rPr>
              <a:t>2</a:t>
            </a:r>
            <a:endParaRPr sz="21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878200" y="4923575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5" h="186054">
                <a:moveTo>
                  <a:pt x="92980" y="0"/>
                </a:moveTo>
                <a:lnTo>
                  <a:pt x="56787" y="7306"/>
                </a:lnTo>
                <a:lnTo>
                  <a:pt x="27233" y="27233"/>
                </a:lnTo>
                <a:lnTo>
                  <a:pt x="7306" y="56788"/>
                </a:lnTo>
                <a:lnTo>
                  <a:pt x="0" y="92980"/>
                </a:lnTo>
                <a:lnTo>
                  <a:pt x="7306" y="129173"/>
                </a:lnTo>
                <a:lnTo>
                  <a:pt x="27233" y="158727"/>
                </a:lnTo>
                <a:lnTo>
                  <a:pt x="56787" y="178654"/>
                </a:lnTo>
                <a:lnTo>
                  <a:pt x="92980" y="185961"/>
                </a:lnTo>
                <a:lnTo>
                  <a:pt x="129172" y="178654"/>
                </a:lnTo>
                <a:lnTo>
                  <a:pt x="158727" y="158727"/>
                </a:lnTo>
                <a:lnTo>
                  <a:pt x="178654" y="129173"/>
                </a:lnTo>
                <a:lnTo>
                  <a:pt x="185961" y="92980"/>
                </a:lnTo>
                <a:lnTo>
                  <a:pt x="178654" y="56788"/>
                </a:lnTo>
                <a:lnTo>
                  <a:pt x="158727" y="27233"/>
                </a:lnTo>
                <a:lnTo>
                  <a:pt x="129172" y="7306"/>
                </a:lnTo>
                <a:lnTo>
                  <a:pt x="9298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589079" y="5267657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5" h="186054">
                <a:moveTo>
                  <a:pt x="92980" y="0"/>
                </a:moveTo>
                <a:lnTo>
                  <a:pt x="56788" y="7306"/>
                </a:lnTo>
                <a:lnTo>
                  <a:pt x="27233" y="27233"/>
                </a:lnTo>
                <a:lnTo>
                  <a:pt x="7306" y="56788"/>
                </a:lnTo>
                <a:lnTo>
                  <a:pt x="0" y="92980"/>
                </a:lnTo>
                <a:lnTo>
                  <a:pt x="7306" y="129173"/>
                </a:lnTo>
                <a:lnTo>
                  <a:pt x="27233" y="158727"/>
                </a:lnTo>
                <a:lnTo>
                  <a:pt x="56788" y="178654"/>
                </a:lnTo>
                <a:lnTo>
                  <a:pt x="92980" y="185961"/>
                </a:lnTo>
                <a:lnTo>
                  <a:pt x="129172" y="178654"/>
                </a:lnTo>
                <a:lnTo>
                  <a:pt x="158727" y="158727"/>
                </a:lnTo>
                <a:lnTo>
                  <a:pt x="178654" y="129173"/>
                </a:lnTo>
                <a:lnTo>
                  <a:pt x="185961" y="92980"/>
                </a:lnTo>
                <a:lnTo>
                  <a:pt x="178654" y="56788"/>
                </a:lnTo>
                <a:lnTo>
                  <a:pt x="158727" y="27233"/>
                </a:lnTo>
                <a:lnTo>
                  <a:pt x="129172" y="7306"/>
                </a:lnTo>
                <a:lnTo>
                  <a:pt x="9298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964669" y="4483100"/>
            <a:ext cx="18961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">
                <a:solidFill>
                  <a:srgbClr val="C00000"/>
                </a:solidFill>
                <a:latin typeface="Cambria Math"/>
                <a:cs typeface="Cambria Math"/>
              </a:rPr>
              <a:t>𝑮</a:t>
            </a:r>
            <a:r>
              <a:rPr dirty="0" baseline="-14957" sz="1950" spc="15">
                <a:solidFill>
                  <a:srgbClr val="C00000"/>
                </a:solidFill>
                <a:latin typeface="Cambria Math"/>
                <a:cs typeface="Cambria Math"/>
              </a:rPr>
              <a:t>𝑸</a:t>
            </a:r>
            <a:r>
              <a:rPr dirty="0" sz="1800" spc="10">
                <a:solidFill>
                  <a:srgbClr val="C00000"/>
                </a:solidFill>
                <a:latin typeface="Cambria Math"/>
                <a:cs typeface="Cambria Math"/>
              </a:rPr>
              <a:t>: 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Star</a:t>
            </a:r>
            <a:r>
              <a:rPr dirty="0" sz="1800" spc="-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Subgraph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702920" y="5674737"/>
            <a:ext cx="923925" cy="454025"/>
          </a:xfrm>
          <a:custGeom>
            <a:avLst/>
            <a:gdLst/>
            <a:ahLst/>
            <a:cxnLst/>
            <a:rect l="l" t="t" r="r" b="b"/>
            <a:pathLst>
              <a:path w="923925" h="454025">
                <a:moveTo>
                  <a:pt x="904671" y="0"/>
                </a:moveTo>
                <a:lnTo>
                  <a:pt x="898424" y="5063"/>
                </a:lnTo>
                <a:lnTo>
                  <a:pt x="896961" y="19040"/>
                </a:lnTo>
                <a:lnTo>
                  <a:pt x="902025" y="25287"/>
                </a:lnTo>
                <a:lnTo>
                  <a:pt x="915977" y="26747"/>
                </a:lnTo>
                <a:lnTo>
                  <a:pt x="922224" y="21683"/>
                </a:lnTo>
                <a:lnTo>
                  <a:pt x="923686" y="7706"/>
                </a:lnTo>
                <a:lnTo>
                  <a:pt x="918622" y="1459"/>
                </a:lnTo>
                <a:lnTo>
                  <a:pt x="904671" y="0"/>
                </a:lnTo>
                <a:close/>
              </a:path>
              <a:path w="923925" h="454025">
                <a:moveTo>
                  <a:pt x="899297" y="49600"/>
                </a:moveTo>
                <a:lnTo>
                  <a:pt x="892411" y="53751"/>
                </a:lnTo>
                <a:lnTo>
                  <a:pt x="889030" y="67392"/>
                </a:lnTo>
                <a:lnTo>
                  <a:pt x="893180" y="74279"/>
                </a:lnTo>
                <a:lnTo>
                  <a:pt x="906797" y="77653"/>
                </a:lnTo>
                <a:lnTo>
                  <a:pt x="913683" y="73502"/>
                </a:lnTo>
                <a:lnTo>
                  <a:pt x="917064" y="59862"/>
                </a:lnTo>
                <a:lnTo>
                  <a:pt x="912914" y="52975"/>
                </a:lnTo>
                <a:lnTo>
                  <a:pt x="899297" y="49600"/>
                </a:lnTo>
                <a:close/>
              </a:path>
              <a:path w="923925" h="454025">
                <a:moveTo>
                  <a:pt x="887430" y="98256"/>
                </a:moveTo>
                <a:lnTo>
                  <a:pt x="880139" y="101647"/>
                </a:lnTo>
                <a:lnTo>
                  <a:pt x="875319" y="114849"/>
                </a:lnTo>
                <a:lnTo>
                  <a:pt x="878710" y="122140"/>
                </a:lnTo>
                <a:lnTo>
                  <a:pt x="891887" y="126951"/>
                </a:lnTo>
                <a:lnTo>
                  <a:pt x="899179" y="123560"/>
                </a:lnTo>
                <a:lnTo>
                  <a:pt x="903998" y="110359"/>
                </a:lnTo>
                <a:lnTo>
                  <a:pt x="900607" y="103068"/>
                </a:lnTo>
                <a:lnTo>
                  <a:pt x="887430" y="98256"/>
                </a:lnTo>
                <a:close/>
              </a:path>
              <a:path w="923925" h="454025">
                <a:moveTo>
                  <a:pt x="869787" y="145113"/>
                </a:moveTo>
                <a:lnTo>
                  <a:pt x="862182" y="147726"/>
                </a:lnTo>
                <a:lnTo>
                  <a:pt x="856013" y="160352"/>
                </a:lnTo>
                <a:lnTo>
                  <a:pt x="858625" y="167957"/>
                </a:lnTo>
                <a:lnTo>
                  <a:pt x="871228" y="174116"/>
                </a:lnTo>
                <a:lnTo>
                  <a:pt x="878833" y="171504"/>
                </a:lnTo>
                <a:lnTo>
                  <a:pt x="885003" y="158877"/>
                </a:lnTo>
                <a:lnTo>
                  <a:pt x="882390" y="151272"/>
                </a:lnTo>
                <a:lnTo>
                  <a:pt x="869787" y="145113"/>
                </a:lnTo>
                <a:close/>
              </a:path>
              <a:path w="923925" h="454025">
                <a:moveTo>
                  <a:pt x="846802" y="189593"/>
                </a:moveTo>
                <a:lnTo>
                  <a:pt x="838972" y="191420"/>
                </a:lnTo>
                <a:lnTo>
                  <a:pt x="831551" y="203355"/>
                </a:lnTo>
                <a:lnTo>
                  <a:pt x="833377" y="211186"/>
                </a:lnTo>
                <a:lnTo>
                  <a:pt x="845291" y="218592"/>
                </a:lnTo>
                <a:lnTo>
                  <a:pt x="853122" y="216766"/>
                </a:lnTo>
                <a:lnTo>
                  <a:pt x="860543" y="204831"/>
                </a:lnTo>
                <a:lnTo>
                  <a:pt x="858715" y="197000"/>
                </a:lnTo>
                <a:lnTo>
                  <a:pt x="846802" y="189593"/>
                </a:lnTo>
                <a:close/>
              </a:path>
              <a:path w="923925" h="454025">
                <a:moveTo>
                  <a:pt x="818962" y="231223"/>
                </a:moveTo>
                <a:lnTo>
                  <a:pt x="810988" y="232272"/>
                </a:lnTo>
                <a:lnTo>
                  <a:pt x="802432" y="243420"/>
                </a:lnTo>
                <a:lnTo>
                  <a:pt x="803482" y="251393"/>
                </a:lnTo>
                <a:lnTo>
                  <a:pt x="814611" y="259934"/>
                </a:lnTo>
                <a:lnTo>
                  <a:pt x="822582" y="258885"/>
                </a:lnTo>
                <a:lnTo>
                  <a:pt x="831138" y="247736"/>
                </a:lnTo>
                <a:lnTo>
                  <a:pt x="830089" y="239764"/>
                </a:lnTo>
                <a:lnTo>
                  <a:pt x="818962" y="231223"/>
                </a:lnTo>
                <a:close/>
              </a:path>
              <a:path w="923925" h="454025">
                <a:moveTo>
                  <a:pt x="786762" y="269618"/>
                </a:moveTo>
                <a:lnTo>
                  <a:pt x="778725" y="269916"/>
                </a:lnTo>
                <a:lnTo>
                  <a:pt x="769162" y="280214"/>
                </a:lnTo>
                <a:lnTo>
                  <a:pt x="769461" y="288249"/>
                </a:lnTo>
                <a:lnTo>
                  <a:pt x="779739" y="297795"/>
                </a:lnTo>
                <a:lnTo>
                  <a:pt x="787775" y="297498"/>
                </a:lnTo>
                <a:lnTo>
                  <a:pt x="797339" y="287200"/>
                </a:lnTo>
                <a:lnTo>
                  <a:pt x="797041" y="279164"/>
                </a:lnTo>
                <a:lnTo>
                  <a:pt x="786762" y="269618"/>
                </a:lnTo>
                <a:close/>
              </a:path>
              <a:path w="923925" h="454025">
                <a:moveTo>
                  <a:pt x="742730" y="304040"/>
                </a:moveTo>
                <a:lnTo>
                  <a:pt x="732254" y="313407"/>
                </a:lnTo>
                <a:lnTo>
                  <a:pt x="731805" y="321436"/>
                </a:lnTo>
                <a:lnTo>
                  <a:pt x="741155" y="331893"/>
                </a:lnTo>
                <a:lnTo>
                  <a:pt x="749184" y="332342"/>
                </a:lnTo>
                <a:lnTo>
                  <a:pt x="759660" y="322974"/>
                </a:lnTo>
                <a:lnTo>
                  <a:pt x="760110" y="314946"/>
                </a:lnTo>
                <a:lnTo>
                  <a:pt x="750759" y="304488"/>
                </a:lnTo>
                <a:lnTo>
                  <a:pt x="742730" y="304040"/>
                </a:lnTo>
                <a:close/>
              </a:path>
              <a:path w="923925" h="454025">
                <a:moveTo>
                  <a:pt x="704729" y="334262"/>
                </a:moveTo>
                <a:lnTo>
                  <a:pt x="692748" y="341609"/>
                </a:lnTo>
                <a:lnTo>
                  <a:pt x="690873" y="349428"/>
                </a:lnTo>
                <a:lnTo>
                  <a:pt x="698206" y="361387"/>
                </a:lnTo>
                <a:lnTo>
                  <a:pt x="706026" y="363262"/>
                </a:lnTo>
                <a:lnTo>
                  <a:pt x="718005" y="355916"/>
                </a:lnTo>
                <a:lnTo>
                  <a:pt x="719881" y="348096"/>
                </a:lnTo>
                <a:lnTo>
                  <a:pt x="712548" y="336137"/>
                </a:lnTo>
                <a:lnTo>
                  <a:pt x="704729" y="334262"/>
                </a:lnTo>
                <a:close/>
              </a:path>
              <a:path w="923925" h="454025">
                <a:moveTo>
                  <a:pt x="662484" y="360471"/>
                </a:moveTo>
                <a:lnTo>
                  <a:pt x="649902" y="366732"/>
                </a:lnTo>
                <a:lnTo>
                  <a:pt x="647344" y="374355"/>
                </a:lnTo>
                <a:lnTo>
                  <a:pt x="653592" y="386915"/>
                </a:lnTo>
                <a:lnTo>
                  <a:pt x="661216" y="389472"/>
                </a:lnTo>
                <a:lnTo>
                  <a:pt x="673798" y="383212"/>
                </a:lnTo>
                <a:lnTo>
                  <a:pt x="676356" y="375588"/>
                </a:lnTo>
                <a:lnTo>
                  <a:pt x="670107" y="363029"/>
                </a:lnTo>
                <a:lnTo>
                  <a:pt x="662484" y="360471"/>
                </a:lnTo>
                <a:close/>
              </a:path>
              <a:path w="923925" h="454025">
                <a:moveTo>
                  <a:pt x="617941" y="382566"/>
                </a:moveTo>
                <a:lnTo>
                  <a:pt x="604864" y="387715"/>
                </a:lnTo>
                <a:lnTo>
                  <a:pt x="601657" y="395089"/>
                </a:lnTo>
                <a:lnTo>
                  <a:pt x="606797" y="408142"/>
                </a:lnTo>
                <a:lnTo>
                  <a:pt x="614170" y="411349"/>
                </a:lnTo>
                <a:lnTo>
                  <a:pt x="627247" y="406200"/>
                </a:lnTo>
                <a:lnTo>
                  <a:pt x="630454" y="398826"/>
                </a:lnTo>
                <a:lnTo>
                  <a:pt x="625314" y="385773"/>
                </a:lnTo>
                <a:lnTo>
                  <a:pt x="617941" y="382566"/>
                </a:lnTo>
                <a:close/>
              </a:path>
              <a:path w="923925" h="454025">
                <a:moveTo>
                  <a:pt x="571586" y="400417"/>
                </a:moveTo>
                <a:lnTo>
                  <a:pt x="558102" y="404375"/>
                </a:lnTo>
                <a:lnTo>
                  <a:pt x="554248" y="411432"/>
                </a:lnTo>
                <a:lnTo>
                  <a:pt x="558198" y="424893"/>
                </a:lnTo>
                <a:lnTo>
                  <a:pt x="565255" y="428747"/>
                </a:lnTo>
                <a:lnTo>
                  <a:pt x="578740" y="424789"/>
                </a:lnTo>
                <a:lnTo>
                  <a:pt x="582594" y="417732"/>
                </a:lnTo>
                <a:lnTo>
                  <a:pt x="578643" y="404272"/>
                </a:lnTo>
                <a:lnTo>
                  <a:pt x="571586" y="400417"/>
                </a:lnTo>
                <a:close/>
              </a:path>
              <a:path w="923925" h="454025">
                <a:moveTo>
                  <a:pt x="523742" y="413891"/>
                </a:moveTo>
                <a:lnTo>
                  <a:pt x="509967" y="416670"/>
                </a:lnTo>
                <a:lnTo>
                  <a:pt x="505518" y="423368"/>
                </a:lnTo>
                <a:lnTo>
                  <a:pt x="508293" y="437119"/>
                </a:lnTo>
                <a:lnTo>
                  <a:pt x="514991" y="441568"/>
                </a:lnTo>
                <a:lnTo>
                  <a:pt x="528767" y="438789"/>
                </a:lnTo>
                <a:lnTo>
                  <a:pt x="533215" y="432091"/>
                </a:lnTo>
                <a:lnTo>
                  <a:pt x="530442" y="418340"/>
                </a:lnTo>
                <a:lnTo>
                  <a:pt x="523742" y="413891"/>
                </a:lnTo>
                <a:close/>
              </a:path>
              <a:path w="923925" h="454025">
                <a:moveTo>
                  <a:pt x="474933" y="422927"/>
                </a:moveTo>
                <a:lnTo>
                  <a:pt x="460961" y="424441"/>
                </a:lnTo>
                <a:lnTo>
                  <a:pt x="455921" y="430707"/>
                </a:lnTo>
                <a:lnTo>
                  <a:pt x="457433" y="444653"/>
                </a:lnTo>
                <a:lnTo>
                  <a:pt x="463698" y="449693"/>
                </a:lnTo>
                <a:lnTo>
                  <a:pt x="477669" y="448179"/>
                </a:lnTo>
                <a:lnTo>
                  <a:pt x="482710" y="441913"/>
                </a:lnTo>
                <a:lnTo>
                  <a:pt x="481199" y="427967"/>
                </a:lnTo>
                <a:lnTo>
                  <a:pt x="474933" y="422927"/>
                </a:lnTo>
                <a:close/>
              </a:path>
              <a:path w="923925" h="454025">
                <a:moveTo>
                  <a:pt x="425201" y="427689"/>
                </a:moveTo>
                <a:lnTo>
                  <a:pt x="411159" y="428268"/>
                </a:lnTo>
                <a:lnTo>
                  <a:pt x="405712" y="434183"/>
                </a:lnTo>
                <a:lnTo>
                  <a:pt x="406290" y="448200"/>
                </a:lnTo>
                <a:lnTo>
                  <a:pt x="412206" y="453646"/>
                </a:lnTo>
                <a:lnTo>
                  <a:pt x="426247" y="453067"/>
                </a:lnTo>
                <a:lnTo>
                  <a:pt x="431694" y="447152"/>
                </a:lnTo>
                <a:lnTo>
                  <a:pt x="431116" y="433136"/>
                </a:lnTo>
                <a:lnTo>
                  <a:pt x="425201" y="427689"/>
                </a:lnTo>
                <a:close/>
              </a:path>
              <a:path w="923925" h="454025">
                <a:moveTo>
                  <a:pt x="361579" y="426876"/>
                </a:moveTo>
                <a:lnTo>
                  <a:pt x="355594" y="432247"/>
                </a:lnTo>
                <a:lnTo>
                  <a:pt x="354838" y="446255"/>
                </a:lnTo>
                <a:lnTo>
                  <a:pt x="360210" y="452239"/>
                </a:lnTo>
                <a:lnTo>
                  <a:pt x="374242" y="452996"/>
                </a:lnTo>
                <a:lnTo>
                  <a:pt x="380226" y="447625"/>
                </a:lnTo>
                <a:lnTo>
                  <a:pt x="380983" y="433618"/>
                </a:lnTo>
                <a:lnTo>
                  <a:pt x="375611" y="427633"/>
                </a:lnTo>
                <a:lnTo>
                  <a:pt x="361579" y="426876"/>
                </a:lnTo>
                <a:close/>
              </a:path>
              <a:path w="923925" h="454025">
                <a:moveTo>
                  <a:pt x="312508" y="420905"/>
                </a:moveTo>
                <a:lnTo>
                  <a:pt x="305982" y="425602"/>
                </a:lnTo>
                <a:lnTo>
                  <a:pt x="303725" y="439448"/>
                </a:lnTo>
                <a:lnTo>
                  <a:pt x="308423" y="445974"/>
                </a:lnTo>
                <a:lnTo>
                  <a:pt x="322294" y="448235"/>
                </a:lnTo>
                <a:lnTo>
                  <a:pt x="328820" y="443537"/>
                </a:lnTo>
                <a:lnTo>
                  <a:pt x="331076" y="429692"/>
                </a:lnTo>
                <a:lnTo>
                  <a:pt x="326379" y="423166"/>
                </a:lnTo>
                <a:lnTo>
                  <a:pt x="312508" y="420905"/>
                </a:lnTo>
                <a:close/>
              </a:path>
              <a:path w="923925" h="454025">
                <a:moveTo>
                  <a:pt x="264269" y="410380"/>
                </a:moveTo>
                <a:lnTo>
                  <a:pt x="257260" y="414321"/>
                </a:lnTo>
                <a:lnTo>
                  <a:pt x="253474" y="427828"/>
                </a:lnTo>
                <a:lnTo>
                  <a:pt x="257416" y="434838"/>
                </a:lnTo>
                <a:lnTo>
                  <a:pt x="270948" y="438629"/>
                </a:lnTo>
                <a:lnTo>
                  <a:pt x="277957" y="434688"/>
                </a:lnTo>
                <a:lnTo>
                  <a:pt x="281741" y="421180"/>
                </a:lnTo>
                <a:lnTo>
                  <a:pt x="277801" y="414171"/>
                </a:lnTo>
                <a:lnTo>
                  <a:pt x="264269" y="410380"/>
                </a:lnTo>
                <a:close/>
              </a:path>
              <a:path w="923925" h="454025">
                <a:moveTo>
                  <a:pt x="216504" y="395234"/>
                </a:moveTo>
                <a:lnTo>
                  <a:pt x="209289" y="398783"/>
                </a:lnTo>
                <a:lnTo>
                  <a:pt x="204767" y="412063"/>
                </a:lnTo>
                <a:lnTo>
                  <a:pt x="208316" y="419278"/>
                </a:lnTo>
                <a:lnTo>
                  <a:pt x="221620" y="423808"/>
                </a:lnTo>
                <a:lnTo>
                  <a:pt x="228834" y="420259"/>
                </a:lnTo>
                <a:lnTo>
                  <a:pt x="233357" y="406980"/>
                </a:lnTo>
                <a:lnTo>
                  <a:pt x="229807" y="399764"/>
                </a:lnTo>
                <a:lnTo>
                  <a:pt x="216504" y="395234"/>
                </a:lnTo>
                <a:close/>
              </a:path>
              <a:path w="923925" h="454025">
                <a:moveTo>
                  <a:pt x="171376" y="375172"/>
                </a:moveTo>
                <a:lnTo>
                  <a:pt x="163807" y="377887"/>
                </a:lnTo>
                <a:lnTo>
                  <a:pt x="157819" y="390573"/>
                </a:lnTo>
                <a:lnTo>
                  <a:pt x="160534" y="398142"/>
                </a:lnTo>
                <a:lnTo>
                  <a:pt x="173243" y="404140"/>
                </a:lnTo>
                <a:lnTo>
                  <a:pt x="180812" y="401425"/>
                </a:lnTo>
                <a:lnTo>
                  <a:pt x="186799" y="388739"/>
                </a:lnTo>
                <a:lnTo>
                  <a:pt x="184085" y="381170"/>
                </a:lnTo>
                <a:lnTo>
                  <a:pt x="171376" y="375172"/>
                </a:lnTo>
                <a:close/>
              </a:path>
              <a:path w="923925" h="454025">
                <a:moveTo>
                  <a:pt x="128576" y="350594"/>
                </a:moveTo>
                <a:lnTo>
                  <a:pt x="120746" y="352431"/>
                </a:lnTo>
                <a:lnTo>
                  <a:pt x="113356" y="364355"/>
                </a:lnTo>
                <a:lnTo>
                  <a:pt x="115194" y="372183"/>
                </a:lnTo>
                <a:lnTo>
                  <a:pt x="127139" y="379587"/>
                </a:lnTo>
                <a:lnTo>
                  <a:pt x="134967" y="377749"/>
                </a:lnTo>
                <a:lnTo>
                  <a:pt x="142358" y="365826"/>
                </a:lnTo>
                <a:lnTo>
                  <a:pt x="140520" y="357997"/>
                </a:lnTo>
                <a:lnTo>
                  <a:pt x="128576" y="350594"/>
                </a:lnTo>
                <a:close/>
              </a:path>
              <a:path w="923925" h="454025">
                <a:moveTo>
                  <a:pt x="88747" y="321600"/>
                </a:moveTo>
                <a:lnTo>
                  <a:pt x="80755" y="322486"/>
                </a:lnTo>
                <a:lnTo>
                  <a:pt x="71988" y="333437"/>
                </a:lnTo>
                <a:lnTo>
                  <a:pt x="72875" y="341429"/>
                </a:lnTo>
                <a:lnTo>
                  <a:pt x="83846" y="350212"/>
                </a:lnTo>
                <a:lnTo>
                  <a:pt x="91838" y="349326"/>
                </a:lnTo>
                <a:lnTo>
                  <a:pt x="100604" y="338374"/>
                </a:lnTo>
                <a:lnTo>
                  <a:pt x="99719" y="330382"/>
                </a:lnTo>
                <a:lnTo>
                  <a:pt x="88747" y="321600"/>
                </a:lnTo>
                <a:close/>
              </a:path>
              <a:path w="923925" h="454025">
                <a:moveTo>
                  <a:pt x="44375" y="288273"/>
                </a:moveTo>
                <a:lnTo>
                  <a:pt x="34348" y="298085"/>
                </a:lnTo>
                <a:lnTo>
                  <a:pt x="34262" y="306126"/>
                </a:lnTo>
                <a:lnTo>
                  <a:pt x="44091" y="316170"/>
                </a:lnTo>
                <a:lnTo>
                  <a:pt x="52132" y="316256"/>
                </a:lnTo>
                <a:lnTo>
                  <a:pt x="62157" y="306444"/>
                </a:lnTo>
                <a:lnTo>
                  <a:pt x="62245" y="298404"/>
                </a:lnTo>
                <a:lnTo>
                  <a:pt x="52415" y="288360"/>
                </a:lnTo>
                <a:lnTo>
                  <a:pt x="44375" y="288273"/>
                </a:lnTo>
                <a:close/>
              </a:path>
              <a:path w="923925" h="454025">
                <a:moveTo>
                  <a:pt x="12294" y="250064"/>
                </a:moveTo>
                <a:lnTo>
                  <a:pt x="1104" y="258525"/>
                </a:lnTo>
                <a:lnTo>
                  <a:pt x="0" y="266490"/>
                </a:lnTo>
                <a:lnTo>
                  <a:pt x="8477" y="277699"/>
                </a:lnTo>
                <a:lnTo>
                  <a:pt x="16441" y="278805"/>
                </a:lnTo>
                <a:lnTo>
                  <a:pt x="27630" y="270343"/>
                </a:lnTo>
                <a:lnTo>
                  <a:pt x="28736" y="262378"/>
                </a:lnTo>
                <a:lnTo>
                  <a:pt x="20259" y="251169"/>
                </a:lnTo>
                <a:lnTo>
                  <a:pt x="12294" y="250064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076629" y="5125709"/>
            <a:ext cx="3175" cy="300355"/>
          </a:xfrm>
          <a:custGeom>
            <a:avLst/>
            <a:gdLst/>
            <a:ahLst/>
            <a:cxnLst/>
            <a:rect l="l" t="t" r="r" b="b"/>
            <a:pathLst>
              <a:path w="3175" h="300354">
                <a:moveTo>
                  <a:pt x="1368" y="-15875"/>
                </a:moveTo>
                <a:lnTo>
                  <a:pt x="1368" y="315857"/>
                </a:lnTo>
              </a:path>
            </a:pathLst>
          </a:custGeom>
          <a:ln w="34487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083413" y="5091100"/>
            <a:ext cx="247650" cy="437515"/>
          </a:xfrm>
          <a:custGeom>
            <a:avLst/>
            <a:gdLst/>
            <a:ahLst/>
            <a:cxnLst/>
            <a:rect l="l" t="t" r="r" b="b"/>
            <a:pathLst>
              <a:path w="247650" h="437514">
                <a:moveTo>
                  <a:pt x="0" y="437448"/>
                </a:moveTo>
                <a:lnTo>
                  <a:pt x="247198" y="0"/>
                </a:lnTo>
              </a:path>
            </a:pathLst>
          </a:custGeom>
          <a:ln w="31750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085275" y="5269703"/>
            <a:ext cx="416559" cy="251460"/>
          </a:xfrm>
          <a:custGeom>
            <a:avLst/>
            <a:gdLst/>
            <a:ahLst/>
            <a:cxnLst/>
            <a:rect l="l" t="t" r="r" b="b"/>
            <a:pathLst>
              <a:path w="416560" h="251460">
                <a:moveTo>
                  <a:pt x="0" y="251403"/>
                </a:moveTo>
                <a:lnTo>
                  <a:pt x="416175" y="0"/>
                </a:lnTo>
              </a:path>
            </a:pathLst>
          </a:custGeom>
          <a:ln w="31750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088996" y="5515526"/>
            <a:ext cx="499109" cy="3810"/>
          </a:xfrm>
          <a:custGeom>
            <a:avLst/>
            <a:gdLst/>
            <a:ahLst/>
            <a:cxnLst/>
            <a:rect l="l" t="t" r="r" b="b"/>
            <a:pathLst>
              <a:path w="499110" h="3810">
                <a:moveTo>
                  <a:pt x="0" y="3721"/>
                </a:moveTo>
                <a:lnTo>
                  <a:pt x="498602" y="0"/>
                </a:lnTo>
              </a:path>
            </a:pathLst>
          </a:custGeom>
          <a:ln w="31750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667689" y="5519247"/>
            <a:ext cx="413384" cy="635"/>
          </a:xfrm>
          <a:custGeom>
            <a:avLst/>
            <a:gdLst/>
            <a:ahLst/>
            <a:cxnLst/>
            <a:rect l="l" t="t" r="r" b="b"/>
            <a:pathLst>
              <a:path w="413385" h="635">
                <a:moveTo>
                  <a:pt x="0" y="90"/>
                </a:moveTo>
                <a:lnTo>
                  <a:pt x="413357" y="0"/>
                </a:lnTo>
              </a:path>
            </a:pathLst>
          </a:custGeom>
          <a:ln w="31750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480397" y="5425691"/>
            <a:ext cx="187325" cy="187325"/>
          </a:xfrm>
          <a:custGeom>
            <a:avLst/>
            <a:gdLst/>
            <a:ahLst/>
            <a:cxnLst/>
            <a:rect l="l" t="t" r="r" b="b"/>
            <a:pathLst>
              <a:path w="187325" h="187325">
                <a:moveTo>
                  <a:pt x="93645" y="0"/>
                </a:moveTo>
                <a:lnTo>
                  <a:pt x="57194" y="7359"/>
                </a:lnTo>
                <a:lnTo>
                  <a:pt x="27428" y="27428"/>
                </a:lnTo>
                <a:lnTo>
                  <a:pt x="7359" y="57194"/>
                </a:lnTo>
                <a:lnTo>
                  <a:pt x="0" y="93645"/>
                </a:lnTo>
                <a:lnTo>
                  <a:pt x="7359" y="130097"/>
                </a:lnTo>
                <a:lnTo>
                  <a:pt x="27428" y="159864"/>
                </a:lnTo>
                <a:lnTo>
                  <a:pt x="57194" y="179933"/>
                </a:lnTo>
                <a:lnTo>
                  <a:pt x="93645" y="187292"/>
                </a:lnTo>
                <a:lnTo>
                  <a:pt x="130097" y="179933"/>
                </a:lnTo>
                <a:lnTo>
                  <a:pt x="159863" y="159864"/>
                </a:lnTo>
                <a:lnTo>
                  <a:pt x="179932" y="130097"/>
                </a:lnTo>
                <a:lnTo>
                  <a:pt x="187291" y="93645"/>
                </a:lnTo>
                <a:lnTo>
                  <a:pt x="179932" y="57194"/>
                </a:lnTo>
                <a:lnTo>
                  <a:pt x="159863" y="27428"/>
                </a:lnTo>
                <a:lnTo>
                  <a:pt x="130097" y="7359"/>
                </a:lnTo>
                <a:lnTo>
                  <a:pt x="936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485569" y="5425691"/>
            <a:ext cx="187325" cy="187325"/>
          </a:xfrm>
          <a:custGeom>
            <a:avLst/>
            <a:gdLst/>
            <a:ahLst/>
            <a:cxnLst/>
            <a:rect l="l" t="t" r="r" b="b"/>
            <a:pathLst>
              <a:path w="187325" h="187325">
                <a:moveTo>
                  <a:pt x="93645" y="0"/>
                </a:moveTo>
                <a:lnTo>
                  <a:pt x="57194" y="7359"/>
                </a:lnTo>
                <a:lnTo>
                  <a:pt x="27428" y="27428"/>
                </a:lnTo>
                <a:lnTo>
                  <a:pt x="7359" y="57194"/>
                </a:lnTo>
                <a:lnTo>
                  <a:pt x="0" y="93645"/>
                </a:lnTo>
                <a:lnTo>
                  <a:pt x="7359" y="130097"/>
                </a:lnTo>
                <a:lnTo>
                  <a:pt x="27428" y="159864"/>
                </a:lnTo>
                <a:lnTo>
                  <a:pt x="57194" y="179933"/>
                </a:lnTo>
                <a:lnTo>
                  <a:pt x="93645" y="187292"/>
                </a:lnTo>
                <a:lnTo>
                  <a:pt x="130097" y="179933"/>
                </a:lnTo>
                <a:lnTo>
                  <a:pt x="159864" y="159864"/>
                </a:lnTo>
                <a:lnTo>
                  <a:pt x="179933" y="130097"/>
                </a:lnTo>
                <a:lnTo>
                  <a:pt x="187293" y="93645"/>
                </a:lnTo>
                <a:lnTo>
                  <a:pt x="179933" y="57194"/>
                </a:lnTo>
                <a:lnTo>
                  <a:pt x="159864" y="27428"/>
                </a:lnTo>
                <a:lnTo>
                  <a:pt x="130097" y="7359"/>
                </a:lnTo>
                <a:lnTo>
                  <a:pt x="936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423446" y="5176149"/>
            <a:ext cx="187325" cy="187325"/>
          </a:xfrm>
          <a:custGeom>
            <a:avLst/>
            <a:gdLst/>
            <a:ahLst/>
            <a:cxnLst/>
            <a:rect l="l" t="t" r="r" b="b"/>
            <a:pathLst>
              <a:path w="187325" h="187325">
                <a:moveTo>
                  <a:pt x="93645" y="0"/>
                </a:moveTo>
                <a:lnTo>
                  <a:pt x="57194" y="7359"/>
                </a:lnTo>
                <a:lnTo>
                  <a:pt x="27428" y="27428"/>
                </a:lnTo>
                <a:lnTo>
                  <a:pt x="7359" y="57194"/>
                </a:lnTo>
                <a:lnTo>
                  <a:pt x="0" y="93645"/>
                </a:lnTo>
                <a:lnTo>
                  <a:pt x="7359" y="130097"/>
                </a:lnTo>
                <a:lnTo>
                  <a:pt x="27428" y="159864"/>
                </a:lnTo>
                <a:lnTo>
                  <a:pt x="57194" y="179933"/>
                </a:lnTo>
                <a:lnTo>
                  <a:pt x="93645" y="187293"/>
                </a:lnTo>
                <a:lnTo>
                  <a:pt x="130097" y="179933"/>
                </a:lnTo>
                <a:lnTo>
                  <a:pt x="159864" y="159864"/>
                </a:lnTo>
                <a:lnTo>
                  <a:pt x="179933" y="130097"/>
                </a:lnTo>
                <a:lnTo>
                  <a:pt x="187293" y="93645"/>
                </a:lnTo>
                <a:lnTo>
                  <a:pt x="179933" y="57194"/>
                </a:lnTo>
                <a:lnTo>
                  <a:pt x="159864" y="27428"/>
                </a:lnTo>
                <a:lnTo>
                  <a:pt x="130097" y="7359"/>
                </a:lnTo>
                <a:lnTo>
                  <a:pt x="936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236154" y="5000997"/>
            <a:ext cx="187325" cy="187325"/>
          </a:xfrm>
          <a:custGeom>
            <a:avLst/>
            <a:gdLst/>
            <a:ahLst/>
            <a:cxnLst/>
            <a:rect l="l" t="t" r="r" b="b"/>
            <a:pathLst>
              <a:path w="187325" h="187325">
                <a:moveTo>
                  <a:pt x="93645" y="0"/>
                </a:moveTo>
                <a:lnTo>
                  <a:pt x="57194" y="7359"/>
                </a:lnTo>
                <a:lnTo>
                  <a:pt x="27428" y="27428"/>
                </a:lnTo>
                <a:lnTo>
                  <a:pt x="7359" y="57195"/>
                </a:lnTo>
                <a:lnTo>
                  <a:pt x="0" y="93647"/>
                </a:lnTo>
                <a:lnTo>
                  <a:pt x="7359" y="130098"/>
                </a:lnTo>
                <a:lnTo>
                  <a:pt x="27428" y="159865"/>
                </a:lnTo>
                <a:lnTo>
                  <a:pt x="57194" y="179934"/>
                </a:lnTo>
                <a:lnTo>
                  <a:pt x="93645" y="187293"/>
                </a:lnTo>
                <a:lnTo>
                  <a:pt x="130097" y="179934"/>
                </a:lnTo>
                <a:lnTo>
                  <a:pt x="159864" y="159865"/>
                </a:lnTo>
                <a:lnTo>
                  <a:pt x="179933" y="130098"/>
                </a:lnTo>
                <a:lnTo>
                  <a:pt x="187293" y="93647"/>
                </a:lnTo>
                <a:lnTo>
                  <a:pt x="179933" y="57195"/>
                </a:lnTo>
                <a:lnTo>
                  <a:pt x="159864" y="27428"/>
                </a:lnTo>
                <a:lnTo>
                  <a:pt x="130097" y="7359"/>
                </a:lnTo>
                <a:lnTo>
                  <a:pt x="936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985720" y="4938415"/>
            <a:ext cx="187325" cy="187325"/>
          </a:xfrm>
          <a:custGeom>
            <a:avLst/>
            <a:gdLst/>
            <a:ahLst/>
            <a:cxnLst/>
            <a:rect l="l" t="t" r="r" b="b"/>
            <a:pathLst>
              <a:path w="187325" h="187325">
                <a:moveTo>
                  <a:pt x="93645" y="0"/>
                </a:moveTo>
                <a:lnTo>
                  <a:pt x="57194" y="7359"/>
                </a:lnTo>
                <a:lnTo>
                  <a:pt x="27428" y="27428"/>
                </a:lnTo>
                <a:lnTo>
                  <a:pt x="7359" y="57195"/>
                </a:lnTo>
                <a:lnTo>
                  <a:pt x="0" y="93647"/>
                </a:lnTo>
                <a:lnTo>
                  <a:pt x="7359" y="130098"/>
                </a:lnTo>
                <a:lnTo>
                  <a:pt x="27428" y="159865"/>
                </a:lnTo>
                <a:lnTo>
                  <a:pt x="57194" y="179934"/>
                </a:lnTo>
                <a:lnTo>
                  <a:pt x="93645" y="187293"/>
                </a:lnTo>
                <a:lnTo>
                  <a:pt x="130097" y="179934"/>
                </a:lnTo>
                <a:lnTo>
                  <a:pt x="159863" y="159865"/>
                </a:lnTo>
                <a:lnTo>
                  <a:pt x="179932" y="130098"/>
                </a:lnTo>
                <a:lnTo>
                  <a:pt x="187291" y="93647"/>
                </a:lnTo>
                <a:lnTo>
                  <a:pt x="179932" y="57195"/>
                </a:lnTo>
                <a:lnTo>
                  <a:pt x="159863" y="27428"/>
                </a:lnTo>
                <a:lnTo>
                  <a:pt x="130097" y="7359"/>
                </a:lnTo>
                <a:lnTo>
                  <a:pt x="936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648067" y="5268084"/>
            <a:ext cx="435609" cy="257175"/>
          </a:xfrm>
          <a:custGeom>
            <a:avLst/>
            <a:gdLst/>
            <a:ahLst/>
            <a:cxnLst/>
            <a:rect l="l" t="t" r="r" b="b"/>
            <a:pathLst>
              <a:path w="435610" h="257175">
                <a:moveTo>
                  <a:pt x="0" y="0"/>
                </a:moveTo>
                <a:lnTo>
                  <a:pt x="435346" y="256743"/>
                </a:lnTo>
              </a:path>
            </a:pathLst>
          </a:custGeom>
          <a:ln w="31750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830392" y="5085760"/>
            <a:ext cx="251460" cy="437515"/>
          </a:xfrm>
          <a:custGeom>
            <a:avLst/>
            <a:gdLst/>
            <a:ahLst/>
            <a:cxnLst/>
            <a:rect l="l" t="t" r="r" b="b"/>
            <a:pathLst>
              <a:path w="251460" h="437514">
                <a:moveTo>
                  <a:pt x="0" y="0"/>
                </a:moveTo>
                <a:lnTo>
                  <a:pt x="251161" y="437207"/>
                </a:lnTo>
              </a:path>
            </a:pathLst>
          </a:custGeom>
          <a:ln w="31750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735286" y="4997363"/>
            <a:ext cx="187325" cy="187325"/>
          </a:xfrm>
          <a:custGeom>
            <a:avLst/>
            <a:gdLst/>
            <a:ahLst/>
            <a:cxnLst/>
            <a:rect l="l" t="t" r="r" b="b"/>
            <a:pathLst>
              <a:path w="187325" h="187325">
                <a:moveTo>
                  <a:pt x="93647" y="0"/>
                </a:moveTo>
                <a:lnTo>
                  <a:pt x="57195" y="7359"/>
                </a:lnTo>
                <a:lnTo>
                  <a:pt x="27428" y="27428"/>
                </a:lnTo>
                <a:lnTo>
                  <a:pt x="7359" y="57195"/>
                </a:lnTo>
                <a:lnTo>
                  <a:pt x="0" y="93647"/>
                </a:lnTo>
                <a:lnTo>
                  <a:pt x="7359" y="130098"/>
                </a:lnTo>
                <a:lnTo>
                  <a:pt x="27428" y="159865"/>
                </a:lnTo>
                <a:lnTo>
                  <a:pt x="57195" y="179934"/>
                </a:lnTo>
                <a:lnTo>
                  <a:pt x="93647" y="187293"/>
                </a:lnTo>
                <a:lnTo>
                  <a:pt x="130098" y="179934"/>
                </a:lnTo>
                <a:lnTo>
                  <a:pt x="159865" y="159865"/>
                </a:lnTo>
                <a:lnTo>
                  <a:pt x="179934" y="130098"/>
                </a:lnTo>
                <a:lnTo>
                  <a:pt x="187293" y="93647"/>
                </a:lnTo>
                <a:lnTo>
                  <a:pt x="179934" y="57195"/>
                </a:lnTo>
                <a:lnTo>
                  <a:pt x="159865" y="27428"/>
                </a:lnTo>
                <a:lnTo>
                  <a:pt x="130098" y="7359"/>
                </a:lnTo>
                <a:lnTo>
                  <a:pt x="9364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547994" y="5176149"/>
            <a:ext cx="187325" cy="187325"/>
          </a:xfrm>
          <a:custGeom>
            <a:avLst/>
            <a:gdLst/>
            <a:ahLst/>
            <a:cxnLst/>
            <a:rect l="l" t="t" r="r" b="b"/>
            <a:pathLst>
              <a:path w="187325" h="187325">
                <a:moveTo>
                  <a:pt x="93645" y="0"/>
                </a:moveTo>
                <a:lnTo>
                  <a:pt x="57194" y="7359"/>
                </a:lnTo>
                <a:lnTo>
                  <a:pt x="27428" y="27428"/>
                </a:lnTo>
                <a:lnTo>
                  <a:pt x="7359" y="57194"/>
                </a:lnTo>
                <a:lnTo>
                  <a:pt x="0" y="93645"/>
                </a:lnTo>
                <a:lnTo>
                  <a:pt x="7359" y="130097"/>
                </a:lnTo>
                <a:lnTo>
                  <a:pt x="27428" y="159864"/>
                </a:lnTo>
                <a:lnTo>
                  <a:pt x="57194" y="179933"/>
                </a:lnTo>
                <a:lnTo>
                  <a:pt x="93645" y="187293"/>
                </a:lnTo>
                <a:lnTo>
                  <a:pt x="130097" y="179933"/>
                </a:lnTo>
                <a:lnTo>
                  <a:pt x="159863" y="159864"/>
                </a:lnTo>
                <a:lnTo>
                  <a:pt x="179932" y="130097"/>
                </a:lnTo>
                <a:lnTo>
                  <a:pt x="187291" y="93645"/>
                </a:lnTo>
                <a:lnTo>
                  <a:pt x="179932" y="57194"/>
                </a:lnTo>
                <a:lnTo>
                  <a:pt x="159863" y="27428"/>
                </a:lnTo>
                <a:lnTo>
                  <a:pt x="130097" y="7359"/>
                </a:lnTo>
                <a:lnTo>
                  <a:pt x="936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651790" y="5524827"/>
            <a:ext cx="429895" cy="247650"/>
          </a:xfrm>
          <a:custGeom>
            <a:avLst/>
            <a:gdLst/>
            <a:ahLst/>
            <a:cxnLst/>
            <a:rect l="l" t="t" r="r" b="b"/>
            <a:pathLst>
              <a:path w="429895" h="247650">
                <a:moveTo>
                  <a:pt x="0" y="247441"/>
                </a:moveTo>
                <a:lnTo>
                  <a:pt x="429765" y="0"/>
                </a:lnTo>
              </a:path>
            </a:pathLst>
          </a:custGeom>
          <a:ln w="31750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550490" y="5675231"/>
            <a:ext cx="187325" cy="187325"/>
          </a:xfrm>
          <a:custGeom>
            <a:avLst/>
            <a:gdLst/>
            <a:ahLst/>
            <a:cxnLst/>
            <a:rect l="l" t="t" r="r" b="b"/>
            <a:pathLst>
              <a:path w="187325" h="187325">
                <a:moveTo>
                  <a:pt x="93645" y="0"/>
                </a:moveTo>
                <a:lnTo>
                  <a:pt x="57194" y="7359"/>
                </a:lnTo>
                <a:lnTo>
                  <a:pt x="27428" y="27428"/>
                </a:lnTo>
                <a:lnTo>
                  <a:pt x="7359" y="57195"/>
                </a:lnTo>
                <a:lnTo>
                  <a:pt x="0" y="93646"/>
                </a:lnTo>
                <a:lnTo>
                  <a:pt x="7359" y="130097"/>
                </a:lnTo>
                <a:lnTo>
                  <a:pt x="27428" y="159864"/>
                </a:lnTo>
                <a:lnTo>
                  <a:pt x="57194" y="179933"/>
                </a:lnTo>
                <a:lnTo>
                  <a:pt x="93645" y="187292"/>
                </a:lnTo>
                <a:lnTo>
                  <a:pt x="130097" y="179933"/>
                </a:lnTo>
                <a:lnTo>
                  <a:pt x="159864" y="159864"/>
                </a:lnTo>
                <a:lnTo>
                  <a:pt x="179933" y="130097"/>
                </a:lnTo>
                <a:lnTo>
                  <a:pt x="187293" y="93646"/>
                </a:lnTo>
                <a:lnTo>
                  <a:pt x="179933" y="57195"/>
                </a:lnTo>
                <a:lnTo>
                  <a:pt x="159864" y="27428"/>
                </a:lnTo>
                <a:lnTo>
                  <a:pt x="130097" y="7359"/>
                </a:lnTo>
                <a:lnTo>
                  <a:pt x="936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982983" y="5425691"/>
            <a:ext cx="187325" cy="187325"/>
          </a:xfrm>
          <a:custGeom>
            <a:avLst/>
            <a:gdLst/>
            <a:ahLst/>
            <a:cxnLst/>
            <a:rect l="l" t="t" r="r" b="b"/>
            <a:pathLst>
              <a:path w="187325" h="187325">
                <a:moveTo>
                  <a:pt x="93645" y="0"/>
                </a:moveTo>
                <a:lnTo>
                  <a:pt x="57194" y="7359"/>
                </a:lnTo>
                <a:lnTo>
                  <a:pt x="27428" y="27428"/>
                </a:lnTo>
                <a:lnTo>
                  <a:pt x="7359" y="57194"/>
                </a:lnTo>
                <a:lnTo>
                  <a:pt x="0" y="93645"/>
                </a:lnTo>
                <a:lnTo>
                  <a:pt x="7359" y="130097"/>
                </a:lnTo>
                <a:lnTo>
                  <a:pt x="27428" y="159864"/>
                </a:lnTo>
                <a:lnTo>
                  <a:pt x="57194" y="179933"/>
                </a:lnTo>
                <a:lnTo>
                  <a:pt x="93645" y="187292"/>
                </a:lnTo>
                <a:lnTo>
                  <a:pt x="130097" y="179933"/>
                </a:lnTo>
                <a:lnTo>
                  <a:pt x="159863" y="159864"/>
                </a:lnTo>
                <a:lnTo>
                  <a:pt x="179932" y="130097"/>
                </a:lnTo>
                <a:lnTo>
                  <a:pt x="187291" y="93645"/>
                </a:lnTo>
                <a:lnTo>
                  <a:pt x="179932" y="57194"/>
                </a:lnTo>
                <a:lnTo>
                  <a:pt x="159863" y="27428"/>
                </a:lnTo>
                <a:lnTo>
                  <a:pt x="130097" y="7359"/>
                </a:lnTo>
                <a:lnTo>
                  <a:pt x="936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678851" y="5302778"/>
            <a:ext cx="434975" cy="264795"/>
          </a:xfrm>
          <a:custGeom>
            <a:avLst/>
            <a:gdLst/>
            <a:ahLst/>
            <a:cxnLst/>
            <a:rect l="l" t="t" r="r" b="b"/>
            <a:pathLst>
              <a:path w="434975" h="264795">
                <a:moveTo>
                  <a:pt x="0" y="264721"/>
                </a:moveTo>
                <a:lnTo>
                  <a:pt x="434970" y="0"/>
                </a:lnTo>
              </a:path>
            </a:pathLst>
          </a:custGeom>
          <a:ln w="31750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677174" y="5568306"/>
            <a:ext cx="438150" cy="231775"/>
          </a:xfrm>
          <a:custGeom>
            <a:avLst/>
            <a:gdLst/>
            <a:ahLst/>
            <a:cxnLst/>
            <a:rect l="l" t="t" r="r" b="b"/>
            <a:pathLst>
              <a:path w="438150" h="231775">
                <a:moveTo>
                  <a:pt x="0" y="0"/>
                </a:moveTo>
                <a:lnTo>
                  <a:pt x="438121" y="231599"/>
                </a:lnTo>
              </a:path>
            </a:pathLst>
          </a:custGeom>
          <a:ln w="31750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678650" y="5574206"/>
            <a:ext cx="0" cy="444500"/>
          </a:xfrm>
          <a:custGeom>
            <a:avLst/>
            <a:gdLst/>
            <a:ahLst/>
            <a:cxnLst/>
            <a:rect l="l" t="t" r="r" b="b"/>
            <a:pathLst>
              <a:path w="0" h="444500">
                <a:moveTo>
                  <a:pt x="0" y="0"/>
                </a:moveTo>
                <a:lnTo>
                  <a:pt x="1" y="444021"/>
                </a:lnTo>
              </a:path>
            </a:pathLst>
          </a:custGeom>
          <a:ln w="31750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283309" y="5566831"/>
            <a:ext cx="394335" cy="238125"/>
          </a:xfrm>
          <a:custGeom>
            <a:avLst/>
            <a:gdLst/>
            <a:ahLst/>
            <a:cxnLst/>
            <a:rect l="l" t="t" r="r" b="b"/>
            <a:pathLst>
              <a:path w="394334" h="238125">
                <a:moveTo>
                  <a:pt x="393865" y="0"/>
                </a:moveTo>
                <a:lnTo>
                  <a:pt x="0" y="237499"/>
                </a:lnTo>
              </a:path>
            </a:pathLst>
          </a:custGeom>
          <a:ln w="31750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272982" y="5299828"/>
            <a:ext cx="401320" cy="270510"/>
          </a:xfrm>
          <a:custGeom>
            <a:avLst/>
            <a:gdLst/>
            <a:ahLst/>
            <a:cxnLst/>
            <a:rect l="l" t="t" r="r" b="b"/>
            <a:pathLst>
              <a:path w="401320" h="270510">
                <a:moveTo>
                  <a:pt x="401241" y="269953"/>
                </a:moveTo>
                <a:lnTo>
                  <a:pt x="0" y="0"/>
                </a:lnTo>
              </a:path>
            </a:pathLst>
          </a:custGeom>
          <a:ln w="31750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678650" y="5115434"/>
            <a:ext cx="0" cy="453390"/>
          </a:xfrm>
          <a:custGeom>
            <a:avLst/>
            <a:gdLst/>
            <a:ahLst/>
            <a:cxnLst/>
            <a:rect l="l" t="t" r="r" b="b"/>
            <a:pathLst>
              <a:path w="0" h="453389">
                <a:moveTo>
                  <a:pt x="0" y="452872"/>
                </a:moveTo>
                <a:lnTo>
                  <a:pt x="1" y="0"/>
                </a:lnTo>
              </a:path>
            </a:pathLst>
          </a:custGeom>
          <a:ln w="31750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577281" y="5466529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20">
                <a:moveTo>
                  <a:pt x="99002" y="0"/>
                </a:moveTo>
                <a:lnTo>
                  <a:pt x="60466" y="7780"/>
                </a:lnTo>
                <a:lnTo>
                  <a:pt x="28997" y="28997"/>
                </a:lnTo>
                <a:lnTo>
                  <a:pt x="7780" y="60466"/>
                </a:lnTo>
                <a:lnTo>
                  <a:pt x="0" y="99002"/>
                </a:lnTo>
                <a:lnTo>
                  <a:pt x="7780" y="137539"/>
                </a:lnTo>
                <a:lnTo>
                  <a:pt x="28997" y="169008"/>
                </a:lnTo>
                <a:lnTo>
                  <a:pt x="60466" y="190226"/>
                </a:lnTo>
                <a:lnTo>
                  <a:pt x="99002" y="198006"/>
                </a:lnTo>
                <a:lnTo>
                  <a:pt x="137539" y="190226"/>
                </a:lnTo>
                <a:lnTo>
                  <a:pt x="169008" y="169008"/>
                </a:lnTo>
                <a:lnTo>
                  <a:pt x="190225" y="137539"/>
                </a:lnTo>
                <a:lnTo>
                  <a:pt x="198005" y="99002"/>
                </a:lnTo>
                <a:lnTo>
                  <a:pt x="190225" y="60466"/>
                </a:lnTo>
                <a:lnTo>
                  <a:pt x="169008" y="28997"/>
                </a:lnTo>
                <a:lnTo>
                  <a:pt x="137539" y="7780"/>
                </a:lnTo>
                <a:lnTo>
                  <a:pt x="99002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576696" y="5013599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20">
                <a:moveTo>
                  <a:pt x="99004" y="0"/>
                </a:moveTo>
                <a:lnTo>
                  <a:pt x="60467" y="7780"/>
                </a:lnTo>
                <a:lnTo>
                  <a:pt x="28997" y="28996"/>
                </a:lnTo>
                <a:lnTo>
                  <a:pt x="7780" y="60466"/>
                </a:lnTo>
                <a:lnTo>
                  <a:pt x="0" y="99002"/>
                </a:lnTo>
                <a:lnTo>
                  <a:pt x="7780" y="137539"/>
                </a:lnTo>
                <a:lnTo>
                  <a:pt x="28997" y="169008"/>
                </a:lnTo>
                <a:lnTo>
                  <a:pt x="60467" y="190225"/>
                </a:lnTo>
                <a:lnTo>
                  <a:pt x="99004" y="198005"/>
                </a:lnTo>
                <a:lnTo>
                  <a:pt x="137540" y="190225"/>
                </a:lnTo>
                <a:lnTo>
                  <a:pt x="169009" y="169008"/>
                </a:lnTo>
                <a:lnTo>
                  <a:pt x="190226" y="137539"/>
                </a:lnTo>
                <a:lnTo>
                  <a:pt x="198006" y="99002"/>
                </a:lnTo>
                <a:lnTo>
                  <a:pt x="190226" y="60466"/>
                </a:lnTo>
                <a:lnTo>
                  <a:pt x="169009" y="28996"/>
                </a:lnTo>
                <a:lnTo>
                  <a:pt x="137540" y="7780"/>
                </a:lnTo>
                <a:lnTo>
                  <a:pt x="99004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172200" y="5204297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20">
                <a:moveTo>
                  <a:pt x="99002" y="0"/>
                </a:moveTo>
                <a:lnTo>
                  <a:pt x="60466" y="7780"/>
                </a:lnTo>
                <a:lnTo>
                  <a:pt x="28997" y="28997"/>
                </a:lnTo>
                <a:lnTo>
                  <a:pt x="7780" y="60467"/>
                </a:lnTo>
                <a:lnTo>
                  <a:pt x="0" y="99004"/>
                </a:lnTo>
                <a:lnTo>
                  <a:pt x="7780" y="137540"/>
                </a:lnTo>
                <a:lnTo>
                  <a:pt x="28997" y="169009"/>
                </a:lnTo>
                <a:lnTo>
                  <a:pt x="60466" y="190226"/>
                </a:lnTo>
                <a:lnTo>
                  <a:pt x="99002" y="198006"/>
                </a:lnTo>
                <a:lnTo>
                  <a:pt x="137539" y="190226"/>
                </a:lnTo>
                <a:lnTo>
                  <a:pt x="169008" y="169009"/>
                </a:lnTo>
                <a:lnTo>
                  <a:pt x="190225" y="137540"/>
                </a:lnTo>
                <a:lnTo>
                  <a:pt x="198005" y="99004"/>
                </a:lnTo>
                <a:lnTo>
                  <a:pt x="190225" y="60467"/>
                </a:lnTo>
                <a:lnTo>
                  <a:pt x="169008" y="28997"/>
                </a:lnTo>
                <a:lnTo>
                  <a:pt x="137539" y="7780"/>
                </a:lnTo>
                <a:lnTo>
                  <a:pt x="99002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172200" y="5697151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20">
                <a:moveTo>
                  <a:pt x="99002" y="0"/>
                </a:moveTo>
                <a:lnTo>
                  <a:pt x="60466" y="7780"/>
                </a:lnTo>
                <a:lnTo>
                  <a:pt x="28997" y="28997"/>
                </a:lnTo>
                <a:lnTo>
                  <a:pt x="7780" y="60466"/>
                </a:lnTo>
                <a:lnTo>
                  <a:pt x="0" y="99002"/>
                </a:lnTo>
                <a:lnTo>
                  <a:pt x="7780" y="137539"/>
                </a:lnTo>
                <a:lnTo>
                  <a:pt x="28997" y="169008"/>
                </a:lnTo>
                <a:lnTo>
                  <a:pt x="60466" y="190225"/>
                </a:lnTo>
                <a:lnTo>
                  <a:pt x="99002" y="198005"/>
                </a:lnTo>
                <a:lnTo>
                  <a:pt x="137539" y="190225"/>
                </a:lnTo>
                <a:lnTo>
                  <a:pt x="169008" y="169008"/>
                </a:lnTo>
                <a:lnTo>
                  <a:pt x="190225" y="137539"/>
                </a:lnTo>
                <a:lnTo>
                  <a:pt x="198005" y="99002"/>
                </a:lnTo>
                <a:lnTo>
                  <a:pt x="190225" y="60466"/>
                </a:lnTo>
                <a:lnTo>
                  <a:pt x="169008" y="28997"/>
                </a:lnTo>
                <a:lnTo>
                  <a:pt x="137539" y="7780"/>
                </a:lnTo>
                <a:lnTo>
                  <a:pt x="99002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577281" y="5913594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20">
                <a:moveTo>
                  <a:pt x="99002" y="0"/>
                </a:moveTo>
                <a:lnTo>
                  <a:pt x="60466" y="7780"/>
                </a:lnTo>
                <a:lnTo>
                  <a:pt x="28997" y="28997"/>
                </a:lnTo>
                <a:lnTo>
                  <a:pt x="7780" y="60466"/>
                </a:lnTo>
                <a:lnTo>
                  <a:pt x="0" y="99002"/>
                </a:lnTo>
                <a:lnTo>
                  <a:pt x="7780" y="137539"/>
                </a:lnTo>
                <a:lnTo>
                  <a:pt x="28997" y="169008"/>
                </a:lnTo>
                <a:lnTo>
                  <a:pt x="60466" y="190225"/>
                </a:lnTo>
                <a:lnTo>
                  <a:pt x="99002" y="198005"/>
                </a:lnTo>
                <a:lnTo>
                  <a:pt x="137539" y="190225"/>
                </a:lnTo>
                <a:lnTo>
                  <a:pt x="169008" y="169008"/>
                </a:lnTo>
                <a:lnTo>
                  <a:pt x="190225" y="137539"/>
                </a:lnTo>
                <a:lnTo>
                  <a:pt x="198005" y="99002"/>
                </a:lnTo>
                <a:lnTo>
                  <a:pt x="190225" y="60466"/>
                </a:lnTo>
                <a:lnTo>
                  <a:pt x="169008" y="28997"/>
                </a:lnTo>
                <a:lnTo>
                  <a:pt x="137539" y="7780"/>
                </a:lnTo>
                <a:lnTo>
                  <a:pt x="99002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007965" y="5692168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20">
                <a:moveTo>
                  <a:pt x="99002" y="0"/>
                </a:moveTo>
                <a:lnTo>
                  <a:pt x="60466" y="7780"/>
                </a:lnTo>
                <a:lnTo>
                  <a:pt x="28997" y="28997"/>
                </a:lnTo>
                <a:lnTo>
                  <a:pt x="7780" y="60466"/>
                </a:lnTo>
                <a:lnTo>
                  <a:pt x="0" y="99002"/>
                </a:lnTo>
                <a:lnTo>
                  <a:pt x="7780" y="137539"/>
                </a:lnTo>
                <a:lnTo>
                  <a:pt x="28997" y="169008"/>
                </a:lnTo>
                <a:lnTo>
                  <a:pt x="60466" y="190225"/>
                </a:lnTo>
                <a:lnTo>
                  <a:pt x="99002" y="198005"/>
                </a:lnTo>
                <a:lnTo>
                  <a:pt x="137539" y="190225"/>
                </a:lnTo>
                <a:lnTo>
                  <a:pt x="169009" y="169008"/>
                </a:lnTo>
                <a:lnTo>
                  <a:pt x="190226" y="137539"/>
                </a:lnTo>
                <a:lnTo>
                  <a:pt x="198006" y="99002"/>
                </a:lnTo>
                <a:lnTo>
                  <a:pt x="190226" y="60466"/>
                </a:lnTo>
                <a:lnTo>
                  <a:pt x="169009" y="28997"/>
                </a:lnTo>
                <a:lnTo>
                  <a:pt x="137539" y="7780"/>
                </a:lnTo>
                <a:lnTo>
                  <a:pt x="99002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007965" y="5208014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20">
                <a:moveTo>
                  <a:pt x="99002" y="0"/>
                </a:moveTo>
                <a:lnTo>
                  <a:pt x="60466" y="7780"/>
                </a:lnTo>
                <a:lnTo>
                  <a:pt x="28997" y="28997"/>
                </a:lnTo>
                <a:lnTo>
                  <a:pt x="7780" y="60466"/>
                </a:lnTo>
                <a:lnTo>
                  <a:pt x="0" y="99002"/>
                </a:lnTo>
                <a:lnTo>
                  <a:pt x="7780" y="137539"/>
                </a:lnTo>
                <a:lnTo>
                  <a:pt x="28997" y="169008"/>
                </a:lnTo>
                <a:lnTo>
                  <a:pt x="60466" y="190225"/>
                </a:lnTo>
                <a:lnTo>
                  <a:pt x="99002" y="198005"/>
                </a:lnTo>
                <a:lnTo>
                  <a:pt x="137539" y="190225"/>
                </a:lnTo>
                <a:lnTo>
                  <a:pt x="169009" y="169008"/>
                </a:lnTo>
                <a:lnTo>
                  <a:pt x="190226" y="137539"/>
                </a:lnTo>
                <a:lnTo>
                  <a:pt x="198006" y="99002"/>
                </a:lnTo>
                <a:lnTo>
                  <a:pt x="190226" y="60466"/>
                </a:lnTo>
                <a:lnTo>
                  <a:pt x="169009" y="28997"/>
                </a:lnTo>
                <a:lnTo>
                  <a:pt x="137539" y="7780"/>
                </a:lnTo>
                <a:lnTo>
                  <a:pt x="99002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4931166" y="4489196"/>
            <a:ext cx="2825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ambria Math"/>
                <a:cs typeface="Cambria Math"/>
              </a:rPr>
              <a:t>𝑮</a:t>
            </a:r>
            <a:r>
              <a:rPr dirty="0" baseline="-14957" sz="1950">
                <a:solidFill>
                  <a:srgbClr val="0000FF"/>
                </a:solidFill>
                <a:latin typeface="Cambria Math"/>
                <a:cs typeface="Cambria Math"/>
              </a:rPr>
              <a:t>𝑻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070829" y="6185408"/>
            <a:ext cx="146240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00B050"/>
                </a:solidFill>
                <a:latin typeface="Arial"/>
                <a:cs typeface="Arial"/>
              </a:rPr>
              <a:t>F</a:t>
            </a:r>
            <a:r>
              <a:rPr dirty="0" sz="2100" spc="-5" b="1">
                <a:solidFill>
                  <a:srgbClr val="00B050"/>
                </a:solidFill>
                <a:latin typeface="Arial"/>
                <a:cs typeface="Arial"/>
              </a:rPr>
              <a:t>r</a:t>
            </a:r>
            <a:r>
              <a:rPr dirty="0" sz="2100" spc="-10" b="1">
                <a:solidFill>
                  <a:srgbClr val="00B050"/>
                </a:solidFill>
                <a:latin typeface="Arial"/>
                <a:cs typeface="Arial"/>
              </a:rPr>
              <a:t>e</a:t>
            </a:r>
            <a:r>
              <a:rPr dirty="0" sz="2100" b="1">
                <a:solidFill>
                  <a:srgbClr val="00B050"/>
                </a:solidFill>
                <a:latin typeface="Arial"/>
                <a:cs typeface="Arial"/>
              </a:rPr>
              <a:t>qu</a:t>
            </a:r>
            <a:r>
              <a:rPr dirty="0" sz="2100" spc="-10" b="1">
                <a:solidFill>
                  <a:srgbClr val="00B050"/>
                </a:solidFill>
                <a:latin typeface="Arial"/>
                <a:cs typeface="Arial"/>
              </a:rPr>
              <a:t>e</a:t>
            </a:r>
            <a:r>
              <a:rPr dirty="0" sz="2100" b="1">
                <a:solidFill>
                  <a:srgbClr val="00B050"/>
                </a:solidFill>
                <a:latin typeface="Arial"/>
                <a:cs typeface="Arial"/>
              </a:rPr>
              <a:t>n</a:t>
            </a:r>
            <a:r>
              <a:rPr dirty="0" sz="2100" spc="-10" b="1">
                <a:solidFill>
                  <a:srgbClr val="00B050"/>
                </a:solidFill>
                <a:latin typeface="Arial"/>
                <a:cs typeface="Arial"/>
              </a:rPr>
              <a:t>cy</a:t>
            </a:r>
            <a:r>
              <a:rPr dirty="0" sz="2100" b="1">
                <a:solidFill>
                  <a:srgbClr val="00B050"/>
                </a:solidFill>
                <a:latin typeface="Arial"/>
                <a:cs typeface="Arial"/>
              </a:rPr>
              <a:t>:</a:t>
            </a:r>
            <a:endParaRPr sz="21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6599225" y="6228013"/>
            <a:ext cx="541020" cy="322580"/>
          </a:xfrm>
          <a:custGeom>
            <a:avLst/>
            <a:gdLst/>
            <a:ahLst/>
            <a:cxnLst/>
            <a:rect l="l" t="t" r="r" b="b"/>
            <a:pathLst>
              <a:path w="541020" h="322579">
                <a:moveTo>
                  <a:pt x="455760" y="0"/>
                </a:moveTo>
                <a:lnTo>
                  <a:pt x="452505" y="10678"/>
                </a:lnTo>
                <a:lnTo>
                  <a:pt x="467305" y="18353"/>
                </a:lnTo>
                <a:lnTo>
                  <a:pt x="480193" y="29528"/>
                </a:lnTo>
                <a:lnTo>
                  <a:pt x="500231" y="62377"/>
                </a:lnTo>
                <a:lnTo>
                  <a:pt x="512391" y="107012"/>
                </a:lnTo>
                <a:lnTo>
                  <a:pt x="516444" y="161218"/>
                </a:lnTo>
                <a:lnTo>
                  <a:pt x="515431" y="189456"/>
                </a:lnTo>
                <a:lnTo>
                  <a:pt x="507324" y="238779"/>
                </a:lnTo>
                <a:lnTo>
                  <a:pt x="491168" y="278009"/>
                </a:lnTo>
                <a:lnTo>
                  <a:pt x="452505" y="311497"/>
                </a:lnTo>
                <a:lnTo>
                  <a:pt x="455760" y="322175"/>
                </a:lnTo>
                <a:lnTo>
                  <a:pt x="491734" y="303000"/>
                </a:lnTo>
                <a:lnTo>
                  <a:pt x="518397" y="266830"/>
                </a:lnTo>
                <a:lnTo>
                  <a:pt x="534903" y="218061"/>
                </a:lnTo>
                <a:lnTo>
                  <a:pt x="540405" y="161087"/>
                </a:lnTo>
                <a:lnTo>
                  <a:pt x="539030" y="131575"/>
                </a:lnTo>
                <a:lnTo>
                  <a:pt x="528026" y="78704"/>
                </a:lnTo>
                <a:lnTo>
                  <a:pt x="506230" y="35136"/>
                </a:lnTo>
                <a:lnTo>
                  <a:pt x="474911" y="7463"/>
                </a:lnTo>
                <a:lnTo>
                  <a:pt x="455760" y="0"/>
                </a:lnTo>
                <a:close/>
              </a:path>
              <a:path w="541020" h="322579">
                <a:moveTo>
                  <a:pt x="84639" y="0"/>
                </a:moveTo>
                <a:lnTo>
                  <a:pt x="48664" y="19175"/>
                </a:lnTo>
                <a:lnTo>
                  <a:pt x="22001" y="55345"/>
                </a:lnTo>
                <a:lnTo>
                  <a:pt x="5495" y="104114"/>
                </a:lnTo>
                <a:lnTo>
                  <a:pt x="0" y="161218"/>
                </a:lnTo>
                <a:lnTo>
                  <a:pt x="1369" y="190600"/>
                </a:lnTo>
                <a:lnTo>
                  <a:pt x="12373" y="243471"/>
                </a:lnTo>
                <a:lnTo>
                  <a:pt x="34169" y="287039"/>
                </a:lnTo>
                <a:lnTo>
                  <a:pt x="65488" y="314712"/>
                </a:lnTo>
                <a:lnTo>
                  <a:pt x="84639" y="322175"/>
                </a:lnTo>
                <a:lnTo>
                  <a:pt x="87894" y="311497"/>
                </a:lnTo>
                <a:lnTo>
                  <a:pt x="73093" y="303826"/>
                </a:lnTo>
                <a:lnTo>
                  <a:pt x="60205" y="292663"/>
                </a:lnTo>
                <a:lnTo>
                  <a:pt x="40167" y="259863"/>
                </a:lnTo>
                <a:lnTo>
                  <a:pt x="28008" y="215310"/>
                </a:lnTo>
                <a:lnTo>
                  <a:pt x="23959" y="161087"/>
                </a:lnTo>
                <a:lnTo>
                  <a:pt x="24968" y="132918"/>
                </a:lnTo>
                <a:lnTo>
                  <a:pt x="33074" y="83498"/>
                </a:lnTo>
                <a:lnTo>
                  <a:pt x="49230" y="44203"/>
                </a:lnTo>
                <a:lnTo>
                  <a:pt x="87894" y="10678"/>
                </a:lnTo>
                <a:lnTo>
                  <a:pt x="84639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6682902" y="6139688"/>
            <a:ext cx="373380" cy="4768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775"/>
              </a:lnSpc>
              <a:spcBef>
                <a:spcPts val="100"/>
              </a:spcBef>
            </a:pPr>
            <a:r>
              <a:rPr dirty="0" sz="1500" spc="0">
                <a:solidFill>
                  <a:srgbClr val="00B050"/>
                </a:solidFill>
                <a:latin typeface="Cambria Math"/>
                <a:cs typeface="Cambria Math"/>
              </a:rPr>
              <a:t>𝟏𝟎𝟎</a:t>
            </a:r>
            <a:endParaRPr sz="1500">
              <a:latin typeface="Cambria Math"/>
              <a:cs typeface="Cambria Math"/>
            </a:endParaRPr>
          </a:p>
          <a:p>
            <a:pPr algn="ctr">
              <a:lnSpc>
                <a:spcPts val="1775"/>
              </a:lnSpc>
            </a:pPr>
            <a:r>
              <a:rPr dirty="0" sz="1500">
                <a:solidFill>
                  <a:srgbClr val="00B050"/>
                </a:solidFill>
                <a:latin typeface="Cambria Math"/>
                <a:cs typeface="Cambria Math"/>
              </a:rPr>
              <a:t>𝟔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2135954" y="5278676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5" h="186054">
                <a:moveTo>
                  <a:pt x="92980" y="0"/>
                </a:moveTo>
                <a:lnTo>
                  <a:pt x="56787" y="7306"/>
                </a:lnTo>
                <a:lnTo>
                  <a:pt x="27233" y="27233"/>
                </a:lnTo>
                <a:lnTo>
                  <a:pt x="7306" y="56788"/>
                </a:lnTo>
                <a:lnTo>
                  <a:pt x="0" y="92980"/>
                </a:lnTo>
                <a:lnTo>
                  <a:pt x="7306" y="129173"/>
                </a:lnTo>
                <a:lnTo>
                  <a:pt x="27233" y="158727"/>
                </a:lnTo>
                <a:lnTo>
                  <a:pt x="56787" y="178654"/>
                </a:lnTo>
                <a:lnTo>
                  <a:pt x="92980" y="185961"/>
                </a:lnTo>
                <a:lnTo>
                  <a:pt x="129172" y="178654"/>
                </a:lnTo>
                <a:lnTo>
                  <a:pt x="158727" y="158727"/>
                </a:lnTo>
                <a:lnTo>
                  <a:pt x="178654" y="129173"/>
                </a:lnTo>
                <a:lnTo>
                  <a:pt x="185961" y="92980"/>
                </a:lnTo>
                <a:lnTo>
                  <a:pt x="178654" y="56788"/>
                </a:lnTo>
                <a:lnTo>
                  <a:pt x="158727" y="27233"/>
                </a:lnTo>
                <a:lnTo>
                  <a:pt x="129172" y="7306"/>
                </a:lnTo>
                <a:lnTo>
                  <a:pt x="9298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716698" y="5742980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5" h="186054">
                <a:moveTo>
                  <a:pt x="92980" y="0"/>
                </a:moveTo>
                <a:lnTo>
                  <a:pt x="56788" y="7306"/>
                </a:lnTo>
                <a:lnTo>
                  <a:pt x="27233" y="27233"/>
                </a:lnTo>
                <a:lnTo>
                  <a:pt x="7306" y="56788"/>
                </a:lnTo>
                <a:lnTo>
                  <a:pt x="0" y="92980"/>
                </a:lnTo>
                <a:lnTo>
                  <a:pt x="7306" y="129172"/>
                </a:lnTo>
                <a:lnTo>
                  <a:pt x="27233" y="158727"/>
                </a:lnTo>
                <a:lnTo>
                  <a:pt x="56788" y="178654"/>
                </a:lnTo>
                <a:lnTo>
                  <a:pt x="92980" y="185961"/>
                </a:lnTo>
                <a:lnTo>
                  <a:pt x="129173" y="178654"/>
                </a:lnTo>
                <a:lnTo>
                  <a:pt x="158727" y="158727"/>
                </a:lnTo>
                <a:lnTo>
                  <a:pt x="178654" y="129172"/>
                </a:lnTo>
                <a:lnTo>
                  <a:pt x="185961" y="92980"/>
                </a:lnTo>
                <a:lnTo>
                  <a:pt x="178654" y="56788"/>
                </a:lnTo>
                <a:lnTo>
                  <a:pt x="158727" y="27233"/>
                </a:lnTo>
                <a:lnTo>
                  <a:pt x="129173" y="7306"/>
                </a:lnTo>
                <a:lnTo>
                  <a:pt x="9298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135954" y="5693893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5" h="186054">
                <a:moveTo>
                  <a:pt x="92980" y="0"/>
                </a:moveTo>
                <a:lnTo>
                  <a:pt x="56787" y="7306"/>
                </a:lnTo>
                <a:lnTo>
                  <a:pt x="27233" y="27233"/>
                </a:lnTo>
                <a:lnTo>
                  <a:pt x="7306" y="56788"/>
                </a:lnTo>
                <a:lnTo>
                  <a:pt x="0" y="92980"/>
                </a:lnTo>
                <a:lnTo>
                  <a:pt x="7306" y="129172"/>
                </a:lnTo>
                <a:lnTo>
                  <a:pt x="27233" y="158727"/>
                </a:lnTo>
                <a:lnTo>
                  <a:pt x="56787" y="178654"/>
                </a:lnTo>
                <a:lnTo>
                  <a:pt x="92980" y="185960"/>
                </a:lnTo>
                <a:lnTo>
                  <a:pt x="129172" y="178654"/>
                </a:lnTo>
                <a:lnTo>
                  <a:pt x="158727" y="158727"/>
                </a:lnTo>
                <a:lnTo>
                  <a:pt x="178654" y="129172"/>
                </a:lnTo>
                <a:lnTo>
                  <a:pt x="185961" y="92980"/>
                </a:lnTo>
                <a:lnTo>
                  <a:pt x="178654" y="56788"/>
                </a:lnTo>
                <a:lnTo>
                  <a:pt x="158727" y="27233"/>
                </a:lnTo>
                <a:lnTo>
                  <a:pt x="129172" y="7306"/>
                </a:lnTo>
                <a:lnTo>
                  <a:pt x="9298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068187" y="5312840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4" h="186054">
                <a:moveTo>
                  <a:pt x="92980" y="0"/>
                </a:moveTo>
                <a:lnTo>
                  <a:pt x="56788" y="7306"/>
                </a:lnTo>
                <a:lnTo>
                  <a:pt x="27233" y="27233"/>
                </a:lnTo>
                <a:lnTo>
                  <a:pt x="7306" y="56788"/>
                </a:lnTo>
                <a:lnTo>
                  <a:pt x="0" y="92980"/>
                </a:lnTo>
                <a:lnTo>
                  <a:pt x="7306" y="129173"/>
                </a:lnTo>
                <a:lnTo>
                  <a:pt x="27233" y="158727"/>
                </a:lnTo>
                <a:lnTo>
                  <a:pt x="56788" y="178654"/>
                </a:lnTo>
                <a:lnTo>
                  <a:pt x="92980" y="185961"/>
                </a:lnTo>
                <a:lnTo>
                  <a:pt x="129172" y="178654"/>
                </a:lnTo>
                <a:lnTo>
                  <a:pt x="158727" y="158727"/>
                </a:lnTo>
                <a:lnTo>
                  <a:pt x="178654" y="129173"/>
                </a:lnTo>
                <a:lnTo>
                  <a:pt x="185961" y="92980"/>
                </a:lnTo>
                <a:lnTo>
                  <a:pt x="178654" y="56788"/>
                </a:lnTo>
                <a:lnTo>
                  <a:pt x="158727" y="27233"/>
                </a:lnTo>
                <a:lnTo>
                  <a:pt x="129172" y="7306"/>
                </a:lnTo>
                <a:lnTo>
                  <a:pt x="9298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825837" y="5613512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5" h="186054">
                <a:moveTo>
                  <a:pt x="92980" y="0"/>
                </a:moveTo>
                <a:lnTo>
                  <a:pt x="56788" y="7306"/>
                </a:lnTo>
                <a:lnTo>
                  <a:pt x="27233" y="27233"/>
                </a:lnTo>
                <a:lnTo>
                  <a:pt x="7306" y="56788"/>
                </a:lnTo>
                <a:lnTo>
                  <a:pt x="0" y="92980"/>
                </a:lnTo>
                <a:lnTo>
                  <a:pt x="7306" y="129172"/>
                </a:lnTo>
                <a:lnTo>
                  <a:pt x="27233" y="158727"/>
                </a:lnTo>
                <a:lnTo>
                  <a:pt x="56788" y="178654"/>
                </a:lnTo>
                <a:lnTo>
                  <a:pt x="92980" y="185960"/>
                </a:lnTo>
                <a:lnTo>
                  <a:pt x="129173" y="178654"/>
                </a:lnTo>
                <a:lnTo>
                  <a:pt x="158727" y="158727"/>
                </a:lnTo>
                <a:lnTo>
                  <a:pt x="178654" y="129172"/>
                </a:lnTo>
                <a:lnTo>
                  <a:pt x="185961" y="92980"/>
                </a:lnTo>
                <a:lnTo>
                  <a:pt x="178654" y="56788"/>
                </a:lnTo>
                <a:lnTo>
                  <a:pt x="158727" y="27233"/>
                </a:lnTo>
                <a:lnTo>
                  <a:pt x="129173" y="7306"/>
                </a:lnTo>
                <a:lnTo>
                  <a:pt x="9298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321738" y="5613512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4" h="186054">
                <a:moveTo>
                  <a:pt x="92980" y="0"/>
                </a:moveTo>
                <a:lnTo>
                  <a:pt x="56787" y="7306"/>
                </a:lnTo>
                <a:lnTo>
                  <a:pt x="27233" y="27233"/>
                </a:lnTo>
                <a:lnTo>
                  <a:pt x="7306" y="56788"/>
                </a:lnTo>
                <a:lnTo>
                  <a:pt x="0" y="92980"/>
                </a:lnTo>
                <a:lnTo>
                  <a:pt x="7306" y="129172"/>
                </a:lnTo>
                <a:lnTo>
                  <a:pt x="27233" y="158727"/>
                </a:lnTo>
                <a:lnTo>
                  <a:pt x="56787" y="178654"/>
                </a:lnTo>
                <a:lnTo>
                  <a:pt x="92980" y="185960"/>
                </a:lnTo>
                <a:lnTo>
                  <a:pt x="129172" y="178654"/>
                </a:lnTo>
                <a:lnTo>
                  <a:pt x="158727" y="158727"/>
                </a:lnTo>
                <a:lnTo>
                  <a:pt x="178654" y="129172"/>
                </a:lnTo>
                <a:lnTo>
                  <a:pt x="185961" y="92980"/>
                </a:lnTo>
                <a:lnTo>
                  <a:pt x="178654" y="56788"/>
                </a:lnTo>
                <a:lnTo>
                  <a:pt x="158727" y="27233"/>
                </a:lnTo>
                <a:lnTo>
                  <a:pt x="129172" y="7306"/>
                </a:lnTo>
                <a:lnTo>
                  <a:pt x="9298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5148098" y="5598667"/>
            <a:ext cx="523240" cy="38862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>
              <a:lnSpc>
                <a:spcPts val="1420"/>
              </a:lnSpc>
              <a:spcBef>
                <a:spcPts val="160"/>
              </a:spcBef>
            </a:pPr>
            <a:r>
              <a:rPr dirty="0" sz="1200" spc="-5">
                <a:latin typeface="Arial"/>
                <a:cs typeface="Arial"/>
              </a:rPr>
              <a:t>D</a:t>
            </a:r>
            <a:r>
              <a:rPr dirty="0" sz="1200" spc="-10">
                <a:latin typeface="Arial"/>
                <a:cs typeface="Arial"/>
              </a:rPr>
              <a:t>eg</a:t>
            </a:r>
            <a:r>
              <a:rPr dirty="0" sz="1200">
                <a:latin typeface="Arial"/>
                <a:cs typeface="Arial"/>
              </a:rPr>
              <a:t>r</a:t>
            </a:r>
            <a:r>
              <a:rPr dirty="0" sz="1200" spc="-10">
                <a:latin typeface="Arial"/>
                <a:cs typeface="Arial"/>
              </a:rPr>
              <a:t>e</a:t>
            </a:r>
            <a:r>
              <a:rPr dirty="0" sz="1200">
                <a:latin typeface="Arial"/>
                <a:cs typeface="Arial"/>
              </a:rPr>
              <a:t>e  </a:t>
            </a:r>
            <a:r>
              <a:rPr dirty="0" sz="1200" spc="-5">
                <a:latin typeface="Arial"/>
                <a:cs typeface="Arial"/>
              </a:rPr>
              <a:t>100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69" name="object 6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70" name="object 7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  <p:sp>
        <p:nvSpPr>
          <p:cNvPr id="66" name="object 66"/>
          <p:cNvSpPr txBox="1"/>
          <p:nvPr/>
        </p:nvSpPr>
        <p:spPr>
          <a:xfrm>
            <a:off x="1818916" y="4422140"/>
            <a:ext cx="2825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ambria Math"/>
                <a:cs typeface="Cambria Math"/>
              </a:rPr>
              <a:t>𝑮</a:t>
            </a:r>
            <a:r>
              <a:rPr dirty="0" baseline="-14957" sz="1950">
                <a:solidFill>
                  <a:srgbClr val="0000FF"/>
                </a:solidFill>
                <a:latin typeface="Cambria Math"/>
                <a:cs typeface="Cambria Math"/>
              </a:rPr>
              <a:t>𝑻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012203" y="4422140"/>
            <a:ext cx="3003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𝑮</a:t>
            </a:r>
            <a:r>
              <a:rPr dirty="0" baseline="-14957" sz="1950">
                <a:solidFill>
                  <a:srgbClr val="C00000"/>
                </a:solidFill>
                <a:latin typeface="Cambria Math"/>
                <a:cs typeface="Cambria Math"/>
              </a:rPr>
              <a:t>𝑸</a:t>
            </a:r>
            <a:endParaRPr baseline="-14957" sz="19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31031" y="4452795"/>
            <a:ext cx="4027170" cy="2219960"/>
          </a:xfrm>
          <a:custGeom>
            <a:avLst/>
            <a:gdLst/>
            <a:ahLst/>
            <a:cxnLst/>
            <a:rect l="l" t="t" r="r" b="b"/>
            <a:pathLst>
              <a:path w="4027170" h="2219959">
                <a:moveTo>
                  <a:pt x="3657227" y="0"/>
                </a:moveTo>
                <a:lnTo>
                  <a:pt x="369940" y="0"/>
                </a:lnTo>
                <a:lnTo>
                  <a:pt x="323536" y="2882"/>
                </a:lnTo>
                <a:lnTo>
                  <a:pt x="278851" y="11298"/>
                </a:lnTo>
                <a:lnTo>
                  <a:pt x="236234" y="24901"/>
                </a:lnTo>
                <a:lnTo>
                  <a:pt x="196029" y="43344"/>
                </a:lnTo>
                <a:lnTo>
                  <a:pt x="158585" y="66281"/>
                </a:lnTo>
                <a:lnTo>
                  <a:pt x="124248" y="93364"/>
                </a:lnTo>
                <a:lnTo>
                  <a:pt x="93364" y="124248"/>
                </a:lnTo>
                <a:lnTo>
                  <a:pt x="66281" y="158585"/>
                </a:lnTo>
                <a:lnTo>
                  <a:pt x="43344" y="196029"/>
                </a:lnTo>
                <a:lnTo>
                  <a:pt x="24901" y="236234"/>
                </a:lnTo>
                <a:lnTo>
                  <a:pt x="11298" y="278851"/>
                </a:lnTo>
                <a:lnTo>
                  <a:pt x="2882" y="323536"/>
                </a:lnTo>
                <a:lnTo>
                  <a:pt x="0" y="369940"/>
                </a:lnTo>
                <a:lnTo>
                  <a:pt x="0" y="1849667"/>
                </a:lnTo>
                <a:lnTo>
                  <a:pt x="2882" y="1896071"/>
                </a:lnTo>
                <a:lnTo>
                  <a:pt x="11298" y="1940756"/>
                </a:lnTo>
                <a:lnTo>
                  <a:pt x="24901" y="1983374"/>
                </a:lnTo>
                <a:lnTo>
                  <a:pt x="43344" y="2023578"/>
                </a:lnTo>
                <a:lnTo>
                  <a:pt x="66281" y="2061022"/>
                </a:lnTo>
                <a:lnTo>
                  <a:pt x="93364" y="2095359"/>
                </a:lnTo>
                <a:lnTo>
                  <a:pt x="124248" y="2126243"/>
                </a:lnTo>
                <a:lnTo>
                  <a:pt x="158585" y="2153327"/>
                </a:lnTo>
                <a:lnTo>
                  <a:pt x="196029" y="2176264"/>
                </a:lnTo>
                <a:lnTo>
                  <a:pt x="236234" y="2194707"/>
                </a:lnTo>
                <a:lnTo>
                  <a:pt x="278851" y="2208310"/>
                </a:lnTo>
                <a:lnTo>
                  <a:pt x="323536" y="2216726"/>
                </a:lnTo>
                <a:lnTo>
                  <a:pt x="369940" y="2219608"/>
                </a:lnTo>
                <a:lnTo>
                  <a:pt x="3657227" y="2219608"/>
                </a:lnTo>
                <a:lnTo>
                  <a:pt x="3703632" y="2216726"/>
                </a:lnTo>
                <a:lnTo>
                  <a:pt x="3748316" y="2208310"/>
                </a:lnTo>
                <a:lnTo>
                  <a:pt x="3790934" y="2194707"/>
                </a:lnTo>
                <a:lnTo>
                  <a:pt x="3831138" y="2176264"/>
                </a:lnTo>
                <a:lnTo>
                  <a:pt x="3868582" y="2153327"/>
                </a:lnTo>
                <a:lnTo>
                  <a:pt x="3902920" y="2126243"/>
                </a:lnTo>
                <a:lnTo>
                  <a:pt x="3933804" y="2095359"/>
                </a:lnTo>
                <a:lnTo>
                  <a:pt x="3960887" y="2061022"/>
                </a:lnTo>
                <a:lnTo>
                  <a:pt x="3983824" y="2023578"/>
                </a:lnTo>
                <a:lnTo>
                  <a:pt x="4002267" y="1983374"/>
                </a:lnTo>
                <a:lnTo>
                  <a:pt x="4015870" y="1940756"/>
                </a:lnTo>
                <a:lnTo>
                  <a:pt x="4024286" y="1896071"/>
                </a:lnTo>
                <a:lnTo>
                  <a:pt x="4027168" y="1849667"/>
                </a:lnTo>
                <a:lnTo>
                  <a:pt x="4027168" y="369940"/>
                </a:lnTo>
                <a:lnTo>
                  <a:pt x="4024286" y="323536"/>
                </a:lnTo>
                <a:lnTo>
                  <a:pt x="4015870" y="278851"/>
                </a:lnTo>
                <a:lnTo>
                  <a:pt x="4002267" y="236234"/>
                </a:lnTo>
                <a:lnTo>
                  <a:pt x="3983824" y="196029"/>
                </a:lnTo>
                <a:lnTo>
                  <a:pt x="3960887" y="158585"/>
                </a:lnTo>
                <a:lnTo>
                  <a:pt x="3933804" y="124248"/>
                </a:lnTo>
                <a:lnTo>
                  <a:pt x="3902920" y="93364"/>
                </a:lnTo>
                <a:lnTo>
                  <a:pt x="3868582" y="66281"/>
                </a:lnTo>
                <a:lnTo>
                  <a:pt x="3831138" y="43344"/>
                </a:lnTo>
                <a:lnTo>
                  <a:pt x="3790934" y="24901"/>
                </a:lnTo>
                <a:lnTo>
                  <a:pt x="3748316" y="11298"/>
                </a:lnTo>
                <a:lnTo>
                  <a:pt x="3703632" y="2882"/>
                </a:lnTo>
                <a:lnTo>
                  <a:pt x="3657227" y="0"/>
                </a:lnTo>
                <a:close/>
              </a:path>
            </a:pathLst>
          </a:custGeom>
          <a:solidFill>
            <a:srgbClr val="FFF0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407030" y="4435803"/>
            <a:ext cx="4075429" cy="2260600"/>
          </a:xfrm>
          <a:custGeom>
            <a:avLst/>
            <a:gdLst/>
            <a:ahLst/>
            <a:cxnLst/>
            <a:rect l="l" t="t" r="r" b="b"/>
            <a:pathLst>
              <a:path w="4075429" h="2260600">
                <a:moveTo>
                  <a:pt x="3797213" y="12700"/>
                </a:moveTo>
                <a:lnTo>
                  <a:pt x="275682" y="12700"/>
                </a:lnTo>
                <a:lnTo>
                  <a:pt x="239527" y="25400"/>
                </a:lnTo>
                <a:lnTo>
                  <a:pt x="205144" y="50800"/>
                </a:lnTo>
                <a:lnTo>
                  <a:pt x="172731" y="63500"/>
                </a:lnTo>
                <a:lnTo>
                  <a:pt x="142482" y="88900"/>
                </a:lnTo>
                <a:lnTo>
                  <a:pt x="114593" y="114300"/>
                </a:lnTo>
                <a:lnTo>
                  <a:pt x="89256" y="139700"/>
                </a:lnTo>
                <a:lnTo>
                  <a:pt x="66668" y="177800"/>
                </a:lnTo>
                <a:lnTo>
                  <a:pt x="47028" y="203200"/>
                </a:lnTo>
                <a:lnTo>
                  <a:pt x="30534" y="241300"/>
                </a:lnTo>
                <a:lnTo>
                  <a:pt x="17387" y="279400"/>
                </a:lnTo>
                <a:lnTo>
                  <a:pt x="7790" y="317500"/>
                </a:lnTo>
                <a:lnTo>
                  <a:pt x="1940" y="355600"/>
                </a:lnTo>
                <a:lnTo>
                  <a:pt x="0" y="393700"/>
                </a:lnTo>
                <a:lnTo>
                  <a:pt x="30" y="1879600"/>
                </a:lnTo>
                <a:lnTo>
                  <a:pt x="2184" y="1917700"/>
                </a:lnTo>
                <a:lnTo>
                  <a:pt x="8272" y="1955800"/>
                </a:lnTo>
                <a:lnTo>
                  <a:pt x="18093" y="1993900"/>
                </a:lnTo>
                <a:lnTo>
                  <a:pt x="31450" y="2032000"/>
                </a:lnTo>
                <a:lnTo>
                  <a:pt x="48138" y="2057400"/>
                </a:lnTo>
                <a:lnTo>
                  <a:pt x="67960" y="2095500"/>
                </a:lnTo>
                <a:lnTo>
                  <a:pt x="116211" y="2146300"/>
                </a:lnTo>
                <a:lnTo>
                  <a:pt x="174642" y="2197100"/>
                </a:lnTo>
                <a:lnTo>
                  <a:pt x="207189" y="2222500"/>
                </a:lnTo>
                <a:lnTo>
                  <a:pt x="277956" y="2247900"/>
                </a:lnTo>
                <a:lnTo>
                  <a:pt x="315763" y="2260600"/>
                </a:lnTo>
                <a:lnTo>
                  <a:pt x="3761760" y="2260600"/>
                </a:lnTo>
                <a:lnTo>
                  <a:pt x="3799486" y="2247900"/>
                </a:lnTo>
                <a:lnTo>
                  <a:pt x="3835641" y="2235200"/>
                </a:lnTo>
                <a:lnTo>
                  <a:pt x="320109" y="2235200"/>
                </a:lnTo>
                <a:lnTo>
                  <a:pt x="285127" y="2222500"/>
                </a:lnTo>
                <a:lnTo>
                  <a:pt x="251593" y="2209800"/>
                </a:lnTo>
                <a:lnTo>
                  <a:pt x="219688" y="2197100"/>
                </a:lnTo>
                <a:lnTo>
                  <a:pt x="189595" y="2171700"/>
                </a:lnTo>
                <a:lnTo>
                  <a:pt x="161499" y="2159000"/>
                </a:lnTo>
                <a:lnTo>
                  <a:pt x="135581" y="2133600"/>
                </a:lnTo>
                <a:lnTo>
                  <a:pt x="112029" y="2108200"/>
                </a:lnTo>
                <a:lnTo>
                  <a:pt x="91024" y="2082800"/>
                </a:lnTo>
                <a:lnTo>
                  <a:pt x="72751" y="2044700"/>
                </a:lnTo>
                <a:lnTo>
                  <a:pt x="57396" y="2019300"/>
                </a:lnTo>
                <a:lnTo>
                  <a:pt x="45139" y="1981200"/>
                </a:lnTo>
                <a:lnTo>
                  <a:pt x="36164" y="1943100"/>
                </a:lnTo>
                <a:lnTo>
                  <a:pt x="30655" y="1905000"/>
                </a:lnTo>
                <a:lnTo>
                  <a:pt x="28794" y="1866900"/>
                </a:lnTo>
                <a:lnTo>
                  <a:pt x="28799" y="393700"/>
                </a:lnTo>
                <a:lnTo>
                  <a:pt x="30703" y="355600"/>
                </a:lnTo>
                <a:lnTo>
                  <a:pt x="36261" y="317500"/>
                </a:lnTo>
                <a:lnTo>
                  <a:pt x="45280" y="279400"/>
                </a:lnTo>
                <a:lnTo>
                  <a:pt x="57579" y="254000"/>
                </a:lnTo>
                <a:lnTo>
                  <a:pt x="72974" y="215900"/>
                </a:lnTo>
                <a:lnTo>
                  <a:pt x="112321" y="165100"/>
                </a:lnTo>
                <a:lnTo>
                  <a:pt x="161852" y="114300"/>
                </a:lnTo>
                <a:lnTo>
                  <a:pt x="220097" y="76200"/>
                </a:lnTo>
                <a:lnTo>
                  <a:pt x="252026" y="50800"/>
                </a:lnTo>
                <a:lnTo>
                  <a:pt x="285582" y="50800"/>
                </a:lnTo>
                <a:lnTo>
                  <a:pt x="320581" y="38100"/>
                </a:lnTo>
                <a:lnTo>
                  <a:pt x="356840" y="25400"/>
                </a:lnTo>
                <a:lnTo>
                  <a:pt x="3833474" y="25400"/>
                </a:lnTo>
                <a:lnTo>
                  <a:pt x="3797213" y="12700"/>
                </a:lnTo>
                <a:close/>
              </a:path>
              <a:path w="4075429" h="2260600">
                <a:moveTo>
                  <a:pt x="3833474" y="25400"/>
                </a:moveTo>
                <a:lnTo>
                  <a:pt x="3718810" y="25400"/>
                </a:lnTo>
                <a:lnTo>
                  <a:pt x="3755059" y="38100"/>
                </a:lnTo>
                <a:lnTo>
                  <a:pt x="3790041" y="50800"/>
                </a:lnTo>
                <a:lnTo>
                  <a:pt x="3823576" y="50800"/>
                </a:lnTo>
                <a:lnTo>
                  <a:pt x="3855481" y="76200"/>
                </a:lnTo>
                <a:lnTo>
                  <a:pt x="3885573" y="88900"/>
                </a:lnTo>
                <a:lnTo>
                  <a:pt x="3939586" y="139700"/>
                </a:lnTo>
                <a:lnTo>
                  <a:pt x="3984144" y="190500"/>
                </a:lnTo>
                <a:lnTo>
                  <a:pt x="4017773" y="254000"/>
                </a:lnTo>
                <a:lnTo>
                  <a:pt x="4030030" y="279400"/>
                </a:lnTo>
                <a:lnTo>
                  <a:pt x="4039003" y="317500"/>
                </a:lnTo>
                <a:lnTo>
                  <a:pt x="4044514" y="355600"/>
                </a:lnTo>
                <a:lnTo>
                  <a:pt x="4046374" y="393700"/>
                </a:lnTo>
                <a:lnTo>
                  <a:pt x="4046368" y="1866900"/>
                </a:lnTo>
                <a:lnTo>
                  <a:pt x="4044464" y="1905000"/>
                </a:lnTo>
                <a:lnTo>
                  <a:pt x="4038908" y="1943100"/>
                </a:lnTo>
                <a:lnTo>
                  <a:pt x="4029889" y="1981200"/>
                </a:lnTo>
                <a:lnTo>
                  <a:pt x="4017590" y="2019300"/>
                </a:lnTo>
                <a:lnTo>
                  <a:pt x="4002194" y="2044700"/>
                </a:lnTo>
                <a:lnTo>
                  <a:pt x="3983887" y="2082800"/>
                </a:lnTo>
                <a:lnTo>
                  <a:pt x="3962848" y="2108200"/>
                </a:lnTo>
                <a:lnTo>
                  <a:pt x="3939264" y="2133600"/>
                </a:lnTo>
                <a:lnTo>
                  <a:pt x="3913317" y="2159000"/>
                </a:lnTo>
                <a:lnTo>
                  <a:pt x="3885191" y="2171700"/>
                </a:lnTo>
                <a:lnTo>
                  <a:pt x="3855071" y="2197100"/>
                </a:lnTo>
                <a:lnTo>
                  <a:pt x="3823143" y="2209800"/>
                </a:lnTo>
                <a:lnTo>
                  <a:pt x="3789587" y="2222500"/>
                </a:lnTo>
                <a:lnTo>
                  <a:pt x="3754588" y="2235200"/>
                </a:lnTo>
                <a:lnTo>
                  <a:pt x="3835641" y="2235200"/>
                </a:lnTo>
                <a:lnTo>
                  <a:pt x="3902438" y="2197100"/>
                </a:lnTo>
                <a:lnTo>
                  <a:pt x="3932687" y="2171700"/>
                </a:lnTo>
                <a:lnTo>
                  <a:pt x="3985912" y="2120900"/>
                </a:lnTo>
                <a:lnTo>
                  <a:pt x="4028141" y="2057400"/>
                </a:lnTo>
                <a:lnTo>
                  <a:pt x="4044635" y="2019300"/>
                </a:lnTo>
                <a:lnTo>
                  <a:pt x="4057780" y="1993900"/>
                </a:lnTo>
                <a:lnTo>
                  <a:pt x="4067378" y="1955800"/>
                </a:lnTo>
                <a:lnTo>
                  <a:pt x="4073229" y="1917700"/>
                </a:lnTo>
                <a:lnTo>
                  <a:pt x="4075169" y="1866900"/>
                </a:lnTo>
                <a:lnTo>
                  <a:pt x="4075139" y="393700"/>
                </a:lnTo>
                <a:lnTo>
                  <a:pt x="4072983" y="355600"/>
                </a:lnTo>
                <a:lnTo>
                  <a:pt x="4066896" y="317500"/>
                </a:lnTo>
                <a:lnTo>
                  <a:pt x="4057074" y="279400"/>
                </a:lnTo>
                <a:lnTo>
                  <a:pt x="4043719" y="241300"/>
                </a:lnTo>
                <a:lnTo>
                  <a:pt x="4027030" y="203200"/>
                </a:lnTo>
                <a:lnTo>
                  <a:pt x="4007209" y="177800"/>
                </a:lnTo>
                <a:lnTo>
                  <a:pt x="3984453" y="139700"/>
                </a:lnTo>
                <a:lnTo>
                  <a:pt x="3958958" y="114300"/>
                </a:lnTo>
                <a:lnTo>
                  <a:pt x="3930917" y="88900"/>
                </a:lnTo>
                <a:lnTo>
                  <a:pt x="3900526" y="63500"/>
                </a:lnTo>
                <a:lnTo>
                  <a:pt x="3867979" y="50800"/>
                </a:lnTo>
                <a:lnTo>
                  <a:pt x="3833474" y="25400"/>
                </a:lnTo>
                <a:close/>
              </a:path>
              <a:path w="4075429" h="2260600">
                <a:moveTo>
                  <a:pt x="325361" y="50800"/>
                </a:moveTo>
                <a:lnTo>
                  <a:pt x="288881" y="50800"/>
                </a:lnTo>
                <a:lnTo>
                  <a:pt x="256193" y="63500"/>
                </a:lnTo>
                <a:lnTo>
                  <a:pt x="225082" y="76200"/>
                </a:lnTo>
                <a:lnTo>
                  <a:pt x="195727" y="101600"/>
                </a:lnTo>
                <a:lnTo>
                  <a:pt x="168309" y="114300"/>
                </a:lnTo>
                <a:lnTo>
                  <a:pt x="143009" y="139700"/>
                </a:lnTo>
                <a:lnTo>
                  <a:pt x="120008" y="165100"/>
                </a:lnTo>
                <a:lnTo>
                  <a:pt x="99486" y="190500"/>
                </a:lnTo>
                <a:lnTo>
                  <a:pt x="81622" y="228600"/>
                </a:lnTo>
                <a:lnTo>
                  <a:pt x="66594" y="254000"/>
                </a:lnTo>
                <a:lnTo>
                  <a:pt x="54578" y="292100"/>
                </a:lnTo>
                <a:lnTo>
                  <a:pt x="45751" y="317500"/>
                </a:lnTo>
                <a:lnTo>
                  <a:pt x="40292" y="355600"/>
                </a:lnTo>
                <a:lnTo>
                  <a:pt x="38399" y="393700"/>
                </a:lnTo>
                <a:lnTo>
                  <a:pt x="38381" y="1866900"/>
                </a:lnTo>
                <a:lnTo>
                  <a:pt x="40145" y="1905000"/>
                </a:lnTo>
                <a:lnTo>
                  <a:pt x="45462" y="1943100"/>
                </a:lnTo>
                <a:lnTo>
                  <a:pt x="54155" y="1981200"/>
                </a:lnTo>
                <a:lnTo>
                  <a:pt x="66045" y="2006600"/>
                </a:lnTo>
                <a:lnTo>
                  <a:pt x="80957" y="2044700"/>
                </a:lnTo>
                <a:lnTo>
                  <a:pt x="119133" y="2095500"/>
                </a:lnTo>
                <a:lnTo>
                  <a:pt x="167247" y="2146300"/>
                </a:lnTo>
                <a:lnTo>
                  <a:pt x="223855" y="2184400"/>
                </a:lnTo>
                <a:lnTo>
                  <a:pt x="287517" y="2209800"/>
                </a:lnTo>
                <a:lnTo>
                  <a:pt x="321557" y="2222500"/>
                </a:lnTo>
                <a:lnTo>
                  <a:pt x="357327" y="2222500"/>
                </a:lnTo>
                <a:lnTo>
                  <a:pt x="323006" y="2209800"/>
                </a:lnTo>
                <a:lnTo>
                  <a:pt x="289909" y="2197100"/>
                </a:lnTo>
                <a:lnTo>
                  <a:pt x="258192" y="2197100"/>
                </a:lnTo>
                <a:lnTo>
                  <a:pt x="228020" y="2171700"/>
                </a:lnTo>
                <a:lnTo>
                  <a:pt x="199565" y="2159000"/>
                </a:lnTo>
                <a:lnTo>
                  <a:pt x="172996" y="2133600"/>
                </a:lnTo>
                <a:lnTo>
                  <a:pt x="148494" y="2120900"/>
                </a:lnTo>
                <a:lnTo>
                  <a:pt x="126238" y="2095500"/>
                </a:lnTo>
                <a:lnTo>
                  <a:pt x="106400" y="2070100"/>
                </a:lnTo>
                <a:lnTo>
                  <a:pt x="89161" y="2032000"/>
                </a:lnTo>
                <a:lnTo>
                  <a:pt x="74693" y="2006600"/>
                </a:lnTo>
                <a:lnTo>
                  <a:pt x="63169" y="1968500"/>
                </a:lnTo>
                <a:lnTo>
                  <a:pt x="54759" y="1943100"/>
                </a:lnTo>
                <a:lnTo>
                  <a:pt x="49635" y="1905000"/>
                </a:lnTo>
                <a:lnTo>
                  <a:pt x="47969" y="1866900"/>
                </a:lnTo>
                <a:lnTo>
                  <a:pt x="47999" y="393700"/>
                </a:lnTo>
                <a:lnTo>
                  <a:pt x="49879" y="355600"/>
                </a:lnTo>
                <a:lnTo>
                  <a:pt x="55241" y="317500"/>
                </a:lnTo>
                <a:lnTo>
                  <a:pt x="63875" y="292100"/>
                </a:lnTo>
                <a:lnTo>
                  <a:pt x="75609" y="254000"/>
                </a:lnTo>
                <a:lnTo>
                  <a:pt x="107692" y="203200"/>
                </a:lnTo>
                <a:lnTo>
                  <a:pt x="150114" y="152400"/>
                </a:lnTo>
                <a:lnTo>
                  <a:pt x="201476" y="101600"/>
                </a:lnTo>
                <a:lnTo>
                  <a:pt x="260358" y="76200"/>
                </a:lnTo>
                <a:lnTo>
                  <a:pt x="292181" y="63500"/>
                </a:lnTo>
                <a:lnTo>
                  <a:pt x="325361" y="50800"/>
                </a:lnTo>
                <a:close/>
              </a:path>
              <a:path w="4075429" h="2260600">
                <a:moveTo>
                  <a:pt x="3787651" y="50800"/>
                </a:moveTo>
                <a:lnTo>
                  <a:pt x="3752162" y="50800"/>
                </a:lnTo>
                <a:lnTo>
                  <a:pt x="3785260" y="63500"/>
                </a:lnTo>
                <a:lnTo>
                  <a:pt x="3816977" y="76200"/>
                </a:lnTo>
                <a:lnTo>
                  <a:pt x="3875604" y="101600"/>
                </a:lnTo>
                <a:lnTo>
                  <a:pt x="3926673" y="152400"/>
                </a:lnTo>
                <a:lnTo>
                  <a:pt x="3968769" y="203200"/>
                </a:lnTo>
                <a:lnTo>
                  <a:pt x="4000475" y="254000"/>
                </a:lnTo>
                <a:lnTo>
                  <a:pt x="4011999" y="292100"/>
                </a:lnTo>
                <a:lnTo>
                  <a:pt x="4020408" y="330200"/>
                </a:lnTo>
                <a:lnTo>
                  <a:pt x="4027199" y="393700"/>
                </a:lnTo>
                <a:lnTo>
                  <a:pt x="4027168" y="1866900"/>
                </a:lnTo>
                <a:lnTo>
                  <a:pt x="4025289" y="1905000"/>
                </a:lnTo>
                <a:lnTo>
                  <a:pt x="4019928" y="1943100"/>
                </a:lnTo>
                <a:lnTo>
                  <a:pt x="4011293" y="1981200"/>
                </a:lnTo>
                <a:lnTo>
                  <a:pt x="3999560" y="2006600"/>
                </a:lnTo>
                <a:lnTo>
                  <a:pt x="3984896" y="2044700"/>
                </a:lnTo>
                <a:lnTo>
                  <a:pt x="3947472" y="2095500"/>
                </a:lnTo>
                <a:lnTo>
                  <a:pt x="3900403" y="2146300"/>
                </a:lnTo>
                <a:lnTo>
                  <a:pt x="3845102" y="2171700"/>
                </a:lnTo>
                <a:lnTo>
                  <a:pt x="3814809" y="2197100"/>
                </a:lnTo>
                <a:lnTo>
                  <a:pt x="3782988" y="2209800"/>
                </a:lnTo>
                <a:lnTo>
                  <a:pt x="3749807" y="2209800"/>
                </a:lnTo>
                <a:lnTo>
                  <a:pt x="3715431" y="2222500"/>
                </a:lnTo>
                <a:lnTo>
                  <a:pt x="3752198" y="2222500"/>
                </a:lnTo>
                <a:lnTo>
                  <a:pt x="3786287" y="2209800"/>
                </a:lnTo>
                <a:lnTo>
                  <a:pt x="3850087" y="2184400"/>
                </a:lnTo>
                <a:lnTo>
                  <a:pt x="3906860" y="2146300"/>
                </a:lnTo>
                <a:lnTo>
                  <a:pt x="3955159" y="2095500"/>
                </a:lnTo>
                <a:lnTo>
                  <a:pt x="3993545" y="2044700"/>
                </a:lnTo>
                <a:lnTo>
                  <a:pt x="4008574" y="2006600"/>
                </a:lnTo>
                <a:lnTo>
                  <a:pt x="4020591" y="1981200"/>
                </a:lnTo>
                <a:lnTo>
                  <a:pt x="4029417" y="1943100"/>
                </a:lnTo>
                <a:lnTo>
                  <a:pt x="4034877" y="1905000"/>
                </a:lnTo>
                <a:lnTo>
                  <a:pt x="4036768" y="1866900"/>
                </a:lnTo>
                <a:lnTo>
                  <a:pt x="4036787" y="393700"/>
                </a:lnTo>
                <a:lnTo>
                  <a:pt x="4035023" y="355600"/>
                </a:lnTo>
                <a:lnTo>
                  <a:pt x="4029707" y="317500"/>
                </a:lnTo>
                <a:lnTo>
                  <a:pt x="4021014" y="292100"/>
                </a:lnTo>
                <a:lnTo>
                  <a:pt x="4009124" y="254000"/>
                </a:lnTo>
                <a:lnTo>
                  <a:pt x="3994212" y="228600"/>
                </a:lnTo>
                <a:lnTo>
                  <a:pt x="3976456" y="190500"/>
                </a:lnTo>
                <a:lnTo>
                  <a:pt x="3956036" y="165100"/>
                </a:lnTo>
                <a:lnTo>
                  <a:pt x="3933130" y="139700"/>
                </a:lnTo>
                <a:lnTo>
                  <a:pt x="3907920" y="114300"/>
                </a:lnTo>
                <a:lnTo>
                  <a:pt x="3880589" y="101600"/>
                </a:lnTo>
                <a:lnTo>
                  <a:pt x="3851314" y="76200"/>
                </a:lnTo>
                <a:lnTo>
                  <a:pt x="3820276" y="63500"/>
                </a:lnTo>
                <a:lnTo>
                  <a:pt x="3787651" y="50800"/>
                </a:lnTo>
                <a:close/>
              </a:path>
              <a:path w="4075429" h="2260600">
                <a:moveTo>
                  <a:pt x="3718326" y="38100"/>
                </a:moveTo>
                <a:lnTo>
                  <a:pt x="358289" y="38100"/>
                </a:lnTo>
                <a:lnTo>
                  <a:pt x="322971" y="50800"/>
                </a:lnTo>
                <a:lnTo>
                  <a:pt x="3753612" y="50800"/>
                </a:lnTo>
                <a:lnTo>
                  <a:pt x="3718326" y="38100"/>
                </a:lnTo>
                <a:close/>
              </a:path>
              <a:path w="4075429" h="2260600">
                <a:moveTo>
                  <a:pt x="3720263" y="0"/>
                </a:moveTo>
                <a:lnTo>
                  <a:pt x="352496" y="0"/>
                </a:lnTo>
                <a:lnTo>
                  <a:pt x="313408" y="12700"/>
                </a:lnTo>
                <a:lnTo>
                  <a:pt x="3759405" y="12700"/>
                </a:lnTo>
                <a:lnTo>
                  <a:pt x="3720263" y="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73023" y="347472"/>
            <a:ext cx="580339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108" y="1359915"/>
            <a:ext cx="7132955" cy="21805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marR="5080" indent="-320040">
              <a:lnSpc>
                <a:spcPts val="35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/>
              <a:t>Let </a:t>
            </a:r>
            <a:r>
              <a:rPr dirty="0" sz="2800" spc="140">
                <a:solidFill>
                  <a:srgbClr val="C00000"/>
                </a:solidFill>
                <a:latin typeface="Cambria Math"/>
                <a:cs typeface="Cambria Math"/>
              </a:rPr>
              <a:t>𝐺</a:t>
            </a:r>
            <a:r>
              <a:rPr dirty="0" baseline="-16666" sz="3000" spc="209">
                <a:solidFill>
                  <a:srgbClr val="C00000"/>
                </a:solidFill>
                <a:latin typeface="Cambria Math"/>
                <a:cs typeface="Cambria Math"/>
              </a:rPr>
              <a:t>$ </a:t>
            </a:r>
            <a:r>
              <a:rPr dirty="0" sz="2800"/>
              <a:t>be a </a:t>
            </a:r>
            <a:r>
              <a:rPr dirty="0" sz="2800" spc="-5"/>
              <a:t>small </a:t>
            </a:r>
            <a:r>
              <a:rPr dirty="0" sz="2800" spc="-15"/>
              <a:t>graph,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𝑣 </a:t>
            </a:r>
            <a:r>
              <a:rPr dirty="0" sz="2800"/>
              <a:t>be a </a:t>
            </a:r>
            <a:r>
              <a:rPr dirty="0" sz="2800" spc="-5"/>
              <a:t>node in </a:t>
            </a:r>
            <a:r>
              <a:rPr dirty="0" sz="2800" spc="140">
                <a:solidFill>
                  <a:srgbClr val="C00000"/>
                </a:solidFill>
                <a:latin typeface="Cambria Math"/>
                <a:cs typeface="Cambria Math"/>
              </a:rPr>
              <a:t>𝐺</a:t>
            </a:r>
            <a:r>
              <a:rPr dirty="0" baseline="-16666" sz="3000" spc="209">
                <a:solidFill>
                  <a:srgbClr val="C00000"/>
                </a:solidFill>
                <a:latin typeface="Cambria Math"/>
                <a:cs typeface="Cambria Math"/>
              </a:rPr>
              <a:t>$ </a:t>
            </a:r>
            <a:r>
              <a:rPr dirty="0" sz="2800" spc="-5"/>
              <a:t>(the  </a:t>
            </a:r>
            <a:r>
              <a:rPr dirty="0" sz="2800"/>
              <a:t>“anchor”) </a:t>
            </a:r>
            <a:r>
              <a:rPr dirty="0" sz="2800" spc="-5"/>
              <a:t>and </a:t>
            </a:r>
            <a:r>
              <a:rPr dirty="0" sz="2800" spc="-275">
                <a:solidFill>
                  <a:srgbClr val="0000FF"/>
                </a:solidFill>
                <a:latin typeface="Cambria Math"/>
                <a:cs typeface="Cambria Math"/>
              </a:rPr>
              <a:t>𝐺</a:t>
            </a:r>
            <a:r>
              <a:rPr dirty="0" baseline="-16666" sz="3000" spc="-412">
                <a:solidFill>
                  <a:srgbClr val="0000FF"/>
                </a:solidFill>
                <a:latin typeface="Cambria Math"/>
                <a:cs typeface="Cambria Math"/>
              </a:rPr>
              <a:t>%    </a:t>
            </a:r>
            <a:r>
              <a:rPr dirty="0" sz="2800"/>
              <a:t>be a </a:t>
            </a:r>
            <a:r>
              <a:rPr dirty="0" sz="2800" spc="-25"/>
              <a:t>target </a:t>
            </a:r>
            <a:r>
              <a:rPr dirty="0" sz="2800" spc="-15"/>
              <a:t>graph</a:t>
            </a:r>
            <a:r>
              <a:rPr dirty="0" sz="2800" spc="-20"/>
              <a:t> </a:t>
            </a:r>
            <a:r>
              <a:rPr dirty="0" sz="2800" spc="-15"/>
              <a:t>dataset.</a:t>
            </a:r>
            <a:endParaRPr sz="2800">
              <a:latin typeface="Cambria Math"/>
              <a:cs typeface="Cambria Math"/>
            </a:endParaRPr>
          </a:p>
          <a:p>
            <a:pPr marL="332740" indent="-320040">
              <a:lnSpc>
                <a:spcPts val="3229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solidFill>
                  <a:srgbClr val="00B0F0"/>
                </a:solidFill>
                <a:latin typeface="Calibri"/>
                <a:cs typeface="Calibri"/>
              </a:rPr>
              <a:t>Node-level Subgraph </a:t>
            </a:r>
            <a:r>
              <a:rPr dirty="0" sz="2800" spc="-5" b="1">
                <a:solidFill>
                  <a:srgbClr val="00B0F0"/>
                </a:solidFill>
                <a:latin typeface="Calibri"/>
                <a:cs typeface="Calibri"/>
              </a:rPr>
              <a:t>Frequency</a:t>
            </a:r>
            <a:r>
              <a:rPr dirty="0" sz="2800" spc="30" b="1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B0F0"/>
                </a:solidFill>
                <a:latin typeface="Calibri"/>
                <a:cs typeface="Calibri"/>
              </a:rPr>
              <a:t>Definition:</a:t>
            </a:r>
            <a:endParaRPr sz="2800">
              <a:latin typeface="Calibri"/>
              <a:cs typeface="Calibri"/>
            </a:endParaRPr>
          </a:p>
          <a:p>
            <a:pPr marL="332740" marR="250190">
              <a:lnSpc>
                <a:spcPts val="3410"/>
              </a:lnSpc>
              <a:spcBef>
                <a:spcPts val="35"/>
              </a:spcBef>
            </a:pPr>
            <a:r>
              <a:rPr dirty="0" sz="2800" spc="-5"/>
              <a:t>The number of nodes </a:t>
            </a: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𝑢 </a:t>
            </a:r>
            <a:r>
              <a:rPr dirty="0" sz="2800" spc="-5"/>
              <a:t>in </a:t>
            </a:r>
            <a:r>
              <a:rPr dirty="0" sz="2800" spc="-275">
                <a:solidFill>
                  <a:srgbClr val="0000FF"/>
                </a:solidFill>
                <a:latin typeface="Cambria Math"/>
                <a:cs typeface="Cambria Math"/>
              </a:rPr>
              <a:t>𝐺</a:t>
            </a:r>
            <a:r>
              <a:rPr dirty="0" baseline="-16666" sz="3000" spc="-412">
                <a:solidFill>
                  <a:srgbClr val="0000FF"/>
                </a:solidFill>
                <a:latin typeface="Cambria Math"/>
                <a:cs typeface="Cambria Math"/>
              </a:rPr>
              <a:t>% </a:t>
            </a:r>
            <a:r>
              <a:rPr dirty="0" sz="2800" spc="-5">
                <a:solidFill>
                  <a:srgbClr val="002060"/>
                </a:solidFill>
              </a:rPr>
              <a:t>f</a:t>
            </a:r>
            <a:r>
              <a:rPr dirty="0" sz="2800" spc="-5"/>
              <a:t>or which some  </a:t>
            </a:r>
            <a:r>
              <a:rPr dirty="0" sz="2800" spc="-10"/>
              <a:t>subgraph </a:t>
            </a:r>
            <a:r>
              <a:rPr dirty="0" sz="2800" spc="-5"/>
              <a:t>of </a:t>
            </a:r>
            <a:r>
              <a:rPr dirty="0" sz="2800" spc="-275">
                <a:solidFill>
                  <a:srgbClr val="0000FF"/>
                </a:solidFill>
                <a:latin typeface="Cambria Math"/>
                <a:cs typeface="Cambria Math"/>
              </a:rPr>
              <a:t>𝐺</a:t>
            </a:r>
            <a:r>
              <a:rPr dirty="0" baseline="-16666" sz="3000" spc="-412">
                <a:solidFill>
                  <a:srgbClr val="0000FF"/>
                </a:solidFill>
                <a:latin typeface="Cambria Math"/>
                <a:cs typeface="Cambria Math"/>
              </a:rPr>
              <a:t>%    </a:t>
            </a:r>
            <a:r>
              <a:rPr dirty="0" sz="2800" spc="-5"/>
              <a:t>is isomorphic </a:t>
            </a:r>
            <a:r>
              <a:rPr dirty="0" sz="2800" spc="-15"/>
              <a:t>to </a:t>
            </a:r>
            <a:r>
              <a:rPr dirty="0" sz="2800" spc="140">
                <a:solidFill>
                  <a:srgbClr val="C00000"/>
                </a:solidFill>
                <a:latin typeface="Cambria Math"/>
                <a:cs typeface="Cambria Math"/>
              </a:rPr>
              <a:t>𝐺</a:t>
            </a:r>
            <a:r>
              <a:rPr dirty="0" baseline="-16666" sz="3000" spc="209">
                <a:solidFill>
                  <a:srgbClr val="C00000"/>
                </a:solidFill>
                <a:latin typeface="Cambria Math"/>
                <a:cs typeface="Cambria Math"/>
              </a:rPr>
              <a:t>$ </a:t>
            </a:r>
            <a:r>
              <a:rPr dirty="0" sz="2800" spc="-5"/>
              <a:t>and</a:t>
            </a:r>
            <a:r>
              <a:rPr dirty="0" sz="2800" spc="-10"/>
              <a:t> </a:t>
            </a:r>
            <a:r>
              <a:rPr dirty="0" sz="2800" spc="-5"/>
              <a:t>the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108" y="3545332"/>
            <a:ext cx="7287895" cy="885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Calibri"/>
                <a:cs typeface="Calibri"/>
              </a:rPr>
              <a:t>isomorphism maps </a:t>
            </a: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𝑢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𝑣</a:t>
            </a:r>
            <a:endParaRPr sz="28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4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>
                <a:latin typeface="Calibri"/>
                <a:cs typeface="Calibri"/>
              </a:rPr>
              <a:t>Let </a:t>
            </a:r>
            <a:r>
              <a:rPr dirty="0" sz="2800" spc="100">
                <a:latin typeface="Cambria Math"/>
                <a:cs typeface="Cambria Math"/>
              </a:rPr>
              <a:t>(𝐺</a:t>
            </a:r>
            <a:r>
              <a:rPr dirty="0" baseline="-16666" sz="3000" spc="150">
                <a:latin typeface="Cambria Math"/>
                <a:cs typeface="Cambria Math"/>
              </a:rPr>
              <a:t>$</a:t>
            </a:r>
            <a:r>
              <a:rPr dirty="0" sz="2800" spc="100">
                <a:latin typeface="Cambria Math"/>
                <a:cs typeface="Cambria Math"/>
              </a:rPr>
              <a:t>, </a:t>
            </a:r>
            <a:r>
              <a:rPr dirty="0" sz="2800" spc="30">
                <a:latin typeface="Cambria Math"/>
                <a:cs typeface="Cambria Math"/>
              </a:rPr>
              <a:t>𝑣) </a:t>
            </a:r>
            <a:r>
              <a:rPr dirty="0" sz="2800">
                <a:latin typeface="Calibri"/>
                <a:cs typeface="Calibri"/>
              </a:rPr>
              <a:t>be </a:t>
            </a:r>
            <a:r>
              <a:rPr dirty="0" sz="2800" spc="-10">
                <a:latin typeface="Calibri"/>
                <a:cs typeface="Calibri"/>
              </a:rPr>
              <a:t>called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node-anchored</a:t>
            </a:r>
            <a:r>
              <a:rPr dirty="0" sz="2800" spc="-2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subgraph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18514" y="5649181"/>
            <a:ext cx="248920" cy="247650"/>
          </a:xfrm>
          <a:custGeom>
            <a:avLst/>
            <a:gdLst/>
            <a:ahLst/>
            <a:cxnLst/>
            <a:rect l="l" t="t" r="r" b="b"/>
            <a:pathLst>
              <a:path w="248919" h="247650">
                <a:moveTo>
                  <a:pt x="0" y="247439"/>
                </a:moveTo>
                <a:lnTo>
                  <a:pt x="248729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67244" y="5649180"/>
            <a:ext cx="266700" cy="247650"/>
          </a:xfrm>
          <a:custGeom>
            <a:avLst/>
            <a:gdLst/>
            <a:ahLst/>
            <a:cxnLst/>
            <a:rect l="l" t="t" r="r" b="b"/>
            <a:pathLst>
              <a:path w="266700" h="247650">
                <a:moveTo>
                  <a:pt x="266248" y="247438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74974" y="5939820"/>
            <a:ext cx="375285" cy="3810"/>
          </a:xfrm>
          <a:custGeom>
            <a:avLst/>
            <a:gdLst/>
            <a:ahLst/>
            <a:cxnLst/>
            <a:rect l="l" t="t" r="r" b="b"/>
            <a:pathLst>
              <a:path w="375285" h="3810">
                <a:moveTo>
                  <a:pt x="-25400" y="1700"/>
                </a:moveTo>
                <a:lnTo>
                  <a:pt x="400583" y="1700"/>
                </a:lnTo>
              </a:path>
            </a:pathLst>
          </a:custGeom>
          <a:ln w="542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18108" y="4204603"/>
            <a:ext cx="2913380" cy="1527810"/>
          </a:xfrm>
          <a:prstGeom prst="rect">
            <a:avLst/>
          </a:prstGeom>
        </p:spPr>
        <p:txBody>
          <a:bodyPr wrap="square" lIns="0" tIns="243204" rIns="0" bIns="0" rtlCol="0" vert="horz">
            <a:spAutoFit/>
          </a:bodyPr>
          <a:lstStyle/>
          <a:p>
            <a:pPr algn="r" marL="332740" marR="14604" indent="-320040">
              <a:lnSpc>
                <a:spcPct val="100000"/>
              </a:lnSpc>
              <a:spcBef>
                <a:spcPts val="1914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19405" algn="l"/>
                <a:tab pos="332740" algn="l"/>
              </a:tabLst>
            </a:pPr>
            <a:r>
              <a:rPr dirty="0" sz="2800" spc="-15">
                <a:latin typeface="Calibri"/>
                <a:cs typeface="Calibri"/>
              </a:rPr>
              <a:t>Robust to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outliers</a:t>
            </a:r>
            <a:endParaRPr sz="2800">
              <a:latin typeface="Calibri"/>
              <a:cs typeface="Calibri"/>
            </a:endParaRPr>
          </a:p>
          <a:p>
            <a:pPr algn="ctr" marR="519430">
              <a:lnSpc>
                <a:spcPct val="100000"/>
              </a:lnSpc>
              <a:spcBef>
                <a:spcPts val="1165"/>
              </a:spcBef>
            </a:pP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𝑮</a:t>
            </a:r>
            <a:r>
              <a:rPr dirty="0" baseline="-14957" sz="1950">
                <a:solidFill>
                  <a:srgbClr val="C00000"/>
                </a:solidFill>
                <a:latin typeface="Cambria Math"/>
                <a:cs typeface="Cambria Math"/>
              </a:rPr>
              <a:t>𝑸</a:t>
            </a:r>
            <a:endParaRPr baseline="-14957" sz="1950">
              <a:latin typeface="Cambria Math"/>
              <a:cs typeface="Cambria Math"/>
            </a:endParaRPr>
          </a:p>
          <a:p>
            <a:pPr algn="r" marR="5080">
              <a:lnSpc>
                <a:spcPct val="100000"/>
              </a:lnSpc>
              <a:spcBef>
                <a:spcPts val="800"/>
              </a:spcBef>
            </a:pPr>
            <a:r>
              <a:rPr dirty="0" sz="2000" spc="-30">
                <a:latin typeface="Corbel"/>
                <a:cs typeface="Corbel"/>
              </a:rPr>
              <a:t>Anchor</a:t>
            </a:r>
            <a:r>
              <a:rPr dirty="0" sz="2000" spc="-130">
                <a:latin typeface="Corbel"/>
                <a:cs typeface="Corbel"/>
              </a:rPr>
              <a:t> </a:t>
            </a:r>
            <a:r>
              <a:rPr dirty="0" sz="2100">
                <a:latin typeface="Cambria Math"/>
                <a:cs typeface="Cambria Math"/>
              </a:rPr>
              <a:t>𝑣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85906" y="5493716"/>
            <a:ext cx="494665" cy="171450"/>
          </a:xfrm>
          <a:custGeom>
            <a:avLst/>
            <a:gdLst/>
            <a:ahLst/>
            <a:cxnLst/>
            <a:rect l="l" t="t" r="r" b="b"/>
            <a:pathLst>
              <a:path w="494664" h="171450">
                <a:moveTo>
                  <a:pt x="461905" y="66522"/>
                </a:moveTo>
                <a:lnTo>
                  <a:pt x="456757" y="66522"/>
                </a:lnTo>
                <a:lnTo>
                  <a:pt x="464172" y="68019"/>
                </a:lnTo>
                <a:lnTo>
                  <a:pt x="470228" y="72102"/>
                </a:lnTo>
                <a:lnTo>
                  <a:pt x="474310" y="78157"/>
                </a:lnTo>
                <a:lnTo>
                  <a:pt x="475807" y="85574"/>
                </a:lnTo>
                <a:lnTo>
                  <a:pt x="474310" y="92988"/>
                </a:lnTo>
                <a:lnTo>
                  <a:pt x="470227" y="99043"/>
                </a:lnTo>
                <a:lnTo>
                  <a:pt x="464172" y="103126"/>
                </a:lnTo>
                <a:lnTo>
                  <a:pt x="456756" y="104623"/>
                </a:lnTo>
                <a:lnTo>
                  <a:pt x="386292" y="104623"/>
                </a:lnTo>
                <a:lnTo>
                  <a:pt x="332857" y="135793"/>
                </a:lnTo>
                <a:lnTo>
                  <a:pt x="327207" y="140822"/>
                </a:lnTo>
                <a:lnTo>
                  <a:pt x="324034" y="147400"/>
                </a:lnTo>
                <a:lnTo>
                  <a:pt x="323559" y="154687"/>
                </a:lnTo>
                <a:lnTo>
                  <a:pt x="326002" y="161846"/>
                </a:lnTo>
                <a:lnTo>
                  <a:pt x="331031" y="167497"/>
                </a:lnTo>
                <a:lnTo>
                  <a:pt x="337609" y="170670"/>
                </a:lnTo>
                <a:lnTo>
                  <a:pt x="344896" y="171146"/>
                </a:lnTo>
                <a:lnTo>
                  <a:pt x="352055" y="168703"/>
                </a:lnTo>
                <a:lnTo>
                  <a:pt x="461908" y="104623"/>
                </a:lnTo>
                <a:lnTo>
                  <a:pt x="456756" y="104623"/>
                </a:lnTo>
                <a:lnTo>
                  <a:pt x="461909" y="104622"/>
                </a:lnTo>
                <a:lnTo>
                  <a:pt x="494564" y="85574"/>
                </a:lnTo>
                <a:lnTo>
                  <a:pt x="461905" y="66522"/>
                </a:lnTo>
                <a:close/>
              </a:path>
              <a:path w="494664" h="171450">
                <a:moveTo>
                  <a:pt x="418949" y="85573"/>
                </a:moveTo>
                <a:lnTo>
                  <a:pt x="386292" y="104623"/>
                </a:lnTo>
                <a:lnTo>
                  <a:pt x="456760" y="104622"/>
                </a:lnTo>
                <a:lnTo>
                  <a:pt x="464173" y="103125"/>
                </a:lnTo>
                <a:lnTo>
                  <a:pt x="465800" y="102028"/>
                </a:lnTo>
                <a:lnTo>
                  <a:pt x="447157" y="102028"/>
                </a:lnTo>
                <a:lnTo>
                  <a:pt x="418949" y="85573"/>
                </a:lnTo>
                <a:close/>
              </a:path>
              <a:path w="494664" h="171450">
                <a:moveTo>
                  <a:pt x="386291" y="66522"/>
                </a:moveTo>
                <a:lnTo>
                  <a:pt x="19049" y="66522"/>
                </a:lnTo>
                <a:lnTo>
                  <a:pt x="11634" y="68019"/>
                </a:lnTo>
                <a:lnTo>
                  <a:pt x="5579" y="72102"/>
                </a:lnTo>
                <a:lnTo>
                  <a:pt x="1496" y="78157"/>
                </a:lnTo>
                <a:lnTo>
                  <a:pt x="0" y="85574"/>
                </a:lnTo>
                <a:lnTo>
                  <a:pt x="1497" y="92988"/>
                </a:lnTo>
                <a:lnTo>
                  <a:pt x="5580" y="99043"/>
                </a:lnTo>
                <a:lnTo>
                  <a:pt x="11639" y="103126"/>
                </a:lnTo>
                <a:lnTo>
                  <a:pt x="19049" y="104622"/>
                </a:lnTo>
                <a:lnTo>
                  <a:pt x="386293" y="104622"/>
                </a:lnTo>
                <a:lnTo>
                  <a:pt x="418948" y="85572"/>
                </a:lnTo>
                <a:lnTo>
                  <a:pt x="386291" y="66522"/>
                </a:lnTo>
                <a:close/>
              </a:path>
              <a:path w="494664" h="171450">
                <a:moveTo>
                  <a:pt x="447157" y="69118"/>
                </a:moveTo>
                <a:lnTo>
                  <a:pt x="418950" y="85574"/>
                </a:lnTo>
                <a:lnTo>
                  <a:pt x="447157" y="102028"/>
                </a:lnTo>
                <a:lnTo>
                  <a:pt x="447157" y="69118"/>
                </a:lnTo>
                <a:close/>
              </a:path>
              <a:path w="494664" h="171450">
                <a:moveTo>
                  <a:pt x="465802" y="69118"/>
                </a:moveTo>
                <a:lnTo>
                  <a:pt x="447157" y="69118"/>
                </a:lnTo>
                <a:lnTo>
                  <a:pt x="447157" y="102028"/>
                </a:lnTo>
                <a:lnTo>
                  <a:pt x="465800" y="102028"/>
                </a:lnTo>
                <a:lnTo>
                  <a:pt x="470227" y="99042"/>
                </a:lnTo>
                <a:lnTo>
                  <a:pt x="474310" y="92987"/>
                </a:lnTo>
                <a:lnTo>
                  <a:pt x="475807" y="85572"/>
                </a:lnTo>
                <a:lnTo>
                  <a:pt x="474310" y="78157"/>
                </a:lnTo>
                <a:lnTo>
                  <a:pt x="470227" y="72102"/>
                </a:lnTo>
                <a:lnTo>
                  <a:pt x="465802" y="69118"/>
                </a:lnTo>
                <a:close/>
              </a:path>
              <a:path w="494664" h="171450">
                <a:moveTo>
                  <a:pt x="344896" y="0"/>
                </a:moveTo>
                <a:lnTo>
                  <a:pt x="337609" y="475"/>
                </a:lnTo>
                <a:lnTo>
                  <a:pt x="331031" y="3648"/>
                </a:lnTo>
                <a:lnTo>
                  <a:pt x="326002" y="9299"/>
                </a:lnTo>
                <a:lnTo>
                  <a:pt x="323559" y="16458"/>
                </a:lnTo>
                <a:lnTo>
                  <a:pt x="324034" y="23746"/>
                </a:lnTo>
                <a:lnTo>
                  <a:pt x="327207" y="30323"/>
                </a:lnTo>
                <a:lnTo>
                  <a:pt x="332857" y="35353"/>
                </a:lnTo>
                <a:lnTo>
                  <a:pt x="418950" y="85572"/>
                </a:lnTo>
                <a:lnTo>
                  <a:pt x="447157" y="69118"/>
                </a:lnTo>
                <a:lnTo>
                  <a:pt x="465802" y="69118"/>
                </a:lnTo>
                <a:lnTo>
                  <a:pt x="464171" y="68019"/>
                </a:lnTo>
                <a:lnTo>
                  <a:pt x="456757" y="66522"/>
                </a:lnTo>
                <a:lnTo>
                  <a:pt x="461905" y="66522"/>
                </a:lnTo>
                <a:lnTo>
                  <a:pt x="352056" y="2443"/>
                </a:lnTo>
                <a:lnTo>
                  <a:pt x="34489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676054" y="5521252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5" h="186054">
                <a:moveTo>
                  <a:pt x="92980" y="0"/>
                </a:moveTo>
                <a:lnTo>
                  <a:pt x="56787" y="7306"/>
                </a:lnTo>
                <a:lnTo>
                  <a:pt x="27233" y="27233"/>
                </a:lnTo>
                <a:lnTo>
                  <a:pt x="7306" y="56788"/>
                </a:lnTo>
                <a:lnTo>
                  <a:pt x="0" y="92980"/>
                </a:lnTo>
                <a:lnTo>
                  <a:pt x="7306" y="129172"/>
                </a:lnTo>
                <a:lnTo>
                  <a:pt x="27233" y="158727"/>
                </a:lnTo>
                <a:lnTo>
                  <a:pt x="56787" y="178654"/>
                </a:lnTo>
                <a:lnTo>
                  <a:pt x="92980" y="185961"/>
                </a:lnTo>
                <a:lnTo>
                  <a:pt x="129172" y="178654"/>
                </a:lnTo>
                <a:lnTo>
                  <a:pt x="158726" y="158727"/>
                </a:lnTo>
                <a:lnTo>
                  <a:pt x="178653" y="129172"/>
                </a:lnTo>
                <a:lnTo>
                  <a:pt x="185959" y="92980"/>
                </a:lnTo>
                <a:lnTo>
                  <a:pt x="178653" y="56788"/>
                </a:lnTo>
                <a:lnTo>
                  <a:pt x="158726" y="27233"/>
                </a:lnTo>
                <a:lnTo>
                  <a:pt x="129172" y="7306"/>
                </a:lnTo>
                <a:lnTo>
                  <a:pt x="9298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412848" y="5846834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5" h="186054">
                <a:moveTo>
                  <a:pt x="92980" y="0"/>
                </a:moveTo>
                <a:lnTo>
                  <a:pt x="56787" y="7306"/>
                </a:lnTo>
                <a:lnTo>
                  <a:pt x="27233" y="27233"/>
                </a:lnTo>
                <a:lnTo>
                  <a:pt x="7306" y="56788"/>
                </a:lnTo>
                <a:lnTo>
                  <a:pt x="0" y="92980"/>
                </a:lnTo>
                <a:lnTo>
                  <a:pt x="7306" y="129172"/>
                </a:lnTo>
                <a:lnTo>
                  <a:pt x="27233" y="158727"/>
                </a:lnTo>
                <a:lnTo>
                  <a:pt x="56787" y="178654"/>
                </a:lnTo>
                <a:lnTo>
                  <a:pt x="92980" y="185961"/>
                </a:lnTo>
                <a:lnTo>
                  <a:pt x="129172" y="178654"/>
                </a:lnTo>
                <a:lnTo>
                  <a:pt x="158727" y="158727"/>
                </a:lnTo>
                <a:lnTo>
                  <a:pt x="178654" y="129172"/>
                </a:lnTo>
                <a:lnTo>
                  <a:pt x="185961" y="92980"/>
                </a:lnTo>
                <a:lnTo>
                  <a:pt x="178654" y="56788"/>
                </a:lnTo>
                <a:lnTo>
                  <a:pt x="158727" y="27233"/>
                </a:lnTo>
                <a:lnTo>
                  <a:pt x="129172" y="7306"/>
                </a:lnTo>
                <a:lnTo>
                  <a:pt x="9298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947628" y="5846834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5" h="186054">
                <a:moveTo>
                  <a:pt x="92980" y="0"/>
                </a:moveTo>
                <a:lnTo>
                  <a:pt x="56788" y="7306"/>
                </a:lnTo>
                <a:lnTo>
                  <a:pt x="27233" y="27233"/>
                </a:lnTo>
                <a:lnTo>
                  <a:pt x="7306" y="56788"/>
                </a:lnTo>
                <a:lnTo>
                  <a:pt x="0" y="92980"/>
                </a:lnTo>
                <a:lnTo>
                  <a:pt x="7306" y="129172"/>
                </a:lnTo>
                <a:lnTo>
                  <a:pt x="27233" y="158727"/>
                </a:lnTo>
                <a:lnTo>
                  <a:pt x="56788" y="178654"/>
                </a:lnTo>
                <a:lnTo>
                  <a:pt x="92980" y="185961"/>
                </a:lnTo>
                <a:lnTo>
                  <a:pt x="129173" y="178654"/>
                </a:lnTo>
                <a:lnTo>
                  <a:pt x="158727" y="158727"/>
                </a:lnTo>
                <a:lnTo>
                  <a:pt x="178654" y="129172"/>
                </a:lnTo>
                <a:lnTo>
                  <a:pt x="185961" y="92980"/>
                </a:lnTo>
                <a:lnTo>
                  <a:pt x="178654" y="56788"/>
                </a:lnTo>
                <a:lnTo>
                  <a:pt x="158727" y="27233"/>
                </a:lnTo>
                <a:lnTo>
                  <a:pt x="129173" y="7306"/>
                </a:lnTo>
                <a:lnTo>
                  <a:pt x="9298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309202" y="4574540"/>
            <a:ext cx="18580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">
                <a:solidFill>
                  <a:srgbClr val="C00000"/>
                </a:solidFill>
                <a:latin typeface="Cambria Math"/>
                <a:cs typeface="Cambria Math"/>
              </a:rPr>
              <a:t>𝑮</a:t>
            </a:r>
            <a:r>
              <a:rPr dirty="0" baseline="-14957" sz="1950" spc="15">
                <a:solidFill>
                  <a:srgbClr val="C00000"/>
                </a:solidFill>
                <a:latin typeface="Cambria Math"/>
                <a:cs typeface="Cambria Math"/>
              </a:rPr>
              <a:t>𝑸</a:t>
            </a:r>
            <a:r>
              <a:rPr dirty="0" sz="1800" spc="10">
                <a:solidFill>
                  <a:srgbClr val="C00000"/>
                </a:solidFill>
                <a:latin typeface="Cambria Math"/>
                <a:cs typeface="Cambria Math"/>
              </a:rPr>
              <a:t>: 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Star</a:t>
            </a:r>
            <a:r>
              <a:rPr dirty="0" sz="1800" spc="-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subgraph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56081" y="5634300"/>
            <a:ext cx="923925" cy="454025"/>
          </a:xfrm>
          <a:custGeom>
            <a:avLst/>
            <a:gdLst/>
            <a:ahLst/>
            <a:cxnLst/>
            <a:rect l="l" t="t" r="r" b="b"/>
            <a:pathLst>
              <a:path w="923925" h="454025">
                <a:moveTo>
                  <a:pt x="904671" y="0"/>
                </a:moveTo>
                <a:lnTo>
                  <a:pt x="898424" y="5063"/>
                </a:lnTo>
                <a:lnTo>
                  <a:pt x="896962" y="19040"/>
                </a:lnTo>
                <a:lnTo>
                  <a:pt x="902026" y="25287"/>
                </a:lnTo>
                <a:lnTo>
                  <a:pt x="915977" y="26747"/>
                </a:lnTo>
                <a:lnTo>
                  <a:pt x="922224" y="21683"/>
                </a:lnTo>
                <a:lnTo>
                  <a:pt x="923687" y="7706"/>
                </a:lnTo>
                <a:lnTo>
                  <a:pt x="918624" y="1459"/>
                </a:lnTo>
                <a:lnTo>
                  <a:pt x="904671" y="0"/>
                </a:lnTo>
                <a:close/>
              </a:path>
              <a:path w="923925" h="454025">
                <a:moveTo>
                  <a:pt x="899298" y="49600"/>
                </a:moveTo>
                <a:lnTo>
                  <a:pt x="892411" y="53751"/>
                </a:lnTo>
                <a:lnTo>
                  <a:pt x="889030" y="67392"/>
                </a:lnTo>
                <a:lnTo>
                  <a:pt x="893182" y="74279"/>
                </a:lnTo>
                <a:lnTo>
                  <a:pt x="906797" y="77654"/>
                </a:lnTo>
                <a:lnTo>
                  <a:pt x="913684" y="73502"/>
                </a:lnTo>
                <a:lnTo>
                  <a:pt x="917065" y="59862"/>
                </a:lnTo>
                <a:lnTo>
                  <a:pt x="912914" y="52975"/>
                </a:lnTo>
                <a:lnTo>
                  <a:pt x="899298" y="49600"/>
                </a:lnTo>
                <a:close/>
              </a:path>
              <a:path w="923925" h="454025">
                <a:moveTo>
                  <a:pt x="887431" y="98257"/>
                </a:moveTo>
                <a:lnTo>
                  <a:pt x="880140" y="101648"/>
                </a:lnTo>
                <a:lnTo>
                  <a:pt x="875319" y="114849"/>
                </a:lnTo>
                <a:lnTo>
                  <a:pt x="878711" y="122140"/>
                </a:lnTo>
                <a:lnTo>
                  <a:pt x="891887" y="126951"/>
                </a:lnTo>
                <a:lnTo>
                  <a:pt x="899179" y="123560"/>
                </a:lnTo>
                <a:lnTo>
                  <a:pt x="903999" y="110359"/>
                </a:lnTo>
                <a:lnTo>
                  <a:pt x="900609" y="103068"/>
                </a:lnTo>
                <a:lnTo>
                  <a:pt x="887431" y="98257"/>
                </a:lnTo>
                <a:close/>
              </a:path>
              <a:path w="923925" h="454025">
                <a:moveTo>
                  <a:pt x="869788" y="145114"/>
                </a:moveTo>
                <a:lnTo>
                  <a:pt x="862182" y="147726"/>
                </a:lnTo>
                <a:lnTo>
                  <a:pt x="856013" y="160352"/>
                </a:lnTo>
                <a:lnTo>
                  <a:pt x="858625" y="167957"/>
                </a:lnTo>
                <a:lnTo>
                  <a:pt x="871228" y="174116"/>
                </a:lnTo>
                <a:lnTo>
                  <a:pt x="878833" y="171504"/>
                </a:lnTo>
                <a:lnTo>
                  <a:pt x="885004" y="158877"/>
                </a:lnTo>
                <a:lnTo>
                  <a:pt x="882392" y="151272"/>
                </a:lnTo>
                <a:lnTo>
                  <a:pt x="869788" y="145114"/>
                </a:lnTo>
                <a:close/>
              </a:path>
              <a:path w="923925" h="454025">
                <a:moveTo>
                  <a:pt x="846802" y="189593"/>
                </a:moveTo>
                <a:lnTo>
                  <a:pt x="838972" y="191420"/>
                </a:lnTo>
                <a:lnTo>
                  <a:pt x="831552" y="203355"/>
                </a:lnTo>
                <a:lnTo>
                  <a:pt x="833379" y="211186"/>
                </a:lnTo>
                <a:lnTo>
                  <a:pt x="845291" y="218593"/>
                </a:lnTo>
                <a:lnTo>
                  <a:pt x="853123" y="216766"/>
                </a:lnTo>
                <a:lnTo>
                  <a:pt x="860543" y="204831"/>
                </a:lnTo>
                <a:lnTo>
                  <a:pt x="858716" y="197000"/>
                </a:lnTo>
                <a:lnTo>
                  <a:pt x="846802" y="189593"/>
                </a:lnTo>
                <a:close/>
              </a:path>
              <a:path w="923925" h="454025">
                <a:moveTo>
                  <a:pt x="818962" y="231223"/>
                </a:moveTo>
                <a:lnTo>
                  <a:pt x="810990" y="232272"/>
                </a:lnTo>
                <a:lnTo>
                  <a:pt x="802434" y="243420"/>
                </a:lnTo>
                <a:lnTo>
                  <a:pt x="803483" y="251393"/>
                </a:lnTo>
                <a:lnTo>
                  <a:pt x="814611" y="259934"/>
                </a:lnTo>
                <a:lnTo>
                  <a:pt x="822584" y="258885"/>
                </a:lnTo>
                <a:lnTo>
                  <a:pt x="831140" y="247736"/>
                </a:lnTo>
                <a:lnTo>
                  <a:pt x="830091" y="239764"/>
                </a:lnTo>
                <a:lnTo>
                  <a:pt x="818962" y="231223"/>
                </a:lnTo>
                <a:close/>
              </a:path>
              <a:path w="923925" h="454025">
                <a:moveTo>
                  <a:pt x="786762" y="269619"/>
                </a:moveTo>
                <a:lnTo>
                  <a:pt x="778727" y="269916"/>
                </a:lnTo>
                <a:lnTo>
                  <a:pt x="769164" y="280214"/>
                </a:lnTo>
                <a:lnTo>
                  <a:pt x="769461" y="288250"/>
                </a:lnTo>
                <a:lnTo>
                  <a:pt x="779740" y="297795"/>
                </a:lnTo>
                <a:lnTo>
                  <a:pt x="787775" y="297498"/>
                </a:lnTo>
                <a:lnTo>
                  <a:pt x="797339" y="287200"/>
                </a:lnTo>
                <a:lnTo>
                  <a:pt x="797041" y="279164"/>
                </a:lnTo>
                <a:lnTo>
                  <a:pt x="786762" y="269619"/>
                </a:lnTo>
                <a:close/>
              </a:path>
              <a:path w="923925" h="454025">
                <a:moveTo>
                  <a:pt x="742731" y="304040"/>
                </a:moveTo>
                <a:lnTo>
                  <a:pt x="732255" y="313407"/>
                </a:lnTo>
                <a:lnTo>
                  <a:pt x="731805" y="321436"/>
                </a:lnTo>
                <a:lnTo>
                  <a:pt x="741156" y="331893"/>
                </a:lnTo>
                <a:lnTo>
                  <a:pt x="749185" y="332342"/>
                </a:lnTo>
                <a:lnTo>
                  <a:pt x="759661" y="322974"/>
                </a:lnTo>
                <a:lnTo>
                  <a:pt x="760110" y="314946"/>
                </a:lnTo>
                <a:lnTo>
                  <a:pt x="750759" y="304488"/>
                </a:lnTo>
                <a:lnTo>
                  <a:pt x="742731" y="304040"/>
                </a:lnTo>
                <a:close/>
              </a:path>
              <a:path w="923925" h="454025">
                <a:moveTo>
                  <a:pt x="704729" y="334262"/>
                </a:moveTo>
                <a:lnTo>
                  <a:pt x="692749" y="341609"/>
                </a:lnTo>
                <a:lnTo>
                  <a:pt x="690873" y="349428"/>
                </a:lnTo>
                <a:lnTo>
                  <a:pt x="698206" y="361387"/>
                </a:lnTo>
                <a:lnTo>
                  <a:pt x="706026" y="363262"/>
                </a:lnTo>
                <a:lnTo>
                  <a:pt x="718007" y="355916"/>
                </a:lnTo>
                <a:lnTo>
                  <a:pt x="719881" y="348096"/>
                </a:lnTo>
                <a:lnTo>
                  <a:pt x="712548" y="336138"/>
                </a:lnTo>
                <a:lnTo>
                  <a:pt x="704729" y="334262"/>
                </a:lnTo>
                <a:close/>
              </a:path>
              <a:path w="923925" h="454025">
                <a:moveTo>
                  <a:pt x="662484" y="360471"/>
                </a:moveTo>
                <a:lnTo>
                  <a:pt x="649902" y="366732"/>
                </a:lnTo>
                <a:lnTo>
                  <a:pt x="647344" y="374355"/>
                </a:lnTo>
                <a:lnTo>
                  <a:pt x="653594" y="386915"/>
                </a:lnTo>
                <a:lnTo>
                  <a:pt x="661217" y="389472"/>
                </a:lnTo>
                <a:lnTo>
                  <a:pt x="673799" y="383212"/>
                </a:lnTo>
                <a:lnTo>
                  <a:pt x="676357" y="375588"/>
                </a:lnTo>
                <a:lnTo>
                  <a:pt x="670107" y="363029"/>
                </a:lnTo>
                <a:lnTo>
                  <a:pt x="662484" y="360471"/>
                </a:lnTo>
                <a:close/>
              </a:path>
              <a:path w="923925" h="454025">
                <a:moveTo>
                  <a:pt x="617941" y="382566"/>
                </a:moveTo>
                <a:lnTo>
                  <a:pt x="604865" y="387715"/>
                </a:lnTo>
                <a:lnTo>
                  <a:pt x="601658" y="395089"/>
                </a:lnTo>
                <a:lnTo>
                  <a:pt x="606798" y="408142"/>
                </a:lnTo>
                <a:lnTo>
                  <a:pt x="614171" y="411349"/>
                </a:lnTo>
                <a:lnTo>
                  <a:pt x="627247" y="406200"/>
                </a:lnTo>
                <a:lnTo>
                  <a:pt x="630454" y="398826"/>
                </a:lnTo>
                <a:lnTo>
                  <a:pt x="625314" y="385773"/>
                </a:lnTo>
                <a:lnTo>
                  <a:pt x="617941" y="382566"/>
                </a:lnTo>
                <a:close/>
              </a:path>
              <a:path w="923925" h="454025">
                <a:moveTo>
                  <a:pt x="571587" y="400417"/>
                </a:moveTo>
                <a:lnTo>
                  <a:pt x="558102" y="404375"/>
                </a:lnTo>
                <a:lnTo>
                  <a:pt x="554248" y="411433"/>
                </a:lnTo>
                <a:lnTo>
                  <a:pt x="558199" y="424893"/>
                </a:lnTo>
                <a:lnTo>
                  <a:pt x="565256" y="428747"/>
                </a:lnTo>
                <a:lnTo>
                  <a:pt x="578740" y="424789"/>
                </a:lnTo>
                <a:lnTo>
                  <a:pt x="582594" y="417732"/>
                </a:lnTo>
                <a:lnTo>
                  <a:pt x="578645" y="404272"/>
                </a:lnTo>
                <a:lnTo>
                  <a:pt x="571587" y="400417"/>
                </a:lnTo>
                <a:close/>
              </a:path>
              <a:path w="923925" h="454025">
                <a:moveTo>
                  <a:pt x="523744" y="413891"/>
                </a:moveTo>
                <a:lnTo>
                  <a:pt x="509968" y="416670"/>
                </a:lnTo>
                <a:lnTo>
                  <a:pt x="505518" y="423368"/>
                </a:lnTo>
                <a:lnTo>
                  <a:pt x="508293" y="437119"/>
                </a:lnTo>
                <a:lnTo>
                  <a:pt x="514991" y="441569"/>
                </a:lnTo>
                <a:lnTo>
                  <a:pt x="528767" y="438789"/>
                </a:lnTo>
                <a:lnTo>
                  <a:pt x="533217" y="432091"/>
                </a:lnTo>
                <a:lnTo>
                  <a:pt x="530442" y="418340"/>
                </a:lnTo>
                <a:lnTo>
                  <a:pt x="523744" y="413891"/>
                </a:lnTo>
                <a:close/>
              </a:path>
              <a:path w="923925" h="454025">
                <a:moveTo>
                  <a:pt x="474934" y="422927"/>
                </a:moveTo>
                <a:lnTo>
                  <a:pt x="460961" y="424441"/>
                </a:lnTo>
                <a:lnTo>
                  <a:pt x="455922" y="430707"/>
                </a:lnTo>
                <a:lnTo>
                  <a:pt x="457433" y="444653"/>
                </a:lnTo>
                <a:lnTo>
                  <a:pt x="463698" y="449693"/>
                </a:lnTo>
                <a:lnTo>
                  <a:pt x="477671" y="448179"/>
                </a:lnTo>
                <a:lnTo>
                  <a:pt x="482710" y="441913"/>
                </a:lnTo>
                <a:lnTo>
                  <a:pt x="481199" y="427967"/>
                </a:lnTo>
                <a:lnTo>
                  <a:pt x="474934" y="422927"/>
                </a:lnTo>
                <a:close/>
              </a:path>
              <a:path w="923925" h="454025">
                <a:moveTo>
                  <a:pt x="425202" y="427689"/>
                </a:moveTo>
                <a:lnTo>
                  <a:pt x="411159" y="428268"/>
                </a:lnTo>
                <a:lnTo>
                  <a:pt x="405712" y="434184"/>
                </a:lnTo>
                <a:lnTo>
                  <a:pt x="406292" y="448200"/>
                </a:lnTo>
                <a:lnTo>
                  <a:pt x="412206" y="453646"/>
                </a:lnTo>
                <a:lnTo>
                  <a:pt x="426248" y="453067"/>
                </a:lnTo>
                <a:lnTo>
                  <a:pt x="431695" y="447152"/>
                </a:lnTo>
                <a:lnTo>
                  <a:pt x="431116" y="433136"/>
                </a:lnTo>
                <a:lnTo>
                  <a:pt x="425202" y="427689"/>
                </a:lnTo>
                <a:close/>
              </a:path>
              <a:path w="923925" h="454025">
                <a:moveTo>
                  <a:pt x="361579" y="426876"/>
                </a:moveTo>
                <a:lnTo>
                  <a:pt x="355594" y="432247"/>
                </a:lnTo>
                <a:lnTo>
                  <a:pt x="354839" y="446255"/>
                </a:lnTo>
                <a:lnTo>
                  <a:pt x="360210" y="452239"/>
                </a:lnTo>
                <a:lnTo>
                  <a:pt x="374243" y="452997"/>
                </a:lnTo>
                <a:lnTo>
                  <a:pt x="380227" y="447625"/>
                </a:lnTo>
                <a:lnTo>
                  <a:pt x="380983" y="433618"/>
                </a:lnTo>
                <a:lnTo>
                  <a:pt x="375612" y="427634"/>
                </a:lnTo>
                <a:lnTo>
                  <a:pt x="361579" y="426876"/>
                </a:lnTo>
                <a:close/>
              </a:path>
              <a:path w="923925" h="454025">
                <a:moveTo>
                  <a:pt x="312508" y="420905"/>
                </a:moveTo>
                <a:lnTo>
                  <a:pt x="305982" y="425602"/>
                </a:lnTo>
                <a:lnTo>
                  <a:pt x="303726" y="439448"/>
                </a:lnTo>
                <a:lnTo>
                  <a:pt x="308423" y="445974"/>
                </a:lnTo>
                <a:lnTo>
                  <a:pt x="322294" y="448235"/>
                </a:lnTo>
                <a:lnTo>
                  <a:pt x="328820" y="443537"/>
                </a:lnTo>
                <a:lnTo>
                  <a:pt x="331077" y="429692"/>
                </a:lnTo>
                <a:lnTo>
                  <a:pt x="326379" y="423166"/>
                </a:lnTo>
                <a:lnTo>
                  <a:pt x="312508" y="420905"/>
                </a:lnTo>
                <a:close/>
              </a:path>
              <a:path w="923925" h="454025">
                <a:moveTo>
                  <a:pt x="264269" y="410380"/>
                </a:moveTo>
                <a:lnTo>
                  <a:pt x="257260" y="414321"/>
                </a:lnTo>
                <a:lnTo>
                  <a:pt x="253475" y="427829"/>
                </a:lnTo>
                <a:lnTo>
                  <a:pt x="257416" y="434838"/>
                </a:lnTo>
                <a:lnTo>
                  <a:pt x="270948" y="438629"/>
                </a:lnTo>
                <a:lnTo>
                  <a:pt x="277957" y="434688"/>
                </a:lnTo>
                <a:lnTo>
                  <a:pt x="281743" y="421180"/>
                </a:lnTo>
                <a:lnTo>
                  <a:pt x="277801" y="414171"/>
                </a:lnTo>
                <a:lnTo>
                  <a:pt x="264269" y="410380"/>
                </a:lnTo>
                <a:close/>
              </a:path>
              <a:path w="923925" h="454025">
                <a:moveTo>
                  <a:pt x="216505" y="395234"/>
                </a:moveTo>
                <a:lnTo>
                  <a:pt x="209289" y="398783"/>
                </a:lnTo>
                <a:lnTo>
                  <a:pt x="204767" y="412063"/>
                </a:lnTo>
                <a:lnTo>
                  <a:pt x="208316" y="419278"/>
                </a:lnTo>
                <a:lnTo>
                  <a:pt x="221620" y="423809"/>
                </a:lnTo>
                <a:lnTo>
                  <a:pt x="228836" y="420259"/>
                </a:lnTo>
                <a:lnTo>
                  <a:pt x="233357" y="406980"/>
                </a:lnTo>
                <a:lnTo>
                  <a:pt x="229809" y="399765"/>
                </a:lnTo>
                <a:lnTo>
                  <a:pt x="216505" y="395234"/>
                </a:lnTo>
                <a:close/>
              </a:path>
              <a:path w="923925" h="454025">
                <a:moveTo>
                  <a:pt x="171376" y="375172"/>
                </a:moveTo>
                <a:lnTo>
                  <a:pt x="163807" y="377887"/>
                </a:lnTo>
                <a:lnTo>
                  <a:pt x="157820" y="390573"/>
                </a:lnTo>
                <a:lnTo>
                  <a:pt x="160534" y="398142"/>
                </a:lnTo>
                <a:lnTo>
                  <a:pt x="173243" y="404140"/>
                </a:lnTo>
                <a:lnTo>
                  <a:pt x="180812" y="401425"/>
                </a:lnTo>
                <a:lnTo>
                  <a:pt x="186800" y="388739"/>
                </a:lnTo>
                <a:lnTo>
                  <a:pt x="184085" y="381170"/>
                </a:lnTo>
                <a:lnTo>
                  <a:pt x="171376" y="375172"/>
                </a:lnTo>
                <a:close/>
              </a:path>
              <a:path w="923925" h="454025">
                <a:moveTo>
                  <a:pt x="128576" y="350594"/>
                </a:moveTo>
                <a:lnTo>
                  <a:pt x="120747" y="352431"/>
                </a:lnTo>
                <a:lnTo>
                  <a:pt x="113357" y="364355"/>
                </a:lnTo>
                <a:lnTo>
                  <a:pt x="115195" y="372183"/>
                </a:lnTo>
                <a:lnTo>
                  <a:pt x="127139" y="379587"/>
                </a:lnTo>
                <a:lnTo>
                  <a:pt x="134967" y="377749"/>
                </a:lnTo>
                <a:lnTo>
                  <a:pt x="142358" y="365826"/>
                </a:lnTo>
                <a:lnTo>
                  <a:pt x="140521" y="357997"/>
                </a:lnTo>
                <a:lnTo>
                  <a:pt x="128576" y="350594"/>
                </a:lnTo>
                <a:close/>
              </a:path>
              <a:path w="923925" h="454025">
                <a:moveTo>
                  <a:pt x="88747" y="321600"/>
                </a:moveTo>
                <a:lnTo>
                  <a:pt x="80755" y="322486"/>
                </a:lnTo>
                <a:lnTo>
                  <a:pt x="71989" y="333437"/>
                </a:lnTo>
                <a:lnTo>
                  <a:pt x="72875" y="341429"/>
                </a:lnTo>
                <a:lnTo>
                  <a:pt x="83846" y="350212"/>
                </a:lnTo>
                <a:lnTo>
                  <a:pt x="91838" y="349326"/>
                </a:lnTo>
                <a:lnTo>
                  <a:pt x="100605" y="338374"/>
                </a:lnTo>
                <a:lnTo>
                  <a:pt x="99719" y="330382"/>
                </a:lnTo>
                <a:lnTo>
                  <a:pt x="88747" y="321600"/>
                </a:lnTo>
                <a:close/>
              </a:path>
              <a:path w="923925" h="454025">
                <a:moveTo>
                  <a:pt x="44375" y="288273"/>
                </a:moveTo>
                <a:lnTo>
                  <a:pt x="34349" y="298085"/>
                </a:lnTo>
                <a:lnTo>
                  <a:pt x="34263" y="306126"/>
                </a:lnTo>
                <a:lnTo>
                  <a:pt x="44091" y="316170"/>
                </a:lnTo>
                <a:lnTo>
                  <a:pt x="52133" y="316256"/>
                </a:lnTo>
                <a:lnTo>
                  <a:pt x="62158" y="306445"/>
                </a:lnTo>
                <a:lnTo>
                  <a:pt x="62245" y="298404"/>
                </a:lnTo>
                <a:lnTo>
                  <a:pt x="52415" y="288360"/>
                </a:lnTo>
                <a:lnTo>
                  <a:pt x="44375" y="288273"/>
                </a:lnTo>
                <a:close/>
              </a:path>
              <a:path w="923925" h="454025">
                <a:moveTo>
                  <a:pt x="12294" y="250064"/>
                </a:moveTo>
                <a:lnTo>
                  <a:pt x="1106" y="258526"/>
                </a:lnTo>
                <a:lnTo>
                  <a:pt x="0" y="266490"/>
                </a:lnTo>
                <a:lnTo>
                  <a:pt x="8477" y="277699"/>
                </a:lnTo>
                <a:lnTo>
                  <a:pt x="16442" y="278805"/>
                </a:lnTo>
                <a:lnTo>
                  <a:pt x="27631" y="270343"/>
                </a:lnTo>
                <a:lnTo>
                  <a:pt x="28736" y="262378"/>
                </a:lnTo>
                <a:lnTo>
                  <a:pt x="20259" y="251169"/>
                </a:lnTo>
                <a:lnTo>
                  <a:pt x="12294" y="250064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229791" y="5085272"/>
            <a:ext cx="3175" cy="300355"/>
          </a:xfrm>
          <a:custGeom>
            <a:avLst/>
            <a:gdLst/>
            <a:ahLst/>
            <a:cxnLst/>
            <a:rect l="l" t="t" r="r" b="b"/>
            <a:pathLst>
              <a:path w="3175" h="300354">
                <a:moveTo>
                  <a:pt x="1368" y="-15875"/>
                </a:moveTo>
                <a:lnTo>
                  <a:pt x="1368" y="315857"/>
                </a:lnTo>
              </a:path>
            </a:pathLst>
          </a:custGeom>
          <a:ln w="34487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236574" y="5050663"/>
            <a:ext cx="247650" cy="437515"/>
          </a:xfrm>
          <a:custGeom>
            <a:avLst/>
            <a:gdLst/>
            <a:ahLst/>
            <a:cxnLst/>
            <a:rect l="l" t="t" r="r" b="b"/>
            <a:pathLst>
              <a:path w="247650" h="437514">
                <a:moveTo>
                  <a:pt x="0" y="437448"/>
                </a:moveTo>
                <a:lnTo>
                  <a:pt x="247198" y="0"/>
                </a:lnTo>
              </a:path>
            </a:pathLst>
          </a:custGeom>
          <a:ln w="3175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238436" y="5229266"/>
            <a:ext cx="416559" cy="251460"/>
          </a:xfrm>
          <a:custGeom>
            <a:avLst/>
            <a:gdLst/>
            <a:ahLst/>
            <a:cxnLst/>
            <a:rect l="l" t="t" r="r" b="b"/>
            <a:pathLst>
              <a:path w="416560" h="251460">
                <a:moveTo>
                  <a:pt x="0" y="251403"/>
                </a:moveTo>
                <a:lnTo>
                  <a:pt x="416175" y="0"/>
                </a:lnTo>
              </a:path>
            </a:pathLst>
          </a:custGeom>
          <a:ln w="3175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242157" y="5475089"/>
            <a:ext cx="499109" cy="3810"/>
          </a:xfrm>
          <a:custGeom>
            <a:avLst/>
            <a:gdLst/>
            <a:ahLst/>
            <a:cxnLst/>
            <a:rect l="l" t="t" r="r" b="b"/>
            <a:pathLst>
              <a:path w="499110" h="3810">
                <a:moveTo>
                  <a:pt x="0" y="3721"/>
                </a:moveTo>
                <a:lnTo>
                  <a:pt x="498602" y="0"/>
                </a:lnTo>
              </a:path>
            </a:pathLst>
          </a:custGeom>
          <a:ln w="3175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820851" y="5478810"/>
            <a:ext cx="413384" cy="635"/>
          </a:xfrm>
          <a:custGeom>
            <a:avLst/>
            <a:gdLst/>
            <a:ahLst/>
            <a:cxnLst/>
            <a:rect l="l" t="t" r="r" b="b"/>
            <a:pathLst>
              <a:path w="413385" h="635">
                <a:moveTo>
                  <a:pt x="0" y="90"/>
                </a:moveTo>
                <a:lnTo>
                  <a:pt x="413357" y="0"/>
                </a:lnTo>
              </a:path>
            </a:pathLst>
          </a:custGeom>
          <a:ln w="3175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633558" y="5385254"/>
            <a:ext cx="187325" cy="187325"/>
          </a:xfrm>
          <a:custGeom>
            <a:avLst/>
            <a:gdLst/>
            <a:ahLst/>
            <a:cxnLst/>
            <a:rect l="l" t="t" r="r" b="b"/>
            <a:pathLst>
              <a:path w="187325" h="187325">
                <a:moveTo>
                  <a:pt x="93645" y="0"/>
                </a:moveTo>
                <a:lnTo>
                  <a:pt x="57194" y="7359"/>
                </a:lnTo>
                <a:lnTo>
                  <a:pt x="27428" y="27428"/>
                </a:lnTo>
                <a:lnTo>
                  <a:pt x="7359" y="57194"/>
                </a:lnTo>
                <a:lnTo>
                  <a:pt x="0" y="93645"/>
                </a:lnTo>
                <a:lnTo>
                  <a:pt x="7359" y="130097"/>
                </a:lnTo>
                <a:lnTo>
                  <a:pt x="27428" y="159863"/>
                </a:lnTo>
                <a:lnTo>
                  <a:pt x="57194" y="179932"/>
                </a:lnTo>
                <a:lnTo>
                  <a:pt x="93645" y="187291"/>
                </a:lnTo>
                <a:lnTo>
                  <a:pt x="130097" y="179932"/>
                </a:lnTo>
                <a:lnTo>
                  <a:pt x="159864" y="159863"/>
                </a:lnTo>
                <a:lnTo>
                  <a:pt x="179933" y="130097"/>
                </a:lnTo>
                <a:lnTo>
                  <a:pt x="187293" y="93645"/>
                </a:lnTo>
                <a:lnTo>
                  <a:pt x="179933" y="57194"/>
                </a:lnTo>
                <a:lnTo>
                  <a:pt x="159864" y="27428"/>
                </a:lnTo>
                <a:lnTo>
                  <a:pt x="130097" y="7359"/>
                </a:lnTo>
                <a:lnTo>
                  <a:pt x="936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638730" y="5385254"/>
            <a:ext cx="187325" cy="187325"/>
          </a:xfrm>
          <a:custGeom>
            <a:avLst/>
            <a:gdLst/>
            <a:ahLst/>
            <a:cxnLst/>
            <a:rect l="l" t="t" r="r" b="b"/>
            <a:pathLst>
              <a:path w="187325" h="187325">
                <a:moveTo>
                  <a:pt x="93645" y="0"/>
                </a:moveTo>
                <a:lnTo>
                  <a:pt x="57194" y="7359"/>
                </a:lnTo>
                <a:lnTo>
                  <a:pt x="27428" y="27428"/>
                </a:lnTo>
                <a:lnTo>
                  <a:pt x="7359" y="57194"/>
                </a:lnTo>
                <a:lnTo>
                  <a:pt x="0" y="93645"/>
                </a:lnTo>
                <a:lnTo>
                  <a:pt x="7359" y="130097"/>
                </a:lnTo>
                <a:lnTo>
                  <a:pt x="27428" y="159863"/>
                </a:lnTo>
                <a:lnTo>
                  <a:pt x="57194" y="179932"/>
                </a:lnTo>
                <a:lnTo>
                  <a:pt x="93645" y="187291"/>
                </a:lnTo>
                <a:lnTo>
                  <a:pt x="130097" y="179932"/>
                </a:lnTo>
                <a:lnTo>
                  <a:pt x="159864" y="159863"/>
                </a:lnTo>
                <a:lnTo>
                  <a:pt x="179933" y="130097"/>
                </a:lnTo>
                <a:lnTo>
                  <a:pt x="187293" y="93645"/>
                </a:lnTo>
                <a:lnTo>
                  <a:pt x="179933" y="57194"/>
                </a:lnTo>
                <a:lnTo>
                  <a:pt x="159864" y="27428"/>
                </a:lnTo>
                <a:lnTo>
                  <a:pt x="130097" y="7359"/>
                </a:lnTo>
                <a:lnTo>
                  <a:pt x="936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576606" y="5135710"/>
            <a:ext cx="187325" cy="187325"/>
          </a:xfrm>
          <a:custGeom>
            <a:avLst/>
            <a:gdLst/>
            <a:ahLst/>
            <a:cxnLst/>
            <a:rect l="l" t="t" r="r" b="b"/>
            <a:pathLst>
              <a:path w="187325" h="187325">
                <a:moveTo>
                  <a:pt x="93645" y="0"/>
                </a:moveTo>
                <a:lnTo>
                  <a:pt x="57194" y="7359"/>
                </a:lnTo>
                <a:lnTo>
                  <a:pt x="27428" y="27428"/>
                </a:lnTo>
                <a:lnTo>
                  <a:pt x="7359" y="57195"/>
                </a:lnTo>
                <a:lnTo>
                  <a:pt x="0" y="93647"/>
                </a:lnTo>
                <a:lnTo>
                  <a:pt x="7359" y="130098"/>
                </a:lnTo>
                <a:lnTo>
                  <a:pt x="27428" y="159865"/>
                </a:lnTo>
                <a:lnTo>
                  <a:pt x="57194" y="179934"/>
                </a:lnTo>
                <a:lnTo>
                  <a:pt x="93645" y="187293"/>
                </a:lnTo>
                <a:lnTo>
                  <a:pt x="130097" y="179934"/>
                </a:lnTo>
                <a:lnTo>
                  <a:pt x="159864" y="159865"/>
                </a:lnTo>
                <a:lnTo>
                  <a:pt x="179933" y="130098"/>
                </a:lnTo>
                <a:lnTo>
                  <a:pt x="187293" y="93647"/>
                </a:lnTo>
                <a:lnTo>
                  <a:pt x="179933" y="57195"/>
                </a:lnTo>
                <a:lnTo>
                  <a:pt x="159864" y="27428"/>
                </a:lnTo>
                <a:lnTo>
                  <a:pt x="130097" y="7359"/>
                </a:lnTo>
                <a:lnTo>
                  <a:pt x="936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389314" y="4960560"/>
            <a:ext cx="187325" cy="187325"/>
          </a:xfrm>
          <a:custGeom>
            <a:avLst/>
            <a:gdLst/>
            <a:ahLst/>
            <a:cxnLst/>
            <a:rect l="l" t="t" r="r" b="b"/>
            <a:pathLst>
              <a:path w="187325" h="187325">
                <a:moveTo>
                  <a:pt x="93645" y="0"/>
                </a:moveTo>
                <a:lnTo>
                  <a:pt x="57194" y="7359"/>
                </a:lnTo>
                <a:lnTo>
                  <a:pt x="27428" y="27428"/>
                </a:lnTo>
                <a:lnTo>
                  <a:pt x="7359" y="57195"/>
                </a:lnTo>
                <a:lnTo>
                  <a:pt x="0" y="93647"/>
                </a:lnTo>
                <a:lnTo>
                  <a:pt x="7359" y="130098"/>
                </a:lnTo>
                <a:lnTo>
                  <a:pt x="27428" y="159865"/>
                </a:lnTo>
                <a:lnTo>
                  <a:pt x="57194" y="179934"/>
                </a:lnTo>
                <a:lnTo>
                  <a:pt x="93645" y="187293"/>
                </a:lnTo>
                <a:lnTo>
                  <a:pt x="130097" y="179934"/>
                </a:lnTo>
                <a:lnTo>
                  <a:pt x="159864" y="159865"/>
                </a:lnTo>
                <a:lnTo>
                  <a:pt x="179933" y="130098"/>
                </a:lnTo>
                <a:lnTo>
                  <a:pt x="187293" y="93647"/>
                </a:lnTo>
                <a:lnTo>
                  <a:pt x="179933" y="57195"/>
                </a:lnTo>
                <a:lnTo>
                  <a:pt x="159864" y="27428"/>
                </a:lnTo>
                <a:lnTo>
                  <a:pt x="130097" y="7359"/>
                </a:lnTo>
                <a:lnTo>
                  <a:pt x="936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138880" y="4897978"/>
            <a:ext cx="187325" cy="187325"/>
          </a:xfrm>
          <a:custGeom>
            <a:avLst/>
            <a:gdLst/>
            <a:ahLst/>
            <a:cxnLst/>
            <a:rect l="l" t="t" r="r" b="b"/>
            <a:pathLst>
              <a:path w="187325" h="187325">
                <a:moveTo>
                  <a:pt x="93645" y="0"/>
                </a:moveTo>
                <a:lnTo>
                  <a:pt x="57194" y="7359"/>
                </a:lnTo>
                <a:lnTo>
                  <a:pt x="27428" y="27428"/>
                </a:lnTo>
                <a:lnTo>
                  <a:pt x="7359" y="57195"/>
                </a:lnTo>
                <a:lnTo>
                  <a:pt x="0" y="93647"/>
                </a:lnTo>
                <a:lnTo>
                  <a:pt x="7359" y="130098"/>
                </a:lnTo>
                <a:lnTo>
                  <a:pt x="27428" y="159865"/>
                </a:lnTo>
                <a:lnTo>
                  <a:pt x="57194" y="179934"/>
                </a:lnTo>
                <a:lnTo>
                  <a:pt x="93645" y="187293"/>
                </a:lnTo>
                <a:lnTo>
                  <a:pt x="130097" y="179934"/>
                </a:lnTo>
                <a:lnTo>
                  <a:pt x="159864" y="159865"/>
                </a:lnTo>
                <a:lnTo>
                  <a:pt x="179933" y="130098"/>
                </a:lnTo>
                <a:lnTo>
                  <a:pt x="187293" y="93647"/>
                </a:lnTo>
                <a:lnTo>
                  <a:pt x="179933" y="57195"/>
                </a:lnTo>
                <a:lnTo>
                  <a:pt x="159864" y="27428"/>
                </a:lnTo>
                <a:lnTo>
                  <a:pt x="130097" y="7359"/>
                </a:lnTo>
                <a:lnTo>
                  <a:pt x="936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801228" y="5227647"/>
            <a:ext cx="435609" cy="257175"/>
          </a:xfrm>
          <a:custGeom>
            <a:avLst/>
            <a:gdLst/>
            <a:ahLst/>
            <a:cxnLst/>
            <a:rect l="l" t="t" r="r" b="b"/>
            <a:pathLst>
              <a:path w="435610" h="257175">
                <a:moveTo>
                  <a:pt x="0" y="0"/>
                </a:moveTo>
                <a:lnTo>
                  <a:pt x="435346" y="256743"/>
                </a:lnTo>
              </a:path>
            </a:pathLst>
          </a:custGeom>
          <a:ln w="3175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983553" y="5045323"/>
            <a:ext cx="251460" cy="437515"/>
          </a:xfrm>
          <a:custGeom>
            <a:avLst/>
            <a:gdLst/>
            <a:ahLst/>
            <a:cxnLst/>
            <a:rect l="l" t="t" r="r" b="b"/>
            <a:pathLst>
              <a:path w="251460" h="437514">
                <a:moveTo>
                  <a:pt x="0" y="0"/>
                </a:moveTo>
                <a:lnTo>
                  <a:pt x="251161" y="437207"/>
                </a:lnTo>
              </a:path>
            </a:pathLst>
          </a:custGeom>
          <a:ln w="3175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888448" y="4956926"/>
            <a:ext cx="187325" cy="187325"/>
          </a:xfrm>
          <a:custGeom>
            <a:avLst/>
            <a:gdLst/>
            <a:ahLst/>
            <a:cxnLst/>
            <a:rect l="l" t="t" r="r" b="b"/>
            <a:pathLst>
              <a:path w="187325" h="187325">
                <a:moveTo>
                  <a:pt x="93645" y="0"/>
                </a:moveTo>
                <a:lnTo>
                  <a:pt x="57194" y="7359"/>
                </a:lnTo>
                <a:lnTo>
                  <a:pt x="27428" y="27428"/>
                </a:lnTo>
                <a:lnTo>
                  <a:pt x="7359" y="57194"/>
                </a:lnTo>
                <a:lnTo>
                  <a:pt x="0" y="93645"/>
                </a:lnTo>
                <a:lnTo>
                  <a:pt x="7359" y="130097"/>
                </a:lnTo>
                <a:lnTo>
                  <a:pt x="27428" y="159864"/>
                </a:lnTo>
                <a:lnTo>
                  <a:pt x="57194" y="179933"/>
                </a:lnTo>
                <a:lnTo>
                  <a:pt x="93645" y="187293"/>
                </a:lnTo>
                <a:lnTo>
                  <a:pt x="130097" y="179933"/>
                </a:lnTo>
                <a:lnTo>
                  <a:pt x="159863" y="159864"/>
                </a:lnTo>
                <a:lnTo>
                  <a:pt x="179932" y="130097"/>
                </a:lnTo>
                <a:lnTo>
                  <a:pt x="187291" y="93645"/>
                </a:lnTo>
                <a:lnTo>
                  <a:pt x="179932" y="57194"/>
                </a:lnTo>
                <a:lnTo>
                  <a:pt x="159863" y="27428"/>
                </a:lnTo>
                <a:lnTo>
                  <a:pt x="130097" y="7359"/>
                </a:lnTo>
                <a:lnTo>
                  <a:pt x="936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701155" y="5135710"/>
            <a:ext cx="187325" cy="187325"/>
          </a:xfrm>
          <a:custGeom>
            <a:avLst/>
            <a:gdLst/>
            <a:ahLst/>
            <a:cxnLst/>
            <a:rect l="l" t="t" r="r" b="b"/>
            <a:pathLst>
              <a:path w="187325" h="187325">
                <a:moveTo>
                  <a:pt x="93645" y="0"/>
                </a:moveTo>
                <a:lnTo>
                  <a:pt x="57194" y="7359"/>
                </a:lnTo>
                <a:lnTo>
                  <a:pt x="27428" y="27428"/>
                </a:lnTo>
                <a:lnTo>
                  <a:pt x="7359" y="57195"/>
                </a:lnTo>
                <a:lnTo>
                  <a:pt x="0" y="93647"/>
                </a:lnTo>
                <a:lnTo>
                  <a:pt x="7359" y="130098"/>
                </a:lnTo>
                <a:lnTo>
                  <a:pt x="27428" y="159865"/>
                </a:lnTo>
                <a:lnTo>
                  <a:pt x="57194" y="179934"/>
                </a:lnTo>
                <a:lnTo>
                  <a:pt x="93645" y="187293"/>
                </a:lnTo>
                <a:lnTo>
                  <a:pt x="130097" y="179934"/>
                </a:lnTo>
                <a:lnTo>
                  <a:pt x="159863" y="159865"/>
                </a:lnTo>
                <a:lnTo>
                  <a:pt x="179932" y="130098"/>
                </a:lnTo>
                <a:lnTo>
                  <a:pt x="187291" y="93647"/>
                </a:lnTo>
                <a:lnTo>
                  <a:pt x="179932" y="57195"/>
                </a:lnTo>
                <a:lnTo>
                  <a:pt x="159863" y="27428"/>
                </a:lnTo>
                <a:lnTo>
                  <a:pt x="130097" y="7359"/>
                </a:lnTo>
                <a:lnTo>
                  <a:pt x="936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804950" y="5484390"/>
            <a:ext cx="429895" cy="247650"/>
          </a:xfrm>
          <a:custGeom>
            <a:avLst/>
            <a:gdLst/>
            <a:ahLst/>
            <a:cxnLst/>
            <a:rect l="l" t="t" r="r" b="b"/>
            <a:pathLst>
              <a:path w="429895" h="247650">
                <a:moveTo>
                  <a:pt x="0" y="247441"/>
                </a:moveTo>
                <a:lnTo>
                  <a:pt x="429765" y="0"/>
                </a:lnTo>
              </a:path>
            </a:pathLst>
          </a:custGeom>
          <a:ln w="3175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703650" y="5634794"/>
            <a:ext cx="187325" cy="187325"/>
          </a:xfrm>
          <a:custGeom>
            <a:avLst/>
            <a:gdLst/>
            <a:ahLst/>
            <a:cxnLst/>
            <a:rect l="l" t="t" r="r" b="b"/>
            <a:pathLst>
              <a:path w="187325" h="187325">
                <a:moveTo>
                  <a:pt x="93647" y="0"/>
                </a:moveTo>
                <a:lnTo>
                  <a:pt x="57195" y="7359"/>
                </a:lnTo>
                <a:lnTo>
                  <a:pt x="27428" y="27428"/>
                </a:lnTo>
                <a:lnTo>
                  <a:pt x="7359" y="57195"/>
                </a:lnTo>
                <a:lnTo>
                  <a:pt x="0" y="93646"/>
                </a:lnTo>
                <a:lnTo>
                  <a:pt x="7359" y="130097"/>
                </a:lnTo>
                <a:lnTo>
                  <a:pt x="27428" y="159864"/>
                </a:lnTo>
                <a:lnTo>
                  <a:pt x="57195" y="179933"/>
                </a:lnTo>
                <a:lnTo>
                  <a:pt x="93647" y="187292"/>
                </a:lnTo>
                <a:lnTo>
                  <a:pt x="130098" y="179933"/>
                </a:lnTo>
                <a:lnTo>
                  <a:pt x="159865" y="159864"/>
                </a:lnTo>
                <a:lnTo>
                  <a:pt x="179934" y="130097"/>
                </a:lnTo>
                <a:lnTo>
                  <a:pt x="187293" y="93646"/>
                </a:lnTo>
                <a:lnTo>
                  <a:pt x="179934" y="57195"/>
                </a:lnTo>
                <a:lnTo>
                  <a:pt x="159865" y="27428"/>
                </a:lnTo>
                <a:lnTo>
                  <a:pt x="130098" y="7359"/>
                </a:lnTo>
                <a:lnTo>
                  <a:pt x="9364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136144" y="5385254"/>
            <a:ext cx="187325" cy="187325"/>
          </a:xfrm>
          <a:custGeom>
            <a:avLst/>
            <a:gdLst/>
            <a:ahLst/>
            <a:cxnLst/>
            <a:rect l="l" t="t" r="r" b="b"/>
            <a:pathLst>
              <a:path w="187325" h="187325">
                <a:moveTo>
                  <a:pt x="93645" y="0"/>
                </a:moveTo>
                <a:lnTo>
                  <a:pt x="57194" y="7359"/>
                </a:lnTo>
                <a:lnTo>
                  <a:pt x="27428" y="27428"/>
                </a:lnTo>
                <a:lnTo>
                  <a:pt x="7359" y="57194"/>
                </a:lnTo>
                <a:lnTo>
                  <a:pt x="0" y="93645"/>
                </a:lnTo>
                <a:lnTo>
                  <a:pt x="7359" y="130097"/>
                </a:lnTo>
                <a:lnTo>
                  <a:pt x="27428" y="159863"/>
                </a:lnTo>
                <a:lnTo>
                  <a:pt x="57194" y="179932"/>
                </a:lnTo>
                <a:lnTo>
                  <a:pt x="93645" y="187291"/>
                </a:lnTo>
                <a:lnTo>
                  <a:pt x="130097" y="179932"/>
                </a:lnTo>
                <a:lnTo>
                  <a:pt x="159864" y="159863"/>
                </a:lnTo>
                <a:lnTo>
                  <a:pt x="179933" y="130097"/>
                </a:lnTo>
                <a:lnTo>
                  <a:pt x="187293" y="93645"/>
                </a:lnTo>
                <a:lnTo>
                  <a:pt x="179933" y="57194"/>
                </a:lnTo>
                <a:lnTo>
                  <a:pt x="159864" y="27428"/>
                </a:lnTo>
                <a:lnTo>
                  <a:pt x="130097" y="7359"/>
                </a:lnTo>
                <a:lnTo>
                  <a:pt x="936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832011" y="5262340"/>
            <a:ext cx="434975" cy="264795"/>
          </a:xfrm>
          <a:custGeom>
            <a:avLst/>
            <a:gdLst/>
            <a:ahLst/>
            <a:cxnLst/>
            <a:rect l="l" t="t" r="r" b="b"/>
            <a:pathLst>
              <a:path w="434975" h="264795">
                <a:moveTo>
                  <a:pt x="0" y="264721"/>
                </a:moveTo>
                <a:lnTo>
                  <a:pt x="434970" y="0"/>
                </a:lnTo>
              </a:path>
            </a:pathLst>
          </a:custGeom>
          <a:ln w="3175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830335" y="5527868"/>
            <a:ext cx="438150" cy="231775"/>
          </a:xfrm>
          <a:custGeom>
            <a:avLst/>
            <a:gdLst/>
            <a:ahLst/>
            <a:cxnLst/>
            <a:rect l="l" t="t" r="r" b="b"/>
            <a:pathLst>
              <a:path w="438150" h="231775">
                <a:moveTo>
                  <a:pt x="0" y="0"/>
                </a:moveTo>
                <a:lnTo>
                  <a:pt x="438121" y="231599"/>
                </a:lnTo>
              </a:path>
            </a:pathLst>
          </a:custGeom>
          <a:ln w="3175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831812" y="5533768"/>
            <a:ext cx="0" cy="444500"/>
          </a:xfrm>
          <a:custGeom>
            <a:avLst/>
            <a:gdLst/>
            <a:ahLst/>
            <a:cxnLst/>
            <a:rect l="l" t="t" r="r" b="b"/>
            <a:pathLst>
              <a:path w="0" h="444500">
                <a:moveTo>
                  <a:pt x="0" y="0"/>
                </a:moveTo>
                <a:lnTo>
                  <a:pt x="1" y="444021"/>
                </a:lnTo>
              </a:path>
            </a:pathLst>
          </a:custGeom>
          <a:ln w="3175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436470" y="5526393"/>
            <a:ext cx="394335" cy="238125"/>
          </a:xfrm>
          <a:custGeom>
            <a:avLst/>
            <a:gdLst/>
            <a:ahLst/>
            <a:cxnLst/>
            <a:rect l="l" t="t" r="r" b="b"/>
            <a:pathLst>
              <a:path w="394334" h="238125">
                <a:moveTo>
                  <a:pt x="393865" y="0"/>
                </a:moveTo>
                <a:lnTo>
                  <a:pt x="0" y="237499"/>
                </a:lnTo>
              </a:path>
            </a:pathLst>
          </a:custGeom>
          <a:ln w="3175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426144" y="5259390"/>
            <a:ext cx="401320" cy="270510"/>
          </a:xfrm>
          <a:custGeom>
            <a:avLst/>
            <a:gdLst/>
            <a:ahLst/>
            <a:cxnLst/>
            <a:rect l="l" t="t" r="r" b="b"/>
            <a:pathLst>
              <a:path w="401320" h="270510">
                <a:moveTo>
                  <a:pt x="401241" y="269953"/>
                </a:moveTo>
                <a:lnTo>
                  <a:pt x="0" y="0"/>
                </a:lnTo>
              </a:path>
            </a:pathLst>
          </a:custGeom>
          <a:ln w="3175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831810" y="5074997"/>
            <a:ext cx="0" cy="453390"/>
          </a:xfrm>
          <a:custGeom>
            <a:avLst/>
            <a:gdLst/>
            <a:ahLst/>
            <a:cxnLst/>
            <a:rect l="l" t="t" r="r" b="b"/>
            <a:pathLst>
              <a:path w="0" h="453389">
                <a:moveTo>
                  <a:pt x="0" y="452872"/>
                </a:moveTo>
                <a:lnTo>
                  <a:pt x="1" y="0"/>
                </a:lnTo>
              </a:path>
            </a:pathLst>
          </a:custGeom>
          <a:ln w="3175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730442" y="5426091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20">
                <a:moveTo>
                  <a:pt x="99004" y="0"/>
                </a:moveTo>
                <a:lnTo>
                  <a:pt x="60467" y="7780"/>
                </a:lnTo>
                <a:lnTo>
                  <a:pt x="28997" y="28997"/>
                </a:lnTo>
                <a:lnTo>
                  <a:pt x="7780" y="60466"/>
                </a:lnTo>
                <a:lnTo>
                  <a:pt x="0" y="99002"/>
                </a:lnTo>
                <a:lnTo>
                  <a:pt x="7780" y="137539"/>
                </a:lnTo>
                <a:lnTo>
                  <a:pt x="28997" y="169008"/>
                </a:lnTo>
                <a:lnTo>
                  <a:pt x="60467" y="190226"/>
                </a:lnTo>
                <a:lnTo>
                  <a:pt x="99004" y="198006"/>
                </a:lnTo>
                <a:lnTo>
                  <a:pt x="137540" y="190226"/>
                </a:lnTo>
                <a:lnTo>
                  <a:pt x="169009" y="169008"/>
                </a:lnTo>
                <a:lnTo>
                  <a:pt x="190226" y="137539"/>
                </a:lnTo>
                <a:lnTo>
                  <a:pt x="198006" y="99002"/>
                </a:lnTo>
                <a:lnTo>
                  <a:pt x="190226" y="60466"/>
                </a:lnTo>
                <a:lnTo>
                  <a:pt x="169009" y="28997"/>
                </a:lnTo>
                <a:lnTo>
                  <a:pt x="137540" y="7780"/>
                </a:lnTo>
                <a:lnTo>
                  <a:pt x="9900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729858" y="4973161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20">
                <a:moveTo>
                  <a:pt x="99002" y="0"/>
                </a:moveTo>
                <a:lnTo>
                  <a:pt x="60466" y="7780"/>
                </a:lnTo>
                <a:lnTo>
                  <a:pt x="28997" y="28996"/>
                </a:lnTo>
                <a:lnTo>
                  <a:pt x="7780" y="60466"/>
                </a:lnTo>
                <a:lnTo>
                  <a:pt x="0" y="99002"/>
                </a:lnTo>
                <a:lnTo>
                  <a:pt x="7780" y="137539"/>
                </a:lnTo>
                <a:lnTo>
                  <a:pt x="28997" y="169008"/>
                </a:lnTo>
                <a:lnTo>
                  <a:pt x="60466" y="190225"/>
                </a:lnTo>
                <a:lnTo>
                  <a:pt x="99002" y="198005"/>
                </a:lnTo>
                <a:lnTo>
                  <a:pt x="137539" y="190225"/>
                </a:lnTo>
                <a:lnTo>
                  <a:pt x="169008" y="169008"/>
                </a:lnTo>
                <a:lnTo>
                  <a:pt x="190225" y="137539"/>
                </a:lnTo>
                <a:lnTo>
                  <a:pt x="198005" y="99002"/>
                </a:lnTo>
                <a:lnTo>
                  <a:pt x="190225" y="60466"/>
                </a:lnTo>
                <a:lnTo>
                  <a:pt x="169008" y="28996"/>
                </a:lnTo>
                <a:lnTo>
                  <a:pt x="137539" y="7780"/>
                </a:lnTo>
                <a:lnTo>
                  <a:pt x="99002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325360" y="5163859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20">
                <a:moveTo>
                  <a:pt x="99002" y="0"/>
                </a:moveTo>
                <a:lnTo>
                  <a:pt x="60466" y="7780"/>
                </a:lnTo>
                <a:lnTo>
                  <a:pt x="28997" y="28997"/>
                </a:lnTo>
                <a:lnTo>
                  <a:pt x="7780" y="60467"/>
                </a:lnTo>
                <a:lnTo>
                  <a:pt x="0" y="99004"/>
                </a:lnTo>
                <a:lnTo>
                  <a:pt x="7780" y="137540"/>
                </a:lnTo>
                <a:lnTo>
                  <a:pt x="28997" y="169009"/>
                </a:lnTo>
                <a:lnTo>
                  <a:pt x="60466" y="190226"/>
                </a:lnTo>
                <a:lnTo>
                  <a:pt x="99002" y="198006"/>
                </a:lnTo>
                <a:lnTo>
                  <a:pt x="137539" y="190226"/>
                </a:lnTo>
                <a:lnTo>
                  <a:pt x="169009" y="169009"/>
                </a:lnTo>
                <a:lnTo>
                  <a:pt x="190226" y="137540"/>
                </a:lnTo>
                <a:lnTo>
                  <a:pt x="198006" y="99004"/>
                </a:lnTo>
                <a:lnTo>
                  <a:pt x="190226" y="60467"/>
                </a:lnTo>
                <a:lnTo>
                  <a:pt x="169009" y="28997"/>
                </a:lnTo>
                <a:lnTo>
                  <a:pt x="137539" y="7780"/>
                </a:lnTo>
                <a:lnTo>
                  <a:pt x="99002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325360" y="5656712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20">
                <a:moveTo>
                  <a:pt x="99002" y="0"/>
                </a:moveTo>
                <a:lnTo>
                  <a:pt x="60466" y="7780"/>
                </a:lnTo>
                <a:lnTo>
                  <a:pt x="28997" y="28997"/>
                </a:lnTo>
                <a:lnTo>
                  <a:pt x="7780" y="60466"/>
                </a:lnTo>
                <a:lnTo>
                  <a:pt x="0" y="99002"/>
                </a:lnTo>
                <a:lnTo>
                  <a:pt x="7780" y="137539"/>
                </a:lnTo>
                <a:lnTo>
                  <a:pt x="28997" y="169008"/>
                </a:lnTo>
                <a:lnTo>
                  <a:pt x="60466" y="190225"/>
                </a:lnTo>
                <a:lnTo>
                  <a:pt x="99002" y="198005"/>
                </a:lnTo>
                <a:lnTo>
                  <a:pt x="137539" y="190225"/>
                </a:lnTo>
                <a:lnTo>
                  <a:pt x="169009" y="169008"/>
                </a:lnTo>
                <a:lnTo>
                  <a:pt x="190226" y="137539"/>
                </a:lnTo>
                <a:lnTo>
                  <a:pt x="198006" y="99002"/>
                </a:lnTo>
                <a:lnTo>
                  <a:pt x="190226" y="60466"/>
                </a:lnTo>
                <a:lnTo>
                  <a:pt x="169009" y="28997"/>
                </a:lnTo>
                <a:lnTo>
                  <a:pt x="137539" y="7780"/>
                </a:lnTo>
                <a:lnTo>
                  <a:pt x="99002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730442" y="5873157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20">
                <a:moveTo>
                  <a:pt x="99004" y="0"/>
                </a:moveTo>
                <a:lnTo>
                  <a:pt x="60467" y="7780"/>
                </a:lnTo>
                <a:lnTo>
                  <a:pt x="28997" y="28997"/>
                </a:lnTo>
                <a:lnTo>
                  <a:pt x="7780" y="60466"/>
                </a:lnTo>
                <a:lnTo>
                  <a:pt x="0" y="99002"/>
                </a:lnTo>
                <a:lnTo>
                  <a:pt x="7780" y="137539"/>
                </a:lnTo>
                <a:lnTo>
                  <a:pt x="28997" y="169008"/>
                </a:lnTo>
                <a:lnTo>
                  <a:pt x="60467" y="190225"/>
                </a:lnTo>
                <a:lnTo>
                  <a:pt x="99004" y="198005"/>
                </a:lnTo>
                <a:lnTo>
                  <a:pt x="137540" y="190225"/>
                </a:lnTo>
                <a:lnTo>
                  <a:pt x="169009" y="169008"/>
                </a:lnTo>
                <a:lnTo>
                  <a:pt x="190226" y="137539"/>
                </a:lnTo>
                <a:lnTo>
                  <a:pt x="198006" y="99002"/>
                </a:lnTo>
                <a:lnTo>
                  <a:pt x="190226" y="60466"/>
                </a:lnTo>
                <a:lnTo>
                  <a:pt x="169009" y="28997"/>
                </a:lnTo>
                <a:lnTo>
                  <a:pt x="137540" y="7780"/>
                </a:lnTo>
                <a:lnTo>
                  <a:pt x="99004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161127" y="5651730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20">
                <a:moveTo>
                  <a:pt x="99002" y="0"/>
                </a:moveTo>
                <a:lnTo>
                  <a:pt x="60466" y="7780"/>
                </a:lnTo>
                <a:lnTo>
                  <a:pt x="28996" y="28997"/>
                </a:lnTo>
                <a:lnTo>
                  <a:pt x="7780" y="60466"/>
                </a:lnTo>
                <a:lnTo>
                  <a:pt x="0" y="99003"/>
                </a:lnTo>
                <a:lnTo>
                  <a:pt x="7780" y="137539"/>
                </a:lnTo>
                <a:lnTo>
                  <a:pt x="28996" y="169008"/>
                </a:lnTo>
                <a:lnTo>
                  <a:pt x="60466" y="190225"/>
                </a:lnTo>
                <a:lnTo>
                  <a:pt x="99002" y="198006"/>
                </a:lnTo>
                <a:lnTo>
                  <a:pt x="137539" y="190225"/>
                </a:lnTo>
                <a:lnTo>
                  <a:pt x="169008" y="169008"/>
                </a:lnTo>
                <a:lnTo>
                  <a:pt x="190225" y="137539"/>
                </a:lnTo>
                <a:lnTo>
                  <a:pt x="198005" y="99003"/>
                </a:lnTo>
                <a:lnTo>
                  <a:pt x="190225" y="60466"/>
                </a:lnTo>
                <a:lnTo>
                  <a:pt x="169008" y="28997"/>
                </a:lnTo>
                <a:lnTo>
                  <a:pt x="137539" y="7780"/>
                </a:lnTo>
                <a:lnTo>
                  <a:pt x="99002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161127" y="5167576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20">
                <a:moveTo>
                  <a:pt x="99002" y="0"/>
                </a:moveTo>
                <a:lnTo>
                  <a:pt x="60466" y="7780"/>
                </a:lnTo>
                <a:lnTo>
                  <a:pt x="28996" y="28997"/>
                </a:lnTo>
                <a:lnTo>
                  <a:pt x="7780" y="60466"/>
                </a:lnTo>
                <a:lnTo>
                  <a:pt x="0" y="99002"/>
                </a:lnTo>
                <a:lnTo>
                  <a:pt x="7780" y="137539"/>
                </a:lnTo>
                <a:lnTo>
                  <a:pt x="28996" y="169008"/>
                </a:lnTo>
                <a:lnTo>
                  <a:pt x="60466" y="190225"/>
                </a:lnTo>
                <a:lnTo>
                  <a:pt x="99002" y="198005"/>
                </a:lnTo>
                <a:lnTo>
                  <a:pt x="137539" y="190225"/>
                </a:lnTo>
                <a:lnTo>
                  <a:pt x="169008" y="169008"/>
                </a:lnTo>
                <a:lnTo>
                  <a:pt x="190225" y="137539"/>
                </a:lnTo>
                <a:lnTo>
                  <a:pt x="198005" y="99002"/>
                </a:lnTo>
                <a:lnTo>
                  <a:pt x="190225" y="60466"/>
                </a:lnTo>
                <a:lnTo>
                  <a:pt x="169008" y="28997"/>
                </a:lnTo>
                <a:lnTo>
                  <a:pt x="137539" y="7780"/>
                </a:lnTo>
                <a:lnTo>
                  <a:pt x="99002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5290374" y="5565140"/>
            <a:ext cx="523240" cy="3854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5"/>
              </a:spcBef>
            </a:pPr>
            <a:r>
              <a:rPr dirty="0" sz="1200" spc="-5">
                <a:latin typeface="Arial"/>
                <a:cs typeface="Arial"/>
              </a:rPr>
              <a:t>D</a:t>
            </a:r>
            <a:r>
              <a:rPr dirty="0" sz="1200" spc="-10">
                <a:latin typeface="Arial"/>
                <a:cs typeface="Arial"/>
              </a:rPr>
              <a:t>eg</a:t>
            </a:r>
            <a:r>
              <a:rPr dirty="0" sz="1200">
                <a:latin typeface="Arial"/>
                <a:cs typeface="Arial"/>
              </a:rPr>
              <a:t>r</a:t>
            </a:r>
            <a:r>
              <a:rPr dirty="0" sz="1200" spc="-10">
                <a:latin typeface="Arial"/>
                <a:cs typeface="Arial"/>
              </a:rPr>
              <a:t>e</a:t>
            </a:r>
            <a:r>
              <a:rPr dirty="0" sz="1200">
                <a:latin typeface="Arial"/>
                <a:cs typeface="Arial"/>
              </a:rPr>
              <a:t>e  </a:t>
            </a:r>
            <a:r>
              <a:rPr dirty="0" sz="1200" spc="-5">
                <a:latin typeface="Arial"/>
                <a:cs typeface="Arial"/>
              </a:rPr>
              <a:t>100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076727" y="4559300"/>
            <a:ext cx="2825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ambria Math"/>
                <a:cs typeface="Cambria Math"/>
              </a:rPr>
              <a:t>𝑮</a:t>
            </a:r>
            <a:r>
              <a:rPr dirty="0" baseline="-14957" sz="1950">
                <a:solidFill>
                  <a:srgbClr val="0000FF"/>
                </a:solidFill>
                <a:latin typeface="Cambria Math"/>
                <a:cs typeface="Cambria Math"/>
              </a:rPr>
              <a:t>𝑻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223991" y="6106159"/>
            <a:ext cx="169672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solidFill>
                  <a:srgbClr val="00B050"/>
                </a:solidFill>
                <a:latin typeface="Arial"/>
                <a:cs typeface="Arial"/>
              </a:rPr>
              <a:t>Frequency:</a:t>
            </a:r>
            <a:r>
              <a:rPr dirty="0" sz="2100" spc="-9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00B050"/>
                </a:solidFill>
                <a:latin typeface="Cambria Math"/>
                <a:cs typeface="Cambria Math"/>
              </a:rPr>
              <a:t>𝟏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573920" y="5329428"/>
            <a:ext cx="7696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35">
                <a:latin typeface="Corbel"/>
                <a:cs typeface="Corbel"/>
              </a:rPr>
              <a:t>A</a:t>
            </a:r>
            <a:r>
              <a:rPr dirty="0" sz="2000" spc="-30">
                <a:latin typeface="Corbel"/>
                <a:cs typeface="Corbel"/>
              </a:rPr>
              <a:t>ncho</a:t>
            </a:r>
            <a:r>
              <a:rPr dirty="0" sz="2000">
                <a:latin typeface="Corbel"/>
                <a:cs typeface="Corbel"/>
              </a:rPr>
              <a:t>r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7010217" y="5440821"/>
            <a:ext cx="494665" cy="171450"/>
          </a:xfrm>
          <a:custGeom>
            <a:avLst/>
            <a:gdLst/>
            <a:ahLst/>
            <a:cxnLst/>
            <a:rect l="l" t="t" r="r" b="b"/>
            <a:pathLst>
              <a:path w="494665" h="171450">
                <a:moveTo>
                  <a:pt x="344896" y="0"/>
                </a:moveTo>
                <a:lnTo>
                  <a:pt x="337609" y="475"/>
                </a:lnTo>
                <a:lnTo>
                  <a:pt x="331031" y="3648"/>
                </a:lnTo>
                <a:lnTo>
                  <a:pt x="326002" y="9299"/>
                </a:lnTo>
                <a:lnTo>
                  <a:pt x="323559" y="16458"/>
                </a:lnTo>
                <a:lnTo>
                  <a:pt x="324034" y="23745"/>
                </a:lnTo>
                <a:lnTo>
                  <a:pt x="327207" y="30323"/>
                </a:lnTo>
                <a:lnTo>
                  <a:pt x="332857" y="35352"/>
                </a:lnTo>
                <a:lnTo>
                  <a:pt x="386292" y="66523"/>
                </a:lnTo>
                <a:lnTo>
                  <a:pt x="456757" y="66523"/>
                </a:lnTo>
                <a:lnTo>
                  <a:pt x="464172" y="68020"/>
                </a:lnTo>
                <a:lnTo>
                  <a:pt x="470228" y="72103"/>
                </a:lnTo>
                <a:lnTo>
                  <a:pt x="474310" y="78158"/>
                </a:lnTo>
                <a:lnTo>
                  <a:pt x="475807" y="85573"/>
                </a:lnTo>
                <a:lnTo>
                  <a:pt x="474310" y="92988"/>
                </a:lnTo>
                <a:lnTo>
                  <a:pt x="470227" y="99043"/>
                </a:lnTo>
                <a:lnTo>
                  <a:pt x="464172" y="103126"/>
                </a:lnTo>
                <a:lnTo>
                  <a:pt x="456756" y="104623"/>
                </a:lnTo>
                <a:lnTo>
                  <a:pt x="386291" y="104623"/>
                </a:lnTo>
                <a:lnTo>
                  <a:pt x="332857" y="135793"/>
                </a:lnTo>
                <a:lnTo>
                  <a:pt x="327207" y="140822"/>
                </a:lnTo>
                <a:lnTo>
                  <a:pt x="324034" y="147399"/>
                </a:lnTo>
                <a:lnTo>
                  <a:pt x="323559" y="154687"/>
                </a:lnTo>
                <a:lnTo>
                  <a:pt x="326002" y="161846"/>
                </a:lnTo>
                <a:lnTo>
                  <a:pt x="331031" y="167497"/>
                </a:lnTo>
                <a:lnTo>
                  <a:pt x="337609" y="170670"/>
                </a:lnTo>
                <a:lnTo>
                  <a:pt x="344896" y="171146"/>
                </a:lnTo>
                <a:lnTo>
                  <a:pt x="352055" y="168702"/>
                </a:lnTo>
                <a:lnTo>
                  <a:pt x="461906" y="104623"/>
                </a:lnTo>
                <a:lnTo>
                  <a:pt x="456756" y="104623"/>
                </a:lnTo>
                <a:lnTo>
                  <a:pt x="461909" y="104622"/>
                </a:lnTo>
                <a:lnTo>
                  <a:pt x="494564" y="85573"/>
                </a:lnTo>
                <a:lnTo>
                  <a:pt x="352056" y="2443"/>
                </a:lnTo>
                <a:lnTo>
                  <a:pt x="344896" y="0"/>
                </a:lnTo>
                <a:close/>
              </a:path>
              <a:path w="494665" h="171450">
                <a:moveTo>
                  <a:pt x="418948" y="85573"/>
                </a:moveTo>
                <a:lnTo>
                  <a:pt x="386291" y="104623"/>
                </a:lnTo>
                <a:lnTo>
                  <a:pt x="456762" y="104622"/>
                </a:lnTo>
                <a:lnTo>
                  <a:pt x="464173" y="103125"/>
                </a:lnTo>
                <a:lnTo>
                  <a:pt x="465799" y="102028"/>
                </a:lnTo>
                <a:lnTo>
                  <a:pt x="447157" y="102028"/>
                </a:lnTo>
                <a:lnTo>
                  <a:pt x="418948" y="85573"/>
                </a:lnTo>
                <a:close/>
              </a:path>
              <a:path w="494665" h="171450">
                <a:moveTo>
                  <a:pt x="19049" y="66522"/>
                </a:moveTo>
                <a:lnTo>
                  <a:pt x="11632" y="68020"/>
                </a:lnTo>
                <a:lnTo>
                  <a:pt x="5578" y="72103"/>
                </a:lnTo>
                <a:lnTo>
                  <a:pt x="1496" y="78158"/>
                </a:lnTo>
                <a:lnTo>
                  <a:pt x="0" y="85573"/>
                </a:lnTo>
                <a:lnTo>
                  <a:pt x="1497" y="92988"/>
                </a:lnTo>
                <a:lnTo>
                  <a:pt x="5581" y="99043"/>
                </a:lnTo>
                <a:lnTo>
                  <a:pt x="11641" y="103126"/>
                </a:lnTo>
                <a:lnTo>
                  <a:pt x="19049" y="104622"/>
                </a:lnTo>
                <a:lnTo>
                  <a:pt x="386293" y="104622"/>
                </a:lnTo>
                <a:lnTo>
                  <a:pt x="418948" y="85573"/>
                </a:lnTo>
                <a:lnTo>
                  <a:pt x="386292" y="66523"/>
                </a:lnTo>
                <a:lnTo>
                  <a:pt x="19049" y="66522"/>
                </a:lnTo>
                <a:close/>
              </a:path>
              <a:path w="494665" h="171450">
                <a:moveTo>
                  <a:pt x="447157" y="69118"/>
                </a:moveTo>
                <a:lnTo>
                  <a:pt x="418949" y="85573"/>
                </a:lnTo>
                <a:lnTo>
                  <a:pt x="447157" y="102028"/>
                </a:lnTo>
                <a:lnTo>
                  <a:pt x="447157" y="69118"/>
                </a:lnTo>
                <a:close/>
              </a:path>
              <a:path w="494665" h="171450">
                <a:moveTo>
                  <a:pt x="465800" y="69118"/>
                </a:moveTo>
                <a:lnTo>
                  <a:pt x="447157" y="69118"/>
                </a:lnTo>
                <a:lnTo>
                  <a:pt x="447157" y="102028"/>
                </a:lnTo>
                <a:lnTo>
                  <a:pt x="465799" y="102028"/>
                </a:lnTo>
                <a:lnTo>
                  <a:pt x="470228" y="99042"/>
                </a:lnTo>
                <a:lnTo>
                  <a:pt x="474310" y="92987"/>
                </a:lnTo>
                <a:lnTo>
                  <a:pt x="475807" y="85572"/>
                </a:lnTo>
                <a:lnTo>
                  <a:pt x="474309" y="78157"/>
                </a:lnTo>
                <a:lnTo>
                  <a:pt x="470226" y="72101"/>
                </a:lnTo>
                <a:lnTo>
                  <a:pt x="465800" y="69118"/>
                </a:lnTo>
                <a:close/>
              </a:path>
              <a:path w="494665" h="171450">
                <a:moveTo>
                  <a:pt x="386292" y="66523"/>
                </a:moveTo>
                <a:lnTo>
                  <a:pt x="418950" y="85572"/>
                </a:lnTo>
                <a:lnTo>
                  <a:pt x="447157" y="69118"/>
                </a:lnTo>
                <a:lnTo>
                  <a:pt x="465800" y="69118"/>
                </a:lnTo>
                <a:lnTo>
                  <a:pt x="464166" y="68019"/>
                </a:lnTo>
                <a:lnTo>
                  <a:pt x="456757" y="66523"/>
                </a:lnTo>
                <a:lnTo>
                  <a:pt x="386292" y="6652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554227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2/18/21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673615" y="6694423"/>
            <a:ext cx="402780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</a:t>
            </a:r>
            <a:r>
              <a:rPr dirty="0" sz="900" spc="-80">
                <a:solidFill>
                  <a:srgbClr val="3F3F3F"/>
                </a:solidFill>
                <a:latin typeface="Calibri"/>
                <a:cs typeface="Calibri"/>
              </a:rPr>
              <a:t>LLeeskovec, 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3552" y="5082303"/>
            <a:ext cx="161925" cy="212725"/>
          </a:xfrm>
          <a:custGeom>
            <a:avLst/>
            <a:gdLst/>
            <a:ahLst/>
            <a:cxnLst/>
            <a:rect l="l" t="t" r="r" b="b"/>
            <a:pathLst>
              <a:path w="161925" h="212725">
                <a:moveTo>
                  <a:pt x="161881" y="0"/>
                </a:moveTo>
                <a:lnTo>
                  <a:pt x="0" y="212585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743552" y="5426383"/>
            <a:ext cx="161925" cy="246379"/>
          </a:xfrm>
          <a:custGeom>
            <a:avLst/>
            <a:gdLst/>
            <a:ahLst/>
            <a:cxnLst/>
            <a:rect l="l" t="t" r="r" b="b"/>
            <a:pathLst>
              <a:path w="161925" h="246379">
                <a:moveTo>
                  <a:pt x="161881" y="246256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036927" y="5426385"/>
            <a:ext cx="124460" cy="246379"/>
          </a:xfrm>
          <a:custGeom>
            <a:avLst/>
            <a:gdLst/>
            <a:ahLst/>
            <a:cxnLst/>
            <a:rect l="l" t="t" r="r" b="b"/>
            <a:pathLst>
              <a:path w="124460" h="246379">
                <a:moveTo>
                  <a:pt x="0" y="246255"/>
                </a:moveTo>
                <a:lnTo>
                  <a:pt x="123905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036927" y="5082302"/>
            <a:ext cx="124460" cy="212725"/>
          </a:xfrm>
          <a:custGeom>
            <a:avLst/>
            <a:gdLst/>
            <a:ahLst/>
            <a:cxnLst/>
            <a:rect l="l" t="t" r="r" b="b"/>
            <a:pathLst>
              <a:path w="124460" h="212725">
                <a:moveTo>
                  <a:pt x="123905" y="212586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65568" y="4806928"/>
            <a:ext cx="158115" cy="212725"/>
          </a:xfrm>
          <a:custGeom>
            <a:avLst/>
            <a:gdLst/>
            <a:ahLst/>
            <a:cxnLst/>
            <a:rect l="l" t="t" r="r" b="b"/>
            <a:pathLst>
              <a:path w="158114" h="212725">
                <a:moveTo>
                  <a:pt x="157625" y="0"/>
                </a:moveTo>
                <a:lnTo>
                  <a:pt x="0" y="212587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65568" y="5151009"/>
            <a:ext cx="138430" cy="196850"/>
          </a:xfrm>
          <a:custGeom>
            <a:avLst/>
            <a:gdLst/>
            <a:ahLst/>
            <a:cxnLst/>
            <a:rect l="l" t="t" r="r" b="b"/>
            <a:pathLst>
              <a:path w="138429" h="196850">
                <a:moveTo>
                  <a:pt x="138307" y="196465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35371" y="5151008"/>
            <a:ext cx="143510" cy="196850"/>
          </a:xfrm>
          <a:custGeom>
            <a:avLst/>
            <a:gdLst/>
            <a:ahLst/>
            <a:cxnLst/>
            <a:rect l="l" t="t" r="r" b="b"/>
            <a:pathLst>
              <a:path w="143510" h="196850">
                <a:moveTo>
                  <a:pt x="0" y="196466"/>
                </a:moveTo>
                <a:lnTo>
                  <a:pt x="143223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54689" y="4806927"/>
            <a:ext cx="124460" cy="212725"/>
          </a:xfrm>
          <a:custGeom>
            <a:avLst/>
            <a:gdLst/>
            <a:ahLst/>
            <a:cxnLst/>
            <a:rect l="l" t="t" r="r" b="b"/>
            <a:pathLst>
              <a:path w="124460" h="212725">
                <a:moveTo>
                  <a:pt x="123905" y="212586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410088" y="5151008"/>
            <a:ext cx="265430" cy="120650"/>
          </a:xfrm>
          <a:custGeom>
            <a:avLst/>
            <a:gdLst/>
            <a:ahLst/>
            <a:cxnLst/>
            <a:rect l="l" t="t" r="r" b="b"/>
            <a:pathLst>
              <a:path w="265429" h="120650">
                <a:moveTo>
                  <a:pt x="265200" y="120214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73023" y="347472"/>
            <a:ext cx="579729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18108" y="1348740"/>
            <a:ext cx="7927975" cy="295148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latin typeface="Calibri"/>
                <a:cs typeface="Calibri"/>
              </a:rPr>
              <a:t>What </a:t>
            </a:r>
            <a:r>
              <a:rPr dirty="0" sz="3200" b="1">
                <a:latin typeface="Calibri"/>
                <a:cs typeface="Calibri"/>
              </a:rPr>
              <a:t>if </a:t>
            </a:r>
            <a:r>
              <a:rPr dirty="0" sz="3200" spc="-5" b="1">
                <a:solidFill>
                  <a:srgbClr val="0070C0"/>
                </a:solidFill>
                <a:latin typeface="Calibri"/>
                <a:cs typeface="Calibri"/>
              </a:rPr>
              <a:t>the </a:t>
            </a:r>
            <a:r>
              <a:rPr dirty="0" sz="3200" spc="-20" b="1">
                <a:solidFill>
                  <a:srgbClr val="0070C0"/>
                </a:solidFill>
                <a:latin typeface="Calibri"/>
                <a:cs typeface="Calibri"/>
              </a:rPr>
              <a:t>dataset </a:t>
            </a:r>
            <a:r>
              <a:rPr dirty="0" sz="3200" spc="-15" b="1">
                <a:solidFill>
                  <a:srgbClr val="0070C0"/>
                </a:solidFill>
                <a:latin typeface="Calibri"/>
                <a:cs typeface="Calibri"/>
              </a:rPr>
              <a:t>contains </a:t>
            </a:r>
            <a:r>
              <a:rPr dirty="0" sz="3200" spc="-5" b="1">
                <a:solidFill>
                  <a:srgbClr val="0070C0"/>
                </a:solidFill>
                <a:latin typeface="Calibri"/>
                <a:cs typeface="Calibri"/>
              </a:rPr>
              <a:t>multiple </a:t>
            </a:r>
            <a:r>
              <a:rPr dirty="0" sz="3200" spc="-15" b="1">
                <a:solidFill>
                  <a:srgbClr val="0070C0"/>
                </a:solidFill>
                <a:latin typeface="Calibri"/>
                <a:cs typeface="Calibri"/>
              </a:rPr>
              <a:t>graphs</a:t>
            </a:r>
            <a:r>
              <a:rPr dirty="0" sz="3200" spc="-15" b="1">
                <a:latin typeface="Calibri"/>
                <a:cs typeface="Calibri"/>
              </a:rPr>
              <a:t>,  </a:t>
            </a:r>
            <a:r>
              <a:rPr dirty="0" sz="3200" spc="-5" b="1">
                <a:latin typeface="Calibri"/>
                <a:cs typeface="Calibri"/>
              </a:rPr>
              <a:t>and </a:t>
            </a:r>
            <a:r>
              <a:rPr dirty="0" sz="3200" spc="-15" b="1">
                <a:latin typeface="Calibri"/>
                <a:cs typeface="Calibri"/>
              </a:rPr>
              <a:t>we </a:t>
            </a:r>
            <a:r>
              <a:rPr dirty="0" sz="3200" spc="-20" b="1">
                <a:latin typeface="Calibri"/>
                <a:cs typeface="Calibri"/>
              </a:rPr>
              <a:t>want </a:t>
            </a:r>
            <a:r>
              <a:rPr dirty="0" sz="3200" spc="-15" b="1">
                <a:latin typeface="Calibri"/>
                <a:cs typeface="Calibri"/>
              </a:rPr>
              <a:t>to compute </a:t>
            </a:r>
            <a:r>
              <a:rPr dirty="0" sz="3200" spc="-10" b="1">
                <a:latin typeface="Calibri"/>
                <a:cs typeface="Calibri"/>
              </a:rPr>
              <a:t>frequency </a:t>
            </a:r>
            <a:r>
              <a:rPr dirty="0" sz="3200" b="1">
                <a:latin typeface="Calibri"/>
                <a:cs typeface="Calibri"/>
              </a:rPr>
              <a:t>of  </a:t>
            </a:r>
            <a:r>
              <a:rPr dirty="0" sz="3200" spc="-15" b="1">
                <a:latin typeface="Calibri"/>
                <a:cs typeface="Calibri"/>
              </a:rPr>
              <a:t>subgraphs </a:t>
            </a:r>
            <a:r>
              <a:rPr dirty="0" sz="3200" b="1">
                <a:latin typeface="Calibri"/>
                <a:cs typeface="Calibri"/>
              </a:rPr>
              <a:t>in </a:t>
            </a:r>
            <a:r>
              <a:rPr dirty="0" sz="3200" spc="-5" b="1">
                <a:latin typeface="Calibri"/>
                <a:cs typeface="Calibri"/>
              </a:rPr>
              <a:t>the</a:t>
            </a:r>
            <a:r>
              <a:rPr dirty="0" sz="3200" spc="-45" b="1">
                <a:latin typeface="Calibri"/>
                <a:cs typeface="Calibri"/>
              </a:rPr>
              <a:t> </a:t>
            </a:r>
            <a:r>
              <a:rPr dirty="0" sz="3200" spc="-15" b="1">
                <a:latin typeface="Calibri"/>
                <a:cs typeface="Calibri"/>
              </a:rPr>
              <a:t>dataset?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79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Idea: </a:t>
            </a:r>
            <a:r>
              <a:rPr dirty="0" sz="3200" spc="-60">
                <a:latin typeface="Calibri"/>
                <a:cs typeface="Calibri"/>
              </a:rPr>
              <a:t>Treat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dataset </a:t>
            </a:r>
            <a:r>
              <a:rPr dirty="0" sz="3200">
                <a:latin typeface="Calibri"/>
                <a:cs typeface="Calibri"/>
              </a:rPr>
              <a:t>as a </a:t>
            </a:r>
            <a:r>
              <a:rPr dirty="0" sz="3200" spc="-5">
                <a:latin typeface="Calibri"/>
                <a:cs typeface="Calibri"/>
              </a:rPr>
              <a:t>giant </a:t>
            </a:r>
            <a:r>
              <a:rPr dirty="0" sz="3200" spc="-15">
                <a:latin typeface="Calibri"/>
                <a:cs typeface="Calibri"/>
              </a:rPr>
              <a:t>graph</a:t>
            </a:r>
            <a:r>
              <a:rPr dirty="0" sz="3200" spc="75"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0000FF"/>
                </a:solidFill>
                <a:latin typeface="Cambria Math"/>
                <a:cs typeface="Cambria Math"/>
              </a:rPr>
              <a:t>𝐺</a:t>
            </a:r>
            <a:r>
              <a:rPr dirty="0" baseline="-15700" sz="3450" spc="-7">
                <a:solidFill>
                  <a:srgbClr val="0000FF"/>
                </a:solidFill>
                <a:latin typeface="Cambria Math"/>
                <a:cs typeface="Cambria Math"/>
              </a:rPr>
              <a:t>#</a:t>
            </a:r>
            <a:endParaRPr baseline="-15700" sz="3450">
              <a:latin typeface="Cambria Math"/>
              <a:cs typeface="Cambria Math"/>
            </a:endParaRPr>
          </a:p>
          <a:p>
            <a:pPr marL="332740" marR="1762125">
              <a:lnSpc>
                <a:spcPts val="3790"/>
              </a:lnSpc>
              <a:spcBef>
                <a:spcPts val="240"/>
              </a:spcBef>
            </a:pPr>
            <a:r>
              <a:rPr dirty="0" sz="3200" spc="-5">
                <a:latin typeface="Calibri"/>
                <a:cs typeface="Calibri"/>
              </a:rPr>
              <a:t>with </a:t>
            </a:r>
            <a:r>
              <a:rPr dirty="0" sz="3200" spc="-10">
                <a:latin typeface="Calibri"/>
                <a:cs typeface="Calibri"/>
              </a:rPr>
              <a:t>disconnected components  corresponding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individual</a:t>
            </a:r>
            <a:r>
              <a:rPr dirty="0" sz="3200" spc="6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78200" y="4923575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5" h="186054">
                <a:moveTo>
                  <a:pt x="92980" y="0"/>
                </a:moveTo>
                <a:lnTo>
                  <a:pt x="56787" y="7306"/>
                </a:lnTo>
                <a:lnTo>
                  <a:pt x="27233" y="27233"/>
                </a:lnTo>
                <a:lnTo>
                  <a:pt x="7306" y="56788"/>
                </a:lnTo>
                <a:lnTo>
                  <a:pt x="0" y="92980"/>
                </a:lnTo>
                <a:lnTo>
                  <a:pt x="7306" y="129173"/>
                </a:lnTo>
                <a:lnTo>
                  <a:pt x="27233" y="158727"/>
                </a:lnTo>
                <a:lnTo>
                  <a:pt x="56787" y="178654"/>
                </a:lnTo>
                <a:lnTo>
                  <a:pt x="92980" y="185961"/>
                </a:lnTo>
                <a:lnTo>
                  <a:pt x="129172" y="178654"/>
                </a:lnTo>
                <a:lnTo>
                  <a:pt x="158727" y="158727"/>
                </a:lnTo>
                <a:lnTo>
                  <a:pt x="178654" y="129173"/>
                </a:lnTo>
                <a:lnTo>
                  <a:pt x="185961" y="92980"/>
                </a:lnTo>
                <a:lnTo>
                  <a:pt x="178654" y="56788"/>
                </a:lnTo>
                <a:lnTo>
                  <a:pt x="158727" y="27233"/>
                </a:lnTo>
                <a:lnTo>
                  <a:pt x="129172" y="7306"/>
                </a:lnTo>
                <a:lnTo>
                  <a:pt x="9298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84824" y="5267656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5" h="186054">
                <a:moveTo>
                  <a:pt x="92980" y="0"/>
                </a:moveTo>
                <a:lnTo>
                  <a:pt x="56787" y="7306"/>
                </a:lnTo>
                <a:lnTo>
                  <a:pt x="27233" y="27233"/>
                </a:lnTo>
                <a:lnTo>
                  <a:pt x="7306" y="56787"/>
                </a:lnTo>
                <a:lnTo>
                  <a:pt x="0" y="92980"/>
                </a:lnTo>
                <a:lnTo>
                  <a:pt x="7306" y="129172"/>
                </a:lnTo>
                <a:lnTo>
                  <a:pt x="27233" y="158727"/>
                </a:lnTo>
                <a:lnTo>
                  <a:pt x="56787" y="178654"/>
                </a:lnTo>
                <a:lnTo>
                  <a:pt x="92980" y="185961"/>
                </a:lnTo>
                <a:lnTo>
                  <a:pt x="129172" y="178654"/>
                </a:lnTo>
                <a:lnTo>
                  <a:pt x="158727" y="158727"/>
                </a:lnTo>
                <a:lnTo>
                  <a:pt x="178654" y="129172"/>
                </a:lnTo>
                <a:lnTo>
                  <a:pt x="185961" y="92980"/>
                </a:lnTo>
                <a:lnTo>
                  <a:pt x="178654" y="56787"/>
                </a:lnTo>
                <a:lnTo>
                  <a:pt x="158727" y="27233"/>
                </a:lnTo>
                <a:lnTo>
                  <a:pt x="129172" y="7306"/>
                </a:lnTo>
                <a:lnTo>
                  <a:pt x="9298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33600" y="5267656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5" h="186054">
                <a:moveTo>
                  <a:pt x="92980" y="0"/>
                </a:moveTo>
                <a:lnTo>
                  <a:pt x="56788" y="7306"/>
                </a:lnTo>
                <a:lnTo>
                  <a:pt x="27233" y="27233"/>
                </a:lnTo>
                <a:lnTo>
                  <a:pt x="7306" y="56788"/>
                </a:lnTo>
                <a:lnTo>
                  <a:pt x="0" y="92980"/>
                </a:lnTo>
                <a:lnTo>
                  <a:pt x="7306" y="129173"/>
                </a:lnTo>
                <a:lnTo>
                  <a:pt x="27233" y="158727"/>
                </a:lnTo>
                <a:lnTo>
                  <a:pt x="56788" y="178654"/>
                </a:lnTo>
                <a:lnTo>
                  <a:pt x="92980" y="185961"/>
                </a:lnTo>
                <a:lnTo>
                  <a:pt x="129172" y="178654"/>
                </a:lnTo>
                <a:lnTo>
                  <a:pt x="158727" y="158727"/>
                </a:lnTo>
                <a:lnTo>
                  <a:pt x="178654" y="129173"/>
                </a:lnTo>
                <a:lnTo>
                  <a:pt x="185961" y="92980"/>
                </a:lnTo>
                <a:lnTo>
                  <a:pt x="178654" y="56788"/>
                </a:lnTo>
                <a:lnTo>
                  <a:pt x="158727" y="27233"/>
                </a:lnTo>
                <a:lnTo>
                  <a:pt x="129172" y="7306"/>
                </a:lnTo>
                <a:lnTo>
                  <a:pt x="9298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78200" y="5645406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5" h="186054">
                <a:moveTo>
                  <a:pt x="92980" y="0"/>
                </a:moveTo>
                <a:lnTo>
                  <a:pt x="56787" y="7306"/>
                </a:lnTo>
                <a:lnTo>
                  <a:pt x="27233" y="27233"/>
                </a:lnTo>
                <a:lnTo>
                  <a:pt x="7306" y="56788"/>
                </a:lnTo>
                <a:lnTo>
                  <a:pt x="0" y="92980"/>
                </a:lnTo>
                <a:lnTo>
                  <a:pt x="7306" y="129172"/>
                </a:lnTo>
                <a:lnTo>
                  <a:pt x="27233" y="158727"/>
                </a:lnTo>
                <a:lnTo>
                  <a:pt x="56787" y="178654"/>
                </a:lnTo>
                <a:lnTo>
                  <a:pt x="92980" y="185961"/>
                </a:lnTo>
                <a:lnTo>
                  <a:pt x="129172" y="178654"/>
                </a:lnTo>
                <a:lnTo>
                  <a:pt x="158727" y="158727"/>
                </a:lnTo>
                <a:lnTo>
                  <a:pt x="178654" y="129172"/>
                </a:lnTo>
                <a:lnTo>
                  <a:pt x="185961" y="92980"/>
                </a:lnTo>
                <a:lnTo>
                  <a:pt x="178654" y="56788"/>
                </a:lnTo>
                <a:lnTo>
                  <a:pt x="158727" y="27233"/>
                </a:lnTo>
                <a:lnTo>
                  <a:pt x="129172" y="7306"/>
                </a:lnTo>
                <a:lnTo>
                  <a:pt x="9298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995961" y="4648200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4" h="186054">
                <a:moveTo>
                  <a:pt x="92980" y="0"/>
                </a:moveTo>
                <a:lnTo>
                  <a:pt x="56788" y="7306"/>
                </a:lnTo>
                <a:lnTo>
                  <a:pt x="27233" y="27233"/>
                </a:lnTo>
                <a:lnTo>
                  <a:pt x="7306" y="56787"/>
                </a:lnTo>
                <a:lnTo>
                  <a:pt x="0" y="92980"/>
                </a:lnTo>
                <a:lnTo>
                  <a:pt x="7306" y="129172"/>
                </a:lnTo>
                <a:lnTo>
                  <a:pt x="27233" y="158727"/>
                </a:lnTo>
                <a:lnTo>
                  <a:pt x="56788" y="178654"/>
                </a:lnTo>
                <a:lnTo>
                  <a:pt x="92980" y="185961"/>
                </a:lnTo>
                <a:lnTo>
                  <a:pt x="129172" y="178654"/>
                </a:lnTo>
                <a:lnTo>
                  <a:pt x="158727" y="158727"/>
                </a:lnTo>
                <a:lnTo>
                  <a:pt x="178654" y="129172"/>
                </a:lnTo>
                <a:lnTo>
                  <a:pt x="185961" y="92980"/>
                </a:lnTo>
                <a:lnTo>
                  <a:pt x="178654" y="56787"/>
                </a:lnTo>
                <a:lnTo>
                  <a:pt x="158727" y="27233"/>
                </a:lnTo>
                <a:lnTo>
                  <a:pt x="129172" y="7306"/>
                </a:lnTo>
                <a:lnTo>
                  <a:pt x="9298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06840" y="4992282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4" h="186054">
                <a:moveTo>
                  <a:pt x="92980" y="0"/>
                </a:moveTo>
                <a:lnTo>
                  <a:pt x="56788" y="7306"/>
                </a:lnTo>
                <a:lnTo>
                  <a:pt x="27233" y="27233"/>
                </a:lnTo>
                <a:lnTo>
                  <a:pt x="7306" y="56787"/>
                </a:lnTo>
                <a:lnTo>
                  <a:pt x="0" y="92980"/>
                </a:lnTo>
                <a:lnTo>
                  <a:pt x="7306" y="129172"/>
                </a:lnTo>
                <a:lnTo>
                  <a:pt x="27233" y="158727"/>
                </a:lnTo>
                <a:lnTo>
                  <a:pt x="56788" y="178654"/>
                </a:lnTo>
                <a:lnTo>
                  <a:pt x="92980" y="185961"/>
                </a:lnTo>
                <a:lnTo>
                  <a:pt x="129173" y="178654"/>
                </a:lnTo>
                <a:lnTo>
                  <a:pt x="158727" y="158727"/>
                </a:lnTo>
                <a:lnTo>
                  <a:pt x="178654" y="129172"/>
                </a:lnTo>
                <a:lnTo>
                  <a:pt x="185961" y="92980"/>
                </a:lnTo>
                <a:lnTo>
                  <a:pt x="178654" y="56787"/>
                </a:lnTo>
                <a:lnTo>
                  <a:pt x="158727" y="27233"/>
                </a:lnTo>
                <a:lnTo>
                  <a:pt x="129173" y="7306"/>
                </a:lnTo>
                <a:lnTo>
                  <a:pt x="9298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251360" y="4992280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4" h="186054">
                <a:moveTo>
                  <a:pt x="92980" y="0"/>
                </a:moveTo>
                <a:lnTo>
                  <a:pt x="56788" y="7306"/>
                </a:lnTo>
                <a:lnTo>
                  <a:pt x="27233" y="27233"/>
                </a:lnTo>
                <a:lnTo>
                  <a:pt x="7306" y="56787"/>
                </a:lnTo>
                <a:lnTo>
                  <a:pt x="0" y="92980"/>
                </a:lnTo>
                <a:lnTo>
                  <a:pt x="7306" y="129172"/>
                </a:lnTo>
                <a:lnTo>
                  <a:pt x="27233" y="158727"/>
                </a:lnTo>
                <a:lnTo>
                  <a:pt x="56788" y="178654"/>
                </a:lnTo>
                <a:lnTo>
                  <a:pt x="92980" y="185961"/>
                </a:lnTo>
                <a:lnTo>
                  <a:pt x="129173" y="178654"/>
                </a:lnTo>
                <a:lnTo>
                  <a:pt x="158727" y="158727"/>
                </a:lnTo>
                <a:lnTo>
                  <a:pt x="178654" y="129172"/>
                </a:lnTo>
                <a:lnTo>
                  <a:pt x="185961" y="92980"/>
                </a:lnTo>
                <a:lnTo>
                  <a:pt x="178654" y="56787"/>
                </a:lnTo>
                <a:lnTo>
                  <a:pt x="158727" y="27233"/>
                </a:lnTo>
                <a:lnTo>
                  <a:pt x="129173" y="7306"/>
                </a:lnTo>
                <a:lnTo>
                  <a:pt x="9298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976642" y="5320241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4" h="186054">
                <a:moveTo>
                  <a:pt x="92980" y="0"/>
                </a:moveTo>
                <a:lnTo>
                  <a:pt x="56787" y="7306"/>
                </a:lnTo>
                <a:lnTo>
                  <a:pt x="27233" y="27233"/>
                </a:lnTo>
                <a:lnTo>
                  <a:pt x="7306" y="56787"/>
                </a:lnTo>
                <a:lnTo>
                  <a:pt x="0" y="92980"/>
                </a:lnTo>
                <a:lnTo>
                  <a:pt x="7306" y="129172"/>
                </a:lnTo>
                <a:lnTo>
                  <a:pt x="27233" y="158727"/>
                </a:lnTo>
                <a:lnTo>
                  <a:pt x="56787" y="178654"/>
                </a:lnTo>
                <a:lnTo>
                  <a:pt x="92980" y="185961"/>
                </a:lnTo>
                <a:lnTo>
                  <a:pt x="129172" y="178654"/>
                </a:lnTo>
                <a:lnTo>
                  <a:pt x="158727" y="158727"/>
                </a:lnTo>
                <a:lnTo>
                  <a:pt x="178654" y="129172"/>
                </a:lnTo>
                <a:lnTo>
                  <a:pt x="185961" y="92980"/>
                </a:lnTo>
                <a:lnTo>
                  <a:pt x="178654" y="56787"/>
                </a:lnTo>
                <a:lnTo>
                  <a:pt x="158727" y="27233"/>
                </a:lnTo>
                <a:lnTo>
                  <a:pt x="129172" y="7306"/>
                </a:lnTo>
                <a:lnTo>
                  <a:pt x="9298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675289" y="5178242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4" h="186054">
                <a:moveTo>
                  <a:pt x="92980" y="0"/>
                </a:moveTo>
                <a:lnTo>
                  <a:pt x="56787" y="7306"/>
                </a:lnTo>
                <a:lnTo>
                  <a:pt x="27233" y="27233"/>
                </a:lnTo>
                <a:lnTo>
                  <a:pt x="7306" y="56787"/>
                </a:lnTo>
                <a:lnTo>
                  <a:pt x="0" y="92980"/>
                </a:lnTo>
                <a:lnTo>
                  <a:pt x="7306" y="129172"/>
                </a:lnTo>
                <a:lnTo>
                  <a:pt x="27233" y="158727"/>
                </a:lnTo>
                <a:lnTo>
                  <a:pt x="56787" y="178654"/>
                </a:lnTo>
                <a:lnTo>
                  <a:pt x="92980" y="185961"/>
                </a:lnTo>
                <a:lnTo>
                  <a:pt x="129172" y="178654"/>
                </a:lnTo>
                <a:lnTo>
                  <a:pt x="158727" y="158727"/>
                </a:lnTo>
                <a:lnTo>
                  <a:pt x="178654" y="129172"/>
                </a:lnTo>
                <a:lnTo>
                  <a:pt x="185961" y="92980"/>
                </a:lnTo>
                <a:lnTo>
                  <a:pt x="178654" y="56787"/>
                </a:lnTo>
                <a:lnTo>
                  <a:pt x="158727" y="27233"/>
                </a:lnTo>
                <a:lnTo>
                  <a:pt x="129172" y="7306"/>
                </a:lnTo>
                <a:lnTo>
                  <a:pt x="9298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899679" y="5915838"/>
            <a:ext cx="248920" cy="247650"/>
          </a:xfrm>
          <a:custGeom>
            <a:avLst/>
            <a:gdLst/>
            <a:ahLst/>
            <a:cxnLst/>
            <a:rect l="l" t="t" r="r" b="b"/>
            <a:pathLst>
              <a:path w="248919" h="247650">
                <a:moveTo>
                  <a:pt x="0" y="247439"/>
                </a:moveTo>
                <a:lnTo>
                  <a:pt x="248729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148408" y="5915838"/>
            <a:ext cx="266700" cy="247650"/>
          </a:xfrm>
          <a:custGeom>
            <a:avLst/>
            <a:gdLst/>
            <a:ahLst/>
            <a:cxnLst/>
            <a:rect l="l" t="t" r="r" b="b"/>
            <a:pathLst>
              <a:path w="266700" h="247650">
                <a:moveTo>
                  <a:pt x="266248" y="247438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956138" y="6206477"/>
            <a:ext cx="375285" cy="3810"/>
          </a:xfrm>
          <a:custGeom>
            <a:avLst/>
            <a:gdLst/>
            <a:ahLst/>
            <a:cxnLst/>
            <a:rect l="l" t="t" r="r" b="b"/>
            <a:pathLst>
              <a:path w="375285" h="3810">
                <a:moveTo>
                  <a:pt x="-25400" y="1700"/>
                </a:moveTo>
                <a:lnTo>
                  <a:pt x="400582" y="1700"/>
                </a:lnTo>
              </a:path>
            </a:pathLst>
          </a:custGeom>
          <a:ln w="542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051694" y="5795328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5" h="186054">
                <a:moveTo>
                  <a:pt x="92980" y="0"/>
                </a:moveTo>
                <a:lnTo>
                  <a:pt x="56787" y="7306"/>
                </a:lnTo>
                <a:lnTo>
                  <a:pt x="27233" y="27233"/>
                </a:lnTo>
                <a:lnTo>
                  <a:pt x="7306" y="56788"/>
                </a:lnTo>
                <a:lnTo>
                  <a:pt x="0" y="92980"/>
                </a:lnTo>
                <a:lnTo>
                  <a:pt x="7306" y="129172"/>
                </a:lnTo>
                <a:lnTo>
                  <a:pt x="27233" y="158727"/>
                </a:lnTo>
                <a:lnTo>
                  <a:pt x="56787" y="178654"/>
                </a:lnTo>
                <a:lnTo>
                  <a:pt x="92980" y="185961"/>
                </a:lnTo>
                <a:lnTo>
                  <a:pt x="129172" y="178654"/>
                </a:lnTo>
                <a:lnTo>
                  <a:pt x="158727" y="158727"/>
                </a:lnTo>
                <a:lnTo>
                  <a:pt x="178654" y="129172"/>
                </a:lnTo>
                <a:lnTo>
                  <a:pt x="185961" y="92980"/>
                </a:lnTo>
                <a:lnTo>
                  <a:pt x="178654" y="56788"/>
                </a:lnTo>
                <a:lnTo>
                  <a:pt x="158727" y="27233"/>
                </a:lnTo>
                <a:lnTo>
                  <a:pt x="129172" y="7306"/>
                </a:lnTo>
                <a:lnTo>
                  <a:pt x="9298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809344" y="6096000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5" h="186054">
                <a:moveTo>
                  <a:pt x="92980" y="0"/>
                </a:moveTo>
                <a:lnTo>
                  <a:pt x="56787" y="7306"/>
                </a:lnTo>
                <a:lnTo>
                  <a:pt x="27233" y="27233"/>
                </a:lnTo>
                <a:lnTo>
                  <a:pt x="7306" y="56788"/>
                </a:lnTo>
                <a:lnTo>
                  <a:pt x="0" y="92980"/>
                </a:lnTo>
                <a:lnTo>
                  <a:pt x="7306" y="129172"/>
                </a:lnTo>
                <a:lnTo>
                  <a:pt x="27233" y="158727"/>
                </a:lnTo>
                <a:lnTo>
                  <a:pt x="56787" y="178654"/>
                </a:lnTo>
                <a:lnTo>
                  <a:pt x="92980" y="185961"/>
                </a:lnTo>
                <a:lnTo>
                  <a:pt x="129172" y="178654"/>
                </a:lnTo>
                <a:lnTo>
                  <a:pt x="158727" y="158727"/>
                </a:lnTo>
                <a:lnTo>
                  <a:pt x="178654" y="129172"/>
                </a:lnTo>
                <a:lnTo>
                  <a:pt x="185961" y="92980"/>
                </a:lnTo>
                <a:lnTo>
                  <a:pt x="178654" y="56788"/>
                </a:lnTo>
                <a:lnTo>
                  <a:pt x="158727" y="27233"/>
                </a:lnTo>
                <a:lnTo>
                  <a:pt x="129172" y="7306"/>
                </a:lnTo>
                <a:lnTo>
                  <a:pt x="9298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305243" y="6096000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4" h="186054">
                <a:moveTo>
                  <a:pt x="92980" y="0"/>
                </a:moveTo>
                <a:lnTo>
                  <a:pt x="56788" y="7306"/>
                </a:lnTo>
                <a:lnTo>
                  <a:pt x="27233" y="27233"/>
                </a:lnTo>
                <a:lnTo>
                  <a:pt x="7306" y="56788"/>
                </a:lnTo>
                <a:lnTo>
                  <a:pt x="0" y="92980"/>
                </a:lnTo>
                <a:lnTo>
                  <a:pt x="7306" y="129172"/>
                </a:lnTo>
                <a:lnTo>
                  <a:pt x="27233" y="158727"/>
                </a:lnTo>
                <a:lnTo>
                  <a:pt x="56788" y="178654"/>
                </a:lnTo>
                <a:lnTo>
                  <a:pt x="92980" y="185961"/>
                </a:lnTo>
                <a:lnTo>
                  <a:pt x="129173" y="178654"/>
                </a:lnTo>
                <a:lnTo>
                  <a:pt x="158727" y="158727"/>
                </a:lnTo>
                <a:lnTo>
                  <a:pt x="178654" y="129172"/>
                </a:lnTo>
                <a:lnTo>
                  <a:pt x="185961" y="92980"/>
                </a:lnTo>
                <a:lnTo>
                  <a:pt x="178654" y="56788"/>
                </a:lnTo>
                <a:lnTo>
                  <a:pt x="158727" y="27233"/>
                </a:lnTo>
                <a:lnTo>
                  <a:pt x="129173" y="7306"/>
                </a:lnTo>
                <a:lnTo>
                  <a:pt x="9298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8706997" y="6699893"/>
            <a:ext cx="152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1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6589776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40">
                <a:solidFill>
                  <a:srgbClr val="C00000"/>
                </a:solidFill>
              </a:rPr>
              <a:t>To </a:t>
            </a:r>
            <a:r>
              <a:rPr dirty="0" spc="-10">
                <a:solidFill>
                  <a:srgbClr val="C00000"/>
                </a:solidFill>
              </a:rPr>
              <a:t>define </a:t>
            </a:r>
            <a:r>
              <a:rPr dirty="0" spc="-5">
                <a:solidFill>
                  <a:srgbClr val="C00000"/>
                </a:solidFill>
              </a:rPr>
              <a:t>significance </a:t>
            </a:r>
            <a:r>
              <a:rPr dirty="0" spc="-15">
                <a:solidFill>
                  <a:srgbClr val="C00000"/>
                </a:solidFill>
              </a:rPr>
              <a:t>we </a:t>
            </a:r>
            <a:r>
              <a:rPr dirty="0" spc="-5">
                <a:solidFill>
                  <a:srgbClr val="C00000"/>
                </a:solidFill>
              </a:rPr>
              <a:t>need </a:t>
            </a:r>
            <a:r>
              <a:rPr dirty="0" spc="-15">
                <a:solidFill>
                  <a:srgbClr val="C00000"/>
                </a:solidFill>
              </a:rPr>
              <a:t>to </a:t>
            </a:r>
            <a:r>
              <a:rPr dirty="0" spc="-25">
                <a:solidFill>
                  <a:srgbClr val="C00000"/>
                </a:solidFill>
              </a:rPr>
              <a:t>have </a:t>
            </a:r>
            <a:r>
              <a:rPr dirty="0">
                <a:solidFill>
                  <a:srgbClr val="C00000"/>
                </a:solidFill>
              </a:rPr>
              <a:t>a </a:t>
            </a:r>
            <a:r>
              <a:rPr dirty="0" spc="-5">
                <a:solidFill>
                  <a:srgbClr val="C00000"/>
                </a:solidFill>
              </a:rPr>
              <a:t>null-  model (i.e., </a:t>
            </a:r>
            <a:r>
              <a:rPr dirty="0" spc="-10">
                <a:solidFill>
                  <a:srgbClr val="C00000"/>
                </a:solidFill>
              </a:rPr>
              <a:t>point </a:t>
            </a:r>
            <a:r>
              <a:rPr dirty="0">
                <a:solidFill>
                  <a:srgbClr val="C00000"/>
                </a:solidFill>
              </a:rPr>
              <a:t>of</a:t>
            </a:r>
            <a:r>
              <a:rPr dirty="0" spc="-25">
                <a:solidFill>
                  <a:srgbClr val="C00000"/>
                </a:solidFill>
              </a:rPr>
              <a:t> </a:t>
            </a:r>
            <a:r>
              <a:rPr dirty="0" spc="-5">
                <a:solidFill>
                  <a:srgbClr val="C00000"/>
                </a:solidFill>
              </a:rPr>
              <a:t>comparison)</a:t>
            </a:r>
          </a:p>
          <a:p>
            <a:pPr marL="332740" marR="21336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30">
                <a:solidFill>
                  <a:srgbClr val="008000"/>
                </a:solidFill>
              </a:rPr>
              <a:t>Key </a:t>
            </a:r>
            <a:r>
              <a:rPr dirty="0" spc="-5">
                <a:solidFill>
                  <a:srgbClr val="008000"/>
                </a:solidFill>
              </a:rPr>
              <a:t>idea: </a:t>
            </a:r>
            <a:r>
              <a:rPr dirty="0" spc="-15"/>
              <a:t>Subgraphs </a:t>
            </a:r>
            <a:r>
              <a:rPr dirty="0" spc="-10"/>
              <a:t>that </a:t>
            </a:r>
            <a:r>
              <a:rPr dirty="0" spc="-5"/>
              <a:t>occur </a:t>
            </a:r>
            <a:r>
              <a:rPr dirty="0"/>
              <a:t>in a </a:t>
            </a:r>
            <a:r>
              <a:rPr dirty="0" spc="-15"/>
              <a:t>real  </a:t>
            </a:r>
            <a:r>
              <a:rPr dirty="0" spc="-10"/>
              <a:t>network </a:t>
            </a:r>
            <a:r>
              <a:rPr dirty="0" spc="-5"/>
              <a:t>much </a:t>
            </a:r>
            <a:r>
              <a:rPr dirty="0" spc="-15">
                <a:solidFill>
                  <a:srgbClr val="0000FF"/>
                </a:solidFill>
              </a:rPr>
              <a:t>more </a:t>
            </a:r>
            <a:r>
              <a:rPr dirty="0" spc="-10">
                <a:solidFill>
                  <a:srgbClr val="0000FF"/>
                </a:solidFill>
              </a:rPr>
              <a:t>often </a:t>
            </a:r>
            <a:r>
              <a:rPr dirty="0" spc="-5"/>
              <a:t>than </a:t>
            </a:r>
            <a:r>
              <a:rPr dirty="0"/>
              <a:t>in a</a:t>
            </a:r>
            <a:r>
              <a:rPr dirty="0" spc="0"/>
              <a:t> </a:t>
            </a:r>
            <a:r>
              <a:rPr dirty="0" spc="-20">
                <a:solidFill>
                  <a:srgbClr val="0000FF"/>
                </a:solidFill>
              </a:rPr>
              <a:t>random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8149" y="3305555"/>
            <a:ext cx="619696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latin typeface="Calibri"/>
                <a:cs typeface="Calibri"/>
              </a:rPr>
              <a:t>network </a:t>
            </a:r>
            <a:r>
              <a:rPr dirty="0" sz="3200" spc="-25" b="1">
                <a:latin typeface="Calibri"/>
                <a:cs typeface="Calibri"/>
              </a:rPr>
              <a:t>have </a:t>
            </a:r>
            <a:r>
              <a:rPr dirty="0" sz="3200" spc="-5" b="1">
                <a:latin typeface="Calibri"/>
                <a:cs typeface="Calibri"/>
              </a:rPr>
              <a:t>functional</a:t>
            </a:r>
            <a:r>
              <a:rPr dirty="0" sz="3200" spc="2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significance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98270" y="3827961"/>
            <a:ext cx="4465864" cy="26697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853422" y="6519164"/>
            <a:ext cx="15652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Corbel"/>
                <a:cs typeface="Corbel"/>
              </a:rPr>
              <a:t>Milo </a:t>
            </a:r>
            <a:r>
              <a:rPr dirty="0" sz="1200" i="1">
                <a:latin typeface="Corbel"/>
                <a:cs typeface="Corbel"/>
              </a:rPr>
              <a:t>et. </a:t>
            </a:r>
            <a:r>
              <a:rPr dirty="0" sz="1200" spc="-5" i="1">
                <a:latin typeface="Corbel"/>
                <a:cs typeface="Corbel"/>
              </a:rPr>
              <a:t>al., </a:t>
            </a:r>
            <a:r>
              <a:rPr dirty="0" sz="1200" spc="-5">
                <a:latin typeface="Corbel"/>
                <a:cs typeface="Corbel"/>
              </a:rPr>
              <a:t>Science</a:t>
            </a:r>
            <a:r>
              <a:rPr dirty="0" sz="1200" spc="-110">
                <a:latin typeface="Corbel"/>
                <a:cs typeface="Corbel"/>
              </a:rPr>
              <a:t> </a:t>
            </a:r>
            <a:r>
              <a:rPr dirty="0" sz="1200" spc="-15">
                <a:latin typeface="Corbel"/>
                <a:cs typeface="Corbel"/>
              </a:rPr>
              <a:t>2002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06997" y="6699893"/>
            <a:ext cx="152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6114288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49846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 b="1">
                <a:solidFill>
                  <a:srgbClr val="00B050"/>
                </a:solidFill>
                <a:latin typeface="Calibri"/>
                <a:cs typeface="Calibri"/>
              </a:rPr>
              <a:t>Erdős–Rényi </a:t>
            </a:r>
            <a:r>
              <a:rPr dirty="0" spc="-5" b="1">
                <a:solidFill>
                  <a:srgbClr val="00B050"/>
                </a:solidFill>
                <a:latin typeface="Calibri"/>
                <a:cs typeface="Calibri"/>
              </a:rPr>
              <a:t>(ER) </a:t>
            </a:r>
            <a:r>
              <a:rPr dirty="0" spc="-15" b="1">
                <a:solidFill>
                  <a:srgbClr val="00B050"/>
                </a:solidFill>
                <a:latin typeface="Calibri"/>
                <a:cs typeface="Calibri"/>
              </a:rPr>
              <a:t>random</a:t>
            </a:r>
            <a:r>
              <a:rPr dirty="0" spc="15" b="1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pc="-20" b="1">
                <a:solidFill>
                  <a:srgbClr val="00B050"/>
                </a:solidFill>
                <a:latin typeface="Calibri"/>
                <a:cs typeface="Calibri"/>
              </a:rPr>
              <a:t>graphs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1814067"/>
            <a:ext cx="7098030" cy="1431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marR="5080" indent="-320040">
              <a:lnSpc>
                <a:spcPct val="1071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15">
                <a:solidFill>
                  <a:srgbClr val="0000FF"/>
                </a:solidFill>
                <a:latin typeface="Cambria Math"/>
                <a:cs typeface="Cambria Math"/>
              </a:rPr>
              <a:t>𝑮</a:t>
            </a:r>
            <a:r>
              <a:rPr dirty="0" baseline="-16666" sz="3000" spc="22">
                <a:solidFill>
                  <a:srgbClr val="0000FF"/>
                </a:solidFill>
                <a:latin typeface="Cambria Math"/>
                <a:cs typeface="Cambria Math"/>
              </a:rPr>
              <a:t>𝒏,𝒑</a:t>
            </a:r>
            <a:r>
              <a:rPr dirty="0" sz="2800" spc="15">
                <a:latin typeface="Calibri"/>
                <a:cs typeface="Calibri"/>
              </a:rPr>
              <a:t>: </a:t>
            </a:r>
            <a:r>
              <a:rPr dirty="0" sz="2800" spc="-10">
                <a:latin typeface="Calibri"/>
                <a:cs typeface="Calibri"/>
              </a:rPr>
              <a:t>undirected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5">
                <a:latin typeface="Calibri"/>
                <a:cs typeface="Calibri"/>
              </a:rPr>
              <a:t>on </a:t>
            </a:r>
            <a:r>
              <a:rPr dirty="0" sz="2800">
                <a:latin typeface="Cambria Math"/>
                <a:cs typeface="Cambria Math"/>
              </a:rPr>
              <a:t>𝑛 </a:t>
            </a:r>
            <a:r>
              <a:rPr dirty="0" sz="2800" spc="-5">
                <a:latin typeface="Calibri"/>
                <a:cs typeface="Calibri"/>
              </a:rPr>
              <a:t>nodes </a:t>
            </a:r>
            <a:r>
              <a:rPr dirty="0" sz="2800" spc="-15">
                <a:latin typeface="Calibri"/>
                <a:cs typeface="Calibri"/>
              </a:rPr>
              <a:t>where </a:t>
            </a:r>
            <a:r>
              <a:rPr dirty="0" sz="2800" spc="-5">
                <a:latin typeface="Calibri"/>
                <a:cs typeface="Calibri"/>
              </a:rPr>
              <a:t>each  </a:t>
            </a:r>
            <a:r>
              <a:rPr dirty="0" sz="2800" spc="-10">
                <a:latin typeface="Calibri"/>
                <a:cs typeface="Calibri"/>
              </a:rPr>
              <a:t>edge </a:t>
            </a:r>
            <a:r>
              <a:rPr dirty="0" sz="2800" spc="25">
                <a:latin typeface="Cambria Math"/>
                <a:cs typeface="Cambria Math"/>
              </a:rPr>
              <a:t>(𝑢, </a:t>
            </a:r>
            <a:r>
              <a:rPr dirty="0" sz="2800" spc="30">
                <a:latin typeface="Cambria Math"/>
                <a:cs typeface="Cambria Math"/>
              </a:rPr>
              <a:t>𝑣) </a:t>
            </a:r>
            <a:r>
              <a:rPr dirty="0" sz="2800" spc="-15">
                <a:latin typeface="Calibri"/>
                <a:cs typeface="Calibri"/>
              </a:rPr>
              <a:t>appears </a:t>
            </a:r>
            <a:r>
              <a:rPr dirty="0" sz="2800" spc="-5">
                <a:latin typeface="Calibri"/>
                <a:cs typeface="Calibri"/>
              </a:rPr>
              <a:t>i.i.d. with </a:t>
            </a:r>
            <a:r>
              <a:rPr dirty="0" sz="2800" spc="-10">
                <a:latin typeface="Calibri"/>
                <a:cs typeface="Calibri"/>
              </a:rPr>
              <a:t>probability</a:t>
            </a:r>
            <a:r>
              <a:rPr dirty="0" sz="2800" spc="-155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𝑝</a:t>
            </a:r>
            <a:endParaRPr sz="28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3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Can be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disconnected: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86677" y="3351735"/>
            <a:ext cx="1539276" cy="15942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483771" y="3363781"/>
            <a:ext cx="1539276" cy="15942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23402" y="3363781"/>
            <a:ext cx="1539276" cy="15942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162705" y="5147564"/>
            <a:ext cx="52139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Cambria Math"/>
                <a:cs typeface="Cambria Math"/>
              </a:rPr>
              <a:t>Three random graphs </a:t>
            </a:r>
            <a:r>
              <a:rPr dirty="0" sz="2400" spc="-20">
                <a:latin typeface="Cambria Math"/>
                <a:cs typeface="Cambria Math"/>
              </a:rPr>
              <a:t>drawn </a:t>
            </a:r>
            <a:r>
              <a:rPr dirty="0" sz="2400" spc="-10">
                <a:latin typeface="Cambria Math"/>
                <a:cs typeface="Cambria Math"/>
              </a:rPr>
              <a:t>from </a:t>
            </a:r>
            <a:r>
              <a:rPr dirty="0" sz="2400" spc="-15">
                <a:solidFill>
                  <a:srgbClr val="0000FF"/>
                </a:solidFill>
                <a:latin typeface="Cambria Math"/>
                <a:cs typeface="Cambria Math"/>
              </a:rPr>
              <a:t>𝑮</a:t>
            </a:r>
            <a:r>
              <a:rPr dirty="0" baseline="-15432" sz="2700" spc="-22">
                <a:solidFill>
                  <a:srgbClr val="0000FF"/>
                </a:solidFill>
                <a:latin typeface="Cambria Math"/>
                <a:cs typeface="Cambria Math"/>
              </a:rPr>
              <a:t>𝟓,𝟎.𝟔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22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6629" y="4794329"/>
            <a:ext cx="190500" cy="133985"/>
          </a:xfrm>
          <a:custGeom>
            <a:avLst/>
            <a:gdLst/>
            <a:ahLst/>
            <a:cxnLst/>
            <a:rect l="l" t="t" r="r" b="b"/>
            <a:pathLst>
              <a:path w="190500" h="133985">
                <a:moveTo>
                  <a:pt x="0" y="0"/>
                </a:moveTo>
                <a:lnTo>
                  <a:pt x="190500" y="133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37616" y="341375"/>
            <a:ext cx="8061959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6281420" cy="1397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8000FF"/>
                </a:solidFill>
                <a:latin typeface="Calibri"/>
                <a:cs typeface="Calibri"/>
              </a:rPr>
              <a:t>Goal: </a:t>
            </a:r>
            <a:r>
              <a:rPr dirty="0" sz="3000" spc="-20"/>
              <a:t>Generate </a:t>
            </a:r>
            <a:r>
              <a:rPr dirty="0" sz="3000"/>
              <a:t>a </a:t>
            </a:r>
            <a:r>
              <a:rPr dirty="0" sz="3000" spc="-15"/>
              <a:t>random graph </a:t>
            </a:r>
            <a:r>
              <a:rPr dirty="0" sz="3000" spc="-5"/>
              <a:t>with </a:t>
            </a:r>
            <a:r>
              <a:rPr dirty="0" sz="3000"/>
              <a:t>a  </a:t>
            </a:r>
            <a:r>
              <a:rPr dirty="0" sz="3000" spc="-10"/>
              <a:t>given </a:t>
            </a:r>
            <a:r>
              <a:rPr dirty="0" sz="3000" spc="-10" b="1">
                <a:solidFill>
                  <a:srgbClr val="0000FF"/>
                </a:solidFill>
                <a:latin typeface="Calibri"/>
                <a:cs typeface="Calibri"/>
              </a:rPr>
              <a:t>degree </a:t>
            </a: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sequence </a:t>
            </a:r>
            <a:r>
              <a:rPr dirty="0" sz="3000" i="1">
                <a:solidFill>
                  <a:srgbClr val="0000FF"/>
                </a:solidFill>
                <a:latin typeface="Times New Roman"/>
                <a:cs typeface="Times New Roman"/>
              </a:rPr>
              <a:t>k</a:t>
            </a:r>
            <a:r>
              <a:rPr dirty="0" baseline="-19444" sz="3000" i="1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sz="3000" i="1">
                <a:solidFill>
                  <a:srgbClr val="0000FF"/>
                </a:solidFill>
                <a:latin typeface="Times New Roman"/>
                <a:cs typeface="Times New Roman"/>
              </a:rPr>
              <a:t>, k</a:t>
            </a:r>
            <a:r>
              <a:rPr dirty="0" baseline="-19444" sz="3000" i="1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sz="3000" i="1">
                <a:solidFill>
                  <a:srgbClr val="0000FF"/>
                </a:solidFill>
                <a:latin typeface="Times New Roman"/>
                <a:cs typeface="Times New Roman"/>
              </a:rPr>
              <a:t>, …</a:t>
            </a:r>
            <a:r>
              <a:rPr dirty="0" sz="3000" spc="-2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000" i="1">
                <a:solidFill>
                  <a:srgbClr val="0000FF"/>
                </a:solidFill>
                <a:latin typeface="Times New Roman"/>
                <a:cs typeface="Times New Roman"/>
              </a:rPr>
              <a:t>k</a:t>
            </a:r>
            <a:r>
              <a:rPr dirty="0" baseline="-19444" sz="3000" i="1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endParaRPr baseline="-19444" sz="30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Useful as </a:t>
            </a:r>
            <a:r>
              <a:rPr dirty="0" sz="3000" b="1">
                <a:solidFill>
                  <a:srgbClr val="D60093"/>
                </a:solidFill>
                <a:latin typeface="Calibri"/>
                <a:cs typeface="Calibri"/>
              </a:rPr>
              <a:t>a </a:t>
            </a: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“null” model of</a:t>
            </a:r>
            <a:r>
              <a:rPr dirty="0" sz="3000" spc="-7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D60093"/>
                </a:solidFill>
                <a:latin typeface="Calibri"/>
                <a:cs typeface="Calibri"/>
              </a:rPr>
              <a:t>networks: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2784348"/>
            <a:ext cx="8174990" cy="130683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29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600" spc="-50">
                <a:latin typeface="Calibri"/>
                <a:cs typeface="Calibri"/>
              </a:rPr>
              <a:t>We </a:t>
            </a:r>
            <a:r>
              <a:rPr dirty="0" sz="2600" spc="-10">
                <a:latin typeface="Calibri"/>
                <a:cs typeface="Calibri"/>
              </a:rPr>
              <a:t>can compare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0">
                <a:latin typeface="Calibri"/>
                <a:cs typeface="Calibri"/>
              </a:rPr>
              <a:t>real network </a:t>
            </a:r>
            <a:r>
              <a:rPr dirty="0" sz="2600" spc="55">
                <a:latin typeface="Cambria Math"/>
                <a:cs typeface="Cambria Math"/>
              </a:rPr>
              <a:t>𝐺</a:t>
            </a:r>
            <a:r>
              <a:rPr dirty="0" baseline="27777" sz="2850" spc="82">
                <a:latin typeface="Cambria Math"/>
                <a:cs typeface="Cambria Math"/>
              </a:rPr>
              <a:t>!"#$ </a:t>
            </a:r>
            <a:r>
              <a:rPr dirty="0" sz="2600" spc="-5">
                <a:latin typeface="Calibri"/>
                <a:cs typeface="Calibri"/>
              </a:rPr>
              <a:t>and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“random”</a:t>
            </a:r>
            <a:endParaRPr sz="2600">
              <a:latin typeface="Calibri"/>
              <a:cs typeface="Calibri"/>
            </a:endParaRPr>
          </a:p>
          <a:p>
            <a:pPr marL="625475">
              <a:lnSpc>
                <a:spcPts val="3050"/>
              </a:lnSpc>
              <a:spcBef>
                <a:spcPts val="190"/>
              </a:spcBef>
            </a:pPr>
            <a:r>
              <a:rPr dirty="0" sz="2600" spc="-50">
                <a:latin typeface="Cambria Math"/>
                <a:cs typeface="Cambria Math"/>
              </a:rPr>
              <a:t>𝐺</a:t>
            </a:r>
            <a:r>
              <a:rPr dirty="0" baseline="27777" sz="2850" spc="-75">
                <a:latin typeface="Cambria Math"/>
                <a:cs typeface="Cambria Math"/>
              </a:rPr>
              <a:t>!#%&amp;  </a:t>
            </a:r>
            <a:r>
              <a:rPr dirty="0" sz="2600" spc="-5">
                <a:latin typeface="Calibri"/>
                <a:cs typeface="Calibri"/>
              </a:rPr>
              <a:t>which has the </a:t>
            </a:r>
            <a:r>
              <a:rPr dirty="0" sz="2600" spc="-5">
                <a:solidFill>
                  <a:srgbClr val="0000FF"/>
                </a:solidFill>
                <a:latin typeface="Calibri"/>
                <a:cs typeface="Calibri"/>
              </a:rPr>
              <a:t>same </a:t>
            </a:r>
            <a:r>
              <a:rPr dirty="0" sz="2600" spc="-10">
                <a:solidFill>
                  <a:srgbClr val="0000FF"/>
                </a:solidFill>
                <a:latin typeface="Calibri"/>
                <a:cs typeface="Calibri"/>
              </a:rPr>
              <a:t>degree </a:t>
            </a:r>
            <a:r>
              <a:rPr dirty="0" sz="2600" spc="-5">
                <a:solidFill>
                  <a:srgbClr val="0000FF"/>
                </a:solidFill>
                <a:latin typeface="Calibri"/>
                <a:cs typeface="Calibri"/>
              </a:rPr>
              <a:t>sequence </a:t>
            </a:r>
            <a:r>
              <a:rPr dirty="0" sz="2600">
                <a:latin typeface="Calibri"/>
                <a:cs typeface="Calibri"/>
              </a:rPr>
              <a:t>as</a:t>
            </a:r>
            <a:r>
              <a:rPr dirty="0" sz="2600" spc="-270">
                <a:latin typeface="Calibri"/>
                <a:cs typeface="Calibri"/>
              </a:rPr>
              <a:t> </a:t>
            </a:r>
            <a:r>
              <a:rPr dirty="0" sz="2600" spc="55">
                <a:latin typeface="Cambria Math"/>
                <a:cs typeface="Cambria Math"/>
              </a:rPr>
              <a:t>𝐺</a:t>
            </a:r>
            <a:r>
              <a:rPr dirty="0" baseline="27777" sz="2850" spc="82">
                <a:latin typeface="Cambria Math"/>
                <a:cs typeface="Cambria Math"/>
              </a:rPr>
              <a:t>!"#$</a:t>
            </a:r>
            <a:endParaRPr baseline="27777" sz="2850">
              <a:latin typeface="Cambria Math"/>
              <a:cs typeface="Cambria Math"/>
            </a:endParaRPr>
          </a:p>
          <a:p>
            <a:pPr marL="332740" indent="-320040">
              <a:lnSpc>
                <a:spcPts val="3529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5" b="1">
                <a:solidFill>
                  <a:srgbClr val="1F77B4"/>
                </a:solidFill>
                <a:latin typeface="Calibri"/>
                <a:cs typeface="Calibri"/>
              </a:rPr>
              <a:t>Configuration</a:t>
            </a:r>
            <a:r>
              <a:rPr dirty="0" sz="3000" spc="-35" b="1">
                <a:solidFill>
                  <a:srgbClr val="1F77B4"/>
                </a:solidFill>
                <a:latin typeface="Calibri"/>
                <a:cs typeface="Calibri"/>
              </a:rPr>
              <a:t> </a:t>
            </a:r>
            <a:r>
              <a:rPr dirty="0" sz="3000" spc="-5" b="1">
                <a:solidFill>
                  <a:srgbClr val="1F77B4"/>
                </a:solidFill>
                <a:latin typeface="Calibri"/>
                <a:cs typeface="Calibri"/>
              </a:rPr>
              <a:t>model: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49929" y="5221068"/>
            <a:ext cx="533400" cy="381000"/>
          </a:xfrm>
          <a:custGeom>
            <a:avLst/>
            <a:gdLst/>
            <a:ahLst/>
            <a:cxnLst/>
            <a:rect l="l" t="t" r="r" b="b"/>
            <a:pathLst>
              <a:path w="533400" h="381000">
                <a:moveTo>
                  <a:pt x="0" y="0"/>
                </a:moveTo>
                <a:lnTo>
                  <a:pt x="53340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26129" y="544966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97728" y="468766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26129" y="484006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054729" y="461146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16629" y="5373468"/>
            <a:ext cx="342900" cy="38100"/>
          </a:xfrm>
          <a:custGeom>
            <a:avLst/>
            <a:gdLst/>
            <a:ahLst/>
            <a:cxnLst/>
            <a:rect l="l" t="t" r="r" b="b"/>
            <a:pathLst>
              <a:path w="342900" h="38100">
                <a:moveTo>
                  <a:pt x="0" y="38100"/>
                </a:moveTo>
                <a:lnTo>
                  <a:pt x="3429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892928" y="4840068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304800" y="7620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197728" y="5373468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0" y="76200"/>
                </a:moveTo>
                <a:lnTo>
                  <a:pt x="3810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02329" y="52972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69809" y="8982"/>
                </a:lnTo>
                <a:lnTo>
                  <a:pt x="33477" y="33477"/>
                </a:lnTo>
                <a:lnTo>
                  <a:pt x="8982" y="69809"/>
                </a:lnTo>
                <a:lnTo>
                  <a:pt x="0" y="114300"/>
                </a:lnTo>
                <a:lnTo>
                  <a:pt x="8982" y="158790"/>
                </a:lnTo>
                <a:lnTo>
                  <a:pt x="33477" y="195122"/>
                </a:lnTo>
                <a:lnTo>
                  <a:pt x="69809" y="219617"/>
                </a:lnTo>
                <a:lnTo>
                  <a:pt x="114300" y="228600"/>
                </a:lnTo>
                <a:lnTo>
                  <a:pt x="158790" y="219617"/>
                </a:lnTo>
                <a:lnTo>
                  <a:pt x="195122" y="195122"/>
                </a:lnTo>
                <a:lnTo>
                  <a:pt x="219617" y="158790"/>
                </a:lnTo>
                <a:lnTo>
                  <a:pt x="228600" y="114300"/>
                </a:lnTo>
                <a:lnTo>
                  <a:pt x="219617" y="69809"/>
                </a:lnTo>
                <a:lnTo>
                  <a:pt x="195122" y="33477"/>
                </a:lnTo>
                <a:lnTo>
                  <a:pt x="158790" y="8982"/>
                </a:lnTo>
                <a:lnTo>
                  <a:pt x="114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939634" y="5292852"/>
            <a:ext cx="1543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950328" y="4256844"/>
            <a:ext cx="381000" cy="1371600"/>
          </a:xfrm>
          <a:custGeom>
            <a:avLst/>
            <a:gdLst/>
            <a:ahLst/>
            <a:cxnLst/>
            <a:rect l="l" t="t" r="r" b="b"/>
            <a:pathLst>
              <a:path w="381000" h="1371600">
                <a:moveTo>
                  <a:pt x="0" y="0"/>
                </a:moveTo>
                <a:lnTo>
                  <a:pt x="381000" y="0"/>
                </a:lnTo>
                <a:lnTo>
                  <a:pt x="3810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102728" y="445906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70" y="2994"/>
                </a:lnTo>
                <a:lnTo>
                  <a:pt x="11159" y="11159"/>
                </a:lnTo>
                <a:lnTo>
                  <a:pt x="2994" y="23269"/>
                </a:lnTo>
                <a:lnTo>
                  <a:pt x="0" y="38100"/>
                </a:lnTo>
                <a:lnTo>
                  <a:pt x="2994" y="52929"/>
                </a:lnTo>
                <a:lnTo>
                  <a:pt x="11159" y="65040"/>
                </a:lnTo>
                <a:lnTo>
                  <a:pt x="23270" y="73205"/>
                </a:lnTo>
                <a:lnTo>
                  <a:pt x="38100" y="76200"/>
                </a:lnTo>
                <a:lnTo>
                  <a:pt x="52930" y="73205"/>
                </a:lnTo>
                <a:lnTo>
                  <a:pt x="65040" y="65040"/>
                </a:lnTo>
                <a:lnTo>
                  <a:pt x="73205" y="52929"/>
                </a:lnTo>
                <a:lnTo>
                  <a:pt x="76200" y="38100"/>
                </a:lnTo>
                <a:lnTo>
                  <a:pt x="73205" y="23269"/>
                </a:lnTo>
                <a:lnTo>
                  <a:pt x="65040" y="11159"/>
                </a:lnTo>
                <a:lnTo>
                  <a:pt x="52930" y="2994"/>
                </a:lnTo>
                <a:lnTo>
                  <a:pt x="38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102728" y="468766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70" y="2994"/>
                </a:lnTo>
                <a:lnTo>
                  <a:pt x="11159" y="11159"/>
                </a:lnTo>
                <a:lnTo>
                  <a:pt x="2994" y="23269"/>
                </a:lnTo>
                <a:lnTo>
                  <a:pt x="0" y="38100"/>
                </a:lnTo>
                <a:lnTo>
                  <a:pt x="2994" y="52929"/>
                </a:lnTo>
                <a:lnTo>
                  <a:pt x="11159" y="65040"/>
                </a:lnTo>
                <a:lnTo>
                  <a:pt x="23270" y="73205"/>
                </a:lnTo>
                <a:lnTo>
                  <a:pt x="38100" y="76200"/>
                </a:lnTo>
                <a:lnTo>
                  <a:pt x="52930" y="73205"/>
                </a:lnTo>
                <a:lnTo>
                  <a:pt x="65040" y="65040"/>
                </a:lnTo>
                <a:lnTo>
                  <a:pt x="73205" y="52929"/>
                </a:lnTo>
                <a:lnTo>
                  <a:pt x="76200" y="38100"/>
                </a:lnTo>
                <a:lnTo>
                  <a:pt x="73205" y="23269"/>
                </a:lnTo>
                <a:lnTo>
                  <a:pt x="65040" y="11159"/>
                </a:lnTo>
                <a:lnTo>
                  <a:pt x="52930" y="2994"/>
                </a:lnTo>
                <a:lnTo>
                  <a:pt x="38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102728" y="514486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70" y="2994"/>
                </a:lnTo>
                <a:lnTo>
                  <a:pt x="11159" y="11159"/>
                </a:lnTo>
                <a:lnTo>
                  <a:pt x="2994" y="23269"/>
                </a:lnTo>
                <a:lnTo>
                  <a:pt x="0" y="38100"/>
                </a:lnTo>
                <a:lnTo>
                  <a:pt x="2994" y="52929"/>
                </a:lnTo>
                <a:lnTo>
                  <a:pt x="11159" y="65040"/>
                </a:lnTo>
                <a:lnTo>
                  <a:pt x="23270" y="73205"/>
                </a:lnTo>
                <a:lnTo>
                  <a:pt x="38100" y="76200"/>
                </a:lnTo>
                <a:lnTo>
                  <a:pt x="52930" y="73205"/>
                </a:lnTo>
                <a:lnTo>
                  <a:pt x="65040" y="65040"/>
                </a:lnTo>
                <a:lnTo>
                  <a:pt x="73205" y="52929"/>
                </a:lnTo>
                <a:lnTo>
                  <a:pt x="76200" y="38100"/>
                </a:lnTo>
                <a:lnTo>
                  <a:pt x="73205" y="23269"/>
                </a:lnTo>
                <a:lnTo>
                  <a:pt x="65040" y="11159"/>
                </a:lnTo>
                <a:lnTo>
                  <a:pt x="52930" y="2994"/>
                </a:lnTo>
                <a:lnTo>
                  <a:pt x="38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559928" y="4256844"/>
            <a:ext cx="381000" cy="1371600"/>
          </a:xfrm>
          <a:custGeom>
            <a:avLst/>
            <a:gdLst/>
            <a:ahLst/>
            <a:cxnLst/>
            <a:rect l="l" t="t" r="r" b="b"/>
            <a:pathLst>
              <a:path w="381000" h="1371600">
                <a:moveTo>
                  <a:pt x="0" y="0"/>
                </a:moveTo>
                <a:lnTo>
                  <a:pt x="381000" y="0"/>
                </a:lnTo>
                <a:lnTo>
                  <a:pt x="3810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712328" y="438286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70" y="2994"/>
                </a:lnTo>
                <a:lnTo>
                  <a:pt x="11159" y="11159"/>
                </a:lnTo>
                <a:lnTo>
                  <a:pt x="2994" y="23269"/>
                </a:lnTo>
                <a:lnTo>
                  <a:pt x="0" y="38100"/>
                </a:lnTo>
                <a:lnTo>
                  <a:pt x="2994" y="52929"/>
                </a:lnTo>
                <a:lnTo>
                  <a:pt x="11159" y="65040"/>
                </a:lnTo>
                <a:lnTo>
                  <a:pt x="23270" y="73205"/>
                </a:lnTo>
                <a:lnTo>
                  <a:pt x="38100" y="76200"/>
                </a:lnTo>
                <a:lnTo>
                  <a:pt x="52930" y="73205"/>
                </a:lnTo>
                <a:lnTo>
                  <a:pt x="65040" y="65040"/>
                </a:lnTo>
                <a:lnTo>
                  <a:pt x="73205" y="52929"/>
                </a:lnTo>
                <a:lnTo>
                  <a:pt x="76200" y="38100"/>
                </a:lnTo>
                <a:lnTo>
                  <a:pt x="73205" y="23269"/>
                </a:lnTo>
                <a:lnTo>
                  <a:pt x="65040" y="11159"/>
                </a:lnTo>
                <a:lnTo>
                  <a:pt x="52930" y="2994"/>
                </a:lnTo>
                <a:lnTo>
                  <a:pt x="38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712328" y="468766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70" y="2994"/>
                </a:lnTo>
                <a:lnTo>
                  <a:pt x="11159" y="11159"/>
                </a:lnTo>
                <a:lnTo>
                  <a:pt x="2994" y="23269"/>
                </a:lnTo>
                <a:lnTo>
                  <a:pt x="0" y="38100"/>
                </a:lnTo>
                <a:lnTo>
                  <a:pt x="2994" y="52929"/>
                </a:lnTo>
                <a:lnTo>
                  <a:pt x="11159" y="65040"/>
                </a:lnTo>
                <a:lnTo>
                  <a:pt x="23270" y="73205"/>
                </a:lnTo>
                <a:lnTo>
                  <a:pt x="38100" y="76200"/>
                </a:lnTo>
                <a:lnTo>
                  <a:pt x="52930" y="73205"/>
                </a:lnTo>
                <a:lnTo>
                  <a:pt x="65040" y="65040"/>
                </a:lnTo>
                <a:lnTo>
                  <a:pt x="73205" y="52929"/>
                </a:lnTo>
                <a:lnTo>
                  <a:pt x="76200" y="38100"/>
                </a:lnTo>
                <a:lnTo>
                  <a:pt x="73205" y="23269"/>
                </a:lnTo>
                <a:lnTo>
                  <a:pt x="65040" y="11159"/>
                </a:lnTo>
                <a:lnTo>
                  <a:pt x="52930" y="2994"/>
                </a:lnTo>
                <a:lnTo>
                  <a:pt x="38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712328" y="506866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70" y="2994"/>
                </a:lnTo>
                <a:lnTo>
                  <a:pt x="11159" y="11159"/>
                </a:lnTo>
                <a:lnTo>
                  <a:pt x="2994" y="23269"/>
                </a:lnTo>
                <a:lnTo>
                  <a:pt x="0" y="38100"/>
                </a:lnTo>
                <a:lnTo>
                  <a:pt x="2994" y="52929"/>
                </a:lnTo>
                <a:lnTo>
                  <a:pt x="11159" y="65040"/>
                </a:lnTo>
                <a:lnTo>
                  <a:pt x="23270" y="73205"/>
                </a:lnTo>
                <a:lnTo>
                  <a:pt x="38100" y="76200"/>
                </a:lnTo>
                <a:lnTo>
                  <a:pt x="52930" y="73205"/>
                </a:lnTo>
                <a:lnTo>
                  <a:pt x="65040" y="65040"/>
                </a:lnTo>
                <a:lnTo>
                  <a:pt x="73205" y="52929"/>
                </a:lnTo>
                <a:lnTo>
                  <a:pt x="76200" y="38100"/>
                </a:lnTo>
                <a:lnTo>
                  <a:pt x="73205" y="23269"/>
                </a:lnTo>
                <a:lnTo>
                  <a:pt x="65040" y="11159"/>
                </a:lnTo>
                <a:lnTo>
                  <a:pt x="52930" y="2994"/>
                </a:lnTo>
                <a:lnTo>
                  <a:pt x="38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712328" y="529726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70" y="2994"/>
                </a:lnTo>
                <a:lnTo>
                  <a:pt x="11159" y="11159"/>
                </a:lnTo>
                <a:lnTo>
                  <a:pt x="2994" y="23269"/>
                </a:lnTo>
                <a:lnTo>
                  <a:pt x="0" y="38100"/>
                </a:lnTo>
                <a:lnTo>
                  <a:pt x="2994" y="52929"/>
                </a:lnTo>
                <a:lnTo>
                  <a:pt x="11159" y="65040"/>
                </a:lnTo>
                <a:lnTo>
                  <a:pt x="23270" y="73205"/>
                </a:lnTo>
                <a:lnTo>
                  <a:pt x="38100" y="76200"/>
                </a:lnTo>
                <a:lnTo>
                  <a:pt x="52930" y="73205"/>
                </a:lnTo>
                <a:lnTo>
                  <a:pt x="65040" y="65040"/>
                </a:lnTo>
                <a:lnTo>
                  <a:pt x="73205" y="52929"/>
                </a:lnTo>
                <a:lnTo>
                  <a:pt x="76200" y="38100"/>
                </a:lnTo>
                <a:lnTo>
                  <a:pt x="73205" y="23269"/>
                </a:lnTo>
                <a:lnTo>
                  <a:pt x="65040" y="11159"/>
                </a:lnTo>
                <a:lnTo>
                  <a:pt x="52930" y="2994"/>
                </a:lnTo>
                <a:lnTo>
                  <a:pt x="38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245728" y="4256844"/>
            <a:ext cx="381000" cy="1371600"/>
          </a:xfrm>
          <a:custGeom>
            <a:avLst/>
            <a:gdLst/>
            <a:ahLst/>
            <a:cxnLst/>
            <a:rect l="l" t="t" r="r" b="b"/>
            <a:pathLst>
              <a:path w="381000" h="1371600">
                <a:moveTo>
                  <a:pt x="0" y="0"/>
                </a:moveTo>
                <a:lnTo>
                  <a:pt x="381000" y="0"/>
                </a:lnTo>
                <a:lnTo>
                  <a:pt x="3810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398128" y="454693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70" y="2994"/>
                </a:lnTo>
                <a:lnTo>
                  <a:pt x="11159" y="11159"/>
                </a:lnTo>
                <a:lnTo>
                  <a:pt x="2994" y="23270"/>
                </a:lnTo>
                <a:lnTo>
                  <a:pt x="0" y="38100"/>
                </a:lnTo>
                <a:lnTo>
                  <a:pt x="2994" y="52930"/>
                </a:lnTo>
                <a:lnTo>
                  <a:pt x="11159" y="65040"/>
                </a:lnTo>
                <a:lnTo>
                  <a:pt x="23270" y="73205"/>
                </a:lnTo>
                <a:lnTo>
                  <a:pt x="38100" y="76200"/>
                </a:lnTo>
                <a:lnTo>
                  <a:pt x="52930" y="73205"/>
                </a:lnTo>
                <a:lnTo>
                  <a:pt x="65040" y="65040"/>
                </a:lnTo>
                <a:lnTo>
                  <a:pt x="73205" y="52930"/>
                </a:lnTo>
                <a:lnTo>
                  <a:pt x="76200" y="38100"/>
                </a:lnTo>
                <a:lnTo>
                  <a:pt x="73205" y="23270"/>
                </a:lnTo>
                <a:lnTo>
                  <a:pt x="65040" y="11159"/>
                </a:lnTo>
                <a:lnTo>
                  <a:pt x="52930" y="2994"/>
                </a:lnTo>
                <a:lnTo>
                  <a:pt x="38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398128" y="491626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70" y="2994"/>
                </a:lnTo>
                <a:lnTo>
                  <a:pt x="11159" y="11159"/>
                </a:lnTo>
                <a:lnTo>
                  <a:pt x="2994" y="23269"/>
                </a:lnTo>
                <a:lnTo>
                  <a:pt x="0" y="38100"/>
                </a:lnTo>
                <a:lnTo>
                  <a:pt x="2994" y="52929"/>
                </a:lnTo>
                <a:lnTo>
                  <a:pt x="11159" y="65040"/>
                </a:lnTo>
                <a:lnTo>
                  <a:pt x="23270" y="73205"/>
                </a:lnTo>
                <a:lnTo>
                  <a:pt x="38100" y="76200"/>
                </a:lnTo>
                <a:lnTo>
                  <a:pt x="52930" y="73205"/>
                </a:lnTo>
                <a:lnTo>
                  <a:pt x="65040" y="65040"/>
                </a:lnTo>
                <a:lnTo>
                  <a:pt x="73205" y="52929"/>
                </a:lnTo>
                <a:lnTo>
                  <a:pt x="76200" y="38100"/>
                </a:lnTo>
                <a:lnTo>
                  <a:pt x="73205" y="23269"/>
                </a:lnTo>
                <a:lnTo>
                  <a:pt x="65040" y="11159"/>
                </a:lnTo>
                <a:lnTo>
                  <a:pt x="52930" y="2994"/>
                </a:lnTo>
                <a:lnTo>
                  <a:pt x="38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931528" y="4256844"/>
            <a:ext cx="381000" cy="1371600"/>
          </a:xfrm>
          <a:custGeom>
            <a:avLst/>
            <a:gdLst/>
            <a:ahLst/>
            <a:cxnLst/>
            <a:rect l="l" t="t" r="r" b="b"/>
            <a:pathLst>
              <a:path w="381000" h="1371600">
                <a:moveTo>
                  <a:pt x="0" y="0"/>
                </a:moveTo>
                <a:lnTo>
                  <a:pt x="381000" y="0"/>
                </a:lnTo>
                <a:lnTo>
                  <a:pt x="3810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083928" y="499246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70" y="2994"/>
                </a:lnTo>
                <a:lnTo>
                  <a:pt x="11159" y="11159"/>
                </a:lnTo>
                <a:lnTo>
                  <a:pt x="2994" y="23269"/>
                </a:lnTo>
                <a:lnTo>
                  <a:pt x="0" y="38100"/>
                </a:lnTo>
                <a:lnTo>
                  <a:pt x="2994" y="52929"/>
                </a:lnTo>
                <a:lnTo>
                  <a:pt x="11159" y="65040"/>
                </a:lnTo>
                <a:lnTo>
                  <a:pt x="23270" y="73205"/>
                </a:lnTo>
                <a:lnTo>
                  <a:pt x="38100" y="76200"/>
                </a:lnTo>
                <a:lnTo>
                  <a:pt x="52930" y="73205"/>
                </a:lnTo>
                <a:lnTo>
                  <a:pt x="65040" y="65040"/>
                </a:lnTo>
                <a:lnTo>
                  <a:pt x="73205" y="52929"/>
                </a:lnTo>
                <a:lnTo>
                  <a:pt x="76200" y="38100"/>
                </a:lnTo>
                <a:lnTo>
                  <a:pt x="73205" y="23269"/>
                </a:lnTo>
                <a:lnTo>
                  <a:pt x="65040" y="11159"/>
                </a:lnTo>
                <a:lnTo>
                  <a:pt x="52930" y="2994"/>
                </a:lnTo>
                <a:lnTo>
                  <a:pt x="38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60831" y="5897879"/>
            <a:ext cx="2066544" cy="4693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15112" y="5879591"/>
            <a:ext cx="2139696" cy="5821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09600" y="5923947"/>
            <a:ext cx="1969128" cy="3693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09600" y="5923947"/>
            <a:ext cx="1969135" cy="369570"/>
          </a:xfrm>
          <a:custGeom>
            <a:avLst/>
            <a:gdLst/>
            <a:ahLst/>
            <a:cxnLst/>
            <a:rect l="l" t="t" r="r" b="b"/>
            <a:pathLst>
              <a:path w="1969135" h="369570">
                <a:moveTo>
                  <a:pt x="0" y="0"/>
                </a:moveTo>
                <a:lnTo>
                  <a:pt x="1969129" y="0"/>
                </a:lnTo>
                <a:lnTo>
                  <a:pt x="1969129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148328" y="5730239"/>
            <a:ext cx="1959864" cy="7467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114800" y="5708903"/>
            <a:ext cx="2029968" cy="8473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199332" y="5754468"/>
            <a:ext cx="1859103" cy="64633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4199332" y="5754468"/>
            <a:ext cx="1859280" cy="646430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wrap="square" lIns="0" tIns="46355" rIns="0" bIns="0" rtlCol="0" vert="horz">
            <a:spAutoFit/>
          </a:bodyPr>
          <a:lstStyle/>
          <a:p>
            <a:pPr marL="306705" marR="88900" indent="-209550">
              <a:lnSpc>
                <a:spcPts val="2090"/>
              </a:lnSpc>
              <a:spcBef>
                <a:spcPts val="365"/>
              </a:spcBef>
            </a:pPr>
            <a:r>
              <a:rPr dirty="0" sz="1800" spc="-5">
                <a:latin typeface="Corbel"/>
                <a:cs typeface="Corbel"/>
              </a:rPr>
              <a:t>Randomly pair </a:t>
            </a:r>
            <a:r>
              <a:rPr dirty="0" sz="1800">
                <a:latin typeface="Corbel"/>
                <a:cs typeface="Corbel"/>
              </a:rPr>
              <a:t>up  </a:t>
            </a:r>
            <a:r>
              <a:rPr dirty="0" sz="1800" spc="-5">
                <a:latin typeface="Corbel"/>
                <a:cs typeface="Corbel"/>
              </a:rPr>
              <a:t>“mini”-n0des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178928" y="4394027"/>
            <a:ext cx="544830" cy="103505"/>
          </a:xfrm>
          <a:custGeom>
            <a:avLst/>
            <a:gdLst/>
            <a:ahLst/>
            <a:cxnLst/>
            <a:rect l="l" t="t" r="r" b="b"/>
            <a:pathLst>
              <a:path w="544829" h="103504">
                <a:moveTo>
                  <a:pt x="0" y="103141"/>
                </a:moveTo>
                <a:lnTo>
                  <a:pt x="544559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178928" y="4725768"/>
            <a:ext cx="1230630" cy="201930"/>
          </a:xfrm>
          <a:custGeom>
            <a:avLst/>
            <a:gdLst/>
            <a:ahLst/>
            <a:cxnLst/>
            <a:rect l="l" t="t" r="r" b="b"/>
            <a:pathLst>
              <a:path w="1230629" h="201929">
                <a:moveTo>
                  <a:pt x="0" y="0"/>
                </a:moveTo>
                <a:lnTo>
                  <a:pt x="1230359" y="201659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819400" y="4763868"/>
            <a:ext cx="914400" cy="533400"/>
          </a:xfrm>
          <a:custGeom>
            <a:avLst/>
            <a:gdLst/>
            <a:ahLst/>
            <a:cxnLst/>
            <a:rect l="l" t="t" r="r" b="b"/>
            <a:pathLst>
              <a:path w="914400" h="533400">
                <a:moveTo>
                  <a:pt x="0" y="133350"/>
                </a:moveTo>
                <a:lnTo>
                  <a:pt x="647700" y="133350"/>
                </a:lnTo>
                <a:lnTo>
                  <a:pt x="647700" y="0"/>
                </a:lnTo>
                <a:lnTo>
                  <a:pt x="914400" y="266700"/>
                </a:lnTo>
                <a:lnTo>
                  <a:pt x="647700" y="533400"/>
                </a:lnTo>
                <a:lnTo>
                  <a:pt x="647700" y="400050"/>
                </a:lnTo>
                <a:lnTo>
                  <a:pt x="0" y="400050"/>
                </a:lnTo>
                <a:lnTo>
                  <a:pt x="0" y="13335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788528" y="5057509"/>
            <a:ext cx="1306830" cy="49530"/>
          </a:xfrm>
          <a:custGeom>
            <a:avLst/>
            <a:gdLst/>
            <a:ahLst/>
            <a:cxnLst/>
            <a:rect l="l" t="t" r="r" b="b"/>
            <a:pathLst>
              <a:path w="1306829" h="49529">
                <a:moveTo>
                  <a:pt x="0" y="49259"/>
                </a:moveTo>
                <a:lnTo>
                  <a:pt x="1306559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167769" y="5156027"/>
            <a:ext cx="544830" cy="179705"/>
          </a:xfrm>
          <a:custGeom>
            <a:avLst/>
            <a:gdLst/>
            <a:ahLst/>
            <a:cxnLst/>
            <a:rect l="l" t="t" r="r" b="b"/>
            <a:pathLst>
              <a:path w="544829" h="179704">
                <a:moveTo>
                  <a:pt x="544559" y="179341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788528" y="4611978"/>
            <a:ext cx="621030" cy="114300"/>
          </a:xfrm>
          <a:custGeom>
            <a:avLst/>
            <a:gdLst/>
            <a:ahLst/>
            <a:cxnLst/>
            <a:rect l="l" t="t" r="r" b="b"/>
            <a:pathLst>
              <a:path w="621029" h="114300">
                <a:moveTo>
                  <a:pt x="0" y="113791"/>
                </a:moveTo>
                <a:lnTo>
                  <a:pt x="620759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477000" y="4767589"/>
            <a:ext cx="762000" cy="533400"/>
          </a:xfrm>
          <a:custGeom>
            <a:avLst/>
            <a:gdLst/>
            <a:ahLst/>
            <a:cxnLst/>
            <a:rect l="l" t="t" r="r" b="b"/>
            <a:pathLst>
              <a:path w="762000" h="533400">
                <a:moveTo>
                  <a:pt x="0" y="133350"/>
                </a:moveTo>
                <a:lnTo>
                  <a:pt x="495300" y="133350"/>
                </a:lnTo>
                <a:lnTo>
                  <a:pt x="495300" y="0"/>
                </a:lnTo>
                <a:lnTo>
                  <a:pt x="762000" y="266700"/>
                </a:lnTo>
                <a:lnTo>
                  <a:pt x="495300" y="533400"/>
                </a:lnTo>
                <a:lnTo>
                  <a:pt x="495300" y="400050"/>
                </a:lnTo>
                <a:lnTo>
                  <a:pt x="0" y="400050"/>
                </a:lnTo>
                <a:lnTo>
                  <a:pt x="0" y="13335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902329" y="468002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69809" y="8982"/>
                </a:lnTo>
                <a:lnTo>
                  <a:pt x="33477" y="33477"/>
                </a:lnTo>
                <a:lnTo>
                  <a:pt x="8982" y="69809"/>
                </a:lnTo>
                <a:lnTo>
                  <a:pt x="0" y="114300"/>
                </a:lnTo>
                <a:lnTo>
                  <a:pt x="8982" y="158790"/>
                </a:lnTo>
                <a:lnTo>
                  <a:pt x="33477" y="195122"/>
                </a:lnTo>
                <a:lnTo>
                  <a:pt x="69809" y="219617"/>
                </a:lnTo>
                <a:lnTo>
                  <a:pt x="114300" y="228600"/>
                </a:lnTo>
                <a:lnTo>
                  <a:pt x="158790" y="219617"/>
                </a:lnTo>
                <a:lnTo>
                  <a:pt x="195122" y="195122"/>
                </a:lnTo>
                <a:lnTo>
                  <a:pt x="219617" y="158790"/>
                </a:lnTo>
                <a:lnTo>
                  <a:pt x="228600" y="114300"/>
                </a:lnTo>
                <a:lnTo>
                  <a:pt x="219617" y="69809"/>
                </a:lnTo>
                <a:lnTo>
                  <a:pt x="195122" y="33477"/>
                </a:lnTo>
                <a:lnTo>
                  <a:pt x="158790" y="8982"/>
                </a:lnTo>
                <a:lnTo>
                  <a:pt x="114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939634" y="4674108"/>
            <a:ext cx="1543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057400" y="47638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69809" y="8982"/>
                </a:lnTo>
                <a:lnTo>
                  <a:pt x="33477" y="33477"/>
                </a:lnTo>
                <a:lnTo>
                  <a:pt x="8982" y="69809"/>
                </a:lnTo>
                <a:lnTo>
                  <a:pt x="0" y="114300"/>
                </a:lnTo>
                <a:lnTo>
                  <a:pt x="8982" y="158790"/>
                </a:lnTo>
                <a:lnTo>
                  <a:pt x="33477" y="195122"/>
                </a:lnTo>
                <a:lnTo>
                  <a:pt x="69809" y="219617"/>
                </a:lnTo>
                <a:lnTo>
                  <a:pt x="114300" y="228600"/>
                </a:lnTo>
                <a:lnTo>
                  <a:pt x="158790" y="219617"/>
                </a:lnTo>
                <a:lnTo>
                  <a:pt x="195122" y="195122"/>
                </a:lnTo>
                <a:lnTo>
                  <a:pt x="219617" y="158790"/>
                </a:lnTo>
                <a:lnTo>
                  <a:pt x="228600" y="114300"/>
                </a:lnTo>
                <a:lnTo>
                  <a:pt x="219617" y="69809"/>
                </a:lnTo>
                <a:lnTo>
                  <a:pt x="195122" y="33477"/>
                </a:lnTo>
                <a:lnTo>
                  <a:pt x="158790" y="8982"/>
                </a:lnTo>
                <a:lnTo>
                  <a:pt x="114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2094706" y="4759452"/>
            <a:ext cx="1543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057400" y="52972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69809" y="8982"/>
                </a:lnTo>
                <a:lnTo>
                  <a:pt x="33477" y="33477"/>
                </a:lnTo>
                <a:lnTo>
                  <a:pt x="8982" y="69809"/>
                </a:lnTo>
                <a:lnTo>
                  <a:pt x="0" y="114300"/>
                </a:lnTo>
                <a:lnTo>
                  <a:pt x="8982" y="158790"/>
                </a:lnTo>
                <a:lnTo>
                  <a:pt x="33477" y="195122"/>
                </a:lnTo>
                <a:lnTo>
                  <a:pt x="69809" y="219617"/>
                </a:lnTo>
                <a:lnTo>
                  <a:pt x="114300" y="228600"/>
                </a:lnTo>
                <a:lnTo>
                  <a:pt x="158790" y="219617"/>
                </a:lnTo>
                <a:lnTo>
                  <a:pt x="195122" y="195122"/>
                </a:lnTo>
                <a:lnTo>
                  <a:pt x="219617" y="158790"/>
                </a:lnTo>
                <a:lnTo>
                  <a:pt x="228600" y="114300"/>
                </a:lnTo>
                <a:lnTo>
                  <a:pt x="219617" y="69809"/>
                </a:lnTo>
                <a:lnTo>
                  <a:pt x="195122" y="33477"/>
                </a:lnTo>
                <a:lnTo>
                  <a:pt x="158790" y="8982"/>
                </a:lnTo>
                <a:lnTo>
                  <a:pt x="114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2094706" y="5292852"/>
            <a:ext cx="1543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091599" y="5354827"/>
            <a:ext cx="14052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500" algn="l"/>
                <a:tab pos="1257300" algn="l"/>
              </a:tabLst>
            </a:pPr>
            <a:r>
              <a:rPr dirty="0" sz="1800">
                <a:latin typeface="Corbel"/>
                <a:cs typeface="Corbel"/>
              </a:rPr>
              <a:t>A	</a:t>
            </a:r>
            <a:r>
              <a:rPr dirty="0" baseline="1543" sz="2700">
                <a:latin typeface="Corbel"/>
                <a:cs typeface="Corbel"/>
              </a:rPr>
              <a:t>B	</a:t>
            </a:r>
            <a:r>
              <a:rPr dirty="0" baseline="3086" sz="2700">
                <a:latin typeface="Corbel"/>
                <a:cs typeface="Corbel"/>
              </a:rPr>
              <a:t>C</a:t>
            </a:r>
            <a:endParaRPr baseline="3086" sz="2700">
              <a:latin typeface="Corbel"/>
              <a:cs typeface="Corbe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072799" y="5342635"/>
            <a:ext cx="1790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7493628" y="4862890"/>
            <a:ext cx="0" cy="389255"/>
          </a:xfrm>
          <a:custGeom>
            <a:avLst/>
            <a:gdLst/>
            <a:ahLst/>
            <a:cxnLst/>
            <a:rect l="l" t="t" r="r" b="b"/>
            <a:pathLst>
              <a:path w="0" h="389254">
                <a:moveTo>
                  <a:pt x="0" y="0"/>
                </a:moveTo>
                <a:lnTo>
                  <a:pt x="1" y="38863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607928" y="4693529"/>
            <a:ext cx="774700" cy="32384"/>
          </a:xfrm>
          <a:custGeom>
            <a:avLst/>
            <a:gdLst/>
            <a:ahLst/>
            <a:cxnLst/>
            <a:rect l="l" t="t" r="r" b="b"/>
            <a:pathLst>
              <a:path w="774700" h="32385">
                <a:moveTo>
                  <a:pt x="0" y="32240"/>
                </a:moveTo>
                <a:lnTo>
                  <a:pt x="77407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574451" y="4774351"/>
            <a:ext cx="841375" cy="511175"/>
          </a:xfrm>
          <a:custGeom>
            <a:avLst/>
            <a:gdLst/>
            <a:ahLst/>
            <a:cxnLst/>
            <a:rect l="l" t="t" r="r" b="b"/>
            <a:pathLst>
              <a:path w="841375" h="511175">
                <a:moveTo>
                  <a:pt x="0" y="510657"/>
                </a:moveTo>
                <a:lnTo>
                  <a:pt x="84102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607928" y="5365829"/>
            <a:ext cx="774700" cy="0"/>
          </a:xfrm>
          <a:custGeom>
            <a:avLst/>
            <a:gdLst/>
            <a:ahLst/>
            <a:cxnLst/>
            <a:rect l="l" t="t" r="r" b="b"/>
            <a:pathLst>
              <a:path w="774700" h="0">
                <a:moveTo>
                  <a:pt x="774071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379328" y="525152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69809" y="8982"/>
                </a:lnTo>
                <a:lnTo>
                  <a:pt x="33477" y="33477"/>
                </a:lnTo>
                <a:lnTo>
                  <a:pt x="8982" y="69809"/>
                </a:lnTo>
                <a:lnTo>
                  <a:pt x="0" y="114299"/>
                </a:lnTo>
                <a:lnTo>
                  <a:pt x="8982" y="158790"/>
                </a:lnTo>
                <a:lnTo>
                  <a:pt x="33477" y="195122"/>
                </a:lnTo>
                <a:lnTo>
                  <a:pt x="69809" y="219617"/>
                </a:lnTo>
                <a:lnTo>
                  <a:pt x="114300" y="228599"/>
                </a:lnTo>
                <a:lnTo>
                  <a:pt x="158790" y="219617"/>
                </a:lnTo>
                <a:lnTo>
                  <a:pt x="195122" y="195122"/>
                </a:lnTo>
                <a:lnTo>
                  <a:pt x="219617" y="158790"/>
                </a:lnTo>
                <a:lnTo>
                  <a:pt x="228600" y="114299"/>
                </a:lnTo>
                <a:lnTo>
                  <a:pt x="219617" y="69809"/>
                </a:lnTo>
                <a:lnTo>
                  <a:pt x="195122" y="33477"/>
                </a:lnTo>
                <a:lnTo>
                  <a:pt x="158790" y="8982"/>
                </a:lnTo>
                <a:lnTo>
                  <a:pt x="114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7416634" y="5247132"/>
            <a:ext cx="1543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40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379328" y="463429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69809" y="8982"/>
                </a:lnTo>
                <a:lnTo>
                  <a:pt x="33477" y="33477"/>
                </a:lnTo>
                <a:lnTo>
                  <a:pt x="8982" y="69809"/>
                </a:lnTo>
                <a:lnTo>
                  <a:pt x="0" y="114299"/>
                </a:lnTo>
                <a:lnTo>
                  <a:pt x="8982" y="158790"/>
                </a:lnTo>
                <a:lnTo>
                  <a:pt x="33477" y="195122"/>
                </a:lnTo>
                <a:lnTo>
                  <a:pt x="69809" y="219617"/>
                </a:lnTo>
                <a:lnTo>
                  <a:pt x="114300" y="228599"/>
                </a:lnTo>
                <a:lnTo>
                  <a:pt x="158790" y="219617"/>
                </a:lnTo>
                <a:lnTo>
                  <a:pt x="195122" y="195122"/>
                </a:lnTo>
                <a:lnTo>
                  <a:pt x="219617" y="158790"/>
                </a:lnTo>
                <a:lnTo>
                  <a:pt x="228600" y="114299"/>
                </a:lnTo>
                <a:lnTo>
                  <a:pt x="219617" y="69809"/>
                </a:lnTo>
                <a:lnTo>
                  <a:pt x="195122" y="33477"/>
                </a:lnTo>
                <a:lnTo>
                  <a:pt x="158790" y="8982"/>
                </a:lnTo>
                <a:lnTo>
                  <a:pt x="114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7416634" y="4628388"/>
            <a:ext cx="1543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8382000" y="457922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69809" y="8982"/>
                </a:lnTo>
                <a:lnTo>
                  <a:pt x="33477" y="33477"/>
                </a:lnTo>
                <a:lnTo>
                  <a:pt x="8982" y="69809"/>
                </a:lnTo>
                <a:lnTo>
                  <a:pt x="0" y="114299"/>
                </a:lnTo>
                <a:lnTo>
                  <a:pt x="8982" y="158790"/>
                </a:lnTo>
                <a:lnTo>
                  <a:pt x="33477" y="195122"/>
                </a:lnTo>
                <a:lnTo>
                  <a:pt x="69809" y="219617"/>
                </a:lnTo>
                <a:lnTo>
                  <a:pt x="114300" y="228599"/>
                </a:lnTo>
                <a:lnTo>
                  <a:pt x="158790" y="219617"/>
                </a:lnTo>
                <a:lnTo>
                  <a:pt x="195122" y="195122"/>
                </a:lnTo>
                <a:lnTo>
                  <a:pt x="219617" y="158790"/>
                </a:lnTo>
                <a:lnTo>
                  <a:pt x="228600" y="114299"/>
                </a:lnTo>
                <a:lnTo>
                  <a:pt x="219617" y="69809"/>
                </a:lnTo>
                <a:lnTo>
                  <a:pt x="195122" y="33477"/>
                </a:lnTo>
                <a:lnTo>
                  <a:pt x="158790" y="8982"/>
                </a:lnTo>
                <a:lnTo>
                  <a:pt x="114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8419306" y="4573523"/>
            <a:ext cx="1543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8382000" y="525152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69809" y="8982"/>
                </a:lnTo>
                <a:lnTo>
                  <a:pt x="33477" y="33477"/>
                </a:lnTo>
                <a:lnTo>
                  <a:pt x="8982" y="69809"/>
                </a:lnTo>
                <a:lnTo>
                  <a:pt x="0" y="114299"/>
                </a:lnTo>
                <a:lnTo>
                  <a:pt x="8982" y="158790"/>
                </a:lnTo>
                <a:lnTo>
                  <a:pt x="33477" y="195122"/>
                </a:lnTo>
                <a:lnTo>
                  <a:pt x="69809" y="219617"/>
                </a:lnTo>
                <a:lnTo>
                  <a:pt x="114300" y="228599"/>
                </a:lnTo>
                <a:lnTo>
                  <a:pt x="158790" y="219617"/>
                </a:lnTo>
                <a:lnTo>
                  <a:pt x="195122" y="195122"/>
                </a:lnTo>
                <a:lnTo>
                  <a:pt x="219617" y="158790"/>
                </a:lnTo>
                <a:lnTo>
                  <a:pt x="228600" y="114299"/>
                </a:lnTo>
                <a:lnTo>
                  <a:pt x="219617" y="69809"/>
                </a:lnTo>
                <a:lnTo>
                  <a:pt x="195122" y="33477"/>
                </a:lnTo>
                <a:lnTo>
                  <a:pt x="158790" y="8982"/>
                </a:lnTo>
                <a:lnTo>
                  <a:pt x="114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8419306" y="5247132"/>
            <a:ext cx="1543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7034783" y="5888735"/>
            <a:ext cx="1776983" cy="46634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989064" y="5867400"/>
            <a:ext cx="1853183" cy="58216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7084014" y="5912279"/>
            <a:ext cx="1678985" cy="36933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084014" y="5912279"/>
            <a:ext cx="1679575" cy="369570"/>
          </a:xfrm>
          <a:custGeom>
            <a:avLst/>
            <a:gdLst/>
            <a:ahLst/>
            <a:cxnLst/>
            <a:rect l="l" t="t" r="r" b="b"/>
            <a:pathLst>
              <a:path w="1679575" h="369570">
                <a:moveTo>
                  <a:pt x="0" y="0"/>
                </a:moveTo>
                <a:lnTo>
                  <a:pt x="1678986" y="0"/>
                </a:lnTo>
                <a:lnTo>
                  <a:pt x="1678986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4285874" y="6497828"/>
            <a:ext cx="4648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08000"/>
                </a:solidFill>
                <a:latin typeface="Arial"/>
                <a:cs typeface="Arial"/>
              </a:rPr>
              <a:t>We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ignore double edges and self-loops when creating the final</a:t>
            </a:r>
            <a:r>
              <a:rPr dirty="0" sz="1200" spc="1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graph</a:t>
            </a:r>
            <a:endParaRPr sz="1200">
              <a:latin typeface="Arial"/>
              <a:cs typeface="Arial"/>
            </a:endParaRPr>
          </a:p>
        </p:txBody>
      </p:sp>
      <p:sp>
        <p:nvSpPr>
          <p:cNvPr id="70" name="object 7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71" name="object 7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72" name="object 7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22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1375"/>
            <a:ext cx="8223504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10132"/>
            <a:ext cx="6610984" cy="88836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395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0"/>
              <a:t>Start </a:t>
            </a:r>
            <a:r>
              <a:rPr dirty="0" sz="3000" spc="-15"/>
              <a:t>from </a:t>
            </a:r>
            <a:r>
              <a:rPr dirty="0" sz="3000"/>
              <a:t>a </a:t>
            </a:r>
            <a:r>
              <a:rPr dirty="0" sz="3000" spc="-10" b="1">
                <a:solidFill>
                  <a:srgbClr val="D60093"/>
                </a:solidFill>
                <a:latin typeface="Calibri"/>
                <a:cs typeface="Calibri"/>
              </a:rPr>
              <a:t>given </a:t>
            </a:r>
            <a:r>
              <a:rPr dirty="0" sz="3000" spc="-15" b="1">
                <a:solidFill>
                  <a:srgbClr val="D60093"/>
                </a:solidFill>
                <a:latin typeface="Calibri"/>
                <a:cs typeface="Calibri"/>
              </a:rPr>
              <a:t>graph</a:t>
            </a:r>
            <a:r>
              <a:rPr dirty="0" sz="3000" spc="-5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D60093"/>
                </a:solidFill>
                <a:latin typeface="Cambria Math"/>
                <a:cs typeface="Cambria Math"/>
              </a:rPr>
              <a:t>𝑮</a:t>
            </a:r>
            <a:endParaRPr sz="3000">
              <a:latin typeface="Cambria Math"/>
              <a:cs typeface="Cambria Math"/>
            </a:endParaRPr>
          </a:p>
          <a:p>
            <a:pPr marL="332740" indent="-320040">
              <a:lnSpc>
                <a:spcPts val="3395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20"/>
              <a:t>Repeat </a:t>
            </a: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dirty="0" sz="3000" spc="-10" b="1">
                <a:solidFill>
                  <a:srgbClr val="0000FF"/>
                </a:solidFill>
                <a:latin typeface="Calibri"/>
                <a:cs typeface="Calibri"/>
              </a:rPr>
              <a:t>switching </a:t>
            </a:r>
            <a:r>
              <a:rPr dirty="0" sz="3000" spc="-20" b="1">
                <a:solidFill>
                  <a:srgbClr val="0000FF"/>
                </a:solidFill>
                <a:latin typeface="Calibri"/>
                <a:cs typeface="Calibri"/>
              </a:rPr>
              <a:t>step </a:t>
            </a:r>
            <a:r>
              <a:rPr dirty="0" sz="3000">
                <a:latin typeface="Cambria Math"/>
                <a:cs typeface="Cambria Math"/>
              </a:rPr>
              <a:t>𝑄 ⋅ </a:t>
            </a:r>
            <a:r>
              <a:rPr dirty="0" sz="3000" spc="30">
                <a:latin typeface="Cambria Math"/>
                <a:cs typeface="Cambria Math"/>
              </a:rPr>
              <a:t>|𝐸</a:t>
            </a:r>
            <a:r>
              <a:rPr dirty="0" sz="3000" spc="30"/>
              <a:t>|</a:t>
            </a:r>
            <a:r>
              <a:rPr dirty="0" sz="3000" spc="100"/>
              <a:t> </a:t>
            </a:r>
            <a:r>
              <a:rPr dirty="0" sz="3000" spc="-5"/>
              <a:t>times: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2162555"/>
            <a:ext cx="6236335" cy="157924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84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600" spc="-5">
                <a:latin typeface="Calibri"/>
                <a:cs typeface="Calibri"/>
              </a:rPr>
              <a:t>Select </a:t>
            </a:r>
            <a:r>
              <a:rPr dirty="0" sz="2600">
                <a:latin typeface="Calibri"/>
                <a:cs typeface="Calibri"/>
              </a:rPr>
              <a:t>a </a:t>
            </a:r>
            <a:r>
              <a:rPr dirty="0" sz="2600" spc="-5">
                <a:latin typeface="Calibri"/>
                <a:cs typeface="Calibri"/>
              </a:rPr>
              <a:t>pair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10">
                <a:latin typeface="Calibri"/>
                <a:cs typeface="Calibri"/>
              </a:rPr>
              <a:t>edges </a:t>
            </a:r>
            <a:r>
              <a:rPr dirty="0" sz="2600" spc="254">
                <a:latin typeface="Calibri"/>
                <a:cs typeface="Calibri"/>
              </a:rPr>
              <a:t>A</a:t>
            </a:r>
            <a:r>
              <a:rPr dirty="0" sz="2600" spc="254">
                <a:latin typeface="Arial"/>
                <a:cs typeface="Arial"/>
              </a:rPr>
              <a:t>à</a:t>
            </a:r>
            <a:r>
              <a:rPr dirty="0" sz="2600" spc="254">
                <a:latin typeface="Calibri"/>
                <a:cs typeface="Calibri"/>
              </a:rPr>
              <a:t>B, </a:t>
            </a:r>
            <a:r>
              <a:rPr dirty="0" sz="2600" spc="360">
                <a:latin typeface="Calibri"/>
                <a:cs typeface="Calibri"/>
              </a:rPr>
              <a:t>C</a:t>
            </a:r>
            <a:r>
              <a:rPr dirty="0" sz="2600" spc="360">
                <a:latin typeface="Arial"/>
                <a:cs typeface="Arial"/>
              </a:rPr>
              <a:t>à</a:t>
            </a:r>
            <a:r>
              <a:rPr dirty="0" sz="2600" spc="360">
                <a:latin typeface="Calibri"/>
                <a:cs typeface="Calibri"/>
              </a:rPr>
              <a:t>D</a:t>
            </a:r>
            <a:r>
              <a:rPr dirty="0" sz="2600" spc="-29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at random</a:t>
            </a:r>
            <a:endParaRPr sz="26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8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600" spc="-15" b="1">
                <a:solidFill>
                  <a:srgbClr val="D60093"/>
                </a:solidFill>
                <a:latin typeface="Calibri"/>
                <a:cs typeface="Calibri"/>
              </a:rPr>
              <a:t>Exchange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0">
                <a:latin typeface="Calibri"/>
                <a:cs typeface="Calibri"/>
              </a:rPr>
              <a:t>endpoints </a:t>
            </a:r>
            <a:r>
              <a:rPr dirty="0" sz="2600" spc="-15">
                <a:latin typeface="Calibri"/>
                <a:cs typeface="Calibri"/>
              </a:rPr>
              <a:t>to </a:t>
            </a:r>
            <a:r>
              <a:rPr dirty="0" sz="2600" spc="-10">
                <a:latin typeface="Calibri"/>
                <a:cs typeface="Calibri"/>
              </a:rPr>
              <a:t>give </a:t>
            </a:r>
            <a:r>
              <a:rPr dirty="0" sz="2600" spc="250">
                <a:latin typeface="Calibri"/>
                <a:cs typeface="Calibri"/>
              </a:rPr>
              <a:t>A</a:t>
            </a:r>
            <a:r>
              <a:rPr dirty="0" sz="2600" spc="250">
                <a:latin typeface="Arial"/>
                <a:cs typeface="Arial"/>
              </a:rPr>
              <a:t>à</a:t>
            </a:r>
            <a:r>
              <a:rPr dirty="0" sz="2600" spc="250">
                <a:latin typeface="Calibri"/>
                <a:cs typeface="Calibri"/>
              </a:rPr>
              <a:t>D,</a:t>
            </a:r>
            <a:r>
              <a:rPr dirty="0" sz="2600" spc="35">
                <a:latin typeface="Calibri"/>
                <a:cs typeface="Calibri"/>
              </a:rPr>
              <a:t> </a:t>
            </a:r>
            <a:r>
              <a:rPr dirty="0" sz="2600" spc="360">
                <a:latin typeface="Calibri"/>
                <a:cs typeface="Calibri"/>
              </a:rPr>
              <a:t>C</a:t>
            </a:r>
            <a:r>
              <a:rPr dirty="0" sz="2600" spc="360">
                <a:latin typeface="Arial"/>
                <a:cs typeface="Arial"/>
              </a:rPr>
              <a:t>à</a:t>
            </a:r>
            <a:r>
              <a:rPr dirty="0" sz="2600" spc="360">
                <a:latin typeface="Calibri"/>
                <a:cs typeface="Calibri"/>
              </a:rPr>
              <a:t>B</a:t>
            </a:r>
            <a:endParaRPr sz="2600">
              <a:latin typeface="Calibri"/>
              <a:cs typeface="Calibri"/>
            </a:endParaRPr>
          </a:p>
          <a:p>
            <a:pPr lvl="1" marL="552450" marR="1035685" indent="-228600">
              <a:lnSpc>
                <a:spcPts val="2300"/>
              </a:lnSpc>
              <a:spcBef>
                <a:spcPts val="64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200" spc="-15">
                <a:latin typeface="Calibri"/>
                <a:cs typeface="Calibri"/>
              </a:rPr>
              <a:t>Exchange </a:t>
            </a:r>
            <a:r>
              <a:rPr dirty="0" sz="2200" spc="-10">
                <a:latin typeface="Calibri"/>
                <a:cs typeface="Calibri"/>
              </a:rPr>
              <a:t>edges </a:t>
            </a:r>
            <a:r>
              <a:rPr dirty="0" sz="2200" spc="-5">
                <a:latin typeface="Calibri"/>
                <a:cs typeface="Calibri"/>
              </a:rPr>
              <a:t>only if no multiple </a:t>
            </a:r>
            <a:r>
              <a:rPr dirty="0" sz="2200" spc="-10">
                <a:latin typeface="Calibri"/>
                <a:cs typeface="Calibri"/>
              </a:rPr>
              <a:t>edges  </a:t>
            </a:r>
            <a:r>
              <a:rPr dirty="0" sz="2200">
                <a:latin typeface="Calibri"/>
                <a:cs typeface="Calibri"/>
              </a:rPr>
              <a:t>or </a:t>
            </a:r>
            <a:r>
              <a:rPr dirty="0" sz="2200" spc="-10">
                <a:latin typeface="Calibri"/>
                <a:cs typeface="Calibri"/>
              </a:rPr>
              <a:t>self-edges </a:t>
            </a:r>
            <a:r>
              <a:rPr dirty="0" sz="2200" spc="-15">
                <a:latin typeface="Calibri"/>
                <a:cs typeface="Calibri"/>
              </a:rPr>
              <a:t>are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5">
                <a:latin typeface="Calibri"/>
                <a:cs typeface="Calibri"/>
              </a:rPr>
              <a:t>generated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4019100"/>
            <a:ext cx="6669405" cy="988694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56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Result: </a:t>
            </a:r>
            <a:r>
              <a:rPr dirty="0" sz="3000">
                <a:latin typeface="Calibri"/>
                <a:cs typeface="Calibri"/>
              </a:rPr>
              <a:t>A </a:t>
            </a:r>
            <a:r>
              <a:rPr dirty="0" sz="3000" spc="-10">
                <a:latin typeface="Calibri"/>
                <a:cs typeface="Calibri"/>
              </a:rPr>
              <a:t>randomly </a:t>
            </a:r>
            <a:r>
              <a:rPr dirty="0" sz="3000" spc="-20">
                <a:latin typeface="Calibri"/>
                <a:cs typeface="Calibri"/>
              </a:rPr>
              <a:t>rewired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 spc="-15">
                <a:latin typeface="Calibri"/>
                <a:cs typeface="Calibri"/>
              </a:rPr>
              <a:t>graph: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9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Same node </a:t>
            </a:r>
            <a:r>
              <a:rPr dirty="0" sz="2600" spc="-10">
                <a:latin typeface="Calibri"/>
                <a:cs typeface="Calibri"/>
              </a:rPr>
              <a:t>degrees, randomly </a:t>
            </a:r>
            <a:r>
              <a:rPr dirty="0" sz="2600" spc="-15">
                <a:latin typeface="Calibri"/>
                <a:cs typeface="Calibri"/>
              </a:rPr>
              <a:t>rewired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edges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108" y="5336540"/>
            <a:ext cx="7825105" cy="900430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332740" marR="5080" indent="-320040">
              <a:lnSpc>
                <a:spcPts val="3290"/>
              </a:lnSpc>
              <a:spcBef>
                <a:spcPts val="46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>
                <a:latin typeface="Cambria Math"/>
                <a:cs typeface="Cambria Math"/>
              </a:rPr>
              <a:t>𝑄 </a:t>
            </a:r>
            <a:r>
              <a:rPr dirty="0" sz="3000" spc="-5">
                <a:latin typeface="Calibri"/>
                <a:cs typeface="Calibri"/>
              </a:rPr>
              <a:t>is chosen </a:t>
            </a:r>
            <a:r>
              <a:rPr dirty="0" sz="3000" spc="-15">
                <a:latin typeface="Calibri"/>
                <a:cs typeface="Calibri"/>
              </a:rPr>
              <a:t>large </a:t>
            </a:r>
            <a:r>
              <a:rPr dirty="0" sz="3000" spc="-5">
                <a:latin typeface="Calibri"/>
                <a:cs typeface="Calibri"/>
              </a:rPr>
              <a:t>enough </a:t>
            </a:r>
            <a:r>
              <a:rPr dirty="0" sz="3000" spc="-5" i="1">
                <a:latin typeface="Calibri"/>
                <a:cs typeface="Calibri"/>
              </a:rPr>
              <a:t>(e.g., </a:t>
            </a:r>
            <a:r>
              <a:rPr dirty="0" sz="3000">
                <a:latin typeface="Cambria Math"/>
                <a:cs typeface="Cambria Math"/>
              </a:rPr>
              <a:t>𝑄 = 100</a:t>
            </a:r>
            <a:r>
              <a:rPr dirty="0" sz="3000" i="1">
                <a:latin typeface="Calibri"/>
                <a:cs typeface="Calibri"/>
              </a:rPr>
              <a:t>) </a:t>
            </a:r>
            <a:r>
              <a:rPr dirty="0" sz="3000" spc="-25">
                <a:latin typeface="Calibri"/>
                <a:cs typeface="Calibri"/>
              </a:rPr>
              <a:t>for </a:t>
            </a:r>
            <a:r>
              <a:rPr dirty="0" sz="3000" spc="-5">
                <a:latin typeface="Calibri"/>
                <a:cs typeface="Calibri"/>
              </a:rPr>
              <a:t>the  </a:t>
            </a:r>
            <a:r>
              <a:rPr dirty="0" sz="3000" spc="-15">
                <a:latin typeface="Calibri"/>
                <a:cs typeface="Calibri"/>
              </a:rPr>
              <a:t>process </a:t>
            </a:r>
            <a:r>
              <a:rPr dirty="0" sz="3000" spc="-20">
                <a:latin typeface="Calibri"/>
                <a:cs typeface="Calibri"/>
              </a:rPr>
              <a:t>to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converge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874628" y="2569662"/>
            <a:ext cx="0" cy="389255"/>
          </a:xfrm>
          <a:custGeom>
            <a:avLst/>
            <a:gdLst/>
            <a:ahLst/>
            <a:cxnLst/>
            <a:rect l="l" t="t" r="r" b="b"/>
            <a:pathLst>
              <a:path w="0" h="389255">
                <a:moveTo>
                  <a:pt x="0" y="0"/>
                </a:moveTo>
                <a:lnTo>
                  <a:pt x="1" y="38863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988928" y="2400300"/>
            <a:ext cx="774700" cy="32384"/>
          </a:xfrm>
          <a:custGeom>
            <a:avLst/>
            <a:gdLst/>
            <a:ahLst/>
            <a:cxnLst/>
            <a:rect l="l" t="t" r="r" b="b"/>
            <a:pathLst>
              <a:path w="774700" h="32385">
                <a:moveTo>
                  <a:pt x="0" y="32240"/>
                </a:moveTo>
                <a:lnTo>
                  <a:pt x="77407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877300" y="2514600"/>
            <a:ext cx="0" cy="443865"/>
          </a:xfrm>
          <a:custGeom>
            <a:avLst/>
            <a:gdLst/>
            <a:ahLst/>
            <a:cxnLst/>
            <a:rect l="l" t="t" r="r" b="b"/>
            <a:pathLst>
              <a:path w="0" h="443864">
                <a:moveTo>
                  <a:pt x="0" y="443701"/>
                </a:moveTo>
                <a:lnTo>
                  <a:pt x="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760328" y="295830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69809" y="8982"/>
                </a:lnTo>
                <a:lnTo>
                  <a:pt x="33477" y="33477"/>
                </a:lnTo>
                <a:lnTo>
                  <a:pt x="8982" y="69809"/>
                </a:lnTo>
                <a:lnTo>
                  <a:pt x="0" y="114300"/>
                </a:lnTo>
                <a:lnTo>
                  <a:pt x="8982" y="158790"/>
                </a:lnTo>
                <a:lnTo>
                  <a:pt x="33477" y="195122"/>
                </a:lnTo>
                <a:lnTo>
                  <a:pt x="69809" y="219617"/>
                </a:lnTo>
                <a:lnTo>
                  <a:pt x="114300" y="228600"/>
                </a:lnTo>
                <a:lnTo>
                  <a:pt x="158790" y="219617"/>
                </a:lnTo>
                <a:lnTo>
                  <a:pt x="195122" y="195122"/>
                </a:lnTo>
                <a:lnTo>
                  <a:pt x="219617" y="158790"/>
                </a:lnTo>
                <a:lnTo>
                  <a:pt x="228600" y="114300"/>
                </a:lnTo>
                <a:lnTo>
                  <a:pt x="219617" y="69809"/>
                </a:lnTo>
                <a:lnTo>
                  <a:pt x="195122" y="33477"/>
                </a:lnTo>
                <a:lnTo>
                  <a:pt x="158790" y="8982"/>
                </a:lnTo>
                <a:lnTo>
                  <a:pt x="114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797634" y="2951988"/>
            <a:ext cx="1543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60328" y="23410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69809" y="8982"/>
                </a:lnTo>
                <a:lnTo>
                  <a:pt x="33477" y="33477"/>
                </a:lnTo>
                <a:lnTo>
                  <a:pt x="8982" y="69809"/>
                </a:lnTo>
                <a:lnTo>
                  <a:pt x="0" y="114300"/>
                </a:lnTo>
                <a:lnTo>
                  <a:pt x="8982" y="158790"/>
                </a:lnTo>
                <a:lnTo>
                  <a:pt x="33477" y="195122"/>
                </a:lnTo>
                <a:lnTo>
                  <a:pt x="69809" y="219617"/>
                </a:lnTo>
                <a:lnTo>
                  <a:pt x="114300" y="228600"/>
                </a:lnTo>
                <a:lnTo>
                  <a:pt x="158790" y="219617"/>
                </a:lnTo>
                <a:lnTo>
                  <a:pt x="195122" y="195122"/>
                </a:lnTo>
                <a:lnTo>
                  <a:pt x="219617" y="158790"/>
                </a:lnTo>
                <a:lnTo>
                  <a:pt x="228600" y="114300"/>
                </a:lnTo>
                <a:lnTo>
                  <a:pt x="219617" y="69809"/>
                </a:lnTo>
                <a:lnTo>
                  <a:pt x="195122" y="33477"/>
                </a:lnTo>
                <a:lnTo>
                  <a:pt x="158790" y="8982"/>
                </a:lnTo>
                <a:lnTo>
                  <a:pt x="114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797634" y="2336292"/>
            <a:ext cx="1543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763000" y="2286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69809" y="8982"/>
                </a:lnTo>
                <a:lnTo>
                  <a:pt x="33477" y="33477"/>
                </a:lnTo>
                <a:lnTo>
                  <a:pt x="8982" y="69809"/>
                </a:lnTo>
                <a:lnTo>
                  <a:pt x="0" y="114300"/>
                </a:lnTo>
                <a:lnTo>
                  <a:pt x="8982" y="158790"/>
                </a:lnTo>
                <a:lnTo>
                  <a:pt x="33477" y="195122"/>
                </a:lnTo>
                <a:lnTo>
                  <a:pt x="69809" y="219617"/>
                </a:lnTo>
                <a:lnTo>
                  <a:pt x="114300" y="228600"/>
                </a:lnTo>
                <a:lnTo>
                  <a:pt x="158790" y="219617"/>
                </a:lnTo>
                <a:lnTo>
                  <a:pt x="195122" y="195122"/>
                </a:lnTo>
                <a:lnTo>
                  <a:pt x="219617" y="158790"/>
                </a:lnTo>
                <a:lnTo>
                  <a:pt x="228600" y="114300"/>
                </a:lnTo>
                <a:lnTo>
                  <a:pt x="219617" y="69809"/>
                </a:lnTo>
                <a:lnTo>
                  <a:pt x="195122" y="33477"/>
                </a:lnTo>
                <a:lnTo>
                  <a:pt x="158790" y="8982"/>
                </a:lnTo>
                <a:lnTo>
                  <a:pt x="114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800306" y="2281427"/>
            <a:ext cx="1543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763000" y="295830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69809" y="8982"/>
                </a:lnTo>
                <a:lnTo>
                  <a:pt x="33477" y="33477"/>
                </a:lnTo>
                <a:lnTo>
                  <a:pt x="8982" y="69809"/>
                </a:lnTo>
                <a:lnTo>
                  <a:pt x="0" y="114300"/>
                </a:lnTo>
                <a:lnTo>
                  <a:pt x="8982" y="158790"/>
                </a:lnTo>
                <a:lnTo>
                  <a:pt x="33477" y="195122"/>
                </a:lnTo>
                <a:lnTo>
                  <a:pt x="69809" y="219617"/>
                </a:lnTo>
                <a:lnTo>
                  <a:pt x="114300" y="228600"/>
                </a:lnTo>
                <a:lnTo>
                  <a:pt x="158790" y="219617"/>
                </a:lnTo>
                <a:lnTo>
                  <a:pt x="195122" y="195122"/>
                </a:lnTo>
                <a:lnTo>
                  <a:pt x="219617" y="158790"/>
                </a:lnTo>
                <a:lnTo>
                  <a:pt x="228600" y="114300"/>
                </a:lnTo>
                <a:lnTo>
                  <a:pt x="219617" y="69809"/>
                </a:lnTo>
                <a:lnTo>
                  <a:pt x="195122" y="33477"/>
                </a:lnTo>
                <a:lnTo>
                  <a:pt x="158790" y="8982"/>
                </a:lnTo>
                <a:lnTo>
                  <a:pt x="114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800306" y="2951988"/>
            <a:ext cx="1543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955451" y="3917872"/>
            <a:ext cx="807720" cy="536575"/>
          </a:xfrm>
          <a:custGeom>
            <a:avLst/>
            <a:gdLst/>
            <a:ahLst/>
            <a:cxnLst/>
            <a:rect l="l" t="t" r="r" b="b"/>
            <a:pathLst>
              <a:path w="807720" h="536575">
                <a:moveTo>
                  <a:pt x="0" y="0"/>
                </a:moveTo>
                <a:lnTo>
                  <a:pt x="807549" y="53641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988928" y="3781988"/>
            <a:ext cx="774700" cy="32384"/>
          </a:xfrm>
          <a:custGeom>
            <a:avLst/>
            <a:gdLst/>
            <a:ahLst/>
            <a:cxnLst/>
            <a:rect l="l" t="t" r="r" b="b"/>
            <a:pathLst>
              <a:path w="774700" h="32385">
                <a:moveTo>
                  <a:pt x="0" y="32240"/>
                </a:moveTo>
                <a:lnTo>
                  <a:pt x="77407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955451" y="3862811"/>
            <a:ext cx="841375" cy="511175"/>
          </a:xfrm>
          <a:custGeom>
            <a:avLst/>
            <a:gdLst/>
            <a:ahLst/>
            <a:cxnLst/>
            <a:rect l="l" t="t" r="r" b="b"/>
            <a:pathLst>
              <a:path w="841375" h="511175">
                <a:moveTo>
                  <a:pt x="0" y="510657"/>
                </a:moveTo>
                <a:lnTo>
                  <a:pt x="84102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760328" y="433999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69809" y="8982"/>
                </a:lnTo>
                <a:lnTo>
                  <a:pt x="33477" y="33477"/>
                </a:lnTo>
                <a:lnTo>
                  <a:pt x="8982" y="69809"/>
                </a:lnTo>
                <a:lnTo>
                  <a:pt x="0" y="114300"/>
                </a:lnTo>
                <a:lnTo>
                  <a:pt x="8982" y="158790"/>
                </a:lnTo>
                <a:lnTo>
                  <a:pt x="33477" y="195122"/>
                </a:lnTo>
                <a:lnTo>
                  <a:pt x="69809" y="219617"/>
                </a:lnTo>
                <a:lnTo>
                  <a:pt x="114300" y="228600"/>
                </a:lnTo>
                <a:lnTo>
                  <a:pt x="158790" y="219617"/>
                </a:lnTo>
                <a:lnTo>
                  <a:pt x="195122" y="195122"/>
                </a:lnTo>
                <a:lnTo>
                  <a:pt x="219617" y="158790"/>
                </a:lnTo>
                <a:lnTo>
                  <a:pt x="228600" y="114300"/>
                </a:lnTo>
                <a:lnTo>
                  <a:pt x="219617" y="69809"/>
                </a:lnTo>
                <a:lnTo>
                  <a:pt x="195122" y="33477"/>
                </a:lnTo>
                <a:lnTo>
                  <a:pt x="158790" y="8982"/>
                </a:lnTo>
                <a:lnTo>
                  <a:pt x="114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797634" y="4335779"/>
            <a:ext cx="1543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760328" y="37227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69809" y="8982"/>
                </a:lnTo>
                <a:lnTo>
                  <a:pt x="33477" y="33477"/>
                </a:lnTo>
                <a:lnTo>
                  <a:pt x="8982" y="69809"/>
                </a:lnTo>
                <a:lnTo>
                  <a:pt x="0" y="114300"/>
                </a:lnTo>
                <a:lnTo>
                  <a:pt x="8982" y="158790"/>
                </a:lnTo>
                <a:lnTo>
                  <a:pt x="33477" y="195122"/>
                </a:lnTo>
                <a:lnTo>
                  <a:pt x="69809" y="219617"/>
                </a:lnTo>
                <a:lnTo>
                  <a:pt x="114300" y="228600"/>
                </a:lnTo>
                <a:lnTo>
                  <a:pt x="158790" y="219617"/>
                </a:lnTo>
                <a:lnTo>
                  <a:pt x="195122" y="195122"/>
                </a:lnTo>
                <a:lnTo>
                  <a:pt x="219617" y="158790"/>
                </a:lnTo>
                <a:lnTo>
                  <a:pt x="228600" y="114300"/>
                </a:lnTo>
                <a:lnTo>
                  <a:pt x="219617" y="69809"/>
                </a:lnTo>
                <a:lnTo>
                  <a:pt x="195122" y="33477"/>
                </a:lnTo>
                <a:lnTo>
                  <a:pt x="158790" y="8982"/>
                </a:lnTo>
                <a:lnTo>
                  <a:pt x="114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797634" y="3717035"/>
            <a:ext cx="1543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763000" y="36676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69809" y="8982"/>
                </a:lnTo>
                <a:lnTo>
                  <a:pt x="33477" y="33477"/>
                </a:lnTo>
                <a:lnTo>
                  <a:pt x="8982" y="69809"/>
                </a:lnTo>
                <a:lnTo>
                  <a:pt x="0" y="114300"/>
                </a:lnTo>
                <a:lnTo>
                  <a:pt x="8982" y="158790"/>
                </a:lnTo>
                <a:lnTo>
                  <a:pt x="33477" y="195122"/>
                </a:lnTo>
                <a:lnTo>
                  <a:pt x="69809" y="219617"/>
                </a:lnTo>
                <a:lnTo>
                  <a:pt x="114300" y="228600"/>
                </a:lnTo>
                <a:lnTo>
                  <a:pt x="158790" y="219617"/>
                </a:lnTo>
                <a:lnTo>
                  <a:pt x="195122" y="195122"/>
                </a:lnTo>
                <a:lnTo>
                  <a:pt x="219617" y="158790"/>
                </a:lnTo>
                <a:lnTo>
                  <a:pt x="228600" y="114300"/>
                </a:lnTo>
                <a:lnTo>
                  <a:pt x="219617" y="69809"/>
                </a:lnTo>
                <a:lnTo>
                  <a:pt x="195122" y="33477"/>
                </a:lnTo>
                <a:lnTo>
                  <a:pt x="158790" y="8982"/>
                </a:lnTo>
                <a:lnTo>
                  <a:pt x="114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800306" y="3662172"/>
            <a:ext cx="1543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763000" y="433999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69809" y="8982"/>
                </a:lnTo>
                <a:lnTo>
                  <a:pt x="33477" y="33477"/>
                </a:lnTo>
                <a:lnTo>
                  <a:pt x="8982" y="69809"/>
                </a:lnTo>
                <a:lnTo>
                  <a:pt x="0" y="114300"/>
                </a:lnTo>
                <a:lnTo>
                  <a:pt x="8982" y="158790"/>
                </a:lnTo>
                <a:lnTo>
                  <a:pt x="33477" y="195122"/>
                </a:lnTo>
                <a:lnTo>
                  <a:pt x="69809" y="219617"/>
                </a:lnTo>
                <a:lnTo>
                  <a:pt x="114300" y="228600"/>
                </a:lnTo>
                <a:lnTo>
                  <a:pt x="158790" y="219617"/>
                </a:lnTo>
                <a:lnTo>
                  <a:pt x="195122" y="195122"/>
                </a:lnTo>
                <a:lnTo>
                  <a:pt x="219617" y="158790"/>
                </a:lnTo>
                <a:lnTo>
                  <a:pt x="228600" y="114300"/>
                </a:lnTo>
                <a:lnTo>
                  <a:pt x="219617" y="69809"/>
                </a:lnTo>
                <a:lnTo>
                  <a:pt x="195122" y="33477"/>
                </a:lnTo>
                <a:lnTo>
                  <a:pt x="158790" y="8982"/>
                </a:lnTo>
                <a:lnTo>
                  <a:pt x="114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8800306" y="4335779"/>
            <a:ext cx="1543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228649" y="3186901"/>
            <a:ext cx="203835" cy="481330"/>
          </a:xfrm>
          <a:custGeom>
            <a:avLst/>
            <a:gdLst/>
            <a:ahLst/>
            <a:cxnLst/>
            <a:rect l="l" t="t" r="r" b="b"/>
            <a:pathLst>
              <a:path w="203834" h="481329">
                <a:moveTo>
                  <a:pt x="203395" y="379089"/>
                </a:moveTo>
                <a:lnTo>
                  <a:pt x="0" y="379089"/>
                </a:lnTo>
                <a:lnTo>
                  <a:pt x="101697" y="480787"/>
                </a:lnTo>
                <a:lnTo>
                  <a:pt x="203395" y="379089"/>
                </a:lnTo>
                <a:close/>
              </a:path>
              <a:path w="203834" h="481329">
                <a:moveTo>
                  <a:pt x="152547" y="0"/>
                </a:moveTo>
                <a:lnTo>
                  <a:pt x="50848" y="0"/>
                </a:lnTo>
                <a:lnTo>
                  <a:pt x="50848" y="379089"/>
                </a:lnTo>
                <a:lnTo>
                  <a:pt x="152547" y="379089"/>
                </a:lnTo>
                <a:lnTo>
                  <a:pt x="152547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170709" y="3162900"/>
            <a:ext cx="319405" cy="539115"/>
          </a:xfrm>
          <a:custGeom>
            <a:avLst/>
            <a:gdLst/>
            <a:ahLst/>
            <a:cxnLst/>
            <a:rect l="l" t="t" r="r" b="b"/>
            <a:pathLst>
              <a:path w="319404" h="539114">
                <a:moveTo>
                  <a:pt x="234487" y="0"/>
                </a:moveTo>
                <a:lnTo>
                  <a:pt x="84790" y="0"/>
                </a:lnTo>
                <a:lnTo>
                  <a:pt x="84790" y="379089"/>
                </a:lnTo>
                <a:lnTo>
                  <a:pt x="0" y="379089"/>
                </a:lnTo>
                <a:lnTo>
                  <a:pt x="159639" y="538728"/>
                </a:lnTo>
                <a:lnTo>
                  <a:pt x="200367" y="498000"/>
                </a:lnTo>
                <a:lnTo>
                  <a:pt x="159639" y="498000"/>
                </a:lnTo>
                <a:lnTo>
                  <a:pt x="69528" y="407889"/>
                </a:lnTo>
                <a:lnTo>
                  <a:pt x="113590" y="407889"/>
                </a:lnTo>
                <a:lnTo>
                  <a:pt x="113590" y="28799"/>
                </a:lnTo>
                <a:lnTo>
                  <a:pt x="234487" y="28799"/>
                </a:lnTo>
                <a:lnTo>
                  <a:pt x="234487" y="0"/>
                </a:lnTo>
                <a:close/>
              </a:path>
              <a:path w="319404" h="539114">
                <a:moveTo>
                  <a:pt x="234487" y="28799"/>
                </a:moveTo>
                <a:lnTo>
                  <a:pt x="205687" y="28799"/>
                </a:lnTo>
                <a:lnTo>
                  <a:pt x="205687" y="407889"/>
                </a:lnTo>
                <a:lnTo>
                  <a:pt x="249748" y="407889"/>
                </a:lnTo>
                <a:lnTo>
                  <a:pt x="159639" y="498000"/>
                </a:lnTo>
                <a:lnTo>
                  <a:pt x="200367" y="498000"/>
                </a:lnTo>
                <a:lnTo>
                  <a:pt x="319277" y="379089"/>
                </a:lnTo>
                <a:lnTo>
                  <a:pt x="234487" y="379089"/>
                </a:lnTo>
                <a:lnTo>
                  <a:pt x="234487" y="28799"/>
                </a:lnTo>
                <a:close/>
              </a:path>
              <a:path w="319404" h="539114">
                <a:moveTo>
                  <a:pt x="196088" y="38399"/>
                </a:moveTo>
                <a:lnTo>
                  <a:pt x="123190" y="38399"/>
                </a:lnTo>
                <a:lnTo>
                  <a:pt x="123190" y="417489"/>
                </a:lnTo>
                <a:lnTo>
                  <a:pt x="92704" y="417489"/>
                </a:lnTo>
                <a:lnTo>
                  <a:pt x="159639" y="484423"/>
                </a:lnTo>
                <a:lnTo>
                  <a:pt x="173215" y="470847"/>
                </a:lnTo>
                <a:lnTo>
                  <a:pt x="159639" y="470847"/>
                </a:lnTo>
                <a:lnTo>
                  <a:pt x="115882" y="427090"/>
                </a:lnTo>
                <a:lnTo>
                  <a:pt x="132789" y="427090"/>
                </a:lnTo>
                <a:lnTo>
                  <a:pt x="132789" y="47999"/>
                </a:lnTo>
                <a:lnTo>
                  <a:pt x="196088" y="47999"/>
                </a:lnTo>
                <a:lnTo>
                  <a:pt x="196088" y="38399"/>
                </a:lnTo>
                <a:close/>
              </a:path>
              <a:path w="319404" h="539114">
                <a:moveTo>
                  <a:pt x="196088" y="47999"/>
                </a:moveTo>
                <a:lnTo>
                  <a:pt x="186488" y="47999"/>
                </a:lnTo>
                <a:lnTo>
                  <a:pt x="186488" y="427090"/>
                </a:lnTo>
                <a:lnTo>
                  <a:pt x="203395" y="427090"/>
                </a:lnTo>
                <a:lnTo>
                  <a:pt x="159639" y="470847"/>
                </a:lnTo>
                <a:lnTo>
                  <a:pt x="173215" y="470847"/>
                </a:lnTo>
                <a:lnTo>
                  <a:pt x="226571" y="417489"/>
                </a:lnTo>
                <a:lnTo>
                  <a:pt x="196088" y="417489"/>
                </a:lnTo>
                <a:lnTo>
                  <a:pt x="196088" y="47999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22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6821424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032750" cy="1516380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361315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latin typeface="Calibri"/>
                <a:cs typeface="Calibri"/>
              </a:rPr>
              <a:t>Intuition: </a:t>
            </a:r>
            <a:r>
              <a:rPr dirty="0" spc="-10"/>
              <a:t>Motifs </a:t>
            </a:r>
            <a:r>
              <a:rPr dirty="0" spc="-20"/>
              <a:t>are </a:t>
            </a:r>
            <a:r>
              <a:rPr dirty="0" spc="-15" b="1">
                <a:solidFill>
                  <a:srgbClr val="0000FF"/>
                </a:solidFill>
                <a:latin typeface="Calibri"/>
                <a:cs typeface="Calibri"/>
              </a:rPr>
              <a:t>overrepresented </a:t>
            </a:r>
            <a:r>
              <a:rPr dirty="0"/>
              <a:t>in a  </a:t>
            </a:r>
            <a:r>
              <a:rPr dirty="0" spc="-15"/>
              <a:t>network </a:t>
            </a:r>
            <a:r>
              <a:rPr dirty="0" spc="-5"/>
              <a:t>when </a:t>
            </a:r>
            <a:r>
              <a:rPr dirty="0" spc="-15"/>
              <a:t>compared to </a:t>
            </a:r>
            <a:r>
              <a:rPr dirty="0" spc="-20" b="1">
                <a:solidFill>
                  <a:srgbClr val="0000FF"/>
                </a:solidFill>
                <a:latin typeface="Calibri"/>
                <a:cs typeface="Calibri"/>
              </a:rPr>
              <a:t>random</a:t>
            </a:r>
            <a:r>
              <a:rPr dirty="0" spc="10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pc="-20" b="1">
                <a:solidFill>
                  <a:srgbClr val="0000FF"/>
                </a:solidFill>
                <a:latin typeface="Calibri"/>
                <a:cs typeface="Calibri"/>
              </a:rPr>
              <a:t>graphs:</a:t>
            </a:r>
          </a:p>
          <a:p>
            <a:pPr marL="332740" indent="-320040">
              <a:lnSpc>
                <a:spcPct val="100000"/>
              </a:lnSpc>
              <a:spcBef>
                <a:spcPts val="1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Step </a:t>
            </a:r>
            <a:r>
              <a:rPr dirty="0" b="1">
                <a:solidFill>
                  <a:srgbClr val="C00000"/>
                </a:solidFill>
                <a:latin typeface="Calibri"/>
                <a:cs typeface="Calibri"/>
              </a:rPr>
              <a:t>1: </a:t>
            </a:r>
            <a:r>
              <a:rPr dirty="0" spc="-10" b="1">
                <a:solidFill>
                  <a:srgbClr val="7030A0"/>
                </a:solidFill>
                <a:latin typeface="Calibri"/>
                <a:cs typeface="Calibri"/>
              </a:rPr>
              <a:t>Count motifs </a:t>
            </a:r>
            <a:r>
              <a:rPr dirty="0"/>
              <a:t>in the </a:t>
            </a:r>
            <a:r>
              <a:rPr dirty="0" spc="-10"/>
              <a:t>given </a:t>
            </a:r>
            <a:r>
              <a:rPr dirty="0" spc="-15"/>
              <a:t>graph</a:t>
            </a:r>
            <a:r>
              <a:rPr dirty="0" spc="75"/>
              <a:t> </a:t>
            </a:r>
            <a:r>
              <a:rPr dirty="0" spc="-100"/>
              <a:t>(</a:t>
            </a:r>
            <a:r>
              <a:rPr dirty="0" spc="-100">
                <a:latin typeface="Cambria Math"/>
                <a:cs typeface="Cambria Math"/>
              </a:rPr>
              <a:t>𝐺</a:t>
            </a:r>
            <a:r>
              <a:rPr dirty="0" baseline="28985" sz="3450" spc="-150">
                <a:latin typeface="Cambria Math"/>
                <a:cs typeface="Cambria Math"/>
              </a:rPr>
              <a:t>$%&amp;'</a:t>
            </a:r>
            <a:r>
              <a:rPr dirty="0" sz="3200" spc="-100"/>
              <a:t>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22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833116"/>
            <a:ext cx="8017509" cy="34626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Step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2: </a:t>
            </a:r>
            <a:r>
              <a:rPr dirty="0" sz="3200" spc="-25" b="1">
                <a:solidFill>
                  <a:srgbClr val="7030A0"/>
                </a:solidFill>
                <a:latin typeface="Calibri"/>
                <a:cs typeface="Calibri"/>
              </a:rPr>
              <a:t>Generate </a:t>
            </a:r>
            <a:r>
              <a:rPr dirty="0" sz="3200" spc="-20" b="1">
                <a:solidFill>
                  <a:srgbClr val="7030A0"/>
                </a:solidFill>
                <a:latin typeface="Calibri"/>
                <a:cs typeface="Calibri"/>
              </a:rPr>
              <a:t>random graphs </a:t>
            </a:r>
            <a:r>
              <a:rPr dirty="0" sz="3200" spc="-5">
                <a:latin typeface="Calibri"/>
                <a:cs typeface="Calibri"/>
              </a:rPr>
              <a:t>with similar  </a:t>
            </a:r>
            <a:r>
              <a:rPr dirty="0" sz="3200" spc="-15">
                <a:latin typeface="Calibri"/>
                <a:cs typeface="Calibri"/>
              </a:rPr>
              <a:t>statistics </a:t>
            </a:r>
            <a:r>
              <a:rPr dirty="0" sz="3200" spc="0">
                <a:latin typeface="Calibri"/>
                <a:cs typeface="Calibri"/>
              </a:rPr>
              <a:t>(e.g. </a:t>
            </a:r>
            <a:r>
              <a:rPr dirty="0" sz="3200" spc="-5">
                <a:latin typeface="Calibri"/>
                <a:cs typeface="Calibri"/>
              </a:rPr>
              <a:t>number of nodes, </a:t>
            </a:r>
            <a:r>
              <a:rPr dirty="0" sz="3200" spc="-10">
                <a:latin typeface="Calibri"/>
                <a:cs typeface="Calibri"/>
              </a:rPr>
              <a:t>edges, degree  </a:t>
            </a:r>
            <a:r>
              <a:rPr dirty="0" sz="3200" spc="-5">
                <a:latin typeface="Calibri"/>
                <a:cs typeface="Calibri"/>
              </a:rPr>
              <a:t>sequence),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15">
                <a:latin typeface="Calibri"/>
                <a:cs typeface="Calibri"/>
              </a:rPr>
              <a:t>count </a:t>
            </a:r>
            <a:r>
              <a:rPr dirty="0" sz="3200" spc="-10">
                <a:latin typeface="Calibri"/>
                <a:cs typeface="Calibri"/>
              </a:rPr>
              <a:t>motifs </a:t>
            </a:r>
            <a:r>
              <a:rPr dirty="0" sz="3200">
                <a:latin typeface="Calibri"/>
                <a:cs typeface="Calibri"/>
              </a:rPr>
              <a:t>in the </a:t>
            </a:r>
            <a:r>
              <a:rPr dirty="0" sz="3200" spc="-15">
                <a:latin typeface="Calibri"/>
                <a:cs typeface="Calibri"/>
              </a:rPr>
              <a:t>random  graphs</a:t>
            </a:r>
            <a:endParaRPr sz="3200">
              <a:latin typeface="Calibri"/>
              <a:cs typeface="Calibri"/>
            </a:endParaRPr>
          </a:p>
          <a:p>
            <a:pPr marL="332740" marR="449580" indent="-320040">
              <a:lnSpc>
                <a:spcPts val="3890"/>
              </a:lnSpc>
              <a:spcBef>
                <a:spcPts val="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Step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3: </a:t>
            </a:r>
            <a:r>
              <a:rPr dirty="0" sz="3200" spc="-5" b="1">
                <a:solidFill>
                  <a:srgbClr val="7030A0"/>
                </a:solidFill>
                <a:latin typeface="Calibri"/>
                <a:cs typeface="Calibri"/>
              </a:rPr>
              <a:t>Use </a:t>
            </a:r>
            <a:r>
              <a:rPr dirty="0" sz="3200" spc="-20" b="1">
                <a:solidFill>
                  <a:srgbClr val="7030A0"/>
                </a:solidFill>
                <a:latin typeface="Calibri"/>
                <a:cs typeface="Calibri"/>
              </a:rPr>
              <a:t>statistical </a:t>
            </a:r>
            <a:r>
              <a:rPr dirty="0" sz="3200" spc="-10" b="1">
                <a:solidFill>
                  <a:srgbClr val="7030A0"/>
                </a:solidFill>
                <a:latin typeface="Calibri"/>
                <a:cs typeface="Calibri"/>
              </a:rPr>
              <a:t>measures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20">
                <a:latin typeface="Calibri"/>
                <a:cs typeface="Calibri"/>
              </a:rPr>
              <a:t>evaluate  </a:t>
            </a:r>
            <a:r>
              <a:rPr dirty="0" sz="3200" spc="-5">
                <a:latin typeface="Calibri"/>
                <a:cs typeface="Calibri"/>
              </a:rPr>
              <a:t>how </a:t>
            </a:r>
            <a:r>
              <a:rPr dirty="0" sz="3200" spc="-10">
                <a:latin typeface="Calibri"/>
                <a:cs typeface="Calibri"/>
              </a:rPr>
              <a:t>significant </a:t>
            </a: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 spc="-5">
                <a:latin typeface="Calibri"/>
                <a:cs typeface="Calibri"/>
              </a:rPr>
              <a:t>each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motif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5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latin typeface="Calibri"/>
                <a:cs typeface="Calibri"/>
              </a:rPr>
              <a:t>Use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008000"/>
                </a:solidFill>
                <a:latin typeface="Calibri"/>
                <a:cs typeface="Calibri"/>
              </a:rPr>
              <a:t>Z-score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3880" y="356615"/>
            <a:ext cx="7565135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7766684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20">
                <a:latin typeface="Cambria Math"/>
                <a:cs typeface="Cambria Math"/>
              </a:rPr>
              <a:t>𝑍</a:t>
            </a:r>
            <a:r>
              <a:rPr dirty="0" baseline="-15700" sz="3450" spc="-179">
                <a:latin typeface="Cambria Math"/>
                <a:cs typeface="Cambria Math"/>
              </a:rPr>
              <a:t>(  </a:t>
            </a:r>
            <a:r>
              <a:rPr dirty="0" sz="3200" spc="-15"/>
              <a:t>captures </a:t>
            </a: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statistical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significance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of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motif</a:t>
            </a:r>
            <a:r>
              <a:rPr dirty="0" sz="3200" spc="-4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0000FF"/>
                </a:solidFill>
                <a:latin typeface="Cambria Math"/>
                <a:cs typeface="Cambria Math"/>
              </a:rPr>
              <a:t>𝒊</a:t>
            </a:r>
            <a:r>
              <a:rPr dirty="0" sz="3200">
                <a:solidFill>
                  <a:srgbClr val="0000FF"/>
                </a:solidFill>
              </a:rPr>
              <a:t>: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51440" y="1996439"/>
            <a:ext cx="341122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13485" algn="l"/>
                <a:tab pos="3295650" algn="l"/>
              </a:tabLst>
            </a:pPr>
            <a:r>
              <a:rPr dirty="0" sz="2300" spc="-150">
                <a:latin typeface="Cambria Math"/>
                <a:cs typeface="Cambria Math"/>
              </a:rPr>
              <a:t>(</a:t>
            </a:r>
            <a:r>
              <a:rPr dirty="0" sz="2300" spc="-150">
                <a:latin typeface="Cambria Math"/>
                <a:cs typeface="Cambria Math"/>
              </a:rPr>
              <a:t>	</a:t>
            </a:r>
            <a:r>
              <a:rPr dirty="0" sz="2300" spc="-150">
                <a:latin typeface="Cambria Math"/>
                <a:cs typeface="Cambria Math"/>
              </a:rPr>
              <a:t>(</a:t>
            </a:r>
            <a:r>
              <a:rPr dirty="0" sz="2300" spc="-150">
                <a:latin typeface="Cambria Math"/>
                <a:cs typeface="Cambria Math"/>
              </a:rPr>
              <a:t>	</a:t>
            </a:r>
            <a:r>
              <a:rPr dirty="0" sz="2300" spc="-150">
                <a:latin typeface="Cambria Math"/>
                <a:cs typeface="Cambria Math"/>
              </a:rPr>
              <a:t>(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28164" y="1781555"/>
            <a:ext cx="554863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20">
                <a:latin typeface="Cambria Math"/>
                <a:cs typeface="Cambria Math"/>
              </a:rPr>
              <a:t>𝑍</a:t>
            </a:r>
            <a:r>
              <a:rPr dirty="0" baseline="-15700" sz="3450" spc="-179">
                <a:latin typeface="Cambria Math"/>
                <a:cs typeface="Cambria Math"/>
              </a:rPr>
              <a:t>( 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210">
                <a:latin typeface="Cambria Math"/>
                <a:cs typeface="Cambria Math"/>
              </a:rPr>
              <a:t> </a:t>
            </a:r>
            <a:r>
              <a:rPr dirty="0" sz="3200" spc="-15">
                <a:latin typeface="Cambria Math"/>
                <a:cs typeface="Cambria Math"/>
              </a:rPr>
              <a:t>(𝑁</a:t>
            </a:r>
            <a:r>
              <a:rPr dirty="0" baseline="31400" sz="3450" spc="-22">
                <a:latin typeface="Cambria Math"/>
                <a:cs typeface="Cambria Math"/>
              </a:rPr>
              <a:t>$%&amp;'</a:t>
            </a:r>
            <a:r>
              <a:rPr dirty="0" sz="3200" spc="-15">
                <a:latin typeface="Cambria Math"/>
                <a:cs typeface="Cambria Math"/>
              </a:rPr>
              <a:t>−𝑁</a:t>
            </a:r>
            <a:r>
              <a:rPr dirty="0" baseline="10416" sz="4800" spc="-22">
                <a:latin typeface="Cambria Math"/>
                <a:cs typeface="Cambria Math"/>
              </a:rPr>
              <a:t>(</a:t>
            </a:r>
            <a:r>
              <a:rPr dirty="0" baseline="31400" sz="3450" spc="-22">
                <a:latin typeface="Cambria Math"/>
                <a:cs typeface="Cambria Math"/>
              </a:rPr>
              <a:t>$&amp;)*</a:t>
            </a:r>
            <a:r>
              <a:rPr dirty="0" sz="3200" spc="-15">
                <a:latin typeface="Cambria Math"/>
                <a:cs typeface="Cambria Math"/>
              </a:rPr>
              <a:t>)/std(𝑁</a:t>
            </a:r>
            <a:r>
              <a:rPr dirty="0" baseline="31400" sz="3450" spc="-22">
                <a:latin typeface="Cambria Math"/>
                <a:cs typeface="Cambria Math"/>
              </a:rPr>
              <a:t>$&amp;)*</a:t>
            </a:r>
            <a:r>
              <a:rPr dirty="0" sz="3200" spc="-15">
                <a:latin typeface="Cambria Math"/>
                <a:cs typeface="Cambria Math"/>
              </a:rPr>
              <a:t>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4878" y="2517139"/>
            <a:ext cx="1060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15"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7713" y="2364739"/>
            <a:ext cx="42068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 spc="235">
                <a:latin typeface="Cambria Math"/>
                <a:cs typeface="Cambria Math"/>
              </a:rPr>
              <a:t>𝑁</a:t>
            </a:r>
            <a:r>
              <a:rPr dirty="0" baseline="30864" sz="2700" spc="352">
                <a:latin typeface="Cambria Math"/>
                <a:cs typeface="Cambria Math"/>
              </a:rPr>
              <a:t>,-./ </a:t>
            </a:r>
            <a:r>
              <a:rPr dirty="0" sz="2400" spc="-5">
                <a:latin typeface="Calibri"/>
                <a:cs typeface="Calibri"/>
              </a:rPr>
              <a:t>is #(motif </a:t>
            </a:r>
            <a:r>
              <a:rPr dirty="0" sz="2400" spc="30">
                <a:latin typeface="Cambria Math"/>
                <a:cs typeface="Cambria Math"/>
              </a:rPr>
              <a:t>𝑖</a:t>
            </a:r>
            <a:r>
              <a:rPr dirty="0" sz="2400" spc="30">
                <a:latin typeface="Calibri"/>
                <a:cs typeface="Calibri"/>
              </a:rPr>
              <a:t>) </a:t>
            </a:r>
            <a:r>
              <a:rPr dirty="0" sz="2400" spc="-5">
                <a:latin typeface="Calibri"/>
                <a:cs typeface="Calibri"/>
              </a:rPr>
              <a:t>in </a:t>
            </a:r>
            <a:r>
              <a:rPr dirty="0" sz="2400" spc="-15">
                <a:latin typeface="Calibri"/>
                <a:cs typeface="Calibri"/>
              </a:rPr>
              <a:t>graph</a:t>
            </a:r>
            <a:r>
              <a:rPr dirty="0" sz="2400" spc="-245">
                <a:latin typeface="Calibri"/>
                <a:cs typeface="Calibri"/>
              </a:rPr>
              <a:t> </a:t>
            </a:r>
            <a:r>
              <a:rPr dirty="0" sz="2400" spc="200">
                <a:latin typeface="Cambria Math"/>
                <a:cs typeface="Cambria Math"/>
              </a:rPr>
              <a:t>𝐺</a:t>
            </a:r>
            <a:r>
              <a:rPr dirty="0" baseline="27777" sz="2700" spc="300">
                <a:latin typeface="Cambria Math"/>
                <a:cs typeface="Cambria Math"/>
              </a:rPr>
              <a:t>,-./</a:t>
            </a:r>
            <a:endParaRPr baseline="27777" sz="27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94878" y="2962148"/>
            <a:ext cx="1060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15"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7713" y="2809747"/>
            <a:ext cx="70027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 spc="5">
                <a:latin typeface="Cambria Math"/>
                <a:cs typeface="Cambria Math"/>
              </a:rPr>
              <a:t>𝑁</a:t>
            </a:r>
            <a:r>
              <a:rPr dirty="0" baseline="10416" sz="3600" spc="7">
                <a:latin typeface="Cambria Math"/>
                <a:cs typeface="Cambria Math"/>
              </a:rPr>
              <a:t>4</a:t>
            </a:r>
            <a:r>
              <a:rPr dirty="0" baseline="30864" sz="2700" spc="7">
                <a:latin typeface="Cambria Math"/>
                <a:cs typeface="Cambria Math"/>
              </a:rPr>
              <a:t>,.01 </a:t>
            </a:r>
            <a:r>
              <a:rPr dirty="0" sz="2400" spc="-5">
                <a:latin typeface="Calibri"/>
                <a:cs typeface="Calibri"/>
              </a:rPr>
              <a:t>is </a:t>
            </a:r>
            <a:r>
              <a:rPr dirty="0" sz="2400" spc="-25">
                <a:latin typeface="Calibri"/>
                <a:cs typeface="Calibri"/>
              </a:rPr>
              <a:t>average </a:t>
            </a:r>
            <a:r>
              <a:rPr dirty="0" sz="2400" spc="-10">
                <a:latin typeface="Calibri"/>
                <a:cs typeface="Calibri"/>
              </a:rPr>
              <a:t>#(motifs </a:t>
            </a:r>
            <a:r>
              <a:rPr dirty="0" sz="2400" spc="30">
                <a:latin typeface="Cambria Math"/>
                <a:cs typeface="Cambria Math"/>
              </a:rPr>
              <a:t>𝑖</a:t>
            </a:r>
            <a:r>
              <a:rPr dirty="0" sz="2400" spc="30">
                <a:latin typeface="Calibri"/>
                <a:cs typeface="Calibri"/>
              </a:rPr>
              <a:t>) </a:t>
            </a:r>
            <a:r>
              <a:rPr dirty="0" sz="2400" spc="-5">
                <a:latin typeface="Calibri"/>
                <a:cs typeface="Calibri"/>
              </a:rPr>
              <a:t>in </a:t>
            </a:r>
            <a:r>
              <a:rPr dirty="0" sz="2400" spc="-10">
                <a:latin typeface="Calibri"/>
                <a:cs typeface="Calibri"/>
              </a:rPr>
              <a:t>random </a:t>
            </a:r>
            <a:r>
              <a:rPr dirty="0" sz="2400" spc="-15">
                <a:latin typeface="Calibri"/>
                <a:cs typeface="Calibri"/>
              </a:rPr>
              <a:t>graph</a:t>
            </a:r>
            <a:r>
              <a:rPr dirty="0" sz="2400" spc="60">
                <a:latin typeface="Calibri"/>
                <a:cs typeface="Calibri"/>
              </a:rPr>
              <a:t> </a:t>
            </a:r>
            <a:r>
              <a:rPr dirty="0" sz="2400" spc="-40">
                <a:latin typeface="Calibri"/>
                <a:cs typeface="Calibri"/>
              </a:rPr>
              <a:t>instances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8108" y="3113532"/>
            <a:ext cx="593598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D9253E"/>
                </a:solidFill>
                <a:latin typeface="Calibri"/>
                <a:cs typeface="Calibri"/>
              </a:rPr>
              <a:t>Network </a:t>
            </a:r>
            <a:r>
              <a:rPr dirty="0" sz="3200" spc="-5" b="1">
                <a:solidFill>
                  <a:srgbClr val="D9253E"/>
                </a:solidFill>
                <a:latin typeface="Calibri"/>
                <a:cs typeface="Calibri"/>
              </a:rPr>
              <a:t>significance </a:t>
            </a:r>
            <a:r>
              <a:rPr dirty="0" sz="3200" spc="-10" b="1">
                <a:solidFill>
                  <a:srgbClr val="D9253E"/>
                </a:solidFill>
                <a:latin typeface="Calibri"/>
                <a:cs typeface="Calibri"/>
              </a:rPr>
              <a:t>profile</a:t>
            </a:r>
            <a:r>
              <a:rPr dirty="0" sz="3200" spc="-25" b="1">
                <a:solidFill>
                  <a:srgbClr val="D9253E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D9253E"/>
                </a:solidFill>
                <a:latin typeface="Calibri"/>
                <a:cs typeface="Calibri"/>
              </a:rPr>
              <a:t>(SP):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407726" y="3706143"/>
            <a:ext cx="1019810" cy="1016635"/>
          </a:xfrm>
          <a:custGeom>
            <a:avLst/>
            <a:gdLst/>
            <a:ahLst/>
            <a:cxnLst/>
            <a:rect l="l" t="t" r="r" b="b"/>
            <a:pathLst>
              <a:path w="1019810" h="1016635">
                <a:moveTo>
                  <a:pt x="66523" y="841325"/>
                </a:moveTo>
                <a:lnTo>
                  <a:pt x="33933" y="841325"/>
                </a:lnTo>
                <a:lnTo>
                  <a:pt x="128885" y="1016198"/>
                </a:lnTo>
                <a:lnTo>
                  <a:pt x="142726" y="1016198"/>
                </a:lnTo>
                <a:lnTo>
                  <a:pt x="146621" y="957858"/>
                </a:lnTo>
                <a:lnTo>
                  <a:pt x="129480" y="957858"/>
                </a:lnTo>
                <a:lnTo>
                  <a:pt x="66523" y="841325"/>
                </a:lnTo>
                <a:close/>
              </a:path>
              <a:path w="1019810" h="1016635">
                <a:moveTo>
                  <a:pt x="239017" y="0"/>
                </a:moveTo>
                <a:lnTo>
                  <a:pt x="192584" y="0"/>
                </a:lnTo>
                <a:lnTo>
                  <a:pt x="129480" y="957858"/>
                </a:lnTo>
                <a:lnTo>
                  <a:pt x="146621" y="957858"/>
                </a:lnTo>
                <a:lnTo>
                  <a:pt x="209252" y="19794"/>
                </a:lnTo>
                <a:lnTo>
                  <a:pt x="1019237" y="19794"/>
                </a:lnTo>
                <a:lnTo>
                  <a:pt x="1019237" y="4796"/>
                </a:lnTo>
                <a:lnTo>
                  <a:pt x="239017" y="4796"/>
                </a:lnTo>
                <a:lnTo>
                  <a:pt x="239017" y="0"/>
                </a:lnTo>
                <a:close/>
              </a:path>
              <a:path w="1019810" h="1016635">
                <a:moveTo>
                  <a:pt x="53578" y="817364"/>
                </a:moveTo>
                <a:lnTo>
                  <a:pt x="0" y="845790"/>
                </a:lnTo>
                <a:lnTo>
                  <a:pt x="5805" y="856357"/>
                </a:lnTo>
                <a:lnTo>
                  <a:pt x="33933" y="841325"/>
                </a:lnTo>
                <a:lnTo>
                  <a:pt x="66523" y="841325"/>
                </a:lnTo>
                <a:lnTo>
                  <a:pt x="53578" y="817364"/>
                </a:lnTo>
                <a:close/>
              </a:path>
              <a:path w="1019810" h="1016635">
                <a:moveTo>
                  <a:pt x="1019237" y="19794"/>
                </a:moveTo>
                <a:lnTo>
                  <a:pt x="231837" y="19794"/>
                </a:lnTo>
                <a:lnTo>
                  <a:pt x="231837" y="30196"/>
                </a:lnTo>
                <a:lnTo>
                  <a:pt x="1019237" y="30196"/>
                </a:lnTo>
                <a:lnTo>
                  <a:pt x="1019237" y="197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222621" y="4086859"/>
            <a:ext cx="1327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5">
                <a:latin typeface="Cambria Math"/>
                <a:cs typeface="Cambria Math"/>
              </a:rPr>
              <a:t>2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22</a:t>
            </a:fld>
          </a:p>
        </p:txBody>
      </p:sp>
      <p:sp>
        <p:nvSpPr>
          <p:cNvPr id="13" name="object 13"/>
          <p:cNvSpPr txBox="1"/>
          <p:nvPr/>
        </p:nvSpPr>
        <p:spPr>
          <a:xfrm>
            <a:off x="3152139" y="3925315"/>
            <a:ext cx="22771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3360" algn="l"/>
              </a:tabLst>
            </a:pPr>
            <a:r>
              <a:rPr dirty="0" sz="2400" spc="-310">
                <a:latin typeface="Cambria Math"/>
                <a:cs typeface="Cambria Math"/>
              </a:rPr>
              <a:t>𝑆𝑃</a:t>
            </a:r>
            <a:r>
              <a:rPr dirty="0" baseline="-15432" sz="2700" spc="-465">
                <a:latin typeface="Cambria Math"/>
                <a:cs typeface="Cambria Math"/>
              </a:rPr>
              <a:t>+      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229">
                <a:latin typeface="Cambria Math"/>
                <a:cs typeface="Cambria Math"/>
              </a:rPr>
              <a:t>𝑍</a:t>
            </a:r>
            <a:r>
              <a:rPr dirty="0" baseline="-15432" sz="2700" spc="-345">
                <a:latin typeface="Cambria Math"/>
                <a:cs typeface="Cambria Math"/>
              </a:rPr>
              <a:t>+</a:t>
            </a:r>
            <a:r>
              <a:rPr dirty="0" sz="2400" spc="-229">
                <a:latin typeface="Cambria Math"/>
                <a:cs typeface="Cambria Math"/>
              </a:rPr>
              <a:t>/	</a:t>
            </a:r>
            <a:r>
              <a:rPr dirty="0" sz="2400" spc="2540">
                <a:latin typeface="Cambria Math"/>
                <a:cs typeface="Cambria Math"/>
              </a:rPr>
              <a:t>:</a:t>
            </a:r>
            <a:r>
              <a:rPr dirty="0" sz="2400" spc="-225">
                <a:latin typeface="Cambria Math"/>
                <a:cs typeface="Cambria Math"/>
              </a:rPr>
              <a:t> </a:t>
            </a:r>
            <a:r>
              <a:rPr dirty="0" sz="2400" spc="210">
                <a:latin typeface="Cambria Math"/>
                <a:cs typeface="Cambria Math"/>
              </a:rPr>
              <a:t>𝑍</a:t>
            </a:r>
            <a:r>
              <a:rPr dirty="0" baseline="27777" sz="2700" spc="315">
                <a:latin typeface="Cambria Math"/>
                <a:cs typeface="Cambria Math"/>
              </a:rPr>
              <a:t>"</a:t>
            </a:r>
            <a:endParaRPr baseline="27777" sz="27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67713" y="4345940"/>
            <a:ext cx="7258684" cy="224663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ctr" marR="116205">
              <a:lnSpc>
                <a:spcPct val="100000"/>
              </a:lnSpc>
              <a:spcBef>
                <a:spcPts val="459"/>
              </a:spcBef>
            </a:pPr>
            <a:r>
              <a:rPr dirty="0" sz="1800" spc="-155">
                <a:latin typeface="Cambria Math"/>
                <a:cs typeface="Cambria Math"/>
              </a:rPr>
              <a:t>2</a:t>
            </a:r>
            <a:endParaRPr sz="1800">
              <a:latin typeface="Cambria Math"/>
              <a:cs typeface="Cambria Math"/>
            </a:endParaRPr>
          </a:p>
          <a:p>
            <a:pPr marL="241300" indent="-228600">
              <a:lnSpc>
                <a:spcPct val="100000"/>
              </a:lnSpc>
              <a:spcBef>
                <a:spcPts val="48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>
                <a:latin typeface="Cambria Math"/>
                <a:cs typeface="Cambria Math"/>
              </a:rPr>
              <a:t>𝑆𝑃 </a:t>
            </a:r>
            <a:r>
              <a:rPr dirty="0" sz="2400" spc="-5">
                <a:latin typeface="Calibri"/>
                <a:cs typeface="Calibri"/>
              </a:rPr>
              <a:t>is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15">
                <a:latin typeface="Calibri"/>
                <a:cs typeface="Calibri"/>
              </a:rPr>
              <a:t>vector </a:t>
            </a:r>
            <a:r>
              <a:rPr dirty="0" sz="2400" spc="-5">
                <a:latin typeface="Calibri"/>
                <a:cs typeface="Calibri"/>
              </a:rPr>
              <a:t>of </a:t>
            </a:r>
            <a:r>
              <a:rPr dirty="0" sz="2400" spc="-10" b="1">
                <a:solidFill>
                  <a:srgbClr val="008000"/>
                </a:solidFill>
                <a:latin typeface="Calibri"/>
                <a:cs typeface="Calibri"/>
              </a:rPr>
              <a:t>normalized</a:t>
            </a:r>
            <a:r>
              <a:rPr dirty="0" sz="2400" spc="5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400" spc="-15" b="1">
                <a:solidFill>
                  <a:srgbClr val="008000"/>
                </a:solidFill>
                <a:latin typeface="Calibri"/>
                <a:cs typeface="Calibri"/>
              </a:rPr>
              <a:t>Z-scores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1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The </a:t>
            </a:r>
            <a:r>
              <a:rPr dirty="0" sz="2400" spc="-5">
                <a:latin typeface="Calibri"/>
                <a:cs typeface="Calibri"/>
              </a:rPr>
              <a:t>dimension </a:t>
            </a:r>
            <a:r>
              <a:rPr dirty="0" sz="2400">
                <a:latin typeface="Calibri"/>
                <a:cs typeface="Calibri"/>
              </a:rPr>
              <a:t>depends </a:t>
            </a:r>
            <a:r>
              <a:rPr dirty="0" sz="2400" spc="-5">
                <a:latin typeface="Calibri"/>
                <a:cs typeface="Calibri"/>
              </a:rPr>
              <a:t>on number of </a:t>
            </a:r>
            <a:r>
              <a:rPr dirty="0" sz="2400" spc="-10">
                <a:latin typeface="Calibri"/>
                <a:cs typeface="Calibri"/>
              </a:rPr>
              <a:t>motifs</a:t>
            </a:r>
            <a:r>
              <a:rPr dirty="0" sz="2400" spc="30">
                <a:latin typeface="Calibri"/>
                <a:cs typeface="Calibri"/>
              </a:rPr>
              <a:t> </a:t>
            </a:r>
            <a:r>
              <a:rPr dirty="0" sz="2400" spc="-55">
                <a:latin typeface="Calibri"/>
                <a:cs typeface="Calibri"/>
              </a:rPr>
              <a:t>considered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>
                <a:latin typeface="Cambria Math"/>
                <a:cs typeface="Cambria Math"/>
              </a:rPr>
              <a:t>𝑆𝑃 </a:t>
            </a:r>
            <a:r>
              <a:rPr dirty="0" sz="2400" spc="-10">
                <a:latin typeface="Calibri"/>
                <a:cs typeface="Calibri"/>
              </a:rPr>
              <a:t>emphasizes </a:t>
            </a:r>
            <a:r>
              <a:rPr dirty="0" sz="2400" spc="-15">
                <a:latin typeface="Calibri"/>
                <a:cs typeface="Calibri"/>
              </a:rPr>
              <a:t>relative </a:t>
            </a:r>
            <a:r>
              <a:rPr dirty="0" sz="2400" spc="-5">
                <a:latin typeface="Calibri"/>
                <a:cs typeface="Calibri"/>
              </a:rPr>
              <a:t>significance of</a:t>
            </a:r>
            <a:r>
              <a:rPr dirty="0" sz="2400" spc="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subgraphs:</a:t>
            </a:r>
            <a:endParaRPr sz="2400">
              <a:latin typeface="Calibri"/>
              <a:cs typeface="Calibri"/>
            </a:endParaRPr>
          </a:p>
          <a:p>
            <a:pPr lvl="1" marL="460375" indent="-182880">
              <a:lnSpc>
                <a:spcPct val="100000"/>
              </a:lnSpc>
              <a:spcBef>
                <a:spcPts val="325"/>
              </a:spcBef>
              <a:buClr>
                <a:srgbClr val="6BB76D"/>
              </a:buClr>
              <a:buFont typeface="Malgun Gothic"/>
              <a:buChar char="▪"/>
              <a:tabLst>
                <a:tab pos="460375" algn="l"/>
              </a:tabLst>
            </a:pPr>
            <a:r>
              <a:rPr dirty="0" sz="2000" spc="-10">
                <a:latin typeface="Calibri"/>
                <a:cs typeface="Calibri"/>
              </a:rPr>
              <a:t>Important </a:t>
            </a:r>
            <a:r>
              <a:rPr dirty="0" sz="2000" spc="-15">
                <a:latin typeface="Calibri"/>
                <a:cs typeface="Calibri"/>
              </a:rPr>
              <a:t>for </a:t>
            </a:r>
            <a:r>
              <a:rPr dirty="0" sz="2000" spc="-5">
                <a:latin typeface="Calibri"/>
                <a:cs typeface="Calibri"/>
              </a:rPr>
              <a:t>comparison of </a:t>
            </a:r>
            <a:r>
              <a:rPr dirty="0" sz="2000" spc="-10">
                <a:latin typeface="Calibri"/>
                <a:cs typeface="Calibri"/>
              </a:rPr>
              <a:t>networks </a:t>
            </a:r>
            <a:r>
              <a:rPr dirty="0" sz="2000" spc="-5">
                <a:latin typeface="Calibri"/>
                <a:cs typeface="Calibri"/>
              </a:rPr>
              <a:t>of </a:t>
            </a:r>
            <a:r>
              <a:rPr dirty="0" sz="2000" spc="-15">
                <a:latin typeface="Calibri"/>
                <a:cs typeface="Calibri"/>
              </a:rPr>
              <a:t>different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sizes</a:t>
            </a:r>
            <a:endParaRPr sz="2000">
              <a:latin typeface="Calibri"/>
              <a:cs typeface="Calibri"/>
            </a:endParaRPr>
          </a:p>
          <a:p>
            <a:pPr lvl="1" marL="460375" indent="-182880">
              <a:lnSpc>
                <a:spcPct val="100000"/>
              </a:lnSpc>
              <a:spcBef>
                <a:spcPts val="190"/>
              </a:spcBef>
              <a:buClr>
                <a:srgbClr val="6BB76D"/>
              </a:buClr>
              <a:buFont typeface="Malgun Gothic"/>
              <a:buChar char="▪"/>
              <a:tabLst>
                <a:tab pos="460375" algn="l"/>
              </a:tabLst>
            </a:pPr>
            <a:r>
              <a:rPr dirty="0" sz="2000" spc="-20">
                <a:latin typeface="Calibri"/>
                <a:cs typeface="Calibri"/>
              </a:rPr>
              <a:t>Generally, </a:t>
            </a:r>
            <a:r>
              <a:rPr dirty="0" sz="2000" spc="-10">
                <a:latin typeface="Calibri"/>
                <a:cs typeface="Calibri"/>
              </a:rPr>
              <a:t>larger graphs display </a:t>
            </a:r>
            <a:r>
              <a:rPr dirty="0" sz="2000" spc="-5">
                <a:latin typeface="Calibri"/>
                <a:cs typeface="Calibri"/>
              </a:rPr>
              <a:t>higher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 spc="-15">
                <a:latin typeface="Calibri"/>
                <a:cs typeface="Calibri"/>
              </a:rPr>
              <a:t>Z-scores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1375"/>
            <a:ext cx="4684776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72032"/>
            <a:ext cx="3045460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15" b="1">
                <a:solidFill>
                  <a:srgbClr val="0000FF"/>
                </a:solidFill>
                <a:latin typeface="Calibri"/>
                <a:cs typeface="Calibri"/>
              </a:rPr>
              <a:t>For </a:t>
            </a:r>
            <a:r>
              <a:rPr dirty="0" sz="2700" spc="-5" b="1">
                <a:solidFill>
                  <a:srgbClr val="0000FF"/>
                </a:solidFill>
                <a:latin typeface="Calibri"/>
                <a:cs typeface="Calibri"/>
              </a:rPr>
              <a:t>each</a:t>
            </a:r>
            <a:r>
              <a:rPr dirty="0" sz="2700" spc="-4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700" spc="-10" b="1">
                <a:solidFill>
                  <a:srgbClr val="0000FF"/>
                </a:solidFill>
                <a:latin typeface="Calibri"/>
                <a:cs typeface="Calibri"/>
              </a:rPr>
              <a:t>subgraph: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22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1691132"/>
            <a:ext cx="7017384" cy="482536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625475" marR="5080" indent="-274320">
              <a:lnSpc>
                <a:spcPts val="23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0">
                <a:latin typeface="Calibri"/>
                <a:cs typeface="Calibri"/>
              </a:rPr>
              <a:t>z-score </a:t>
            </a:r>
            <a:r>
              <a:rPr dirty="0" sz="2400" spc="-5">
                <a:latin typeface="Calibri"/>
                <a:cs typeface="Calibri"/>
              </a:rPr>
              <a:t>metric is capable of classifying the </a:t>
            </a:r>
            <a:r>
              <a:rPr dirty="0" sz="2400" spc="-60">
                <a:latin typeface="Calibri"/>
                <a:cs typeface="Calibri"/>
              </a:rPr>
              <a:t>subgraph  </a:t>
            </a:r>
            <a:r>
              <a:rPr dirty="0" sz="2400" spc="-10">
                <a:latin typeface="Calibri"/>
                <a:cs typeface="Calibri"/>
              </a:rPr>
              <a:t>“significance”:</a:t>
            </a:r>
            <a:endParaRPr sz="2400">
              <a:latin typeface="Calibri"/>
              <a:cs typeface="Calibri"/>
            </a:endParaRPr>
          </a:p>
          <a:p>
            <a:pPr lvl="1" marL="890905" indent="-228600">
              <a:lnSpc>
                <a:spcPct val="100000"/>
              </a:lnSpc>
              <a:spcBef>
                <a:spcPts val="3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000" spc="-15">
                <a:latin typeface="Calibri"/>
                <a:cs typeface="Calibri"/>
              </a:rPr>
              <a:t>Negative </a:t>
            </a:r>
            <a:r>
              <a:rPr dirty="0" sz="2000" spc="-10">
                <a:latin typeface="Calibri"/>
                <a:cs typeface="Calibri"/>
              </a:rPr>
              <a:t>values indicate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under-representation</a:t>
            </a:r>
            <a:endParaRPr sz="2000">
              <a:latin typeface="Calibri"/>
              <a:cs typeface="Calibri"/>
            </a:endParaRPr>
          </a:p>
          <a:p>
            <a:pPr lvl="1" marL="890905" indent="-228600">
              <a:lnSpc>
                <a:spcPct val="100000"/>
              </a:lnSpc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000" spc="-10">
                <a:latin typeface="Calibri"/>
                <a:cs typeface="Calibri"/>
              </a:rPr>
              <a:t>Positive values indicate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 spc="-15" b="1">
                <a:latin typeface="Calibri"/>
                <a:cs typeface="Calibri"/>
              </a:rPr>
              <a:t>over-representation</a:t>
            </a:r>
            <a:endParaRPr sz="2000">
              <a:latin typeface="Calibri"/>
              <a:cs typeface="Calibri"/>
            </a:endParaRPr>
          </a:p>
          <a:p>
            <a:pPr marL="332740" marR="896619" indent="-320040">
              <a:lnSpc>
                <a:spcPct val="100000"/>
              </a:lnSpc>
              <a:spcBef>
                <a:spcPts val="1889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19405" algn="l"/>
                <a:tab pos="332740" algn="l"/>
              </a:tabLst>
            </a:pPr>
            <a:r>
              <a:rPr dirty="0" sz="2700" spc="-55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2700" spc="-25">
                <a:solidFill>
                  <a:srgbClr val="C00000"/>
                </a:solidFill>
                <a:latin typeface="Calibri"/>
                <a:cs typeface="Calibri"/>
              </a:rPr>
              <a:t>create </a:t>
            </a:r>
            <a:r>
              <a:rPr dirty="0" sz="27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2700" spc="-10" b="1">
                <a:solidFill>
                  <a:srgbClr val="C00000"/>
                </a:solidFill>
                <a:latin typeface="Calibri"/>
                <a:cs typeface="Calibri"/>
              </a:rPr>
              <a:t>network significance</a:t>
            </a:r>
            <a:r>
              <a:rPr dirty="0" sz="2700" spc="1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700" spc="-10" b="1">
                <a:solidFill>
                  <a:srgbClr val="C00000"/>
                </a:solidFill>
                <a:latin typeface="Calibri"/>
                <a:cs typeface="Calibri"/>
              </a:rPr>
              <a:t>profile:</a:t>
            </a:r>
            <a:endParaRPr sz="27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20">
                <a:latin typeface="Calibri"/>
                <a:cs typeface="Calibri"/>
              </a:rPr>
              <a:t>feature </a:t>
            </a:r>
            <a:r>
              <a:rPr dirty="0" sz="2400" spc="-15">
                <a:latin typeface="Calibri"/>
                <a:cs typeface="Calibri"/>
              </a:rPr>
              <a:t>vector </a:t>
            </a:r>
            <a:r>
              <a:rPr dirty="0" sz="2400" spc="-5">
                <a:latin typeface="Calibri"/>
                <a:cs typeface="Calibri"/>
              </a:rPr>
              <a:t>with </a:t>
            </a:r>
            <a:r>
              <a:rPr dirty="0" sz="2400" spc="-10">
                <a:latin typeface="Calibri"/>
                <a:cs typeface="Calibri"/>
              </a:rPr>
              <a:t>values </a:t>
            </a:r>
            <a:r>
              <a:rPr dirty="0" sz="2400" spc="-20">
                <a:latin typeface="Calibri"/>
                <a:cs typeface="Calibri"/>
              </a:rPr>
              <a:t>for </a:t>
            </a:r>
            <a:r>
              <a:rPr dirty="0" sz="2400" spc="-5">
                <a:latin typeface="Calibri"/>
                <a:cs typeface="Calibri"/>
              </a:rPr>
              <a:t>all </a:t>
            </a:r>
            <a:r>
              <a:rPr dirty="0" sz="2400" spc="-10">
                <a:latin typeface="Calibri"/>
                <a:cs typeface="Calibri"/>
              </a:rPr>
              <a:t>subgraph</a:t>
            </a:r>
            <a:r>
              <a:rPr dirty="0" sz="2400" spc="6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types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2915"/>
              </a:lnSpc>
              <a:spcBef>
                <a:spcPts val="1930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10" b="1">
                <a:solidFill>
                  <a:srgbClr val="D60093"/>
                </a:solidFill>
                <a:latin typeface="Calibri"/>
                <a:cs typeface="Calibri"/>
              </a:rPr>
              <a:t>Next: </a:t>
            </a:r>
            <a:r>
              <a:rPr dirty="0" sz="2700" spc="-10">
                <a:solidFill>
                  <a:srgbClr val="D60093"/>
                </a:solidFill>
                <a:latin typeface="Calibri"/>
                <a:cs typeface="Calibri"/>
              </a:rPr>
              <a:t>Compare profiles </a:t>
            </a:r>
            <a:r>
              <a:rPr dirty="0" sz="2700">
                <a:solidFill>
                  <a:srgbClr val="D60093"/>
                </a:solidFill>
                <a:latin typeface="Calibri"/>
                <a:cs typeface="Calibri"/>
              </a:rPr>
              <a:t>of </a:t>
            </a:r>
            <a:r>
              <a:rPr dirty="0" sz="2700" spc="-25">
                <a:solidFill>
                  <a:srgbClr val="D60093"/>
                </a:solidFill>
                <a:latin typeface="Calibri"/>
                <a:cs typeface="Calibri"/>
              </a:rPr>
              <a:t>different </a:t>
            </a:r>
            <a:r>
              <a:rPr dirty="0" sz="2700" spc="-20">
                <a:solidFill>
                  <a:srgbClr val="D60093"/>
                </a:solidFill>
                <a:latin typeface="Calibri"/>
                <a:cs typeface="Calibri"/>
              </a:rPr>
              <a:t>graphs</a:t>
            </a:r>
            <a:r>
              <a:rPr dirty="0" sz="2700" spc="25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700" spc="-5">
                <a:solidFill>
                  <a:srgbClr val="D60093"/>
                </a:solidFill>
                <a:latin typeface="Calibri"/>
                <a:cs typeface="Calibri"/>
              </a:rPr>
              <a:t>with</a:t>
            </a:r>
            <a:endParaRPr sz="2700">
              <a:latin typeface="Calibri"/>
              <a:cs typeface="Calibri"/>
            </a:endParaRPr>
          </a:p>
          <a:p>
            <a:pPr marL="332740">
              <a:lnSpc>
                <a:spcPts val="2895"/>
              </a:lnSpc>
            </a:pPr>
            <a:r>
              <a:rPr dirty="0" sz="2700" spc="-15" b="1">
                <a:solidFill>
                  <a:srgbClr val="D60093"/>
                </a:solidFill>
                <a:latin typeface="Calibri"/>
                <a:cs typeface="Calibri"/>
              </a:rPr>
              <a:t>random</a:t>
            </a:r>
            <a:r>
              <a:rPr dirty="0" sz="2700" spc="-4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700" spc="-15" b="1">
                <a:solidFill>
                  <a:srgbClr val="D60093"/>
                </a:solidFill>
                <a:latin typeface="Calibri"/>
                <a:cs typeface="Calibri"/>
              </a:rPr>
              <a:t>graphs</a:t>
            </a:r>
            <a:r>
              <a:rPr dirty="0" sz="2700" spc="-15">
                <a:solidFill>
                  <a:srgbClr val="D60093"/>
                </a:solidFill>
                <a:latin typeface="Calibri"/>
                <a:cs typeface="Calibri"/>
              </a:rPr>
              <a:t>:</a:t>
            </a:r>
            <a:endParaRPr sz="2700">
              <a:latin typeface="Calibri"/>
              <a:cs typeface="Calibri"/>
            </a:endParaRPr>
          </a:p>
          <a:p>
            <a:pPr lvl="1" marL="890905" indent="-228600">
              <a:lnSpc>
                <a:spcPts val="2380"/>
              </a:lnSpc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000" spc="-10">
                <a:latin typeface="Calibri"/>
                <a:cs typeface="Calibri"/>
              </a:rPr>
              <a:t>Regulatory network </a:t>
            </a:r>
            <a:r>
              <a:rPr dirty="0" sz="2000" spc="-5">
                <a:latin typeface="Calibri"/>
                <a:cs typeface="Calibri"/>
              </a:rPr>
              <a:t>(gene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regulation)</a:t>
            </a:r>
            <a:endParaRPr sz="2000">
              <a:latin typeface="Calibri"/>
              <a:cs typeface="Calibri"/>
            </a:endParaRPr>
          </a:p>
          <a:p>
            <a:pPr lvl="1" marL="890905" indent="-228600">
              <a:lnSpc>
                <a:spcPct val="100000"/>
              </a:lnSpc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000" spc="-10">
                <a:latin typeface="Calibri"/>
                <a:cs typeface="Calibri"/>
              </a:rPr>
              <a:t>Neuronal network (synaptic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connections)</a:t>
            </a:r>
            <a:endParaRPr sz="2000">
              <a:latin typeface="Calibri"/>
              <a:cs typeface="Calibri"/>
            </a:endParaRPr>
          </a:p>
          <a:p>
            <a:pPr lvl="1" marL="890905" indent="-228600">
              <a:lnSpc>
                <a:spcPct val="100000"/>
              </a:lnSpc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000" spc="-20">
                <a:latin typeface="Calibri"/>
                <a:cs typeface="Calibri"/>
              </a:rPr>
              <a:t>World </a:t>
            </a:r>
            <a:r>
              <a:rPr dirty="0" sz="2000" spc="-5">
                <a:latin typeface="Calibri"/>
                <a:cs typeface="Calibri"/>
              </a:rPr>
              <a:t>Wide </a:t>
            </a:r>
            <a:r>
              <a:rPr dirty="0" sz="2000" spc="-30">
                <a:latin typeface="Calibri"/>
                <a:cs typeface="Calibri"/>
              </a:rPr>
              <a:t>Web </a:t>
            </a:r>
            <a:r>
              <a:rPr dirty="0" sz="2000" spc="-10">
                <a:latin typeface="Calibri"/>
                <a:cs typeface="Calibri"/>
              </a:rPr>
              <a:t>(hyperlinks between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pages)</a:t>
            </a:r>
            <a:endParaRPr sz="2000">
              <a:latin typeface="Calibri"/>
              <a:cs typeface="Calibri"/>
            </a:endParaRPr>
          </a:p>
          <a:p>
            <a:pPr lvl="1" marL="890905" indent="-228600">
              <a:lnSpc>
                <a:spcPct val="100000"/>
              </a:lnSpc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000" spc="-5">
                <a:latin typeface="Calibri"/>
                <a:cs typeface="Calibri"/>
              </a:rPr>
              <a:t>Social </a:t>
            </a:r>
            <a:r>
              <a:rPr dirty="0" sz="2000" spc="-10">
                <a:latin typeface="Calibri"/>
                <a:cs typeface="Calibri"/>
              </a:rPr>
              <a:t>network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(friendships)</a:t>
            </a:r>
            <a:endParaRPr sz="2000">
              <a:latin typeface="Calibri"/>
              <a:cs typeface="Calibri"/>
            </a:endParaRPr>
          </a:p>
          <a:p>
            <a:pPr lvl="1" marL="890905" indent="-228600">
              <a:lnSpc>
                <a:spcPct val="100000"/>
              </a:lnSpc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000" spc="-10">
                <a:latin typeface="Calibri"/>
                <a:cs typeface="Calibri"/>
              </a:rPr>
              <a:t>Language networks </a:t>
            </a:r>
            <a:r>
              <a:rPr dirty="0" sz="2000" spc="-15">
                <a:latin typeface="Calibri"/>
                <a:cs typeface="Calibri"/>
              </a:rPr>
              <a:t>(word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adjacency)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6931152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57200" y="1257824"/>
            <a:ext cx="8206165" cy="48020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48810" y="6275323"/>
            <a:ext cx="64884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D60093"/>
                </a:solidFill>
                <a:latin typeface="Corbel"/>
                <a:cs typeface="Corbel"/>
              </a:rPr>
              <a:t>Networks from </a:t>
            </a:r>
            <a:r>
              <a:rPr dirty="0" sz="1800" b="1">
                <a:solidFill>
                  <a:srgbClr val="D60093"/>
                </a:solidFill>
                <a:latin typeface="Corbel"/>
                <a:cs typeface="Corbel"/>
              </a:rPr>
              <a:t>the </a:t>
            </a:r>
            <a:r>
              <a:rPr dirty="0" sz="1800" spc="-5" b="1">
                <a:solidFill>
                  <a:srgbClr val="D60093"/>
                </a:solidFill>
                <a:latin typeface="Corbel"/>
                <a:cs typeface="Corbel"/>
              </a:rPr>
              <a:t>same domain have similar significance</a:t>
            </a:r>
            <a:r>
              <a:rPr dirty="0" sz="1800" spc="100" b="1">
                <a:solidFill>
                  <a:srgbClr val="D60093"/>
                </a:solidFill>
                <a:latin typeface="Corbel"/>
                <a:cs typeface="Corbel"/>
              </a:rPr>
              <a:t> </a:t>
            </a:r>
            <a:r>
              <a:rPr dirty="0" sz="1800" spc="-5" b="1">
                <a:solidFill>
                  <a:srgbClr val="D60093"/>
                </a:solidFill>
                <a:latin typeface="Corbel"/>
                <a:cs typeface="Corbel"/>
              </a:rPr>
              <a:t>profiles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27</a:t>
            </a:fld>
          </a:p>
        </p:txBody>
      </p:sp>
      <p:sp>
        <p:nvSpPr>
          <p:cNvPr id="5" name="object 5"/>
          <p:cNvSpPr txBox="1"/>
          <p:nvPr/>
        </p:nvSpPr>
        <p:spPr>
          <a:xfrm>
            <a:off x="6784340" y="5793740"/>
            <a:ext cx="15894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Corbel"/>
                <a:cs typeface="Corbel"/>
              </a:rPr>
              <a:t>Milo </a:t>
            </a:r>
            <a:r>
              <a:rPr dirty="0" sz="1200" spc="-5" b="1" i="1">
                <a:latin typeface="Corbel"/>
                <a:cs typeface="Corbel"/>
              </a:rPr>
              <a:t>et al.</a:t>
            </a:r>
            <a:r>
              <a:rPr dirty="0" sz="1200" spc="-5" b="1">
                <a:latin typeface="Corbel"/>
                <a:cs typeface="Corbel"/>
              </a:rPr>
              <a:t>, Science</a:t>
            </a:r>
            <a:r>
              <a:rPr dirty="0" sz="1200" spc="-85" b="1">
                <a:latin typeface="Corbel"/>
                <a:cs typeface="Corbel"/>
              </a:rPr>
              <a:t> </a:t>
            </a:r>
            <a:r>
              <a:rPr dirty="0" sz="1200" spc="-15" b="1">
                <a:latin typeface="Corbel"/>
                <a:cs typeface="Corbel"/>
              </a:rPr>
              <a:t>2004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39" y="3261867"/>
            <a:ext cx="132842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0" b="1">
                <a:solidFill>
                  <a:srgbClr val="0000FF"/>
                </a:solidFill>
                <a:latin typeface="Corbel"/>
                <a:cs typeface="Corbel"/>
              </a:rPr>
              <a:t>Web </a:t>
            </a:r>
            <a:r>
              <a:rPr dirty="0" sz="1600" spc="-5" b="1">
                <a:solidFill>
                  <a:srgbClr val="0000FF"/>
                </a:solidFill>
                <a:latin typeface="Corbel"/>
                <a:cs typeface="Corbel"/>
              </a:rPr>
              <a:t>and</a:t>
            </a:r>
            <a:r>
              <a:rPr dirty="0" sz="1600" spc="-70" b="1">
                <a:solidFill>
                  <a:srgbClr val="0000FF"/>
                </a:solidFill>
                <a:latin typeface="Corbel"/>
                <a:cs typeface="Corbel"/>
              </a:rPr>
              <a:t> </a:t>
            </a:r>
            <a:r>
              <a:rPr dirty="0" sz="1600" spc="-5" b="1">
                <a:solidFill>
                  <a:srgbClr val="0000FF"/>
                </a:solidFill>
                <a:latin typeface="Corbel"/>
                <a:cs typeface="Corbel"/>
              </a:rPr>
              <a:t>social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2192020"/>
            <a:ext cx="7721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0000FF"/>
                </a:solidFill>
                <a:latin typeface="Corbel"/>
                <a:cs typeface="Corbel"/>
              </a:rPr>
              <a:t>Neurons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39" y="1198372"/>
            <a:ext cx="143383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0000FF"/>
                </a:solidFill>
                <a:latin typeface="Corbel"/>
                <a:cs typeface="Corbel"/>
              </a:rPr>
              <a:t>Gene</a:t>
            </a:r>
            <a:r>
              <a:rPr dirty="0" sz="1600" spc="-35" b="1">
                <a:solidFill>
                  <a:srgbClr val="0000FF"/>
                </a:solidFill>
                <a:latin typeface="Corbel"/>
                <a:cs typeface="Corbel"/>
              </a:rPr>
              <a:t> </a:t>
            </a:r>
            <a:r>
              <a:rPr dirty="0" sz="1600" spc="-5" b="1">
                <a:solidFill>
                  <a:srgbClr val="0000FF"/>
                </a:solidFill>
                <a:latin typeface="Corbel"/>
                <a:cs typeface="Corbel"/>
              </a:rPr>
              <a:t>regulation  networks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39" y="4136644"/>
            <a:ext cx="16243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5" b="1">
                <a:solidFill>
                  <a:srgbClr val="0000FF"/>
                </a:solidFill>
                <a:latin typeface="Corbel"/>
                <a:cs typeface="Corbel"/>
              </a:rPr>
              <a:t>Word</a:t>
            </a:r>
            <a:r>
              <a:rPr dirty="0" sz="1600" spc="-75" b="1">
                <a:solidFill>
                  <a:srgbClr val="0000FF"/>
                </a:solidFill>
                <a:latin typeface="Corbel"/>
                <a:cs typeface="Corbel"/>
              </a:rPr>
              <a:t> </a:t>
            </a:r>
            <a:r>
              <a:rPr dirty="0" sz="1600" spc="-5" b="1">
                <a:solidFill>
                  <a:srgbClr val="0000FF"/>
                </a:solidFill>
                <a:latin typeface="Corbel"/>
                <a:cs typeface="Corbel"/>
              </a:rPr>
              <a:t>connectivity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482376" y="1112011"/>
            <a:ext cx="3707129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D60093"/>
                </a:solidFill>
                <a:latin typeface="Corbel"/>
                <a:cs typeface="Corbel"/>
              </a:rPr>
              <a:t>Network significance</a:t>
            </a:r>
            <a:r>
              <a:rPr dirty="0" sz="2400" spc="10" b="1">
                <a:solidFill>
                  <a:srgbClr val="D60093"/>
                </a:solidFill>
                <a:latin typeface="Corbel"/>
                <a:cs typeface="Corbel"/>
              </a:rPr>
              <a:t> </a:t>
            </a:r>
            <a:r>
              <a:rPr dirty="0" sz="2400" spc="-5" b="1">
                <a:solidFill>
                  <a:srgbClr val="D60093"/>
                </a:solidFill>
                <a:latin typeface="Corbel"/>
                <a:cs typeface="Corbel"/>
              </a:rPr>
              <a:t>profile</a:t>
            </a:r>
            <a:endParaRPr sz="24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72200" y="4876800"/>
            <a:ext cx="2895600" cy="17494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474612" y="5380821"/>
            <a:ext cx="327660" cy="163830"/>
          </a:xfrm>
          <a:custGeom>
            <a:avLst/>
            <a:gdLst/>
            <a:ahLst/>
            <a:cxnLst/>
            <a:rect l="l" t="t" r="r" b="b"/>
            <a:pathLst>
              <a:path w="327659" h="163829">
                <a:moveTo>
                  <a:pt x="0" y="0"/>
                </a:moveTo>
                <a:lnTo>
                  <a:pt x="327614" y="0"/>
                </a:lnTo>
                <a:lnTo>
                  <a:pt x="327614" y="163554"/>
                </a:lnTo>
                <a:lnTo>
                  <a:pt x="0" y="1635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73023" y="341375"/>
            <a:ext cx="6784848" cy="5638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108" y="1373124"/>
            <a:ext cx="7519034" cy="10223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/>
              <a:t>Count subgraphs </a:t>
            </a:r>
            <a:r>
              <a:rPr dirty="0">
                <a:latin typeface="Cambria Math"/>
                <a:cs typeface="Cambria Math"/>
              </a:rPr>
              <a:t>𝑖 </a:t>
            </a:r>
            <a:r>
              <a:rPr dirty="0"/>
              <a:t>in</a:t>
            </a:r>
            <a:r>
              <a:rPr dirty="0" spc="135"/>
              <a:t> </a:t>
            </a:r>
            <a:r>
              <a:rPr dirty="0" spc="-155">
                <a:latin typeface="Cambria Math"/>
                <a:cs typeface="Cambria Math"/>
              </a:rPr>
              <a:t>𝐺</a:t>
            </a:r>
            <a:r>
              <a:rPr dirty="0" baseline="28985" sz="3450" spc="-232">
                <a:latin typeface="Cambria Math"/>
                <a:cs typeface="Cambria Math"/>
              </a:rPr>
              <a:t>$%&amp;'</a:t>
            </a:r>
            <a:endParaRPr baseline="28985" sz="345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1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/>
              <a:t>Count subgraphs </a:t>
            </a:r>
            <a:r>
              <a:rPr dirty="0">
                <a:latin typeface="Cambria Math"/>
                <a:cs typeface="Cambria Math"/>
              </a:rPr>
              <a:t>𝑖 </a:t>
            </a:r>
            <a:r>
              <a:rPr dirty="0"/>
              <a:t>in </a:t>
            </a:r>
            <a:r>
              <a:rPr dirty="0" spc="-15"/>
              <a:t>random graphs</a:t>
            </a:r>
            <a:r>
              <a:rPr dirty="0" spc="215"/>
              <a:t> </a:t>
            </a:r>
            <a:r>
              <a:rPr dirty="0" spc="140">
                <a:latin typeface="Cambria Math"/>
                <a:cs typeface="Cambria Math"/>
              </a:rPr>
              <a:t>𝐺</a:t>
            </a:r>
            <a:r>
              <a:rPr dirty="0" baseline="28985" sz="3450" spc="209">
                <a:latin typeface="Cambria Math"/>
                <a:cs typeface="Cambria Math"/>
              </a:rPr>
              <a:t>$&amp;)*</a:t>
            </a:r>
            <a:r>
              <a:rPr dirty="0" sz="3200" spc="140">
                <a:latin typeface="Cambria Math"/>
                <a:cs typeface="Cambria Math"/>
              </a:rPr>
              <a:t>: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27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618108" y="2478531"/>
            <a:ext cx="7475855" cy="3372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Null model: </a:t>
            </a:r>
            <a:r>
              <a:rPr dirty="0" sz="2800" spc="-15">
                <a:latin typeface="Calibri"/>
                <a:cs typeface="Calibri"/>
              </a:rPr>
              <a:t>Each </a:t>
            </a:r>
            <a:r>
              <a:rPr dirty="0" sz="2800" spc="229">
                <a:latin typeface="Cambria Math"/>
                <a:cs typeface="Cambria Math"/>
              </a:rPr>
              <a:t>𝐺</a:t>
            </a:r>
            <a:r>
              <a:rPr dirty="0" baseline="29166" sz="3000" spc="345">
                <a:latin typeface="Cambria Math"/>
                <a:cs typeface="Cambria Math"/>
              </a:rPr>
              <a:t>)*+, </a:t>
            </a:r>
            <a:r>
              <a:rPr dirty="0" sz="2800" spc="-5">
                <a:latin typeface="Calibri"/>
                <a:cs typeface="Calibri"/>
              </a:rPr>
              <a:t>has the same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35">
                <a:latin typeface="Calibri"/>
                <a:cs typeface="Calibri"/>
              </a:rPr>
              <a:t>#(nodes),</a:t>
            </a:r>
            <a:endParaRPr sz="2800">
              <a:latin typeface="Calibri"/>
              <a:cs typeface="Calibri"/>
            </a:endParaRPr>
          </a:p>
          <a:p>
            <a:pPr marL="625475">
              <a:lnSpc>
                <a:spcPct val="100000"/>
              </a:lnSpc>
              <a:spcBef>
                <a:spcPts val="140"/>
              </a:spcBef>
            </a:pPr>
            <a:r>
              <a:rPr dirty="0" sz="2800" spc="-10">
                <a:latin typeface="Calibri"/>
                <a:cs typeface="Calibri"/>
              </a:rPr>
              <a:t>#(edges)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15">
                <a:latin typeface="Calibri"/>
                <a:cs typeface="Calibri"/>
              </a:rPr>
              <a:t>degree </a:t>
            </a:r>
            <a:r>
              <a:rPr dirty="0" sz="2800" spc="-5">
                <a:latin typeface="Calibri"/>
                <a:cs typeface="Calibri"/>
              </a:rPr>
              <a:t>distribution as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 spc="235">
                <a:latin typeface="Cambria Math"/>
                <a:cs typeface="Cambria Math"/>
              </a:rPr>
              <a:t>𝐺</a:t>
            </a:r>
            <a:r>
              <a:rPr dirty="0" baseline="29166" sz="3000" spc="352">
                <a:latin typeface="Cambria Math"/>
                <a:cs typeface="Cambria Math"/>
              </a:rPr>
              <a:t>)-*.</a:t>
            </a:r>
            <a:endParaRPr baseline="29166" sz="3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Times New Roman"/>
              <a:cs typeface="Times New Roman"/>
            </a:endParaRPr>
          </a:p>
          <a:p>
            <a:pPr marL="332740" marR="3006725" indent="-320040">
              <a:lnSpc>
                <a:spcPct val="100000"/>
              </a:lnSpc>
              <a:spcBef>
                <a:spcPts val="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Assign </a:t>
            </a: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Z-score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5">
                <a:latin typeface="Calibri"/>
                <a:cs typeface="Calibri"/>
              </a:rPr>
              <a:t>motif</a:t>
            </a:r>
            <a:r>
              <a:rPr dirty="0" sz="3200" spc="0">
                <a:latin typeface="Calibri"/>
                <a:cs typeface="Calibri"/>
              </a:rPr>
              <a:t> </a:t>
            </a:r>
            <a:r>
              <a:rPr dirty="0" sz="3200" spc="40">
                <a:latin typeface="Cambria Math"/>
                <a:cs typeface="Cambria Math"/>
              </a:rPr>
              <a:t>𝑖</a:t>
            </a:r>
            <a:r>
              <a:rPr dirty="0" sz="3200" spc="4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ts val="2430"/>
              </a:lnSpc>
              <a:spcBef>
                <a:spcPts val="10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80">
                <a:latin typeface="Cambria Math"/>
                <a:cs typeface="Cambria Math"/>
              </a:rPr>
              <a:t>𝑍</a:t>
            </a:r>
            <a:r>
              <a:rPr dirty="0" baseline="-16666" sz="3000" spc="-270">
                <a:latin typeface="Cambria Math"/>
                <a:cs typeface="Cambria Math"/>
              </a:rPr>
              <a:t>/  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14">
                <a:latin typeface="Cambria Math"/>
                <a:cs typeface="Cambria Math"/>
              </a:rPr>
              <a:t> </a:t>
            </a:r>
            <a:r>
              <a:rPr dirty="0" sz="2800" spc="80">
                <a:latin typeface="Cambria Math"/>
                <a:cs typeface="Cambria Math"/>
              </a:rPr>
              <a:t>(𝑁</a:t>
            </a:r>
            <a:r>
              <a:rPr dirty="0" baseline="31944" sz="3000" spc="120">
                <a:latin typeface="Cambria Math"/>
                <a:cs typeface="Cambria Math"/>
              </a:rPr>
              <a:t>)-*.</a:t>
            </a:r>
            <a:r>
              <a:rPr dirty="0" sz="2800" spc="80">
                <a:latin typeface="Cambria Math"/>
                <a:cs typeface="Cambria Math"/>
              </a:rPr>
              <a:t>−𝑁</a:t>
            </a:r>
            <a:r>
              <a:rPr dirty="0" baseline="10912" sz="4200" spc="120">
                <a:latin typeface="Cambria Math"/>
                <a:cs typeface="Cambria Math"/>
              </a:rPr>
              <a:t>9</a:t>
            </a:r>
            <a:r>
              <a:rPr dirty="0" baseline="31944" sz="3000" spc="120">
                <a:latin typeface="Cambria Math"/>
                <a:cs typeface="Cambria Math"/>
              </a:rPr>
              <a:t>)*+,</a:t>
            </a:r>
            <a:r>
              <a:rPr dirty="0" sz="2800" spc="80">
                <a:latin typeface="Cambria Math"/>
                <a:cs typeface="Cambria Math"/>
              </a:rPr>
              <a:t>)/std(𝑁</a:t>
            </a:r>
            <a:r>
              <a:rPr dirty="0" baseline="31944" sz="3000" spc="120">
                <a:latin typeface="Cambria Math"/>
                <a:cs typeface="Cambria Math"/>
              </a:rPr>
              <a:t>)*+,</a:t>
            </a:r>
            <a:r>
              <a:rPr dirty="0" sz="2800" spc="80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  <a:p>
            <a:pPr marL="1781175">
              <a:lnSpc>
                <a:spcPts val="1470"/>
              </a:lnSpc>
              <a:tabLst>
                <a:tab pos="2831465" algn="l"/>
                <a:tab pos="4653280" algn="l"/>
              </a:tabLst>
            </a:pPr>
            <a:r>
              <a:rPr dirty="0" sz="2000" spc="-280">
                <a:latin typeface="Cambria Math"/>
                <a:cs typeface="Cambria Math"/>
              </a:rPr>
              <a:t>/	/	/</a:t>
            </a:r>
            <a:endParaRPr sz="2000">
              <a:latin typeface="Cambria Math"/>
              <a:cs typeface="Cambria Math"/>
            </a:endParaRPr>
          </a:p>
          <a:p>
            <a:pPr lvl="1" marL="625475" indent="-274320">
              <a:lnSpc>
                <a:spcPts val="3325"/>
              </a:lnSpc>
              <a:spcBef>
                <a:spcPts val="21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solidFill>
                  <a:srgbClr val="008000"/>
                </a:solidFill>
                <a:latin typeface="Calibri"/>
                <a:cs typeface="Calibri"/>
              </a:rPr>
              <a:t>High </a:t>
            </a:r>
            <a:r>
              <a:rPr dirty="0" sz="2800" spc="-15" b="1">
                <a:solidFill>
                  <a:srgbClr val="008000"/>
                </a:solidFill>
                <a:latin typeface="Calibri"/>
                <a:cs typeface="Calibri"/>
              </a:rPr>
              <a:t>Z-score: </a:t>
            </a:r>
            <a:r>
              <a:rPr dirty="0" sz="2800" spc="-10">
                <a:latin typeface="Calibri"/>
                <a:cs typeface="Calibri"/>
              </a:rPr>
              <a:t>Subgraph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𝑖</a:t>
            </a:r>
            <a:endParaRPr sz="2800">
              <a:latin typeface="Cambria Math"/>
              <a:cs typeface="Cambria Math"/>
            </a:endParaRPr>
          </a:p>
          <a:p>
            <a:pPr marL="625475">
              <a:lnSpc>
                <a:spcPts val="3325"/>
              </a:lnSpc>
            </a:pP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network </a:t>
            </a: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motif of</a:t>
            </a:r>
            <a:r>
              <a:rPr dirty="0" sz="2800" spc="-3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D60093"/>
                </a:solidFill>
                <a:latin typeface="Cambria Math"/>
                <a:cs typeface="Cambria Math"/>
              </a:rPr>
              <a:t>𝑮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1375"/>
            <a:ext cx="7812024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226314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0000FF"/>
                </a:solidFill>
                <a:latin typeface="Calibri"/>
                <a:cs typeface="Calibri"/>
              </a:rPr>
              <a:t>Extensions: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826259"/>
            <a:ext cx="4112260" cy="157416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Directed </a:t>
            </a:r>
            <a:r>
              <a:rPr dirty="0" sz="2800" spc="-5">
                <a:latin typeface="Calibri"/>
                <a:cs typeface="Calibri"/>
              </a:rPr>
              <a:t>and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undirected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Colored </a:t>
            </a:r>
            <a:r>
              <a:rPr dirty="0" sz="2800" spc="-5">
                <a:latin typeface="Calibri"/>
                <a:cs typeface="Calibri"/>
              </a:rPr>
              <a:t>and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uncolored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45">
                <a:latin typeface="Calibri"/>
                <a:cs typeface="Calibri"/>
              </a:rPr>
              <a:t>Temporal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20">
                <a:latin typeface="Calibri"/>
                <a:cs typeface="Calibri"/>
              </a:rPr>
              <a:t>static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105">
                <a:latin typeface="Calibri"/>
                <a:cs typeface="Calibri"/>
              </a:rPr>
              <a:t>motifs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3766965"/>
            <a:ext cx="4829175" cy="162687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5" b="1">
                <a:solidFill>
                  <a:srgbClr val="D60093"/>
                </a:solidFill>
                <a:latin typeface="Calibri"/>
                <a:cs typeface="Calibri"/>
              </a:rPr>
              <a:t>Variations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on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the</a:t>
            </a: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concept: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5">
                <a:latin typeface="Calibri"/>
                <a:cs typeface="Calibri"/>
              </a:rPr>
              <a:t>Different </a:t>
            </a:r>
            <a:r>
              <a:rPr dirty="0" sz="2800" spc="-10">
                <a:latin typeface="Calibri"/>
                <a:cs typeface="Calibri"/>
              </a:rPr>
              <a:t>frequency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65">
                <a:latin typeface="Calibri"/>
                <a:cs typeface="Calibri"/>
              </a:rPr>
              <a:t>concepts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5">
                <a:latin typeface="Calibri"/>
                <a:cs typeface="Calibri"/>
              </a:rPr>
              <a:t>Different </a:t>
            </a:r>
            <a:r>
              <a:rPr dirty="0" sz="2800" spc="-5">
                <a:latin typeface="Calibri"/>
                <a:cs typeface="Calibri"/>
              </a:rPr>
              <a:t>significance </a:t>
            </a:r>
            <a:r>
              <a:rPr dirty="0" sz="2800" spc="-75">
                <a:latin typeface="Calibri"/>
                <a:cs typeface="Calibri"/>
              </a:rPr>
              <a:t>metrics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6563" y="5462523"/>
            <a:ext cx="542671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0">
                <a:latin typeface="Calibri"/>
                <a:cs typeface="Calibri"/>
              </a:rPr>
              <a:t>Under-Representation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 spc="-55">
                <a:latin typeface="Calibri"/>
                <a:cs typeface="Calibri"/>
              </a:rPr>
              <a:t>(</a:t>
            </a:r>
            <a:r>
              <a:rPr dirty="0" sz="2800" spc="-55" b="1">
                <a:solidFill>
                  <a:srgbClr val="479249"/>
                </a:solidFill>
                <a:latin typeface="Calibri"/>
                <a:cs typeface="Calibri"/>
              </a:rPr>
              <a:t>anti-motifs</a:t>
            </a:r>
            <a:r>
              <a:rPr dirty="0" sz="2800" spc="-55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6563" y="5971539"/>
            <a:ext cx="333311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5">
                <a:latin typeface="Calibri"/>
                <a:cs typeface="Calibri"/>
              </a:rPr>
              <a:t>Different </a:t>
            </a:r>
            <a:r>
              <a:rPr dirty="0" sz="2800" spc="-5">
                <a:latin typeface="Calibri"/>
                <a:cs typeface="Calibri"/>
              </a:rPr>
              <a:t>null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0">
                <a:latin typeface="Calibri"/>
                <a:cs typeface="Calibri"/>
              </a:rPr>
              <a:t>models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04000" y="1765447"/>
            <a:ext cx="201295" cy="168910"/>
          </a:xfrm>
          <a:custGeom>
            <a:avLst/>
            <a:gdLst/>
            <a:ahLst/>
            <a:cxnLst/>
            <a:rect l="l" t="t" r="r" b="b"/>
            <a:pathLst>
              <a:path w="201295" h="168910">
                <a:moveTo>
                  <a:pt x="125870" y="43480"/>
                </a:moveTo>
                <a:lnTo>
                  <a:pt x="869" y="146460"/>
                </a:lnTo>
                <a:lnTo>
                  <a:pt x="0" y="155464"/>
                </a:lnTo>
                <a:lnTo>
                  <a:pt x="10034" y="167645"/>
                </a:lnTo>
                <a:lnTo>
                  <a:pt x="19038" y="168515"/>
                </a:lnTo>
                <a:lnTo>
                  <a:pt x="144040" y="65535"/>
                </a:lnTo>
                <a:lnTo>
                  <a:pt x="125870" y="43480"/>
                </a:lnTo>
                <a:close/>
              </a:path>
              <a:path w="201295" h="168910">
                <a:moveTo>
                  <a:pt x="188068" y="29378"/>
                </a:moveTo>
                <a:lnTo>
                  <a:pt x="142988" y="29378"/>
                </a:lnTo>
                <a:lnTo>
                  <a:pt x="151993" y="30248"/>
                </a:lnTo>
                <a:lnTo>
                  <a:pt x="162027" y="42429"/>
                </a:lnTo>
                <a:lnTo>
                  <a:pt x="161157" y="51433"/>
                </a:lnTo>
                <a:lnTo>
                  <a:pt x="144040" y="65535"/>
                </a:lnTo>
                <a:lnTo>
                  <a:pt x="162209" y="87590"/>
                </a:lnTo>
                <a:lnTo>
                  <a:pt x="188068" y="29378"/>
                </a:lnTo>
                <a:close/>
              </a:path>
              <a:path w="201295" h="168910">
                <a:moveTo>
                  <a:pt x="142988" y="29378"/>
                </a:moveTo>
                <a:lnTo>
                  <a:pt x="125870" y="43480"/>
                </a:lnTo>
                <a:lnTo>
                  <a:pt x="144040" y="65535"/>
                </a:lnTo>
                <a:lnTo>
                  <a:pt x="161157" y="51433"/>
                </a:lnTo>
                <a:lnTo>
                  <a:pt x="162027" y="42429"/>
                </a:lnTo>
                <a:lnTo>
                  <a:pt x="151993" y="30248"/>
                </a:lnTo>
                <a:lnTo>
                  <a:pt x="142988" y="29378"/>
                </a:lnTo>
                <a:close/>
              </a:path>
              <a:path w="201295" h="168910">
                <a:moveTo>
                  <a:pt x="201119" y="0"/>
                </a:moveTo>
                <a:lnTo>
                  <a:pt x="107702" y="21426"/>
                </a:lnTo>
                <a:lnTo>
                  <a:pt x="125870" y="43480"/>
                </a:lnTo>
                <a:lnTo>
                  <a:pt x="142988" y="29378"/>
                </a:lnTo>
                <a:lnTo>
                  <a:pt x="188068" y="29378"/>
                </a:lnTo>
                <a:lnTo>
                  <a:pt x="2011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232832" y="1666407"/>
            <a:ext cx="294640" cy="85725"/>
          </a:xfrm>
          <a:custGeom>
            <a:avLst/>
            <a:gdLst/>
            <a:ahLst/>
            <a:cxnLst/>
            <a:rect l="l" t="t" r="r" b="b"/>
            <a:pathLst>
              <a:path w="294640" h="85725">
                <a:moveTo>
                  <a:pt x="208634" y="0"/>
                </a:moveTo>
                <a:lnTo>
                  <a:pt x="208633" y="85725"/>
                </a:lnTo>
                <a:lnTo>
                  <a:pt x="265784" y="57150"/>
                </a:lnTo>
                <a:lnTo>
                  <a:pt x="230812" y="57150"/>
                </a:lnTo>
                <a:lnTo>
                  <a:pt x="237208" y="50754"/>
                </a:lnTo>
                <a:lnTo>
                  <a:pt x="237208" y="34971"/>
                </a:lnTo>
                <a:lnTo>
                  <a:pt x="230812" y="28575"/>
                </a:lnTo>
                <a:lnTo>
                  <a:pt x="265781" y="28575"/>
                </a:lnTo>
                <a:lnTo>
                  <a:pt x="208634" y="0"/>
                </a:lnTo>
                <a:close/>
              </a:path>
              <a:path w="294640" h="85725">
                <a:moveTo>
                  <a:pt x="208633" y="28575"/>
                </a:moveTo>
                <a:lnTo>
                  <a:pt x="6396" y="28575"/>
                </a:lnTo>
                <a:lnTo>
                  <a:pt x="0" y="34971"/>
                </a:lnTo>
                <a:lnTo>
                  <a:pt x="1" y="50754"/>
                </a:lnTo>
                <a:lnTo>
                  <a:pt x="6396" y="57150"/>
                </a:lnTo>
                <a:lnTo>
                  <a:pt x="208633" y="57150"/>
                </a:lnTo>
                <a:lnTo>
                  <a:pt x="208633" y="28575"/>
                </a:lnTo>
                <a:close/>
              </a:path>
              <a:path w="294640" h="85725">
                <a:moveTo>
                  <a:pt x="265781" y="28575"/>
                </a:moveTo>
                <a:lnTo>
                  <a:pt x="230812" y="28575"/>
                </a:lnTo>
                <a:lnTo>
                  <a:pt x="237208" y="34971"/>
                </a:lnTo>
                <a:lnTo>
                  <a:pt x="237208" y="50754"/>
                </a:lnTo>
                <a:lnTo>
                  <a:pt x="230812" y="57150"/>
                </a:lnTo>
                <a:lnTo>
                  <a:pt x="265784" y="57150"/>
                </a:lnTo>
                <a:lnTo>
                  <a:pt x="294358" y="42863"/>
                </a:lnTo>
                <a:lnTo>
                  <a:pt x="26578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653375" y="1749630"/>
            <a:ext cx="178435" cy="168910"/>
          </a:xfrm>
          <a:custGeom>
            <a:avLst/>
            <a:gdLst/>
            <a:ahLst/>
            <a:cxnLst/>
            <a:rect l="l" t="t" r="r" b="b"/>
            <a:pathLst>
              <a:path w="178434" h="168910">
                <a:moveTo>
                  <a:pt x="105953" y="120031"/>
                </a:moveTo>
                <a:lnTo>
                  <a:pt x="86395" y="140864"/>
                </a:lnTo>
                <a:lnTo>
                  <a:pt x="178233" y="168287"/>
                </a:lnTo>
                <a:lnTo>
                  <a:pt x="166034" y="135210"/>
                </a:lnTo>
                <a:lnTo>
                  <a:pt x="122123" y="135210"/>
                </a:lnTo>
                <a:lnTo>
                  <a:pt x="105953" y="120031"/>
                </a:lnTo>
                <a:close/>
              </a:path>
              <a:path w="178434" h="168910">
                <a:moveTo>
                  <a:pt x="125511" y="99197"/>
                </a:moveTo>
                <a:lnTo>
                  <a:pt x="105953" y="120031"/>
                </a:lnTo>
                <a:lnTo>
                  <a:pt x="122123" y="135210"/>
                </a:lnTo>
                <a:lnTo>
                  <a:pt x="131165" y="134924"/>
                </a:lnTo>
                <a:lnTo>
                  <a:pt x="141966" y="123418"/>
                </a:lnTo>
                <a:lnTo>
                  <a:pt x="141681" y="114377"/>
                </a:lnTo>
                <a:lnTo>
                  <a:pt x="125511" y="99197"/>
                </a:lnTo>
                <a:close/>
              </a:path>
              <a:path w="178434" h="168910">
                <a:moveTo>
                  <a:pt x="145069" y="78364"/>
                </a:moveTo>
                <a:lnTo>
                  <a:pt x="125511" y="99197"/>
                </a:lnTo>
                <a:lnTo>
                  <a:pt x="141681" y="114377"/>
                </a:lnTo>
                <a:lnTo>
                  <a:pt x="141966" y="123418"/>
                </a:lnTo>
                <a:lnTo>
                  <a:pt x="131165" y="134924"/>
                </a:lnTo>
                <a:lnTo>
                  <a:pt x="122123" y="135210"/>
                </a:lnTo>
                <a:lnTo>
                  <a:pt x="166034" y="135210"/>
                </a:lnTo>
                <a:lnTo>
                  <a:pt x="145069" y="78364"/>
                </a:lnTo>
                <a:close/>
              </a:path>
              <a:path w="178434" h="168910">
                <a:moveTo>
                  <a:pt x="19843" y="0"/>
                </a:moveTo>
                <a:lnTo>
                  <a:pt x="10801" y="285"/>
                </a:lnTo>
                <a:lnTo>
                  <a:pt x="0" y="11790"/>
                </a:lnTo>
                <a:lnTo>
                  <a:pt x="285" y="20833"/>
                </a:lnTo>
                <a:lnTo>
                  <a:pt x="105953" y="120031"/>
                </a:lnTo>
                <a:lnTo>
                  <a:pt x="125511" y="99197"/>
                </a:lnTo>
                <a:lnTo>
                  <a:pt x="198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121077" y="1774430"/>
            <a:ext cx="85725" cy="433705"/>
          </a:xfrm>
          <a:custGeom>
            <a:avLst/>
            <a:gdLst/>
            <a:ahLst/>
            <a:cxnLst/>
            <a:rect l="l" t="t" r="r" b="b"/>
            <a:pathLst>
              <a:path w="85725" h="433705">
                <a:moveTo>
                  <a:pt x="28574" y="347428"/>
                </a:moveTo>
                <a:lnTo>
                  <a:pt x="0" y="347428"/>
                </a:lnTo>
                <a:lnTo>
                  <a:pt x="42862" y="433153"/>
                </a:lnTo>
                <a:lnTo>
                  <a:pt x="71437" y="376003"/>
                </a:lnTo>
                <a:lnTo>
                  <a:pt x="34971" y="376003"/>
                </a:lnTo>
                <a:lnTo>
                  <a:pt x="28575" y="369606"/>
                </a:lnTo>
                <a:lnTo>
                  <a:pt x="28574" y="347428"/>
                </a:lnTo>
                <a:close/>
              </a:path>
              <a:path w="85725" h="433705">
                <a:moveTo>
                  <a:pt x="50751" y="0"/>
                </a:moveTo>
                <a:lnTo>
                  <a:pt x="34970" y="0"/>
                </a:lnTo>
                <a:lnTo>
                  <a:pt x="28573" y="6396"/>
                </a:lnTo>
                <a:lnTo>
                  <a:pt x="28575" y="369606"/>
                </a:lnTo>
                <a:lnTo>
                  <a:pt x="34971" y="376003"/>
                </a:lnTo>
                <a:lnTo>
                  <a:pt x="50753" y="376003"/>
                </a:lnTo>
                <a:lnTo>
                  <a:pt x="57150" y="369606"/>
                </a:lnTo>
                <a:lnTo>
                  <a:pt x="57148" y="6396"/>
                </a:lnTo>
                <a:lnTo>
                  <a:pt x="50751" y="0"/>
                </a:lnTo>
                <a:close/>
              </a:path>
              <a:path w="85725" h="433705">
                <a:moveTo>
                  <a:pt x="85725" y="347428"/>
                </a:moveTo>
                <a:lnTo>
                  <a:pt x="57149" y="347428"/>
                </a:lnTo>
                <a:lnTo>
                  <a:pt x="57150" y="369606"/>
                </a:lnTo>
                <a:lnTo>
                  <a:pt x="50753" y="376003"/>
                </a:lnTo>
                <a:lnTo>
                  <a:pt x="71437" y="376003"/>
                </a:lnTo>
                <a:lnTo>
                  <a:pt x="85725" y="3474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20045" y="2030272"/>
            <a:ext cx="201295" cy="216535"/>
          </a:xfrm>
          <a:custGeom>
            <a:avLst/>
            <a:gdLst/>
            <a:ahLst/>
            <a:cxnLst/>
            <a:rect l="l" t="t" r="r" b="b"/>
            <a:pathLst>
              <a:path w="201295" h="216535">
                <a:moveTo>
                  <a:pt x="68632" y="53314"/>
                </a:moveTo>
                <a:lnTo>
                  <a:pt x="47631" y="72691"/>
                </a:lnTo>
                <a:lnTo>
                  <a:pt x="179924" y="216067"/>
                </a:lnTo>
                <a:lnTo>
                  <a:pt x="188964" y="216430"/>
                </a:lnTo>
                <a:lnTo>
                  <a:pt x="200562" y="205728"/>
                </a:lnTo>
                <a:lnTo>
                  <a:pt x="200925" y="196689"/>
                </a:lnTo>
                <a:lnTo>
                  <a:pt x="68632" y="53314"/>
                </a:lnTo>
                <a:close/>
              </a:path>
              <a:path w="201295" h="216535">
                <a:moveTo>
                  <a:pt x="0" y="0"/>
                </a:moveTo>
                <a:lnTo>
                  <a:pt x="26630" y="92068"/>
                </a:lnTo>
                <a:lnTo>
                  <a:pt x="47631" y="72691"/>
                </a:lnTo>
                <a:lnTo>
                  <a:pt x="32592" y="56391"/>
                </a:lnTo>
                <a:lnTo>
                  <a:pt x="32955" y="47353"/>
                </a:lnTo>
                <a:lnTo>
                  <a:pt x="44554" y="36650"/>
                </a:lnTo>
                <a:lnTo>
                  <a:pt x="86692" y="36650"/>
                </a:lnTo>
                <a:lnTo>
                  <a:pt x="89634" y="33936"/>
                </a:lnTo>
                <a:lnTo>
                  <a:pt x="0" y="0"/>
                </a:lnTo>
                <a:close/>
              </a:path>
              <a:path w="201295" h="216535">
                <a:moveTo>
                  <a:pt x="44554" y="36650"/>
                </a:moveTo>
                <a:lnTo>
                  <a:pt x="32955" y="47353"/>
                </a:lnTo>
                <a:lnTo>
                  <a:pt x="32592" y="56391"/>
                </a:lnTo>
                <a:lnTo>
                  <a:pt x="47631" y="72691"/>
                </a:lnTo>
                <a:lnTo>
                  <a:pt x="68632" y="53314"/>
                </a:lnTo>
                <a:lnTo>
                  <a:pt x="53592" y="37014"/>
                </a:lnTo>
                <a:lnTo>
                  <a:pt x="44554" y="36650"/>
                </a:lnTo>
                <a:close/>
              </a:path>
              <a:path w="201295" h="216535">
                <a:moveTo>
                  <a:pt x="86692" y="36650"/>
                </a:moveTo>
                <a:lnTo>
                  <a:pt x="44554" y="36650"/>
                </a:lnTo>
                <a:lnTo>
                  <a:pt x="53592" y="37014"/>
                </a:lnTo>
                <a:lnTo>
                  <a:pt x="68632" y="53314"/>
                </a:lnTo>
                <a:lnTo>
                  <a:pt x="86692" y="366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247119" y="2244168"/>
            <a:ext cx="294640" cy="85725"/>
          </a:xfrm>
          <a:custGeom>
            <a:avLst/>
            <a:gdLst/>
            <a:ahLst/>
            <a:cxnLst/>
            <a:rect l="l" t="t" r="r" b="b"/>
            <a:pathLst>
              <a:path w="294640" h="85725">
                <a:moveTo>
                  <a:pt x="85725" y="0"/>
                </a:moveTo>
                <a:lnTo>
                  <a:pt x="0" y="42863"/>
                </a:lnTo>
                <a:lnTo>
                  <a:pt x="85725" y="85725"/>
                </a:lnTo>
                <a:lnTo>
                  <a:pt x="85725" y="57150"/>
                </a:lnTo>
                <a:lnTo>
                  <a:pt x="63546" y="57150"/>
                </a:lnTo>
                <a:lnTo>
                  <a:pt x="57150" y="50754"/>
                </a:lnTo>
                <a:lnTo>
                  <a:pt x="57150" y="34971"/>
                </a:lnTo>
                <a:lnTo>
                  <a:pt x="63546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294640" h="85725">
                <a:moveTo>
                  <a:pt x="85725" y="28575"/>
                </a:moveTo>
                <a:lnTo>
                  <a:pt x="63546" y="28575"/>
                </a:lnTo>
                <a:lnTo>
                  <a:pt x="57150" y="34971"/>
                </a:lnTo>
                <a:lnTo>
                  <a:pt x="57150" y="50754"/>
                </a:lnTo>
                <a:lnTo>
                  <a:pt x="63546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294640" h="85725">
                <a:moveTo>
                  <a:pt x="287961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287961" y="57150"/>
                </a:lnTo>
                <a:lnTo>
                  <a:pt x="294356" y="50754"/>
                </a:lnTo>
                <a:lnTo>
                  <a:pt x="294358" y="34971"/>
                </a:lnTo>
                <a:lnTo>
                  <a:pt x="28796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669192" y="2014203"/>
            <a:ext cx="179070" cy="217170"/>
          </a:xfrm>
          <a:custGeom>
            <a:avLst/>
            <a:gdLst/>
            <a:ahLst/>
            <a:cxnLst/>
            <a:rect l="l" t="t" r="r" b="b"/>
            <a:pathLst>
              <a:path w="179070" h="217169">
                <a:moveTo>
                  <a:pt x="20634" y="123052"/>
                </a:moveTo>
                <a:lnTo>
                  <a:pt x="0" y="216648"/>
                </a:lnTo>
                <a:lnTo>
                  <a:pt x="86816" y="177199"/>
                </a:lnTo>
                <a:lnTo>
                  <a:pt x="42096" y="177199"/>
                </a:lnTo>
                <a:lnTo>
                  <a:pt x="29832" y="167267"/>
                </a:lnTo>
                <a:lnTo>
                  <a:pt x="28886" y="158271"/>
                </a:lnTo>
                <a:lnTo>
                  <a:pt x="42842" y="141034"/>
                </a:lnTo>
                <a:lnTo>
                  <a:pt x="20634" y="123052"/>
                </a:lnTo>
                <a:close/>
              </a:path>
              <a:path w="179070" h="217169">
                <a:moveTo>
                  <a:pt x="42842" y="141034"/>
                </a:moveTo>
                <a:lnTo>
                  <a:pt x="28886" y="158271"/>
                </a:lnTo>
                <a:lnTo>
                  <a:pt x="29832" y="167267"/>
                </a:lnTo>
                <a:lnTo>
                  <a:pt x="42096" y="177199"/>
                </a:lnTo>
                <a:lnTo>
                  <a:pt x="51093" y="176253"/>
                </a:lnTo>
                <a:lnTo>
                  <a:pt x="65050" y="159016"/>
                </a:lnTo>
                <a:lnTo>
                  <a:pt x="42842" y="141034"/>
                </a:lnTo>
                <a:close/>
              </a:path>
              <a:path w="179070" h="217169">
                <a:moveTo>
                  <a:pt x="65050" y="159016"/>
                </a:moveTo>
                <a:lnTo>
                  <a:pt x="51093" y="176253"/>
                </a:lnTo>
                <a:lnTo>
                  <a:pt x="42096" y="177199"/>
                </a:lnTo>
                <a:lnTo>
                  <a:pt x="86816" y="177199"/>
                </a:lnTo>
                <a:lnTo>
                  <a:pt x="87257" y="176998"/>
                </a:lnTo>
                <a:lnTo>
                  <a:pt x="65050" y="159016"/>
                </a:lnTo>
                <a:close/>
              </a:path>
              <a:path w="179070" h="217169">
                <a:moveTo>
                  <a:pt x="165273" y="0"/>
                </a:moveTo>
                <a:lnTo>
                  <a:pt x="156277" y="946"/>
                </a:lnTo>
                <a:lnTo>
                  <a:pt x="42842" y="141034"/>
                </a:lnTo>
                <a:lnTo>
                  <a:pt x="65050" y="159016"/>
                </a:lnTo>
                <a:lnTo>
                  <a:pt x="178484" y="18928"/>
                </a:lnTo>
                <a:lnTo>
                  <a:pt x="177538" y="9931"/>
                </a:lnTo>
                <a:lnTo>
                  <a:pt x="1652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496350" y="1846582"/>
            <a:ext cx="203200" cy="272415"/>
          </a:xfrm>
          <a:custGeom>
            <a:avLst/>
            <a:gdLst/>
            <a:ahLst/>
            <a:cxnLst/>
            <a:rect l="l" t="t" r="r" b="b"/>
            <a:pathLst>
              <a:path w="203200" h="272414">
                <a:moveTo>
                  <a:pt x="62066" y="60832"/>
                </a:moveTo>
                <a:lnTo>
                  <a:pt x="38981" y="77674"/>
                </a:lnTo>
                <a:lnTo>
                  <a:pt x="179664" y="270511"/>
                </a:lnTo>
                <a:lnTo>
                  <a:pt x="188602" y="271909"/>
                </a:lnTo>
                <a:lnTo>
                  <a:pt x="201352" y="262608"/>
                </a:lnTo>
                <a:lnTo>
                  <a:pt x="202749" y="253671"/>
                </a:lnTo>
                <a:lnTo>
                  <a:pt x="62066" y="60832"/>
                </a:lnTo>
                <a:close/>
              </a:path>
              <a:path w="203200" h="272414">
                <a:moveTo>
                  <a:pt x="0" y="0"/>
                </a:moveTo>
                <a:lnTo>
                  <a:pt x="15896" y="94515"/>
                </a:lnTo>
                <a:lnTo>
                  <a:pt x="38981" y="77674"/>
                </a:lnTo>
                <a:lnTo>
                  <a:pt x="25910" y="59757"/>
                </a:lnTo>
                <a:lnTo>
                  <a:pt x="27307" y="50819"/>
                </a:lnTo>
                <a:lnTo>
                  <a:pt x="40057" y="41518"/>
                </a:lnTo>
                <a:lnTo>
                  <a:pt x="80364" y="41518"/>
                </a:lnTo>
                <a:lnTo>
                  <a:pt x="0" y="0"/>
                </a:lnTo>
                <a:close/>
              </a:path>
              <a:path w="203200" h="272414">
                <a:moveTo>
                  <a:pt x="40057" y="41518"/>
                </a:moveTo>
                <a:lnTo>
                  <a:pt x="27307" y="50819"/>
                </a:lnTo>
                <a:lnTo>
                  <a:pt x="25910" y="59757"/>
                </a:lnTo>
                <a:lnTo>
                  <a:pt x="38981" y="77674"/>
                </a:lnTo>
                <a:lnTo>
                  <a:pt x="62066" y="60832"/>
                </a:lnTo>
                <a:lnTo>
                  <a:pt x="48995" y="42915"/>
                </a:lnTo>
                <a:lnTo>
                  <a:pt x="40057" y="41518"/>
                </a:lnTo>
                <a:close/>
              </a:path>
              <a:path w="203200" h="272414">
                <a:moveTo>
                  <a:pt x="80364" y="41518"/>
                </a:moveTo>
                <a:lnTo>
                  <a:pt x="40057" y="41518"/>
                </a:lnTo>
                <a:lnTo>
                  <a:pt x="48995" y="42915"/>
                </a:lnTo>
                <a:lnTo>
                  <a:pt x="62066" y="60832"/>
                </a:lnTo>
                <a:lnTo>
                  <a:pt x="85150" y="43991"/>
                </a:lnTo>
                <a:lnTo>
                  <a:pt x="80364" y="415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06402" y="1746129"/>
            <a:ext cx="542925" cy="85725"/>
          </a:xfrm>
          <a:custGeom>
            <a:avLst/>
            <a:gdLst/>
            <a:ahLst/>
            <a:cxnLst/>
            <a:rect l="l" t="t" r="r" b="b"/>
            <a:pathLst>
              <a:path w="542925" h="85725">
                <a:moveTo>
                  <a:pt x="514424" y="28503"/>
                </a:moveTo>
                <a:lnTo>
                  <a:pt x="479228" y="28503"/>
                </a:lnTo>
                <a:lnTo>
                  <a:pt x="485645" y="34880"/>
                </a:lnTo>
                <a:lnTo>
                  <a:pt x="485694" y="50661"/>
                </a:lnTo>
                <a:lnTo>
                  <a:pt x="479318" y="57078"/>
                </a:lnTo>
                <a:lnTo>
                  <a:pt x="457140" y="57149"/>
                </a:lnTo>
                <a:lnTo>
                  <a:pt x="457231" y="85725"/>
                </a:lnTo>
                <a:lnTo>
                  <a:pt x="542819" y="42588"/>
                </a:lnTo>
                <a:lnTo>
                  <a:pt x="514424" y="28503"/>
                </a:lnTo>
                <a:close/>
              </a:path>
              <a:path w="542925" h="85725">
                <a:moveTo>
                  <a:pt x="457049" y="28574"/>
                </a:moveTo>
                <a:lnTo>
                  <a:pt x="6376" y="30012"/>
                </a:lnTo>
                <a:lnTo>
                  <a:pt x="0" y="36429"/>
                </a:lnTo>
                <a:lnTo>
                  <a:pt x="50" y="52210"/>
                </a:lnTo>
                <a:lnTo>
                  <a:pt x="6468" y="58587"/>
                </a:lnTo>
                <a:lnTo>
                  <a:pt x="457140" y="57149"/>
                </a:lnTo>
                <a:lnTo>
                  <a:pt x="457049" y="28574"/>
                </a:lnTo>
                <a:close/>
              </a:path>
              <a:path w="542925" h="85725">
                <a:moveTo>
                  <a:pt x="479228" y="28503"/>
                </a:moveTo>
                <a:lnTo>
                  <a:pt x="457049" y="28574"/>
                </a:lnTo>
                <a:lnTo>
                  <a:pt x="457140" y="57149"/>
                </a:lnTo>
                <a:lnTo>
                  <a:pt x="479318" y="57078"/>
                </a:lnTo>
                <a:lnTo>
                  <a:pt x="485694" y="50661"/>
                </a:lnTo>
                <a:lnTo>
                  <a:pt x="485645" y="34880"/>
                </a:lnTo>
                <a:lnTo>
                  <a:pt x="479228" y="28503"/>
                </a:lnTo>
                <a:close/>
              </a:path>
              <a:path w="542925" h="85725">
                <a:moveTo>
                  <a:pt x="456958" y="0"/>
                </a:moveTo>
                <a:lnTo>
                  <a:pt x="457049" y="28574"/>
                </a:lnTo>
                <a:lnTo>
                  <a:pt x="514424" y="28503"/>
                </a:lnTo>
                <a:lnTo>
                  <a:pt x="4569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130419" y="1657182"/>
            <a:ext cx="1437005" cy="829310"/>
          </a:xfrm>
          <a:prstGeom prst="rect">
            <a:avLst/>
          </a:prstGeom>
          <a:ln w="222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  <a:spcBef>
                <a:spcPts val="1165"/>
              </a:spcBef>
            </a:pPr>
            <a:r>
              <a:rPr dirty="0" sz="1400" spc="-10" b="1">
                <a:latin typeface="Arial"/>
                <a:cs typeface="Arial"/>
              </a:rPr>
              <a:t>3-Subgraph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54240" y="161188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40409" y="187096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80807" y="3067033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4" y="6243"/>
                </a:lnTo>
                <a:lnTo>
                  <a:pt x="24363" y="23269"/>
                </a:lnTo>
                <a:lnTo>
                  <a:pt x="6536" y="48523"/>
                </a:lnTo>
                <a:lnTo>
                  <a:pt x="0" y="79447"/>
                </a:lnTo>
                <a:lnTo>
                  <a:pt x="6536" y="110372"/>
                </a:lnTo>
                <a:lnTo>
                  <a:pt x="24363" y="135626"/>
                </a:lnTo>
                <a:lnTo>
                  <a:pt x="50804" y="152652"/>
                </a:lnTo>
                <a:lnTo>
                  <a:pt x="83182" y="158896"/>
                </a:lnTo>
                <a:lnTo>
                  <a:pt x="115561" y="152652"/>
                </a:lnTo>
                <a:lnTo>
                  <a:pt x="142001" y="135626"/>
                </a:lnTo>
                <a:lnTo>
                  <a:pt x="159828" y="110372"/>
                </a:lnTo>
                <a:lnTo>
                  <a:pt x="166364" y="79447"/>
                </a:lnTo>
                <a:lnTo>
                  <a:pt x="159828" y="48523"/>
                </a:lnTo>
                <a:lnTo>
                  <a:pt x="142001" y="23269"/>
                </a:lnTo>
                <a:lnTo>
                  <a:pt x="115561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FFE1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780807" y="3067033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083519" y="2802209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4" y="6243"/>
                </a:lnTo>
                <a:lnTo>
                  <a:pt x="24363" y="23269"/>
                </a:lnTo>
                <a:lnTo>
                  <a:pt x="6536" y="48523"/>
                </a:lnTo>
                <a:lnTo>
                  <a:pt x="0" y="79447"/>
                </a:lnTo>
                <a:lnTo>
                  <a:pt x="6536" y="110371"/>
                </a:lnTo>
                <a:lnTo>
                  <a:pt x="24363" y="135625"/>
                </a:lnTo>
                <a:lnTo>
                  <a:pt x="50804" y="152651"/>
                </a:lnTo>
                <a:lnTo>
                  <a:pt x="83182" y="158894"/>
                </a:lnTo>
                <a:lnTo>
                  <a:pt x="115561" y="152651"/>
                </a:lnTo>
                <a:lnTo>
                  <a:pt x="142001" y="135625"/>
                </a:lnTo>
                <a:lnTo>
                  <a:pt x="159828" y="110371"/>
                </a:lnTo>
                <a:lnTo>
                  <a:pt x="166364" y="79447"/>
                </a:lnTo>
                <a:lnTo>
                  <a:pt x="159828" y="48523"/>
                </a:lnTo>
                <a:lnTo>
                  <a:pt x="142001" y="23269"/>
                </a:lnTo>
                <a:lnTo>
                  <a:pt x="115561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083519" y="2802209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529956" y="2802209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4" y="6243"/>
                </a:lnTo>
                <a:lnTo>
                  <a:pt x="24363" y="23269"/>
                </a:lnTo>
                <a:lnTo>
                  <a:pt x="6536" y="48523"/>
                </a:lnTo>
                <a:lnTo>
                  <a:pt x="0" y="79447"/>
                </a:lnTo>
                <a:lnTo>
                  <a:pt x="6536" y="110371"/>
                </a:lnTo>
                <a:lnTo>
                  <a:pt x="24363" y="135625"/>
                </a:lnTo>
                <a:lnTo>
                  <a:pt x="50804" y="152651"/>
                </a:lnTo>
                <a:lnTo>
                  <a:pt x="83182" y="158894"/>
                </a:lnTo>
                <a:lnTo>
                  <a:pt x="115561" y="152651"/>
                </a:lnTo>
                <a:lnTo>
                  <a:pt x="142001" y="135625"/>
                </a:lnTo>
                <a:lnTo>
                  <a:pt x="159828" y="110371"/>
                </a:lnTo>
                <a:lnTo>
                  <a:pt x="166364" y="79447"/>
                </a:lnTo>
                <a:lnTo>
                  <a:pt x="159828" y="48523"/>
                </a:lnTo>
                <a:lnTo>
                  <a:pt x="142001" y="23269"/>
                </a:lnTo>
                <a:lnTo>
                  <a:pt x="115561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FFE1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529956" y="2802209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810009" y="3067033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3" y="6243"/>
                </a:lnTo>
                <a:lnTo>
                  <a:pt x="24363" y="23269"/>
                </a:lnTo>
                <a:lnTo>
                  <a:pt x="6536" y="48523"/>
                </a:lnTo>
                <a:lnTo>
                  <a:pt x="0" y="79447"/>
                </a:lnTo>
                <a:lnTo>
                  <a:pt x="6536" y="110372"/>
                </a:lnTo>
                <a:lnTo>
                  <a:pt x="24363" y="135626"/>
                </a:lnTo>
                <a:lnTo>
                  <a:pt x="50803" y="152652"/>
                </a:lnTo>
                <a:lnTo>
                  <a:pt x="83182" y="158896"/>
                </a:lnTo>
                <a:lnTo>
                  <a:pt x="115560" y="152652"/>
                </a:lnTo>
                <a:lnTo>
                  <a:pt x="142001" y="135626"/>
                </a:lnTo>
                <a:lnTo>
                  <a:pt x="159827" y="110372"/>
                </a:lnTo>
                <a:lnTo>
                  <a:pt x="166364" y="79447"/>
                </a:lnTo>
                <a:lnTo>
                  <a:pt x="159827" y="48523"/>
                </a:lnTo>
                <a:lnTo>
                  <a:pt x="142001" y="23269"/>
                </a:lnTo>
                <a:lnTo>
                  <a:pt x="115560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FFE1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810009" y="3067033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906765" y="2937833"/>
            <a:ext cx="201295" cy="168910"/>
          </a:xfrm>
          <a:custGeom>
            <a:avLst/>
            <a:gdLst/>
            <a:ahLst/>
            <a:cxnLst/>
            <a:rect l="l" t="t" r="r" b="b"/>
            <a:pathLst>
              <a:path w="201295" h="168910">
                <a:moveTo>
                  <a:pt x="125870" y="43480"/>
                </a:moveTo>
                <a:lnTo>
                  <a:pt x="868" y="146460"/>
                </a:lnTo>
                <a:lnTo>
                  <a:pt x="0" y="155464"/>
                </a:lnTo>
                <a:lnTo>
                  <a:pt x="10034" y="167645"/>
                </a:lnTo>
                <a:lnTo>
                  <a:pt x="19038" y="168515"/>
                </a:lnTo>
                <a:lnTo>
                  <a:pt x="144039" y="65534"/>
                </a:lnTo>
                <a:lnTo>
                  <a:pt x="125870" y="43480"/>
                </a:lnTo>
                <a:close/>
              </a:path>
              <a:path w="201295" h="168910">
                <a:moveTo>
                  <a:pt x="188067" y="29378"/>
                </a:moveTo>
                <a:lnTo>
                  <a:pt x="142988" y="29378"/>
                </a:lnTo>
                <a:lnTo>
                  <a:pt x="151992" y="30248"/>
                </a:lnTo>
                <a:lnTo>
                  <a:pt x="162026" y="42429"/>
                </a:lnTo>
                <a:lnTo>
                  <a:pt x="161156" y="51433"/>
                </a:lnTo>
                <a:lnTo>
                  <a:pt x="144039" y="65534"/>
                </a:lnTo>
                <a:lnTo>
                  <a:pt x="162209" y="87589"/>
                </a:lnTo>
                <a:lnTo>
                  <a:pt x="188067" y="29378"/>
                </a:lnTo>
                <a:close/>
              </a:path>
              <a:path w="201295" h="168910">
                <a:moveTo>
                  <a:pt x="142988" y="29378"/>
                </a:moveTo>
                <a:lnTo>
                  <a:pt x="125870" y="43480"/>
                </a:lnTo>
                <a:lnTo>
                  <a:pt x="144039" y="65534"/>
                </a:lnTo>
                <a:lnTo>
                  <a:pt x="161156" y="51433"/>
                </a:lnTo>
                <a:lnTo>
                  <a:pt x="162026" y="42429"/>
                </a:lnTo>
                <a:lnTo>
                  <a:pt x="151992" y="30248"/>
                </a:lnTo>
                <a:lnTo>
                  <a:pt x="142988" y="29378"/>
                </a:lnTo>
                <a:close/>
              </a:path>
              <a:path w="201295" h="168910">
                <a:moveTo>
                  <a:pt x="201118" y="0"/>
                </a:moveTo>
                <a:lnTo>
                  <a:pt x="107701" y="21426"/>
                </a:lnTo>
                <a:lnTo>
                  <a:pt x="125870" y="43480"/>
                </a:lnTo>
                <a:lnTo>
                  <a:pt x="142988" y="29378"/>
                </a:lnTo>
                <a:lnTo>
                  <a:pt x="188067" y="29378"/>
                </a:lnTo>
                <a:lnTo>
                  <a:pt x="201118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235597" y="2838794"/>
            <a:ext cx="294640" cy="85725"/>
          </a:xfrm>
          <a:custGeom>
            <a:avLst/>
            <a:gdLst/>
            <a:ahLst/>
            <a:cxnLst/>
            <a:rect l="l" t="t" r="r" b="b"/>
            <a:pathLst>
              <a:path w="294640" h="85725">
                <a:moveTo>
                  <a:pt x="208634" y="57149"/>
                </a:moveTo>
                <a:lnTo>
                  <a:pt x="208634" y="85725"/>
                </a:lnTo>
                <a:lnTo>
                  <a:pt x="265784" y="57150"/>
                </a:lnTo>
                <a:lnTo>
                  <a:pt x="208634" y="57149"/>
                </a:lnTo>
                <a:close/>
              </a:path>
              <a:path w="294640" h="85725">
                <a:moveTo>
                  <a:pt x="208634" y="28574"/>
                </a:moveTo>
                <a:lnTo>
                  <a:pt x="208634" y="57149"/>
                </a:lnTo>
                <a:lnTo>
                  <a:pt x="230813" y="57148"/>
                </a:lnTo>
                <a:lnTo>
                  <a:pt x="237209" y="50753"/>
                </a:lnTo>
                <a:lnTo>
                  <a:pt x="237208" y="34970"/>
                </a:lnTo>
                <a:lnTo>
                  <a:pt x="230812" y="28575"/>
                </a:lnTo>
                <a:lnTo>
                  <a:pt x="208634" y="28574"/>
                </a:lnTo>
                <a:close/>
              </a:path>
              <a:path w="294640" h="85725">
                <a:moveTo>
                  <a:pt x="208634" y="0"/>
                </a:moveTo>
                <a:lnTo>
                  <a:pt x="208634" y="28574"/>
                </a:lnTo>
                <a:lnTo>
                  <a:pt x="222921" y="28575"/>
                </a:lnTo>
                <a:lnTo>
                  <a:pt x="230812" y="28575"/>
                </a:lnTo>
                <a:lnTo>
                  <a:pt x="237208" y="34970"/>
                </a:lnTo>
                <a:lnTo>
                  <a:pt x="237209" y="50753"/>
                </a:lnTo>
                <a:lnTo>
                  <a:pt x="230812" y="57150"/>
                </a:lnTo>
                <a:lnTo>
                  <a:pt x="265786" y="57148"/>
                </a:lnTo>
                <a:lnTo>
                  <a:pt x="294359" y="42862"/>
                </a:lnTo>
                <a:lnTo>
                  <a:pt x="208634" y="0"/>
                </a:lnTo>
                <a:close/>
              </a:path>
              <a:path w="294640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0" y="50753"/>
                </a:lnTo>
                <a:lnTo>
                  <a:pt x="6396" y="57148"/>
                </a:lnTo>
                <a:lnTo>
                  <a:pt x="208634" y="57149"/>
                </a:lnTo>
                <a:lnTo>
                  <a:pt x="208634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656141" y="2922016"/>
            <a:ext cx="178435" cy="168910"/>
          </a:xfrm>
          <a:custGeom>
            <a:avLst/>
            <a:gdLst/>
            <a:ahLst/>
            <a:cxnLst/>
            <a:rect l="l" t="t" r="r" b="b"/>
            <a:pathLst>
              <a:path w="178434" h="168910">
                <a:moveTo>
                  <a:pt x="105952" y="120031"/>
                </a:moveTo>
                <a:lnTo>
                  <a:pt x="86395" y="140864"/>
                </a:lnTo>
                <a:lnTo>
                  <a:pt x="178231" y="168287"/>
                </a:lnTo>
                <a:lnTo>
                  <a:pt x="166033" y="135211"/>
                </a:lnTo>
                <a:lnTo>
                  <a:pt x="122123" y="135211"/>
                </a:lnTo>
                <a:lnTo>
                  <a:pt x="105952" y="120031"/>
                </a:lnTo>
                <a:close/>
              </a:path>
              <a:path w="178434" h="168910">
                <a:moveTo>
                  <a:pt x="125510" y="99198"/>
                </a:moveTo>
                <a:lnTo>
                  <a:pt x="105952" y="120031"/>
                </a:lnTo>
                <a:lnTo>
                  <a:pt x="122123" y="135211"/>
                </a:lnTo>
                <a:lnTo>
                  <a:pt x="131164" y="134926"/>
                </a:lnTo>
                <a:lnTo>
                  <a:pt x="141965" y="123419"/>
                </a:lnTo>
                <a:lnTo>
                  <a:pt x="141679" y="114377"/>
                </a:lnTo>
                <a:lnTo>
                  <a:pt x="125510" y="99198"/>
                </a:lnTo>
                <a:close/>
              </a:path>
              <a:path w="178434" h="168910">
                <a:moveTo>
                  <a:pt x="145068" y="78365"/>
                </a:moveTo>
                <a:lnTo>
                  <a:pt x="125510" y="99198"/>
                </a:lnTo>
                <a:lnTo>
                  <a:pt x="141679" y="114377"/>
                </a:lnTo>
                <a:lnTo>
                  <a:pt x="141965" y="123419"/>
                </a:lnTo>
                <a:lnTo>
                  <a:pt x="131164" y="134926"/>
                </a:lnTo>
                <a:lnTo>
                  <a:pt x="122123" y="135211"/>
                </a:lnTo>
                <a:lnTo>
                  <a:pt x="166033" y="135211"/>
                </a:lnTo>
                <a:lnTo>
                  <a:pt x="145068" y="78365"/>
                </a:lnTo>
                <a:close/>
              </a:path>
              <a:path w="178434" h="168910">
                <a:moveTo>
                  <a:pt x="19842" y="0"/>
                </a:moveTo>
                <a:lnTo>
                  <a:pt x="10801" y="285"/>
                </a:lnTo>
                <a:lnTo>
                  <a:pt x="0" y="11791"/>
                </a:lnTo>
                <a:lnTo>
                  <a:pt x="284" y="20834"/>
                </a:lnTo>
                <a:lnTo>
                  <a:pt x="105952" y="120031"/>
                </a:lnTo>
                <a:lnTo>
                  <a:pt x="125510" y="99198"/>
                </a:lnTo>
                <a:lnTo>
                  <a:pt x="1984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123842" y="2946816"/>
            <a:ext cx="85725" cy="433705"/>
          </a:xfrm>
          <a:custGeom>
            <a:avLst/>
            <a:gdLst/>
            <a:ahLst/>
            <a:cxnLst/>
            <a:rect l="l" t="t" r="r" b="b"/>
            <a:pathLst>
              <a:path w="85725" h="433704">
                <a:moveTo>
                  <a:pt x="28574" y="347428"/>
                </a:moveTo>
                <a:lnTo>
                  <a:pt x="0" y="347428"/>
                </a:lnTo>
                <a:lnTo>
                  <a:pt x="42862" y="433153"/>
                </a:lnTo>
                <a:lnTo>
                  <a:pt x="71437" y="376003"/>
                </a:lnTo>
                <a:lnTo>
                  <a:pt x="34971" y="376003"/>
                </a:lnTo>
                <a:lnTo>
                  <a:pt x="28575" y="369606"/>
                </a:lnTo>
                <a:lnTo>
                  <a:pt x="28574" y="347428"/>
                </a:lnTo>
                <a:close/>
              </a:path>
              <a:path w="85725" h="433704">
                <a:moveTo>
                  <a:pt x="57149" y="347427"/>
                </a:moveTo>
                <a:lnTo>
                  <a:pt x="28574" y="347428"/>
                </a:lnTo>
                <a:lnTo>
                  <a:pt x="28575" y="369606"/>
                </a:lnTo>
                <a:lnTo>
                  <a:pt x="34971" y="376003"/>
                </a:lnTo>
                <a:lnTo>
                  <a:pt x="50753" y="376003"/>
                </a:lnTo>
                <a:lnTo>
                  <a:pt x="57150" y="369606"/>
                </a:lnTo>
                <a:lnTo>
                  <a:pt x="57149" y="347427"/>
                </a:lnTo>
                <a:close/>
              </a:path>
              <a:path w="85725" h="433704">
                <a:moveTo>
                  <a:pt x="85725" y="347427"/>
                </a:moveTo>
                <a:lnTo>
                  <a:pt x="57149" y="347427"/>
                </a:lnTo>
                <a:lnTo>
                  <a:pt x="57150" y="369606"/>
                </a:lnTo>
                <a:lnTo>
                  <a:pt x="50753" y="376003"/>
                </a:lnTo>
                <a:lnTo>
                  <a:pt x="71437" y="376003"/>
                </a:lnTo>
                <a:lnTo>
                  <a:pt x="85725" y="347427"/>
                </a:lnTo>
                <a:close/>
              </a:path>
              <a:path w="85725" h="433704">
                <a:moveTo>
                  <a:pt x="50753" y="0"/>
                </a:moveTo>
                <a:lnTo>
                  <a:pt x="34970" y="0"/>
                </a:lnTo>
                <a:lnTo>
                  <a:pt x="28573" y="6396"/>
                </a:lnTo>
                <a:lnTo>
                  <a:pt x="28574" y="347428"/>
                </a:lnTo>
                <a:lnTo>
                  <a:pt x="57149" y="347427"/>
                </a:lnTo>
                <a:lnTo>
                  <a:pt x="57148" y="6396"/>
                </a:lnTo>
                <a:lnTo>
                  <a:pt x="50753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922809" y="3202659"/>
            <a:ext cx="215265" cy="231140"/>
          </a:xfrm>
          <a:custGeom>
            <a:avLst/>
            <a:gdLst/>
            <a:ahLst/>
            <a:cxnLst/>
            <a:rect l="l" t="t" r="r" b="b"/>
            <a:pathLst>
              <a:path w="215264" h="231139">
                <a:moveTo>
                  <a:pt x="144892" y="112550"/>
                </a:moveTo>
                <a:lnTo>
                  <a:pt x="100556" y="153459"/>
                </a:lnTo>
                <a:lnTo>
                  <a:pt x="162906" y="221032"/>
                </a:lnTo>
                <a:lnTo>
                  <a:pt x="172610" y="228053"/>
                </a:lnTo>
                <a:lnTo>
                  <a:pt x="183863" y="230716"/>
                </a:lnTo>
                <a:lnTo>
                  <a:pt x="195293" y="228966"/>
                </a:lnTo>
                <a:lnTo>
                  <a:pt x="205529" y="222746"/>
                </a:lnTo>
                <a:lnTo>
                  <a:pt x="212550" y="213042"/>
                </a:lnTo>
                <a:lnTo>
                  <a:pt x="215213" y="201790"/>
                </a:lnTo>
                <a:lnTo>
                  <a:pt x="213462" y="190360"/>
                </a:lnTo>
                <a:lnTo>
                  <a:pt x="207242" y="180124"/>
                </a:lnTo>
                <a:lnTo>
                  <a:pt x="144892" y="112550"/>
                </a:lnTo>
                <a:close/>
              </a:path>
              <a:path w="215264" h="231139">
                <a:moveTo>
                  <a:pt x="0" y="0"/>
                </a:moveTo>
                <a:lnTo>
                  <a:pt x="56221" y="194367"/>
                </a:lnTo>
                <a:lnTo>
                  <a:pt x="100556" y="153459"/>
                </a:lnTo>
                <a:lnTo>
                  <a:pt x="80102" y="131291"/>
                </a:lnTo>
                <a:lnTo>
                  <a:pt x="73882" y="121055"/>
                </a:lnTo>
                <a:lnTo>
                  <a:pt x="92052" y="82450"/>
                </a:lnTo>
                <a:lnTo>
                  <a:pt x="103482" y="80699"/>
                </a:lnTo>
                <a:lnTo>
                  <a:pt x="179412" y="80699"/>
                </a:lnTo>
                <a:lnTo>
                  <a:pt x="189227" y="71643"/>
                </a:lnTo>
                <a:lnTo>
                  <a:pt x="0" y="0"/>
                </a:lnTo>
                <a:close/>
              </a:path>
              <a:path w="215264" h="231139">
                <a:moveTo>
                  <a:pt x="103482" y="80699"/>
                </a:moveTo>
                <a:lnTo>
                  <a:pt x="92052" y="82450"/>
                </a:lnTo>
                <a:lnTo>
                  <a:pt x="81815" y="88670"/>
                </a:lnTo>
                <a:lnTo>
                  <a:pt x="74794" y="98373"/>
                </a:lnTo>
                <a:lnTo>
                  <a:pt x="72132" y="109625"/>
                </a:lnTo>
                <a:lnTo>
                  <a:pt x="73882" y="121055"/>
                </a:lnTo>
                <a:lnTo>
                  <a:pt x="80102" y="131291"/>
                </a:lnTo>
                <a:lnTo>
                  <a:pt x="100556" y="153459"/>
                </a:lnTo>
                <a:lnTo>
                  <a:pt x="144892" y="112550"/>
                </a:lnTo>
                <a:lnTo>
                  <a:pt x="124438" y="90383"/>
                </a:lnTo>
                <a:lnTo>
                  <a:pt x="114734" y="83362"/>
                </a:lnTo>
                <a:lnTo>
                  <a:pt x="103482" y="80699"/>
                </a:lnTo>
                <a:close/>
              </a:path>
              <a:path w="215264" h="231139">
                <a:moveTo>
                  <a:pt x="179412" y="80699"/>
                </a:moveTo>
                <a:lnTo>
                  <a:pt x="103482" y="80699"/>
                </a:lnTo>
                <a:lnTo>
                  <a:pt x="114734" y="83362"/>
                </a:lnTo>
                <a:lnTo>
                  <a:pt x="124438" y="90383"/>
                </a:lnTo>
                <a:lnTo>
                  <a:pt x="144892" y="112550"/>
                </a:lnTo>
                <a:lnTo>
                  <a:pt x="179412" y="80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249884" y="3368930"/>
            <a:ext cx="310515" cy="180975"/>
          </a:xfrm>
          <a:custGeom>
            <a:avLst/>
            <a:gdLst/>
            <a:ahLst/>
            <a:cxnLst/>
            <a:rect l="l" t="t" r="r" b="b"/>
            <a:pathLst>
              <a:path w="310515" h="180975">
                <a:moveTo>
                  <a:pt x="180975" y="0"/>
                </a:moveTo>
                <a:lnTo>
                  <a:pt x="0" y="90487"/>
                </a:lnTo>
                <a:lnTo>
                  <a:pt x="180975" y="180975"/>
                </a:lnTo>
                <a:lnTo>
                  <a:pt x="180975" y="120650"/>
                </a:lnTo>
                <a:lnTo>
                  <a:pt x="150806" y="120648"/>
                </a:lnTo>
                <a:lnTo>
                  <a:pt x="139070" y="118278"/>
                </a:lnTo>
                <a:lnTo>
                  <a:pt x="129483" y="111814"/>
                </a:lnTo>
                <a:lnTo>
                  <a:pt x="123020" y="102226"/>
                </a:lnTo>
                <a:lnTo>
                  <a:pt x="120650" y="90486"/>
                </a:lnTo>
                <a:lnTo>
                  <a:pt x="123020" y="78746"/>
                </a:lnTo>
                <a:lnTo>
                  <a:pt x="129485" y="69158"/>
                </a:lnTo>
                <a:lnTo>
                  <a:pt x="139077" y="62694"/>
                </a:lnTo>
                <a:lnTo>
                  <a:pt x="150812" y="60325"/>
                </a:lnTo>
                <a:lnTo>
                  <a:pt x="180975" y="60324"/>
                </a:lnTo>
                <a:lnTo>
                  <a:pt x="180975" y="0"/>
                </a:lnTo>
                <a:close/>
              </a:path>
              <a:path w="310515" h="180975">
                <a:moveTo>
                  <a:pt x="180975" y="60324"/>
                </a:moveTo>
                <a:lnTo>
                  <a:pt x="139071" y="62695"/>
                </a:lnTo>
                <a:lnTo>
                  <a:pt x="120650" y="90487"/>
                </a:lnTo>
                <a:lnTo>
                  <a:pt x="123020" y="102228"/>
                </a:lnTo>
                <a:lnTo>
                  <a:pt x="129484" y="111815"/>
                </a:lnTo>
                <a:lnTo>
                  <a:pt x="139072" y="118279"/>
                </a:lnTo>
                <a:lnTo>
                  <a:pt x="150812" y="120650"/>
                </a:lnTo>
                <a:lnTo>
                  <a:pt x="180975" y="120649"/>
                </a:lnTo>
                <a:lnTo>
                  <a:pt x="180975" y="60324"/>
                </a:lnTo>
                <a:close/>
              </a:path>
              <a:path w="310515" h="180975">
                <a:moveTo>
                  <a:pt x="180975" y="120649"/>
                </a:moveTo>
                <a:lnTo>
                  <a:pt x="150812" y="120650"/>
                </a:lnTo>
                <a:lnTo>
                  <a:pt x="180975" y="120650"/>
                </a:lnTo>
                <a:close/>
              </a:path>
              <a:path w="310515" h="180975">
                <a:moveTo>
                  <a:pt x="280070" y="60323"/>
                </a:moveTo>
                <a:lnTo>
                  <a:pt x="180975" y="60324"/>
                </a:lnTo>
                <a:lnTo>
                  <a:pt x="180975" y="120649"/>
                </a:lnTo>
                <a:lnTo>
                  <a:pt x="280071" y="120648"/>
                </a:lnTo>
                <a:lnTo>
                  <a:pt x="310234" y="90486"/>
                </a:lnTo>
                <a:lnTo>
                  <a:pt x="307863" y="78746"/>
                </a:lnTo>
                <a:lnTo>
                  <a:pt x="301398" y="69158"/>
                </a:lnTo>
                <a:lnTo>
                  <a:pt x="291811" y="62694"/>
                </a:lnTo>
                <a:lnTo>
                  <a:pt x="280070" y="603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671957" y="3186588"/>
            <a:ext cx="179070" cy="217170"/>
          </a:xfrm>
          <a:custGeom>
            <a:avLst/>
            <a:gdLst/>
            <a:ahLst/>
            <a:cxnLst/>
            <a:rect l="l" t="t" r="r" b="b"/>
            <a:pathLst>
              <a:path w="179070" h="217170">
                <a:moveTo>
                  <a:pt x="20634" y="123052"/>
                </a:moveTo>
                <a:lnTo>
                  <a:pt x="0" y="216649"/>
                </a:lnTo>
                <a:lnTo>
                  <a:pt x="86819" y="177199"/>
                </a:lnTo>
                <a:lnTo>
                  <a:pt x="42096" y="177199"/>
                </a:lnTo>
                <a:lnTo>
                  <a:pt x="29832" y="167267"/>
                </a:lnTo>
                <a:lnTo>
                  <a:pt x="28886" y="158271"/>
                </a:lnTo>
                <a:lnTo>
                  <a:pt x="42842" y="141035"/>
                </a:lnTo>
                <a:lnTo>
                  <a:pt x="20634" y="123052"/>
                </a:lnTo>
                <a:close/>
              </a:path>
              <a:path w="179070" h="217170">
                <a:moveTo>
                  <a:pt x="42842" y="141035"/>
                </a:moveTo>
                <a:lnTo>
                  <a:pt x="28886" y="158271"/>
                </a:lnTo>
                <a:lnTo>
                  <a:pt x="29832" y="167267"/>
                </a:lnTo>
                <a:lnTo>
                  <a:pt x="42096" y="177199"/>
                </a:lnTo>
                <a:lnTo>
                  <a:pt x="51093" y="176253"/>
                </a:lnTo>
                <a:lnTo>
                  <a:pt x="65049" y="159017"/>
                </a:lnTo>
                <a:lnTo>
                  <a:pt x="42842" y="141035"/>
                </a:lnTo>
                <a:close/>
              </a:path>
              <a:path w="179070" h="217170">
                <a:moveTo>
                  <a:pt x="65049" y="159017"/>
                </a:moveTo>
                <a:lnTo>
                  <a:pt x="51093" y="176253"/>
                </a:lnTo>
                <a:lnTo>
                  <a:pt x="42096" y="177199"/>
                </a:lnTo>
                <a:lnTo>
                  <a:pt x="86819" y="177199"/>
                </a:lnTo>
                <a:lnTo>
                  <a:pt x="87257" y="176999"/>
                </a:lnTo>
                <a:lnTo>
                  <a:pt x="65049" y="159017"/>
                </a:lnTo>
                <a:close/>
              </a:path>
              <a:path w="179070" h="217170">
                <a:moveTo>
                  <a:pt x="165273" y="0"/>
                </a:moveTo>
                <a:lnTo>
                  <a:pt x="156277" y="946"/>
                </a:lnTo>
                <a:lnTo>
                  <a:pt x="42842" y="141035"/>
                </a:lnTo>
                <a:lnTo>
                  <a:pt x="65049" y="159017"/>
                </a:lnTo>
                <a:lnTo>
                  <a:pt x="178484" y="18928"/>
                </a:lnTo>
                <a:lnTo>
                  <a:pt x="177538" y="9931"/>
                </a:lnTo>
                <a:lnTo>
                  <a:pt x="165273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6099100" y="2355595"/>
            <a:ext cx="61658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800"/>
              </a:lnSpc>
              <a:spcBef>
                <a:spcPts val="100"/>
              </a:spcBef>
              <a:tabLst>
                <a:tab pos="476250" algn="l"/>
              </a:tabLst>
            </a:pPr>
            <a:r>
              <a:rPr dirty="0" sz="1800">
                <a:latin typeface="Arial"/>
                <a:cs typeface="Arial"/>
              </a:rPr>
              <a:t>4	5</a:t>
            </a:r>
            <a:endParaRPr sz="1800">
              <a:latin typeface="Arial"/>
              <a:cs typeface="Arial"/>
            </a:endParaRPr>
          </a:p>
          <a:p>
            <a:pPr marL="42545">
              <a:lnSpc>
                <a:spcPts val="1800"/>
              </a:lnSpc>
              <a:tabLst>
                <a:tab pos="466725" algn="l"/>
              </a:tabLst>
            </a:pPr>
            <a:r>
              <a:rPr dirty="0" baseline="1543" sz="2700">
                <a:solidFill>
                  <a:srgbClr val="A6A6A6"/>
                </a:solidFill>
                <a:latin typeface="Arial"/>
                <a:cs typeface="Arial"/>
              </a:rPr>
              <a:t>1	</a:t>
            </a:r>
            <a:r>
              <a:rPr dirty="0" sz="1800">
                <a:solidFill>
                  <a:srgbClr val="A6A6A6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643175" y="304139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412047" y="2876518"/>
            <a:ext cx="201295" cy="168910"/>
          </a:xfrm>
          <a:custGeom>
            <a:avLst/>
            <a:gdLst/>
            <a:ahLst/>
            <a:cxnLst/>
            <a:rect l="l" t="t" r="r" b="b"/>
            <a:pathLst>
              <a:path w="201295" h="168910">
                <a:moveTo>
                  <a:pt x="125870" y="43479"/>
                </a:moveTo>
                <a:lnTo>
                  <a:pt x="869" y="146460"/>
                </a:lnTo>
                <a:lnTo>
                  <a:pt x="0" y="155464"/>
                </a:lnTo>
                <a:lnTo>
                  <a:pt x="10034" y="167645"/>
                </a:lnTo>
                <a:lnTo>
                  <a:pt x="19038" y="168513"/>
                </a:lnTo>
                <a:lnTo>
                  <a:pt x="144040" y="65534"/>
                </a:lnTo>
                <a:lnTo>
                  <a:pt x="125870" y="43479"/>
                </a:lnTo>
                <a:close/>
              </a:path>
              <a:path w="201295" h="168910">
                <a:moveTo>
                  <a:pt x="188069" y="29377"/>
                </a:moveTo>
                <a:lnTo>
                  <a:pt x="142988" y="29377"/>
                </a:lnTo>
                <a:lnTo>
                  <a:pt x="151992" y="30247"/>
                </a:lnTo>
                <a:lnTo>
                  <a:pt x="162026" y="42428"/>
                </a:lnTo>
                <a:lnTo>
                  <a:pt x="161157" y="51432"/>
                </a:lnTo>
                <a:lnTo>
                  <a:pt x="144040" y="65534"/>
                </a:lnTo>
                <a:lnTo>
                  <a:pt x="162209" y="87589"/>
                </a:lnTo>
                <a:lnTo>
                  <a:pt x="188069" y="29377"/>
                </a:lnTo>
                <a:close/>
              </a:path>
              <a:path w="201295" h="168910">
                <a:moveTo>
                  <a:pt x="142988" y="29377"/>
                </a:moveTo>
                <a:lnTo>
                  <a:pt x="125870" y="43479"/>
                </a:lnTo>
                <a:lnTo>
                  <a:pt x="144040" y="65534"/>
                </a:lnTo>
                <a:lnTo>
                  <a:pt x="161157" y="51432"/>
                </a:lnTo>
                <a:lnTo>
                  <a:pt x="162026" y="42428"/>
                </a:lnTo>
                <a:lnTo>
                  <a:pt x="151992" y="30247"/>
                </a:lnTo>
                <a:lnTo>
                  <a:pt x="142988" y="29377"/>
                </a:lnTo>
                <a:close/>
              </a:path>
              <a:path w="201295" h="168910">
                <a:moveTo>
                  <a:pt x="201119" y="0"/>
                </a:moveTo>
                <a:lnTo>
                  <a:pt x="107701" y="21424"/>
                </a:lnTo>
                <a:lnTo>
                  <a:pt x="125870" y="43479"/>
                </a:lnTo>
                <a:lnTo>
                  <a:pt x="142988" y="29377"/>
                </a:lnTo>
                <a:lnTo>
                  <a:pt x="188069" y="29377"/>
                </a:lnTo>
                <a:lnTo>
                  <a:pt x="201119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740880" y="2777478"/>
            <a:ext cx="294640" cy="85725"/>
          </a:xfrm>
          <a:custGeom>
            <a:avLst/>
            <a:gdLst/>
            <a:ahLst/>
            <a:cxnLst/>
            <a:rect l="l" t="t" r="r" b="b"/>
            <a:pathLst>
              <a:path w="294640" h="85725">
                <a:moveTo>
                  <a:pt x="208633" y="57149"/>
                </a:moveTo>
                <a:lnTo>
                  <a:pt x="208633" y="85725"/>
                </a:lnTo>
                <a:lnTo>
                  <a:pt x="265783" y="57150"/>
                </a:lnTo>
                <a:lnTo>
                  <a:pt x="208633" y="57149"/>
                </a:lnTo>
                <a:close/>
              </a:path>
              <a:path w="294640" h="85725">
                <a:moveTo>
                  <a:pt x="208633" y="28574"/>
                </a:moveTo>
                <a:lnTo>
                  <a:pt x="208633" y="57149"/>
                </a:lnTo>
                <a:lnTo>
                  <a:pt x="230812" y="57148"/>
                </a:lnTo>
                <a:lnTo>
                  <a:pt x="237208" y="50753"/>
                </a:lnTo>
                <a:lnTo>
                  <a:pt x="237206" y="34970"/>
                </a:lnTo>
                <a:lnTo>
                  <a:pt x="230811" y="28575"/>
                </a:lnTo>
                <a:lnTo>
                  <a:pt x="208633" y="28574"/>
                </a:lnTo>
                <a:close/>
              </a:path>
              <a:path w="294640" h="85725">
                <a:moveTo>
                  <a:pt x="208633" y="0"/>
                </a:moveTo>
                <a:lnTo>
                  <a:pt x="208633" y="28574"/>
                </a:lnTo>
                <a:lnTo>
                  <a:pt x="222920" y="28575"/>
                </a:lnTo>
                <a:lnTo>
                  <a:pt x="230811" y="28575"/>
                </a:lnTo>
                <a:lnTo>
                  <a:pt x="237206" y="34970"/>
                </a:lnTo>
                <a:lnTo>
                  <a:pt x="237208" y="50753"/>
                </a:lnTo>
                <a:lnTo>
                  <a:pt x="230811" y="57150"/>
                </a:lnTo>
                <a:lnTo>
                  <a:pt x="265785" y="57148"/>
                </a:lnTo>
                <a:lnTo>
                  <a:pt x="294358" y="42862"/>
                </a:lnTo>
                <a:lnTo>
                  <a:pt x="208633" y="0"/>
                </a:lnTo>
                <a:close/>
              </a:path>
              <a:path w="294640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1" y="50753"/>
                </a:lnTo>
                <a:lnTo>
                  <a:pt x="6395" y="57148"/>
                </a:lnTo>
                <a:lnTo>
                  <a:pt x="208633" y="57149"/>
                </a:lnTo>
                <a:lnTo>
                  <a:pt x="208633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161422" y="2860700"/>
            <a:ext cx="178435" cy="168910"/>
          </a:xfrm>
          <a:custGeom>
            <a:avLst/>
            <a:gdLst/>
            <a:ahLst/>
            <a:cxnLst/>
            <a:rect l="l" t="t" r="r" b="b"/>
            <a:pathLst>
              <a:path w="178434" h="168910">
                <a:moveTo>
                  <a:pt x="105953" y="120030"/>
                </a:moveTo>
                <a:lnTo>
                  <a:pt x="86395" y="140864"/>
                </a:lnTo>
                <a:lnTo>
                  <a:pt x="178231" y="168287"/>
                </a:lnTo>
                <a:lnTo>
                  <a:pt x="166033" y="135210"/>
                </a:lnTo>
                <a:lnTo>
                  <a:pt x="122123" y="135210"/>
                </a:lnTo>
                <a:lnTo>
                  <a:pt x="105953" y="120030"/>
                </a:lnTo>
                <a:close/>
              </a:path>
              <a:path w="178434" h="168910">
                <a:moveTo>
                  <a:pt x="125510" y="99197"/>
                </a:moveTo>
                <a:lnTo>
                  <a:pt x="105953" y="120030"/>
                </a:lnTo>
                <a:lnTo>
                  <a:pt x="122123" y="135210"/>
                </a:lnTo>
                <a:lnTo>
                  <a:pt x="131164" y="134924"/>
                </a:lnTo>
                <a:lnTo>
                  <a:pt x="141965" y="123419"/>
                </a:lnTo>
                <a:lnTo>
                  <a:pt x="141681" y="114377"/>
                </a:lnTo>
                <a:lnTo>
                  <a:pt x="125510" y="99197"/>
                </a:lnTo>
                <a:close/>
              </a:path>
              <a:path w="178434" h="168910">
                <a:moveTo>
                  <a:pt x="145068" y="78364"/>
                </a:moveTo>
                <a:lnTo>
                  <a:pt x="125510" y="99197"/>
                </a:lnTo>
                <a:lnTo>
                  <a:pt x="141681" y="114377"/>
                </a:lnTo>
                <a:lnTo>
                  <a:pt x="141965" y="123419"/>
                </a:lnTo>
                <a:lnTo>
                  <a:pt x="131164" y="134924"/>
                </a:lnTo>
                <a:lnTo>
                  <a:pt x="122123" y="135210"/>
                </a:lnTo>
                <a:lnTo>
                  <a:pt x="166033" y="135210"/>
                </a:lnTo>
                <a:lnTo>
                  <a:pt x="145068" y="78364"/>
                </a:lnTo>
                <a:close/>
              </a:path>
              <a:path w="178434" h="168910">
                <a:moveTo>
                  <a:pt x="19843" y="0"/>
                </a:moveTo>
                <a:lnTo>
                  <a:pt x="10801" y="285"/>
                </a:lnTo>
                <a:lnTo>
                  <a:pt x="0" y="11791"/>
                </a:lnTo>
                <a:lnTo>
                  <a:pt x="285" y="20833"/>
                </a:lnTo>
                <a:lnTo>
                  <a:pt x="105953" y="120030"/>
                </a:lnTo>
                <a:lnTo>
                  <a:pt x="125510" y="99197"/>
                </a:lnTo>
                <a:lnTo>
                  <a:pt x="198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629123" y="2885499"/>
            <a:ext cx="85725" cy="433705"/>
          </a:xfrm>
          <a:custGeom>
            <a:avLst/>
            <a:gdLst/>
            <a:ahLst/>
            <a:cxnLst/>
            <a:rect l="l" t="t" r="r" b="b"/>
            <a:pathLst>
              <a:path w="85725" h="433704">
                <a:moveTo>
                  <a:pt x="28574" y="347428"/>
                </a:moveTo>
                <a:lnTo>
                  <a:pt x="0" y="347428"/>
                </a:lnTo>
                <a:lnTo>
                  <a:pt x="42862" y="433152"/>
                </a:lnTo>
                <a:lnTo>
                  <a:pt x="71436" y="376002"/>
                </a:lnTo>
                <a:lnTo>
                  <a:pt x="34970" y="376002"/>
                </a:lnTo>
                <a:lnTo>
                  <a:pt x="28575" y="369606"/>
                </a:lnTo>
                <a:lnTo>
                  <a:pt x="28574" y="347428"/>
                </a:lnTo>
                <a:close/>
              </a:path>
              <a:path w="85725" h="433704">
                <a:moveTo>
                  <a:pt x="57149" y="347427"/>
                </a:moveTo>
                <a:lnTo>
                  <a:pt x="28574" y="347428"/>
                </a:lnTo>
                <a:lnTo>
                  <a:pt x="28575" y="369606"/>
                </a:lnTo>
                <a:lnTo>
                  <a:pt x="34970" y="376002"/>
                </a:lnTo>
                <a:lnTo>
                  <a:pt x="50753" y="376002"/>
                </a:lnTo>
                <a:lnTo>
                  <a:pt x="57150" y="369606"/>
                </a:lnTo>
                <a:lnTo>
                  <a:pt x="57149" y="347427"/>
                </a:lnTo>
                <a:close/>
              </a:path>
              <a:path w="85725" h="433704">
                <a:moveTo>
                  <a:pt x="85723" y="347427"/>
                </a:moveTo>
                <a:lnTo>
                  <a:pt x="57149" y="347427"/>
                </a:lnTo>
                <a:lnTo>
                  <a:pt x="57150" y="369606"/>
                </a:lnTo>
                <a:lnTo>
                  <a:pt x="50753" y="376002"/>
                </a:lnTo>
                <a:lnTo>
                  <a:pt x="71436" y="376002"/>
                </a:lnTo>
                <a:lnTo>
                  <a:pt x="85723" y="347427"/>
                </a:lnTo>
                <a:close/>
              </a:path>
              <a:path w="85725" h="433704">
                <a:moveTo>
                  <a:pt x="50751" y="0"/>
                </a:moveTo>
                <a:lnTo>
                  <a:pt x="34970" y="0"/>
                </a:lnTo>
                <a:lnTo>
                  <a:pt x="28575" y="6395"/>
                </a:lnTo>
                <a:lnTo>
                  <a:pt x="28574" y="347428"/>
                </a:lnTo>
                <a:lnTo>
                  <a:pt x="57149" y="347427"/>
                </a:lnTo>
                <a:lnTo>
                  <a:pt x="57148" y="6395"/>
                </a:lnTo>
                <a:lnTo>
                  <a:pt x="50751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428091" y="3141342"/>
            <a:ext cx="201295" cy="216535"/>
          </a:xfrm>
          <a:custGeom>
            <a:avLst/>
            <a:gdLst/>
            <a:ahLst/>
            <a:cxnLst/>
            <a:rect l="l" t="t" r="r" b="b"/>
            <a:pathLst>
              <a:path w="201295" h="216535">
                <a:moveTo>
                  <a:pt x="68633" y="53315"/>
                </a:moveTo>
                <a:lnTo>
                  <a:pt x="47633" y="72691"/>
                </a:lnTo>
                <a:lnTo>
                  <a:pt x="179925" y="216067"/>
                </a:lnTo>
                <a:lnTo>
                  <a:pt x="188964" y="216430"/>
                </a:lnTo>
                <a:lnTo>
                  <a:pt x="200563" y="205728"/>
                </a:lnTo>
                <a:lnTo>
                  <a:pt x="200926" y="196689"/>
                </a:lnTo>
                <a:lnTo>
                  <a:pt x="68633" y="53315"/>
                </a:lnTo>
                <a:close/>
              </a:path>
              <a:path w="201295" h="216535">
                <a:moveTo>
                  <a:pt x="0" y="0"/>
                </a:moveTo>
                <a:lnTo>
                  <a:pt x="26631" y="92069"/>
                </a:lnTo>
                <a:lnTo>
                  <a:pt x="47633" y="72691"/>
                </a:lnTo>
                <a:lnTo>
                  <a:pt x="32593" y="56391"/>
                </a:lnTo>
                <a:lnTo>
                  <a:pt x="32956" y="47353"/>
                </a:lnTo>
                <a:lnTo>
                  <a:pt x="44555" y="36650"/>
                </a:lnTo>
                <a:lnTo>
                  <a:pt x="86693" y="36650"/>
                </a:lnTo>
                <a:lnTo>
                  <a:pt x="89635" y="33936"/>
                </a:lnTo>
                <a:lnTo>
                  <a:pt x="0" y="0"/>
                </a:lnTo>
                <a:close/>
              </a:path>
              <a:path w="201295" h="216535">
                <a:moveTo>
                  <a:pt x="44555" y="36650"/>
                </a:moveTo>
                <a:lnTo>
                  <a:pt x="32956" y="47353"/>
                </a:lnTo>
                <a:lnTo>
                  <a:pt x="32593" y="56391"/>
                </a:lnTo>
                <a:lnTo>
                  <a:pt x="47633" y="72691"/>
                </a:lnTo>
                <a:lnTo>
                  <a:pt x="68633" y="53315"/>
                </a:lnTo>
                <a:lnTo>
                  <a:pt x="53594" y="37015"/>
                </a:lnTo>
                <a:lnTo>
                  <a:pt x="44555" y="36650"/>
                </a:lnTo>
                <a:close/>
              </a:path>
              <a:path w="201295" h="216535">
                <a:moveTo>
                  <a:pt x="86693" y="36650"/>
                </a:moveTo>
                <a:lnTo>
                  <a:pt x="44555" y="36650"/>
                </a:lnTo>
                <a:lnTo>
                  <a:pt x="53594" y="37015"/>
                </a:lnTo>
                <a:lnTo>
                  <a:pt x="68633" y="53315"/>
                </a:lnTo>
                <a:lnTo>
                  <a:pt x="86693" y="3665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755167" y="3307613"/>
            <a:ext cx="310515" cy="180975"/>
          </a:xfrm>
          <a:custGeom>
            <a:avLst/>
            <a:gdLst/>
            <a:ahLst/>
            <a:cxnLst/>
            <a:rect l="l" t="t" r="r" b="b"/>
            <a:pathLst>
              <a:path w="310515" h="180975">
                <a:moveTo>
                  <a:pt x="180973" y="0"/>
                </a:moveTo>
                <a:lnTo>
                  <a:pt x="0" y="90488"/>
                </a:lnTo>
                <a:lnTo>
                  <a:pt x="180975" y="180975"/>
                </a:lnTo>
                <a:lnTo>
                  <a:pt x="180974" y="120650"/>
                </a:lnTo>
                <a:lnTo>
                  <a:pt x="150812" y="120650"/>
                </a:lnTo>
                <a:lnTo>
                  <a:pt x="139071" y="118279"/>
                </a:lnTo>
                <a:lnTo>
                  <a:pt x="129484" y="111815"/>
                </a:lnTo>
                <a:lnTo>
                  <a:pt x="123019" y="102228"/>
                </a:lnTo>
                <a:lnTo>
                  <a:pt x="120648" y="90487"/>
                </a:lnTo>
                <a:lnTo>
                  <a:pt x="123019" y="78746"/>
                </a:lnTo>
                <a:lnTo>
                  <a:pt x="129484" y="69159"/>
                </a:lnTo>
                <a:lnTo>
                  <a:pt x="139072" y="62695"/>
                </a:lnTo>
                <a:lnTo>
                  <a:pt x="150811" y="60325"/>
                </a:lnTo>
                <a:lnTo>
                  <a:pt x="180974" y="60325"/>
                </a:lnTo>
                <a:lnTo>
                  <a:pt x="180973" y="0"/>
                </a:lnTo>
                <a:close/>
              </a:path>
              <a:path w="310515" h="180975">
                <a:moveTo>
                  <a:pt x="180974" y="60325"/>
                </a:moveTo>
                <a:lnTo>
                  <a:pt x="150811" y="60325"/>
                </a:lnTo>
                <a:lnTo>
                  <a:pt x="139071" y="62695"/>
                </a:lnTo>
                <a:lnTo>
                  <a:pt x="129483" y="69159"/>
                </a:lnTo>
                <a:lnTo>
                  <a:pt x="123019" y="78747"/>
                </a:lnTo>
                <a:lnTo>
                  <a:pt x="120648" y="90488"/>
                </a:lnTo>
                <a:lnTo>
                  <a:pt x="123019" y="102228"/>
                </a:lnTo>
                <a:lnTo>
                  <a:pt x="129484" y="111815"/>
                </a:lnTo>
                <a:lnTo>
                  <a:pt x="139071" y="118279"/>
                </a:lnTo>
                <a:lnTo>
                  <a:pt x="150812" y="120650"/>
                </a:lnTo>
                <a:lnTo>
                  <a:pt x="180974" y="120650"/>
                </a:lnTo>
                <a:lnTo>
                  <a:pt x="180974" y="60325"/>
                </a:lnTo>
                <a:close/>
              </a:path>
              <a:path w="310515" h="180975">
                <a:moveTo>
                  <a:pt x="280070" y="60325"/>
                </a:moveTo>
                <a:lnTo>
                  <a:pt x="180974" y="60325"/>
                </a:lnTo>
                <a:lnTo>
                  <a:pt x="180974" y="120650"/>
                </a:lnTo>
                <a:lnTo>
                  <a:pt x="280070" y="120650"/>
                </a:lnTo>
                <a:lnTo>
                  <a:pt x="291811" y="118279"/>
                </a:lnTo>
                <a:lnTo>
                  <a:pt x="301398" y="111815"/>
                </a:lnTo>
                <a:lnTo>
                  <a:pt x="307862" y="102228"/>
                </a:lnTo>
                <a:lnTo>
                  <a:pt x="310233" y="90487"/>
                </a:lnTo>
                <a:lnTo>
                  <a:pt x="307862" y="78746"/>
                </a:lnTo>
                <a:lnTo>
                  <a:pt x="301398" y="69159"/>
                </a:lnTo>
                <a:lnTo>
                  <a:pt x="291811" y="62695"/>
                </a:lnTo>
                <a:lnTo>
                  <a:pt x="280070" y="603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8177238" y="3111345"/>
            <a:ext cx="193040" cy="231140"/>
          </a:xfrm>
          <a:custGeom>
            <a:avLst/>
            <a:gdLst/>
            <a:ahLst/>
            <a:cxnLst/>
            <a:rect l="l" t="t" r="r" b="b"/>
            <a:pathLst>
              <a:path w="193040" h="231139">
                <a:moveTo>
                  <a:pt x="43563" y="32984"/>
                </a:moveTo>
                <a:lnTo>
                  <a:pt x="0" y="230576"/>
                </a:lnTo>
                <a:lnTo>
                  <a:pt x="184210" y="146872"/>
                </a:lnTo>
                <a:lnTo>
                  <a:pt x="179882" y="143366"/>
                </a:lnTo>
                <a:lnTo>
                  <a:pt x="98059" y="143366"/>
                </a:lnTo>
                <a:lnTo>
                  <a:pt x="86540" y="142357"/>
                </a:lnTo>
                <a:lnTo>
                  <a:pt x="75924" y="136811"/>
                </a:lnTo>
                <a:lnTo>
                  <a:pt x="68291" y="127580"/>
                </a:lnTo>
                <a:lnTo>
                  <a:pt x="64908" y="116523"/>
                </a:lnTo>
                <a:lnTo>
                  <a:pt x="65918" y="105004"/>
                </a:lnTo>
                <a:lnTo>
                  <a:pt x="71464" y="94388"/>
                </a:lnTo>
                <a:lnTo>
                  <a:pt x="90445" y="70946"/>
                </a:lnTo>
                <a:lnTo>
                  <a:pt x="43563" y="32984"/>
                </a:lnTo>
                <a:close/>
              </a:path>
              <a:path w="193040" h="231139">
                <a:moveTo>
                  <a:pt x="90445" y="70946"/>
                </a:moveTo>
                <a:lnTo>
                  <a:pt x="71464" y="94388"/>
                </a:lnTo>
                <a:lnTo>
                  <a:pt x="65918" y="105004"/>
                </a:lnTo>
                <a:lnTo>
                  <a:pt x="64908" y="116523"/>
                </a:lnTo>
                <a:lnTo>
                  <a:pt x="68291" y="127580"/>
                </a:lnTo>
                <a:lnTo>
                  <a:pt x="75924" y="136811"/>
                </a:lnTo>
                <a:lnTo>
                  <a:pt x="86540" y="142357"/>
                </a:lnTo>
                <a:lnTo>
                  <a:pt x="98059" y="143366"/>
                </a:lnTo>
                <a:lnTo>
                  <a:pt x="109116" y="139983"/>
                </a:lnTo>
                <a:lnTo>
                  <a:pt x="118347" y="132350"/>
                </a:lnTo>
                <a:lnTo>
                  <a:pt x="137328" y="108909"/>
                </a:lnTo>
                <a:lnTo>
                  <a:pt x="90445" y="70946"/>
                </a:lnTo>
                <a:close/>
              </a:path>
              <a:path w="193040" h="231139">
                <a:moveTo>
                  <a:pt x="137328" y="108909"/>
                </a:moveTo>
                <a:lnTo>
                  <a:pt x="118347" y="132350"/>
                </a:lnTo>
                <a:lnTo>
                  <a:pt x="109116" y="139983"/>
                </a:lnTo>
                <a:lnTo>
                  <a:pt x="98059" y="143366"/>
                </a:lnTo>
                <a:lnTo>
                  <a:pt x="179882" y="143366"/>
                </a:lnTo>
                <a:lnTo>
                  <a:pt x="137328" y="108909"/>
                </a:lnTo>
                <a:close/>
              </a:path>
              <a:path w="193040" h="231139">
                <a:moveTo>
                  <a:pt x="159261" y="0"/>
                </a:moveTo>
                <a:lnTo>
                  <a:pt x="148204" y="3383"/>
                </a:lnTo>
                <a:lnTo>
                  <a:pt x="138973" y="11016"/>
                </a:lnTo>
                <a:lnTo>
                  <a:pt x="90445" y="70946"/>
                </a:lnTo>
                <a:lnTo>
                  <a:pt x="137328" y="108909"/>
                </a:lnTo>
                <a:lnTo>
                  <a:pt x="185856" y="48978"/>
                </a:lnTo>
                <a:lnTo>
                  <a:pt x="191402" y="38361"/>
                </a:lnTo>
                <a:lnTo>
                  <a:pt x="192412" y="26843"/>
                </a:lnTo>
                <a:lnTo>
                  <a:pt x="189029" y="15786"/>
                </a:lnTo>
                <a:lnTo>
                  <a:pt x="181396" y="6556"/>
                </a:lnTo>
                <a:lnTo>
                  <a:pt x="170780" y="1009"/>
                </a:lnTo>
                <a:lnTo>
                  <a:pt x="1592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7622938" y="2483611"/>
            <a:ext cx="5797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9420" algn="l"/>
              </a:tabLst>
            </a:pPr>
            <a:r>
              <a:rPr dirty="0" sz="1800">
                <a:solidFill>
                  <a:srgbClr val="A6A6A6"/>
                </a:solidFill>
                <a:latin typeface="Arial"/>
                <a:cs typeface="Arial"/>
              </a:rPr>
              <a:t>1	</a:t>
            </a:r>
            <a:r>
              <a:rPr dirty="0" baseline="1543" sz="2700">
                <a:solidFill>
                  <a:srgbClr val="A6A6A6"/>
                </a:solidFill>
                <a:latin typeface="Arial"/>
                <a:cs typeface="Arial"/>
              </a:rPr>
              <a:t>2</a:t>
            </a:r>
            <a:endParaRPr baseline="1543" sz="27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148456" y="298043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A6A6A6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844440" y="280060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A6A6A6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372354" y="279146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622921" y="2968443"/>
            <a:ext cx="1230630" cy="818515"/>
          </a:xfrm>
          <a:custGeom>
            <a:avLst/>
            <a:gdLst/>
            <a:ahLst/>
            <a:cxnLst/>
            <a:rect l="l" t="t" r="r" b="b"/>
            <a:pathLst>
              <a:path w="1230629" h="818514">
                <a:moveTo>
                  <a:pt x="0" y="0"/>
                </a:moveTo>
                <a:lnTo>
                  <a:pt x="0" y="333679"/>
                </a:lnTo>
                <a:lnTo>
                  <a:pt x="470580" y="818309"/>
                </a:lnTo>
                <a:lnTo>
                  <a:pt x="1230113" y="810364"/>
                </a:lnTo>
                <a:lnTo>
                  <a:pt x="1213600" y="365459"/>
                </a:lnTo>
                <a:lnTo>
                  <a:pt x="643952" y="365459"/>
                </a:lnTo>
                <a:lnTo>
                  <a:pt x="363255" y="31779"/>
                </a:lnTo>
                <a:lnTo>
                  <a:pt x="0" y="0"/>
                </a:lnTo>
                <a:close/>
              </a:path>
            </a:pathLst>
          </a:custGeom>
          <a:solidFill>
            <a:srgbClr val="92D050">
              <a:alpha val="348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622921" y="2968443"/>
            <a:ext cx="1230630" cy="818515"/>
          </a:xfrm>
          <a:custGeom>
            <a:avLst/>
            <a:gdLst/>
            <a:ahLst/>
            <a:cxnLst/>
            <a:rect l="l" t="t" r="r" b="b"/>
            <a:pathLst>
              <a:path w="1230629" h="818514">
                <a:moveTo>
                  <a:pt x="0" y="0"/>
                </a:moveTo>
                <a:lnTo>
                  <a:pt x="0" y="333679"/>
                </a:lnTo>
                <a:lnTo>
                  <a:pt x="470579" y="818309"/>
                </a:lnTo>
                <a:lnTo>
                  <a:pt x="1230112" y="810364"/>
                </a:lnTo>
                <a:lnTo>
                  <a:pt x="1213600" y="365458"/>
                </a:lnTo>
                <a:lnTo>
                  <a:pt x="643951" y="365458"/>
                </a:lnTo>
                <a:lnTo>
                  <a:pt x="363254" y="31778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D4D4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6055719" y="3496016"/>
            <a:ext cx="944880" cy="74739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58419">
              <a:lnSpc>
                <a:spcPct val="100000"/>
              </a:lnSpc>
              <a:spcBef>
                <a:spcPts val="360"/>
              </a:spcBef>
              <a:tabLst>
                <a:tab pos="521970" algn="l"/>
              </a:tabLst>
            </a:pPr>
            <a:r>
              <a:rPr dirty="0" sz="1800">
                <a:latin typeface="Arial"/>
                <a:cs typeface="Arial"/>
              </a:rPr>
              <a:t>4	5</a:t>
            </a:r>
            <a:endParaRPr sz="1800">
              <a:latin typeface="Arial"/>
              <a:cs typeface="Arial"/>
            </a:endParaRPr>
          </a:p>
          <a:p>
            <a:pPr algn="ctr" marR="139065">
              <a:lnSpc>
                <a:spcPts val="1535"/>
              </a:lnSpc>
              <a:spcBef>
                <a:spcPts val="185"/>
              </a:spcBef>
            </a:pPr>
            <a:r>
              <a:rPr dirty="0" sz="1300" spc="-5" b="1">
                <a:latin typeface="Arial"/>
                <a:cs typeface="Arial"/>
              </a:rPr>
              <a:t>{0,4,5}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ts val="1535"/>
              </a:lnSpc>
            </a:pPr>
            <a:r>
              <a:rPr dirty="0" sz="1300" spc="-5" b="1">
                <a:latin typeface="Arial"/>
                <a:cs typeface="Arial"/>
              </a:rPr>
              <a:t>Occurrence</a:t>
            </a:r>
            <a:endParaRPr sz="13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607146" y="3346430"/>
            <a:ext cx="694055" cy="708025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  <a:tabLst>
                <a:tab pos="476250" algn="l"/>
              </a:tabLst>
            </a:pPr>
            <a:r>
              <a:rPr dirty="0" sz="1800">
                <a:latin typeface="Arial"/>
                <a:cs typeface="Arial"/>
              </a:rPr>
              <a:t>4	5</a:t>
            </a:r>
            <a:endParaRPr sz="1800">
              <a:latin typeface="Arial"/>
              <a:cs typeface="Arial"/>
            </a:endParaRPr>
          </a:p>
          <a:p>
            <a:pPr marL="184785">
              <a:lnSpc>
                <a:spcPct val="100000"/>
              </a:lnSpc>
              <a:spcBef>
                <a:spcPts val="685"/>
              </a:spcBef>
            </a:pPr>
            <a:r>
              <a:rPr dirty="0" sz="1300" spc="-5" b="1">
                <a:latin typeface="Arial"/>
                <a:cs typeface="Arial"/>
              </a:rPr>
              <a:t>{3,4,5}</a:t>
            </a:r>
            <a:endParaRPr sz="13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486387" y="1178560"/>
            <a:ext cx="1350010" cy="477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80"/>
              </a:lnSpc>
              <a:spcBef>
                <a:spcPts val="100"/>
              </a:spcBef>
            </a:pPr>
            <a:r>
              <a:rPr dirty="0" sz="1300" spc="-5" b="1">
                <a:latin typeface="Arial"/>
                <a:cs typeface="Arial"/>
              </a:rPr>
              <a:t>Original</a:t>
            </a:r>
            <a:r>
              <a:rPr dirty="0" sz="1300" spc="-35" b="1">
                <a:latin typeface="Arial"/>
                <a:cs typeface="Arial"/>
              </a:rPr>
              <a:t> </a:t>
            </a:r>
            <a:r>
              <a:rPr dirty="0" sz="1300" spc="-5" b="1">
                <a:latin typeface="Arial"/>
                <a:cs typeface="Arial"/>
              </a:rPr>
              <a:t>Network</a:t>
            </a:r>
            <a:endParaRPr sz="1300">
              <a:latin typeface="Arial"/>
              <a:cs typeface="Arial"/>
            </a:endParaRPr>
          </a:p>
          <a:p>
            <a:pPr marL="644525">
              <a:lnSpc>
                <a:spcPts val="2080"/>
              </a:lnSpc>
              <a:tabLst>
                <a:tab pos="1079500" algn="l"/>
              </a:tabLst>
            </a:pPr>
            <a:r>
              <a:rPr dirty="0" baseline="1543" sz="2700">
                <a:latin typeface="Arial"/>
                <a:cs typeface="Arial"/>
              </a:rPr>
              <a:t>1	</a:t>
            </a: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7069716" y="4653460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3" y="6243"/>
                </a:lnTo>
                <a:lnTo>
                  <a:pt x="24363" y="23269"/>
                </a:lnTo>
                <a:lnTo>
                  <a:pt x="6536" y="48523"/>
                </a:lnTo>
                <a:lnTo>
                  <a:pt x="0" y="79448"/>
                </a:lnTo>
                <a:lnTo>
                  <a:pt x="6536" y="110373"/>
                </a:lnTo>
                <a:lnTo>
                  <a:pt x="24363" y="135626"/>
                </a:lnTo>
                <a:lnTo>
                  <a:pt x="50803" y="152652"/>
                </a:lnTo>
                <a:lnTo>
                  <a:pt x="83182" y="158896"/>
                </a:lnTo>
                <a:lnTo>
                  <a:pt x="115560" y="152652"/>
                </a:lnTo>
                <a:lnTo>
                  <a:pt x="142001" y="135626"/>
                </a:lnTo>
                <a:lnTo>
                  <a:pt x="159827" y="110373"/>
                </a:lnTo>
                <a:lnTo>
                  <a:pt x="166364" y="79448"/>
                </a:lnTo>
                <a:lnTo>
                  <a:pt x="159827" y="48523"/>
                </a:lnTo>
                <a:lnTo>
                  <a:pt x="142001" y="23269"/>
                </a:lnTo>
                <a:lnTo>
                  <a:pt x="115560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069716" y="4653460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080367" y="4882859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3" y="6243"/>
                </a:lnTo>
                <a:lnTo>
                  <a:pt x="24363" y="23269"/>
                </a:lnTo>
                <a:lnTo>
                  <a:pt x="6536" y="48523"/>
                </a:lnTo>
                <a:lnTo>
                  <a:pt x="0" y="79448"/>
                </a:lnTo>
                <a:lnTo>
                  <a:pt x="6536" y="110373"/>
                </a:lnTo>
                <a:lnTo>
                  <a:pt x="24363" y="135626"/>
                </a:lnTo>
                <a:lnTo>
                  <a:pt x="50803" y="152652"/>
                </a:lnTo>
                <a:lnTo>
                  <a:pt x="83182" y="158896"/>
                </a:lnTo>
                <a:lnTo>
                  <a:pt x="115560" y="152652"/>
                </a:lnTo>
                <a:lnTo>
                  <a:pt x="142001" y="135626"/>
                </a:lnTo>
                <a:lnTo>
                  <a:pt x="159827" y="110373"/>
                </a:lnTo>
                <a:lnTo>
                  <a:pt x="166364" y="79448"/>
                </a:lnTo>
                <a:lnTo>
                  <a:pt x="159827" y="48523"/>
                </a:lnTo>
                <a:lnTo>
                  <a:pt x="142001" y="23269"/>
                </a:lnTo>
                <a:lnTo>
                  <a:pt x="115560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080367" y="4882859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7000703" y="4019296"/>
            <a:ext cx="1945639" cy="1061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2909">
              <a:lnSpc>
                <a:spcPct val="100000"/>
              </a:lnSpc>
              <a:spcBef>
                <a:spcPts val="100"/>
              </a:spcBef>
            </a:pPr>
            <a:r>
              <a:rPr dirty="0" sz="1300" spc="-5" b="1">
                <a:latin typeface="Arial"/>
                <a:cs typeface="Arial"/>
              </a:rPr>
              <a:t>Not </a:t>
            </a:r>
            <a:r>
              <a:rPr dirty="0" sz="1300" b="1">
                <a:latin typeface="Arial"/>
                <a:cs typeface="Arial"/>
              </a:rPr>
              <a:t>an</a:t>
            </a:r>
            <a:r>
              <a:rPr dirty="0" sz="1300" spc="-25" b="1">
                <a:latin typeface="Arial"/>
                <a:cs typeface="Arial"/>
              </a:rPr>
              <a:t> </a:t>
            </a:r>
            <a:r>
              <a:rPr dirty="0" sz="1300" spc="-5" b="1">
                <a:latin typeface="Arial"/>
                <a:cs typeface="Arial"/>
              </a:rPr>
              <a:t>occurrence!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300" spc="-5" b="1">
                <a:latin typeface="Arial"/>
                <a:cs typeface="Arial"/>
              </a:rPr>
              <a:t>Blogs</a:t>
            </a:r>
            <a:endParaRPr sz="1300">
              <a:latin typeface="Arial"/>
              <a:cs typeface="Arial"/>
            </a:endParaRPr>
          </a:p>
          <a:p>
            <a:pPr marL="376555" marR="603885" indent="-8255">
              <a:lnSpc>
                <a:spcPct val="124600"/>
              </a:lnSpc>
              <a:spcBef>
                <a:spcPts val="170"/>
              </a:spcBef>
            </a:pPr>
            <a:r>
              <a:rPr dirty="0" sz="1300" spc="-5">
                <a:latin typeface="Arial"/>
                <a:cs typeface="Arial"/>
              </a:rPr>
              <a:t>C</a:t>
            </a:r>
            <a:r>
              <a:rPr dirty="0" sz="1300">
                <a:latin typeface="Arial"/>
                <a:cs typeface="Arial"/>
              </a:rPr>
              <a:t>onservat</a:t>
            </a:r>
            <a:r>
              <a:rPr dirty="0" sz="1300" spc="-5">
                <a:latin typeface="Arial"/>
                <a:cs typeface="Arial"/>
              </a:rPr>
              <a:t>i</a:t>
            </a:r>
            <a:r>
              <a:rPr dirty="0" sz="1300">
                <a:latin typeface="Arial"/>
                <a:cs typeface="Arial"/>
              </a:rPr>
              <a:t>ve  </a:t>
            </a:r>
            <a:r>
              <a:rPr dirty="0" sz="1300" spc="-5">
                <a:latin typeface="Arial"/>
                <a:cs typeface="Arial"/>
              </a:rPr>
              <a:t>Liberal</a:t>
            </a:r>
            <a:endParaRPr sz="13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641055" y="5385738"/>
            <a:ext cx="146685" cy="0"/>
          </a:xfrm>
          <a:custGeom>
            <a:avLst/>
            <a:gdLst/>
            <a:ahLst/>
            <a:cxnLst/>
            <a:rect l="l" t="t" r="r" b="b"/>
            <a:pathLst>
              <a:path w="146684" h="0">
                <a:moveTo>
                  <a:pt x="0" y="0"/>
                </a:moveTo>
                <a:lnTo>
                  <a:pt x="146259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557873" y="5465185"/>
            <a:ext cx="3810" cy="168275"/>
          </a:xfrm>
          <a:custGeom>
            <a:avLst/>
            <a:gdLst/>
            <a:ahLst/>
            <a:cxnLst/>
            <a:rect l="l" t="t" r="r" b="b"/>
            <a:pathLst>
              <a:path w="3809" h="168275">
                <a:moveTo>
                  <a:pt x="0" y="0"/>
                </a:moveTo>
                <a:lnTo>
                  <a:pt x="3300" y="16791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870496" y="5465185"/>
            <a:ext cx="0" cy="168275"/>
          </a:xfrm>
          <a:custGeom>
            <a:avLst/>
            <a:gdLst/>
            <a:ahLst/>
            <a:cxnLst/>
            <a:rect l="l" t="t" r="r" b="b"/>
            <a:pathLst>
              <a:path w="0" h="168275">
                <a:moveTo>
                  <a:pt x="1" y="0"/>
                </a:moveTo>
                <a:lnTo>
                  <a:pt x="0" y="16791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644354" y="5712552"/>
            <a:ext cx="143510" cy="0"/>
          </a:xfrm>
          <a:custGeom>
            <a:avLst/>
            <a:gdLst/>
            <a:ahLst/>
            <a:cxnLst/>
            <a:rect l="l" t="t" r="r" b="b"/>
            <a:pathLst>
              <a:path w="143509" h="0">
                <a:moveTo>
                  <a:pt x="0" y="0"/>
                </a:moveTo>
                <a:lnTo>
                  <a:pt x="142958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616691" y="5441915"/>
            <a:ext cx="195580" cy="214629"/>
          </a:xfrm>
          <a:custGeom>
            <a:avLst/>
            <a:gdLst/>
            <a:ahLst/>
            <a:cxnLst/>
            <a:rect l="l" t="t" r="r" b="b"/>
            <a:pathLst>
              <a:path w="195579" h="214629">
                <a:moveTo>
                  <a:pt x="0" y="0"/>
                </a:moveTo>
                <a:lnTo>
                  <a:pt x="194986" y="2144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619991" y="5441915"/>
            <a:ext cx="191770" cy="214629"/>
          </a:xfrm>
          <a:custGeom>
            <a:avLst/>
            <a:gdLst/>
            <a:ahLst/>
            <a:cxnLst/>
            <a:rect l="l" t="t" r="r" b="b"/>
            <a:pathLst>
              <a:path w="191770" h="214629">
                <a:moveTo>
                  <a:pt x="191687" y="0"/>
                </a:moveTo>
                <a:lnTo>
                  <a:pt x="0" y="2144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7226530" y="5383302"/>
            <a:ext cx="146685" cy="0"/>
          </a:xfrm>
          <a:custGeom>
            <a:avLst/>
            <a:gdLst/>
            <a:ahLst/>
            <a:cxnLst/>
            <a:rect l="l" t="t" r="r" b="b"/>
            <a:pathLst>
              <a:path w="146684" h="0">
                <a:moveTo>
                  <a:pt x="0" y="0"/>
                </a:moveTo>
                <a:lnTo>
                  <a:pt x="146259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7143347" y="5462749"/>
            <a:ext cx="3810" cy="168275"/>
          </a:xfrm>
          <a:custGeom>
            <a:avLst/>
            <a:gdLst/>
            <a:ahLst/>
            <a:cxnLst/>
            <a:rect l="l" t="t" r="r" b="b"/>
            <a:pathLst>
              <a:path w="3809" h="168275">
                <a:moveTo>
                  <a:pt x="0" y="0"/>
                </a:moveTo>
                <a:lnTo>
                  <a:pt x="3300" y="16791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455971" y="5462749"/>
            <a:ext cx="0" cy="168275"/>
          </a:xfrm>
          <a:custGeom>
            <a:avLst/>
            <a:gdLst/>
            <a:ahLst/>
            <a:cxnLst/>
            <a:rect l="l" t="t" r="r" b="b"/>
            <a:pathLst>
              <a:path w="0" h="168275">
                <a:moveTo>
                  <a:pt x="1" y="0"/>
                </a:moveTo>
                <a:lnTo>
                  <a:pt x="0" y="16791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7229829" y="5710115"/>
            <a:ext cx="143510" cy="0"/>
          </a:xfrm>
          <a:custGeom>
            <a:avLst/>
            <a:gdLst/>
            <a:ahLst/>
            <a:cxnLst/>
            <a:rect l="l" t="t" r="r" b="b"/>
            <a:pathLst>
              <a:path w="143509" h="0">
                <a:moveTo>
                  <a:pt x="0" y="0"/>
                </a:moveTo>
                <a:lnTo>
                  <a:pt x="142958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202165" y="5439479"/>
            <a:ext cx="195580" cy="214629"/>
          </a:xfrm>
          <a:custGeom>
            <a:avLst/>
            <a:gdLst/>
            <a:ahLst/>
            <a:cxnLst/>
            <a:rect l="l" t="t" r="r" b="b"/>
            <a:pathLst>
              <a:path w="195579" h="214629">
                <a:moveTo>
                  <a:pt x="0" y="0"/>
                </a:moveTo>
                <a:lnTo>
                  <a:pt x="194986" y="2144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205466" y="5439479"/>
            <a:ext cx="191770" cy="214629"/>
          </a:xfrm>
          <a:custGeom>
            <a:avLst/>
            <a:gdLst/>
            <a:ahLst/>
            <a:cxnLst/>
            <a:rect l="l" t="t" r="r" b="b"/>
            <a:pathLst>
              <a:path w="191770" h="214629">
                <a:moveTo>
                  <a:pt x="191687" y="0"/>
                </a:moveTo>
                <a:lnTo>
                  <a:pt x="0" y="2144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980991" y="5383302"/>
            <a:ext cx="146685" cy="0"/>
          </a:xfrm>
          <a:custGeom>
            <a:avLst/>
            <a:gdLst/>
            <a:ahLst/>
            <a:cxnLst/>
            <a:rect l="l" t="t" r="r" b="b"/>
            <a:pathLst>
              <a:path w="146684" h="0">
                <a:moveTo>
                  <a:pt x="0" y="0"/>
                </a:moveTo>
                <a:lnTo>
                  <a:pt x="146259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7897808" y="5462749"/>
            <a:ext cx="3810" cy="168275"/>
          </a:xfrm>
          <a:custGeom>
            <a:avLst/>
            <a:gdLst/>
            <a:ahLst/>
            <a:cxnLst/>
            <a:rect l="l" t="t" r="r" b="b"/>
            <a:pathLst>
              <a:path w="3809" h="168275">
                <a:moveTo>
                  <a:pt x="0" y="0"/>
                </a:moveTo>
                <a:lnTo>
                  <a:pt x="3300" y="16791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8210432" y="5462749"/>
            <a:ext cx="0" cy="168275"/>
          </a:xfrm>
          <a:custGeom>
            <a:avLst/>
            <a:gdLst/>
            <a:ahLst/>
            <a:cxnLst/>
            <a:rect l="l" t="t" r="r" b="b"/>
            <a:pathLst>
              <a:path w="0" h="168275">
                <a:moveTo>
                  <a:pt x="1" y="0"/>
                </a:moveTo>
                <a:lnTo>
                  <a:pt x="0" y="16791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984290" y="5710115"/>
            <a:ext cx="143510" cy="0"/>
          </a:xfrm>
          <a:custGeom>
            <a:avLst/>
            <a:gdLst/>
            <a:ahLst/>
            <a:cxnLst/>
            <a:rect l="l" t="t" r="r" b="b"/>
            <a:pathLst>
              <a:path w="143509" h="0">
                <a:moveTo>
                  <a:pt x="0" y="0"/>
                </a:moveTo>
                <a:lnTo>
                  <a:pt x="142958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8611061" y="5383302"/>
            <a:ext cx="146685" cy="0"/>
          </a:xfrm>
          <a:custGeom>
            <a:avLst/>
            <a:gdLst/>
            <a:ahLst/>
            <a:cxnLst/>
            <a:rect l="l" t="t" r="r" b="b"/>
            <a:pathLst>
              <a:path w="146684" h="0">
                <a:moveTo>
                  <a:pt x="0" y="0"/>
                </a:moveTo>
                <a:lnTo>
                  <a:pt x="146259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8527881" y="5462749"/>
            <a:ext cx="3810" cy="168275"/>
          </a:xfrm>
          <a:custGeom>
            <a:avLst/>
            <a:gdLst/>
            <a:ahLst/>
            <a:cxnLst/>
            <a:rect l="l" t="t" r="r" b="b"/>
            <a:pathLst>
              <a:path w="3809" h="168275">
                <a:moveTo>
                  <a:pt x="0" y="0"/>
                </a:moveTo>
                <a:lnTo>
                  <a:pt x="3300" y="16791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8840504" y="5462749"/>
            <a:ext cx="0" cy="168275"/>
          </a:xfrm>
          <a:custGeom>
            <a:avLst/>
            <a:gdLst/>
            <a:ahLst/>
            <a:cxnLst/>
            <a:rect l="l" t="t" r="r" b="b"/>
            <a:pathLst>
              <a:path w="0" h="168275">
                <a:moveTo>
                  <a:pt x="1" y="0"/>
                </a:moveTo>
                <a:lnTo>
                  <a:pt x="0" y="16791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8614363" y="5710115"/>
            <a:ext cx="143510" cy="0"/>
          </a:xfrm>
          <a:custGeom>
            <a:avLst/>
            <a:gdLst/>
            <a:ahLst/>
            <a:cxnLst/>
            <a:rect l="l" t="t" r="r" b="b"/>
            <a:pathLst>
              <a:path w="143509" h="0">
                <a:moveTo>
                  <a:pt x="0" y="0"/>
                </a:moveTo>
                <a:lnTo>
                  <a:pt x="142958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6471093" y="5832855"/>
            <a:ext cx="248729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61440" algn="l"/>
              </a:tabLst>
            </a:pPr>
            <a:r>
              <a:rPr dirty="0" sz="1300" spc="-5">
                <a:latin typeface="Arial"/>
                <a:cs typeface="Arial"/>
              </a:rPr>
              <a:t>Motif </a:t>
            </a:r>
            <a:r>
              <a:rPr dirty="0" sz="1300" b="1">
                <a:latin typeface="Arial"/>
                <a:cs typeface="Arial"/>
              </a:rPr>
              <a:t>C </a:t>
            </a:r>
            <a:r>
              <a:rPr dirty="0" sz="1300" spc="15" b="1">
                <a:latin typeface="Arial"/>
                <a:cs typeface="Arial"/>
              </a:rPr>
              <a:t> </a:t>
            </a:r>
            <a:r>
              <a:rPr dirty="0" sz="1300" spc="-5">
                <a:latin typeface="Arial"/>
                <a:cs typeface="Arial"/>
              </a:rPr>
              <a:t>Motif</a:t>
            </a:r>
            <a:r>
              <a:rPr dirty="0" sz="1300" spc="0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D	</a:t>
            </a:r>
            <a:r>
              <a:rPr dirty="0" sz="1300" spc="-5">
                <a:latin typeface="Arial"/>
                <a:cs typeface="Arial"/>
              </a:rPr>
              <a:t>Motif </a:t>
            </a:r>
            <a:r>
              <a:rPr dirty="0" sz="1300" b="1">
                <a:latin typeface="Arial"/>
                <a:cs typeface="Arial"/>
              </a:rPr>
              <a:t>E  </a:t>
            </a:r>
            <a:r>
              <a:rPr dirty="0" sz="1300" spc="-5">
                <a:latin typeface="Arial"/>
                <a:cs typeface="Arial"/>
              </a:rPr>
              <a:t>Motif</a:t>
            </a:r>
            <a:r>
              <a:rPr dirty="0" sz="1300" spc="-60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F</a:t>
            </a:r>
            <a:endParaRPr sz="13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330043" y="6069076"/>
            <a:ext cx="27266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447165" algn="l"/>
              </a:tabLst>
            </a:pPr>
            <a:r>
              <a:rPr dirty="0" sz="1000" spc="-10">
                <a:latin typeface="Arial"/>
                <a:cs typeface="Arial"/>
              </a:rPr>
              <a:t>Overrepresentation </a:t>
            </a:r>
            <a:r>
              <a:rPr dirty="0" sz="1000" spc="-5">
                <a:latin typeface="Arial"/>
                <a:cs typeface="Arial"/>
              </a:rPr>
              <a:t>of </a:t>
            </a:r>
            <a:r>
              <a:rPr dirty="0" sz="1000" b="1">
                <a:latin typeface="Arial"/>
                <a:cs typeface="Arial"/>
              </a:rPr>
              <a:t>C </a:t>
            </a:r>
            <a:r>
              <a:rPr dirty="0" baseline="2777" sz="1500" b="1">
                <a:latin typeface="Arial"/>
                <a:cs typeface="Arial"/>
              </a:rPr>
              <a:t>E </a:t>
            </a:r>
            <a:r>
              <a:rPr dirty="0" baseline="2777" sz="1500">
                <a:latin typeface="Arial"/>
                <a:cs typeface="Arial"/>
              </a:rPr>
              <a:t>is </a:t>
            </a:r>
            <a:r>
              <a:rPr dirty="0" baseline="2777" sz="1500" spc="-15" b="1">
                <a:latin typeface="Arial"/>
                <a:cs typeface="Arial"/>
              </a:rPr>
              <a:t>over</a:t>
            </a:r>
            <a:r>
              <a:rPr dirty="0" baseline="2777" sz="1500" spc="-15">
                <a:latin typeface="Arial"/>
                <a:cs typeface="Arial"/>
              </a:rPr>
              <a:t>represented  </a:t>
            </a:r>
            <a:r>
              <a:rPr dirty="0" sz="1000" spc="-5">
                <a:latin typeface="Arial"/>
                <a:cs typeface="Arial"/>
              </a:rPr>
              <a:t>much larger</a:t>
            </a:r>
            <a:r>
              <a:rPr dirty="0" sz="100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than </a:t>
            </a:r>
            <a:r>
              <a:rPr dirty="0" sz="1000" b="1">
                <a:latin typeface="Arial"/>
                <a:cs typeface="Arial"/>
              </a:rPr>
              <a:t>D	</a:t>
            </a:r>
            <a:r>
              <a:rPr dirty="0" baseline="2777" sz="1500" b="1">
                <a:latin typeface="Arial"/>
                <a:cs typeface="Arial"/>
              </a:rPr>
              <a:t>F </a:t>
            </a:r>
            <a:r>
              <a:rPr dirty="0" baseline="2777" sz="1500">
                <a:latin typeface="Arial"/>
                <a:cs typeface="Arial"/>
              </a:rPr>
              <a:t>is</a:t>
            </a:r>
            <a:r>
              <a:rPr dirty="0" baseline="2777" sz="1500" spc="-165">
                <a:latin typeface="Arial"/>
                <a:cs typeface="Arial"/>
              </a:rPr>
              <a:t> </a:t>
            </a:r>
            <a:r>
              <a:rPr dirty="0" baseline="2777" sz="1500" spc="-7" b="1">
                <a:latin typeface="Arial"/>
                <a:cs typeface="Arial"/>
              </a:rPr>
              <a:t>under</a:t>
            </a:r>
            <a:r>
              <a:rPr dirty="0" baseline="2777" sz="1500" spc="-7">
                <a:latin typeface="Arial"/>
                <a:cs typeface="Arial"/>
              </a:rPr>
              <a:t>represented</a:t>
            </a:r>
            <a:endParaRPr baseline="2777" sz="1500">
              <a:latin typeface="Arial"/>
              <a:cs typeface="Arial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6083519" y="3379970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4" y="6243"/>
                </a:lnTo>
                <a:lnTo>
                  <a:pt x="24363" y="23269"/>
                </a:lnTo>
                <a:lnTo>
                  <a:pt x="6536" y="48522"/>
                </a:lnTo>
                <a:lnTo>
                  <a:pt x="0" y="79447"/>
                </a:lnTo>
                <a:lnTo>
                  <a:pt x="6536" y="110371"/>
                </a:lnTo>
                <a:lnTo>
                  <a:pt x="24363" y="135625"/>
                </a:lnTo>
                <a:lnTo>
                  <a:pt x="50804" y="152651"/>
                </a:lnTo>
                <a:lnTo>
                  <a:pt x="83182" y="158894"/>
                </a:lnTo>
                <a:lnTo>
                  <a:pt x="115561" y="152651"/>
                </a:lnTo>
                <a:lnTo>
                  <a:pt x="142001" y="135625"/>
                </a:lnTo>
                <a:lnTo>
                  <a:pt x="159828" y="110371"/>
                </a:lnTo>
                <a:lnTo>
                  <a:pt x="166364" y="79447"/>
                </a:lnTo>
                <a:lnTo>
                  <a:pt x="159828" y="48522"/>
                </a:lnTo>
                <a:lnTo>
                  <a:pt x="142001" y="23269"/>
                </a:lnTo>
                <a:lnTo>
                  <a:pt x="115561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6083519" y="3379970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6529956" y="3379970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4" y="6243"/>
                </a:lnTo>
                <a:lnTo>
                  <a:pt x="24363" y="23269"/>
                </a:lnTo>
                <a:lnTo>
                  <a:pt x="6536" y="48522"/>
                </a:lnTo>
                <a:lnTo>
                  <a:pt x="0" y="79447"/>
                </a:lnTo>
                <a:lnTo>
                  <a:pt x="6536" y="110371"/>
                </a:lnTo>
                <a:lnTo>
                  <a:pt x="24363" y="135625"/>
                </a:lnTo>
                <a:lnTo>
                  <a:pt x="50804" y="152651"/>
                </a:lnTo>
                <a:lnTo>
                  <a:pt x="83182" y="158894"/>
                </a:lnTo>
                <a:lnTo>
                  <a:pt x="115561" y="152651"/>
                </a:lnTo>
                <a:lnTo>
                  <a:pt x="142001" y="135625"/>
                </a:lnTo>
                <a:lnTo>
                  <a:pt x="159828" y="110371"/>
                </a:lnTo>
                <a:lnTo>
                  <a:pt x="166364" y="79447"/>
                </a:lnTo>
                <a:lnTo>
                  <a:pt x="159828" y="48522"/>
                </a:lnTo>
                <a:lnTo>
                  <a:pt x="142001" y="23269"/>
                </a:lnTo>
                <a:lnTo>
                  <a:pt x="115561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6529956" y="3379970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7286090" y="3005717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3" y="6243"/>
                </a:lnTo>
                <a:lnTo>
                  <a:pt x="24363" y="23269"/>
                </a:lnTo>
                <a:lnTo>
                  <a:pt x="6536" y="48523"/>
                </a:lnTo>
                <a:lnTo>
                  <a:pt x="0" y="79447"/>
                </a:lnTo>
                <a:lnTo>
                  <a:pt x="6536" y="110371"/>
                </a:lnTo>
                <a:lnTo>
                  <a:pt x="24363" y="135625"/>
                </a:lnTo>
                <a:lnTo>
                  <a:pt x="50803" y="152651"/>
                </a:lnTo>
                <a:lnTo>
                  <a:pt x="83182" y="158894"/>
                </a:lnTo>
                <a:lnTo>
                  <a:pt x="115560" y="152651"/>
                </a:lnTo>
                <a:lnTo>
                  <a:pt x="142001" y="135625"/>
                </a:lnTo>
                <a:lnTo>
                  <a:pt x="159827" y="110371"/>
                </a:lnTo>
                <a:lnTo>
                  <a:pt x="166364" y="79447"/>
                </a:lnTo>
                <a:lnTo>
                  <a:pt x="159827" y="48523"/>
                </a:lnTo>
                <a:lnTo>
                  <a:pt x="142001" y="23269"/>
                </a:lnTo>
                <a:lnTo>
                  <a:pt x="115560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FFE1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7286090" y="3005717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7588801" y="2740892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4" y="6243"/>
                </a:lnTo>
                <a:lnTo>
                  <a:pt x="24363" y="23269"/>
                </a:lnTo>
                <a:lnTo>
                  <a:pt x="6536" y="48522"/>
                </a:lnTo>
                <a:lnTo>
                  <a:pt x="0" y="79447"/>
                </a:lnTo>
                <a:lnTo>
                  <a:pt x="6536" y="110371"/>
                </a:lnTo>
                <a:lnTo>
                  <a:pt x="24363" y="135625"/>
                </a:lnTo>
                <a:lnTo>
                  <a:pt x="50804" y="152651"/>
                </a:lnTo>
                <a:lnTo>
                  <a:pt x="83182" y="158894"/>
                </a:lnTo>
                <a:lnTo>
                  <a:pt x="115561" y="152651"/>
                </a:lnTo>
                <a:lnTo>
                  <a:pt x="142001" y="135625"/>
                </a:lnTo>
                <a:lnTo>
                  <a:pt x="159828" y="110371"/>
                </a:lnTo>
                <a:lnTo>
                  <a:pt x="166364" y="79447"/>
                </a:lnTo>
                <a:lnTo>
                  <a:pt x="159828" y="48522"/>
                </a:lnTo>
                <a:lnTo>
                  <a:pt x="142001" y="23269"/>
                </a:lnTo>
                <a:lnTo>
                  <a:pt x="115561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7588801" y="2740892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8035238" y="2740892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3" y="6243"/>
                </a:lnTo>
                <a:lnTo>
                  <a:pt x="24363" y="23269"/>
                </a:lnTo>
                <a:lnTo>
                  <a:pt x="6536" y="48522"/>
                </a:lnTo>
                <a:lnTo>
                  <a:pt x="0" y="79447"/>
                </a:lnTo>
                <a:lnTo>
                  <a:pt x="6536" y="110371"/>
                </a:lnTo>
                <a:lnTo>
                  <a:pt x="24363" y="135625"/>
                </a:lnTo>
                <a:lnTo>
                  <a:pt x="50803" y="152651"/>
                </a:lnTo>
                <a:lnTo>
                  <a:pt x="83182" y="158894"/>
                </a:lnTo>
                <a:lnTo>
                  <a:pt x="115560" y="152651"/>
                </a:lnTo>
                <a:lnTo>
                  <a:pt x="142001" y="135625"/>
                </a:lnTo>
                <a:lnTo>
                  <a:pt x="159827" y="110371"/>
                </a:lnTo>
                <a:lnTo>
                  <a:pt x="166364" y="79447"/>
                </a:lnTo>
                <a:lnTo>
                  <a:pt x="159827" y="48522"/>
                </a:lnTo>
                <a:lnTo>
                  <a:pt x="142001" y="23269"/>
                </a:lnTo>
                <a:lnTo>
                  <a:pt x="115560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FFE1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8035238" y="2740892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8315290" y="3005717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3" y="6243"/>
                </a:lnTo>
                <a:lnTo>
                  <a:pt x="24363" y="23269"/>
                </a:lnTo>
                <a:lnTo>
                  <a:pt x="6536" y="48523"/>
                </a:lnTo>
                <a:lnTo>
                  <a:pt x="0" y="79447"/>
                </a:lnTo>
                <a:lnTo>
                  <a:pt x="6536" y="110371"/>
                </a:lnTo>
                <a:lnTo>
                  <a:pt x="24363" y="135625"/>
                </a:lnTo>
                <a:lnTo>
                  <a:pt x="50803" y="152651"/>
                </a:lnTo>
                <a:lnTo>
                  <a:pt x="83182" y="158894"/>
                </a:lnTo>
                <a:lnTo>
                  <a:pt x="115560" y="152651"/>
                </a:lnTo>
                <a:lnTo>
                  <a:pt x="142001" y="135625"/>
                </a:lnTo>
                <a:lnTo>
                  <a:pt x="159827" y="110371"/>
                </a:lnTo>
                <a:lnTo>
                  <a:pt x="166364" y="79447"/>
                </a:lnTo>
                <a:lnTo>
                  <a:pt x="159827" y="48523"/>
                </a:lnTo>
                <a:lnTo>
                  <a:pt x="142001" y="23269"/>
                </a:lnTo>
                <a:lnTo>
                  <a:pt x="115560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FFE1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8315290" y="3005717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7588801" y="3318652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4" y="6243"/>
                </a:lnTo>
                <a:lnTo>
                  <a:pt x="24363" y="23269"/>
                </a:lnTo>
                <a:lnTo>
                  <a:pt x="6536" y="48523"/>
                </a:lnTo>
                <a:lnTo>
                  <a:pt x="0" y="79448"/>
                </a:lnTo>
                <a:lnTo>
                  <a:pt x="6536" y="110373"/>
                </a:lnTo>
                <a:lnTo>
                  <a:pt x="24363" y="135626"/>
                </a:lnTo>
                <a:lnTo>
                  <a:pt x="50804" y="152652"/>
                </a:lnTo>
                <a:lnTo>
                  <a:pt x="83182" y="158896"/>
                </a:lnTo>
                <a:lnTo>
                  <a:pt x="115561" y="152652"/>
                </a:lnTo>
                <a:lnTo>
                  <a:pt x="142001" y="135626"/>
                </a:lnTo>
                <a:lnTo>
                  <a:pt x="159828" y="110373"/>
                </a:lnTo>
                <a:lnTo>
                  <a:pt x="166364" y="79448"/>
                </a:lnTo>
                <a:lnTo>
                  <a:pt x="159828" y="48523"/>
                </a:lnTo>
                <a:lnTo>
                  <a:pt x="142001" y="23269"/>
                </a:lnTo>
                <a:lnTo>
                  <a:pt x="115561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7588801" y="3318652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8035238" y="3318652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3" y="6243"/>
                </a:lnTo>
                <a:lnTo>
                  <a:pt x="24363" y="23269"/>
                </a:lnTo>
                <a:lnTo>
                  <a:pt x="6536" y="48523"/>
                </a:lnTo>
                <a:lnTo>
                  <a:pt x="0" y="79448"/>
                </a:lnTo>
                <a:lnTo>
                  <a:pt x="6536" y="110373"/>
                </a:lnTo>
                <a:lnTo>
                  <a:pt x="24363" y="135626"/>
                </a:lnTo>
                <a:lnTo>
                  <a:pt x="50803" y="152652"/>
                </a:lnTo>
                <a:lnTo>
                  <a:pt x="83182" y="158896"/>
                </a:lnTo>
                <a:lnTo>
                  <a:pt x="115560" y="152652"/>
                </a:lnTo>
                <a:lnTo>
                  <a:pt x="142001" y="135626"/>
                </a:lnTo>
                <a:lnTo>
                  <a:pt x="159827" y="110373"/>
                </a:lnTo>
                <a:lnTo>
                  <a:pt x="166364" y="79448"/>
                </a:lnTo>
                <a:lnTo>
                  <a:pt x="159827" y="48523"/>
                </a:lnTo>
                <a:lnTo>
                  <a:pt x="142001" y="23269"/>
                </a:lnTo>
                <a:lnTo>
                  <a:pt x="115560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8035238" y="3318652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7477677" y="2815239"/>
            <a:ext cx="1189355" cy="937894"/>
          </a:xfrm>
          <a:custGeom>
            <a:avLst/>
            <a:gdLst/>
            <a:ahLst/>
            <a:cxnLst/>
            <a:rect l="l" t="t" r="r" b="b"/>
            <a:pathLst>
              <a:path w="1189354" h="937895">
                <a:moveTo>
                  <a:pt x="1180576" y="0"/>
                </a:moveTo>
                <a:lnTo>
                  <a:pt x="825577" y="0"/>
                </a:lnTo>
                <a:lnTo>
                  <a:pt x="553135" y="413127"/>
                </a:lnTo>
                <a:lnTo>
                  <a:pt x="49533" y="429017"/>
                </a:lnTo>
                <a:lnTo>
                  <a:pt x="0" y="929537"/>
                </a:lnTo>
                <a:lnTo>
                  <a:pt x="792554" y="937480"/>
                </a:lnTo>
                <a:lnTo>
                  <a:pt x="1188831" y="357515"/>
                </a:lnTo>
                <a:lnTo>
                  <a:pt x="1180576" y="0"/>
                </a:lnTo>
                <a:close/>
              </a:path>
            </a:pathLst>
          </a:custGeom>
          <a:solidFill>
            <a:srgbClr val="FF0000">
              <a:alpha val="239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7477677" y="2815239"/>
            <a:ext cx="1189355" cy="937894"/>
          </a:xfrm>
          <a:custGeom>
            <a:avLst/>
            <a:gdLst/>
            <a:ahLst/>
            <a:cxnLst/>
            <a:rect l="l" t="t" r="r" b="b"/>
            <a:pathLst>
              <a:path w="1189354" h="937895">
                <a:moveTo>
                  <a:pt x="0" y="929536"/>
                </a:moveTo>
                <a:lnTo>
                  <a:pt x="792554" y="937481"/>
                </a:lnTo>
                <a:lnTo>
                  <a:pt x="1188832" y="357514"/>
                </a:lnTo>
                <a:lnTo>
                  <a:pt x="1180577" y="0"/>
                </a:lnTo>
                <a:lnTo>
                  <a:pt x="825577" y="0"/>
                </a:lnTo>
                <a:lnTo>
                  <a:pt x="553136" y="413127"/>
                </a:lnTo>
                <a:lnTo>
                  <a:pt x="49534" y="429016"/>
                </a:lnTo>
                <a:lnTo>
                  <a:pt x="0" y="929536"/>
                </a:lnTo>
                <a:close/>
              </a:path>
            </a:pathLst>
          </a:custGeom>
          <a:ln w="19050">
            <a:solidFill>
              <a:srgbClr val="D4D4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778042" y="1894648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3" y="6243"/>
                </a:lnTo>
                <a:lnTo>
                  <a:pt x="24363" y="23269"/>
                </a:lnTo>
                <a:lnTo>
                  <a:pt x="6536" y="48523"/>
                </a:lnTo>
                <a:lnTo>
                  <a:pt x="0" y="79447"/>
                </a:lnTo>
                <a:lnTo>
                  <a:pt x="6536" y="110371"/>
                </a:lnTo>
                <a:lnTo>
                  <a:pt x="24363" y="135625"/>
                </a:lnTo>
                <a:lnTo>
                  <a:pt x="50803" y="152651"/>
                </a:lnTo>
                <a:lnTo>
                  <a:pt x="83182" y="158894"/>
                </a:lnTo>
                <a:lnTo>
                  <a:pt x="115561" y="152651"/>
                </a:lnTo>
                <a:lnTo>
                  <a:pt x="142001" y="135625"/>
                </a:lnTo>
                <a:lnTo>
                  <a:pt x="159828" y="110371"/>
                </a:lnTo>
                <a:lnTo>
                  <a:pt x="166364" y="79447"/>
                </a:lnTo>
                <a:lnTo>
                  <a:pt x="159828" y="48523"/>
                </a:lnTo>
                <a:lnTo>
                  <a:pt x="142001" y="23269"/>
                </a:lnTo>
                <a:lnTo>
                  <a:pt x="115561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FFE1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5778042" y="1894648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6080754" y="1629822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4" y="6243"/>
                </a:lnTo>
                <a:lnTo>
                  <a:pt x="24363" y="23269"/>
                </a:lnTo>
                <a:lnTo>
                  <a:pt x="6536" y="48523"/>
                </a:lnTo>
                <a:lnTo>
                  <a:pt x="0" y="79447"/>
                </a:lnTo>
                <a:lnTo>
                  <a:pt x="6536" y="110372"/>
                </a:lnTo>
                <a:lnTo>
                  <a:pt x="24363" y="135625"/>
                </a:lnTo>
                <a:lnTo>
                  <a:pt x="50804" y="152651"/>
                </a:lnTo>
                <a:lnTo>
                  <a:pt x="83182" y="158894"/>
                </a:lnTo>
                <a:lnTo>
                  <a:pt x="115561" y="152651"/>
                </a:lnTo>
                <a:lnTo>
                  <a:pt x="142001" y="135625"/>
                </a:lnTo>
                <a:lnTo>
                  <a:pt x="159828" y="110372"/>
                </a:lnTo>
                <a:lnTo>
                  <a:pt x="166364" y="79447"/>
                </a:lnTo>
                <a:lnTo>
                  <a:pt x="159828" y="48523"/>
                </a:lnTo>
                <a:lnTo>
                  <a:pt x="142001" y="23269"/>
                </a:lnTo>
                <a:lnTo>
                  <a:pt x="115561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6080754" y="1629822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6527191" y="1629822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4" y="6243"/>
                </a:lnTo>
                <a:lnTo>
                  <a:pt x="24363" y="23269"/>
                </a:lnTo>
                <a:lnTo>
                  <a:pt x="6536" y="48523"/>
                </a:lnTo>
                <a:lnTo>
                  <a:pt x="0" y="79447"/>
                </a:lnTo>
                <a:lnTo>
                  <a:pt x="6536" y="110372"/>
                </a:lnTo>
                <a:lnTo>
                  <a:pt x="24363" y="135625"/>
                </a:lnTo>
                <a:lnTo>
                  <a:pt x="50804" y="152651"/>
                </a:lnTo>
                <a:lnTo>
                  <a:pt x="83182" y="158894"/>
                </a:lnTo>
                <a:lnTo>
                  <a:pt x="115561" y="152651"/>
                </a:lnTo>
                <a:lnTo>
                  <a:pt x="142001" y="135625"/>
                </a:lnTo>
                <a:lnTo>
                  <a:pt x="159828" y="110372"/>
                </a:lnTo>
                <a:lnTo>
                  <a:pt x="166364" y="79447"/>
                </a:lnTo>
                <a:lnTo>
                  <a:pt x="159828" y="48523"/>
                </a:lnTo>
                <a:lnTo>
                  <a:pt x="142001" y="23269"/>
                </a:lnTo>
                <a:lnTo>
                  <a:pt x="115561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FFE1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6527191" y="1629822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6807243" y="1894648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4" y="6243"/>
                </a:lnTo>
                <a:lnTo>
                  <a:pt x="24363" y="23269"/>
                </a:lnTo>
                <a:lnTo>
                  <a:pt x="6536" y="48523"/>
                </a:lnTo>
                <a:lnTo>
                  <a:pt x="0" y="79447"/>
                </a:lnTo>
                <a:lnTo>
                  <a:pt x="6536" y="110371"/>
                </a:lnTo>
                <a:lnTo>
                  <a:pt x="24363" y="135625"/>
                </a:lnTo>
                <a:lnTo>
                  <a:pt x="50804" y="152651"/>
                </a:lnTo>
                <a:lnTo>
                  <a:pt x="83182" y="158894"/>
                </a:lnTo>
                <a:lnTo>
                  <a:pt x="115561" y="152651"/>
                </a:lnTo>
                <a:lnTo>
                  <a:pt x="142001" y="135625"/>
                </a:lnTo>
                <a:lnTo>
                  <a:pt x="159828" y="110371"/>
                </a:lnTo>
                <a:lnTo>
                  <a:pt x="166364" y="79447"/>
                </a:lnTo>
                <a:lnTo>
                  <a:pt x="159828" y="48523"/>
                </a:lnTo>
                <a:lnTo>
                  <a:pt x="142001" y="23269"/>
                </a:lnTo>
                <a:lnTo>
                  <a:pt x="115561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FFE1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6807243" y="1894648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6080754" y="2207583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4" y="6243"/>
                </a:lnTo>
                <a:lnTo>
                  <a:pt x="24363" y="23269"/>
                </a:lnTo>
                <a:lnTo>
                  <a:pt x="6536" y="48523"/>
                </a:lnTo>
                <a:lnTo>
                  <a:pt x="0" y="79447"/>
                </a:lnTo>
                <a:lnTo>
                  <a:pt x="6536" y="110371"/>
                </a:lnTo>
                <a:lnTo>
                  <a:pt x="24363" y="135625"/>
                </a:lnTo>
                <a:lnTo>
                  <a:pt x="50804" y="152651"/>
                </a:lnTo>
                <a:lnTo>
                  <a:pt x="83182" y="158894"/>
                </a:lnTo>
                <a:lnTo>
                  <a:pt x="115561" y="152651"/>
                </a:lnTo>
                <a:lnTo>
                  <a:pt x="142001" y="135625"/>
                </a:lnTo>
                <a:lnTo>
                  <a:pt x="159828" y="110371"/>
                </a:lnTo>
                <a:lnTo>
                  <a:pt x="166364" y="79447"/>
                </a:lnTo>
                <a:lnTo>
                  <a:pt x="159828" y="48523"/>
                </a:lnTo>
                <a:lnTo>
                  <a:pt x="142001" y="23269"/>
                </a:lnTo>
                <a:lnTo>
                  <a:pt x="115561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6080754" y="2207583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6527191" y="2207583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4" y="6243"/>
                </a:lnTo>
                <a:lnTo>
                  <a:pt x="24363" y="23269"/>
                </a:lnTo>
                <a:lnTo>
                  <a:pt x="6536" y="48523"/>
                </a:lnTo>
                <a:lnTo>
                  <a:pt x="0" y="79447"/>
                </a:lnTo>
                <a:lnTo>
                  <a:pt x="6536" y="110371"/>
                </a:lnTo>
                <a:lnTo>
                  <a:pt x="24363" y="135625"/>
                </a:lnTo>
                <a:lnTo>
                  <a:pt x="50804" y="152651"/>
                </a:lnTo>
                <a:lnTo>
                  <a:pt x="83182" y="158894"/>
                </a:lnTo>
                <a:lnTo>
                  <a:pt x="115561" y="152651"/>
                </a:lnTo>
                <a:lnTo>
                  <a:pt x="142001" y="135625"/>
                </a:lnTo>
                <a:lnTo>
                  <a:pt x="159828" y="110371"/>
                </a:lnTo>
                <a:lnTo>
                  <a:pt x="166364" y="79447"/>
                </a:lnTo>
                <a:lnTo>
                  <a:pt x="159828" y="48523"/>
                </a:lnTo>
                <a:lnTo>
                  <a:pt x="142001" y="23269"/>
                </a:lnTo>
                <a:lnTo>
                  <a:pt x="115561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6527191" y="2207583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7658544" y="2079029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3" y="6243"/>
                </a:lnTo>
                <a:lnTo>
                  <a:pt x="24363" y="23269"/>
                </a:lnTo>
                <a:lnTo>
                  <a:pt x="6536" y="48522"/>
                </a:lnTo>
                <a:lnTo>
                  <a:pt x="0" y="79447"/>
                </a:lnTo>
                <a:lnTo>
                  <a:pt x="6536" y="110371"/>
                </a:lnTo>
                <a:lnTo>
                  <a:pt x="24363" y="135625"/>
                </a:lnTo>
                <a:lnTo>
                  <a:pt x="50803" y="152651"/>
                </a:lnTo>
                <a:lnTo>
                  <a:pt x="83182" y="158894"/>
                </a:lnTo>
                <a:lnTo>
                  <a:pt x="115560" y="152651"/>
                </a:lnTo>
                <a:lnTo>
                  <a:pt x="142001" y="135625"/>
                </a:lnTo>
                <a:lnTo>
                  <a:pt x="159827" y="110371"/>
                </a:lnTo>
                <a:lnTo>
                  <a:pt x="166364" y="79447"/>
                </a:lnTo>
                <a:lnTo>
                  <a:pt x="159827" y="48522"/>
                </a:lnTo>
                <a:lnTo>
                  <a:pt x="142001" y="23269"/>
                </a:lnTo>
                <a:lnTo>
                  <a:pt x="115560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7658544" y="2079029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7354350" y="1710956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3" y="6243"/>
                </a:lnTo>
                <a:lnTo>
                  <a:pt x="24363" y="23269"/>
                </a:lnTo>
                <a:lnTo>
                  <a:pt x="6536" y="48523"/>
                </a:lnTo>
                <a:lnTo>
                  <a:pt x="0" y="79447"/>
                </a:lnTo>
                <a:lnTo>
                  <a:pt x="6536" y="110372"/>
                </a:lnTo>
                <a:lnTo>
                  <a:pt x="24363" y="135625"/>
                </a:lnTo>
                <a:lnTo>
                  <a:pt x="50803" y="152651"/>
                </a:lnTo>
                <a:lnTo>
                  <a:pt x="83182" y="158894"/>
                </a:lnTo>
                <a:lnTo>
                  <a:pt x="115560" y="152651"/>
                </a:lnTo>
                <a:lnTo>
                  <a:pt x="142001" y="135625"/>
                </a:lnTo>
                <a:lnTo>
                  <a:pt x="159827" y="110372"/>
                </a:lnTo>
                <a:lnTo>
                  <a:pt x="166364" y="79447"/>
                </a:lnTo>
                <a:lnTo>
                  <a:pt x="159827" y="48523"/>
                </a:lnTo>
                <a:lnTo>
                  <a:pt x="142001" y="23269"/>
                </a:lnTo>
                <a:lnTo>
                  <a:pt x="115560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7354350" y="1710956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8049221" y="1709270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3" y="6243"/>
                </a:lnTo>
                <a:lnTo>
                  <a:pt x="24363" y="23269"/>
                </a:lnTo>
                <a:lnTo>
                  <a:pt x="6536" y="48523"/>
                </a:lnTo>
                <a:lnTo>
                  <a:pt x="0" y="79447"/>
                </a:lnTo>
                <a:lnTo>
                  <a:pt x="6536" y="110371"/>
                </a:lnTo>
                <a:lnTo>
                  <a:pt x="24363" y="135625"/>
                </a:lnTo>
                <a:lnTo>
                  <a:pt x="50803" y="152651"/>
                </a:lnTo>
                <a:lnTo>
                  <a:pt x="83182" y="158894"/>
                </a:lnTo>
                <a:lnTo>
                  <a:pt x="115560" y="152651"/>
                </a:lnTo>
                <a:lnTo>
                  <a:pt x="142001" y="135625"/>
                </a:lnTo>
                <a:lnTo>
                  <a:pt x="159827" y="110371"/>
                </a:lnTo>
                <a:lnTo>
                  <a:pt x="166364" y="79447"/>
                </a:lnTo>
                <a:lnTo>
                  <a:pt x="159827" y="48523"/>
                </a:lnTo>
                <a:lnTo>
                  <a:pt x="142001" y="23269"/>
                </a:lnTo>
                <a:lnTo>
                  <a:pt x="115560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FFE1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8049221" y="1709270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6474690" y="5306291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4" y="6243"/>
                </a:lnTo>
                <a:lnTo>
                  <a:pt x="24363" y="23269"/>
                </a:lnTo>
                <a:lnTo>
                  <a:pt x="6536" y="48523"/>
                </a:lnTo>
                <a:lnTo>
                  <a:pt x="0" y="79447"/>
                </a:lnTo>
                <a:lnTo>
                  <a:pt x="6536" y="110371"/>
                </a:lnTo>
                <a:lnTo>
                  <a:pt x="24363" y="135625"/>
                </a:lnTo>
                <a:lnTo>
                  <a:pt x="50804" y="152651"/>
                </a:lnTo>
                <a:lnTo>
                  <a:pt x="83182" y="158894"/>
                </a:lnTo>
                <a:lnTo>
                  <a:pt x="115561" y="152651"/>
                </a:lnTo>
                <a:lnTo>
                  <a:pt x="142001" y="135625"/>
                </a:lnTo>
                <a:lnTo>
                  <a:pt x="159828" y="110371"/>
                </a:lnTo>
                <a:lnTo>
                  <a:pt x="166364" y="79447"/>
                </a:lnTo>
                <a:lnTo>
                  <a:pt x="159828" y="48523"/>
                </a:lnTo>
                <a:lnTo>
                  <a:pt x="142001" y="23269"/>
                </a:lnTo>
                <a:lnTo>
                  <a:pt x="115561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6474690" y="5306291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6787314" y="5306291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3" y="6243"/>
                </a:lnTo>
                <a:lnTo>
                  <a:pt x="24363" y="23269"/>
                </a:lnTo>
                <a:lnTo>
                  <a:pt x="6536" y="48523"/>
                </a:lnTo>
                <a:lnTo>
                  <a:pt x="0" y="79447"/>
                </a:lnTo>
                <a:lnTo>
                  <a:pt x="6536" y="110371"/>
                </a:lnTo>
                <a:lnTo>
                  <a:pt x="24363" y="135625"/>
                </a:lnTo>
                <a:lnTo>
                  <a:pt x="50803" y="152651"/>
                </a:lnTo>
                <a:lnTo>
                  <a:pt x="83182" y="158894"/>
                </a:lnTo>
                <a:lnTo>
                  <a:pt x="115560" y="152651"/>
                </a:lnTo>
                <a:lnTo>
                  <a:pt x="142001" y="135625"/>
                </a:lnTo>
                <a:lnTo>
                  <a:pt x="159827" y="110371"/>
                </a:lnTo>
                <a:lnTo>
                  <a:pt x="166364" y="79447"/>
                </a:lnTo>
                <a:lnTo>
                  <a:pt x="159827" y="48523"/>
                </a:lnTo>
                <a:lnTo>
                  <a:pt x="142001" y="23269"/>
                </a:lnTo>
                <a:lnTo>
                  <a:pt x="115560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6787314" y="5306291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6477989" y="5633103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4" y="6243"/>
                </a:lnTo>
                <a:lnTo>
                  <a:pt x="24363" y="23269"/>
                </a:lnTo>
                <a:lnTo>
                  <a:pt x="6536" y="48522"/>
                </a:lnTo>
                <a:lnTo>
                  <a:pt x="0" y="79447"/>
                </a:lnTo>
                <a:lnTo>
                  <a:pt x="6536" y="110372"/>
                </a:lnTo>
                <a:lnTo>
                  <a:pt x="24363" y="135625"/>
                </a:lnTo>
                <a:lnTo>
                  <a:pt x="50804" y="152651"/>
                </a:lnTo>
                <a:lnTo>
                  <a:pt x="83182" y="158895"/>
                </a:lnTo>
                <a:lnTo>
                  <a:pt x="115561" y="152651"/>
                </a:lnTo>
                <a:lnTo>
                  <a:pt x="142001" y="135625"/>
                </a:lnTo>
                <a:lnTo>
                  <a:pt x="159828" y="110372"/>
                </a:lnTo>
                <a:lnTo>
                  <a:pt x="166364" y="79447"/>
                </a:lnTo>
                <a:lnTo>
                  <a:pt x="159828" y="48522"/>
                </a:lnTo>
                <a:lnTo>
                  <a:pt x="142001" y="23269"/>
                </a:lnTo>
                <a:lnTo>
                  <a:pt x="115561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6477989" y="5633103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6787312" y="5633103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4" y="6243"/>
                </a:lnTo>
                <a:lnTo>
                  <a:pt x="24363" y="23269"/>
                </a:lnTo>
                <a:lnTo>
                  <a:pt x="6536" y="48522"/>
                </a:lnTo>
                <a:lnTo>
                  <a:pt x="0" y="79447"/>
                </a:lnTo>
                <a:lnTo>
                  <a:pt x="6536" y="110372"/>
                </a:lnTo>
                <a:lnTo>
                  <a:pt x="24363" y="135625"/>
                </a:lnTo>
                <a:lnTo>
                  <a:pt x="50804" y="152651"/>
                </a:lnTo>
                <a:lnTo>
                  <a:pt x="83182" y="158895"/>
                </a:lnTo>
                <a:lnTo>
                  <a:pt x="115561" y="152651"/>
                </a:lnTo>
                <a:lnTo>
                  <a:pt x="142001" y="135625"/>
                </a:lnTo>
                <a:lnTo>
                  <a:pt x="159828" y="110372"/>
                </a:lnTo>
                <a:lnTo>
                  <a:pt x="166364" y="79447"/>
                </a:lnTo>
                <a:lnTo>
                  <a:pt x="159828" y="48522"/>
                </a:lnTo>
                <a:lnTo>
                  <a:pt x="142001" y="23269"/>
                </a:lnTo>
                <a:lnTo>
                  <a:pt x="115561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6787312" y="5633103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7060165" y="5303855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3" y="6243"/>
                </a:lnTo>
                <a:lnTo>
                  <a:pt x="24363" y="23269"/>
                </a:lnTo>
                <a:lnTo>
                  <a:pt x="6536" y="48522"/>
                </a:lnTo>
                <a:lnTo>
                  <a:pt x="0" y="79447"/>
                </a:lnTo>
                <a:lnTo>
                  <a:pt x="6536" y="110371"/>
                </a:lnTo>
                <a:lnTo>
                  <a:pt x="24363" y="135625"/>
                </a:lnTo>
                <a:lnTo>
                  <a:pt x="50803" y="152651"/>
                </a:lnTo>
                <a:lnTo>
                  <a:pt x="83182" y="158894"/>
                </a:lnTo>
                <a:lnTo>
                  <a:pt x="115561" y="152651"/>
                </a:lnTo>
                <a:lnTo>
                  <a:pt x="142001" y="135625"/>
                </a:lnTo>
                <a:lnTo>
                  <a:pt x="159828" y="110371"/>
                </a:lnTo>
                <a:lnTo>
                  <a:pt x="166364" y="79447"/>
                </a:lnTo>
                <a:lnTo>
                  <a:pt x="159828" y="48522"/>
                </a:lnTo>
                <a:lnTo>
                  <a:pt x="142001" y="23269"/>
                </a:lnTo>
                <a:lnTo>
                  <a:pt x="115561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7060165" y="5303855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7372789" y="5303855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3" y="6243"/>
                </a:lnTo>
                <a:lnTo>
                  <a:pt x="24363" y="23269"/>
                </a:lnTo>
                <a:lnTo>
                  <a:pt x="6536" y="48522"/>
                </a:lnTo>
                <a:lnTo>
                  <a:pt x="0" y="79447"/>
                </a:lnTo>
                <a:lnTo>
                  <a:pt x="6536" y="110371"/>
                </a:lnTo>
                <a:lnTo>
                  <a:pt x="24363" y="135625"/>
                </a:lnTo>
                <a:lnTo>
                  <a:pt x="50803" y="152651"/>
                </a:lnTo>
                <a:lnTo>
                  <a:pt x="83182" y="158894"/>
                </a:lnTo>
                <a:lnTo>
                  <a:pt x="115560" y="152651"/>
                </a:lnTo>
                <a:lnTo>
                  <a:pt x="142001" y="135625"/>
                </a:lnTo>
                <a:lnTo>
                  <a:pt x="159827" y="110371"/>
                </a:lnTo>
                <a:lnTo>
                  <a:pt x="166364" y="79447"/>
                </a:lnTo>
                <a:lnTo>
                  <a:pt x="159827" y="48522"/>
                </a:lnTo>
                <a:lnTo>
                  <a:pt x="142001" y="23269"/>
                </a:lnTo>
                <a:lnTo>
                  <a:pt x="115560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7372789" y="5303855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7063464" y="5630667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4" y="6243"/>
                </a:lnTo>
                <a:lnTo>
                  <a:pt x="24363" y="23269"/>
                </a:lnTo>
                <a:lnTo>
                  <a:pt x="6536" y="48522"/>
                </a:lnTo>
                <a:lnTo>
                  <a:pt x="0" y="79447"/>
                </a:lnTo>
                <a:lnTo>
                  <a:pt x="6536" y="110372"/>
                </a:lnTo>
                <a:lnTo>
                  <a:pt x="24363" y="135625"/>
                </a:lnTo>
                <a:lnTo>
                  <a:pt x="50804" y="152651"/>
                </a:lnTo>
                <a:lnTo>
                  <a:pt x="83182" y="158894"/>
                </a:lnTo>
                <a:lnTo>
                  <a:pt x="115561" y="152651"/>
                </a:lnTo>
                <a:lnTo>
                  <a:pt x="142001" y="135625"/>
                </a:lnTo>
                <a:lnTo>
                  <a:pt x="159828" y="110372"/>
                </a:lnTo>
                <a:lnTo>
                  <a:pt x="166364" y="79447"/>
                </a:lnTo>
                <a:lnTo>
                  <a:pt x="159828" y="48522"/>
                </a:lnTo>
                <a:lnTo>
                  <a:pt x="142001" y="23269"/>
                </a:lnTo>
                <a:lnTo>
                  <a:pt x="115561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7063464" y="5630667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7372787" y="5630667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3" y="6243"/>
                </a:lnTo>
                <a:lnTo>
                  <a:pt x="24363" y="23269"/>
                </a:lnTo>
                <a:lnTo>
                  <a:pt x="6536" y="48522"/>
                </a:lnTo>
                <a:lnTo>
                  <a:pt x="0" y="79447"/>
                </a:lnTo>
                <a:lnTo>
                  <a:pt x="6536" y="110372"/>
                </a:lnTo>
                <a:lnTo>
                  <a:pt x="24363" y="135625"/>
                </a:lnTo>
                <a:lnTo>
                  <a:pt x="50803" y="152651"/>
                </a:lnTo>
                <a:lnTo>
                  <a:pt x="83182" y="158894"/>
                </a:lnTo>
                <a:lnTo>
                  <a:pt x="115561" y="152651"/>
                </a:lnTo>
                <a:lnTo>
                  <a:pt x="142001" y="135625"/>
                </a:lnTo>
                <a:lnTo>
                  <a:pt x="159828" y="110372"/>
                </a:lnTo>
                <a:lnTo>
                  <a:pt x="166364" y="79447"/>
                </a:lnTo>
                <a:lnTo>
                  <a:pt x="159828" y="48522"/>
                </a:lnTo>
                <a:lnTo>
                  <a:pt x="142001" y="23269"/>
                </a:lnTo>
                <a:lnTo>
                  <a:pt x="115561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7372787" y="5630667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7814626" y="5303855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3" y="6243"/>
                </a:lnTo>
                <a:lnTo>
                  <a:pt x="24363" y="23269"/>
                </a:lnTo>
                <a:lnTo>
                  <a:pt x="6536" y="48522"/>
                </a:lnTo>
                <a:lnTo>
                  <a:pt x="0" y="79447"/>
                </a:lnTo>
                <a:lnTo>
                  <a:pt x="6536" y="110371"/>
                </a:lnTo>
                <a:lnTo>
                  <a:pt x="24363" y="135625"/>
                </a:lnTo>
                <a:lnTo>
                  <a:pt x="50803" y="152651"/>
                </a:lnTo>
                <a:lnTo>
                  <a:pt x="83182" y="158894"/>
                </a:lnTo>
                <a:lnTo>
                  <a:pt x="115560" y="152651"/>
                </a:lnTo>
                <a:lnTo>
                  <a:pt x="142001" y="135625"/>
                </a:lnTo>
                <a:lnTo>
                  <a:pt x="159827" y="110371"/>
                </a:lnTo>
                <a:lnTo>
                  <a:pt x="166364" y="79447"/>
                </a:lnTo>
                <a:lnTo>
                  <a:pt x="159827" y="48522"/>
                </a:lnTo>
                <a:lnTo>
                  <a:pt x="142001" y="23269"/>
                </a:lnTo>
                <a:lnTo>
                  <a:pt x="115560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7814626" y="5303855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8127249" y="5303855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4" y="6243"/>
                </a:lnTo>
                <a:lnTo>
                  <a:pt x="24363" y="23269"/>
                </a:lnTo>
                <a:lnTo>
                  <a:pt x="6536" y="48522"/>
                </a:lnTo>
                <a:lnTo>
                  <a:pt x="0" y="79447"/>
                </a:lnTo>
                <a:lnTo>
                  <a:pt x="6536" y="110371"/>
                </a:lnTo>
                <a:lnTo>
                  <a:pt x="24363" y="135625"/>
                </a:lnTo>
                <a:lnTo>
                  <a:pt x="50804" y="152651"/>
                </a:lnTo>
                <a:lnTo>
                  <a:pt x="83182" y="158894"/>
                </a:lnTo>
                <a:lnTo>
                  <a:pt x="115561" y="152651"/>
                </a:lnTo>
                <a:lnTo>
                  <a:pt x="142001" y="135625"/>
                </a:lnTo>
                <a:lnTo>
                  <a:pt x="159828" y="110371"/>
                </a:lnTo>
                <a:lnTo>
                  <a:pt x="166364" y="79447"/>
                </a:lnTo>
                <a:lnTo>
                  <a:pt x="159828" y="48522"/>
                </a:lnTo>
                <a:lnTo>
                  <a:pt x="142001" y="23269"/>
                </a:lnTo>
                <a:lnTo>
                  <a:pt x="115561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8127249" y="5303855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7817925" y="5630667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3" y="6243"/>
                </a:lnTo>
                <a:lnTo>
                  <a:pt x="24363" y="23269"/>
                </a:lnTo>
                <a:lnTo>
                  <a:pt x="6536" y="48522"/>
                </a:lnTo>
                <a:lnTo>
                  <a:pt x="0" y="79447"/>
                </a:lnTo>
                <a:lnTo>
                  <a:pt x="6536" y="110372"/>
                </a:lnTo>
                <a:lnTo>
                  <a:pt x="24363" y="135625"/>
                </a:lnTo>
                <a:lnTo>
                  <a:pt x="50803" y="152651"/>
                </a:lnTo>
                <a:lnTo>
                  <a:pt x="83182" y="158894"/>
                </a:lnTo>
                <a:lnTo>
                  <a:pt x="115561" y="152651"/>
                </a:lnTo>
                <a:lnTo>
                  <a:pt x="142001" y="135625"/>
                </a:lnTo>
                <a:lnTo>
                  <a:pt x="159828" y="110372"/>
                </a:lnTo>
                <a:lnTo>
                  <a:pt x="166364" y="79447"/>
                </a:lnTo>
                <a:lnTo>
                  <a:pt x="159828" y="48522"/>
                </a:lnTo>
                <a:lnTo>
                  <a:pt x="142001" y="23269"/>
                </a:lnTo>
                <a:lnTo>
                  <a:pt x="115561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7817925" y="5630667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8127248" y="5630667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4" y="6243"/>
                </a:lnTo>
                <a:lnTo>
                  <a:pt x="24363" y="23269"/>
                </a:lnTo>
                <a:lnTo>
                  <a:pt x="6536" y="48522"/>
                </a:lnTo>
                <a:lnTo>
                  <a:pt x="0" y="79447"/>
                </a:lnTo>
                <a:lnTo>
                  <a:pt x="6536" y="110372"/>
                </a:lnTo>
                <a:lnTo>
                  <a:pt x="24363" y="135625"/>
                </a:lnTo>
                <a:lnTo>
                  <a:pt x="50804" y="152651"/>
                </a:lnTo>
                <a:lnTo>
                  <a:pt x="83182" y="158894"/>
                </a:lnTo>
                <a:lnTo>
                  <a:pt x="115561" y="152651"/>
                </a:lnTo>
                <a:lnTo>
                  <a:pt x="142001" y="135625"/>
                </a:lnTo>
                <a:lnTo>
                  <a:pt x="159828" y="110372"/>
                </a:lnTo>
                <a:lnTo>
                  <a:pt x="166364" y="79447"/>
                </a:lnTo>
                <a:lnTo>
                  <a:pt x="159828" y="48522"/>
                </a:lnTo>
                <a:lnTo>
                  <a:pt x="142001" y="23269"/>
                </a:lnTo>
                <a:lnTo>
                  <a:pt x="115561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8127248" y="5630667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8444698" y="5303855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3" y="6243"/>
                </a:lnTo>
                <a:lnTo>
                  <a:pt x="24363" y="23269"/>
                </a:lnTo>
                <a:lnTo>
                  <a:pt x="6536" y="48522"/>
                </a:lnTo>
                <a:lnTo>
                  <a:pt x="0" y="79447"/>
                </a:lnTo>
                <a:lnTo>
                  <a:pt x="6536" y="110371"/>
                </a:lnTo>
                <a:lnTo>
                  <a:pt x="24363" y="135625"/>
                </a:lnTo>
                <a:lnTo>
                  <a:pt x="50803" y="152651"/>
                </a:lnTo>
                <a:lnTo>
                  <a:pt x="83182" y="158894"/>
                </a:lnTo>
                <a:lnTo>
                  <a:pt x="115560" y="152651"/>
                </a:lnTo>
                <a:lnTo>
                  <a:pt x="142001" y="135625"/>
                </a:lnTo>
                <a:lnTo>
                  <a:pt x="159827" y="110371"/>
                </a:lnTo>
                <a:lnTo>
                  <a:pt x="166364" y="79447"/>
                </a:lnTo>
                <a:lnTo>
                  <a:pt x="159827" y="48522"/>
                </a:lnTo>
                <a:lnTo>
                  <a:pt x="142001" y="23269"/>
                </a:lnTo>
                <a:lnTo>
                  <a:pt x="115560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8444698" y="5303855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8757322" y="5303855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4" y="6243"/>
                </a:lnTo>
                <a:lnTo>
                  <a:pt x="24363" y="23269"/>
                </a:lnTo>
                <a:lnTo>
                  <a:pt x="6536" y="48522"/>
                </a:lnTo>
                <a:lnTo>
                  <a:pt x="0" y="79447"/>
                </a:lnTo>
                <a:lnTo>
                  <a:pt x="6536" y="110371"/>
                </a:lnTo>
                <a:lnTo>
                  <a:pt x="24363" y="135625"/>
                </a:lnTo>
                <a:lnTo>
                  <a:pt x="50804" y="152651"/>
                </a:lnTo>
                <a:lnTo>
                  <a:pt x="83182" y="158894"/>
                </a:lnTo>
                <a:lnTo>
                  <a:pt x="115561" y="152651"/>
                </a:lnTo>
                <a:lnTo>
                  <a:pt x="142001" y="135625"/>
                </a:lnTo>
                <a:lnTo>
                  <a:pt x="159828" y="110371"/>
                </a:lnTo>
                <a:lnTo>
                  <a:pt x="166364" y="79447"/>
                </a:lnTo>
                <a:lnTo>
                  <a:pt x="159828" y="48522"/>
                </a:lnTo>
                <a:lnTo>
                  <a:pt x="142001" y="23269"/>
                </a:lnTo>
                <a:lnTo>
                  <a:pt x="115561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8757322" y="5303855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8447998" y="5630667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3" y="6243"/>
                </a:lnTo>
                <a:lnTo>
                  <a:pt x="24363" y="23269"/>
                </a:lnTo>
                <a:lnTo>
                  <a:pt x="6536" y="48522"/>
                </a:lnTo>
                <a:lnTo>
                  <a:pt x="0" y="79447"/>
                </a:lnTo>
                <a:lnTo>
                  <a:pt x="6536" y="110372"/>
                </a:lnTo>
                <a:lnTo>
                  <a:pt x="24363" y="135625"/>
                </a:lnTo>
                <a:lnTo>
                  <a:pt x="50803" y="152651"/>
                </a:lnTo>
                <a:lnTo>
                  <a:pt x="83182" y="158894"/>
                </a:lnTo>
                <a:lnTo>
                  <a:pt x="115560" y="152651"/>
                </a:lnTo>
                <a:lnTo>
                  <a:pt x="142001" y="135625"/>
                </a:lnTo>
                <a:lnTo>
                  <a:pt x="159827" y="110372"/>
                </a:lnTo>
                <a:lnTo>
                  <a:pt x="166364" y="79447"/>
                </a:lnTo>
                <a:lnTo>
                  <a:pt x="159827" y="48522"/>
                </a:lnTo>
                <a:lnTo>
                  <a:pt x="142001" y="23269"/>
                </a:lnTo>
                <a:lnTo>
                  <a:pt x="115560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8447998" y="5630667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8757320" y="5630667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83182" y="0"/>
                </a:moveTo>
                <a:lnTo>
                  <a:pt x="50803" y="6243"/>
                </a:lnTo>
                <a:lnTo>
                  <a:pt x="24363" y="23269"/>
                </a:lnTo>
                <a:lnTo>
                  <a:pt x="6536" y="48522"/>
                </a:lnTo>
                <a:lnTo>
                  <a:pt x="0" y="79447"/>
                </a:lnTo>
                <a:lnTo>
                  <a:pt x="6536" y="110372"/>
                </a:lnTo>
                <a:lnTo>
                  <a:pt x="24363" y="135625"/>
                </a:lnTo>
                <a:lnTo>
                  <a:pt x="50803" y="152651"/>
                </a:lnTo>
                <a:lnTo>
                  <a:pt x="83182" y="158894"/>
                </a:lnTo>
                <a:lnTo>
                  <a:pt x="115561" y="152651"/>
                </a:lnTo>
                <a:lnTo>
                  <a:pt x="142001" y="135625"/>
                </a:lnTo>
                <a:lnTo>
                  <a:pt x="159828" y="110372"/>
                </a:lnTo>
                <a:lnTo>
                  <a:pt x="166364" y="79447"/>
                </a:lnTo>
                <a:lnTo>
                  <a:pt x="159828" y="48522"/>
                </a:lnTo>
                <a:lnTo>
                  <a:pt x="142001" y="23269"/>
                </a:lnTo>
                <a:lnTo>
                  <a:pt x="115561" y="6243"/>
                </a:lnTo>
                <a:lnTo>
                  <a:pt x="8318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8757320" y="5630667"/>
            <a:ext cx="166370" cy="159385"/>
          </a:xfrm>
          <a:custGeom>
            <a:avLst/>
            <a:gdLst/>
            <a:ahLst/>
            <a:cxnLst/>
            <a:rect l="l" t="t" r="r" b="b"/>
            <a:pathLst>
              <a:path w="166370" h="159385">
                <a:moveTo>
                  <a:pt x="0" y="79447"/>
                </a:moveTo>
                <a:lnTo>
                  <a:pt x="6536" y="48522"/>
                </a:lnTo>
                <a:lnTo>
                  <a:pt x="24363" y="23269"/>
                </a:lnTo>
                <a:lnTo>
                  <a:pt x="50804" y="6243"/>
                </a:lnTo>
                <a:lnTo>
                  <a:pt x="83182" y="0"/>
                </a:lnTo>
                <a:lnTo>
                  <a:pt x="115560" y="6243"/>
                </a:lnTo>
                <a:lnTo>
                  <a:pt x="142001" y="23269"/>
                </a:lnTo>
                <a:lnTo>
                  <a:pt x="159828" y="48522"/>
                </a:lnTo>
                <a:lnTo>
                  <a:pt x="166365" y="79447"/>
                </a:lnTo>
                <a:lnTo>
                  <a:pt x="159828" y="110372"/>
                </a:lnTo>
                <a:lnTo>
                  <a:pt x="142001" y="135625"/>
                </a:lnTo>
                <a:lnTo>
                  <a:pt x="115560" y="152651"/>
                </a:lnTo>
                <a:lnTo>
                  <a:pt x="83182" y="158895"/>
                </a:lnTo>
                <a:lnTo>
                  <a:pt x="50804" y="152651"/>
                </a:lnTo>
                <a:lnTo>
                  <a:pt x="24363" y="135625"/>
                </a:lnTo>
                <a:lnTo>
                  <a:pt x="6536" y="110372"/>
                </a:lnTo>
                <a:lnTo>
                  <a:pt x="0" y="794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149" name="object 14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50" name="object 15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27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1375"/>
            <a:ext cx="4224528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80097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/>
              <a:t>Subgraphs </a:t>
            </a:r>
            <a:r>
              <a:rPr dirty="0"/>
              <a:t>and </a:t>
            </a:r>
            <a:r>
              <a:rPr dirty="0" spc="-10"/>
              <a:t>motifs </a:t>
            </a:r>
            <a:r>
              <a:rPr dirty="0" spc="-20"/>
              <a:t>are </a:t>
            </a:r>
            <a:r>
              <a:rPr dirty="0"/>
              <a:t>the </a:t>
            </a:r>
            <a:r>
              <a:rPr dirty="0" spc="-5" b="1">
                <a:solidFill>
                  <a:srgbClr val="0070C0"/>
                </a:solidFill>
                <a:latin typeface="Calibri"/>
                <a:cs typeface="Calibri"/>
              </a:rPr>
              <a:t>building</a:t>
            </a:r>
            <a:r>
              <a:rPr dirty="0" spc="4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0070C0"/>
                </a:solidFill>
                <a:latin typeface="Calibri"/>
                <a:cs typeface="Calibri"/>
              </a:rPr>
              <a:t>blocks</a:t>
            </a:r>
          </a:p>
          <a:p>
            <a:pPr marL="332740">
              <a:lnSpc>
                <a:spcPts val="3815"/>
              </a:lnSpc>
            </a:pPr>
            <a:r>
              <a:rPr dirty="0" spc="-5"/>
              <a:t>of</a:t>
            </a:r>
            <a:r>
              <a:rPr dirty="0" spc="-65"/>
              <a:t> </a:t>
            </a:r>
            <a:r>
              <a:rPr dirty="0" spc="-15"/>
              <a:t>graphs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414523"/>
            <a:ext cx="7829550" cy="3550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Subgraph </a:t>
            </a:r>
            <a:r>
              <a:rPr dirty="0" sz="2800" spc="-5">
                <a:latin typeface="Calibri"/>
                <a:cs typeface="Calibri"/>
              </a:rPr>
              <a:t>isomorphism and </a:t>
            </a:r>
            <a:r>
              <a:rPr dirty="0" sz="2800" spc="-10">
                <a:latin typeface="Calibri"/>
                <a:cs typeface="Calibri"/>
              </a:rPr>
              <a:t>counting </a:t>
            </a:r>
            <a:r>
              <a:rPr dirty="0" sz="2800" spc="-15">
                <a:latin typeface="Calibri"/>
                <a:cs typeface="Calibri"/>
              </a:rPr>
              <a:t>are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NP-hard</a:t>
            </a:r>
            <a:endParaRPr sz="2800">
              <a:latin typeface="Calibri"/>
              <a:cs typeface="Calibri"/>
            </a:endParaRPr>
          </a:p>
          <a:p>
            <a:pPr algn="just" marL="332740" marR="233679" indent="-320040">
              <a:lnSpc>
                <a:spcPct val="100299"/>
              </a:lnSpc>
              <a:spcBef>
                <a:spcPts val="25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latin typeface="Calibri"/>
                <a:cs typeface="Calibri"/>
              </a:rPr>
              <a:t>Understanding </a:t>
            </a:r>
            <a:r>
              <a:rPr dirty="0" sz="3200" spc="-5">
                <a:latin typeface="Calibri"/>
                <a:cs typeface="Calibri"/>
              </a:rPr>
              <a:t>which </a:t>
            </a:r>
            <a:r>
              <a:rPr dirty="0" sz="3200" spc="-10">
                <a:latin typeface="Calibri"/>
                <a:cs typeface="Calibri"/>
              </a:rPr>
              <a:t>motifs </a:t>
            </a:r>
            <a:r>
              <a:rPr dirty="0" sz="3200" spc="-15">
                <a:latin typeface="Calibri"/>
                <a:cs typeface="Calibri"/>
              </a:rPr>
              <a:t>are frequent </a:t>
            </a:r>
            <a:r>
              <a:rPr dirty="0" sz="3200">
                <a:latin typeface="Calibri"/>
                <a:cs typeface="Calibri"/>
              </a:rPr>
              <a:t>or  </a:t>
            </a:r>
            <a:r>
              <a:rPr dirty="0" sz="3200" spc="-10">
                <a:latin typeface="Calibri"/>
                <a:cs typeface="Calibri"/>
              </a:rPr>
              <a:t>significant </a:t>
            </a:r>
            <a:r>
              <a:rPr dirty="0" sz="3200">
                <a:latin typeface="Calibri"/>
                <a:cs typeface="Calibri"/>
              </a:rPr>
              <a:t>in a </a:t>
            </a:r>
            <a:r>
              <a:rPr dirty="0" sz="3200" spc="-15">
                <a:latin typeface="Calibri"/>
                <a:cs typeface="Calibri"/>
              </a:rPr>
              <a:t>dataset </a:t>
            </a:r>
            <a:r>
              <a:rPr dirty="0" sz="3200" spc="-10">
                <a:latin typeface="Calibri"/>
                <a:cs typeface="Calibri"/>
              </a:rPr>
              <a:t>gives </a:t>
            </a:r>
            <a:r>
              <a:rPr dirty="0" sz="3200" spc="-5">
                <a:latin typeface="Calibri"/>
                <a:cs typeface="Calibri"/>
              </a:rPr>
              <a:t>insight </a:t>
            </a:r>
            <a:r>
              <a:rPr dirty="0" sz="3200" spc="-15">
                <a:latin typeface="Calibri"/>
                <a:cs typeface="Calibri"/>
              </a:rPr>
              <a:t>into </a:t>
            </a:r>
            <a:r>
              <a:rPr dirty="0" sz="3200">
                <a:latin typeface="Calibri"/>
                <a:cs typeface="Calibri"/>
              </a:rPr>
              <a:t>the  unique </a:t>
            </a:r>
            <a:r>
              <a:rPr dirty="0" sz="3200" spc="-15">
                <a:latin typeface="Calibri"/>
                <a:cs typeface="Calibri"/>
              </a:rPr>
              <a:t>characteristics </a:t>
            </a:r>
            <a:r>
              <a:rPr dirty="0" sz="3200" spc="-5">
                <a:latin typeface="Calibri"/>
                <a:cs typeface="Calibri"/>
              </a:rPr>
              <a:t>of </a:t>
            </a:r>
            <a:r>
              <a:rPr dirty="0" sz="3200" spc="-10">
                <a:latin typeface="Calibri"/>
                <a:cs typeface="Calibri"/>
              </a:rPr>
              <a:t>that</a:t>
            </a:r>
            <a:r>
              <a:rPr dirty="0" sz="3200" spc="3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domain</a:t>
            </a:r>
            <a:endParaRPr sz="3200">
              <a:latin typeface="Calibri"/>
              <a:cs typeface="Calibri"/>
            </a:endParaRPr>
          </a:p>
          <a:p>
            <a:pPr marL="332740" marR="5080" indent="-320040">
              <a:lnSpc>
                <a:spcPct val="101899"/>
              </a:lnSpc>
              <a:spcBef>
                <a:spcPts val="247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Use </a:t>
            </a:r>
            <a:r>
              <a:rPr dirty="0" sz="3200" spc="-20" b="1">
                <a:solidFill>
                  <a:srgbClr val="0070C0"/>
                </a:solidFill>
                <a:latin typeface="Calibri"/>
                <a:cs typeface="Calibri"/>
              </a:rPr>
              <a:t>random graphs </a:t>
            </a:r>
            <a:r>
              <a:rPr dirty="0" sz="3200">
                <a:latin typeface="Calibri"/>
                <a:cs typeface="Calibri"/>
              </a:rPr>
              <a:t>as null </a:t>
            </a:r>
            <a:r>
              <a:rPr dirty="0" sz="3200" spc="-5">
                <a:latin typeface="Calibri"/>
                <a:cs typeface="Calibri"/>
              </a:rPr>
              <a:t>model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20">
                <a:latin typeface="Calibri"/>
                <a:cs typeface="Calibri"/>
              </a:rPr>
              <a:t>evaluate 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significance of motif </a:t>
            </a:r>
            <a:r>
              <a:rPr dirty="0" sz="3200">
                <a:latin typeface="Calibri"/>
                <a:cs typeface="Calibri"/>
              </a:rPr>
              <a:t>via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Z-score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4672" y="3477767"/>
            <a:ext cx="6845808" cy="12984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3477767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6963" y="1349755"/>
            <a:ext cx="45675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5" b="1">
                <a:solidFill>
                  <a:srgbClr val="F0AD00"/>
                </a:solidFill>
                <a:latin typeface="Calibri"/>
                <a:cs typeface="Calibri"/>
              </a:rPr>
              <a:t>1) </a:t>
            </a:r>
            <a:r>
              <a:rPr dirty="0" sz="3600" spc="-15" b="1">
                <a:solidFill>
                  <a:srgbClr val="A6A6A6"/>
                </a:solidFill>
                <a:latin typeface="Calibri"/>
                <a:cs typeface="Calibri"/>
              </a:rPr>
              <a:t>Subgraphs </a:t>
            </a:r>
            <a:r>
              <a:rPr dirty="0" sz="3600" spc="-5" b="1">
                <a:solidFill>
                  <a:srgbClr val="A6A6A6"/>
                </a:solidFill>
                <a:latin typeface="Calibri"/>
                <a:cs typeface="Calibri"/>
              </a:rPr>
              <a:t>and </a:t>
            </a:r>
            <a:r>
              <a:rPr dirty="0" sz="3600" spc="-10" b="1">
                <a:solidFill>
                  <a:srgbClr val="A6A6A6"/>
                </a:solidFill>
                <a:latin typeface="Calibri"/>
                <a:cs typeface="Calibri"/>
              </a:rPr>
              <a:t>Motifs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6963" y="1926844"/>
            <a:ext cx="6785609" cy="347472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762635" indent="-45720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762000" algn="l"/>
                <a:tab pos="762635" algn="l"/>
              </a:tabLst>
            </a:pPr>
            <a:r>
              <a:rPr dirty="0" sz="2800" spc="-10">
                <a:solidFill>
                  <a:srgbClr val="A6A6A6"/>
                </a:solidFill>
                <a:latin typeface="Calibri"/>
                <a:cs typeface="Calibri"/>
              </a:rPr>
              <a:t>Defining Subgraphs </a:t>
            </a:r>
            <a:r>
              <a:rPr dirty="0" sz="2800" spc="-5">
                <a:solidFill>
                  <a:srgbClr val="A6A6A6"/>
                </a:solidFill>
                <a:latin typeface="Calibri"/>
                <a:cs typeface="Calibri"/>
              </a:rPr>
              <a:t>and</a:t>
            </a:r>
            <a:r>
              <a:rPr dirty="0" sz="2800" spc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A6A6A6"/>
                </a:solidFill>
                <a:latin typeface="Calibri"/>
                <a:cs typeface="Calibri"/>
              </a:rPr>
              <a:t>Motifs</a:t>
            </a:r>
            <a:endParaRPr sz="2800">
              <a:latin typeface="Calibri"/>
              <a:cs typeface="Calibri"/>
            </a:endParaRPr>
          </a:p>
          <a:p>
            <a:pPr marL="762635" indent="-45720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762000" algn="l"/>
                <a:tab pos="762635" algn="l"/>
              </a:tabLst>
            </a:pPr>
            <a:r>
              <a:rPr dirty="0" sz="2800" spc="-10">
                <a:solidFill>
                  <a:srgbClr val="A6A6A6"/>
                </a:solidFill>
                <a:latin typeface="Calibri"/>
                <a:cs typeface="Calibri"/>
              </a:rPr>
              <a:t>Determining </a:t>
            </a:r>
            <a:r>
              <a:rPr dirty="0" sz="2800" spc="-5">
                <a:solidFill>
                  <a:srgbClr val="A6A6A6"/>
                </a:solidFill>
                <a:latin typeface="Calibri"/>
                <a:cs typeface="Calibri"/>
              </a:rPr>
              <a:t>Motif</a:t>
            </a:r>
            <a:r>
              <a:rPr dirty="0" sz="2800" spc="-4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A6A6A6"/>
                </a:solidFill>
                <a:latin typeface="Calibri"/>
                <a:cs typeface="Calibri"/>
              </a:rPr>
              <a:t>Significance</a:t>
            </a:r>
            <a:endParaRPr sz="2800">
              <a:latin typeface="Calibri"/>
              <a:cs typeface="Calibri"/>
            </a:endParaRPr>
          </a:p>
          <a:p>
            <a:pPr marL="412750" indent="-400050">
              <a:lnSpc>
                <a:spcPct val="100000"/>
              </a:lnSpc>
              <a:spcBef>
                <a:spcPts val="2030"/>
              </a:spcBef>
              <a:buClr>
                <a:srgbClr val="F0AD00"/>
              </a:buClr>
              <a:buSzPct val="80555"/>
              <a:buAutoNum type="arabicParenR" startAt="2"/>
              <a:tabLst>
                <a:tab pos="412750" algn="l"/>
              </a:tabLst>
            </a:pPr>
            <a:r>
              <a:rPr dirty="0" sz="3600" spc="-20" b="1">
                <a:solidFill>
                  <a:srgbClr val="D60093"/>
                </a:solidFill>
                <a:latin typeface="Calibri"/>
                <a:cs typeface="Calibri"/>
              </a:rPr>
              <a:t>Neural </a:t>
            </a:r>
            <a:r>
              <a:rPr dirty="0" sz="3600" spc="-15" b="1">
                <a:solidFill>
                  <a:srgbClr val="D60093"/>
                </a:solidFill>
                <a:latin typeface="Calibri"/>
                <a:cs typeface="Calibri"/>
              </a:rPr>
              <a:t>Subgraph</a:t>
            </a:r>
            <a:r>
              <a:rPr dirty="0" sz="3600" spc="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600" spc="-15" b="1">
                <a:solidFill>
                  <a:srgbClr val="D60093"/>
                </a:solidFill>
                <a:latin typeface="Calibri"/>
                <a:cs typeface="Calibri"/>
              </a:rPr>
              <a:t>Representations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F0AD00"/>
              </a:buClr>
              <a:buFont typeface="Calibri"/>
              <a:buAutoNum type="arabicParenR" startAt="2"/>
            </a:pPr>
            <a:endParaRPr sz="4400">
              <a:latin typeface="Times New Roman"/>
              <a:cs typeface="Times New Roman"/>
            </a:endParaRPr>
          </a:p>
          <a:p>
            <a:pPr marL="412750" indent="-400050">
              <a:lnSpc>
                <a:spcPct val="100000"/>
              </a:lnSpc>
              <a:spcBef>
                <a:spcPts val="3410"/>
              </a:spcBef>
              <a:buClr>
                <a:srgbClr val="F0AD00"/>
              </a:buClr>
              <a:buSzPct val="80555"/>
              <a:buAutoNum type="arabicParenR" startAt="2"/>
              <a:tabLst>
                <a:tab pos="412750" algn="l"/>
              </a:tabLst>
            </a:pPr>
            <a:r>
              <a:rPr dirty="0" sz="3600" spc="-5" b="1">
                <a:latin typeface="Calibri"/>
                <a:cs typeface="Calibri"/>
              </a:rPr>
              <a:t>Mining </a:t>
            </a:r>
            <a:r>
              <a:rPr dirty="0" sz="3600" spc="-15" b="1">
                <a:latin typeface="Calibri"/>
                <a:cs typeface="Calibri"/>
              </a:rPr>
              <a:t>Frequent </a:t>
            </a:r>
            <a:r>
              <a:rPr dirty="0" sz="3600" spc="-10" b="1">
                <a:latin typeface="Calibri"/>
                <a:cs typeface="Calibri"/>
              </a:rPr>
              <a:t>Motifs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22984" y="3200400"/>
            <a:ext cx="1250660" cy="1250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34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479450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07580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pc="-10" b="1">
                <a:latin typeface="Calibri"/>
                <a:cs typeface="Calibri"/>
              </a:rPr>
              <a:t>Given: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/>
              <a:t>Large </a:t>
            </a:r>
            <a:r>
              <a:rPr dirty="0" spc="-25">
                <a:solidFill>
                  <a:srgbClr val="C00000"/>
                </a:solidFill>
              </a:rPr>
              <a:t>target </a:t>
            </a:r>
            <a:r>
              <a:rPr dirty="0" spc="-15"/>
              <a:t>graph </a:t>
            </a:r>
            <a:r>
              <a:rPr dirty="0" spc="-10"/>
              <a:t>(can </a:t>
            </a:r>
            <a:r>
              <a:rPr dirty="0"/>
              <a:t>be</a:t>
            </a:r>
            <a:r>
              <a:rPr dirty="0" spc="75"/>
              <a:t> </a:t>
            </a:r>
            <a:r>
              <a:rPr dirty="0" spc="-10"/>
              <a:t>disconnected)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6226555"/>
            <a:ext cx="707453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5">
                <a:solidFill>
                  <a:srgbClr val="008000"/>
                </a:solidFill>
                <a:latin typeface="Calibri"/>
                <a:cs typeface="Calibri"/>
              </a:rPr>
              <a:t>Node </a:t>
            </a:r>
            <a:r>
              <a:rPr dirty="0" sz="2400" spc="-15">
                <a:solidFill>
                  <a:srgbClr val="008000"/>
                </a:solidFill>
                <a:latin typeface="Calibri"/>
                <a:cs typeface="Calibri"/>
              </a:rPr>
              <a:t>colors indicate </a:t>
            </a:r>
            <a:r>
              <a:rPr dirty="0" sz="2400" spc="-5">
                <a:solidFill>
                  <a:srgbClr val="008000"/>
                </a:solidFill>
                <a:latin typeface="Calibri"/>
                <a:cs typeface="Calibri"/>
              </a:rPr>
              <a:t>the </a:t>
            </a:r>
            <a:r>
              <a:rPr dirty="0" sz="2400" spc="-10">
                <a:solidFill>
                  <a:srgbClr val="008000"/>
                </a:solidFill>
                <a:latin typeface="Calibri"/>
                <a:cs typeface="Calibri"/>
              </a:rPr>
              <a:t>correct </a:t>
            </a:r>
            <a:r>
              <a:rPr dirty="0" sz="2400" spc="-5">
                <a:solidFill>
                  <a:srgbClr val="008000"/>
                </a:solidFill>
                <a:latin typeface="Calibri"/>
                <a:cs typeface="Calibri"/>
              </a:rPr>
              <a:t>mapping of the</a:t>
            </a:r>
            <a:r>
              <a:rPr dirty="0" sz="2400" spc="55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400" spc="-5">
                <a:solidFill>
                  <a:srgbClr val="008000"/>
                </a:solidFill>
                <a:latin typeface="Calibri"/>
                <a:cs typeface="Calibri"/>
              </a:rPr>
              <a:t>nodes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94132" y="4183890"/>
            <a:ext cx="1270000" cy="1623060"/>
          </a:xfrm>
          <a:custGeom>
            <a:avLst/>
            <a:gdLst/>
            <a:ahLst/>
            <a:cxnLst/>
            <a:rect l="l" t="t" r="r" b="b"/>
            <a:pathLst>
              <a:path w="1270000" h="1623060">
                <a:moveTo>
                  <a:pt x="1106864" y="0"/>
                </a:moveTo>
                <a:lnTo>
                  <a:pt x="162971" y="0"/>
                </a:lnTo>
                <a:lnTo>
                  <a:pt x="119647" y="5821"/>
                </a:lnTo>
                <a:lnTo>
                  <a:pt x="80716" y="22250"/>
                </a:lnTo>
                <a:lnTo>
                  <a:pt x="47733" y="47732"/>
                </a:lnTo>
                <a:lnTo>
                  <a:pt x="22250" y="80715"/>
                </a:lnTo>
                <a:lnTo>
                  <a:pt x="5821" y="119646"/>
                </a:lnTo>
                <a:lnTo>
                  <a:pt x="0" y="162970"/>
                </a:lnTo>
                <a:lnTo>
                  <a:pt x="0" y="1459958"/>
                </a:lnTo>
                <a:lnTo>
                  <a:pt x="5821" y="1503282"/>
                </a:lnTo>
                <a:lnTo>
                  <a:pt x="22250" y="1542213"/>
                </a:lnTo>
                <a:lnTo>
                  <a:pt x="47733" y="1575196"/>
                </a:lnTo>
                <a:lnTo>
                  <a:pt x="80716" y="1600679"/>
                </a:lnTo>
                <a:lnTo>
                  <a:pt x="119647" y="1617107"/>
                </a:lnTo>
                <a:lnTo>
                  <a:pt x="162971" y="1622929"/>
                </a:lnTo>
                <a:lnTo>
                  <a:pt x="1106864" y="1622929"/>
                </a:lnTo>
                <a:lnTo>
                  <a:pt x="1150189" y="1617107"/>
                </a:lnTo>
                <a:lnTo>
                  <a:pt x="1189119" y="1600679"/>
                </a:lnTo>
                <a:lnTo>
                  <a:pt x="1222103" y="1575196"/>
                </a:lnTo>
                <a:lnTo>
                  <a:pt x="1247585" y="1542213"/>
                </a:lnTo>
                <a:lnTo>
                  <a:pt x="1264014" y="1503282"/>
                </a:lnTo>
                <a:lnTo>
                  <a:pt x="1269836" y="1459958"/>
                </a:lnTo>
                <a:lnTo>
                  <a:pt x="1269836" y="162970"/>
                </a:lnTo>
                <a:lnTo>
                  <a:pt x="1264014" y="119646"/>
                </a:lnTo>
                <a:lnTo>
                  <a:pt x="1247585" y="80715"/>
                </a:lnTo>
                <a:lnTo>
                  <a:pt x="1222103" y="47732"/>
                </a:lnTo>
                <a:lnTo>
                  <a:pt x="1189119" y="22250"/>
                </a:lnTo>
                <a:lnTo>
                  <a:pt x="1150189" y="5821"/>
                </a:lnTo>
                <a:lnTo>
                  <a:pt x="1106864" y="0"/>
                </a:lnTo>
                <a:close/>
              </a:path>
            </a:pathLst>
          </a:custGeom>
          <a:solidFill>
            <a:srgbClr val="F4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93506" y="5016640"/>
            <a:ext cx="224154" cy="290830"/>
          </a:xfrm>
          <a:custGeom>
            <a:avLst/>
            <a:gdLst/>
            <a:ahLst/>
            <a:cxnLst/>
            <a:rect l="l" t="t" r="r" b="b"/>
            <a:pathLst>
              <a:path w="224155" h="290829">
                <a:moveTo>
                  <a:pt x="0" y="290296"/>
                </a:moveTo>
                <a:lnTo>
                  <a:pt x="223979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486045" y="5016640"/>
            <a:ext cx="245110" cy="290830"/>
          </a:xfrm>
          <a:custGeom>
            <a:avLst/>
            <a:gdLst/>
            <a:ahLst/>
            <a:cxnLst/>
            <a:rect l="l" t="t" r="r" b="b"/>
            <a:pathLst>
              <a:path w="245110" h="290829">
                <a:moveTo>
                  <a:pt x="244870" y="290296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13950" y="4653360"/>
            <a:ext cx="0" cy="619760"/>
          </a:xfrm>
          <a:custGeom>
            <a:avLst/>
            <a:gdLst/>
            <a:ahLst/>
            <a:cxnLst/>
            <a:rect l="l" t="t" r="r" b="b"/>
            <a:pathLst>
              <a:path w="0" h="619760">
                <a:moveTo>
                  <a:pt x="0" y="0"/>
                </a:moveTo>
                <a:lnTo>
                  <a:pt x="1" y="619182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27900" y="5389970"/>
            <a:ext cx="568960" cy="0"/>
          </a:xfrm>
          <a:custGeom>
            <a:avLst/>
            <a:gdLst/>
            <a:ahLst/>
            <a:cxnLst/>
            <a:rect l="l" t="t" r="r" b="b"/>
            <a:pathLst>
              <a:path w="568960" h="0">
                <a:moveTo>
                  <a:pt x="0" y="0"/>
                </a:moveTo>
                <a:lnTo>
                  <a:pt x="568622" y="1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893044" y="5272542"/>
            <a:ext cx="234950" cy="234950"/>
          </a:xfrm>
          <a:custGeom>
            <a:avLst/>
            <a:gdLst/>
            <a:ahLst/>
            <a:cxnLst/>
            <a:rect l="l" t="t" r="r" b="b"/>
            <a:pathLst>
              <a:path w="234950" h="234950">
                <a:moveTo>
                  <a:pt x="117428" y="0"/>
                </a:moveTo>
                <a:lnTo>
                  <a:pt x="71719" y="9228"/>
                </a:lnTo>
                <a:lnTo>
                  <a:pt x="34393" y="34393"/>
                </a:lnTo>
                <a:lnTo>
                  <a:pt x="9228" y="71719"/>
                </a:lnTo>
                <a:lnTo>
                  <a:pt x="0" y="117428"/>
                </a:lnTo>
                <a:lnTo>
                  <a:pt x="9228" y="163136"/>
                </a:lnTo>
                <a:lnTo>
                  <a:pt x="34393" y="200462"/>
                </a:lnTo>
                <a:lnTo>
                  <a:pt x="71719" y="225627"/>
                </a:lnTo>
                <a:lnTo>
                  <a:pt x="117428" y="234856"/>
                </a:lnTo>
                <a:lnTo>
                  <a:pt x="163136" y="225627"/>
                </a:lnTo>
                <a:lnTo>
                  <a:pt x="200462" y="200462"/>
                </a:lnTo>
                <a:lnTo>
                  <a:pt x="225627" y="163136"/>
                </a:lnTo>
                <a:lnTo>
                  <a:pt x="234856" y="117428"/>
                </a:lnTo>
                <a:lnTo>
                  <a:pt x="225627" y="71719"/>
                </a:lnTo>
                <a:lnTo>
                  <a:pt x="200462" y="34393"/>
                </a:lnTo>
                <a:lnTo>
                  <a:pt x="163136" y="9228"/>
                </a:lnTo>
                <a:lnTo>
                  <a:pt x="11742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82574" y="4813169"/>
            <a:ext cx="238760" cy="238760"/>
          </a:xfrm>
          <a:custGeom>
            <a:avLst/>
            <a:gdLst/>
            <a:ahLst/>
            <a:cxnLst/>
            <a:rect l="l" t="t" r="r" b="b"/>
            <a:pathLst>
              <a:path w="238760" h="238760">
                <a:moveTo>
                  <a:pt x="119190" y="0"/>
                </a:moveTo>
                <a:lnTo>
                  <a:pt x="72796" y="9366"/>
                </a:lnTo>
                <a:lnTo>
                  <a:pt x="34910" y="34909"/>
                </a:lnTo>
                <a:lnTo>
                  <a:pt x="9366" y="72795"/>
                </a:lnTo>
                <a:lnTo>
                  <a:pt x="0" y="119189"/>
                </a:lnTo>
                <a:lnTo>
                  <a:pt x="9366" y="165584"/>
                </a:lnTo>
                <a:lnTo>
                  <a:pt x="34910" y="203470"/>
                </a:lnTo>
                <a:lnTo>
                  <a:pt x="72796" y="229013"/>
                </a:lnTo>
                <a:lnTo>
                  <a:pt x="119190" y="238380"/>
                </a:lnTo>
                <a:lnTo>
                  <a:pt x="165584" y="229013"/>
                </a:lnTo>
                <a:lnTo>
                  <a:pt x="203471" y="203470"/>
                </a:lnTo>
                <a:lnTo>
                  <a:pt x="229014" y="165584"/>
                </a:lnTo>
                <a:lnTo>
                  <a:pt x="238381" y="119189"/>
                </a:lnTo>
                <a:lnTo>
                  <a:pt x="229014" y="72795"/>
                </a:lnTo>
                <a:lnTo>
                  <a:pt x="203471" y="34909"/>
                </a:lnTo>
                <a:lnTo>
                  <a:pt x="165584" y="9366"/>
                </a:lnTo>
                <a:lnTo>
                  <a:pt x="119190" y="0"/>
                </a:lnTo>
                <a:close/>
              </a:path>
            </a:pathLst>
          </a:custGeom>
          <a:solidFill>
            <a:srgbClr val="9A31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696522" y="5272542"/>
            <a:ext cx="234950" cy="234950"/>
          </a:xfrm>
          <a:custGeom>
            <a:avLst/>
            <a:gdLst/>
            <a:ahLst/>
            <a:cxnLst/>
            <a:rect l="l" t="t" r="r" b="b"/>
            <a:pathLst>
              <a:path w="234950" h="234950">
                <a:moveTo>
                  <a:pt x="117428" y="0"/>
                </a:moveTo>
                <a:lnTo>
                  <a:pt x="71719" y="9228"/>
                </a:lnTo>
                <a:lnTo>
                  <a:pt x="34393" y="34393"/>
                </a:lnTo>
                <a:lnTo>
                  <a:pt x="9228" y="71719"/>
                </a:lnTo>
                <a:lnTo>
                  <a:pt x="0" y="117428"/>
                </a:lnTo>
                <a:lnTo>
                  <a:pt x="9228" y="163136"/>
                </a:lnTo>
                <a:lnTo>
                  <a:pt x="34393" y="200462"/>
                </a:lnTo>
                <a:lnTo>
                  <a:pt x="71719" y="225627"/>
                </a:lnTo>
                <a:lnTo>
                  <a:pt x="117428" y="234856"/>
                </a:lnTo>
                <a:lnTo>
                  <a:pt x="163135" y="225627"/>
                </a:lnTo>
                <a:lnTo>
                  <a:pt x="200461" y="200462"/>
                </a:lnTo>
                <a:lnTo>
                  <a:pt x="225627" y="163136"/>
                </a:lnTo>
                <a:lnTo>
                  <a:pt x="234856" y="117428"/>
                </a:lnTo>
                <a:lnTo>
                  <a:pt x="225627" y="71719"/>
                </a:lnTo>
                <a:lnTo>
                  <a:pt x="200461" y="34393"/>
                </a:lnTo>
                <a:lnTo>
                  <a:pt x="163135" y="9228"/>
                </a:lnTo>
                <a:lnTo>
                  <a:pt x="11742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690585" y="4438009"/>
            <a:ext cx="230504" cy="230504"/>
          </a:xfrm>
          <a:custGeom>
            <a:avLst/>
            <a:gdLst/>
            <a:ahLst/>
            <a:cxnLst/>
            <a:rect l="l" t="t" r="r" b="b"/>
            <a:pathLst>
              <a:path w="230505" h="230504">
                <a:moveTo>
                  <a:pt x="115211" y="0"/>
                </a:moveTo>
                <a:lnTo>
                  <a:pt x="70366" y="9053"/>
                </a:lnTo>
                <a:lnTo>
                  <a:pt x="33744" y="33744"/>
                </a:lnTo>
                <a:lnTo>
                  <a:pt x="9053" y="70366"/>
                </a:lnTo>
                <a:lnTo>
                  <a:pt x="0" y="115211"/>
                </a:lnTo>
                <a:lnTo>
                  <a:pt x="9053" y="160057"/>
                </a:lnTo>
                <a:lnTo>
                  <a:pt x="33744" y="196678"/>
                </a:lnTo>
                <a:lnTo>
                  <a:pt x="70366" y="221369"/>
                </a:lnTo>
                <a:lnTo>
                  <a:pt x="115211" y="230423"/>
                </a:lnTo>
                <a:lnTo>
                  <a:pt x="160057" y="221369"/>
                </a:lnTo>
                <a:lnTo>
                  <a:pt x="196678" y="196678"/>
                </a:lnTo>
                <a:lnTo>
                  <a:pt x="221369" y="160057"/>
                </a:lnTo>
                <a:lnTo>
                  <a:pt x="230423" y="115211"/>
                </a:lnTo>
                <a:lnTo>
                  <a:pt x="221369" y="70366"/>
                </a:lnTo>
                <a:lnTo>
                  <a:pt x="196678" y="33744"/>
                </a:lnTo>
                <a:lnTo>
                  <a:pt x="160057" y="9053"/>
                </a:lnTo>
                <a:lnTo>
                  <a:pt x="115211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532338" y="4154514"/>
            <a:ext cx="1614805" cy="1741170"/>
          </a:xfrm>
          <a:custGeom>
            <a:avLst/>
            <a:gdLst/>
            <a:ahLst/>
            <a:cxnLst/>
            <a:rect l="l" t="t" r="r" b="b"/>
            <a:pathLst>
              <a:path w="1614804" h="1741170">
                <a:moveTo>
                  <a:pt x="1472171" y="0"/>
                </a:moveTo>
                <a:lnTo>
                  <a:pt x="142157" y="0"/>
                </a:lnTo>
                <a:lnTo>
                  <a:pt x="97224" y="7247"/>
                </a:lnTo>
                <a:lnTo>
                  <a:pt x="58201" y="27428"/>
                </a:lnTo>
                <a:lnTo>
                  <a:pt x="27428" y="58201"/>
                </a:lnTo>
                <a:lnTo>
                  <a:pt x="7247" y="97224"/>
                </a:lnTo>
                <a:lnTo>
                  <a:pt x="0" y="142157"/>
                </a:lnTo>
                <a:lnTo>
                  <a:pt x="0" y="1598757"/>
                </a:lnTo>
                <a:lnTo>
                  <a:pt x="7247" y="1643689"/>
                </a:lnTo>
                <a:lnTo>
                  <a:pt x="27428" y="1682713"/>
                </a:lnTo>
                <a:lnTo>
                  <a:pt x="58201" y="1713486"/>
                </a:lnTo>
                <a:lnTo>
                  <a:pt x="97224" y="1733667"/>
                </a:lnTo>
                <a:lnTo>
                  <a:pt x="142157" y="1740914"/>
                </a:lnTo>
                <a:lnTo>
                  <a:pt x="1472171" y="1740914"/>
                </a:lnTo>
                <a:lnTo>
                  <a:pt x="1517104" y="1733667"/>
                </a:lnTo>
                <a:lnTo>
                  <a:pt x="1556128" y="1713486"/>
                </a:lnTo>
                <a:lnTo>
                  <a:pt x="1586901" y="1682713"/>
                </a:lnTo>
                <a:lnTo>
                  <a:pt x="1607082" y="1643689"/>
                </a:lnTo>
                <a:lnTo>
                  <a:pt x="1614330" y="1598757"/>
                </a:lnTo>
                <a:lnTo>
                  <a:pt x="1614330" y="142157"/>
                </a:lnTo>
                <a:lnTo>
                  <a:pt x="1607082" y="97224"/>
                </a:lnTo>
                <a:lnTo>
                  <a:pt x="1586901" y="58201"/>
                </a:lnTo>
                <a:lnTo>
                  <a:pt x="1556128" y="27428"/>
                </a:lnTo>
                <a:lnTo>
                  <a:pt x="1517104" y="7247"/>
                </a:lnTo>
                <a:lnTo>
                  <a:pt x="1472171" y="0"/>
                </a:lnTo>
                <a:close/>
              </a:path>
            </a:pathLst>
          </a:custGeom>
          <a:solidFill>
            <a:srgbClr val="FAE7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466763" y="4562096"/>
            <a:ext cx="385445" cy="419100"/>
          </a:xfrm>
          <a:custGeom>
            <a:avLst/>
            <a:gdLst/>
            <a:ahLst/>
            <a:cxnLst/>
            <a:rect l="l" t="t" r="r" b="b"/>
            <a:pathLst>
              <a:path w="385445" h="419100">
                <a:moveTo>
                  <a:pt x="385217" y="0"/>
                </a:moveTo>
                <a:lnTo>
                  <a:pt x="0" y="418977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841846" y="4653360"/>
            <a:ext cx="291465" cy="279400"/>
          </a:xfrm>
          <a:custGeom>
            <a:avLst/>
            <a:gdLst/>
            <a:ahLst/>
            <a:cxnLst/>
            <a:rect l="l" t="t" r="r" b="b"/>
            <a:pathLst>
              <a:path w="291464" h="279400">
                <a:moveTo>
                  <a:pt x="0" y="279002"/>
                </a:moveTo>
                <a:lnTo>
                  <a:pt x="291062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784064" y="5044215"/>
            <a:ext cx="170815" cy="456565"/>
          </a:xfrm>
          <a:custGeom>
            <a:avLst/>
            <a:gdLst/>
            <a:ahLst/>
            <a:cxnLst/>
            <a:rect l="l" t="t" r="r" b="b"/>
            <a:pathLst>
              <a:path w="170814" h="456564">
                <a:moveTo>
                  <a:pt x="170477" y="456431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132907" y="4653360"/>
            <a:ext cx="311785" cy="279400"/>
          </a:xfrm>
          <a:custGeom>
            <a:avLst/>
            <a:gdLst/>
            <a:ahLst/>
            <a:cxnLst/>
            <a:rect l="l" t="t" r="r" b="b"/>
            <a:pathLst>
              <a:path w="311785" h="279400">
                <a:moveTo>
                  <a:pt x="311563" y="279001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452798" y="5082385"/>
            <a:ext cx="0" cy="325755"/>
          </a:xfrm>
          <a:custGeom>
            <a:avLst/>
            <a:gdLst/>
            <a:ahLst/>
            <a:cxnLst/>
            <a:rect l="l" t="t" r="r" b="b"/>
            <a:pathLst>
              <a:path w="0" h="325754">
                <a:moveTo>
                  <a:pt x="0" y="325333"/>
                </a:moveTo>
                <a:lnTo>
                  <a:pt x="1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907914" y="4982990"/>
            <a:ext cx="439420" cy="0"/>
          </a:xfrm>
          <a:custGeom>
            <a:avLst/>
            <a:gdLst/>
            <a:ahLst/>
            <a:cxnLst/>
            <a:rect l="l" t="t" r="r" b="b"/>
            <a:pathLst>
              <a:path w="439420" h="0">
                <a:moveTo>
                  <a:pt x="0" y="0"/>
                </a:moveTo>
                <a:lnTo>
                  <a:pt x="439037" y="0"/>
                </a:lnTo>
              </a:path>
            </a:pathLst>
          </a:custGeom>
          <a:ln w="54634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966909" y="4676901"/>
            <a:ext cx="156210" cy="847725"/>
          </a:xfrm>
          <a:custGeom>
            <a:avLst/>
            <a:gdLst/>
            <a:ahLst/>
            <a:cxnLst/>
            <a:rect l="l" t="t" r="r" b="b"/>
            <a:pathLst>
              <a:path w="156210" h="847725">
                <a:moveTo>
                  <a:pt x="0" y="847287"/>
                </a:moveTo>
                <a:lnTo>
                  <a:pt x="156093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697500" y="4884186"/>
            <a:ext cx="210820" cy="194310"/>
          </a:xfrm>
          <a:custGeom>
            <a:avLst/>
            <a:gdLst/>
            <a:ahLst/>
            <a:cxnLst/>
            <a:rect l="l" t="t" r="r" b="b"/>
            <a:pathLst>
              <a:path w="210820" h="194310">
                <a:moveTo>
                  <a:pt x="0" y="0"/>
                </a:moveTo>
                <a:lnTo>
                  <a:pt x="210413" y="0"/>
                </a:lnTo>
                <a:lnTo>
                  <a:pt x="210413" y="193774"/>
                </a:lnTo>
                <a:lnTo>
                  <a:pt x="0" y="193774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346952" y="4887429"/>
            <a:ext cx="212090" cy="195580"/>
          </a:xfrm>
          <a:custGeom>
            <a:avLst/>
            <a:gdLst/>
            <a:ahLst/>
            <a:cxnLst/>
            <a:rect l="l" t="t" r="r" b="b"/>
            <a:pathLst>
              <a:path w="212090" h="195579">
                <a:moveTo>
                  <a:pt x="0" y="0"/>
                </a:moveTo>
                <a:lnTo>
                  <a:pt x="211693" y="0"/>
                </a:lnTo>
                <a:lnTo>
                  <a:pt x="211693" y="194953"/>
                </a:lnTo>
                <a:lnTo>
                  <a:pt x="0" y="19495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849334" y="5403761"/>
            <a:ext cx="210820" cy="194310"/>
          </a:xfrm>
          <a:custGeom>
            <a:avLst/>
            <a:gdLst/>
            <a:ahLst/>
            <a:cxnLst/>
            <a:rect l="l" t="t" r="r" b="b"/>
            <a:pathLst>
              <a:path w="210820" h="194310">
                <a:moveTo>
                  <a:pt x="0" y="0"/>
                </a:moveTo>
                <a:lnTo>
                  <a:pt x="210412" y="0"/>
                </a:lnTo>
                <a:lnTo>
                  <a:pt x="210412" y="193773"/>
                </a:lnTo>
                <a:lnTo>
                  <a:pt x="0" y="193773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347593" y="5407718"/>
            <a:ext cx="210820" cy="194310"/>
          </a:xfrm>
          <a:custGeom>
            <a:avLst/>
            <a:gdLst/>
            <a:ahLst/>
            <a:cxnLst/>
            <a:rect l="l" t="t" r="r" b="b"/>
            <a:pathLst>
              <a:path w="210820" h="194310">
                <a:moveTo>
                  <a:pt x="0" y="0"/>
                </a:moveTo>
                <a:lnTo>
                  <a:pt x="210412" y="0"/>
                </a:lnTo>
                <a:lnTo>
                  <a:pt x="210412" y="193773"/>
                </a:lnTo>
                <a:lnTo>
                  <a:pt x="0" y="193773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754627" y="4462198"/>
            <a:ext cx="210820" cy="194310"/>
          </a:xfrm>
          <a:custGeom>
            <a:avLst/>
            <a:gdLst/>
            <a:ahLst/>
            <a:cxnLst/>
            <a:rect l="l" t="t" r="r" b="b"/>
            <a:pathLst>
              <a:path w="210820" h="194310">
                <a:moveTo>
                  <a:pt x="0" y="0"/>
                </a:moveTo>
                <a:lnTo>
                  <a:pt x="210413" y="0"/>
                </a:lnTo>
                <a:lnTo>
                  <a:pt x="210413" y="193774"/>
                </a:lnTo>
                <a:lnTo>
                  <a:pt x="0" y="193774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023621" y="4477670"/>
            <a:ext cx="210820" cy="194310"/>
          </a:xfrm>
          <a:custGeom>
            <a:avLst/>
            <a:gdLst/>
            <a:ahLst/>
            <a:cxnLst/>
            <a:rect l="l" t="t" r="r" b="b"/>
            <a:pathLst>
              <a:path w="210820" h="194310">
                <a:moveTo>
                  <a:pt x="0" y="0"/>
                </a:moveTo>
                <a:lnTo>
                  <a:pt x="210412" y="0"/>
                </a:lnTo>
                <a:lnTo>
                  <a:pt x="210412" y="193774"/>
                </a:lnTo>
                <a:lnTo>
                  <a:pt x="0" y="193774"/>
                </a:lnTo>
                <a:lnTo>
                  <a:pt x="0" y="0"/>
                </a:lnTo>
                <a:close/>
              </a:path>
            </a:pathLst>
          </a:custGeom>
          <a:solidFill>
            <a:srgbClr val="9A31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674809" y="4905936"/>
            <a:ext cx="1179830" cy="384175"/>
          </a:xfrm>
          <a:custGeom>
            <a:avLst/>
            <a:gdLst/>
            <a:ahLst/>
            <a:cxnLst/>
            <a:rect l="l" t="t" r="r" b="b"/>
            <a:pathLst>
              <a:path w="1179829" h="384175">
                <a:moveTo>
                  <a:pt x="987348" y="0"/>
                </a:moveTo>
                <a:lnTo>
                  <a:pt x="987348" y="96038"/>
                </a:lnTo>
                <a:lnTo>
                  <a:pt x="0" y="96038"/>
                </a:lnTo>
                <a:lnTo>
                  <a:pt x="0" y="288113"/>
                </a:lnTo>
                <a:lnTo>
                  <a:pt x="987348" y="288113"/>
                </a:lnTo>
                <a:lnTo>
                  <a:pt x="987348" y="384152"/>
                </a:lnTo>
                <a:lnTo>
                  <a:pt x="1179424" y="192077"/>
                </a:lnTo>
                <a:lnTo>
                  <a:pt x="987348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650810" y="4847995"/>
            <a:ext cx="1237615" cy="500380"/>
          </a:xfrm>
          <a:custGeom>
            <a:avLst/>
            <a:gdLst/>
            <a:ahLst/>
            <a:cxnLst/>
            <a:rect l="l" t="t" r="r" b="b"/>
            <a:pathLst>
              <a:path w="1237614" h="500379">
                <a:moveTo>
                  <a:pt x="987347" y="0"/>
                </a:moveTo>
                <a:lnTo>
                  <a:pt x="987347" y="129979"/>
                </a:lnTo>
                <a:lnTo>
                  <a:pt x="0" y="129979"/>
                </a:lnTo>
                <a:lnTo>
                  <a:pt x="0" y="370055"/>
                </a:lnTo>
                <a:lnTo>
                  <a:pt x="987347" y="370055"/>
                </a:lnTo>
                <a:lnTo>
                  <a:pt x="987347" y="500034"/>
                </a:lnTo>
                <a:lnTo>
                  <a:pt x="1056876" y="430505"/>
                </a:lnTo>
                <a:lnTo>
                  <a:pt x="1016147" y="430505"/>
                </a:lnTo>
                <a:lnTo>
                  <a:pt x="1016147" y="341255"/>
                </a:lnTo>
                <a:lnTo>
                  <a:pt x="28799" y="341255"/>
                </a:lnTo>
                <a:lnTo>
                  <a:pt x="28799" y="158779"/>
                </a:lnTo>
                <a:lnTo>
                  <a:pt x="1016147" y="158779"/>
                </a:lnTo>
                <a:lnTo>
                  <a:pt x="1016147" y="69528"/>
                </a:lnTo>
                <a:lnTo>
                  <a:pt x="1056875" y="69528"/>
                </a:lnTo>
                <a:lnTo>
                  <a:pt x="987347" y="0"/>
                </a:lnTo>
                <a:close/>
              </a:path>
              <a:path w="1237614" h="500379">
                <a:moveTo>
                  <a:pt x="1056875" y="69528"/>
                </a:moveTo>
                <a:lnTo>
                  <a:pt x="1016147" y="69528"/>
                </a:lnTo>
                <a:lnTo>
                  <a:pt x="1196634" y="250018"/>
                </a:lnTo>
                <a:lnTo>
                  <a:pt x="1016147" y="430505"/>
                </a:lnTo>
                <a:lnTo>
                  <a:pt x="1056876" y="430505"/>
                </a:lnTo>
                <a:lnTo>
                  <a:pt x="1237364" y="250018"/>
                </a:lnTo>
                <a:lnTo>
                  <a:pt x="1056875" y="69528"/>
                </a:lnTo>
                <a:close/>
              </a:path>
              <a:path w="1237614" h="500379">
                <a:moveTo>
                  <a:pt x="1025747" y="92706"/>
                </a:moveTo>
                <a:lnTo>
                  <a:pt x="1025747" y="168379"/>
                </a:lnTo>
                <a:lnTo>
                  <a:pt x="38399" y="168379"/>
                </a:lnTo>
                <a:lnTo>
                  <a:pt x="38399" y="331655"/>
                </a:lnTo>
                <a:lnTo>
                  <a:pt x="1025747" y="331655"/>
                </a:lnTo>
                <a:lnTo>
                  <a:pt x="1025747" y="407329"/>
                </a:lnTo>
                <a:lnTo>
                  <a:pt x="1048924" y="384152"/>
                </a:lnTo>
                <a:lnTo>
                  <a:pt x="1035347" y="384152"/>
                </a:lnTo>
                <a:lnTo>
                  <a:pt x="1035347" y="322055"/>
                </a:lnTo>
                <a:lnTo>
                  <a:pt x="47999" y="322055"/>
                </a:lnTo>
                <a:lnTo>
                  <a:pt x="47999" y="177979"/>
                </a:lnTo>
                <a:lnTo>
                  <a:pt x="1035347" y="177979"/>
                </a:lnTo>
                <a:lnTo>
                  <a:pt x="1035347" y="115882"/>
                </a:lnTo>
                <a:lnTo>
                  <a:pt x="1048923" y="115882"/>
                </a:lnTo>
                <a:lnTo>
                  <a:pt x="1025747" y="92706"/>
                </a:lnTo>
                <a:close/>
              </a:path>
              <a:path w="1237614" h="500379">
                <a:moveTo>
                  <a:pt x="1048923" y="115882"/>
                </a:moveTo>
                <a:lnTo>
                  <a:pt x="1035347" y="115882"/>
                </a:lnTo>
                <a:lnTo>
                  <a:pt x="1169482" y="250018"/>
                </a:lnTo>
                <a:lnTo>
                  <a:pt x="1035347" y="384152"/>
                </a:lnTo>
                <a:lnTo>
                  <a:pt x="1048924" y="384152"/>
                </a:lnTo>
                <a:lnTo>
                  <a:pt x="1183058" y="250018"/>
                </a:lnTo>
                <a:lnTo>
                  <a:pt x="1048923" y="115882"/>
                </a:lnTo>
                <a:close/>
              </a:path>
            </a:pathLst>
          </a:custGeom>
          <a:solidFill>
            <a:srgbClr val="4484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18108" y="2327148"/>
            <a:ext cx="7967980" cy="2538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solidFill>
                  <a:srgbClr val="0070C0"/>
                </a:solidFill>
                <a:latin typeface="Calibri"/>
                <a:cs typeface="Calibri"/>
              </a:rPr>
              <a:t>Query </a:t>
            </a:r>
            <a:r>
              <a:rPr dirty="0" sz="3200" spc="-15">
                <a:latin typeface="Calibri"/>
                <a:cs typeface="Calibri"/>
              </a:rPr>
              <a:t>graph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(connected)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815"/>
              </a:lnSpc>
            </a:pPr>
            <a:r>
              <a:rPr dirty="0" sz="3200" spc="-5" b="1">
                <a:latin typeface="Calibri"/>
                <a:cs typeface="Calibri"/>
              </a:rPr>
              <a:t>Decide: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7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 spc="-5">
                <a:solidFill>
                  <a:srgbClr val="0070C0"/>
                </a:solidFill>
                <a:latin typeface="Calibri"/>
                <a:cs typeface="Calibri"/>
              </a:rPr>
              <a:t>query </a:t>
            </a:r>
            <a:r>
              <a:rPr dirty="0" sz="3200" spc="-15">
                <a:latin typeface="Calibri"/>
                <a:cs typeface="Calibri"/>
              </a:rPr>
              <a:t>graph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10">
                <a:latin typeface="Calibri"/>
                <a:cs typeface="Calibri"/>
              </a:rPr>
              <a:t>subgraph </a:t>
            </a:r>
            <a:r>
              <a:rPr dirty="0" sz="3200">
                <a:latin typeface="Calibri"/>
                <a:cs typeface="Calibri"/>
              </a:rPr>
              <a:t>in the </a:t>
            </a:r>
            <a:r>
              <a:rPr dirty="0" sz="3200" spc="-25">
                <a:solidFill>
                  <a:srgbClr val="C00000"/>
                </a:solidFill>
                <a:latin typeface="Calibri"/>
                <a:cs typeface="Calibri"/>
              </a:rPr>
              <a:t>target</a:t>
            </a:r>
            <a:r>
              <a:rPr dirty="0" sz="32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graph?</a:t>
            </a:r>
            <a:endParaRPr sz="3200">
              <a:latin typeface="Calibri"/>
              <a:cs typeface="Calibri"/>
            </a:endParaRPr>
          </a:p>
          <a:p>
            <a:pPr algn="ctr" marR="422909">
              <a:lnSpc>
                <a:spcPct val="100000"/>
              </a:lnSpc>
              <a:spcBef>
                <a:spcPts val="509"/>
              </a:spcBef>
              <a:tabLst>
                <a:tab pos="3886835" algn="l"/>
              </a:tabLst>
            </a:pPr>
            <a:r>
              <a:rPr dirty="0" baseline="1543" sz="2700" spc="-7" b="1">
                <a:solidFill>
                  <a:srgbClr val="0070C0"/>
                </a:solidFill>
                <a:latin typeface="Arial"/>
                <a:cs typeface="Arial"/>
              </a:rPr>
              <a:t>Query	</a:t>
            </a:r>
            <a:r>
              <a:rPr dirty="0" sz="1800" spc="-25" b="1">
                <a:solidFill>
                  <a:srgbClr val="C00000"/>
                </a:solidFill>
                <a:latin typeface="Arial"/>
                <a:cs typeface="Arial"/>
              </a:rPr>
              <a:t>Target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50">
              <a:latin typeface="Times New Roman"/>
              <a:cs typeface="Times New Roman"/>
            </a:endParaRPr>
          </a:p>
          <a:p>
            <a:pPr algn="ctr" marR="547370">
              <a:lnSpc>
                <a:spcPct val="100000"/>
              </a:lnSpc>
            </a:pPr>
            <a:r>
              <a:rPr dirty="0" sz="1800" b="1">
                <a:latin typeface="Arial"/>
                <a:cs typeface="Arial"/>
              </a:rPr>
              <a:t>A</a:t>
            </a:r>
            <a:r>
              <a:rPr dirty="0" sz="1800" spc="-14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subgraph?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34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32901" y="3404201"/>
            <a:ext cx="1270000" cy="1623060"/>
          </a:xfrm>
          <a:custGeom>
            <a:avLst/>
            <a:gdLst/>
            <a:ahLst/>
            <a:cxnLst/>
            <a:rect l="l" t="t" r="r" b="b"/>
            <a:pathLst>
              <a:path w="1270000" h="1623060">
                <a:moveTo>
                  <a:pt x="1106864" y="0"/>
                </a:moveTo>
                <a:lnTo>
                  <a:pt x="162971" y="0"/>
                </a:lnTo>
                <a:lnTo>
                  <a:pt x="119646" y="5821"/>
                </a:lnTo>
                <a:lnTo>
                  <a:pt x="80716" y="22250"/>
                </a:lnTo>
                <a:lnTo>
                  <a:pt x="47732" y="47732"/>
                </a:lnTo>
                <a:lnTo>
                  <a:pt x="22250" y="80715"/>
                </a:lnTo>
                <a:lnTo>
                  <a:pt x="5821" y="119646"/>
                </a:lnTo>
                <a:lnTo>
                  <a:pt x="0" y="162970"/>
                </a:lnTo>
                <a:lnTo>
                  <a:pt x="0" y="1459958"/>
                </a:lnTo>
                <a:lnTo>
                  <a:pt x="5821" y="1503283"/>
                </a:lnTo>
                <a:lnTo>
                  <a:pt x="22250" y="1542213"/>
                </a:lnTo>
                <a:lnTo>
                  <a:pt x="47732" y="1575197"/>
                </a:lnTo>
                <a:lnTo>
                  <a:pt x="80716" y="1600679"/>
                </a:lnTo>
                <a:lnTo>
                  <a:pt x="119646" y="1617108"/>
                </a:lnTo>
                <a:lnTo>
                  <a:pt x="162971" y="1622930"/>
                </a:lnTo>
                <a:lnTo>
                  <a:pt x="1106864" y="1622930"/>
                </a:lnTo>
                <a:lnTo>
                  <a:pt x="1150188" y="1617108"/>
                </a:lnTo>
                <a:lnTo>
                  <a:pt x="1189119" y="1600679"/>
                </a:lnTo>
                <a:lnTo>
                  <a:pt x="1222102" y="1575197"/>
                </a:lnTo>
                <a:lnTo>
                  <a:pt x="1247585" y="1542213"/>
                </a:lnTo>
                <a:lnTo>
                  <a:pt x="1264014" y="1503283"/>
                </a:lnTo>
                <a:lnTo>
                  <a:pt x="1269836" y="1459958"/>
                </a:lnTo>
                <a:lnTo>
                  <a:pt x="1269836" y="162970"/>
                </a:lnTo>
                <a:lnTo>
                  <a:pt x="1264014" y="119646"/>
                </a:lnTo>
                <a:lnTo>
                  <a:pt x="1247585" y="80715"/>
                </a:lnTo>
                <a:lnTo>
                  <a:pt x="1222102" y="47732"/>
                </a:lnTo>
                <a:lnTo>
                  <a:pt x="1189119" y="22250"/>
                </a:lnTo>
                <a:lnTo>
                  <a:pt x="1150188" y="5821"/>
                </a:lnTo>
                <a:lnTo>
                  <a:pt x="1106864" y="0"/>
                </a:lnTo>
                <a:close/>
              </a:path>
            </a:pathLst>
          </a:custGeom>
          <a:solidFill>
            <a:srgbClr val="F4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32274" y="3713489"/>
            <a:ext cx="224154" cy="290830"/>
          </a:xfrm>
          <a:custGeom>
            <a:avLst/>
            <a:gdLst/>
            <a:ahLst/>
            <a:cxnLst/>
            <a:rect l="l" t="t" r="r" b="b"/>
            <a:pathLst>
              <a:path w="224155" h="290829">
                <a:moveTo>
                  <a:pt x="0" y="290296"/>
                </a:moveTo>
                <a:lnTo>
                  <a:pt x="223979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424813" y="3713489"/>
            <a:ext cx="245110" cy="290830"/>
          </a:xfrm>
          <a:custGeom>
            <a:avLst/>
            <a:gdLst/>
            <a:ahLst/>
            <a:cxnLst/>
            <a:rect l="l" t="t" r="r" b="b"/>
            <a:pathLst>
              <a:path w="245110" h="290829">
                <a:moveTo>
                  <a:pt x="244870" y="290296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52717" y="4204247"/>
            <a:ext cx="635" cy="460375"/>
          </a:xfrm>
          <a:custGeom>
            <a:avLst/>
            <a:gdLst/>
            <a:ahLst/>
            <a:cxnLst/>
            <a:rect l="l" t="t" r="r" b="b"/>
            <a:pathLst>
              <a:path w="635" h="460375">
                <a:moveTo>
                  <a:pt x="86" y="460126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66668" y="4086819"/>
            <a:ext cx="568960" cy="0"/>
          </a:xfrm>
          <a:custGeom>
            <a:avLst/>
            <a:gdLst/>
            <a:ahLst/>
            <a:cxnLst/>
            <a:rect l="l" t="t" r="r" b="b"/>
            <a:pathLst>
              <a:path w="568960" h="0">
                <a:moveTo>
                  <a:pt x="0" y="0"/>
                </a:moveTo>
                <a:lnTo>
                  <a:pt x="568622" y="1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5216" y="347472"/>
            <a:ext cx="666597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07580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/>
              <a:t>Large </a:t>
            </a:r>
            <a:r>
              <a:rPr dirty="0" spc="-25">
                <a:solidFill>
                  <a:srgbClr val="C00000"/>
                </a:solidFill>
              </a:rPr>
              <a:t>target </a:t>
            </a:r>
            <a:r>
              <a:rPr dirty="0" spc="-15"/>
              <a:t>graph </a:t>
            </a:r>
            <a:r>
              <a:rPr dirty="0" spc="-10"/>
              <a:t>(can </a:t>
            </a:r>
            <a:r>
              <a:rPr dirty="0"/>
              <a:t>be</a:t>
            </a:r>
            <a:r>
              <a:rPr dirty="0" spc="75"/>
              <a:t> </a:t>
            </a:r>
            <a:r>
              <a:rPr dirty="0" spc="-10"/>
              <a:t>disconnected)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70C0"/>
                </a:solidFill>
              </a:rPr>
              <a:t>Query </a:t>
            </a:r>
            <a:r>
              <a:rPr dirty="0" spc="-15"/>
              <a:t>graph</a:t>
            </a:r>
            <a:r>
              <a:rPr dirty="0" spc="-20"/>
              <a:t> </a:t>
            </a:r>
            <a:r>
              <a:rPr dirty="0" spc="-10"/>
              <a:t>(connected)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18108" y="5247132"/>
            <a:ext cx="7926070" cy="14916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Intuition: </a:t>
            </a:r>
            <a:r>
              <a:rPr dirty="0" sz="3200" spc="-5">
                <a:latin typeface="Calibri"/>
                <a:cs typeface="Calibri"/>
              </a:rPr>
              <a:t>Exploit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geometric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shape </a:t>
            </a:r>
            <a:r>
              <a:rPr dirty="0" sz="3200" spc="-5">
                <a:latin typeface="Calibri"/>
                <a:cs typeface="Calibri"/>
              </a:rPr>
              <a:t>of  embedding space </a:t>
            </a:r>
            <a:r>
              <a:rPr dirty="0" sz="3200" spc="-15">
                <a:latin typeface="Calibri"/>
                <a:cs typeface="Calibri"/>
              </a:rPr>
              <a:t>to capture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properties </a:t>
            </a:r>
            <a:r>
              <a:rPr dirty="0" sz="3200" spc="-5">
                <a:latin typeface="Calibri"/>
                <a:cs typeface="Calibri"/>
              </a:rPr>
              <a:t>of  </a:t>
            </a:r>
            <a:r>
              <a:rPr dirty="0" sz="3200" spc="-10">
                <a:latin typeface="Calibri"/>
                <a:cs typeface="Calibri"/>
              </a:rPr>
              <a:t>subgraph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isomorphism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31812" y="3969391"/>
            <a:ext cx="234950" cy="234950"/>
          </a:xfrm>
          <a:custGeom>
            <a:avLst/>
            <a:gdLst/>
            <a:ahLst/>
            <a:cxnLst/>
            <a:rect l="l" t="t" r="r" b="b"/>
            <a:pathLst>
              <a:path w="234950" h="234950">
                <a:moveTo>
                  <a:pt x="117428" y="0"/>
                </a:moveTo>
                <a:lnTo>
                  <a:pt x="71719" y="9228"/>
                </a:lnTo>
                <a:lnTo>
                  <a:pt x="34393" y="34393"/>
                </a:lnTo>
                <a:lnTo>
                  <a:pt x="9228" y="71719"/>
                </a:lnTo>
                <a:lnTo>
                  <a:pt x="0" y="117428"/>
                </a:lnTo>
                <a:lnTo>
                  <a:pt x="9228" y="163135"/>
                </a:lnTo>
                <a:lnTo>
                  <a:pt x="34393" y="200461"/>
                </a:lnTo>
                <a:lnTo>
                  <a:pt x="71719" y="225627"/>
                </a:lnTo>
                <a:lnTo>
                  <a:pt x="117428" y="234856"/>
                </a:lnTo>
                <a:lnTo>
                  <a:pt x="163135" y="225627"/>
                </a:lnTo>
                <a:lnTo>
                  <a:pt x="200461" y="200461"/>
                </a:lnTo>
                <a:lnTo>
                  <a:pt x="225627" y="163135"/>
                </a:lnTo>
                <a:lnTo>
                  <a:pt x="234856" y="117428"/>
                </a:lnTo>
                <a:lnTo>
                  <a:pt x="225627" y="71719"/>
                </a:lnTo>
                <a:lnTo>
                  <a:pt x="200461" y="34393"/>
                </a:lnTo>
                <a:lnTo>
                  <a:pt x="163135" y="9228"/>
                </a:lnTo>
                <a:lnTo>
                  <a:pt x="11742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21343" y="3510018"/>
            <a:ext cx="238760" cy="238760"/>
          </a:xfrm>
          <a:custGeom>
            <a:avLst/>
            <a:gdLst/>
            <a:ahLst/>
            <a:cxnLst/>
            <a:rect l="l" t="t" r="r" b="b"/>
            <a:pathLst>
              <a:path w="238760" h="238760">
                <a:moveTo>
                  <a:pt x="119190" y="0"/>
                </a:moveTo>
                <a:lnTo>
                  <a:pt x="72796" y="9366"/>
                </a:lnTo>
                <a:lnTo>
                  <a:pt x="34909" y="34909"/>
                </a:lnTo>
                <a:lnTo>
                  <a:pt x="9366" y="72795"/>
                </a:lnTo>
                <a:lnTo>
                  <a:pt x="0" y="119189"/>
                </a:lnTo>
                <a:lnTo>
                  <a:pt x="9366" y="165584"/>
                </a:lnTo>
                <a:lnTo>
                  <a:pt x="34909" y="203470"/>
                </a:lnTo>
                <a:lnTo>
                  <a:pt x="72796" y="229013"/>
                </a:lnTo>
                <a:lnTo>
                  <a:pt x="119190" y="238380"/>
                </a:lnTo>
                <a:lnTo>
                  <a:pt x="165584" y="229013"/>
                </a:lnTo>
                <a:lnTo>
                  <a:pt x="203470" y="203470"/>
                </a:lnTo>
                <a:lnTo>
                  <a:pt x="229013" y="165584"/>
                </a:lnTo>
                <a:lnTo>
                  <a:pt x="238380" y="119189"/>
                </a:lnTo>
                <a:lnTo>
                  <a:pt x="229013" y="72795"/>
                </a:lnTo>
                <a:lnTo>
                  <a:pt x="203470" y="34909"/>
                </a:lnTo>
                <a:lnTo>
                  <a:pt x="165584" y="9366"/>
                </a:lnTo>
                <a:lnTo>
                  <a:pt x="119190" y="0"/>
                </a:lnTo>
                <a:close/>
              </a:path>
            </a:pathLst>
          </a:custGeom>
          <a:solidFill>
            <a:srgbClr val="9A31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635289" y="3969391"/>
            <a:ext cx="234950" cy="234950"/>
          </a:xfrm>
          <a:custGeom>
            <a:avLst/>
            <a:gdLst/>
            <a:ahLst/>
            <a:cxnLst/>
            <a:rect l="l" t="t" r="r" b="b"/>
            <a:pathLst>
              <a:path w="234950" h="234950">
                <a:moveTo>
                  <a:pt x="117428" y="0"/>
                </a:moveTo>
                <a:lnTo>
                  <a:pt x="71719" y="9228"/>
                </a:lnTo>
                <a:lnTo>
                  <a:pt x="34393" y="34393"/>
                </a:lnTo>
                <a:lnTo>
                  <a:pt x="9228" y="71719"/>
                </a:lnTo>
                <a:lnTo>
                  <a:pt x="0" y="117428"/>
                </a:lnTo>
                <a:lnTo>
                  <a:pt x="9228" y="163135"/>
                </a:lnTo>
                <a:lnTo>
                  <a:pt x="34393" y="200461"/>
                </a:lnTo>
                <a:lnTo>
                  <a:pt x="71719" y="225627"/>
                </a:lnTo>
                <a:lnTo>
                  <a:pt x="117428" y="234856"/>
                </a:lnTo>
                <a:lnTo>
                  <a:pt x="163136" y="225627"/>
                </a:lnTo>
                <a:lnTo>
                  <a:pt x="200462" y="200461"/>
                </a:lnTo>
                <a:lnTo>
                  <a:pt x="225627" y="163135"/>
                </a:lnTo>
                <a:lnTo>
                  <a:pt x="234856" y="117428"/>
                </a:lnTo>
                <a:lnTo>
                  <a:pt x="225627" y="71719"/>
                </a:lnTo>
                <a:lnTo>
                  <a:pt x="200462" y="34393"/>
                </a:lnTo>
                <a:lnTo>
                  <a:pt x="163136" y="9228"/>
                </a:lnTo>
                <a:lnTo>
                  <a:pt x="11742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637591" y="4664373"/>
            <a:ext cx="230504" cy="230504"/>
          </a:xfrm>
          <a:custGeom>
            <a:avLst/>
            <a:gdLst/>
            <a:ahLst/>
            <a:cxnLst/>
            <a:rect l="l" t="t" r="r" b="b"/>
            <a:pathLst>
              <a:path w="230505" h="230504">
                <a:moveTo>
                  <a:pt x="115211" y="0"/>
                </a:moveTo>
                <a:lnTo>
                  <a:pt x="70366" y="9053"/>
                </a:lnTo>
                <a:lnTo>
                  <a:pt x="33744" y="33744"/>
                </a:lnTo>
                <a:lnTo>
                  <a:pt x="9053" y="70366"/>
                </a:lnTo>
                <a:lnTo>
                  <a:pt x="0" y="115211"/>
                </a:lnTo>
                <a:lnTo>
                  <a:pt x="9053" y="160057"/>
                </a:lnTo>
                <a:lnTo>
                  <a:pt x="33744" y="196678"/>
                </a:lnTo>
                <a:lnTo>
                  <a:pt x="70366" y="221369"/>
                </a:lnTo>
                <a:lnTo>
                  <a:pt x="115211" y="230423"/>
                </a:lnTo>
                <a:lnTo>
                  <a:pt x="160057" y="221369"/>
                </a:lnTo>
                <a:lnTo>
                  <a:pt x="196678" y="196678"/>
                </a:lnTo>
                <a:lnTo>
                  <a:pt x="221369" y="160057"/>
                </a:lnTo>
                <a:lnTo>
                  <a:pt x="230423" y="115211"/>
                </a:lnTo>
                <a:lnTo>
                  <a:pt x="221369" y="70366"/>
                </a:lnTo>
                <a:lnTo>
                  <a:pt x="196678" y="33744"/>
                </a:lnTo>
                <a:lnTo>
                  <a:pt x="160057" y="9053"/>
                </a:lnTo>
                <a:lnTo>
                  <a:pt x="115211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471105" y="3374825"/>
            <a:ext cx="1614805" cy="1741170"/>
          </a:xfrm>
          <a:custGeom>
            <a:avLst/>
            <a:gdLst/>
            <a:ahLst/>
            <a:cxnLst/>
            <a:rect l="l" t="t" r="r" b="b"/>
            <a:pathLst>
              <a:path w="1614804" h="1741170">
                <a:moveTo>
                  <a:pt x="1472172" y="0"/>
                </a:moveTo>
                <a:lnTo>
                  <a:pt x="142158" y="0"/>
                </a:lnTo>
                <a:lnTo>
                  <a:pt x="97225" y="7247"/>
                </a:lnTo>
                <a:lnTo>
                  <a:pt x="58201" y="27428"/>
                </a:lnTo>
                <a:lnTo>
                  <a:pt x="27428" y="58201"/>
                </a:lnTo>
                <a:lnTo>
                  <a:pt x="7247" y="97224"/>
                </a:lnTo>
                <a:lnTo>
                  <a:pt x="0" y="142157"/>
                </a:lnTo>
                <a:lnTo>
                  <a:pt x="0" y="1598757"/>
                </a:lnTo>
                <a:lnTo>
                  <a:pt x="7247" y="1643690"/>
                </a:lnTo>
                <a:lnTo>
                  <a:pt x="27428" y="1682713"/>
                </a:lnTo>
                <a:lnTo>
                  <a:pt x="58201" y="1713486"/>
                </a:lnTo>
                <a:lnTo>
                  <a:pt x="97225" y="1733667"/>
                </a:lnTo>
                <a:lnTo>
                  <a:pt x="142158" y="1740914"/>
                </a:lnTo>
                <a:lnTo>
                  <a:pt x="1472172" y="1740914"/>
                </a:lnTo>
                <a:lnTo>
                  <a:pt x="1517105" y="1733667"/>
                </a:lnTo>
                <a:lnTo>
                  <a:pt x="1556128" y="1713486"/>
                </a:lnTo>
                <a:lnTo>
                  <a:pt x="1586901" y="1682713"/>
                </a:lnTo>
                <a:lnTo>
                  <a:pt x="1607082" y="1643690"/>
                </a:lnTo>
                <a:lnTo>
                  <a:pt x="1614330" y="1598757"/>
                </a:lnTo>
                <a:lnTo>
                  <a:pt x="1614330" y="142157"/>
                </a:lnTo>
                <a:lnTo>
                  <a:pt x="1607082" y="97224"/>
                </a:lnTo>
                <a:lnTo>
                  <a:pt x="1586901" y="58201"/>
                </a:lnTo>
                <a:lnTo>
                  <a:pt x="1556128" y="27428"/>
                </a:lnTo>
                <a:lnTo>
                  <a:pt x="1517105" y="7247"/>
                </a:lnTo>
                <a:lnTo>
                  <a:pt x="1472172" y="0"/>
                </a:lnTo>
                <a:close/>
              </a:path>
            </a:pathLst>
          </a:custGeom>
          <a:solidFill>
            <a:srgbClr val="FAE7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405531" y="3782409"/>
            <a:ext cx="385445" cy="419100"/>
          </a:xfrm>
          <a:custGeom>
            <a:avLst/>
            <a:gdLst/>
            <a:ahLst/>
            <a:cxnLst/>
            <a:rect l="l" t="t" r="r" b="b"/>
            <a:pathLst>
              <a:path w="385445" h="419100">
                <a:moveTo>
                  <a:pt x="385217" y="0"/>
                </a:moveTo>
                <a:lnTo>
                  <a:pt x="0" y="418977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780613" y="3873672"/>
            <a:ext cx="291465" cy="279400"/>
          </a:xfrm>
          <a:custGeom>
            <a:avLst/>
            <a:gdLst/>
            <a:ahLst/>
            <a:cxnLst/>
            <a:rect l="l" t="t" r="r" b="b"/>
            <a:pathLst>
              <a:path w="291464" h="279400">
                <a:moveTo>
                  <a:pt x="0" y="279002"/>
                </a:moveTo>
                <a:lnTo>
                  <a:pt x="291062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722832" y="4264528"/>
            <a:ext cx="170815" cy="456565"/>
          </a:xfrm>
          <a:custGeom>
            <a:avLst/>
            <a:gdLst/>
            <a:ahLst/>
            <a:cxnLst/>
            <a:rect l="l" t="t" r="r" b="b"/>
            <a:pathLst>
              <a:path w="170814" h="456564">
                <a:moveTo>
                  <a:pt x="170477" y="456431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071675" y="3873671"/>
            <a:ext cx="311785" cy="279400"/>
          </a:xfrm>
          <a:custGeom>
            <a:avLst/>
            <a:gdLst/>
            <a:ahLst/>
            <a:cxnLst/>
            <a:rect l="l" t="t" r="r" b="b"/>
            <a:pathLst>
              <a:path w="311785" h="279400">
                <a:moveTo>
                  <a:pt x="311563" y="279001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391567" y="4302696"/>
            <a:ext cx="0" cy="325755"/>
          </a:xfrm>
          <a:custGeom>
            <a:avLst/>
            <a:gdLst/>
            <a:ahLst/>
            <a:cxnLst/>
            <a:rect l="l" t="t" r="r" b="b"/>
            <a:pathLst>
              <a:path w="0" h="325754">
                <a:moveTo>
                  <a:pt x="0" y="325333"/>
                </a:moveTo>
                <a:lnTo>
                  <a:pt x="1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846682" y="4203303"/>
            <a:ext cx="439420" cy="0"/>
          </a:xfrm>
          <a:custGeom>
            <a:avLst/>
            <a:gdLst/>
            <a:ahLst/>
            <a:cxnLst/>
            <a:rect l="l" t="t" r="r" b="b"/>
            <a:pathLst>
              <a:path w="439420" h="0">
                <a:moveTo>
                  <a:pt x="0" y="0"/>
                </a:moveTo>
                <a:lnTo>
                  <a:pt x="439037" y="0"/>
                </a:lnTo>
              </a:path>
            </a:pathLst>
          </a:custGeom>
          <a:ln w="54634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905676" y="3897214"/>
            <a:ext cx="156210" cy="847725"/>
          </a:xfrm>
          <a:custGeom>
            <a:avLst/>
            <a:gdLst/>
            <a:ahLst/>
            <a:cxnLst/>
            <a:rect l="l" t="t" r="r" b="b"/>
            <a:pathLst>
              <a:path w="156210" h="847725">
                <a:moveTo>
                  <a:pt x="0" y="847287"/>
                </a:moveTo>
                <a:lnTo>
                  <a:pt x="156093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636268" y="4104497"/>
            <a:ext cx="210820" cy="194310"/>
          </a:xfrm>
          <a:custGeom>
            <a:avLst/>
            <a:gdLst/>
            <a:ahLst/>
            <a:cxnLst/>
            <a:rect l="l" t="t" r="r" b="b"/>
            <a:pathLst>
              <a:path w="210820" h="194310">
                <a:moveTo>
                  <a:pt x="0" y="0"/>
                </a:moveTo>
                <a:lnTo>
                  <a:pt x="210413" y="0"/>
                </a:lnTo>
                <a:lnTo>
                  <a:pt x="210413" y="193774"/>
                </a:lnTo>
                <a:lnTo>
                  <a:pt x="0" y="193774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285720" y="4107741"/>
            <a:ext cx="212090" cy="195580"/>
          </a:xfrm>
          <a:custGeom>
            <a:avLst/>
            <a:gdLst/>
            <a:ahLst/>
            <a:cxnLst/>
            <a:rect l="l" t="t" r="r" b="b"/>
            <a:pathLst>
              <a:path w="212089" h="195579">
                <a:moveTo>
                  <a:pt x="0" y="0"/>
                </a:moveTo>
                <a:lnTo>
                  <a:pt x="211693" y="0"/>
                </a:lnTo>
                <a:lnTo>
                  <a:pt x="211693" y="194953"/>
                </a:lnTo>
                <a:lnTo>
                  <a:pt x="0" y="19495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788102" y="4624072"/>
            <a:ext cx="210820" cy="194310"/>
          </a:xfrm>
          <a:custGeom>
            <a:avLst/>
            <a:gdLst/>
            <a:ahLst/>
            <a:cxnLst/>
            <a:rect l="l" t="t" r="r" b="b"/>
            <a:pathLst>
              <a:path w="210820" h="194310">
                <a:moveTo>
                  <a:pt x="0" y="0"/>
                </a:moveTo>
                <a:lnTo>
                  <a:pt x="210412" y="0"/>
                </a:lnTo>
                <a:lnTo>
                  <a:pt x="210412" y="193774"/>
                </a:lnTo>
                <a:lnTo>
                  <a:pt x="0" y="193774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286360" y="4628029"/>
            <a:ext cx="210820" cy="194310"/>
          </a:xfrm>
          <a:custGeom>
            <a:avLst/>
            <a:gdLst/>
            <a:ahLst/>
            <a:cxnLst/>
            <a:rect l="l" t="t" r="r" b="b"/>
            <a:pathLst>
              <a:path w="210820" h="194310">
                <a:moveTo>
                  <a:pt x="0" y="0"/>
                </a:moveTo>
                <a:lnTo>
                  <a:pt x="210413" y="0"/>
                </a:lnTo>
                <a:lnTo>
                  <a:pt x="210413" y="193774"/>
                </a:lnTo>
                <a:lnTo>
                  <a:pt x="0" y="193774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693396" y="3682510"/>
            <a:ext cx="210820" cy="194310"/>
          </a:xfrm>
          <a:custGeom>
            <a:avLst/>
            <a:gdLst/>
            <a:ahLst/>
            <a:cxnLst/>
            <a:rect l="l" t="t" r="r" b="b"/>
            <a:pathLst>
              <a:path w="210820" h="194310">
                <a:moveTo>
                  <a:pt x="0" y="0"/>
                </a:moveTo>
                <a:lnTo>
                  <a:pt x="210412" y="0"/>
                </a:lnTo>
                <a:lnTo>
                  <a:pt x="210412" y="193774"/>
                </a:lnTo>
                <a:lnTo>
                  <a:pt x="0" y="193774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962389" y="3697983"/>
            <a:ext cx="210820" cy="194310"/>
          </a:xfrm>
          <a:custGeom>
            <a:avLst/>
            <a:gdLst/>
            <a:ahLst/>
            <a:cxnLst/>
            <a:rect l="l" t="t" r="r" b="b"/>
            <a:pathLst>
              <a:path w="210820" h="194310">
                <a:moveTo>
                  <a:pt x="0" y="0"/>
                </a:moveTo>
                <a:lnTo>
                  <a:pt x="210412" y="0"/>
                </a:lnTo>
                <a:lnTo>
                  <a:pt x="210412" y="193774"/>
                </a:lnTo>
                <a:lnTo>
                  <a:pt x="0" y="193774"/>
                </a:lnTo>
                <a:lnTo>
                  <a:pt x="0" y="0"/>
                </a:lnTo>
                <a:close/>
              </a:path>
            </a:pathLst>
          </a:custGeom>
          <a:solidFill>
            <a:srgbClr val="9A31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613577" y="4126247"/>
            <a:ext cx="1179830" cy="384175"/>
          </a:xfrm>
          <a:custGeom>
            <a:avLst/>
            <a:gdLst/>
            <a:ahLst/>
            <a:cxnLst/>
            <a:rect l="l" t="t" r="r" b="b"/>
            <a:pathLst>
              <a:path w="1179829" h="384175">
                <a:moveTo>
                  <a:pt x="987348" y="0"/>
                </a:moveTo>
                <a:lnTo>
                  <a:pt x="987348" y="96038"/>
                </a:lnTo>
                <a:lnTo>
                  <a:pt x="0" y="96038"/>
                </a:lnTo>
                <a:lnTo>
                  <a:pt x="0" y="288114"/>
                </a:lnTo>
                <a:lnTo>
                  <a:pt x="987348" y="288114"/>
                </a:lnTo>
                <a:lnTo>
                  <a:pt x="987348" y="384153"/>
                </a:lnTo>
                <a:lnTo>
                  <a:pt x="1179423" y="192077"/>
                </a:lnTo>
                <a:lnTo>
                  <a:pt x="987348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589577" y="4068306"/>
            <a:ext cx="1237615" cy="500380"/>
          </a:xfrm>
          <a:custGeom>
            <a:avLst/>
            <a:gdLst/>
            <a:ahLst/>
            <a:cxnLst/>
            <a:rect l="l" t="t" r="r" b="b"/>
            <a:pathLst>
              <a:path w="1237614" h="500379">
                <a:moveTo>
                  <a:pt x="987348" y="0"/>
                </a:moveTo>
                <a:lnTo>
                  <a:pt x="987348" y="129979"/>
                </a:lnTo>
                <a:lnTo>
                  <a:pt x="0" y="129979"/>
                </a:lnTo>
                <a:lnTo>
                  <a:pt x="0" y="370055"/>
                </a:lnTo>
                <a:lnTo>
                  <a:pt x="987348" y="370055"/>
                </a:lnTo>
                <a:lnTo>
                  <a:pt x="987348" y="500035"/>
                </a:lnTo>
                <a:lnTo>
                  <a:pt x="1056878" y="430505"/>
                </a:lnTo>
                <a:lnTo>
                  <a:pt x="1016148" y="430505"/>
                </a:lnTo>
                <a:lnTo>
                  <a:pt x="1016148" y="341255"/>
                </a:lnTo>
                <a:lnTo>
                  <a:pt x="28801" y="341255"/>
                </a:lnTo>
                <a:lnTo>
                  <a:pt x="28801" y="158779"/>
                </a:lnTo>
                <a:lnTo>
                  <a:pt x="1016148" y="158779"/>
                </a:lnTo>
                <a:lnTo>
                  <a:pt x="1016148" y="69529"/>
                </a:lnTo>
                <a:lnTo>
                  <a:pt x="1056878" y="69529"/>
                </a:lnTo>
                <a:lnTo>
                  <a:pt x="987348" y="0"/>
                </a:lnTo>
                <a:close/>
              </a:path>
              <a:path w="1237614" h="500379">
                <a:moveTo>
                  <a:pt x="1056878" y="69529"/>
                </a:moveTo>
                <a:lnTo>
                  <a:pt x="1016148" y="69529"/>
                </a:lnTo>
                <a:lnTo>
                  <a:pt x="1196635" y="250018"/>
                </a:lnTo>
                <a:lnTo>
                  <a:pt x="1016148" y="430505"/>
                </a:lnTo>
                <a:lnTo>
                  <a:pt x="1056878" y="430505"/>
                </a:lnTo>
                <a:lnTo>
                  <a:pt x="1237366" y="250018"/>
                </a:lnTo>
                <a:lnTo>
                  <a:pt x="1056878" y="69529"/>
                </a:lnTo>
                <a:close/>
              </a:path>
              <a:path w="1237614" h="500379">
                <a:moveTo>
                  <a:pt x="1025748" y="92706"/>
                </a:moveTo>
                <a:lnTo>
                  <a:pt x="1025748" y="168379"/>
                </a:lnTo>
                <a:lnTo>
                  <a:pt x="38400" y="168379"/>
                </a:lnTo>
                <a:lnTo>
                  <a:pt x="38400" y="331655"/>
                </a:lnTo>
                <a:lnTo>
                  <a:pt x="1025748" y="331655"/>
                </a:lnTo>
                <a:lnTo>
                  <a:pt x="1025748" y="407329"/>
                </a:lnTo>
                <a:lnTo>
                  <a:pt x="1048924" y="384153"/>
                </a:lnTo>
                <a:lnTo>
                  <a:pt x="1035348" y="384153"/>
                </a:lnTo>
                <a:lnTo>
                  <a:pt x="1035348" y="322055"/>
                </a:lnTo>
                <a:lnTo>
                  <a:pt x="48000" y="322055"/>
                </a:lnTo>
                <a:lnTo>
                  <a:pt x="48000" y="177980"/>
                </a:lnTo>
                <a:lnTo>
                  <a:pt x="1035348" y="177980"/>
                </a:lnTo>
                <a:lnTo>
                  <a:pt x="1035348" y="115882"/>
                </a:lnTo>
                <a:lnTo>
                  <a:pt x="1048924" y="115882"/>
                </a:lnTo>
                <a:lnTo>
                  <a:pt x="1025748" y="92706"/>
                </a:lnTo>
                <a:close/>
              </a:path>
              <a:path w="1237614" h="500379">
                <a:moveTo>
                  <a:pt x="1048924" y="115882"/>
                </a:moveTo>
                <a:lnTo>
                  <a:pt x="1035348" y="115882"/>
                </a:lnTo>
                <a:lnTo>
                  <a:pt x="1169483" y="250018"/>
                </a:lnTo>
                <a:lnTo>
                  <a:pt x="1035348" y="384153"/>
                </a:lnTo>
                <a:lnTo>
                  <a:pt x="1048924" y="384153"/>
                </a:lnTo>
                <a:lnTo>
                  <a:pt x="1183059" y="250018"/>
                </a:lnTo>
                <a:lnTo>
                  <a:pt x="1048924" y="115882"/>
                </a:lnTo>
                <a:close/>
              </a:path>
            </a:pathLst>
          </a:custGeom>
          <a:solidFill>
            <a:srgbClr val="4484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18108" y="2327148"/>
            <a:ext cx="7542530" cy="1757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Use GNN </a:t>
            </a:r>
            <a:r>
              <a:rPr dirty="0" sz="3200" spc="-20" b="1">
                <a:latin typeface="Calibri"/>
                <a:cs typeface="Calibri"/>
              </a:rPr>
              <a:t>to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predict </a:t>
            </a:r>
            <a:r>
              <a:rPr dirty="0" sz="3200" spc="-15" b="1">
                <a:latin typeface="Calibri"/>
                <a:cs typeface="Calibri"/>
              </a:rPr>
              <a:t>subgraph</a:t>
            </a:r>
            <a:r>
              <a:rPr dirty="0" sz="3200" spc="10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isomorphism</a:t>
            </a:r>
            <a:endParaRPr sz="3200">
              <a:latin typeface="Calibri"/>
              <a:cs typeface="Calibri"/>
            </a:endParaRPr>
          </a:p>
          <a:p>
            <a:pPr algn="ctr" marR="120014">
              <a:lnSpc>
                <a:spcPct val="100000"/>
              </a:lnSpc>
              <a:spcBef>
                <a:spcPts val="2095"/>
              </a:spcBef>
              <a:tabLst>
                <a:tab pos="3886835" algn="l"/>
              </a:tabLst>
            </a:pPr>
            <a:r>
              <a:rPr dirty="0" baseline="1543" sz="2700" spc="-7" b="1">
                <a:solidFill>
                  <a:srgbClr val="0070C0"/>
                </a:solidFill>
                <a:latin typeface="Arial"/>
                <a:cs typeface="Arial"/>
              </a:rPr>
              <a:t>Query	</a:t>
            </a:r>
            <a:r>
              <a:rPr dirty="0" sz="1800" spc="-25" b="1">
                <a:solidFill>
                  <a:srgbClr val="C00000"/>
                </a:solidFill>
                <a:latin typeface="Arial"/>
                <a:cs typeface="Arial"/>
              </a:rPr>
              <a:t>Target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00">
              <a:latin typeface="Times New Roman"/>
              <a:cs typeface="Times New Roman"/>
            </a:endParaRPr>
          </a:p>
          <a:p>
            <a:pPr algn="ctr" marR="244475">
              <a:lnSpc>
                <a:spcPct val="100000"/>
              </a:lnSpc>
            </a:pPr>
            <a:r>
              <a:rPr dirty="0" sz="1800" b="1">
                <a:latin typeface="Arial"/>
                <a:cs typeface="Arial"/>
              </a:rPr>
              <a:t>A</a:t>
            </a:r>
            <a:r>
              <a:rPr dirty="0" sz="1800" spc="-14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subgraph?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34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267004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4243" y="1254252"/>
            <a:ext cx="7578090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latin typeface="Calibri"/>
                <a:cs typeface="Calibri"/>
              </a:rPr>
              <a:t>Consider </a:t>
            </a:r>
            <a:r>
              <a:rPr dirty="0" b="1">
                <a:latin typeface="Calibri"/>
                <a:cs typeface="Calibri"/>
              </a:rPr>
              <a:t>a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binary </a:t>
            </a:r>
            <a:r>
              <a:rPr dirty="0" spc="-10" b="1">
                <a:latin typeface="Calibri"/>
                <a:cs typeface="Calibri"/>
              </a:rPr>
              <a:t>prediction: </a:t>
            </a:r>
            <a:r>
              <a:rPr dirty="0" spc="-15"/>
              <a:t>Return </a:t>
            </a:r>
            <a:r>
              <a:rPr dirty="0" spc="-45" b="1">
                <a:solidFill>
                  <a:srgbClr val="008000"/>
                </a:solidFill>
                <a:latin typeface="Calibri"/>
                <a:cs typeface="Calibri"/>
              </a:rPr>
              <a:t>True </a:t>
            </a:r>
            <a:r>
              <a:rPr dirty="0"/>
              <a:t>if </a:t>
            </a:r>
            <a:r>
              <a:rPr dirty="0">
                <a:solidFill>
                  <a:srgbClr val="0070C0"/>
                </a:solidFill>
              </a:rPr>
              <a:t> </a:t>
            </a:r>
            <a:r>
              <a:rPr dirty="0" spc="-5">
                <a:solidFill>
                  <a:srgbClr val="0070C0"/>
                </a:solidFill>
              </a:rPr>
              <a:t>query </a:t>
            </a:r>
            <a:r>
              <a:rPr dirty="0"/>
              <a:t>is </a:t>
            </a:r>
            <a:r>
              <a:rPr dirty="0" spc="-5"/>
              <a:t>isomorphic </a:t>
            </a:r>
            <a:r>
              <a:rPr dirty="0" spc="-15"/>
              <a:t>to </a:t>
            </a:r>
            <a:r>
              <a:rPr dirty="0"/>
              <a:t>a </a:t>
            </a:r>
            <a:r>
              <a:rPr dirty="0" spc="-10"/>
              <a:t>subgraph </a:t>
            </a:r>
            <a:r>
              <a:rPr dirty="0"/>
              <a:t>of the </a:t>
            </a:r>
            <a:r>
              <a:rPr dirty="0">
                <a:solidFill>
                  <a:srgbClr val="C00000"/>
                </a:solidFill>
              </a:rPr>
              <a:t> </a:t>
            </a:r>
            <a:r>
              <a:rPr dirty="0" spc="-25">
                <a:solidFill>
                  <a:srgbClr val="C00000"/>
                </a:solidFill>
              </a:rPr>
              <a:t>target </a:t>
            </a:r>
            <a:r>
              <a:rPr dirty="0" spc="-15">
                <a:solidFill>
                  <a:srgbClr val="C00000"/>
                </a:solidFill>
              </a:rPr>
              <a:t>graph</a:t>
            </a:r>
            <a:r>
              <a:rPr dirty="0" spc="-15"/>
              <a:t>, </a:t>
            </a:r>
            <a:r>
              <a:rPr dirty="0" spc="-5"/>
              <a:t>else </a:t>
            </a:r>
            <a:r>
              <a:rPr dirty="0" spc="-15"/>
              <a:t>return</a:t>
            </a:r>
            <a:r>
              <a:rPr dirty="0" spc="30"/>
              <a:t> </a:t>
            </a:r>
            <a:r>
              <a:rPr dirty="0" spc="-20">
                <a:solidFill>
                  <a:srgbClr val="C00000"/>
                </a:solidFill>
              </a:rPr>
              <a:t>False</a:t>
            </a:r>
          </a:p>
        </p:txBody>
      </p:sp>
      <p:sp>
        <p:nvSpPr>
          <p:cNvPr id="4" name="object 4"/>
          <p:cNvSpPr/>
          <p:nvPr/>
        </p:nvSpPr>
        <p:spPr>
          <a:xfrm>
            <a:off x="1919952" y="3256957"/>
            <a:ext cx="1270000" cy="1623060"/>
          </a:xfrm>
          <a:custGeom>
            <a:avLst/>
            <a:gdLst/>
            <a:ahLst/>
            <a:cxnLst/>
            <a:rect l="l" t="t" r="r" b="b"/>
            <a:pathLst>
              <a:path w="1270000" h="1623060">
                <a:moveTo>
                  <a:pt x="1106864" y="0"/>
                </a:moveTo>
                <a:lnTo>
                  <a:pt x="162971" y="0"/>
                </a:lnTo>
                <a:lnTo>
                  <a:pt x="119646" y="5821"/>
                </a:lnTo>
                <a:lnTo>
                  <a:pt x="80716" y="22250"/>
                </a:lnTo>
                <a:lnTo>
                  <a:pt x="47732" y="47732"/>
                </a:lnTo>
                <a:lnTo>
                  <a:pt x="22250" y="80716"/>
                </a:lnTo>
                <a:lnTo>
                  <a:pt x="5821" y="119646"/>
                </a:lnTo>
                <a:lnTo>
                  <a:pt x="0" y="162971"/>
                </a:lnTo>
                <a:lnTo>
                  <a:pt x="0" y="1459958"/>
                </a:lnTo>
                <a:lnTo>
                  <a:pt x="5821" y="1503283"/>
                </a:lnTo>
                <a:lnTo>
                  <a:pt x="22250" y="1542213"/>
                </a:lnTo>
                <a:lnTo>
                  <a:pt x="47732" y="1575197"/>
                </a:lnTo>
                <a:lnTo>
                  <a:pt x="80716" y="1600679"/>
                </a:lnTo>
                <a:lnTo>
                  <a:pt x="119646" y="1617108"/>
                </a:lnTo>
                <a:lnTo>
                  <a:pt x="162971" y="1622930"/>
                </a:lnTo>
                <a:lnTo>
                  <a:pt x="1106864" y="1622930"/>
                </a:lnTo>
                <a:lnTo>
                  <a:pt x="1150188" y="1617108"/>
                </a:lnTo>
                <a:lnTo>
                  <a:pt x="1189119" y="1600679"/>
                </a:lnTo>
                <a:lnTo>
                  <a:pt x="1222102" y="1575197"/>
                </a:lnTo>
                <a:lnTo>
                  <a:pt x="1247585" y="1542213"/>
                </a:lnTo>
                <a:lnTo>
                  <a:pt x="1264014" y="1503283"/>
                </a:lnTo>
                <a:lnTo>
                  <a:pt x="1269836" y="1459958"/>
                </a:lnTo>
                <a:lnTo>
                  <a:pt x="1269836" y="162971"/>
                </a:lnTo>
                <a:lnTo>
                  <a:pt x="1264014" y="119646"/>
                </a:lnTo>
                <a:lnTo>
                  <a:pt x="1247585" y="80716"/>
                </a:lnTo>
                <a:lnTo>
                  <a:pt x="1222102" y="47732"/>
                </a:lnTo>
                <a:lnTo>
                  <a:pt x="1189119" y="22250"/>
                </a:lnTo>
                <a:lnTo>
                  <a:pt x="1150188" y="5821"/>
                </a:lnTo>
                <a:lnTo>
                  <a:pt x="1106864" y="0"/>
                </a:lnTo>
                <a:close/>
              </a:path>
            </a:pathLst>
          </a:custGeom>
          <a:solidFill>
            <a:srgbClr val="FAE7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018864" y="3822146"/>
            <a:ext cx="234950" cy="234950"/>
          </a:xfrm>
          <a:custGeom>
            <a:avLst/>
            <a:gdLst/>
            <a:ahLst/>
            <a:cxnLst/>
            <a:rect l="l" t="t" r="r" b="b"/>
            <a:pathLst>
              <a:path w="234950" h="234950">
                <a:moveTo>
                  <a:pt x="117428" y="0"/>
                </a:moveTo>
                <a:lnTo>
                  <a:pt x="71719" y="9228"/>
                </a:lnTo>
                <a:lnTo>
                  <a:pt x="34393" y="34393"/>
                </a:lnTo>
                <a:lnTo>
                  <a:pt x="9228" y="71719"/>
                </a:lnTo>
                <a:lnTo>
                  <a:pt x="0" y="117428"/>
                </a:lnTo>
                <a:lnTo>
                  <a:pt x="9228" y="163135"/>
                </a:lnTo>
                <a:lnTo>
                  <a:pt x="34393" y="200461"/>
                </a:lnTo>
                <a:lnTo>
                  <a:pt x="71719" y="225627"/>
                </a:lnTo>
                <a:lnTo>
                  <a:pt x="117428" y="234856"/>
                </a:lnTo>
                <a:lnTo>
                  <a:pt x="163135" y="225627"/>
                </a:lnTo>
                <a:lnTo>
                  <a:pt x="200461" y="200461"/>
                </a:lnTo>
                <a:lnTo>
                  <a:pt x="225627" y="163135"/>
                </a:lnTo>
                <a:lnTo>
                  <a:pt x="234856" y="117428"/>
                </a:lnTo>
                <a:lnTo>
                  <a:pt x="225627" y="71719"/>
                </a:lnTo>
                <a:lnTo>
                  <a:pt x="200461" y="34393"/>
                </a:lnTo>
                <a:lnTo>
                  <a:pt x="163135" y="9228"/>
                </a:lnTo>
                <a:lnTo>
                  <a:pt x="11742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408395" y="3362773"/>
            <a:ext cx="238760" cy="238760"/>
          </a:xfrm>
          <a:custGeom>
            <a:avLst/>
            <a:gdLst/>
            <a:ahLst/>
            <a:cxnLst/>
            <a:rect l="l" t="t" r="r" b="b"/>
            <a:pathLst>
              <a:path w="238760" h="238760">
                <a:moveTo>
                  <a:pt x="119190" y="0"/>
                </a:moveTo>
                <a:lnTo>
                  <a:pt x="72796" y="9366"/>
                </a:lnTo>
                <a:lnTo>
                  <a:pt x="34909" y="34909"/>
                </a:lnTo>
                <a:lnTo>
                  <a:pt x="9366" y="72795"/>
                </a:lnTo>
                <a:lnTo>
                  <a:pt x="0" y="119189"/>
                </a:lnTo>
                <a:lnTo>
                  <a:pt x="9366" y="165584"/>
                </a:lnTo>
                <a:lnTo>
                  <a:pt x="34909" y="203470"/>
                </a:lnTo>
                <a:lnTo>
                  <a:pt x="72796" y="229013"/>
                </a:lnTo>
                <a:lnTo>
                  <a:pt x="119190" y="238380"/>
                </a:lnTo>
                <a:lnTo>
                  <a:pt x="165584" y="229013"/>
                </a:lnTo>
                <a:lnTo>
                  <a:pt x="203470" y="203470"/>
                </a:lnTo>
                <a:lnTo>
                  <a:pt x="229013" y="165584"/>
                </a:lnTo>
                <a:lnTo>
                  <a:pt x="238380" y="119189"/>
                </a:lnTo>
                <a:lnTo>
                  <a:pt x="229013" y="72795"/>
                </a:lnTo>
                <a:lnTo>
                  <a:pt x="203470" y="34909"/>
                </a:lnTo>
                <a:lnTo>
                  <a:pt x="165584" y="9366"/>
                </a:lnTo>
                <a:lnTo>
                  <a:pt x="119190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822341" y="3822146"/>
            <a:ext cx="234950" cy="234950"/>
          </a:xfrm>
          <a:custGeom>
            <a:avLst/>
            <a:gdLst/>
            <a:ahLst/>
            <a:cxnLst/>
            <a:rect l="l" t="t" r="r" b="b"/>
            <a:pathLst>
              <a:path w="234950" h="234950">
                <a:moveTo>
                  <a:pt x="117428" y="0"/>
                </a:moveTo>
                <a:lnTo>
                  <a:pt x="71720" y="9228"/>
                </a:lnTo>
                <a:lnTo>
                  <a:pt x="34394" y="34393"/>
                </a:lnTo>
                <a:lnTo>
                  <a:pt x="9228" y="71719"/>
                </a:lnTo>
                <a:lnTo>
                  <a:pt x="0" y="117428"/>
                </a:lnTo>
                <a:lnTo>
                  <a:pt x="9228" y="163135"/>
                </a:lnTo>
                <a:lnTo>
                  <a:pt x="34394" y="200461"/>
                </a:lnTo>
                <a:lnTo>
                  <a:pt x="71720" y="225627"/>
                </a:lnTo>
                <a:lnTo>
                  <a:pt x="117428" y="234856"/>
                </a:lnTo>
                <a:lnTo>
                  <a:pt x="163136" y="225627"/>
                </a:lnTo>
                <a:lnTo>
                  <a:pt x="200462" y="200461"/>
                </a:lnTo>
                <a:lnTo>
                  <a:pt x="225627" y="163135"/>
                </a:lnTo>
                <a:lnTo>
                  <a:pt x="234856" y="117428"/>
                </a:lnTo>
                <a:lnTo>
                  <a:pt x="225627" y="71719"/>
                </a:lnTo>
                <a:lnTo>
                  <a:pt x="200462" y="34393"/>
                </a:lnTo>
                <a:lnTo>
                  <a:pt x="163136" y="9228"/>
                </a:lnTo>
                <a:lnTo>
                  <a:pt x="11742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24643" y="4517126"/>
            <a:ext cx="230504" cy="230504"/>
          </a:xfrm>
          <a:custGeom>
            <a:avLst/>
            <a:gdLst/>
            <a:ahLst/>
            <a:cxnLst/>
            <a:rect l="l" t="t" r="r" b="b"/>
            <a:pathLst>
              <a:path w="230505" h="230504">
                <a:moveTo>
                  <a:pt x="115211" y="0"/>
                </a:moveTo>
                <a:lnTo>
                  <a:pt x="70366" y="9053"/>
                </a:lnTo>
                <a:lnTo>
                  <a:pt x="33744" y="33745"/>
                </a:lnTo>
                <a:lnTo>
                  <a:pt x="9053" y="70366"/>
                </a:lnTo>
                <a:lnTo>
                  <a:pt x="0" y="115213"/>
                </a:lnTo>
                <a:lnTo>
                  <a:pt x="9053" y="160058"/>
                </a:lnTo>
                <a:lnTo>
                  <a:pt x="33744" y="196680"/>
                </a:lnTo>
                <a:lnTo>
                  <a:pt x="70366" y="221371"/>
                </a:lnTo>
                <a:lnTo>
                  <a:pt x="115211" y="230424"/>
                </a:lnTo>
                <a:lnTo>
                  <a:pt x="160057" y="221371"/>
                </a:lnTo>
                <a:lnTo>
                  <a:pt x="196678" y="196680"/>
                </a:lnTo>
                <a:lnTo>
                  <a:pt x="221369" y="160058"/>
                </a:lnTo>
                <a:lnTo>
                  <a:pt x="230423" y="115213"/>
                </a:lnTo>
                <a:lnTo>
                  <a:pt x="221369" y="70366"/>
                </a:lnTo>
                <a:lnTo>
                  <a:pt x="196678" y="33745"/>
                </a:lnTo>
                <a:lnTo>
                  <a:pt x="160057" y="9053"/>
                </a:lnTo>
                <a:lnTo>
                  <a:pt x="115211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19326" y="3566244"/>
            <a:ext cx="224154" cy="290830"/>
          </a:xfrm>
          <a:custGeom>
            <a:avLst/>
            <a:gdLst/>
            <a:ahLst/>
            <a:cxnLst/>
            <a:rect l="l" t="t" r="r" b="b"/>
            <a:pathLst>
              <a:path w="224155" h="290829">
                <a:moveTo>
                  <a:pt x="0" y="290296"/>
                </a:moveTo>
                <a:lnTo>
                  <a:pt x="223979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11865" y="3566244"/>
            <a:ext cx="245110" cy="290830"/>
          </a:xfrm>
          <a:custGeom>
            <a:avLst/>
            <a:gdLst/>
            <a:ahLst/>
            <a:cxnLst/>
            <a:rect l="l" t="t" r="r" b="b"/>
            <a:pathLst>
              <a:path w="245110" h="290829">
                <a:moveTo>
                  <a:pt x="244870" y="290296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39769" y="4057000"/>
            <a:ext cx="635" cy="460375"/>
          </a:xfrm>
          <a:custGeom>
            <a:avLst/>
            <a:gdLst/>
            <a:ahLst/>
            <a:cxnLst/>
            <a:rect l="l" t="t" r="r" b="b"/>
            <a:pathLst>
              <a:path w="635" h="460375">
                <a:moveTo>
                  <a:pt x="86" y="460127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53720" y="3939574"/>
            <a:ext cx="568960" cy="0"/>
          </a:xfrm>
          <a:custGeom>
            <a:avLst/>
            <a:gdLst/>
            <a:ahLst/>
            <a:cxnLst/>
            <a:rect l="l" t="t" r="r" b="b"/>
            <a:pathLst>
              <a:path w="568960" h="0">
                <a:moveTo>
                  <a:pt x="0" y="0"/>
                </a:moveTo>
                <a:lnTo>
                  <a:pt x="568622" y="1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215031" y="2925572"/>
            <a:ext cx="686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Q</a:t>
            </a:r>
            <a:r>
              <a:rPr dirty="0" sz="1800" b="1">
                <a:solidFill>
                  <a:srgbClr val="0070C0"/>
                </a:solidFill>
                <a:latin typeface="Arial"/>
                <a:cs typeface="Arial"/>
              </a:rPr>
              <a:t>u</a:t>
            </a: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ery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08453" y="3031430"/>
            <a:ext cx="1614805" cy="1848485"/>
          </a:xfrm>
          <a:custGeom>
            <a:avLst/>
            <a:gdLst/>
            <a:ahLst/>
            <a:cxnLst/>
            <a:rect l="l" t="t" r="r" b="b"/>
            <a:pathLst>
              <a:path w="1614804" h="1848485">
                <a:moveTo>
                  <a:pt x="1472172" y="0"/>
                </a:moveTo>
                <a:lnTo>
                  <a:pt x="142157" y="0"/>
                </a:lnTo>
                <a:lnTo>
                  <a:pt x="97224" y="7247"/>
                </a:lnTo>
                <a:lnTo>
                  <a:pt x="58201" y="27428"/>
                </a:lnTo>
                <a:lnTo>
                  <a:pt x="27428" y="58201"/>
                </a:lnTo>
                <a:lnTo>
                  <a:pt x="7247" y="97225"/>
                </a:lnTo>
                <a:lnTo>
                  <a:pt x="0" y="142158"/>
                </a:lnTo>
                <a:lnTo>
                  <a:pt x="0" y="1706299"/>
                </a:lnTo>
                <a:lnTo>
                  <a:pt x="7247" y="1751232"/>
                </a:lnTo>
                <a:lnTo>
                  <a:pt x="27428" y="1790255"/>
                </a:lnTo>
                <a:lnTo>
                  <a:pt x="58201" y="1821028"/>
                </a:lnTo>
                <a:lnTo>
                  <a:pt x="97224" y="1841209"/>
                </a:lnTo>
                <a:lnTo>
                  <a:pt x="142157" y="1848457"/>
                </a:lnTo>
                <a:lnTo>
                  <a:pt x="1472172" y="1848457"/>
                </a:lnTo>
                <a:lnTo>
                  <a:pt x="1517105" y="1841209"/>
                </a:lnTo>
                <a:lnTo>
                  <a:pt x="1556128" y="1821028"/>
                </a:lnTo>
                <a:lnTo>
                  <a:pt x="1586901" y="1790255"/>
                </a:lnTo>
                <a:lnTo>
                  <a:pt x="1607082" y="1751232"/>
                </a:lnTo>
                <a:lnTo>
                  <a:pt x="1614330" y="1706299"/>
                </a:lnTo>
                <a:lnTo>
                  <a:pt x="1614330" y="142158"/>
                </a:lnTo>
                <a:lnTo>
                  <a:pt x="1607082" y="97225"/>
                </a:lnTo>
                <a:lnTo>
                  <a:pt x="1586901" y="58201"/>
                </a:lnTo>
                <a:lnTo>
                  <a:pt x="1556128" y="27428"/>
                </a:lnTo>
                <a:lnTo>
                  <a:pt x="1517105" y="7247"/>
                </a:lnTo>
                <a:lnTo>
                  <a:pt x="1472172" y="0"/>
                </a:lnTo>
                <a:close/>
              </a:path>
            </a:pathLst>
          </a:custGeom>
          <a:solidFill>
            <a:srgbClr val="FFF3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642270" y="3494152"/>
            <a:ext cx="385445" cy="419100"/>
          </a:xfrm>
          <a:custGeom>
            <a:avLst/>
            <a:gdLst/>
            <a:ahLst/>
            <a:cxnLst/>
            <a:rect l="l" t="t" r="r" b="b"/>
            <a:pathLst>
              <a:path w="385445" h="419100">
                <a:moveTo>
                  <a:pt x="385217" y="0"/>
                </a:moveTo>
                <a:lnTo>
                  <a:pt x="0" y="418977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168987" y="2879851"/>
            <a:ext cx="7073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35" b="1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017352" y="3585416"/>
            <a:ext cx="291465" cy="279400"/>
          </a:xfrm>
          <a:custGeom>
            <a:avLst/>
            <a:gdLst/>
            <a:ahLst/>
            <a:cxnLst/>
            <a:rect l="l" t="t" r="r" b="b"/>
            <a:pathLst>
              <a:path w="291464" h="279400">
                <a:moveTo>
                  <a:pt x="0" y="279002"/>
                </a:moveTo>
                <a:lnTo>
                  <a:pt x="291062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959570" y="3976271"/>
            <a:ext cx="170815" cy="456565"/>
          </a:xfrm>
          <a:custGeom>
            <a:avLst/>
            <a:gdLst/>
            <a:ahLst/>
            <a:cxnLst/>
            <a:rect l="l" t="t" r="r" b="b"/>
            <a:pathLst>
              <a:path w="170814" h="456564">
                <a:moveTo>
                  <a:pt x="170477" y="456431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308416" y="3585416"/>
            <a:ext cx="311785" cy="279400"/>
          </a:xfrm>
          <a:custGeom>
            <a:avLst/>
            <a:gdLst/>
            <a:ahLst/>
            <a:cxnLst/>
            <a:rect l="l" t="t" r="r" b="b"/>
            <a:pathLst>
              <a:path w="311784" h="279400">
                <a:moveTo>
                  <a:pt x="311563" y="279001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628306" y="4014441"/>
            <a:ext cx="0" cy="325755"/>
          </a:xfrm>
          <a:custGeom>
            <a:avLst/>
            <a:gdLst/>
            <a:ahLst/>
            <a:cxnLst/>
            <a:rect l="l" t="t" r="r" b="b"/>
            <a:pathLst>
              <a:path w="0" h="325754">
                <a:moveTo>
                  <a:pt x="0" y="325333"/>
                </a:moveTo>
                <a:lnTo>
                  <a:pt x="1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083422" y="3915047"/>
            <a:ext cx="439420" cy="0"/>
          </a:xfrm>
          <a:custGeom>
            <a:avLst/>
            <a:gdLst/>
            <a:ahLst/>
            <a:cxnLst/>
            <a:rect l="l" t="t" r="r" b="b"/>
            <a:pathLst>
              <a:path w="439420" h="0">
                <a:moveTo>
                  <a:pt x="0" y="0"/>
                </a:moveTo>
                <a:lnTo>
                  <a:pt x="439037" y="0"/>
                </a:lnTo>
              </a:path>
            </a:pathLst>
          </a:custGeom>
          <a:ln w="54634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42417" y="3608957"/>
            <a:ext cx="156210" cy="847725"/>
          </a:xfrm>
          <a:custGeom>
            <a:avLst/>
            <a:gdLst/>
            <a:ahLst/>
            <a:cxnLst/>
            <a:rect l="l" t="t" r="r" b="b"/>
            <a:pathLst>
              <a:path w="156210" h="847725">
                <a:moveTo>
                  <a:pt x="0" y="847287"/>
                </a:moveTo>
                <a:lnTo>
                  <a:pt x="156093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873008" y="3816241"/>
            <a:ext cx="210820" cy="194310"/>
          </a:xfrm>
          <a:custGeom>
            <a:avLst/>
            <a:gdLst/>
            <a:ahLst/>
            <a:cxnLst/>
            <a:rect l="l" t="t" r="r" b="b"/>
            <a:pathLst>
              <a:path w="210820" h="194310">
                <a:moveTo>
                  <a:pt x="0" y="0"/>
                </a:moveTo>
                <a:lnTo>
                  <a:pt x="210413" y="0"/>
                </a:lnTo>
                <a:lnTo>
                  <a:pt x="210413" y="193774"/>
                </a:lnTo>
                <a:lnTo>
                  <a:pt x="0" y="193774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522460" y="3819485"/>
            <a:ext cx="212090" cy="195580"/>
          </a:xfrm>
          <a:custGeom>
            <a:avLst/>
            <a:gdLst/>
            <a:ahLst/>
            <a:cxnLst/>
            <a:rect l="l" t="t" r="r" b="b"/>
            <a:pathLst>
              <a:path w="212090" h="195579">
                <a:moveTo>
                  <a:pt x="0" y="0"/>
                </a:moveTo>
                <a:lnTo>
                  <a:pt x="211695" y="0"/>
                </a:lnTo>
                <a:lnTo>
                  <a:pt x="211695" y="194953"/>
                </a:lnTo>
                <a:lnTo>
                  <a:pt x="0" y="19495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024841" y="4335816"/>
            <a:ext cx="210820" cy="194310"/>
          </a:xfrm>
          <a:custGeom>
            <a:avLst/>
            <a:gdLst/>
            <a:ahLst/>
            <a:cxnLst/>
            <a:rect l="l" t="t" r="r" b="b"/>
            <a:pathLst>
              <a:path w="210820" h="194310">
                <a:moveTo>
                  <a:pt x="0" y="0"/>
                </a:moveTo>
                <a:lnTo>
                  <a:pt x="210412" y="0"/>
                </a:lnTo>
                <a:lnTo>
                  <a:pt x="210412" y="193774"/>
                </a:lnTo>
                <a:lnTo>
                  <a:pt x="0" y="193774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523099" y="4339774"/>
            <a:ext cx="210820" cy="194310"/>
          </a:xfrm>
          <a:custGeom>
            <a:avLst/>
            <a:gdLst/>
            <a:ahLst/>
            <a:cxnLst/>
            <a:rect l="l" t="t" r="r" b="b"/>
            <a:pathLst>
              <a:path w="210820" h="194310">
                <a:moveTo>
                  <a:pt x="0" y="0"/>
                </a:moveTo>
                <a:lnTo>
                  <a:pt x="210413" y="0"/>
                </a:lnTo>
                <a:lnTo>
                  <a:pt x="210413" y="193774"/>
                </a:lnTo>
                <a:lnTo>
                  <a:pt x="0" y="193774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930134" y="3394255"/>
            <a:ext cx="210820" cy="194310"/>
          </a:xfrm>
          <a:custGeom>
            <a:avLst/>
            <a:gdLst/>
            <a:ahLst/>
            <a:cxnLst/>
            <a:rect l="l" t="t" r="r" b="b"/>
            <a:pathLst>
              <a:path w="210820" h="194310">
                <a:moveTo>
                  <a:pt x="0" y="0"/>
                </a:moveTo>
                <a:lnTo>
                  <a:pt x="210412" y="0"/>
                </a:lnTo>
                <a:lnTo>
                  <a:pt x="210412" y="193774"/>
                </a:lnTo>
                <a:lnTo>
                  <a:pt x="0" y="193774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199128" y="3409726"/>
            <a:ext cx="210820" cy="194310"/>
          </a:xfrm>
          <a:custGeom>
            <a:avLst/>
            <a:gdLst/>
            <a:ahLst/>
            <a:cxnLst/>
            <a:rect l="l" t="t" r="r" b="b"/>
            <a:pathLst>
              <a:path w="210820" h="194310">
                <a:moveTo>
                  <a:pt x="0" y="0"/>
                </a:moveTo>
                <a:lnTo>
                  <a:pt x="210412" y="0"/>
                </a:lnTo>
                <a:lnTo>
                  <a:pt x="210412" y="193774"/>
                </a:lnTo>
                <a:lnTo>
                  <a:pt x="0" y="193774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041009" y="3898329"/>
            <a:ext cx="3352800" cy="47625"/>
          </a:xfrm>
          <a:custGeom>
            <a:avLst/>
            <a:gdLst/>
            <a:ahLst/>
            <a:cxnLst/>
            <a:rect l="l" t="t" r="r" b="b"/>
            <a:pathLst>
              <a:path w="3352800" h="47625">
                <a:moveTo>
                  <a:pt x="133295" y="9036"/>
                </a:moveTo>
                <a:lnTo>
                  <a:pt x="18996" y="9358"/>
                </a:lnTo>
                <a:lnTo>
                  <a:pt x="0" y="28463"/>
                </a:lnTo>
                <a:lnTo>
                  <a:pt x="1517" y="35873"/>
                </a:lnTo>
                <a:lnTo>
                  <a:pt x="5617" y="41917"/>
                </a:lnTo>
                <a:lnTo>
                  <a:pt x="11684" y="45982"/>
                </a:lnTo>
                <a:lnTo>
                  <a:pt x="19103" y="47458"/>
                </a:lnTo>
                <a:lnTo>
                  <a:pt x="133403" y="47136"/>
                </a:lnTo>
                <a:lnTo>
                  <a:pt x="140814" y="45618"/>
                </a:lnTo>
                <a:lnTo>
                  <a:pt x="146857" y="41518"/>
                </a:lnTo>
                <a:lnTo>
                  <a:pt x="150923" y="35451"/>
                </a:lnTo>
                <a:lnTo>
                  <a:pt x="152400" y="28032"/>
                </a:lnTo>
                <a:lnTo>
                  <a:pt x="150881" y="20621"/>
                </a:lnTo>
                <a:lnTo>
                  <a:pt x="146781" y="14578"/>
                </a:lnTo>
                <a:lnTo>
                  <a:pt x="140714" y="10512"/>
                </a:lnTo>
                <a:lnTo>
                  <a:pt x="133295" y="9036"/>
                </a:lnTo>
                <a:close/>
              </a:path>
              <a:path w="3352800" h="47625">
                <a:moveTo>
                  <a:pt x="399994" y="8282"/>
                </a:moveTo>
                <a:lnTo>
                  <a:pt x="285695" y="8605"/>
                </a:lnTo>
                <a:lnTo>
                  <a:pt x="266698" y="27710"/>
                </a:lnTo>
                <a:lnTo>
                  <a:pt x="268217" y="35120"/>
                </a:lnTo>
                <a:lnTo>
                  <a:pt x="272316" y="41164"/>
                </a:lnTo>
                <a:lnTo>
                  <a:pt x="278383" y="45229"/>
                </a:lnTo>
                <a:lnTo>
                  <a:pt x="285802" y="46705"/>
                </a:lnTo>
                <a:lnTo>
                  <a:pt x="400102" y="46382"/>
                </a:lnTo>
                <a:lnTo>
                  <a:pt x="407512" y="44865"/>
                </a:lnTo>
                <a:lnTo>
                  <a:pt x="413556" y="40765"/>
                </a:lnTo>
                <a:lnTo>
                  <a:pt x="417622" y="34698"/>
                </a:lnTo>
                <a:lnTo>
                  <a:pt x="419098" y="27279"/>
                </a:lnTo>
                <a:lnTo>
                  <a:pt x="417580" y="19868"/>
                </a:lnTo>
                <a:lnTo>
                  <a:pt x="413480" y="13825"/>
                </a:lnTo>
                <a:lnTo>
                  <a:pt x="407413" y="9759"/>
                </a:lnTo>
                <a:lnTo>
                  <a:pt x="399994" y="8282"/>
                </a:lnTo>
                <a:close/>
              </a:path>
              <a:path w="3352800" h="47625">
                <a:moveTo>
                  <a:pt x="666694" y="7529"/>
                </a:moveTo>
                <a:lnTo>
                  <a:pt x="552394" y="7853"/>
                </a:lnTo>
                <a:lnTo>
                  <a:pt x="533397" y="26957"/>
                </a:lnTo>
                <a:lnTo>
                  <a:pt x="534915" y="34367"/>
                </a:lnTo>
                <a:lnTo>
                  <a:pt x="539015" y="40411"/>
                </a:lnTo>
                <a:lnTo>
                  <a:pt x="545082" y="44476"/>
                </a:lnTo>
                <a:lnTo>
                  <a:pt x="552502" y="45952"/>
                </a:lnTo>
                <a:lnTo>
                  <a:pt x="666800" y="45629"/>
                </a:lnTo>
                <a:lnTo>
                  <a:pt x="674211" y="44112"/>
                </a:lnTo>
                <a:lnTo>
                  <a:pt x="680255" y="40012"/>
                </a:lnTo>
                <a:lnTo>
                  <a:pt x="684321" y="33945"/>
                </a:lnTo>
                <a:lnTo>
                  <a:pt x="685797" y="26526"/>
                </a:lnTo>
                <a:lnTo>
                  <a:pt x="684279" y="19115"/>
                </a:lnTo>
                <a:lnTo>
                  <a:pt x="680179" y="13071"/>
                </a:lnTo>
                <a:lnTo>
                  <a:pt x="674113" y="9006"/>
                </a:lnTo>
                <a:lnTo>
                  <a:pt x="666694" y="7529"/>
                </a:lnTo>
                <a:close/>
              </a:path>
              <a:path w="3352800" h="47625">
                <a:moveTo>
                  <a:pt x="933392" y="6777"/>
                </a:moveTo>
                <a:lnTo>
                  <a:pt x="819092" y="7100"/>
                </a:lnTo>
                <a:lnTo>
                  <a:pt x="800096" y="26203"/>
                </a:lnTo>
                <a:lnTo>
                  <a:pt x="801614" y="33614"/>
                </a:lnTo>
                <a:lnTo>
                  <a:pt x="805714" y="39658"/>
                </a:lnTo>
                <a:lnTo>
                  <a:pt x="811781" y="43723"/>
                </a:lnTo>
                <a:lnTo>
                  <a:pt x="819200" y="45199"/>
                </a:lnTo>
                <a:lnTo>
                  <a:pt x="933499" y="44876"/>
                </a:lnTo>
                <a:lnTo>
                  <a:pt x="940910" y="43358"/>
                </a:lnTo>
                <a:lnTo>
                  <a:pt x="946954" y="39259"/>
                </a:lnTo>
                <a:lnTo>
                  <a:pt x="951019" y="33192"/>
                </a:lnTo>
                <a:lnTo>
                  <a:pt x="952496" y="25773"/>
                </a:lnTo>
                <a:lnTo>
                  <a:pt x="950978" y="18362"/>
                </a:lnTo>
                <a:lnTo>
                  <a:pt x="946878" y="12318"/>
                </a:lnTo>
                <a:lnTo>
                  <a:pt x="940812" y="8253"/>
                </a:lnTo>
                <a:lnTo>
                  <a:pt x="933392" y="6777"/>
                </a:lnTo>
                <a:close/>
              </a:path>
              <a:path w="3352800" h="47625">
                <a:moveTo>
                  <a:pt x="1200091" y="6024"/>
                </a:moveTo>
                <a:lnTo>
                  <a:pt x="1085791" y="6347"/>
                </a:lnTo>
                <a:lnTo>
                  <a:pt x="1066796" y="25450"/>
                </a:lnTo>
                <a:lnTo>
                  <a:pt x="1068313" y="32861"/>
                </a:lnTo>
                <a:lnTo>
                  <a:pt x="1072413" y="38905"/>
                </a:lnTo>
                <a:lnTo>
                  <a:pt x="1078480" y="42971"/>
                </a:lnTo>
                <a:lnTo>
                  <a:pt x="1085899" y="44447"/>
                </a:lnTo>
                <a:lnTo>
                  <a:pt x="1200199" y="44123"/>
                </a:lnTo>
                <a:lnTo>
                  <a:pt x="1207610" y="42605"/>
                </a:lnTo>
                <a:lnTo>
                  <a:pt x="1213653" y="38506"/>
                </a:lnTo>
                <a:lnTo>
                  <a:pt x="1217719" y="32439"/>
                </a:lnTo>
                <a:lnTo>
                  <a:pt x="1219194" y="25020"/>
                </a:lnTo>
                <a:lnTo>
                  <a:pt x="1217677" y="17609"/>
                </a:lnTo>
                <a:lnTo>
                  <a:pt x="1213577" y="11565"/>
                </a:lnTo>
                <a:lnTo>
                  <a:pt x="1207510" y="7500"/>
                </a:lnTo>
                <a:lnTo>
                  <a:pt x="1200091" y="6024"/>
                </a:lnTo>
                <a:close/>
              </a:path>
              <a:path w="3352800" h="47625">
                <a:moveTo>
                  <a:pt x="1466790" y="5271"/>
                </a:moveTo>
                <a:lnTo>
                  <a:pt x="1352490" y="5594"/>
                </a:lnTo>
                <a:lnTo>
                  <a:pt x="1333494" y="24697"/>
                </a:lnTo>
                <a:lnTo>
                  <a:pt x="1335012" y="32108"/>
                </a:lnTo>
                <a:lnTo>
                  <a:pt x="1339112" y="38152"/>
                </a:lnTo>
                <a:lnTo>
                  <a:pt x="1345179" y="42217"/>
                </a:lnTo>
                <a:lnTo>
                  <a:pt x="1352598" y="43694"/>
                </a:lnTo>
                <a:lnTo>
                  <a:pt x="1466898" y="43371"/>
                </a:lnTo>
                <a:lnTo>
                  <a:pt x="1474308" y="41853"/>
                </a:lnTo>
                <a:lnTo>
                  <a:pt x="1480352" y="37753"/>
                </a:lnTo>
                <a:lnTo>
                  <a:pt x="1484417" y="31686"/>
                </a:lnTo>
                <a:lnTo>
                  <a:pt x="1485893" y="24267"/>
                </a:lnTo>
                <a:lnTo>
                  <a:pt x="1484375" y="16856"/>
                </a:lnTo>
                <a:lnTo>
                  <a:pt x="1480276" y="10812"/>
                </a:lnTo>
                <a:lnTo>
                  <a:pt x="1474209" y="6747"/>
                </a:lnTo>
                <a:lnTo>
                  <a:pt x="1466790" y="5271"/>
                </a:lnTo>
                <a:close/>
              </a:path>
              <a:path w="3352800" h="47625">
                <a:moveTo>
                  <a:pt x="1733489" y="4518"/>
                </a:moveTo>
                <a:lnTo>
                  <a:pt x="1619189" y="4841"/>
                </a:lnTo>
                <a:lnTo>
                  <a:pt x="1600193" y="23944"/>
                </a:lnTo>
                <a:lnTo>
                  <a:pt x="1601711" y="31355"/>
                </a:lnTo>
                <a:lnTo>
                  <a:pt x="1605811" y="37399"/>
                </a:lnTo>
                <a:lnTo>
                  <a:pt x="1611877" y="41464"/>
                </a:lnTo>
                <a:lnTo>
                  <a:pt x="1619296" y="42941"/>
                </a:lnTo>
                <a:lnTo>
                  <a:pt x="1733596" y="42618"/>
                </a:lnTo>
                <a:lnTo>
                  <a:pt x="1741007" y="41100"/>
                </a:lnTo>
                <a:lnTo>
                  <a:pt x="1747051" y="37000"/>
                </a:lnTo>
                <a:lnTo>
                  <a:pt x="1751116" y="30933"/>
                </a:lnTo>
                <a:lnTo>
                  <a:pt x="1752592" y="23514"/>
                </a:lnTo>
                <a:lnTo>
                  <a:pt x="1751074" y="16103"/>
                </a:lnTo>
                <a:lnTo>
                  <a:pt x="1746975" y="10059"/>
                </a:lnTo>
                <a:lnTo>
                  <a:pt x="1740908" y="5994"/>
                </a:lnTo>
                <a:lnTo>
                  <a:pt x="1733489" y="4518"/>
                </a:lnTo>
                <a:close/>
              </a:path>
              <a:path w="3352800" h="47625">
                <a:moveTo>
                  <a:pt x="2000187" y="3765"/>
                </a:moveTo>
                <a:lnTo>
                  <a:pt x="1885889" y="4088"/>
                </a:lnTo>
                <a:lnTo>
                  <a:pt x="1866892" y="23191"/>
                </a:lnTo>
                <a:lnTo>
                  <a:pt x="1868410" y="30602"/>
                </a:lnTo>
                <a:lnTo>
                  <a:pt x="1872509" y="36646"/>
                </a:lnTo>
                <a:lnTo>
                  <a:pt x="1878576" y="40711"/>
                </a:lnTo>
                <a:lnTo>
                  <a:pt x="1885995" y="42188"/>
                </a:lnTo>
                <a:lnTo>
                  <a:pt x="2000295" y="41865"/>
                </a:lnTo>
                <a:lnTo>
                  <a:pt x="2007706" y="40347"/>
                </a:lnTo>
                <a:lnTo>
                  <a:pt x="2013750" y="36247"/>
                </a:lnTo>
                <a:lnTo>
                  <a:pt x="2017815" y="30180"/>
                </a:lnTo>
                <a:lnTo>
                  <a:pt x="2019292" y="22760"/>
                </a:lnTo>
                <a:lnTo>
                  <a:pt x="2017774" y="15350"/>
                </a:lnTo>
                <a:lnTo>
                  <a:pt x="2013674" y="9306"/>
                </a:lnTo>
                <a:lnTo>
                  <a:pt x="2007607" y="5241"/>
                </a:lnTo>
                <a:lnTo>
                  <a:pt x="2000187" y="3765"/>
                </a:lnTo>
                <a:close/>
              </a:path>
              <a:path w="3352800" h="47625">
                <a:moveTo>
                  <a:pt x="2266886" y="3012"/>
                </a:moveTo>
                <a:lnTo>
                  <a:pt x="2152587" y="3335"/>
                </a:lnTo>
                <a:lnTo>
                  <a:pt x="2133591" y="22438"/>
                </a:lnTo>
                <a:lnTo>
                  <a:pt x="2135109" y="29849"/>
                </a:lnTo>
                <a:lnTo>
                  <a:pt x="2139209" y="35893"/>
                </a:lnTo>
                <a:lnTo>
                  <a:pt x="2145275" y="39958"/>
                </a:lnTo>
                <a:lnTo>
                  <a:pt x="2152695" y="41435"/>
                </a:lnTo>
                <a:lnTo>
                  <a:pt x="2266994" y="41112"/>
                </a:lnTo>
                <a:lnTo>
                  <a:pt x="2274405" y="39594"/>
                </a:lnTo>
                <a:lnTo>
                  <a:pt x="2280448" y="35494"/>
                </a:lnTo>
                <a:lnTo>
                  <a:pt x="2284514" y="29427"/>
                </a:lnTo>
                <a:lnTo>
                  <a:pt x="2285991" y="22007"/>
                </a:lnTo>
                <a:lnTo>
                  <a:pt x="2284472" y="14597"/>
                </a:lnTo>
                <a:lnTo>
                  <a:pt x="2280373" y="8553"/>
                </a:lnTo>
                <a:lnTo>
                  <a:pt x="2274306" y="4488"/>
                </a:lnTo>
                <a:lnTo>
                  <a:pt x="2266886" y="3012"/>
                </a:lnTo>
                <a:close/>
              </a:path>
              <a:path w="3352800" h="47625">
                <a:moveTo>
                  <a:pt x="2533586" y="2259"/>
                </a:moveTo>
                <a:lnTo>
                  <a:pt x="2419286" y="2581"/>
                </a:lnTo>
                <a:lnTo>
                  <a:pt x="2400289" y="21685"/>
                </a:lnTo>
                <a:lnTo>
                  <a:pt x="2401808" y="29096"/>
                </a:lnTo>
                <a:lnTo>
                  <a:pt x="2405907" y="35140"/>
                </a:lnTo>
                <a:lnTo>
                  <a:pt x="2411974" y="39205"/>
                </a:lnTo>
                <a:lnTo>
                  <a:pt x="2419394" y="40681"/>
                </a:lnTo>
                <a:lnTo>
                  <a:pt x="2533693" y="40359"/>
                </a:lnTo>
                <a:lnTo>
                  <a:pt x="2541104" y="38841"/>
                </a:lnTo>
                <a:lnTo>
                  <a:pt x="2547148" y="34741"/>
                </a:lnTo>
                <a:lnTo>
                  <a:pt x="2551213" y="28675"/>
                </a:lnTo>
                <a:lnTo>
                  <a:pt x="2552689" y="21255"/>
                </a:lnTo>
                <a:lnTo>
                  <a:pt x="2551172" y="13844"/>
                </a:lnTo>
                <a:lnTo>
                  <a:pt x="2547072" y="7800"/>
                </a:lnTo>
                <a:lnTo>
                  <a:pt x="2541005" y="3735"/>
                </a:lnTo>
                <a:lnTo>
                  <a:pt x="2533586" y="2259"/>
                </a:lnTo>
                <a:close/>
              </a:path>
              <a:path w="3352800" h="47625">
                <a:moveTo>
                  <a:pt x="2800285" y="1506"/>
                </a:moveTo>
                <a:lnTo>
                  <a:pt x="2685985" y="1828"/>
                </a:lnTo>
                <a:lnTo>
                  <a:pt x="2666989" y="20932"/>
                </a:lnTo>
                <a:lnTo>
                  <a:pt x="2668507" y="28343"/>
                </a:lnTo>
                <a:lnTo>
                  <a:pt x="2672607" y="34387"/>
                </a:lnTo>
                <a:lnTo>
                  <a:pt x="2678673" y="38452"/>
                </a:lnTo>
                <a:lnTo>
                  <a:pt x="2686093" y="39928"/>
                </a:lnTo>
                <a:lnTo>
                  <a:pt x="2800393" y="39606"/>
                </a:lnTo>
                <a:lnTo>
                  <a:pt x="2807803" y="38088"/>
                </a:lnTo>
                <a:lnTo>
                  <a:pt x="2813847" y="33988"/>
                </a:lnTo>
                <a:lnTo>
                  <a:pt x="2817912" y="27922"/>
                </a:lnTo>
                <a:lnTo>
                  <a:pt x="2819388" y="20502"/>
                </a:lnTo>
                <a:lnTo>
                  <a:pt x="2817870" y="13091"/>
                </a:lnTo>
                <a:lnTo>
                  <a:pt x="2813771" y="7047"/>
                </a:lnTo>
                <a:lnTo>
                  <a:pt x="2807704" y="2982"/>
                </a:lnTo>
                <a:lnTo>
                  <a:pt x="2800285" y="1506"/>
                </a:lnTo>
                <a:close/>
              </a:path>
              <a:path w="3352800" h="47625">
                <a:moveTo>
                  <a:pt x="3066983" y="753"/>
                </a:moveTo>
                <a:lnTo>
                  <a:pt x="2952685" y="1075"/>
                </a:lnTo>
                <a:lnTo>
                  <a:pt x="2933688" y="20179"/>
                </a:lnTo>
                <a:lnTo>
                  <a:pt x="2935206" y="27590"/>
                </a:lnTo>
                <a:lnTo>
                  <a:pt x="2939305" y="33634"/>
                </a:lnTo>
                <a:lnTo>
                  <a:pt x="2945372" y="37699"/>
                </a:lnTo>
                <a:lnTo>
                  <a:pt x="2952791" y="39175"/>
                </a:lnTo>
                <a:lnTo>
                  <a:pt x="3067091" y="38853"/>
                </a:lnTo>
                <a:lnTo>
                  <a:pt x="3074502" y="37335"/>
                </a:lnTo>
                <a:lnTo>
                  <a:pt x="3080546" y="33235"/>
                </a:lnTo>
                <a:lnTo>
                  <a:pt x="3084611" y="27168"/>
                </a:lnTo>
                <a:lnTo>
                  <a:pt x="3086087" y="19749"/>
                </a:lnTo>
                <a:lnTo>
                  <a:pt x="3084569" y="12338"/>
                </a:lnTo>
                <a:lnTo>
                  <a:pt x="3080469" y="6294"/>
                </a:lnTo>
                <a:lnTo>
                  <a:pt x="3074403" y="2229"/>
                </a:lnTo>
                <a:lnTo>
                  <a:pt x="3066983" y="753"/>
                </a:lnTo>
                <a:close/>
              </a:path>
              <a:path w="3352800" h="47625">
                <a:moveTo>
                  <a:pt x="3333682" y="0"/>
                </a:moveTo>
                <a:lnTo>
                  <a:pt x="3219383" y="322"/>
                </a:lnTo>
                <a:lnTo>
                  <a:pt x="3200387" y="19427"/>
                </a:lnTo>
                <a:lnTo>
                  <a:pt x="3201905" y="26837"/>
                </a:lnTo>
                <a:lnTo>
                  <a:pt x="3206004" y="32881"/>
                </a:lnTo>
                <a:lnTo>
                  <a:pt x="3212071" y="36946"/>
                </a:lnTo>
                <a:lnTo>
                  <a:pt x="3219490" y="38422"/>
                </a:lnTo>
                <a:lnTo>
                  <a:pt x="3333790" y="38099"/>
                </a:lnTo>
                <a:lnTo>
                  <a:pt x="3341201" y="36582"/>
                </a:lnTo>
                <a:lnTo>
                  <a:pt x="3347245" y="32482"/>
                </a:lnTo>
                <a:lnTo>
                  <a:pt x="3351310" y="26415"/>
                </a:lnTo>
                <a:lnTo>
                  <a:pt x="3352786" y="18996"/>
                </a:lnTo>
                <a:lnTo>
                  <a:pt x="3351268" y="11585"/>
                </a:lnTo>
                <a:lnTo>
                  <a:pt x="3347168" y="5542"/>
                </a:lnTo>
                <a:lnTo>
                  <a:pt x="3341101" y="1476"/>
                </a:lnTo>
                <a:lnTo>
                  <a:pt x="333368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592816" y="3458085"/>
            <a:ext cx="3619500" cy="67945"/>
          </a:xfrm>
          <a:custGeom>
            <a:avLst/>
            <a:gdLst/>
            <a:ahLst/>
            <a:cxnLst/>
            <a:rect l="l" t="t" r="r" b="b"/>
            <a:pathLst>
              <a:path w="3619500" h="67945">
                <a:moveTo>
                  <a:pt x="19206" y="0"/>
                </a:moveTo>
                <a:lnTo>
                  <a:pt x="11778" y="1436"/>
                </a:lnTo>
                <a:lnTo>
                  <a:pt x="5690" y="5468"/>
                </a:lnTo>
                <a:lnTo>
                  <a:pt x="1557" y="11490"/>
                </a:lnTo>
                <a:lnTo>
                  <a:pt x="0" y="18892"/>
                </a:lnTo>
                <a:lnTo>
                  <a:pt x="1436" y="26319"/>
                </a:lnTo>
                <a:lnTo>
                  <a:pt x="5468" y="32408"/>
                </a:lnTo>
                <a:lnTo>
                  <a:pt x="11490" y="36540"/>
                </a:lnTo>
                <a:lnTo>
                  <a:pt x="18892" y="38098"/>
                </a:lnTo>
                <a:lnTo>
                  <a:pt x="133188" y="39038"/>
                </a:lnTo>
                <a:lnTo>
                  <a:pt x="140615" y="37602"/>
                </a:lnTo>
                <a:lnTo>
                  <a:pt x="146704" y="33569"/>
                </a:lnTo>
                <a:lnTo>
                  <a:pt x="150836" y="27547"/>
                </a:lnTo>
                <a:lnTo>
                  <a:pt x="152394" y="20144"/>
                </a:lnTo>
                <a:lnTo>
                  <a:pt x="150958" y="12717"/>
                </a:lnTo>
                <a:lnTo>
                  <a:pt x="146926" y="6629"/>
                </a:lnTo>
                <a:lnTo>
                  <a:pt x="140904" y="2497"/>
                </a:lnTo>
                <a:lnTo>
                  <a:pt x="133502" y="939"/>
                </a:lnTo>
                <a:lnTo>
                  <a:pt x="19206" y="0"/>
                </a:lnTo>
                <a:close/>
              </a:path>
              <a:path w="3619500" h="67945">
                <a:moveTo>
                  <a:pt x="285897" y="2192"/>
                </a:moveTo>
                <a:lnTo>
                  <a:pt x="278470" y="3628"/>
                </a:lnTo>
                <a:lnTo>
                  <a:pt x="272381" y="7660"/>
                </a:lnTo>
                <a:lnTo>
                  <a:pt x="268249" y="13682"/>
                </a:lnTo>
                <a:lnTo>
                  <a:pt x="266691" y="21084"/>
                </a:lnTo>
                <a:lnTo>
                  <a:pt x="268127" y="28511"/>
                </a:lnTo>
                <a:lnTo>
                  <a:pt x="272159" y="34600"/>
                </a:lnTo>
                <a:lnTo>
                  <a:pt x="278181" y="38732"/>
                </a:lnTo>
                <a:lnTo>
                  <a:pt x="285583" y="40290"/>
                </a:lnTo>
                <a:lnTo>
                  <a:pt x="399879" y="41229"/>
                </a:lnTo>
                <a:lnTo>
                  <a:pt x="407307" y="39793"/>
                </a:lnTo>
                <a:lnTo>
                  <a:pt x="413395" y="35760"/>
                </a:lnTo>
                <a:lnTo>
                  <a:pt x="417528" y="29739"/>
                </a:lnTo>
                <a:lnTo>
                  <a:pt x="419086" y="22336"/>
                </a:lnTo>
                <a:lnTo>
                  <a:pt x="417649" y="14909"/>
                </a:lnTo>
                <a:lnTo>
                  <a:pt x="413617" y="8820"/>
                </a:lnTo>
                <a:lnTo>
                  <a:pt x="407596" y="4688"/>
                </a:lnTo>
                <a:lnTo>
                  <a:pt x="400193" y="3130"/>
                </a:lnTo>
                <a:lnTo>
                  <a:pt x="285897" y="2192"/>
                </a:lnTo>
                <a:close/>
              </a:path>
              <a:path w="3619500" h="67945">
                <a:moveTo>
                  <a:pt x="552587" y="4382"/>
                </a:moveTo>
                <a:lnTo>
                  <a:pt x="545160" y="5819"/>
                </a:lnTo>
                <a:lnTo>
                  <a:pt x="539071" y="9852"/>
                </a:lnTo>
                <a:lnTo>
                  <a:pt x="534939" y="15873"/>
                </a:lnTo>
                <a:lnTo>
                  <a:pt x="533382" y="23276"/>
                </a:lnTo>
                <a:lnTo>
                  <a:pt x="534818" y="30703"/>
                </a:lnTo>
                <a:lnTo>
                  <a:pt x="538850" y="36791"/>
                </a:lnTo>
                <a:lnTo>
                  <a:pt x="544872" y="40923"/>
                </a:lnTo>
                <a:lnTo>
                  <a:pt x="552274" y="42481"/>
                </a:lnTo>
                <a:lnTo>
                  <a:pt x="666570" y="43421"/>
                </a:lnTo>
                <a:lnTo>
                  <a:pt x="673998" y="41985"/>
                </a:lnTo>
                <a:lnTo>
                  <a:pt x="680086" y="37952"/>
                </a:lnTo>
                <a:lnTo>
                  <a:pt x="684219" y="31931"/>
                </a:lnTo>
                <a:lnTo>
                  <a:pt x="685777" y="24528"/>
                </a:lnTo>
                <a:lnTo>
                  <a:pt x="684340" y="17101"/>
                </a:lnTo>
                <a:lnTo>
                  <a:pt x="680307" y="11012"/>
                </a:lnTo>
                <a:lnTo>
                  <a:pt x="674286" y="6880"/>
                </a:lnTo>
                <a:lnTo>
                  <a:pt x="666883" y="5322"/>
                </a:lnTo>
                <a:lnTo>
                  <a:pt x="552587" y="4382"/>
                </a:lnTo>
                <a:close/>
              </a:path>
              <a:path w="3619500" h="67945">
                <a:moveTo>
                  <a:pt x="819278" y="6574"/>
                </a:moveTo>
                <a:lnTo>
                  <a:pt x="811851" y="8010"/>
                </a:lnTo>
                <a:lnTo>
                  <a:pt x="805762" y="12043"/>
                </a:lnTo>
                <a:lnTo>
                  <a:pt x="801631" y="18064"/>
                </a:lnTo>
                <a:lnTo>
                  <a:pt x="800073" y="25467"/>
                </a:lnTo>
                <a:lnTo>
                  <a:pt x="801509" y="32894"/>
                </a:lnTo>
                <a:lnTo>
                  <a:pt x="805541" y="38983"/>
                </a:lnTo>
                <a:lnTo>
                  <a:pt x="811563" y="43115"/>
                </a:lnTo>
                <a:lnTo>
                  <a:pt x="818965" y="44673"/>
                </a:lnTo>
                <a:lnTo>
                  <a:pt x="933262" y="45612"/>
                </a:lnTo>
                <a:lnTo>
                  <a:pt x="940689" y="44175"/>
                </a:lnTo>
                <a:lnTo>
                  <a:pt x="946777" y="40143"/>
                </a:lnTo>
                <a:lnTo>
                  <a:pt x="950909" y="34122"/>
                </a:lnTo>
                <a:lnTo>
                  <a:pt x="952468" y="26719"/>
                </a:lnTo>
                <a:lnTo>
                  <a:pt x="951031" y="19292"/>
                </a:lnTo>
                <a:lnTo>
                  <a:pt x="946998" y="13204"/>
                </a:lnTo>
                <a:lnTo>
                  <a:pt x="940977" y="9071"/>
                </a:lnTo>
                <a:lnTo>
                  <a:pt x="933574" y="7513"/>
                </a:lnTo>
                <a:lnTo>
                  <a:pt x="819278" y="6574"/>
                </a:lnTo>
                <a:close/>
              </a:path>
              <a:path w="3619500" h="67945">
                <a:moveTo>
                  <a:pt x="1085969" y="8765"/>
                </a:moveTo>
                <a:lnTo>
                  <a:pt x="1078542" y="10201"/>
                </a:lnTo>
                <a:lnTo>
                  <a:pt x="1072454" y="14234"/>
                </a:lnTo>
                <a:lnTo>
                  <a:pt x="1068322" y="20256"/>
                </a:lnTo>
                <a:lnTo>
                  <a:pt x="1066764" y="27659"/>
                </a:lnTo>
                <a:lnTo>
                  <a:pt x="1068199" y="35086"/>
                </a:lnTo>
                <a:lnTo>
                  <a:pt x="1072232" y="41174"/>
                </a:lnTo>
                <a:lnTo>
                  <a:pt x="1078254" y="45306"/>
                </a:lnTo>
                <a:lnTo>
                  <a:pt x="1085656" y="46864"/>
                </a:lnTo>
                <a:lnTo>
                  <a:pt x="1199953" y="47804"/>
                </a:lnTo>
                <a:lnTo>
                  <a:pt x="1207380" y="46368"/>
                </a:lnTo>
                <a:lnTo>
                  <a:pt x="1213468" y="42335"/>
                </a:lnTo>
                <a:lnTo>
                  <a:pt x="1217600" y="36314"/>
                </a:lnTo>
                <a:lnTo>
                  <a:pt x="1219158" y="28911"/>
                </a:lnTo>
                <a:lnTo>
                  <a:pt x="1217722" y="21484"/>
                </a:lnTo>
                <a:lnTo>
                  <a:pt x="1213689" y="15395"/>
                </a:lnTo>
                <a:lnTo>
                  <a:pt x="1207668" y="11263"/>
                </a:lnTo>
                <a:lnTo>
                  <a:pt x="1200265" y="9705"/>
                </a:lnTo>
                <a:lnTo>
                  <a:pt x="1085969" y="8765"/>
                </a:lnTo>
                <a:close/>
              </a:path>
              <a:path w="3619500" h="67945">
                <a:moveTo>
                  <a:pt x="1352660" y="10957"/>
                </a:moveTo>
                <a:lnTo>
                  <a:pt x="1345233" y="12393"/>
                </a:lnTo>
                <a:lnTo>
                  <a:pt x="1339144" y="16426"/>
                </a:lnTo>
                <a:lnTo>
                  <a:pt x="1335012" y="22447"/>
                </a:lnTo>
                <a:lnTo>
                  <a:pt x="1333454" y="29850"/>
                </a:lnTo>
                <a:lnTo>
                  <a:pt x="1334890" y="37277"/>
                </a:lnTo>
                <a:lnTo>
                  <a:pt x="1338923" y="43366"/>
                </a:lnTo>
                <a:lnTo>
                  <a:pt x="1344945" y="47498"/>
                </a:lnTo>
                <a:lnTo>
                  <a:pt x="1352348" y="49056"/>
                </a:lnTo>
                <a:lnTo>
                  <a:pt x="1466644" y="49996"/>
                </a:lnTo>
                <a:lnTo>
                  <a:pt x="1474071" y="48559"/>
                </a:lnTo>
                <a:lnTo>
                  <a:pt x="1480159" y="44526"/>
                </a:lnTo>
                <a:lnTo>
                  <a:pt x="1484291" y="38505"/>
                </a:lnTo>
                <a:lnTo>
                  <a:pt x="1485849" y="31102"/>
                </a:lnTo>
                <a:lnTo>
                  <a:pt x="1484413" y="23675"/>
                </a:lnTo>
                <a:lnTo>
                  <a:pt x="1480380" y="17586"/>
                </a:lnTo>
                <a:lnTo>
                  <a:pt x="1474359" y="13455"/>
                </a:lnTo>
                <a:lnTo>
                  <a:pt x="1466956" y="11897"/>
                </a:lnTo>
                <a:lnTo>
                  <a:pt x="1352660" y="10957"/>
                </a:lnTo>
                <a:close/>
              </a:path>
              <a:path w="3619500" h="67945">
                <a:moveTo>
                  <a:pt x="1619351" y="13149"/>
                </a:moveTo>
                <a:lnTo>
                  <a:pt x="1611924" y="14585"/>
                </a:lnTo>
                <a:lnTo>
                  <a:pt x="1605835" y="18618"/>
                </a:lnTo>
                <a:lnTo>
                  <a:pt x="1601703" y="24639"/>
                </a:lnTo>
                <a:lnTo>
                  <a:pt x="1600145" y="32042"/>
                </a:lnTo>
                <a:lnTo>
                  <a:pt x="1601581" y="39469"/>
                </a:lnTo>
                <a:lnTo>
                  <a:pt x="1605614" y="45558"/>
                </a:lnTo>
                <a:lnTo>
                  <a:pt x="1611636" y="49690"/>
                </a:lnTo>
                <a:lnTo>
                  <a:pt x="1619039" y="51248"/>
                </a:lnTo>
                <a:lnTo>
                  <a:pt x="1733335" y="52186"/>
                </a:lnTo>
                <a:lnTo>
                  <a:pt x="1740762" y="50750"/>
                </a:lnTo>
                <a:lnTo>
                  <a:pt x="1746850" y="46718"/>
                </a:lnTo>
                <a:lnTo>
                  <a:pt x="1750982" y="40696"/>
                </a:lnTo>
                <a:lnTo>
                  <a:pt x="1752540" y="33294"/>
                </a:lnTo>
                <a:lnTo>
                  <a:pt x="1751104" y="25867"/>
                </a:lnTo>
                <a:lnTo>
                  <a:pt x="1747071" y="19778"/>
                </a:lnTo>
                <a:lnTo>
                  <a:pt x="1741050" y="15646"/>
                </a:lnTo>
                <a:lnTo>
                  <a:pt x="1733647" y="14088"/>
                </a:lnTo>
                <a:lnTo>
                  <a:pt x="1619351" y="13149"/>
                </a:lnTo>
                <a:close/>
              </a:path>
              <a:path w="3619500" h="67945">
                <a:moveTo>
                  <a:pt x="1886042" y="15340"/>
                </a:moveTo>
                <a:lnTo>
                  <a:pt x="1878615" y="16776"/>
                </a:lnTo>
                <a:lnTo>
                  <a:pt x="1872526" y="20809"/>
                </a:lnTo>
                <a:lnTo>
                  <a:pt x="1868394" y="26831"/>
                </a:lnTo>
                <a:lnTo>
                  <a:pt x="1866836" y="34234"/>
                </a:lnTo>
                <a:lnTo>
                  <a:pt x="1868272" y="41661"/>
                </a:lnTo>
                <a:lnTo>
                  <a:pt x="1872305" y="47749"/>
                </a:lnTo>
                <a:lnTo>
                  <a:pt x="1878327" y="51881"/>
                </a:lnTo>
                <a:lnTo>
                  <a:pt x="1885730" y="53439"/>
                </a:lnTo>
                <a:lnTo>
                  <a:pt x="2000025" y="54378"/>
                </a:lnTo>
                <a:lnTo>
                  <a:pt x="2007452" y="52942"/>
                </a:lnTo>
                <a:lnTo>
                  <a:pt x="2013541" y="48910"/>
                </a:lnTo>
                <a:lnTo>
                  <a:pt x="2017673" y="42888"/>
                </a:lnTo>
                <a:lnTo>
                  <a:pt x="2019231" y="35486"/>
                </a:lnTo>
                <a:lnTo>
                  <a:pt x="2017795" y="28059"/>
                </a:lnTo>
                <a:lnTo>
                  <a:pt x="2013762" y="21970"/>
                </a:lnTo>
                <a:lnTo>
                  <a:pt x="2007741" y="17838"/>
                </a:lnTo>
                <a:lnTo>
                  <a:pt x="2000338" y="16280"/>
                </a:lnTo>
                <a:lnTo>
                  <a:pt x="1886042" y="15340"/>
                </a:lnTo>
                <a:close/>
              </a:path>
              <a:path w="3619500" h="67945">
                <a:moveTo>
                  <a:pt x="2152733" y="17532"/>
                </a:moveTo>
                <a:lnTo>
                  <a:pt x="2145306" y="18968"/>
                </a:lnTo>
                <a:lnTo>
                  <a:pt x="2139217" y="23000"/>
                </a:lnTo>
                <a:lnTo>
                  <a:pt x="2135085" y="29022"/>
                </a:lnTo>
                <a:lnTo>
                  <a:pt x="2133527" y="36424"/>
                </a:lnTo>
                <a:lnTo>
                  <a:pt x="2134963" y="43852"/>
                </a:lnTo>
                <a:lnTo>
                  <a:pt x="2138996" y="49940"/>
                </a:lnTo>
                <a:lnTo>
                  <a:pt x="2145017" y="54073"/>
                </a:lnTo>
                <a:lnTo>
                  <a:pt x="2152420" y="55631"/>
                </a:lnTo>
                <a:lnTo>
                  <a:pt x="2266716" y="56569"/>
                </a:lnTo>
                <a:lnTo>
                  <a:pt x="2274143" y="55133"/>
                </a:lnTo>
                <a:lnTo>
                  <a:pt x="2280232" y="51100"/>
                </a:lnTo>
                <a:lnTo>
                  <a:pt x="2284364" y="45079"/>
                </a:lnTo>
                <a:lnTo>
                  <a:pt x="2285922" y="37677"/>
                </a:lnTo>
                <a:lnTo>
                  <a:pt x="2284486" y="30249"/>
                </a:lnTo>
                <a:lnTo>
                  <a:pt x="2280453" y="24161"/>
                </a:lnTo>
                <a:lnTo>
                  <a:pt x="2274432" y="20028"/>
                </a:lnTo>
                <a:lnTo>
                  <a:pt x="2267030" y="18470"/>
                </a:lnTo>
                <a:lnTo>
                  <a:pt x="2152733" y="17532"/>
                </a:lnTo>
                <a:close/>
              </a:path>
              <a:path w="3619500" h="67945">
                <a:moveTo>
                  <a:pt x="2419424" y="19723"/>
                </a:moveTo>
                <a:lnTo>
                  <a:pt x="2411997" y="21159"/>
                </a:lnTo>
                <a:lnTo>
                  <a:pt x="2405908" y="25192"/>
                </a:lnTo>
                <a:lnTo>
                  <a:pt x="2401776" y="31214"/>
                </a:lnTo>
                <a:lnTo>
                  <a:pt x="2400218" y="38616"/>
                </a:lnTo>
                <a:lnTo>
                  <a:pt x="2401654" y="46043"/>
                </a:lnTo>
                <a:lnTo>
                  <a:pt x="2405687" y="52132"/>
                </a:lnTo>
                <a:lnTo>
                  <a:pt x="2411708" y="56264"/>
                </a:lnTo>
                <a:lnTo>
                  <a:pt x="2419111" y="57821"/>
                </a:lnTo>
                <a:lnTo>
                  <a:pt x="2533407" y="58761"/>
                </a:lnTo>
                <a:lnTo>
                  <a:pt x="2540834" y="57325"/>
                </a:lnTo>
                <a:lnTo>
                  <a:pt x="2546923" y="53293"/>
                </a:lnTo>
                <a:lnTo>
                  <a:pt x="2551055" y="47271"/>
                </a:lnTo>
                <a:lnTo>
                  <a:pt x="2552613" y="39869"/>
                </a:lnTo>
                <a:lnTo>
                  <a:pt x="2551177" y="32441"/>
                </a:lnTo>
                <a:lnTo>
                  <a:pt x="2547145" y="26353"/>
                </a:lnTo>
                <a:lnTo>
                  <a:pt x="2541123" y="22220"/>
                </a:lnTo>
                <a:lnTo>
                  <a:pt x="2533721" y="20662"/>
                </a:lnTo>
                <a:lnTo>
                  <a:pt x="2419424" y="19723"/>
                </a:lnTo>
                <a:close/>
              </a:path>
              <a:path w="3619500" h="67945">
                <a:moveTo>
                  <a:pt x="2686116" y="21915"/>
                </a:moveTo>
                <a:lnTo>
                  <a:pt x="2678688" y="23351"/>
                </a:lnTo>
                <a:lnTo>
                  <a:pt x="2672599" y="27383"/>
                </a:lnTo>
                <a:lnTo>
                  <a:pt x="2668467" y="33405"/>
                </a:lnTo>
                <a:lnTo>
                  <a:pt x="2666909" y="40807"/>
                </a:lnTo>
                <a:lnTo>
                  <a:pt x="2668345" y="48234"/>
                </a:lnTo>
                <a:lnTo>
                  <a:pt x="2672378" y="54323"/>
                </a:lnTo>
                <a:lnTo>
                  <a:pt x="2678399" y="58455"/>
                </a:lnTo>
                <a:lnTo>
                  <a:pt x="2685802" y="60013"/>
                </a:lnTo>
                <a:lnTo>
                  <a:pt x="2800098" y="60953"/>
                </a:lnTo>
                <a:lnTo>
                  <a:pt x="2807525" y="59517"/>
                </a:lnTo>
                <a:lnTo>
                  <a:pt x="2813614" y="55484"/>
                </a:lnTo>
                <a:lnTo>
                  <a:pt x="2817746" y="49462"/>
                </a:lnTo>
                <a:lnTo>
                  <a:pt x="2819304" y="42059"/>
                </a:lnTo>
                <a:lnTo>
                  <a:pt x="2817868" y="34632"/>
                </a:lnTo>
                <a:lnTo>
                  <a:pt x="2813836" y="28544"/>
                </a:lnTo>
                <a:lnTo>
                  <a:pt x="2807814" y="24412"/>
                </a:lnTo>
                <a:lnTo>
                  <a:pt x="2800412" y="22854"/>
                </a:lnTo>
                <a:lnTo>
                  <a:pt x="2686116" y="21915"/>
                </a:lnTo>
                <a:close/>
              </a:path>
              <a:path w="3619500" h="67945">
                <a:moveTo>
                  <a:pt x="2952805" y="24107"/>
                </a:moveTo>
                <a:lnTo>
                  <a:pt x="2945378" y="25543"/>
                </a:lnTo>
                <a:lnTo>
                  <a:pt x="2939290" y="29575"/>
                </a:lnTo>
                <a:lnTo>
                  <a:pt x="2935158" y="35597"/>
                </a:lnTo>
                <a:lnTo>
                  <a:pt x="2933600" y="42999"/>
                </a:lnTo>
                <a:lnTo>
                  <a:pt x="2935036" y="50426"/>
                </a:lnTo>
                <a:lnTo>
                  <a:pt x="2939069" y="56515"/>
                </a:lnTo>
                <a:lnTo>
                  <a:pt x="2945090" y="60647"/>
                </a:lnTo>
                <a:lnTo>
                  <a:pt x="2952493" y="62205"/>
                </a:lnTo>
                <a:lnTo>
                  <a:pt x="3066789" y="63144"/>
                </a:lnTo>
                <a:lnTo>
                  <a:pt x="3074216" y="61708"/>
                </a:lnTo>
                <a:lnTo>
                  <a:pt x="3080305" y="57675"/>
                </a:lnTo>
                <a:lnTo>
                  <a:pt x="3084437" y="51654"/>
                </a:lnTo>
                <a:lnTo>
                  <a:pt x="3085995" y="44251"/>
                </a:lnTo>
                <a:lnTo>
                  <a:pt x="3084559" y="36824"/>
                </a:lnTo>
                <a:lnTo>
                  <a:pt x="3080527" y="30735"/>
                </a:lnTo>
                <a:lnTo>
                  <a:pt x="3074505" y="26603"/>
                </a:lnTo>
                <a:lnTo>
                  <a:pt x="3067102" y="25045"/>
                </a:lnTo>
                <a:lnTo>
                  <a:pt x="2952805" y="24107"/>
                </a:lnTo>
                <a:close/>
              </a:path>
              <a:path w="3619500" h="67945">
                <a:moveTo>
                  <a:pt x="3219496" y="26297"/>
                </a:moveTo>
                <a:lnTo>
                  <a:pt x="3212069" y="27734"/>
                </a:lnTo>
                <a:lnTo>
                  <a:pt x="3205981" y="31767"/>
                </a:lnTo>
                <a:lnTo>
                  <a:pt x="3201849" y="37788"/>
                </a:lnTo>
                <a:lnTo>
                  <a:pt x="3200292" y="45191"/>
                </a:lnTo>
                <a:lnTo>
                  <a:pt x="3201728" y="52618"/>
                </a:lnTo>
                <a:lnTo>
                  <a:pt x="3205760" y="58706"/>
                </a:lnTo>
                <a:lnTo>
                  <a:pt x="3211782" y="62838"/>
                </a:lnTo>
                <a:lnTo>
                  <a:pt x="3219184" y="64396"/>
                </a:lnTo>
                <a:lnTo>
                  <a:pt x="3333480" y="65336"/>
                </a:lnTo>
                <a:lnTo>
                  <a:pt x="3340907" y="63900"/>
                </a:lnTo>
                <a:lnTo>
                  <a:pt x="3346996" y="59867"/>
                </a:lnTo>
                <a:lnTo>
                  <a:pt x="3351129" y="53846"/>
                </a:lnTo>
                <a:lnTo>
                  <a:pt x="3352686" y="46443"/>
                </a:lnTo>
                <a:lnTo>
                  <a:pt x="3351250" y="39016"/>
                </a:lnTo>
                <a:lnTo>
                  <a:pt x="3347217" y="32927"/>
                </a:lnTo>
                <a:lnTo>
                  <a:pt x="3341195" y="28795"/>
                </a:lnTo>
                <a:lnTo>
                  <a:pt x="3333793" y="27237"/>
                </a:lnTo>
                <a:lnTo>
                  <a:pt x="3219496" y="26297"/>
                </a:lnTo>
                <a:close/>
              </a:path>
              <a:path w="3619500" h="67945">
                <a:moveTo>
                  <a:pt x="3486188" y="28489"/>
                </a:moveTo>
                <a:lnTo>
                  <a:pt x="3478761" y="29925"/>
                </a:lnTo>
                <a:lnTo>
                  <a:pt x="3472672" y="33958"/>
                </a:lnTo>
                <a:lnTo>
                  <a:pt x="3468540" y="39979"/>
                </a:lnTo>
                <a:lnTo>
                  <a:pt x="3466983" y="47382"/>
                </a:lnTo>
                <a:lnTo>
                  <a:pt x="3468418" y="54809"/>
                </a:lnTo>
                <a:lnTo>
                  <a:pt x="3472451" y="60898"/>
                </a:lnTo>
                <a:lnTo>
                  <a:pt x="3478472" y="65030"/>
                </a:lnTo>
                <a:lnTo>
                  <a:pt x="3485875" y="66588"/>
                </a:lnTo>
                <a:lnTo>
                  <a:pt x="3600171" y="67527"/>
                </a:lnTo>
                <a:lnTo>
                  <a:pt x="3607599" y="66091"/>
                </a:lnTo>
                <a:lnTo>
                  <a:pt x="3613687" y="62058"/>
                </a:lnTo>
                <a:lnTo>
                  <a:pt x="3617819" y="56037"/>
                </a:lnTo>
                <a:lnTo>
                  <a:pt x="3619376" y="48634"/>
                </a:lnTo>
                <a:lnTo>
                  <a:pt x="3617941" y="41207"/>
                </a:lnTo>
                <a:lnTo>
                  <a:pt x="3613908" y="35118"/>
                </a:lnTo>
                <a:lnTo>
                  <a:pt x="3607886" y="30986"/>
                </a:lnTo>
                <a:lnTo>
                  <a:pt x="3600484" y="29428"/>
                </a:lnTo>
                <a:lnTo>
                  <a:pt x="3486188" y="28489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200276" y="3990966"/>
            <a:ext cx="3797300" cy="50800"/>
          </a:xfrm>
          <a:custGeom>
            <a:avLst/>
            <a:gdLst/>
            <a:ahLst/>
            <a:cxnLst/>
            <a:rect l="l" t="t" r="r" b="b"/>
            <a:pathLst>
              <a:path w="3797300" h="50800">
                <a:moveTo>
                  <a:pt x="133285" y="12208"/>
                </a:moveTo>
                <a:lnTo>
                  <a:pt x="18985" y="12592"/>
                </a:lnTo>
                <a:lnTo>
                  <a:pt x="0" y="31705"/>
                </a:lnTo>
                <a:lnTo>
                  <a:pt x="1522" y="39115"/>
                </a:lnTo>
                <a:lnTo>
                  <a:pt x="5624" y="45157"/>
                </a:lnTo>
                <a:lnTo>
                  <a:pt x="11693" y="49219"/>
                </a:lnTo>
                <a:lnTo>
                  <a:pt x="19113" y="50692"/>
                </a:lnTo>
                <a:lnTo>
                  <a:pt x="133412" y="50308"/>
                </a:lnTo>
                <a:lnTo>
                  <a:pt x="140822" y="48787"/>
                </a:lnTo>
                <a:lnTo>
                  <a:pt x="146864" y="44684"/>
                </a:lnTo>
                <a:lnTo>
                  <a:pt x="150926" y="38615"/>
                </a:lnTo>
                <a:lnTo>
                  <a:pt x="152398" y="31195"/>
                </a:lnTo>
                <a:lnTo>
                  <a:pt x="150876" y="23785"/>
                </a:lnTo>
                <a:lnTo>
                  <a:pt x="146773" y="17743"/>
                </a:lnTo>
                <a:lnTo>
                  <a:pt x="140705" y="13681"/>
                </a:lnTo>
                <a:lnTo>
                  <a:pt x="133285" y="12208"/>
                </a:lnTo>
                <a:close/>
              </a:path>
              <a:path w="3797300" h="50800">
                <a:moveTo>
                  <a:pt x="399983" y="11315"/>
                </a:moveTo>
                <a:lnTo>
                  <a:pt x="285683" y="11697"/>
                </a:lnTo>
                <a:lnTo>
                  <a:pt x="266698" y="30812"/>
                </a:lnTo>
                <a:lnTo>
                  <a:pt x="268220" y="38222"/>
                </a:lnTo>
                <a:lnTo>
                  <a:pt x="272323" y="44263"/>
                </a:lnTo>
                <a:lnTo>
                  <a:pt x="278392" y="48326"/>
                </a:lnTo>
                <a:lnTo>
                  <a:pt x="285812" y="49797"/>
                </a:lnTo>
                <a:lnTo>
                  <a:pt x="400110" y="49415"/>
                </a:lnTo>
                <a:lnTo>
                  <a:pt x="407521" y="47893"/>
                </a:lnTo>
                <a:lnTo>
                  <a:pt x="413562" y="43790"/>
                </a:lnTo>
                <a:lnTo>
                  <a:pt x="417625" y="37722"/>
                </a:lnTo>
                <a:lnTo>
                  <a:pt x="419097" y="30302"/>
                </a:lnTo>
                <a:lnTo>
                  <a:pt x="417575" y="22891"/>
                </a:lnTo>
                <a:lnTo>
                  <a:pt x="413472" y="16849"/>
                </a:lnTo>
                <a:lnTo>
                  <a:pt x="407403" y="12787"/>
                </a:lnTo>
                <a:lnTo>
                  <a:pt x="399983" y="11315"/>
                </a:lnTo>
                <a:close/>
              </a:path>
              <a:path w="3797300" h="50800">
                <a:moveTo>
                  <a:pt x="666682" y="10421"/>
                </a:moveTo>
                <a:lnTo>
                  <a:pt x="552382" y="10805"/>
                </a:lnTo>
                <a:lnTo>
                  <a:pt x="533396" y="29918"/>
                </a:lnTo>
                <a:lnTo>
                  <a:pt x="534918" y="37328"/>
                </a:lnTo>
                <a:lnTo>
                  <a:pt x="539021" y="43370"/>
                </a:lnTo>
                <a:lnTo>
                  <a:pt x="545090" y="47432"/>
                </a:lnTo>
                <a:lnTo>
                  <a:pt x="552510" y="48905"/>
                </a:lnTo>
                <a:lnTo>
                  <a:pt x="666809" y="48521"/>
                </a:lnTo>
                <a:lnTo>
                  <a:pt x="674219" y="47000"/>
                </a:lnTo>
                <a:lnTo>
                  <a:pt x="680261" y="42897"/>
                </a:lnTo>
                <a:lnTo>
                  <a:pt x="684323" y="36828"/>
                </a:lnTo>
                <a:lnTo>
                  <a:pt x="685796" y="29408"/>
                </a:lnTo>
                <a:lnTo>
                  <a:pt x="684274" y="21998"/>
                </a:lnTo>
                <a:lnTo>
                  <a:pt x="680171" y="15956"/>
                </a:lnTo>
                <a:lnTo>
                  <a:pt x="674102" y="11894"/>
                </a:lnTo>
                <a:lnTo>
                  <a:pt x="666682" y="10421"/>
                </a:lnTo>
                <a:close/>
              </a:path>
              <a:path w="3797300" h="50800">
                <a:moveTo>
                  <a:pt x="933380" y="9528"/>
                </a:moveTo>
                <a:lnTo>
                  <a:pt x="819081" y="9911"/>
                </a:lnTo>
                <a:lnTo>
                  <a:pt x="800094" y="29025"/>
                </a:lnTo>
                <a:lnTo>
                  <a:pt x="801616" y="36435"/>
                </a:lnTo>
                <a:lnTo>
                  <a:pt x="805719" y="42477"/>
                </a:lnTo>
                <a:lnTo>
                  <a:pt x="811788" y="46539"/>
                </a:lnTo>
                <a:lnTo>
                  <a:pt x="819208" y="48011"/>
                </a:lnTo>
                <a:lnTo>
                  <a:pt x="933508" y="47628"/>
                </a:lnTo>
                <a:lnTo>
                  <a:pt x="940918" y="46106"/>
                </a:lnTo>
                <a:lnTo>
                  <a:pt x="946959" y="42003"/>
                </a:lnTo>
                <a:lnTo>
                  <a:pt x="951022" y="35935"/>
                </a:lnTo>
                <a:lnTo>
                  <a:pt x="952494" y="28515"/>
                </a:lnTo>
                <a:lnTo>
                  <a:pt x="950972" y="21104"/>
                </a:lnTo>
                <a:lnTo>
                  <a:pt x="946869" y="15062"/>
                </a:lnTo>
                <a:lnTo>
                  <a:pt x="940800" y="11000"/>
                </a:lnTo>
                <a:lnTo>
                  <a:pt x="933380" y="9528"/>
                </a:lnTo>
                <a:close/>
              </a:path>
              <a:path w="3797300" h="50800">
                <a:moveTo>
                  <a:pt x="1200078" y="8636"/>
                </a:moveTo>
                <a:lnTo>
                  <a:pt x="1085780" y="9018"/>
                </a:lnTo>
                <a:lnTo>
                  <a:pt x="1066793" y="28131"/>
                </a:lnTo>
                <a:lnTo>
                  <a:pt x="1068315" y="35541"/>
                </a:lnTo>
                <a:lnTo>
                  <a:pt x="1072418" y="41583"/>
                </a:lnTo>
                <a:lnTo>
                  <a:pt x="1078487" y="45646"/>
                </a:lnTo>
                <a:lnTo>
                  <a:pt x="1085907" y="47118"/>
                </a:lnTo>
                <a:lnTo>
                  <a:pt x="1200207" y="46734"/>
                </a:lnTo>
                <a:lnTo>
                  <a:pt x="1207617" y="45213"/>
                </a:lnTo>
                <a:lnTo>
                  <a:pt x="1213658" y="41110"/>
                </a:lnTo>
                <a:lnTo>
                  <a:pt x="1217720" y="35041"/>
                </a:lnTo>
                <a:lnTo>
                  <a:pt x="1219192" y="27621"/>
                </a:lnTo>
                <a:lnTo>
                  <a:pt x="1217670" y="20211"/>
                </a:lnTo>
                <a:lnTo>
                  <a:pt x="1213568" y="14170"/>
                </a:lnTo>
                <a:lnTo>
                  <a:pt x="1207498" y="10107"/>
                </a:lnTo>
                <a:lnTo>
                  <a:pt x="1200078" y="8636"/>
                </a:lnTo>
                <a:close/>
              </a:path>
              <a:path w="3797300" h="50800">
                <a:moveTo>
                  <a:pt x="1466777" y="7741"/>
                </a:moveTo>
                <a:lnTo>
                  <a:pt x="1352477" y="8125"/>
                </a:lnTo>
                <a:lnTo>
                  <a:pt x="1333492" y="27238"/>
                </a:lnTo>
                <a:lnTo>
                  <a:pt x="1335014" y="34648"/>
                </a:lnTo>
                <a:lnTo>
                  <a:pt x="1339117" y="40690"/>
                </a:lnTo>
                <a:lnTo>
                  <a:pt x="1345185" y="44752"/>
                </a:lnTo>
                <a:lnTo>
                  <a:pt x="1352605" y="46224"/>
                </a:lnTo>
                <a:lnTo>
                  <a:pt x="1466905" y="45841"/>
                </a:lnTo>
                <a:lnTo>
                  <a:pt x="1474315" y="44319"/>
                </a:lnTo>
                <a:lnTo>
                  <a:pt x="1480357" y="40217"/>
                </a:lnTo>
                <a:lnTo>
                  <a:pt x="1484419" y="34148"/>
                </a:lnTo>
                <a:lnTo>
                  <a:pt x="1485891" y="26728"/>
                </a:lnTo>
                <a:lnTo>
                  <a:pt x="1484369" y="19317"/>
                </a:lnTo>
                <a:lnTo>
                  <a:pt x="1480266" y="13276"/>
                </a:lnTo>
                <a:lnTo>
                  <a:pt x="1474197" y="9213"/>
                </a:lnTo>
                <a:lnTo>
                  <a:pt x="1466777" y="7741"/>
                </a:lnTo>
                <a:close/>
              </a:path>
              <a:path w="3797300" h="50800">
                <a:moveTo>
                  <a:pt x="1733476" y="6849"/>
                </a:moveTo>
                <a:lnTo>
                  <a:pt x="1619176" y="7231"/>
                </a:lnTo>
                <a:lnTo>
                  <a:pt x="1600191" y="26344"/>
                </a:lnTo>
                <a:lnTo>
                  <a:pt x="1601712" y="33754"/>
                </a:lnTo>
                <a:lnTo>
                  <a:pt x="1605815" y="39796"/>
                </a:lnTo>
                <a:lnTo>
                  <a:pt x="1611884" y="43859"/>
                </a:lnTo>
                <a:lnTo>
                  <a:pt x="1619304" y="45331"/>
                </a:lnTo>
                <a:lnTo>
                  <a:pt x="1733603" y="44947"/>
                </a:lnTo>
                <a:lnTo>
                  <a:pt x="1741013" y="43426"/>
                </a:lnTo>
                <a:lnTo>
                  <a:pt x="1747055" y="39323"/>
                </a:lnTo>
                <a:lnTo>
                  <a:pt x="1751117" y="33254"/>
                </a:lnTo>
                <a:lnTo>
                  <a:pt x="1752589" y="25834"/>
                </a:lnTo>
                <a:lnTo>
                  <a:pt x="1751067" y="18424"/>
                </a:lnTo>
                <a:lnTo>
                  <a:pt x="1746965" y="12383"/>
                </a:lnTo>
                <a:lnTo>
                  <a:pt x="1740896" y="8321"/>
                </a:lnTo>
                <a:lnTo>
                  <a:pt x="1733476" y="6849"/>
                </a:lnTo>
                <a:close/>
              </a:path>
              <a:path w="3797300" h="50800">
                <a:moveTo>
                  <a:pt x="2000175" y="5955"/>
                </a:moveTo>
                <a:lnTo>
                  <a:pt x="1885875" y="6338"/>
                </a:lnTo>
                <a:lnTo>
                  <a:pt x="1866888" y="25452"/>
                </a:lnTo>
                <a:lnTo>
                  <a:pt x="1868410" y="32861"/>
                </a:lnTo>
                <a:lnTo>
                  <a:pt x="1872513" y="38903"/>
                </a:lnTo>
                <a:lnTo>
                  <a:pt x="1878582" y="42965"/>
                </a:lnTo>
                <a:lnTo>
                  <a:pt x="1886003" y="44437"/>
                </a:lnTo>
                <a:lnTo>
                  <a:pt x="2000302" y="44055"/>
                </a:lnTo>
                <a:lnTo>
                  <a:pt x="2007712" y="42533"/>
                </a:lnTo>
                <a:lnTo>
                  <a:pt x="2013753" y="38430"/>
                </a:lnTo>
                <a:lnTo>
                  <a:pt x="2017816" y="32361"/>
                </a:lnTo>
                <a:lnTo>
                  <a:pt x="2019288" y="24941"/>
                </a:lnTo>
                <a:lnTo>
                  <a:pt x="2017766" y="17531"/>
                </a:lnTo>
                <a:lnTo>
                  <a:pt x="2013663" y="11489"/>
                </a:lnTo>
                <a:lnTo>
                  <a:pt x="2007594" y="7427"/>
                </a:lnTo>
                <a:lnTo>
                  <a:pt x="2000175" y="5955"/>
                </a:lnTo>
                <a:close/>
              </a:path>
              <a:path w="3797300" h="50800">
                <a:moveTo>
                  <a:pt x="2266872" y="5062"/>
                </a:moveTo>
                <a:lnTo>
                  <a:pt x="2152573" y="5444"/>
                </a:lnTo>
                <a:lnTo>
                  <a:pt x="2133587" y="24557"/>
                </a:lnTo>
                <a:lnTo>
                  <a:pt x="2135109" y="31968"/>
                </a:lnTo>
                <a:lnTo>
                  <a:pt x="2139212" y="38009"/>
                </a:lnTo>
                <a:lnTo>
                  <a:pt x="2145280" y="42072"/>
                </a:lnTo>
                <a:lnTo>
                  <a:pt x="2152700" y="43544"/>
                </a:lnTo>
                <a:lnTo>
                  <a:pt x="2267000" y="43160"/>
                </a:lnTo>
                <a:lnTo>
                  <a:pt x="2274410" y="41639"/>
                </a:lnTo>
                <a:lnTo>
                  <a:pt x="2280452" y="37536"/>
                </a:lnTo>
                <a:lnTo>
                  <a:pt x="2284514" y="31467"/>
                </a:lnTo>
                <a:lnTo>
                  <a:pt x="2285987" y="24047"/>
                </a:lnTo>
                <a:lnTo>
                  <a:pt x="2284465" y="16637"/>
                </a:lnTo>
                <a:lnTo>
                  <a:pt x="2280362" y="10596"/>
                </a:lnTo>
                <a:lnTo>
                  <a:pt x="2274293" y="6534"/>
                </a:lnTo>
                <a:lnTo>
                  <a:pt x="2266872" y="5062"/>
                </a:lnTo>
                <a:close/>
              </a:path>
              <a:path w="3797300" h="50800">
                <a:moveTo>
                  <a:pt x="2533571" y="4168"/>
                </a:moveTo>
                <a:lnTo>
                  <a:pt x="2419272" y="4551"/>
                </a:lnTo>
                <a:lnTo>
                  <a:pt x="2400286" y="23665"/>
                </a:lnTo>
                <a:lnTo>
                  <a:pt x="2401808" y="31075"/>
                </a:lnTo>
                <a:lnTo>
                  <a:pt x="2405910" y="37116"/>
                </a:lnTo>
                <a:lnTo>
                  <a:pt x="2411979" y="41178"/>
                </a:lnTo>
                <a:lnTo>
                  <a:pt x="2419399" y="42650"/>
                </a:lnTo>
                <a:lnTo>
                  <a:pt x="2533699" y="42268"/>
                </a:lnTo>
                <a:lnTo>
                  <a:pt x="2541109" y="40746"/>
                </a:lnTo>
                <a:lnTo>
                  <a:pt x="2547150" y="36643"/>
                </a:lnTo>
                <a:lnTo>
                  <a:pt x="2551212" y="30574"/>
                </a:lnTo>
                <a:lnTo>
                  <a:pt x="2552684" y="23154"/>
                </a:lnTo>
                <a:lnTo>
                  <a:pt x="2551163" y="15744"/>
                </a:lnTo>
                <a:lnTo>
                  <a:pt x="2547060" y="9702"/>
                </a:lnTo>
                <a:lnTo>
                  <a:pt x="2540991" y="5640"/>
                </a:lnTo>
                <a:lnTo>
                  <a:pt x="2533571" y="4168"/>
                </a:lnTo>
                <a:close/>
              </a:path>
              <a:path w="3797300" h="50800">
                <a:moveTo>
                  <a:pt x="2800269" y="3275"/>
                </a:moveTo>
                <a:lnTo>
                  <a:pt x="2685971" y="3657"/>
                </a:lnTo>
                <a:lnTo>
                  <a:pt x="2666984" y="22771"/>
                </a:lnTo>
                <a:lnTo>
                  <a:pt x="2668506" y="30181"/>
                </a:lnTo>
                <a:lnTo>
                  <a:pt x="2672609" y="36223"/>
                </a:lnTo>
                <a:lnTo>
                  <a:pt x="2678678" y="40285"/>
                </a:lnTo>
                <a:lnTo>
                  <a:pt x="2686098" y="41757"/>
                </a:lnTo>
                <a:lnTo>
                  <a:pt x="2800398" y="41374"/>
                </a:lnTo>
                <a:lnTo>
                  <a:pt x="2807808" y="39852"/>
                </a:lnTo>
                <a:lnTo>
                  <a:pt x="2813849" y="35750"/>
                </a:lnTo>
                <a:lnTo>
                  <a:pt x="2817911" y="29681"/>
                </a:lnTo>
                <a:lnTo>
                  <a:pt x="2819383" y="22260"/>
                </a:lnTo>
                <a:lnTo>
                  <a:pt x="2817862" y="14850"/>
                </a:lnTo>
                <a:lnTo>
                  <a:pt x="2813759" y="8809"/>
                </a:lnTo>
                <a:lnTo>
                  <a:pt x="2807690" y="4747"/>
                </a:lnTo>
                <a:lnTo>
                  <a:pt x="2800269" y="3275"/>
                </a:lnTo>
                <a:close/>
              </a:path>
              <a:path w="3797300" h="50800">
                <a:moveTo>
                  <a:pt x="3066968" y="2381"/>
                </a:moveTo>
                <a:lnTo>
                  <a:pt x="2952669" y="2764"/>
                </a:lnTo>
                <a:lnTo>
                  <a:pt x="2933683" y="21878"/>
                </a:lnTo>
                <a:lnTo>
                  <a:pt x="2935205" y="29288"/>
                </a:lnTo>
                <a:lnTo>
                  <a:pt x="2939308" y="35329"/>
                </a:lnTo>
                <a:lnTo>
                  <a:pt x="2945377" y="39391"/>
                </a:lnTo>
                <a:lnTo>
                  <a:pt x="2952796" y="40863"/>
                </a:lnTo>
                <a:lnTo>
                  <a:pt x="3067095" y="40481"/>
                </a:lnTo>
                <a:lnTo>
                  <a:pt x="3074506" y="38959"/>
                </a:lnTo>
                <a:lnTo>
                  <a:pt x="3080548" y="34856"/>
                </a:lnTo>
                <a:lnTo>
                  <a:pt x="3084610" y="28787"/>
                </a:lnTo>
                <a:lnTo>
                  <a:pt x="3086082" y="21367"/>
                </a:lnTo>
                <a:lnTo>
                  <a:pt x="3084560" y="13957"/>
                </a:lnTo>
                <a:lnTo>
                  <a:pt x="3080457" y="7915"/>
                </a:lnTo>
                <a:lnTo>
                  <a:pt x="3074388" y="3853"/>
                </a:lnTo>
                <a:lnTo>
                  <a:pt x="3066968" y="2381"/>
                </a:lnTo>
                <a:close/>
              </a:path>
              <a:path w="3797300" h="50800">
                <a:moveTo>
                  <a:pt x="3333667" y="1488"/>
                </a:moveTo>
                <a:lnTo>
                  <a:pt x="3219367" y="1870"/>
                </a:lnTo>
                <a:lnTo>
                  <a:pt x="3200382" y="20984"/>
                </a:lnTo>
                <a:lnTo>
                  <a:pt x="3201903" y="28394"/>
                </a:lnTo>
                <a:lnTo>
                  <a:pt x="3206006" y="34436"/>
                </a:lnTo>
                <a:lnTo>
                  <a:pt x="3212075" y="38498"/>
                </a:lnTo>
                <a:lnTo>
                  <a:pt x="3219495" y="39970"/>
                </a:lnTo>
                <a:lnTo>
                  <a:pt x="3333794" y="39587"/>
                </a:lnTo>
                <a:lnTo>
                  <a:pt x="3341205" y="38065"/>
                </a:lnTo>
                <a:lnTo>
                  <a:pt x="3347246" y="33963"/>
                </a:lnTo>
                <a:lnTo>
                  <a:pt x="3351308" y="27894"/>
                </a:lnTo>
                <a:lnTo>
                  <a:pt x="3352780" y="20473"/>
                </a:lnTo>
                <a:lnTo>
                  <a:pt x="3351258" y="13063"/>
                </a:lnTo>
                <a:lnTo>
                  <a:pt x="3347156" y="7022"/>
                </a:lnTo>
                <a:lnTo>
                  <a:pt x="3341087" y="2960"/>
                </a:lnTo>
                <a:lnTo>
                  <a:pt x="3333667" y="1488"/>
                </a:lnTo>
                <a:close/>
              </a:path>
              <a:path w="3797300" h="50800">
                <a:moveTo>
                  <a:pt x="3600366" y="594"/>
                </a:moveTo>
                <a:lnTo>
                  <a:pt x="3486066" y="977"/>
                </a:lnTo>
                <a:lnTo>
                  <a:pt x="3467079" y="20091"/>
                </a:lnTo>
                <a:lnTo>
                  <a:pt x="3468601" y="27501"/>
                </a:lnTo>
                <a:lnTo>
                  <a:pt x="3472704" y="33542"/>
                </a:lnTo>
                <a:lnTo>
                  <a:pt x="3478773" y="37605"/>
                </a:lnTo>
                <a:lnTo>
                  <a:pt x="3486194" y="39077"/>
                </a:lnTo>
                <a:lnTo>
                  <a:pt x="3600493" y="38694"/>
                </a:lnTo>
                <a:lnTo>
                  <a:pt x="3607903" y="37172"/>
                </a:lnTo>
                <a:lnTo>
                  <a:pt x="3613945" y="33069"/>
                </a:lnTo>
                <a:lnTo>
                  <a:pt x="3618007" y="27000"/>
                </a:lnTo>
                <a:lnTo>
                  <a:pt x="3619479" y="19580"/>
                </a:lnTo>
                <a:lnTo>
                  <a:pt x="3617957" y="12170"/>
                </a:lnTo>
                <a:lnTo>
                  <a:pt x="3613854" y="6129"/>
                </a:lnTo>
                <a:lnTo>
                  <a:pt x="3607786" y="2066"/>
                </a:lnTo>
                <a:lnTo>
                  <a:pt x="3600366" y="594"/>
                </a:lnTo>
                <a:close/>
              </a:path>
              <a:path w="3797300" h="50800">
                <a:moveTo>
                  <a:pt x="3777875" y="0"/>
                </a:moveTo>
                <a:lnTo>
                  <a:pt x="3739313" y="5708"/>
                </a:lnTo>
                <a:lnTo>
                  <a:pt x="3733778" y="19197"/>
                </a:lnTo>
                <a:lnTo>
                  <a:pt x="3735300" y="26607"/>
                </a:lnTo>
                <a:lnTo>
                  <a:pt x="3739403" y="32649"/>
                </a:lnTo>
                <a:lnTo>
                  <a:pt x="3745472" y="36711"/>
                </a:lnTo>
                <a:lnTo>
                  <a:pt x="3752891" y="38183"/>
                </a:lnTo>
                <a:lnTo>
                  <a:pt x="3778003" y="38100"/>
                </a:lnTo>
                <a:lnTo>
                  <a:pt x="3785413" y="36577"/>
                </a:lnTo>
                <a:lnTo>
                  <a:pt x="3791454" y="32475"/>
                </a:lnTo>
                <a:lnTo>
                  <a:pt x="3795517" y="26406"/>
                </a:lnTo>
                <a:lnTo>
                  <a:pt x="3796990" y="18986"/>
                </a:lnTo>
                <a:lnTo>
                  <a:pt x="3795468" y="11575"/>
                </a:lnTo>
                <a:lnTo>
                  <a:pt x="3791365" y="5534"/>
                </a:lnTo>
                <a:lnTo>
                  <a:pt x="3785295" y="1471"/>
                </a:lnTo>
                <a:lnTo>
                  <a:pt x="377787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027992" y="4417636"/>
            <a:ext cx="3514725" cy="223520"/>
          </a:xfrm>
          <a:custGeom>
            <a:avLst/>
            <a:gdLst/>
            <a:ahLst/>
            <a:cxnLst/>
            <a:rect l="l" t="t" r="r" b="b"/>
            <a:pathLst>
              <a:path w="3514725" h="223520">
                <a:moveTo>
                  <a:pt x="132148" y="179030"/>
                </a:moveTo>
                <a:lnTo>
                  <a:pt x="18011" y="185108"/>
                </a:lnTo>
                <a:lnTo>
                  <a:pt x="0" y="205144"/>
                </a:lnTo>
                <a:lnTo>
                  <a:pt x="1889" y="212469"/>
                </a:lnTo>
                <a:lnTo>
                  <a:pt x="6288" y="218299"/>
                </a:lnTo>
                <a:lnTo>
                  <a:pt x="12552" y="222053"/>
                </a:lnTo>
                <a:lnTo>
                  <a:pt x="20036" y="223154"/>
                </a:lnTo>
                <a:lnTo>
                  <a:pt x="134175" y="217076"/>
                </a:lnTo>
                <a:lnTo>
                  <a:pt x="141500" y="215187"/>
                </a:lnTo>
                <a:lnTo>
                  <a:pt x="147329" y="210788"/>
                </a:lnTo>
                <a:lnTo>
                  <a:pt x="151084" y="204524"/>
                </a:lnTo>
                <a:lnTo>
                  <a:pt x="152185" y="197040"/>
                </a:lnTo>
                <a:lnTo>
                  <a:pt x="150295" y="189715"/>
                </a:lnTo>
                <a:lnTo>
                  <a:pt x="145896" y="183885"/>
                </a:lnTo>
                <a:lnTo>
                  <a:pt x="139633" y="180130"/>
                </a:lnTo>
                <a:lnTo>
                  <a:pt x="132148" y="179030"/>
                </a:lnTo>
                <a:close/>
              </a:path>
              <a:path w="3514725" h="223520">
                <a:moveTo>
                  <a:pt x="398471" y="164848"/>
                </a:moveTo>
                <a:lnTo>
                  <a:pt x="284332" y="170926"/>
                </a:lnTo>
                <a:lnTo>
                  <a:pt x="266322" y="190962"/>
                </a:lnTo>
                <a:lnTo>
                  <a:pt x="268212" y="198287"/>
                </a:lnTo>
                <a:lnTo>
                  <a:pt x="272611" y="204117"/>
                </a:lnTo>
                <a:lnTo>
                  <a:pt x="278875" y="207871"/>
                </a:lnTo>
                <a:lnTo>
                  <a:pt x="286359" y="208972"/>
                </a:lnTo>
                <a:lnTo>
                  <a:pt x="400497" y="202893"/>
                </a:lnTo>
                <a:lnTo>
                  <a:pt x="407822" y="201004"/>
                </a:lnTo>
                <a:lnTo>
                  <a:pt x="413652" y="196606"/>
                </a:lnTo>
                <a:lnTo>
                  <a:pt x="417407" y="190342"/>
                </a:lnTo>
                <a:lnTo>
                  <a:pt x="418508" y="182858"/>
                </a:lnTo>
                <a:lnTo>
                  <a:pt x="416618" y="175533"/>
                </a:lnTo>
                <a:lnTo>
                  <a:pt x="412219" y="169703"/>
                </a:lnTo>
                <a:lnTo>
                  <a:pt x="405955" y="165948"/>
                </a:lnTo>
                <a:lnTo>
                  <a:pt x="398471" y="164848"/>
                </a:lnTo>
                <a:close/>
              </a:path>
              <a:path w="3514725" h="223520">
                <a:moveTo>
                  <a:pt x="664794" y="150666"/>
                </a:moveTo>
                <a:lnTo>
                  <a:pt x="550655" y="156743"/>
                </a:lnTo>
                <a:lnTo>
                  <a:pt x="532645" y="176780"/>
                </a:lnTo>
                <a:lnTo>
                  <a:pt x="534535" y="184104"/>
                </a:lnTo>
                <a:lnTo>
                  <a:pt x="538934" y="189934"/>
                </a:lnTo>
                <a:lnTo>
                  <a:pt x="545197" y="193689"/>
                </a:lnTo>
                <a:lnTo>
                  <a:pt x="552682" y="194790"/>
                </a:lnTo>
                <a:lnTo>
                  <a:pt x="666819" y="188711"/>
                </a:lnTo>
                <a:lnTo>
                  <a:pt x="674145" y="186822"/>
                </a:lnTo>
                <a:lnTo>
                  <a:pt x="679974" y="182424"/>
                </a:lnTo>
                <a:lnTo>
                  <a:pt x="683729" y="176160"/>
                </a:lnTo>
                <a:lnTo>
                  <a:pt x="684829" y="168676"/>
                </a:lnTo>
                <a:lnTo>
                  <a:pt x="682940" y="161350"/>
                </a:lnTo>
                <a:lnTo>
                  <a:pt x="678541" y="155521"/>
                </a:lnTo>
                <a:lnTo>
                  <a:pt x="672278" y="151766"/>
                </a:lnTo>
                <a:lnTo>
                  <a:pt x="664794" y="150666"/>
                </a:lnTo>
                <a:close/>
              </a:path>
              <a:path w="3514725" h="223520">
                <a:moveTo>
                  <a:pt x="931117" y="136484"/>
                </a:moveTo>
                <a:lnTo>
                  <a:pt x="816978" y="142561"/>
                </a:lnTo>
                <a:lnTo>
                  <a:pt x="798968" y="162598"/>
                </a:lnTo>
                <a:lnTo>
                  <a:pt x="800857" y="169922"/>
                </a:lnTo>
                <a:lnTo>
                  <a:pt x="805256" y="175752"/>
                </a:lnTo>
                <a:lnTo>
                  <a:pt x="811520" y="179507"/>
                </a:lnTo>
                <a:lnTo>
                  <a:pt x="819003" y="180607"/>
                </a:lnTo>
                <a:lnTo>
                  <a:pt x="933142" y="174529"/>
                </a:lnTo>
                <a:lnTo>
                  <a:pt x="940467" y="172640"/>
                </a:lnTo>
                <a:lnTo>
                  <a:pt x="946297" y="168241"/>
                </a:lnTo>
                <a:lnTo>
                  <a:pt x="950052" y="161978"/>
                </a:lnTo>
                <a:lnTo>
                  <a:pt x="951152" y="154494"/>
                </a:lnTo>
                <a:lnTo>
                  <a:pt x="949263" y="147168"/>
                </a:lnTo>
                <a:lnTo>
                  <a:pt x="944864" y="141339"/>
                </a:lnTo>
                <a:lnTo>
                  <a:pt x="938600" y="137584"/>
                </a:lnTo>
                <a:lnTo>
                  <a:pt x="931117" y="136484"/>
                </a:lnTo>
                <a:close/>
              </a:path>
              <a:path w="3514725" h="223520">
                <a:moveTo>
                  <a:pt x="1197439" y="122300"/>
                </a:moveTo>
                <a:lnTo>
                  <a:pt x="1083301" y="128379"/>
                </a:lnTo>
                <a:lnTo>
                  <a:pt x="1065291" y="148416"/>
                </a:lnTo>
                <a:lnTo>
                  <a:pt x="1067180" y="155740"/>
                </a:lnTo>
                <a:lnTo>
                  <a:pt x="1071579" y="161570"/>
                </a:lnTo>
                <a:lnTo>
                  <a:pt x="1077842" y="165324"/>
                </a:lnTo>
                <a:lnTo>
                  <a:pt x="1085326" y="166425"/>
                </a:lnTo>
                <a:lnTo>
                  <a:pt x="1199465" y="160347"/>
                </a:lnTo>
                <a:lnTo>
                  <a:pt x="1206790" y="158458"/>
                </a:lnTo>
                <a:lnTo>
                  <a:pt x="1212619" y="154059"/>
                </a:lnTo>
                <a:lnTo>
                  <a:pt x="1216374" y="147795"/>
                </a:lnTo>
                <a:lnTo>
                  <a:pt x="1217475" y="140312"/>
                </a:lnTo>
                <a:lnTo>
                  <a:pt x="1215586" y="132986"/>
                </a:lnTo>
                <a:lnTo>
                  <a:pt x="1211187" y="127157"/>
                </a:lnTo>
                <a:lnTo>
                  <a:pt x="1204923" y="123401"/>
                </a:lnTo>
                <a:lnTo>
                  <a:pt x="1197439" y="122300"/>
                </a:lnTo>
                <a:close/>
              </a:path>
              <a:path w="3514725" h="223520">
                <a:moveTo>
                  <a:pt x="1463761" y="108118"/>
                </a:moveTo>
                <a:lnTo>
                  <a:pt x="1349623" y="114197"/>
                </a:lnTo>
                <a:lnTo>
                  <a:pt x="1331614" y="134233"/>
                </a:lnTo>
                <a:lnTo>
                  <a:pt x="1333503" y="141558"/>
                </a:lnTo>
                <a:lnTo>
                  <a:pt x="1337901" y="147387"/>
                </a:lnTo>
                <a:lnTo>
                  <a:pt x="1344165" y="151142"/>
                </a:lnTo>
                <a:lnTo>
                  <a:pt x="1351649" y="152243"/>
                </a:lnTo>
                <a:lnTo>
                  <a:pt x="1465788" y="146165"/>
                </a:lnTo>
                <a:lnTo>
                  <a:pt x="1473112" y="144276"/>
                </a:lnTo>
                <a:lnTo>
                  <a:pt x="1478942" y="139877"/>
                </a:lnTo>
                <a:lnTo>
                  <a:pt x="1482697" y="133613"/>
                </a:lnTo>
                <a:lnTo>
                  <a:pt x="1483798" y="126130"/>
                </a:lnTo>
                <a:lnTo>
                  <a:pt x="1481908" y="118804"/>
                </a:lnTo>
                <a:lnTo>
                  <a:pt x="1477509" y="112974"/>
                </a:lnTo>
                <a:lnTo>
                  <a:pt x="1471245" y="109219"/>
                </a:lnTo>
                <a:lnTo>
                  <a:pt x="1463761" y="108118"/>
                </a:lnTo>
                <a:close/>
              </a:path>
              <a:path w="3514725" h="223520">
                <a:moveTo>
                  <a:pt x="1730084" y="93936"/>
                </a:moveTo>
                <a:lnTo>
                  <a:pt x="1615946" y="100015"/>
                </a:lnTo>
                <a:lnTo>
                  <a:pt x="1597936" y="120051"/>
                </a:lnTo>
                <a:lnTo>
                  <a:pt x="1599825" y="127376"/>
                </a:lnTo>
                <a:lnTo>
                  <a:pt x="1604224" y="133205"/>
                </a:lnTo>
                <a:lnTo>
                  <a:pt x="1610487" y="136960"/>
                </a:lnTo>
                <a:lnTo>
                  <a:pt x="1617972" y="138061"/>
                </a:lnTo>
                <a:lnTo>
                  <a:pt x="1732111" y="131983"/>
                </a:lnTo>
                <a:lnTo>
                  <a:pt x="1739435" y="130093"/>
                </a:lnTo>
                <a:lnTo>
                  <a:pt x="1745265" y="125695"/>
                </a:lnTo>
                <a:lnTo>
                  <a:pt x="1749019" y="119431"/>
                </a:lnTo>
                <a:lnTo>
                  <a:pt x="1750120" y="111946"/>
                </a:lnTo>
                <a:lnTo>
                  <a:pt x="1748231" y="104622"/>
                </a:lnTo>
                <a:lnTo>
                  <a:pt x="1743832" y="98792"/>
                </a:lnTo>
                <a:lnTo>
                  <a:pt x="1737568" y="95037"/>
                </a:lnTo>
                <a:lnTo>
                  <a:pt x="1730084" y="93936"/>
                </a:lnTo>
                <a:close/>
              </a:path>
              <a:path w="3514725" h="223520">
                <a:moveTo>
                  <a:pt x="1996406" y="79754"/>
                </a:moveTo>
                <a:lnTo>
                  <a:pt x="1882268" y="85832"/>
                </a:lnTo>
                <a:lnTo>
                  <a:pt x="1864258" y="105869"/>
                </a:lnTo>
                <a:lnTo>
                  <a:pt x="1866147" y="113194"/>
                </a:lnTo>
                <a:lnTo>
                  <a:pt x="1870546" y="119023"/>
                </a:lnTo>
                <a:lnTo>
                  <a:pt x="1876810" y="122778"/>
                </a:lnTo>
                <a:lnTo>
                  <a:pt x="1884295" y="123879"/>
                </a:lnTo>
                <a:lnTo>
                  <a:pt x="1998432" y="117801"/>
                </a:lnTo>
                <a:lnTo>
                  <a:pt x="2005757" y="115911"/>
                </a:lnTo>
                <a:lnTo>
                  <a:pt x="2011587" y="111512"/>
                </a:lnTo>
                <a:lnTo>
                  <a:pt x="2015342" y="105249"/>
                </a:lnTo>
                <a:lnTo>
                  <a:pt x="2016443" y="97764"/>
                </a:lnTo>
                <a:lnTo>
                  <a:pt x="2014554" y="90439"/>
                </a:lnTo>
                <a:lnTo>
                  <a:pt x="2010155" y="84610"/>
                </a:lnTo>
                <a:lnTo>
                  <a:pt x="2003891" y="80855"/>
                </a:lnTo>
                <a:lnTo>
                  <a:pt x="1996406" y="79754"/>
                </a:lnTo>
                <a:close/>
              </a:path>
              <a:path w="3514725" h="223520">
                <a:moveTo>
                  <a:pt x="2262729" y="65572"/>
                </a:moveTo>
                <a:lnTo>
                  <a:pt x="2148591" y="71650"/>
                </a:lnTo>
                <a:lnTo>
                  <a:pt x="2130581" y="91686"/>
                </a:lnTo>
                <a:lnTo>
                  <a:pt x="2132470" y="99011"/>
                </a:lnTo>
                <a:lnTo>
                  <a:pt x="2136869" y="104841"/>
                </a:lnTo>
                <a:lnTo>
                  <a:pt x="2143133" y="108596"/>
                </a:lnTo>
                <a:lnTo>
                  <a:pt x="2150617" y="109697"/>
                </a:lnTo>
                <a:lnTo>
                  <a:pt x="2264755" y="103619"/>
                </a:lnTo>
                <a:lnTo>
                  <a:pt x="2272080" y="101729"/>
                </a:lnTo>
                <a:lnTo>
                  <a:pt x="2277910" y="97330"/>
                </a:lnTo>
                <a:lnTo>
                  <a:pt x="2281665" y="91067"/>
                </a:lnTo>
                <a:lnTo>
                  <a:pt x="2282765" y="83582"/>
                </a:lnTo>
                <a:lnTo>
                  <a:pt x="2280876" y="76257"/>
                </a:lnTo>
                <a:lnTo>
                  <a:pt x="2276478" y="70428"/>
                </a:lnTo>
                <a:lnTo>
                  <a:pt x="2270214" y="66673"/>
                </a:lnTo>
                <a:lnTo>
                  <a:pt x="2262729" y="65572"/>
                </a:lnTo>
                <a:close/>
              </a:path>
              <a:path w="3514725" h="223520">
                <a:moveTo>
                  <a:pt x="2529052" y="51390"/>
                </a:moveTo>
                <a:lnTo>
                  <a:pt x="2414913" y="57468"/>
                </a:lnTo>
                <a:lnTo>
                  <a:pt x="2396904" y="77504"/>
                </a:lnTo>
                <a:lnTo>
                  <a:pt x="2398793" y="84829"/>
                </a:lnTo>
                <a:lnTo>
                  <a:pt x="2403192" y="90659"/>
                </a:lnTo>
                <a:lnTo>
                  <a:pt x="2409456" y="94414"/>
                </a:lnTo>
                <a:lnTo>
                  <a:pt x="2416940" y="95515"/>
                </a:lnTo>
                <a:lnTo>
                  <a:pt x="2531078" y="89437"/>
                </a:lnTo>
                <a:lnTo>
                  <a:pt x="2538403" y="87547"/>
                </a:lnTo>
                <a:lnTo>
                  <a:pt x="2544233" y="83148"/>
                </a:lnTo>
                <a:lnTo>
                  <a:pt x="2547987" y="76884"/>
                </a:lnTo>
                <a:lnTo>
                  <a:pt x="2549088" y="69400"/>
                </a:lnTo>
                <a:lnTo>
                  <a:pt x="2547199" y="62075"/>
                </a:lnTo>
                <a:lnTo>
                  <a:pt x="2542800" y="56246"/>
                </a:lnTo>
                <a:lnTo>
                  <a:pt x="2536537" y="52491"/>
                </a:lnTo>
                <a:lnTo>
                  <a:pt x="2529052" y="51390"/>
                </a:lnTo>
                <a:close/>
              </a:path>
              <a:path w="3514725" h="223520">
                <a:moveTo>
                  <a:pt x="2795375" y="37208"/>
                </a:moveTo>
                <a:lnTo>
                  <a:pt x="2681236" y="43286"/>
                </a:lnTo>
                <a:lnTo>
                  <a:pt x="2663226" y="63322"/>
                </a:lnTo>
                <a:lnTo>
                  <a:pt x="2665116" y="70647"/>
                </a:lnTo>
                <a:lnTo>
                  <a:pt x="2669515" y="76477"/>
                </a:lnTo>
                <a:lnTo>
                  <a:pt x="2675779" y="80231"/>
                </a:lnTo>
                <a:lnTo>
                  <a:pt x="2683263" y="81332"/>
                </a:lnTo>
                <a:lnTo>
                  <a:pt x="2797401" y="75255"/>
                </a:lnTo>
                <a:lnTo>
                  <a:pt x="2804726" y="73365"/>
                </a:lnTo>
                <a:lnTo>
                  <a:pt x="2810556" y="68966"/>
                </a:lnTo>
                <a:lnTo>
                  <a:pt x="2814310" y="62702"/>
                </a:lnTo>
                <a:lnTo>
                  <a:pt x="2815410" y="55218"/>
                </a:lnTo>
                <a:lnTo>
                  <a:pt x="2813522" y="47893"/>
                </a:lnTo>
                <a:lnTo>
                  <a:pt x="2809123" y="42064"/>
                </a:lnTo>
                <a:lnTo>
                  <a:pt x="2802859" y="38309"/>
                </a:lnTo>
                <a:lnTo>
                  <a:pt x="2795375" y="37208"/>
                </a:lnTo>
                <a:close/>
              </a:path>
              <a:path w="3514725" h="223520">
                <a:moveTo>
                  <a:pt x="3061698" y="23026"/>
                </a:moveTo>
                <a:lnTo>
                  <a:pt x="2947559" y="29104"/>
                </a:lnTo>
                <a:lnTo>
                  <a:pt x="2929549" y="49140"/>
                </a:lnTo>
                <a:lnTo>
                  <a:pt x="2931438" y="56465"/>
                </a:lnTo>
                <a:lnTo>
                  <a:pt x="2935837" y="62295"/>
                </a:lnTo>
                <a:lnTo>
                  <a:pt x="2942101" y="66049"/>
                </a:lnTo>
                <a:lnTo>
                  <a:pt x="2949585" y="67149"/>
                </a:lnTo>
                <a:lnTo>
                  <a:pt x="3063723" y="61073"/>
                </a:lnTo>
                <a:lnTo>
                  <a:pt x="3071049" y="59183"/>
                </a:lnTo>
                <a:lnTo>
                  <a:pt x="3076878" y="54784"/>
                </a:lnTo>
                <a:lnTo>
                  <a:pt x="3080633" y="48520"/>
                </a:lnTo>
                <a:lnTo>
                  <a:pt x="3081733" y="41036"/>
                </a:lnTo>
                <a:lnTo>
                  <a:pt x="3079844" y="33711"/>
                </a:lnTo>
                <a:lnTo>
                  <a:pt x="3075445" y="27881"/>
                </a:lnTo>
                <a:lnTo>
                  <a:pt x="3069181" y="24126"/>
                </a:lnTo>
                <a:lnTo>
                  <a:pt x="3061698" y="23026"/>
                </a:lnTo>
                <a:close/>
              </a:path>
              <a:path w="3514725" h="223520">
                <a:moveTo>
                  <a:pt x="3328021" y="8844"/>
                </a:moveTo>
                <a:lnTo>
                  <a:pt x="3213882" y="14922"/>
                </a:lnTo>
                <a:lnTo>
                  <a:pt x="3195872" y="34958"/>
                </a:lnTo>
                <a:lnTo>
                  <a:pt x="3197761" y="42283"/>
                </a:lnTo>
                <a:lnTo>
                  <a:pt x="3202160" y="48112"/>
                </a:lnTo>
                <a:lnTo>
                  <a:pt x="3208424" y="51867"/>
                </a:lnTo>
                <a:lnTo>
                  <a:pt x="3215907" y="52967"/>
                </a:lnTo>
                <a:lnTo>
                  <a:pt x="3330046" y="46889"/>
                </a:lnTo>
                <a:lnTo>
                  <a:pt x="3337371" y="45000"/>
                </a:lnTo>
                <a:lnTo>
                  <a:pt x="3343201" y="40602"/>
                </a:lnTo>
                <a:lnTo>
                  <a:pt x="3346956" y="34338"/>
                </a:lnTo>
                <a:lnTo>
                  <a:pt x="3348056" y="26854"/>
                </a:lnTo>
                <a:lnTo>
                  <a:pt x="3346167" y="19528"/>
                </a:lnTo>
                <a:lnTo>
                  <a:pt x="3341768" y="13699"/>
                </a:lnTo>
                <a:lnTo>
                  <a:pt x="3335504" y="9944"/>
                </a:lnTo>
                <a:lnTo>
                  <a:pt x="3328021" y="8844"/>
                </a:lnTo>
                <a:close/>
              </a:path>
              <a:path w="3514725" h="223520">
                <a:moveTo>
                  <a:pt x="3494093" y="0"/>
                </a:moveTo>
                <a:lnTo>
                  <a:pt x="3462195" y="20775"/>
                </a:lnTo>
                <a:lnTo>
                  <a:pt x="3464084" y="28101"/>
                </a:lnTo>
                <a:lnTo>
                  <a:pt x="3468483" y="33930"/>
                </a:lnTo>
                <a:lnTo>
                  <a:pt x="3474746" y="37685"/>
                </a:lnTo>
                <a:lnTo>
                  <a:pt x="3482230" y="38785"/>
                </a:lnTo>
                <a:lnTo>
                  <a:pt x="3496120" y="38046"/>
                </a:lnTo>
                <a:lnTo>
                  <a:pt x="3503445" y="36157"/>
                </a:lnTo>
                <a:lnTo>
                  <a:pt x="3509274" y="31758"/>
                </a:lnTo>
                <a:lnTo>
                  <a:pt x="3513029" y="25494"/>
                </a:lnTo>
                <a:lnTo>
                  <a:pt x="3514130" y="18009"/>
                </a:lnTo>
                <a:lnTo>
                  <a:pt x="3512241" y="10685"/>
                </a:lnTo>
                <a:lnTo>
                  <a:pt x="3507842" y="4855"/>
                </a:lnTo>
                <a:lnTo>
                  <a:pt x="3501578" y="1100"/>
                </a:lnTo>
                <a:lnTo>
                  <a:pt x="3494093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104699" y="4708652"/>
            <a:ext cx="83121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65" b="1">
                <a:solidFill>
                  <a:srgbClr val="00B050"/>
                </a:solidFill>
                <a:latin typeface="Arial"/>
                <a:cs typeface="Arial"/>
              </a:rPr>
              <a:t>T</a:t>
            </a:r>
            <a:r>
              <a:rPr dirty="0" sz="3000" spc="-5" b="1">
                <a:solidFill>
                  <a:srgbClr val="00B050"/>
                </a:solidFill>
                <a:latin typeface="Arial"/>
                <a:cs typeface="Arial"/>
              </a:rPr>
              <a:t>r</a:t>
            </a:r>
            <a:r>
              <a:rPr dirty="0" sz="3000" b="1">
                <a:solidFill>
                  <a:srgbClr val="00B050"/>
                </a:solidFill>
                <a:latin typeface="Arial"/>
                <a:cs typeface="Arial"/>
              </a:rPr>
              <a:t>ue</a:t>
            </a:r>
            <a:endParaRPr sz="3000">
              <a:latin typeface="Arial"/>
              <a:cs typeface="Arial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34</a:t>
            </a:fld>
          </a:p>
        </p:txBody>
      </p:sp>
      <p:sp>
        <p:nvSpPr>
          <p:cNvPr id="34" name="object 34"/>
          <p:cNvSpPr txBox="1"/>
          <p:nvPr/>
        </p:nvSpPr>
        <p:spPr>
          <a:xfrm>
            <a:off x="984975" y="5735828"/>
            <a:ext cx="635063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5">
                <a:latin typeface="Calibri"/>
                <a:cs typeface="Calibri"/>
              </a:rPr>
              <a:t>Finding all </a:t>
            </a:r>
            <a:r>
              <a:rPr dirty="0" sz="1800" spc="-10">
                <a:latin typeface="Calibri"/>
                <a:cs typeface="Calibri"/>
              </a:rPr>
              <a:t>pairs </a:t>
            </a:r>
            <a:r>
              <a:rPr dirty="0" sz="1800">
                <a:latin typeface="Calibri"/>
                <a:cs typeface="Calibri"/>
              </a:rPr>
              <a:t>of </a:t>
            </a:r>
            <a:r>
              <a:rPr dirty="0" sz="1800" spc="-5">
                <a:latin typeface="Calibri"/>
                <a:cs typeface="Calibri"/>
              </a:rPr>
              <a:t>correspondences is another challenging </a:t>
            </a:r>
            <a:r>
              <a:rPr dirty="0" sz="1800" spc="-10">
                <a:latin typeface="Calibri"/>
                <a:cs typeface="Calibri"/>
              </a:rPr>
              <a:t>problem,  </a:t>
            </a:r>
            <a:r>
              <a:rPr dirty="0" sz="1800" spc="-5">
                <a:latin typeface="Calibri"/>
                <a:cs typeface="Calibri"/>
              </a:rPr>
              <a:t>which </a:t>
            </a:r>
            <a:r>
              <a:rPr dirty="0" sz="1800">
                <a:latin typeface="Calibri"/>
                <a:cs typeface="Calibri"/>
              </a:rPr>
              <a:t>will not be </a:t>
            </a:r>
            <a:r>
              <a:rPr dirty="0" sz="1800" spc="-15">
                <a:latin typeface="Calibri"/>
                <a:cs typeface="Calibri"/>
              </a:rPr>
              <a:t>covered </a:t>
            </a:r>
            <a:r>
              <a:rPr dirty="0" sz="1800" spc="-5">
                <a:latin typeface="Calibri"/>
                <a:cs typeface="Calibri"/>
              </a:rPr>
              <a:t>in this</a:t>
            </a:r>
            <a:r>
              <a:rPr dirty="0" sz="1800" spc="5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lecture.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56615"/>
            <a:ext cx="8287511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b="1">
                <a:latin typeface="Calibri"/>
                <a:cs typeface="Calibri"/>
              </a:rPr>
              <a:t>(1) </a:t>
            </a:r>
            <a:r>
              <a:rPr dirty="0" spc="-60"/>
              <a:t>We </a:t>
            </a:r>
            <a:r>
              <a:rPr dirty="0" spc="-20"/>
              <a:t>are </a:t>
            </a:r>
            <a:r>
              <a:rPr dirty="0" spc="-5"/>
              <a:t>going </a:t>
            </a:r>
            <a:r>
              <a:rPr dirty="0" spc="-15"/>
              <a:t>to </a:t>
            </a:r>
            <a:r>
              <a:rPr dirty="0" spc="-10"/>
              <a:t>work </a:t>
            </a:r>
            <a:r>
              <a:rPr dirty="0"/>
              <a:t>with </a:t>
            </a:r>
            <a:r>
              <a:rPr dirty="0" spc="-10" b="1">
                <a:latin typeface="Calibri"/>
                <a:cs typeface="Calibri"/>
              </a:rPr>
              <a:t>node-anchored  </a:t>
            </a:r>
            <a:r>
              <a:rPr dirty="0" spc="-5" b="1">
                <a:latin typeface="Calibri"/>
                <a:cs typeface="Calibri"/>
              </a:rPr>
              <a:t>definitions</a:t>
            </a:r>
            <a:r>
              <a:rPr dirty="0" spc="-5"/>
              <a:t>:</a:t>
            </a:r>
          </a:p>
        </p:txBody>
      </p:sp>
      <p:sp>
        <p:nvSpPr>
          <p:cNvPr id="4" name="object 4"/>
          <p:cNvSpPr/>
          <p:nvPr/>
        </p:nvSpPr>
        <p:spPr>
          <a:xfrm>
            <a:off x="2284585" y="2878899"/>
            <a:ext cx="906780" cy="1194435"/>
          </a:xfrm>
          <a:custGeom>
            <a:avLst/>
            <a:gdLst/>
            <a:ahLst/>
            <a:cxnLst/>
            <a:rect l="l" t="t" r="r" b="b"/>
            <a:pathLst>
              <a:path w="906780" h="1194435">
                <a:moveTo>
                  <a:pt x="790345" y="0"/>
                </a:moveTo>
                <a:lnTo>
                  <a:pt x="116366" y="0"/>
                </a:lnTo>
                <a:lnTo>
                  <a:pt x="71071" y="9144"/>
                </a:lnTo>
                <a:lnTo>
                  <a:pt x="34082" y="34082"/>
                </a:lnTo>
                <a:lnTo>
                  <a:pt x="9144" y="71071"/>
                </a:lnTo>
                <a:lnTo>
                  <a:pt x="0" y="116366"/>
                </a:lnTo>
                <a:lnTo>
                  <a:pt x="0" y="1077621"/>
                </a:lnTo>
                <a:lnTo>
                  <a:pt x="9144" y="1122916"/>
                </a:lnTo>
                <a:lnTo>
                  <a:pt x="34082" y="1159904"/>
                </a:lnTo>
                <a:lnTo>
                  <a:pt x="71071" y="1184843"/>
                </a:lnTo>
                <a:lnTo>
                  <a:pt x="116366" y="1193987"/>
                </a:lnTo>
                <a:lnTo>
                  <a:pt x="790345" y="1193987"/>
                </a:lnTo>
                <a:lnTo>
                  <a:pt x="835640" y="1184843"/>
                </a:lnTo>
                <a:lnTo>
                  <a:pt x="872628" y="1159904"/>
                </a:lnTo>
                <a:lnTo>
                  <a:pt x="897566" y="1122916"/>
                </a:lnTo>
                <a:lnTo>
                  <a:pt x="906711" y="1077621"/>
                </a:lnTo>
                <a:lnTo>
                  <a:pt x="906711" y="116366"/>
                </a:lnTo>
                <a:lnTo>
                  <a:pt x="897566" y="71071"/>
                </a:lnTo>
                <a:lnTo>
                  <a:pt x="872628" y="34082"/>
                </a:lnTo>
                <a:lnTo>
                  <a:pt x="835640" y="9144"/>
                </a:lnTo>
                <a:lnTo>
                  <a:pt x="790345" y="0"/>
                </a:lnTo>
                <a:close/>
              </a:path>
            </a:pathLst>
          </a:custGeom>
          <a:solidFill>
            <a:srgbClr val="F4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12774" y="3467490"/>
            <a:ext cx="635" cy="339090"/>
          </a:xfrm>
          <a:custGeom>
            <a:avLst/>
            <a:gdLst/>
            <a:ahLst/>
            <a:cxnLst/>
            <a:rect l="l" t="t" r="r" b="b"/>
            <a:pathLst>
              <a:path w="635" h="339089">
                <a:moveTo>
                  <a:pt x="62" y="338515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498349" y="3106441"/>
            <a:ext cx="160020" cy="213995"/>
          </a:xfrm>
          <a:custGeom>
            <a:avLst/>
            <a:gdLst/>
            <a:ahLst/>
            <a:cxnLst/>
            <a:rect l="l" t="t" r="r" b="b"/>
            <a:pathLst>
              <a:path w="160019" h="213995">
                <a:moveTo>
                  <a:pt x="0" y="213571"/>
                </a:moveTo>
                <a:lnTo>
                  <a:pt x="15993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522907" y="3381099"/>
            <a:ext cx="406400" cy="0"/>
          </a:xfrm>
          <a:custGeom>
            <a:avLst/>
            <a:gdLst/>
            <a:ahLst/>
            <a:cxnLst/>
            <a:rect l="l" t="t" r="r" b="b"/>
            <a:pathLst>
              <a:path w="406400" h="0">
                <a:moveTo>
                  <a:pt x="0" y="0"/>
                </a:moveTo>
                <a:lnTo>
                  <a:pt x="406018" y="1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778636" y="3106441"/>
            <a:ext cx="175260" cy="213995"/>
          </a:xfrm>
          <a:custGeom>
            <a:avLst/>
            <a:gdLst/>
            <a:ahLst/>
            <a:cxnLst/>
            <a:rect l="l" t="t" r="r" b="b"/>
            <a:pathLst>
              <a:path w="175260" h="213995">
                <a:moveTo>
                  <a:pt x="174846" y="213571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355211" y="3294707"/>
            <a:ext cx="168275" cy="173355"/>
          </a:xfrm>
          <a:custGeom>
            <a:avLst/>
            <a:gdLst/>
            <a:ahLst/>
            <a:cxnLst/>
            <a:rect l="l" t="t" r="r" b="b"/>
            <a:pathLst>
              <a:path w="168275" h="173354">
                <a:moveTo>
                  <a:pt x="83847" y="0"/>
                </a:moveTo>
                <a:lnTo>
                  <a:pt x="51210" y="6789"/>
                </a:lnTo>
                <a:lnTo>
                  <a:pt x="24558" y="25303"/>
                </a:lnTo>
                <a:lnTo>
                  <a:pt x="6589" y="52764"/>
                </a:lnTo>
                <a:lnTo>
                  <a:pt x="0" y="86391"/>
                </a:lnTo>
                <a:lnTo>
                  <a:pt x="6589" y="120019"/>
                </a:lnTo>
                <a:lnTo>
                  <a:pt x="24558" y="147479"/>
                </a:lnTo>
                <a:lnTo>
                  <a:pt x="51210" y="165994"/>
                </a:lnTo>
                <a:lnTo>
                  <a:pt x="83847" y="172783"/>
                </a:lnTo>
                <a:lnTo>
                  <a:pt x="116485" y="165994"/>
                </a:lnTo>
                <a:lnTo>
                  <a:pt x="143137" y="147479"/>
                </a:lnTo>
                <a:lnTo>
                  <a:pt x="161106" y="120019"/>
                </a:lnTo>
                <a:lnTo>
                  <a:pt x="167695" y="86391"/>
                </a:lnTo>
                <a:lnTo>
                  <a:pt x="161106" y="52764"/>
                </a:lnTo>
                <a:lnTo>
                  <a:pt x="143137" y="25303"/>
                </a:lnTo>
                <a:lnTo>
                  <a:pt x="116485" y="6789"/>
                </a:lnTo>
                <a:lnTo>
                  <a:pt x="8384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33351" y="2956746"/>
            <a:ext cx="170815" cy="175895"/>
          </a:xfrm>
          <a:custGeom>
            <a:avLst/>
            <a:gdLst/>
            <a:ahLst/>
            <a:cxnLst/>
            <a:rect l="l" t="t" r="r" b="b"/>
            <a:pathLst>
              <a:path w="170814" h="175894">
                <a:moveTo>
                  <a:pt x="85106" y="0"/>
                </a:moveTo>
                <a:lnTo>
                  <a:pt x="51978" y="6891"/>
                </a:lnTo>
                <a:lnTo>
                  <a:pt x="24926" y="25683"/>
                </a:lnTo>
                <a:lnTo>
                  <a:pt x="6687" y="53556"/>
                </a:lnTo>
                <a:lnTo>
                  <a:pt x="0" y="87688"/>
                </a:lnTo>
                <a:lnTo>
                  <a:pt x="6687" y="121820"/>
                </a:lnTo>
                <a:lnTo>
                  <a:pt x="24926" y="149693"/>
                </a:lnTo>
                <a:lnTo>
                  <a:pt x="51978" y="168485"/>
                </a:lnTo>
                <a:lnTo>
                  <a:pt x="85106" y="175376"/>
                </a:lnTo>
                <a:lnTo>
                  <a:pt x="118233" y="168485"/>
                </a:lnTo>
                <a:lnTo>
                  <a:pt x="145285" y="149693"/>
                </a:lnTo>
                <a:lnTo>
                  <a:pt x="163524" y="121820"/>
                </a:lnTo>
                <a:lnTo>
                  <a:pt x="170213" y="87688"/>
                </a:lnTo>
                <a:lnTo>
                  <a:pt x="163524" y="53556"/>
                </a:lnTo>
                <a:lnTo>
                  <a:pt x="145285" y="25683"/>
                </a:lnTo>
                <a:lnTo>
                  <a:pt x="118233" y="6891"/>
                </a:lnTo>
                <a:lnTo>
                  <a:pt x="85106" y="0"/>
                </a:lnTo>
                <a:close/>
              </a:path>
            </a:pathLst>
          </a:custGeom>
          <a:solidFill>
            <a:srgbClr val="9A31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28924" y="3294707"/>
            <a:ext cx="168275" cy="173355"/>
          </a:xfrm>
          <a:custGeom>
            <a:avLst/>
            <a:gdLst/>
            <a:ahLst/>
            <a:cxnLst/>
            <a:rect l="l" t="t" r="r" b="b"/>
            <a:pathLst>
              <a:path w="168275" h="173354">
                <a:moveTo>
                  <a:pt x="83847" y="0"/>
                </a:moveTo>
                <a:lnTo>
                  <a:pt x="51210" y="6789"/>
                </a:lnTo>
                <a:lnTo>
                  <a:pt x="24558" y="25303"/>
                </a:lnTo>
                <a:lnTo>
                  <a:pt x="6589" y="52764"/>
                </a:lnTo>
                <a:lnTo>
                  <a:pt x="0" y="86391"/>
                </a:lnTo>
                <a:lnTo>
                  <a:pt x="6589" y="120019"/>
                </a:lnTo>
                <a:lnTo>
                  <a:pt x="24558" y="147479"/>
                </a:lnTo>
                <a:lnTo>
                  <a:pt x="51210" y="165994"/>
                </a:lnTo>
                <a:lnTo>
                  <a:pt x="83847" y="172783"/>
                </a:lnTo>
                <a:lnTo>
                  <a:pt x="116485" y="165994"/>
                </a:lnTo>
                <a:lnTo>
                  <a:pt x="143137" y="147479"/>
                </a:lnTo>
                <a:lnTo>
                  <a:pt x="161106" y="120019"/>
                </a:lnTo>
                <a:lnTo>
                  <a:pt x="167695" y="86391"/>
                </a:lnTo>
                <a:lnTo>
                  <a:pt x="161106" y="52764"/>
                </a:lnTo>
                <a:lnTo>
                  <a:pt x="143137" y="25303"/>
                </a:lnTo>
                <a:lnTo>
                  <a:pt x="116485" y="6789"/>
                </a:lnTo>
                <a:lnTo>
                  <a:pt x="838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30569" y="3806005"/>
            <a:ext cx="165100" cy="169545"/>
          </a:xfrm>
          <a:custGeom>
            <a:avLst/>
            <a:gdLst/>
            <a:ahLst/>
            <a:cxnLst/>
            <a:rect l="l" t="t" r="r" b="b"/>
            <a:pathLst>
              <a:path w="165100" h="169545">
                <a:moveTo>
                  <a:pt x="82265" y="0"/>
                </a:moveTo>
                <a:lnTo>
                  <a:pt x="50243" y="6660"/>
                </a:lnTo>
                <a:lnTo>
                  <a:pt x="24094" y="24825"/>
                </a:lnTo>
                <a:lnTo>
                  <a:pt x="6464" y="51768"/>
                </a:lnTo>
                <a:lnTo>
                  <a:pt x="0" y="84761"/>
                </a:lnTo>
                <a:lnTo>
                  <a:pt x="6464" y="117754"/>
                </a:lnTo>
                <a:lnTo>
                  <a:pt x="24094" y="144696"/>
                </a:lnTo>
                <a:lnTo>
                  <a:pt x="50243" y="162862"/>
                </a:lnTo>
                <a:lnTo>
                  <a:pt x="82265" y="169523"/>
                </a:lnTo>
                <a:lnTo>
                  <a:pt x="114287" y="162862"/>
                </a:lnTo>
                <a:lnTo>
                  <a:pt x="140436" y="144696"/>
                </a:lnTo>
                <a:lnTo>
                  <a:pt x="158066" y="117754"/>
                </a:lnTo>
                <a:lnTo>
                  <a:pt x="164531" y="84761"/>
                </a:lnTo>
                <a:lnTo>
                  <a:pt x="158066" y="51768"/>
                </a:lnTo>
                <a:lnTo>
                  <a:pt x="140436" y="24825"/>
                </a:lnTo>
                <a:lnTo>
                  <a:pt x="114287" y="6660"/>
                </a:lnTo>
                <a:lnTo>
                  <a:pt x="82265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29613" y="4473036"/>
            <a:ext cx="1011555" cy="1158240"/>
          </a:xfrm>
          <a:custGeom>
            <a:avLst/>
            <a:gdLst/>
            <a:ahLst/>
            <a:cxnLst/>
            <a:rect l="l" t="t" r="r" b="b"/>
            <a:pathLst>
              <a:path w="1011555" h="1158239">
                <a:moveTo>
                  <a:pt x="922240" y="0"/>
                </a:moveTo>
                <a:lnTo>
                  <a:pt x="89053" y="0"/>
                </a:lnTo>
                <a:lnTo>
                  <a:pt x="54389" y="6998"/>
                </a:lnTo>
                <a:lnTo>
                  <a:pt x="26083" y="26083"/>
                </a:lnTo>
                <a:lnTo>
                  <a:pt x="6998" y="54390"/>
                </a:lnTo>
                <a:lnTo>
                  <a:pt x="0" y="89054"/>
                </a:lnTo>
                <a:lnTo>
                  <a:pt x="0" y="1068909"/>
                </a:lnTo>
                <a:lnTo>
                  <a:pt x="6998" y="1103573"/>
                </a:lnTo>
                <a:lnTo>
                  <a:pt x="26083" y="1131880"/>
                </a:lnTo>
                <a:lnTo>
                  <a:pt x="54389" y="1150966"/>
                </a:lnTo>
                <a:lnTo>
                  <a:pt x="89053" y="1157964"/>
                </a:lnTo>
                <a:lnTo>
                  <a:pt x="922240" y="1157964"/>
                </a:lnTo>
                <a:lnTo>
                  <a:pt x="956905" y="1150966"/>
                </a:lnTo>
                <a:lnTo>
                  <a:pt x="985212" y="1131880"/>
                </a:lnTo>
                <a:lnTo>
                  <a:pt x="1004297" y="1103573"/>
                </a:lnTo>
                <a:lnTo>
                  <a:pt x="1011295" y="1068909"/>
                </a:lnTo>
                <a:lnTo>
                  <a:pt x="1011295" y="89054"/>
                </a:lnTo>
                <a:lnTo>
                  <a:pt x="1004297" y="54390"/>
                </a:lnTo>
                <a:lnTo>
                  <a:pt x="985212" y="26083"/>
                </a:lnTo>
                <a:lnTo>
                  <a:pt x="956905" y="6998"/>
                </a:lnTo>
                <a:lnTo>
                  <a:pt x="922240" y="0"/>
                </a:lnTo>
                <a:close/>
              </a:path>
            </a:pathLst>
          </a:custGeom>
          <a:solidFill>
            <a:srgbClr val="FAE7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14603" y="4762908"/>
            <a:ext cx="241935" cy="262890"/>
          </a:xfrm>
          <a:custGeom>
            <a:avLst/>
            <a:gdLst/>
            <a:ahLst/>
            <a:cxnLst/>
            <a:rect l="l" t="t" r="r" b="b"/>
            <a:pathLst>
              <a:path w="241935" h="262889">
                <a:moveTo>
                  <a:pt x="241319" y="0"/>
                </a:moveTo>
                <a:lnTo>
                  <a:pt x="0" y="262467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423124" y="4820080"/>
            <a:ext cx="182880" cy="175260"/>
          </a:xfrm>
          <a:custGeom>
            <a:avLst/>
            <a:gdLst/>
            <a:ahLst/>
            <a:cxnLst/>
            <a:rect l="l" t="t" r="r" b="b"/>
            <a:pathLst>
              <a:path w="182880" h="175260">
                <a:moveTo>
                  <a:pt x="0" y="174781"/>
                </a:moveTo>
                <a:lnTo>
                  <a:pt x="182336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386926" y="5064931"/>
            <a:ext cx="107314" cy="286385"/>
          </a:xfrm>
          <a:custGeom>
            <a:avLst/>
            <a:gdLst/>
            <a:ahLst/>
            <a:cxnLst/>
            <a:rect l="l" t="t" r="r" b="b"/>
            <a:pathLst>
              <a:path w="107314" h="286385">
                <a:moveTo>
                  <a:pt x="106795" y="285931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605460" y="4820080"/>
            <a:ext cx="195580" cy="175260"/>
          </a:xfrm>
          <a:custGeom>
            <a:avLst/>
            <a:gdLst/>
            <a:ahLst/>
            <a:cxnLst/>
            <a:rect l="l" t="t" r="r" b="b"/>
            <a:pathLst>
              <a:path w="195580" h="175260">
                <a:moveTo>
                  <a:pt x="195178" y="174780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805855" y="5088841"/>
            <a:ext cx="0" cy="203835"/>
          </a:xfrm>
          <a:custGeom>
            <a:avLst/>
            <a:gdLst/>
            <a:ahLst/>
            <a:cxnLst/>
            <a:rect l="l" t="t" r="r" b="b"/>
            <a:pathLst>
              <a:path w="0" h="203835">
                <a:moveTo>
                  <a:pt x="0" y="203805"/>
                </a:moveTo>
                <a:lnTo>
                  <a:pt x="1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464512" y="5026576"/>
            <a:ext cx="275590" cy="0"/>
          </a:xfrm>
          <a:custGeom>
            <a:avLst/>
            <a:gdLst/>
            <a:ahLst/>
            <a:cxnLst/>
            <a:rect l="l" t="t" r="r" b="b"/>
            <a:pathLst>
              <a:path w="275589" h="0">
                <a:moveTo>
                  <a:pt x="0" y="0"/>
                </a:moveTo>
                <a:lnTo>
                  <a:pt x="275035" y="0"/>
                </a:lnTo>
              </a:path>
            </a:pathLst>
          </a:custGeom>
          <a:ln w="53202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01469" y="4834828"/>
            <a:ext cx="97790" cy="530860"/>
          </a:xfrm>
          <a:custGeom>
            <a:avLst/>
            <a:gdLst/>
            <a:ahLst/>
            <a:cxnLst/>
            <a:rect l="l" t="t" r="r" b="b"/>
            <a:pathLst>
              <a:path w="97789" h="530860">
                <a:moveTo>
                  <a:pt x="0" y="530782"/>
                </a:moveTo>
                <a:lnTo>
                  <a:pt x="97784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332699" y="4964681"/>
            <a:ext cx="132080" cy="121920"/>
          </a:xfrm>
          <a:custGeom>
            <a:avLst/>
            <a:gdLst/>
            <a:ahLst/>
            <a:cxnLst/>
            <a:rect l="l" t="t" r="r" b="b"/>
            <a:pathLst>
              <a:path w="132080" h="121920">
                <a:moveTo>
                  <a:pt x="0" y="0"/>
                </a:moveTo>
                <a:lnTo>
                  <a:pt x="131813" y="0"/>
                </a:lnTo>
                <a:lnTo>
                  <a:pt x="131813" y="121389"/>
                </a:lnTo>
                <a:lnTo>
                  <a:pt x="0" y="121389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739547" y="4966713"/>
            <a:ext cx="132715" cy="122555"/>
          </a:xfrm>
          <a:custGeom>
            <a:avLst/>
            <a:gdLst/>
            <a:ahLst/>
            <a:cxnLst/>
            <a:rect l="l" t="t" r="r" b="b"/>
            <a:pathLst>
              <a:path w="132714" h="122554">
                <a:moveTo>
                  <a:pt x="0" y="0"/>
                </a:moveTo>
                <a:lnTo>
                  <a:pt x="132615" y="0"/>
                </a:lnTo>
                <a:lnTo>
                  <a:pt x="132615" y="122129"/>
                </a:lnTo>
                <a:lnTo>
                  <a:pt x="0" y="122129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427814" y="5290167"/>
            <a:ext cx="132080" cy="121920"/>
          </a:xfrm>
          <a:custGeom>
            <a:avLst/>
            <a:gdLst/>
            <a:ahLst/>
            <a:cxnLst/>
            <a:rect l="l" t="t" r="r" b="b"/>
            <a:pathLst>
              <a:path w="132080" h="121920">
                <a:moveTo>
                  <a:pt x="0" y="0"/>
                </a:moveTo>
                <a:lnTo>
                  <a:pt x="131813" y="0"/>
                </a:lnTo>
                <a:lnTo>
                  <a:pt x="131813" y="121390"/>
                </a:lnTo>
                <a:lnTo>
                  <a:pt x="0" y="121390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739948" y="5292646"/>
            <a:ext cx="132080" cy="121920"/>
          </a:xfrm>
          <a:custGeom>
            <a:avLst/>
            <a:gdLst/>
            <a:ahLst/>
            <a:cxnLst/>
            <a:rect l="l" t="t" r="r" b="b"/>
            <a:pathLst>
              <a:path w="132080" h="121920">
                <a:moveTo>
                  <a:pt x="0" y="0"/>
                </a:moveTo>
                <a:lnTo>
                  <a:pt x="131813" y="0"/>
                </a:lnTo>
                <a:lnTo>
                  <a:pt x="131813" y="121390"/>
                </a:lnTo>
                <a:lnTo>
                  <a:pt x="0" y="121390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994935" y="4700328"/>
            <a:ext cx="132080" cy="121920"/>
          </a:xfrm>
          <a:custGeom>
            <a:avLst/>
            <a:gdLst/>
            <a:ahLst/>
            <a:cxnLst/>
            <a:rect l="l" t="t" r="r" b="b"/>
            <a:pathLst>
              <a:path w="132080" h="121920">
                <a:moveTo>
                  <a:pt x="0" y="0"/>
                </a:moveTo>
                <a:lnTo>
                  <a:pt x="131813" y="0"/>
                </a:lnTo>
                <a:lnTo>
                  <a:pt x="131813" y="121389"/>
                </a:lnTo>
                <a:lnTo>
                  <a:pt x="0" y="12138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536996" y="4710019"/>
            <a:ext cx="132080" cy="121920"/>
          </a:xfrm>
          <a:custGeom>
            <a:avLst/>
            <a:gdLst/>
            <a:ahLst/>
            <a:cxnLst/>
            <a:rect l="l" t="t" r="r" b="b"/>
            <a:pathLst>
              <a:path w="132080" h="121920">
                <a:moveTo>
                  <a:pt x="0" y="0"/>
                </a:moveTo>
                <a:lnTo>
                  <a:pt x="131813" y="0"/>
                </a:lnTo>
                <a:lnTo>
                  <a:pt x="131813" y="121389"/>
                </a:lnTo>
                <a:lnTo>
                  <a:pt x="0" y="121389"/>
                </a:lnTo>
                <a:lnTo>
                  <a:pt x="0" y="0"/>
                </a:lnTo>
                <a:close/>
              </a:path>
            </a:pathLst>
          </a:custGeom>
          <a:solidFill>
            <a:srgbClr val="9A31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446803" y="4992115"/>
            <a:ext cx="120396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927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2060"/>
                </a:solidFill>
                <a:latin typeface="Calibri"/>
                <a:cs typeface="Calibri"/>
              </a:rPr>
              <a:t>Ancho</a:t>
            </a:r>
            <a:r>
              <a:rPr dirty="0" sz="1800" b="1">
                <a:solidFill>
                  <a:srgbClr val="002060"/>
                </a:solidFill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25" b="1">
                <a:solidFill>
                  <a:srgbClr val="C00000"/>
                </a:solidFill>
                <a:latin typeface="Arial"/>
                <a:cs typeface="Arial"/>
              </a:rPr>
              <a:t>Target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03581" y="2581148"/>
            <a:ext cx="1318895" cy="763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Query</a:t>
            </a:r>
            <a:endParaRPr sz="1800">
              <a:latin typeface="Arial"/>
              <a:cs typeface="Arial"/>
            </a:endParaRPr>
          </a:p>
          <a:p>
            <a:pPr marL="624205">
              <a:lnSpc>
                <a:spcPct val="100000"/>
              </a:lnSpc>
              <a:spcBef>
                <a:spcPts val="1485"/>
              </a:spcBef>
            </a:pPr>
            <a:r>
              <a:rPr dirty="0" sz="1800" spc="-5" b="1">
                <a:solidFill>
                  <a:srgbClr val="002060"/>
                </a:solidFill>
                <a:latin typeface="Calibri"/>
                <a:cs typeface="Calibri"/>
              </a:rPr>
              <a:t>Ancho</a:t>
            </a:r>
            <a:r>
              <a:rPr dirty="0" sz="1800" b="1">
                <a:solidFill>
                  <a:srgbClr val="002060"/>
                </a:solidFill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993238" y="3232759"/>
            <a:ext cx="528320" cy="300355"/>
          </a:xfrm>
          <a:custGeom>
            <a:avLst/>
            <a:gdLst/>
            <a:ahLst/>
            <a:cxnLst/>
            <a:rect l="l" t="t" r="r" b="b"/>
            <a:pathLst>
              <a:path w="528320" h="300354">
                <a:moveTo>
                  <a:pt x="377706" y="0"/>
                </a:moveTo>
                <a:lnTo>
                  <a:pt x="377706" y="75034"/>
                </a:lnTo>
                <a:lnTo>
                  <a:pt x="0" y="75034"/>
                </a:lnTo>
                <a:lnTo>
                  <a:pt x="0" y="225101"/>
                </a:lnTo>
                <a:lnTo>
                  <a:pt x="377706" y="225101"/>
                </a:lnTo>
                <a:lnTo>
                  <a:pt x="377706" y="300134"/>
                </a:lnTo>
                <a:lnTo>
                  <a:pt x="527773" y="150067"/>
                </a:lnTo>
                <a:lnTo>
                  <a:pt x="37770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993236" y="4710796"/>
            <a:ext cx="528320" cy="300355"/>
          </a:xfrm>
          <a:custGeom>
            <a:avLst/>
            <a:gdLst/>
            <a:ahLst/>
            <a:cxnLst/>
            <a:rect l="l" t="t" r="r" b="b"/>
            <a:pathLst>
              <a:path w="528320" h="300354">
                <a:moveTo>
                  <a:pt x="377706" y="0"/>
                </a:moveTo>
                <a:lnTo>
                  <a:pt x="377706" y="75032"/>
                </a:lnTo>
                <a:lnTo>
                  <a:pt x="0" y="75032"/>
                </a:lnTo>
                <a:lnTo>
                  <a:pt x="0" y="225099"/>
                </a:lnTo>
                <a:lnTo>
                  <a:pt x="377706" y="225099"/>
                </a:lnTo>
                <a:lnTo>
                  <a:pt x="377706" y="300134"/>
                </a:lnTo>
                <a:lnTo>
                  <a:pt x="527773" y="150067"/>
                </a:lnTo>
                <a:lnTo>
                  <a:pt x="37770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682659" y="4912925"/>
            <a:ext cx="235585" cy="235585"/>
          </a:xfrm>
          <a:custGeom>
            <a:avLst/>
            <a:gdLst/>
            <a:ahLst/>
            <a:cxnLst/>
            <a:rect l="l" t="t" r="r" b="b"/>
            <a:pathLst>
              <a:path w="235585" h="235585">
                <a:moveTo>
                  <a:pt x="118043" y="0"/>
                </a:moveTo>
                <a:lnTo>
                  <a:pt x="117190" y="0"/>
                </a:lnTo>
                <a:lnTo>
                  <a:pt x="94358" y="2301"/>
                </a:lnTo>
                <a:lnTo>
                  <a:pt x="52194" y="19862"/>
                </a:lnTo>
                <a:lnTo>
                  <a:pt x="20321" y="51515"/>
                </a:lnTo>
                <a:lnTo>
                  <a:pt x="2471" y="93522"/>
                </a:lnTo>
                <a:lnTo>
                  <a:pt x="0" y="117190"/>
                </a:lnTo>
                <a:lnTo>
                  <a:pt x="86" y="118891"/>
                </a:lnTo>
                <a:lnTo>
                  <a:pt x="9083" y="163007"/>
                </a:lnTo>
                <a:lnTo>
                  <a:pt x="34164" y="200496"/>
                </a:lnTo>
                <a:lnTo>
                  <a:pt x="71460" y="225828"/>
                </a:lnTo>
                <a:lnTo>
                  <a:pt x="117190" y="235234"/>
                </a:lnTo>
                <a:lnTo>
                  <a:pt x="118043" y="235234"/>
                </a:lnTo>
                <a:lnTo>
                  <a:pt x="163008" y="226151"/>
                </a:lnTo>
                <a:lnTo>
                  <a:pt x="174586" y="219960"/>
                </a:lnTo>
                <a:lnTo>
                  <a:pt x="117617" y="219960"/>
                </a:lnTo>
                <a:lnTo>
                  <a:pt x="96986" y="217879"/>
                </a:lnTo>
                <a:lnTo>
                  <a:pt x="60396" y="202482"/>
                </a:lnTo>
                <a:lnTo>
                  <a:pt x="32752" y="174838"/>
                </a:lnTo>
                <a:lnTo>
                  <a:pt x="17354" y="138248"/>
                </a:lnTo>
                <a:lnTo>
                  <a:pt x="15317" y="118043"/>
                </a:lnTo>
                <a:lnTo>
                  <a:pt x="15317" y="117190"/>
                </a:lnTo>
                <a:lnTo>
                  <a:pt x="23317" y="77778"/>
                </a:lnTo>
                <a:lnTo>
                  <a:pt x="45248" y="45248"/>
                </a:lnTo>
                <a:lnTo>
                  <a:pt x="77779" y="23315"/>
                </a:lnTo>
                <a:lnTo>
                  <a:pt x="117617" y="15274"/>
                </a:lnTo>
                <a:lnTo>
                  <a:pt x="174587" y="15274"/>
                </a:lnTo>
                <a:lnTo>
                  <a:pt x="163775" y="9405"/>
                </a:lnTo>
                <a:lnTo>
                  <a:pt x="163007" y="9081"/>
                </a:lnTo>
                <a:lnTo>
                  <a:pt x="141711" y="2471"/>
                </a:lnTo>
                <a:lnTo>
                  <a:pt x="140877" y="2301"/>
                </a:lnTo>
                <a:lnTo>
                  <a:pt x="118043" y="0"/>
                </a:lnTo>
                <a:close/>
              </a:path>
              <a:path w="235585" h="235585">
                <a:moveTo>
                  <a:pt x="174587" y="15274"/>
                </a:moveTo>
                <a:lnTo>
                  <a:pt x="117617" y="15274"/>
                </a:lnTo>
                <a:lnTo>
                  <a:pt x="138248" y="17353"/>
                </a:lnTo>
                <a:lnTo>
                  <a:pt x="157455" y="23315"/>
                </a:lnTo>
                <a:lnTo>
                  <a:pt x="189985" y="45248"/>
                </a:lnTo>
                <a:lnTo>
                  <a:pt x="211918" y="77778"/>
                </a:lnTo>
                <a:lnTo>
                  <a:pt x="219918" y="117190"/>
                </a:lnTo>
                <a:lnTo>
                  <a:pt x="219918" y="118043"/>
                </a:lnTo>
                <a:lnTo>
                  <a:pt x="211918" y="157455"/>
                </a:lnTo>
                <a:lnTo>
                  <a:pt x="189985" y="189985"/>
                </a:lnTo>
                <a:lnTo>
                  <a:pt x="157455" y="211918"/>
                </a:lnTo>
                <a:lnTo>
                  <a:pt x="117617" y="219960"/>
                </a:lnTo>
                <a:lnTo>
                  <a:pt x="174586" y="219960"/>
                </a:lnTo>
                <a:lnTo>
                  <a:pt x="214914" y="183718"/>
                </a:lnTo>
                <a:lnTo>
                  <a:pt x="232764" y="141710"/>
                </a:lnTo>
                <a:lnTo>
                  <a:pt x="235235" y="117190"/>
                </a:lnTo>
                <a:lnTo>
                  <a:pt x="232933" y="94357"/>
                </a:lnTo>
                <a:lnTo>
                  <a:pt x="215371" y="52193"/>
                </a:lnTo>
                <a:lnTo>
                  <a:pt x="183719" y="20319"/>
                </a:lnTo>
                <a:lnTo>
                  <a:pt x="183041" y="19862"/>
                </a:lnTo>
                <a:lnTo>
                  <a:pt x="174587" y="15274"/>
                </a:lnTo>
                <a:close/>
              </a:path>
              <a:path w="235585" h="235585">
                <a:moveTo>
                  <a:pt x="117617" y="20379"/>
                </a:moveTo>
                <a:lnTo>
                  <a:pt x="79763" y="28018"/>
                </a:lnTo>
                <a:lnTo>
                  <a:pt x="36982" y="63249"/>
                </a:lnTo>
                <a:lnTo>
                  <a:pt x="20423" y="117190"/>
                </a:lnTo>
                <a:lnTo>
                  <a:pt x="20423" y="118043"/>
                </a:lnTo>
                <a:lnTo>
                  <a:pt x="28020" y="155472"/>
                </a:lnTo>
                <a:lnTo>
                  <a:pt x="63251" y="198252"/>
                </a:lnTo>
                <a:lnTo>
                  <a:pt x="117617" y="214854"/>
                </a:lnTo>
                <a:lnTo>
                  <a:pt x="137231" y="212877"/>
                </a:lnTo>
                <a:lnTo>
                  <a:pt x="147310" y="209748"/>
                </a:lnTo>
                <a:lnTo>
                  <a:pt x="117617" y="209748"/>
                </a:lnTo>
                <a:lnTo>
                  <a:pt x="99023" y="207873"/>
                </a:lnTo>
                <a:lnTo>
                  <a:pt x="52466" y="182768"/>
                </a:lnTo>
                <a:lnTo>
                  <a:pt x="27360" y="136212"/>
                </a:lnTo>
                <a:lnTo>
                  <a:pt x="25529" y="118043"/>
                </a:lnTo>
                <a:lnTo>
                  <a:pt x="25529" y="117190"/>
                </a:lnTo>
                <a:lnTo>
                  <a:pt x="41212" y="66104"/>
                </a:lnTo>
                <a:lnTo>
                  <a:pt x="81747" y="32722"/>
                </a:lnTo>
                <a:lnTo>
                  <a:pt x="117617" y="25485"/>
                </a:lnTo>
                <a:lnTo>
                  <a:pt x="147309" y="25485"/>
                </a:lnTo>
                <a:lnTo>
                  <a:pt x="137231" y="22357"/>
                </a:lnTo>
                <a:lnTo>
                  <a:pt x="117617" y="20379"/>
                </a:lnTo>
                <a:close/>
              </a:path>
              <a:path w="235585" h="235585">
                <a:moveTo>
                  <a:pt x="147309" y="25485"/>
                </a:moveTo>
                <a:lnTo>
                  <a:pt x="117617" y="25485"/>
                </a:lnTo>
                <a:lnTo>
                  <a:pt x="136212" y="27359"/>
                </a:lnTo>
                <a:lnTo>
                  <a:pt x="153539" y="32750"/>
                </a:lnTo>
                <a:lnTo>
                  <a:pt x="194022" y="66104"/>
                </a:lnTo>
                <a:lnTo>
                  <a:pt x="209706" y="117190"/>
                </a:lnTo>
                <a:lnTo>
                  <a:pt x="209706" y="118043"/>
                </a:lnTo>
                <a:lnTo>
                  <a:pt x="194022" y="169128"/>
                </a:lnTo>
                <a:lnTo>
                  <a:pt x="153488" y="202511"/>
                </a:lnTo>
                <a:lnTo>
                  <a:pt x="117617" y="209748"/>
                </a:lnTo>
                <a:lnTo>
                  <a:pt x="147310" y="209748"/>
                </a:lnTo>
                <a:lnTo>
                  <a:pt x="186377" y="186376"/>
                </a:lnTo>
                <a:lnTo>
                  <a:pt x="212877" y="137229"/>
                </a:lnTo>
                <a:lnTo>
                  <a:pt x="214811" y="117190"/>
                </a:lnTo>
                <a:lnTo>
                  <a:pt x="212877" y="98003"/>
                </a:lnTo>
                <a:lnTo>
                  <a:pt x="186377" y="48856"/>
                </a:lnTo>
                <a:lnTo>
                  <a:pt x="155472" y="28018"/>
                </a:lnTo>
                <a:lnTo>
                  <a:pt x="147309" y="25485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887251" y="3257160"/>
            <a:ext cx="248285" cy="248285"/>
          </a:xfrm>
          <a:custGeom>
            <a:avLst/>
            <a:gdLst/>
            <a:ahLst/>
            <a:cxnLst/>
            <a:rect l="l" t="t" r="r" b="b"/>
            <a:pathLst>
              <a:path w="248285" h="248285">
                <a:moveTo>
                  <a:pt x="123424" y="0"/>
                </a:moveTo>
                <a:lnTo>
                  <a:pt x="76150" y="9554"/>
                </a:lnTo>
                <a:lnTo>
                  <a:pt x="36600" y="36026"/>
                </a:lnTo>
                <a:lnTo>
                  <a:pt x="9878" y="75383"/>
                </a:lnTo>
                <a:lnTo>
                  <a:pt x="0" y="124705"/>
                </a:lnTo>
                <a:lnTo>
                  <a:pt x="704" y="137368"/>
                </a:lnTo>
                <a:lnTo>
                  <a:pt x="20933" y="193114"/>
                </a:lnTo>
                <a:lnTo>
                  <a:pt x="54338" y="226739"/>
                </a:lnTo>
                <a:lnTo>
                  <a:pt x="98456" y="245499"/>
                </a:lnTo>
                <a:lnTo>
                  <a:pt x="124705" y="248130"/>
                </a:lnTo>
                <a:lnTo>
                  <a:pt x="137369" y="247425"/>
                </a:lnTo>
                <a:lnTo>
                  <a:pt x="182590" y="232909"/>
                </a:lnTo>
                <a:lnTo>
                  <a:pt x="123936" y="232909"/>
                </a:lnTo>
                <a:lnTo>
                  <a:pt x="112805" y="232333"/>
                </a:lnTo>
                <a:lnTo>
                  <a:pt x="63218" y="214308"/>
                </a:lnTo>
                <a:lnTo>
                  <a:pt x="33821" y="184912"/>
                </a:lnTo>
                <a:lnTo>
                  <a:pt x="17429" y="145940"/>
                </a:lnTo>
                <a:lnTo>
                  <a:pt x="15247" y="123423"/>
                </a:lnTo>
                <a:lnTo>
                  <a:pt x="15796" y="112805"/>
                </a:lnTo>
                <a:lnTo>
                  <a:pt x="33821" y="63218"/>
                </a:lnTo>
                <a:lnTo>
                  <a:pt x="63218" y="33821"/>
                </a:lnTo>
                <a:lnTo>
                  <a:pt x="102189" y="17429"/>
                </a:lnTo>
                <a:lnTo>
                  <a:pt x="124193" y="15220"/>
                </a:lnTo>
                <a:lnTo>
                  <a:pt x="182590" y="15220"/>
                </a:lnTo>
                <a:lnTo>
                  <a:pt x="172746" y="9878"/>
                </a:lnTo>
                <a:lnTo>
                  <a:pt x="171978" y="9554"/>
                </a:lnTo>
                <a:lnTo>
                  <a:pt x="149672" y="2630"/>
                </a:lnTo>
                <a:lnTo>
                  <a:pt x="149054" y="2487"/>
                </a:lnTo>
                <a:lnTo>
                  <a:pt x="136093" y="575"/>
                </a:lnTo>
                <a:lnTo>
                  <a:pt x="123424" y="0"/>
                </a:lnTo>
                <a:close/>
              </a:path>
              <a:path w="248285" h="248285">
                <a:moveTo>
                  <a:pt x="182590" y="15220"/>
                </a:moveTo>
                <a:lnTo>
                  <a:pt x="124193" y="15220"/>
                </a:lnTo>
                <a:lnTo>
                  <a:pt x="135324" y="15794"/>
                </a:lnTo>
                <a:lnTo>
                  <a:pt x="145940" y="17429"/>
                </a:lnTo>
                <a:lnTo>
                  <a:pt x="184912" y="33821"/>
                </a:lnTo>
                <a:lnTo>
                  <a:pt x="214308" y="63218"/>
                </a:lnTo>
                <a:lnTo>
                  <a:pt x="230700" y="102189"/>
                </a:lnTo>
                <a:lnTo>
                  <a:pt x="232882" y="124705"/>
                </a:lnTo>
                <a:lnTo>
                  <a:pt x="232333" y="135324"/>
                </a:lnTo>
                <a:lnTo>
                  <a:pt x="214308" y="184912"/>
                </a:lnTo>
                <a:lnTo>
                  <a:pt x="184912" y="214308"/>
                </a:lnTo>
                <a:lnTo>
                  <a:pt x="145940" y="230700"/>
                </a:lnTo>
                <a:lnTo>
                  <a:pt x="123936" y="232909"/>
                </a:lnTo>
                <a:lnTo>
                  <a:pt x="182590" y="232909"/>
                </a:lnTo>
                <a:lnTo>
                  <a:pt x="226739" y="193791"/>
                </a:lnTo>
                <a:lnTo>
                  <a:pt x="245499" y="149672"/>
                </a:lnTo>
                <a:lnTo>
                  <a:pt x="248130" y="123423"/>
                </a:lnTo>
                <a:lnTo>
                  <a:pt x="247425" y="110760"/>
                </a:lnTo>
                <a:lnTo>
                  <a:pt x="227196" y="55015"/>
                </a:lnTo>
                <a:lnTo>
                  <a:pt x="193791" y="21390"/>
                </a:lnTo>
                <a:lnTo>
                  <a:pt x="192995" y="20868"/>
                </a:lnTo>
                <a:lnTo>
                  <a:pt x="182590" y="15220"/>
                </a:lnTo>
                <a:close/>
              </a:path>
              <a:path w="248285" h="248285">
                <a:moveTo>
                  <a:pt x="124448" y="20294"/>
                </a:moveTo>
                <a:lnTo>
                  <a:pt x="83685" y="28491"/>
                </a:lnTo>
                <a:lnTo>
                  <a:pt x="50719" y="50718"/>
                </a:lnTo>
                <a:lnTo>
                  <a:pt x="28491" y="83685"/>
                </a:lnTo>
                <a:lnTo>
                  <a:pt x="20308" y="123423"/>
                </a:lnTo>
                <a:lnTo>
                  <a:pt x="20342" y="124705"/>
                </a:lnTo>
                <a:lnTo>
                  <a:pt x="28491" y="164443"/>
                </a:lnTo>
                <a:lnTo>
                  <a:pt x="50719" y="197410"/>
                </a:lnTo>
                <a:lnTo>
                  <a:pt x="83686" y="219637"/>
                </a:lnTo>
                <a:lnTo>
                  <a:pt x="123680" y="227835"/>
                </a:lnTo>
                <a:lnTo>
                  <a:pt x="134303" y="227337"/>
                </a:lnTo>
                <a:lnTo>
                  <a:pt x="144797" y="225736"/>
                </a:lnTo>
                <a:lnTo>
                  <a:pt x="154379" y="222761"/>
                </a:lnTo>
                <a:lnTo>
                  <a:pt x="123424" y="222761"/>
                </a:lnTo>
                <a:lnTo>
                  <a:pt x="113317" y="222186"/>
                </a:lnTo>
                <a:lnTo>
                  <a:pt x="68926" y="205846"/>
                </a:lnTo>
                <a:lnTo>
                  <a:pt x="33195" y="162459"/>
                </a:lnTo>
                <a:lnTo>
                  <a:pt x="25368" y="123423"/>
                </a:lnTo>
                <a:lnTo>
                  <a:pt x="25869" y="114593"/>
                </a:lnTo>
                <a:lnTo>
                  <a:pt x="42282" y="68926"/>
                </a:lnTo>
                <a:lnTo>
                  <a:pt x="85670" y="33195"/>
                </a:lnTo>
                <a:lnTo>
                  <a:pt x="124705" y="25366"/>
                </a:lnTo>
                <a:lnTo>
                  <a:pt x="154377" y="25366"/>
                </a:lnTo>
                <a:lnTo>
                  <a:pt x="144797" y="22393"/>
                </a:lnTo>
                <a:lnTo>
                  <a:pt x="135068" y="20868"/>
                </a:lnTo>
                <a:lnTo>
                  <a:pt x="124448" y="20294"/>
                </a:lnTo>
                <a:close/>
              </a:path>
              <a:path w="248285" h="248285">
                <a:moveTo>
                  <a:pt x="154377" y="25366"/>
                </a:moveTo>
                <a:lnTo>
                  <a:pt x="124705" y="25366"/>
                </a:lnTo>
                <a:lnTo>
                  <a:pt x="134813" y="25942"/>
                </a:lnTo>
                <a:lnTo>
                  <a:pt x="143656" y="27358"/>
                </a:lnTo>
                <a:lnTo>
                  <a:pt x="179202" y="42282"/>
                </a:lnTo>
                <a:lnTo>
                  <a:pt x="214934" y="85669"/>
                </a:lnTo>
                <a:lnTo>
                  <a:pt x="222761" y="124705"/>
                </a:lnTo>
                <a:lnTo>
                  <a:pt x="222215" y="134303"/>
                </a:lnTo>
                <a:lnTo>
                  <a:pt x="205846" y="179202"/>
                </a:lnTo>
                <a:lnTo>
                  <a:pt x="162459" y="214934"/>
                </a:lnTo>
                <a:lnTo>
                  <a:pt x="123424" y="222761"/>
                </a:lnTo>
                <a:lnTo>
                  <a:pt x="154379" y="222761"/>
                </a:lnTo>
                <a:lnTo>
                  <a:pt x="197410" y="197410"/>
                </a:lnTo>
                <a:lnTo>
                  <a:pt x="219637" y="164443"/>
                </a:lnTo>
                <a:lnTo>
                  <a:pt x="227821" y="124705"/>
                </a:lnTo>
                <a:lnTo>
                  <a:pt x="227787" y="123423"/>
                </a:lnTo>
                <a:lnTo>
                  <a:pt x="219637" y="83685"/>
                </a:lnTo>
                <a:lnTo>
                  <a:pt x="197410" y="50718"/>
                </a:lnTo>
                <a:lnTo>
                  <a:pt x="164443" y="28491"/>
                </a:lnTo>
                <a:lnTo>
                  <a:pt x="154377" y="2536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278420" y="2725315"/>
            <a:ext cx="160020" cy="160020"/>
          </a:xfrm>
          <a:custGeom>
            <a:avLst/>
            <a:gdLst/>
            <a:ahLst/>
            <a:cxnLst/>
            <a:rect l="l" t="t" r="r" b="b"/>
            <a:pathLst>
              <a:path w="160020" h="160019">
                <a:moveTo>
                  <a:pt x="79907" y="0"/>
                </a:moveTo>
                <a:lnTo>
                  <a:pt x="48803" y="6279"/>
                </a:lnTo>
                <a:lnTo>
                  <a:pt x="23404" y="23404"/>
                </a:lnTo>
                <a:lnTo>
                  <a:pt x="6279" y="48803"/>
                </a:lnTo>
                <a:lnTo>
                  <a:pt x="0" y="79907"/>
                </a:lnTo>
                <a:lnTo>
                  <a:pt x="6279" y="111011"/>
                </a:lnTo>
                <a:lnTo>
                  <a:pt x="23404" y="136411"/>
                </a:lnTo>
                <a:lnTo>
                  <a:pt x="48803" y="153535"/>
                </a:lnTo>
                <a:lnTo>
                  <a:pt x="79907" y="159815"/>
                </a:lnTo>
                <a:lnTo>
                  <a:pt x="111010" y="153535"/>
                </a:lnTo>
                <a:lnTo>
                  <a:pt x="136409" y="136411"/>
                </a:lnTo>
                <a:lnTo>
                  <a:pt x="153534" y="111011"/>
                </a:lnTo>
                <a:lnTo>
                  <a:pt x="159814" y="79907"/>
                </a:lnTo>
                <a:lnTo>
                  <a:pt x="153534" y="48803"/>
                </a:lnTo>
                <a:lnTo>
                  <a:pt x="136409" y="23404"/>
                </a:lnTo>
                <a:lnTo>
                  <a:pt x="111010" y="6279"/>
                </a:lnTo>
                <a:lnTo>
                  <a:pt x="7990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840490" y="3034823"/>
            <a:ext cx="115570" cy="832485"/>
          </a:xfrm>
          <a:custGeom>
            <a:avLst/>
            <a:gdLst/>
            <a:ahLst/>
            <a:cxnLst/>
            <a:rect l="l" t="t" r="r" b="b"/>
            <a:pathLst>
              <a:path w="115570" h="832485">
                <a:moveTo>
                  <a:pt x="0" y="0"/>
                </a:moveTo>
                <a:lnTo>
                  <a:pt x="115023" y="0"/>
                </a:lnTo>
                <a:lnTo>
                  <a:pt x="115023" y="832172"/>
                </a:lnTo>
                <a:lnTo>
                  <a:pt x="0" y="832172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830235" y="4485480"/>
            <a:ext cx="115570" cy="832485"/>
          </a:xfrm>
          <a:custGeom>
            <a:avLst/>
            <a:gdLst/>
            <a:ahLst/>
            <a:cxnLst/>
            <a:rect l="l" t="t" r="r" b="b"/>
            <a:pathLst>
              <a:path w="115570" h="832485">
                <a:moveTo>
                  <a:pt x="0" y="0"/>
                </a:moveTo>
                <a:lnTo>
                  <a:pt x="115023" y="0"/>
                </a:lnTo>
                <a:lnTo>
                  <a:pt x="115023" y="832171"/>
                </a:lnTo>
                <a:lnTo>
                  <a:pt x="0" y="83217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3929923" y="2670555"/>
            <a:ext cx="12782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Embedding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of</a:t>
            </a:r>
            <a:endParaRPr sz="16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295779" y="4185419"/>
            <a:ext cx="167640" cy="167640"/>
          </a:xfrm>
          <a:custGeom>
            <a:avLst/>
            <a:gdLst/>
            <a:ahLst/>
            <a:cxnLst/>
            <a:rect l="l" t="t" r="r" b="b"/>
            <a:pathLst>
              <a:path w="167639" h="167639">
                <a:moveTo>
                  <a:pt x="0" y="0"/>
                </a:moveTo>
                <a:lnTo>
                  <a:pt x="167593" y="0"/>
                </a:lnTo>
                <a:lnTo>
                  <a:pt x="167593" y="167594"/>
                </a:lnTo>
                <a:lnTo>
                  <a:pt x="0" y="167594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644676" y="3205047"/>
            <a:ext cx="189230" cy="1852295"/>
          </a:xfrm>
          <a:custGeom>
            <a:avLst/>
            <a:gdLst/>
            <a:ahLst/>
            <a:cxnLst/>
            <a:rect l="l" t="t" r="r" b="b"/>
            <a:pathLst>
              <a:path w="189229" h="1852295">
                <a:moveTo>
                  <a:pt x="0" y="0"/>
                </a:moveTo>
                <a:lnTo>
                  <a:pt x="55769" y="37413"/>
                </a:lnTo>
                <a:lnTo>
                  <a:pt x="76210" y="79390"/>
                </a:lnTo>
                <a:lnTo>
                  <a:pt x="89615" y="132620"/>
                </a:lnTo>
                <a:lnTo>
                  <a:pt x="94430" y="193912"/>
                </a:lnTo>
                <a:lnTo>
                  <a:pt x="94430" y="731937"/>
                </a:lnTo>
                <a:lnTo>
                  <a:pt x="99244" y="793228"/>
                </a:lnTo>
                <a:lnTo>
                  <a:pt x="112649" y="846459"/>
                </a:lnTo>
                <a:lnTo>
                  <a:pt x="133090" y="888435"/>
                </a:lnTo>
                <a:lnTo>
                  <a:pt x="159012" y="915963"/>
                </a:lnTo>
                <a:lnTo>
                  <a:pt x="188860" y="925849"/>
                </a:lnTo>
                <a:lnTo>
                  <a:pt x="159012" y="935735"/>
                </a:lnTo>
                <a:lnTo>
                  <a:pt x="133090" y="963263"/>
                </a:lnTo>
                <a:lnTo>
                  <a:pt x="112649" y="1005239"/>
                </a:lnTo>
                <a:lnTo>
                  <a:pt x="99244" y="1058470"/>
                </a:lnTo>
                <a:lnTo>
                  <a:pt x="94430" y="1119761"/>
                </a:lnTo>
                <a:lnTo>
                  <a:pt x="94430" y="1657787"/>
                </a:lnTo>
                <a:lnTo>
                  <a:pt x="89615" y="1719078"/>
                </a:lnTo>
                <a:lnTo>
                  <a:pt x="76210" y="1772309"/>
                </a:lnTo>
                <a:lnTo>
                  <a:pt x="55769" y="1814285"/>
                </a:lnTo>
                <a:lnTo>
                  <a:pt x="29847" y="1841813"/>
                </a:lnTo>
                <a:lnTo>
                  <a:pt x="0" y="185169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041454" y="3968770"/>
            <a:ext cx="528320" cy="300355"/>
          </a:xfrm>
          <a:custGeom>
            <a:avLst/>
            <a:gdLst/>
            <a:ahLst/>
            <a:cxnLst/>
            <a:rect l="l" t="t" r="r" b="b"/>
            <a:pathLst>
              <a:path w="528320" h="300354">
                <a:moveTo>
                  <a:pt x="377706" y="0"/>
                </a:moveTo>
                <a:lnTo>
                  <a:pt x="377706" y="75032"/>
                </a:lnTo>
                <a:lnTo>
                  <a:pt x="0" y="75032"/>
                </a:lnTo>
                <a:lnTo>
                  <a:pt x="0" y="225099"/>
                </a:lnTo>
                <a:lnTo>
                  <a:pt x="377706" y="225099"/>
                </a:lnTo>
                <a:lnTo>
                  <a:pt x="377706" y="300134"/>
                </a:lnTo>
                <a:lnTo>
                  <a:pt x="527773" y="150067"/>
                </a:lnTo>
                <a:lnTo>
                  <a:pt x="37770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6662463" y="3967988"/>
            <a:ext cx="1283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 b="1">
                <a:solidFill>
                  <a:srgbClr val="00B050"/>
                </a:solidFill>
                <a:latin typeface="Arial"/>
                <a:cs typeface="Arial"/>
              </a:rPr>
              <a:t>True </a:t>
            </a:r>
            <a:r>
              <a:rPr dirty="0" sz="1800" b="1">
                <a:latin typeface="Arial"/>
                <a:cs typeface="Arial"/>
              </a:rPr>
              <a:t>/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False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34</a:t>
            </a:fld>
          </a:p>
        </p:txBody>
      </p:sp>
      <p:sp>
        <p:nvSpPr>
          <p:cNvPr id="41" name="object 41"/>
          <p:cNvSpPr txBox="1"/>
          <p:nvPr/>
        </p:nvSpPr>
        <p:spPr>
          <a:xfrm>
            <a:off x="3923889" y="4106164"/>
            <a:ext cx="12782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Embedding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of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56615"/>
            <a:ext cx="8290559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b="1">
                <a:latin typeface="Calibri"/>
                <a:cs typeface="Calibri"/>
              </a:rPr>
              <a:t>(2) </a:t>
            </a:r>
            <a:r>
              <a:rPr dirty="0" spc="-60"/>
              <a:t>We </a:t>
            </a:r>
            <a:r>
              <a:rPr dirty="0" spc="-20"/>
              <a:t>are </a:t>
            </a:r>
            <a:r>
              <a:rPr dirty="0" spc="-5"/>
              <a:t>going </a:t>
            </a:r>
            <a:r>
              <a:rPr dirty="0" spc="-15"/>
              <a:t>to </a:t>
            </a:r>
            <a:r>
              <a:rPr dirty="0" spc="-10"/>
              <a:t>work </a:t>
            </a:r>
            <a:r>
              <a:rPr dirty="0"/>
              <a:t>with </a:t>
            </a:r>
            <a:r>
              <a:rPr dirty="0" spc="-10" b="1">
                <a:latin typeface="Calibri"/>
                <a:cs typeface="Calibri"/>
              </a:rPr>
              <a:t>node-anchored  </a:t>
            </a:r>
            <a:r>
              <a:rPr dirty="0" spc="-5" b="1">
                <a:latin typeface="Calibri"/>
                <a:cs typeface="Calibri"/>
              </a:rPr>
              <a:t>neighborhoods</a:t>
            </a:r>
            <a:r>
              <a:rPr dirty="0" spc="-5"/>
              <a:t>:</a:t>
            </a:r>
          </a:p>
        </p:txBody>
      </p:sp>
      <p:sp>
        <p:nvSpPr>
          <p:cNvPr id="4" name="object 4"/>
          <p:cNvSpPr/>
          <p:nvPr/>
        </p:nvSpPr>
        <p:spPr>
          <a:xfrm>
            <a:off x="1954086" y="2848419"/>
            <a:ext cx="906780" cy="1194435"/>
          </a:xfrm>
          <a:custGeom>
            <a:avLst/>
            <a:gdLst/>
            <a:ahLst/>
            <a:cxnLst/>
            <a:rect l="l" t="t" r="r" b="b"/>
            <a:pathLst>
              <a:path w="906780" h="1194435">
                <a:moveTo>
                  <a:pt x="790345" y="0"/>
                </a:moveTo>
                <a:lnTo>
                  <a:pt x="116367" y="0"/>
                </a:lnTo>
                <a:lnTo>
                  <a:pt x="71071" y="9144"/>
                </a:lnTo>
                <a:lnTo>
                  <a:pt x="34083" y="34083"/>
                </a:lnTo>
                <a:lnTo>
                  <a:pt x="9144" y="71071"/>
                </a:lnTo>
                <a:lnTo>
                  <a:pt x="0" y="116367"/>
                </a:lnTo>
                <a:lnTo>
                  <a:pt x="0" y="1077622"/>
                </a:lnTo>
                <a:lnTo>
                  <a:pt x="9144" y="1122917"/>
                </a:lnTo>
                <a:lnTo>
                  <a:pt x="34083" y="1159906"/>
                </a:lnTo>
                <a:lnTo>
                  <a:pt x="71071" y="1184844"/>
                </a:lnTo>
                <a:lnTo>
                  <a:pt x="116367" y="1193989"/>
                </a:lnTo>
                <a:lnTo>
                  <a:pt x="790345" y="1193989"/>
                </a:lnTo>
                <a:lnTo>
                  <a:pt x="835640" y="1184844"/>
                </a:lnTo>
                <a:lnTo>
                  <a:pt x="872629" y="1159906"/>
                </a:lnTo>
                <a:lnTo>
                  <a:pt x="897567" y="1122917"/>
                </a:lnTo>
                <a:lnTo>
                  <a:pt x="906712" y="1077622"/>
                </a:lnTo>
                <a:lnTo>
                  <a:pt x="906712" y="116367"/>
                </a:lnTo>
                <a:lnTo>
                  <a:pt x="897567" y="71071"/>
                </a:lnTo>
                <a:lnTo>
                  <a:pt x="872629" y="34083"/>
                </a:lnTo>
                <a:lnTo>
                  <a:pt x="835640" y="9144"/>
                </a:lnTo>
                <a:lnTo>
                  <a:pt x="790345" y="0"/>
                </a:lnTo>
                <a:close/>
              </a:path>
            </a:pathLst>
          </a:custGeom>
          <a:solidFill>
            <a:srgbClr val="F4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682275" y="3437012"/>
            <a:ext cx="635" cy="339090"/>
          </a:xfrm>
          <a:custGeom>
            <a:avLst/>
            <a:gdLst/>
            <a:ahLst/>
            <a:cxnLst/>
            <a:rect l="l" t="t" r="r" b="b"/>
            <a:pathLst>
              <a:path w="635" h="339089">
                <a:moveTo>
                  <a:pt x="62" y="338515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67850" y="3075962"/>
            <a:ext cx="160020" cy="213995"/>
          </a:xfrm>
          <a:custGeom>
            <a:avLst/>
            <a:gdLst/>
            <a:ahLst/>
            <a:cxnLst/>
            <a:rect l="l" t="t" r="r" b="b"/>
            <a:pathLst>
              <a:path w="160019" h="213995">
                <a:moveTo>
                  <a:pt x="0" y="213571"/>
                </a:moveTo>
                <a:lnTo>
                  <a:pt x="15993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92408" y="3350620"/>
            <a:ext cx="406400" cy="0"/>
          </a:xfrm>
          <a:custGeom>
            <a:avLst/>
            <a:gdLst/>
            <a:ahLst/>
            <a:cxnLst/>
            <a:rect l="l" t="t" r="r" b="b"/>
            <a:pathLst>
              <a:path w="406400" h="0">
                <a:moveTo>
                  <a:pt x="0" y="0"/>
                </a:moveTo>
                <a:lnTo>
                  <a:pt x="406018" y="1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48138" y="3075962"/>
            <a:ext cx="175260" cy="213995"/>
          </a:xfrm>
          <a:custGeom>
            <a:avLst/>
            <a:gdLst/>
            <a:ahLst/>
            <a:cxnLst/>
            <a:rect l="l" t="t" r="r" b="b"/>
            <a:pathLst>
              <a:path w="175260" h="213995">
                <a:moveTo>
                  <a:pt x="174846" y="213571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024712" y="3264229"/>
            <a:ext cx="168275" cy="173355"/>
          </a:xfrm>
          <a:custGeom>
            <a:avLst/>
            <a:gdLst/>
            <a:ahLst/>
            <a:cxnLst/>
            <a:rect l="l" t="t" r="r" b="b"/>
            <a:pathLst>
              <a:path w="168275" h="173354">
                <a:moveTo>
                  <a:pt x="83847" y="0"/>
                </a:moveTo>
                <a:lnTo>
                  <a:pt x="51210" y="6789"/>
                </a:lnTo>
                <a:lnTo>
                  <a:pt x="24558" y="25303"/>
                </a:lnTo>
                <a:lnTo>
                  <a:pt x="6589" y="52764"/>
                </a:lnTo>
                <a:lnTo>
                  <a:pt x="0" y="86391"/>
                </a:lnTo>
                <a:lnTo>
                  <a:pt x="6589" y="120019"/>
                </a:lnTo>
                <a:lnTo>
                  <a:pt x="24558" y="147479"/>
                </a:lnTo>
                <a:lnTo>
                  <a:pt x="51210" y="165994"/>
                </a:lnTo>
                <a:lnTo>
                  <a:pt x="83847" y="172783"/>
                </a:lnTo>
                <a:lnTo>
                  <a:pt x="116485" y="165994"/>
                </a:lnTo>
                <a:lnTo>
                  <a:pt x="143137" y="147479"/>
                </a:lnTo>
                <a:lnTo>
                  <a:pt x="161106" y="120019"/>
                </a:lnTo>
                <a:lnTo>
                  <a:pt x="167695" y="86391"/>
                </a:lnTo>
                <a:lnTo>
                  <a:pt x="161106" y="52764"/>
                </a:lnTo>
                <a:lnTo>
                  <a:pt x="143137" y="25303"/>
                </a:lnTo>
                <a:lnTo>
                  <a:pt x="116485" y="6789"/>
                </a:lnTo>
                <a:lnTo>
                  <a:pt x="8384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02852" y="2926267"/>
            <a:ext cx="170815" cy="175895"/>
          </a:xfrm>
          <a:custGeom>
            <a:avLst/>
            <a:gdLst/>
            <a:ahLst/>
            <a:cxnLst/>
            <a:rect l="l" t="t" r="r" b="b"/>
            <a:pathLst>
              <a:path w="170814" h="175894">
                <a:moveTo>
                  <a:pt x="85106" y="0"/>
                </a:moveTo>
                <a:lnTo>
                  <a:pt x="51979" y="6891"/>
                </a:lnTo>
                <a:lnTo>
                  <a:pt x="24927" y="25683"/>
                </a:lnTo>
                <a:lnTo>
                  <a:pt x="6688" y="53556"/>
                </a:lnTo>
                <a:lnTo>
                  <a:pt x="0" y="87688"/>
                </a:lnTo>
                <a:lnTo>
                  <a:pt x="6688" y="121820"/>
                </a:lnTo>
                <a:lnTo>
                  <a:pt x="24927" y="149693"/>
                </a:lnTo>
                <a:lnTo>
                  <a:pt x="51979" y="168485"/>
                </a:lnTo>
                <a:lnTo>
                  <a:pt x="85106" y="175376"/>
                </a:lnTo>
                <a:lnTo>
                  <a:pt x="118233" y="168485"/>
                </a:lnTo>
                <a:lnTo>
                  <a:pt x="145285" y="149693"/>
                </a:lnTo>
                <a:lnTo>
                  <a:pt x="163524" y="121820"/>
                </a:lnTo>
                <a:lnTo>
                  <a:pt x="170213" y="87688"/>
                </a:lnTo>
                <a:lnTo>
                  <a:pt x="163524" y="53556"/>
                </a:lnTo>
                <a:lnTo>
                  <a:pt x="145285" y="25683"/>
                </a:lnTo>
                <a:lnTo>
                  <a:pt x="118233" y="6891"/>
                </a:lnTo>
                <a:lnTo>
                  <a:pt x="85106" y="0"/>
                </a:lnTo>
                <a:close/>
              </a:path>
            </a:pathLst>
          </a:custGeom>
          <a:solidFill>
            <a:srgbClr val="9A31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598427" y="3264229"/>
            <a:ext cx="168275" cy="173355"/>
          </a:xfrm>
          <a:custGeom>
            <a:avLst/>
            <a:gdLst/>
            <a:ahLst/>
            <a:cxnLst/>
            <a:rect l="l" t="t" r="r" b="b"/>
            <a:pathLst>
              <a:path w="168275" h="173354">
                <a:moveTo>
                  <a:pt x="83847" y="0"/>
                </a:moveTo>
                <a:lnTo>
                  <a:pt x="51210" y="6789"/>
                </a:lnTo>
                <a:lnTo>
                  <a:pt x="24558" y="25303"/>
                </a:lnTo>
                <a:lnTo>
                  <a:pt x="6589" y="52764"/>
                </a:lnTo>
                <a:lnTo>
                  <a:pt x="0" y="86391"/>
                </a:lnTo>
                <a:lnTo>
                  <a:pt x="6589" y="120019"/>
                </a:lnTo>
                <a:lnTo>
                  <a:pt x="24558" y="147479"/>
                </a:lnTo>
                <a:lnTo>
                  <a:pt x="51210" y="165994"/>
                </a:lnTo>
                <a:lnTo>
                  <a:pt x="83847" y="172783"/>
                </a:lnTo>
                <a:lnTo>
                  <a:pt x="116485" y="165994"/>
                </a:lnTo>
                <a:lnTo>
                  <a:pt x="143137" y="147479"/>
                </a:lnTo>
                <a:lnTo>
                  <a:pt x="161106" y="120019"/>
                </a:lnTo>
                <a:lnTo>
                  <a:pt x="167695" y="86391"/>
                </a:lnTo>
                <a:lnTo>
                  <a:pt x="161106" y="52764"/>
                </a:lnTo>
                <a:lnTo>
                  <a:pt x="143137" y="25303"/>
                </a:lnTo>
                <a:lnTo>
                  <a:pt x="116485" y="6789"/>
                </a:lnTo>
                <a:lnTo>
                  <a:pt x="838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600070" y="3775527"/>
            <a:ext cx="165100" cy="169545"/>
          </a:xfrm>
          <a:custGeom>
            <a:avLst/>
            <a:gdLst/>
            <a:ahLst/>
            <a:cxnLst/>
            <a:rect l="l" t="t" r="r" b="b"/>
            <a:pathLst>
              <a:path w="165100" h="169545">
                <a:moveTo>
                  <a:pt x="82265" y="0"/>
                </a:moveTo>
                <a:lnTo>
                  <a:pt x="50243" y="6660"/>
                </a:lnTo>
                <a:lnTo>
                  <a:pt x="24094" y="24825"/>
                </a:lnTo>
                <a:lnTo>
                  <a:pt x="6464" y="51768"/>
                </a:lnTo>
                <a:lnTo>
                  <a:pt x="0" y="84761"/>
                </a:lnTo>
                <a:lnTo>
                  <a:pt x="6464" y="117753"/>
                </a:lnTo>
                <a:lnTo>
                  <a:pt x="24094" y="144696"/>
                </a:lnTo>
                <a:lnTo>
                  <a:pt x="50243" y="162861"/>
                </a:lnTo>
                <a:lnTo>
                  <a:pt x="82265" y="169522"/>
                </a:lnTo>
                <a:lnTo>
                  <a:pt x="114287" y="162861"/>
                </a:lnTo>
                <a:lnTo>
                  <a:pt x="140436" y="144696"/>
                </a:lnTo>
                <a:lnTo>
                  <a:pt x="158067" y="117753"/>
                </a:lnTo>
                <a:lnTo>
                  <a:pt x="164532" y="84761"/>
                </a:lnTo>
                <a:lnTo>
                  <a:pt x="158067" y="51768"/>
                </a:lnTo>
                <a:lnTo>
                  <a:pt x="140436" y="24825"/>
                </a:lnTo>
                <a:lnTo>
                  <a:pt x="114287" y="6660"/>
                </a:lnTo>
                <a:lnTo>
                  <a:pt x="82265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899114" y="4442557"/>
            <a:ext cx="1011555" cy="1158240"/>
          </a:xfrm>
          <a:custGeom>
            <a:avLst/>
            <a:gdLst/>
            <a:ahLst/>
            <a:cxnLst/>
            <a:rect l="l" t="t" r="r" b="b"/>
            <a:pathLst>
              <a:path w="1011555" h="1158239">
                <a:moveTo>
                  <a:pt x="922240" y="0"/>
                </a:moveTo>
                <a:lnTo>
                  <a:pt x="89054" y="0"/>
                </a:lnTo>
                <a:lnTo>
                  <a:pt x="54390" y="6998"/>
                </a:lnTo>
                <a:lnTo>
                  <a:pt x="26083" y="26083"/>
                </a:lnTo>
                <a:lnTo>
                  <a:pt x="6998" y="54390"/>
                </a:lnTo>
                <a:lnTo>
                  <a:pt x="0" y="89054"/>
                </a:lnTo>
                <a:lnTo>
                  <a:pt x="0" y="1068909"/>
                </a:lnTo>
                <a:lnTo>
                  <a:pt x="6998" y="1103573"/>
                </a:lnTo>
                <a:lnTo>
                  <a:pt x="26083" y="1131880"/>
                </a:lnTo>
                <a:lnTo>
                  <a:pt x="54390" y="1150965"/>
                </a:lnTo>
                <a:lnTo>
                  <a:pt x="89054" y="1157963"/>
                </a:lnTo>
                <a:lnTo>
                  <a:pt x="922240" y="1157963"/>
                </a:lnTo>
                <a:lnTo>
                  <a:pt x="956905" y="1150965"/>
                </a:lnTo>
                <a:lnTo>
                  <a:pt x="985212" y="1131880"/>
                </a:lnTo>
                <a:lnTo>
                  <a:pt x="1004297" y="1103573"/>
                </a:lnTo>
                <a:lnTo>
                  <a:pt x="1011295" y="1068909"/>
                </a:lnTo>
                <a:lnTo>
                  <a:pt x="1011295" y="89054"/>
                </a:lnTo>
                <a:lnTo>
                  <a:pt x="1004297" y="54390"/>
                </a:lnTo>
                <a:lnTo>
                  <a:pt x="985212" y="26083"/>
                </a:lnTo>
                <a:lnTo>
                  <a:pt x="956905" y="6998"/>
                </a:lnTo>
                <a:lnTo>
                  <a:pt x="922240" y="0"/>
                </a:lnTo>
                <a:close/>
              </a:path>
            </a:pathLst>
          </a:custGeom>
          <a:solidFill>
            <a:srgbClr val="FAE7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484104" y="4732430"/>
            <a:ext cx="241935" cy="262890"/>
          </a:xfrm>
          <a:custGeom>
            <a:avLst/>
            <a:gdLst/>
            <a:ahLst/>
            <a:cxnLst/>
            <a:rect l="l" t="t" r="r" b="b"/>
            <a:pathLst>
              <a:path w="241935" h="262889">
                <a:moveTo>
                  <a:pt x="241319" y="0"/>
                </a:moveTo>
                <a:lnTo>
                  <a:pt x="0" y="262467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116305" y="5601715"/>
            <a:ext cx="7073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35" b="1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92625" y="4789601"/>
            <a:ext cx="182880" cy="175260"/>
          </a:xfrm>
          <a:custGeom>
            <a:avLst/>
            <a:gdLst/>
            <a:ahLst/>
            <a:cxnLst/>
            <a:rect l="l" t="t" r="r" b="b"/>
            <a:pathLst>
              <a:path w="182880" h="175260">
                <a:moveTo>
                  <a:pt x="0" y="174781"/>
                </a:moveTo>
                <a:lnTo>
                  <a:pt x="182336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056427" y="5034453"/>
            <a:ext cx="107314" cy="286385"/>
          </a:xfrm>
          <a:custGeom>
            <a:avLst/>
            <a:gdLst/>
            <a:ahLst/>
            <a:cxnLst/>
            <a:rect l="l" t="t" r="r" b="b"/>
            <a:pathLst>
              <a:path w="107314" h="286385">
                <a:moveTo>
                  <a:pt x="106795" y="285931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274961" y="4789601"/>
            <a:ext cx="195580" cy="175260"/>
          </a:xfrm>
          <a:custGeom>
            <a:avLst/>
            <a:gdLst/>
            <a:ahLst/>
            <a:cxnLst/>
            <a:rect l="l" t="t" r="r" b="b"/>
            <a:pathLst>
              <a:path w="195580" h="175260">
                <a:moveTo>
                  <a:pt x="195178" y="174780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475357" y="5058362"/>
            <a:ext cx="0" cy="203835"/>
          </a:xfrm>
          <a:custGeom>
            <a:avLst/>
            <a:gdLst/>
            <a:ahLst/>
            <a:cxnLst/>
            <a:rect l="l" t="t" r="r" b="b"/>
            <a:pathLst>
              <a:path w="0" h="203835">
                <a:moveTo>
                  <a:pt x="0" y="203805"/>
                </a:moveTo>
                <a:lnTo>
                  <a:pt x="1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134013" y="4996098"/>
            <a:ext cx="275590" cy="0"/>
          </a:xfrm>
          <a:custGeom>
            <a:avLst/>
            <a:gdLst/>
            <a:ahLst/>
            <a:cxnLst/>
            <a:rect l="l" t="t" r="r" b="b"/>
            <a:pathLst>
              <a:path w="275589" h="0">
                <a:moveTo>
                  <a:pt x="0" y="0"/>
                </a:moveTo>
                <a:lnTo>
                  <a:pt x="275035" y="0"/>
                </a:lnTo>
              </a:path>
            </a:pathLst>
          </a:custGeom>
          <a:ln w="53202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170972" y="4804349"/>
            <a:ext cx="97790" cy="530860"/>
          </a:xfrm>
          <a:custGeom>
            <a:avLst/>
            <a:gdLst/>
            <a:ahLst/>
            <a:cxnLst/>
            <a:rect l="l" t="t" r="r" b="b"/>
            <a:pathLst>
              <a:path w="97789" h="530860">
                <a:moveTo>
                  <a:pt x="0" y="530782"/>
                </a:moveTo>
                <a:lnTo>
                  <a:pt x="97784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002200" y="4934201"/>
            <a:ext cx="132080" cy="121920"/>
          </a:xfrm>
          <a:custGeom>
            <a:avLst/>
            <a:gdLst/>
            <a:ahLst/>
            <a:cxnLst/>
            <a:rect l="l" t="t" r="r" b="b"/>
            <a:pathLst>
              <a:path w="132080" h="121920">
                <a:moveTo>
                  <a:pt x="0" y="0"/>
                </a:moveTo>
                <a:lnTo>
                  <a:pt x="131813" y="0"/>
                </a:lnTo>
                <a:lnTo>
                  <a:pt x="131813" y="121390"/>
                </a:lnTo>
                <a:lnTo>
                  <a:pt x="0" y="121390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409049" y="4936234"/>
            <a:ext cx="132715" cy="122555"/>
          </a:xfrm>
          <a:custGeom>
            <a:avLst/>
            <a:gdLst/>
            <a:ahLst/>
            <a:cxnLst/>
            <a:rect l="l" t="t" r="r" b="b"/>
            <a:pathLst>
              <a:path w="132714" h="122554">
                <a:moveTo>
                  <a:pt x="0" y="0"/>
                </a:moveTo>
                <a:lnTo>
                  <a:pt x="132615" y="0"/>
                </a:lnTo>
                <a:lnTo>
                  <a:pt x="132615" y="122129"/>
                </a:lnTo>
                <a:lnTo>
                  <a:pt x="0" y="122129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097317" y="5259688"/>
            <a:ext cx="132080" cy="121920"/>
          </a:xfrm>
          <a:custGeom>
            <a:avLst/>
            <a:gdLst/>
            <a:ahLst/>
            <a:cxnLst/>
            <a:rect l="l" t="t" r="r" b="b"/>
            <a:pathLst>
              <a:path w="132080" h="121920">
                <a:moveTo>
                  <a:pt x="0" y="0"/>
                </a:moveTo>
                <a:lnTo>
                  <a:pt x="131812" y="0"/>
                </a:lnTo>
                <a:lnTo>
                  <a:pt x="131812" y="121390"/>
                </a:lnTo>
                <a:lnTo>
                  <a:pt x="0" y="121390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409451" y="5262167"/>
            <a:ext cx="132080" cy="121920"/>
          </a:xfrm>
          <a:custGeom>
            <a:avLst/>
            <a:gdLst/>
            <a:ahLst/>
            <a:cxnLst/>
            <a:rect l="l" t="t" r="r" b="b"/>
            <a:pathLst>
              <a:path w="132080" h="121920">
                <a:moveTo>
                  <a:pt x="0" y="0"/>
                </a:moveTo>
                <a:lnTo>
                  <a:pt x="131812" y="0"/>
                </a:lnTo>
                <a:lnTo>
                  <a:pt x="131812" y="121390"/>
                </a:lnTo>
                <a:lnTo>
                  <a:pt x="0" y="121390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664438" y="4669848"/>
            <a:ext cx="132080" cy="121920"/>
          </a:xfrm>
          <a:custGeom>
            <a:avLst/>
            <a:gdLst/>
            <a:ahLst/>
            <a:cxnLst/>
            <a:rect l="l" t="t" r="r" b="b"/>
            <a:pathLst>
              <a:path w="132080" h="121920">
                <a:moveTo>
                  <a:pt x="0" y="0"/>
                </a:moveTo>
                <a:lnTo>
                  <a:pt x="131812" y="0"/>
                </a:lnTo>
                <a:lnTo>
                  <a:pt x="131812" y="121390"/>
                </a:lnTo>
                <a:lnTo>
                  <a:pt x="0" y="121390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206499" y="4679541"/>
            <a:ext cx="132080" cy="121920"/>
          </a:xfrm>
          <a:custGeom>
            <a:avLst/>
            <a:gdLst/>
            <a:ahLst/>
            <a:cxnLst/>
            <a:rect l="l" t="t" r="r" b="b"/>
            <a:pathLst>
              <a:path w="132080" h="121920">
                <a:moveTo>
                  <a:pt x="0" y="0"/>
                </a:moveTo>
                <a:lnTo>
                  <a:pt x="131813" y="0"/>
                </a:lnTo>
                <a:lnTo>
                  <a:pt x="131813" y="121389"/>
                </a:lnTo>
                <a:lnTo>
                  <a:pt x="0" y="121389"/>
                </a:lnTo>
                <a:lnTo>
                  <a:pt x="0" y="0"/>
                </a:lnTo>
                <a:close/>
              </a:path>
            </a:pathLst>
          </a:custGeom>
          <a:solidFill>
            <a:srgbClr val="9A31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612929" y="4961635"/>
            <a:ext cx="7073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2060"/>
                </a:solidFill>
                <a:latin typeface="Calibri"/>
                <a:cs typeface="Calibri"/>
              </a:rPr>
              <a:t>Ancho</a:t>
            </a:r>
            <a:r>
              <a:rPr dirty="0" sz="1800" b="1">
                <a:solidFill>
                  <a:srgbClr val="002060"/>
                </a:solidFill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73084" y="2550667"/>
            <a:ext cx="1318895" cy="763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Query</a:t>
            </a:r>
            <a:endParaRPr sz="1800">
              <a:latin typeface="Arial"/>
              <a:cs typeface="Arial"/>
            </a:endParaRPr>
          </a:p>
          <a:p>
            <a:pPr marL="623570">
              <a:lnSpc>
                <a:spcPct val="100000"/>
              </a:lnSpc>
              <a:spcBef>
                <a:spcPts val="1485"/>
              </a:spcBef>
            </a:pPr>
            <a:r>
              <a:rPr dirty="0" sz="1800" spc="-5" b="1">
                <a:solidFill>
                  <a:srgbClr val="002060"/>
                </a:solidFill>
                <a:latin typeface="Calibri"/>
                <a:cs typeface="Calibri"/>
              </a:rPr>
              <a:t>Ancho</a:t>
            </a:r>
            <a:r>
              <a:rPr dirty="0" sz="1800" b="1">
                <a:solidFill>
                  <a:srgbClr val="002060"/>
                </a:solidFill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289631" y="4372691"/>
            <a:ext cx="1034415" cy="1028700"/>
          </a:xfrm>
          <a:custGeom>
            <a:avLst/>
            <a:gdLst/>
            <a:ahLst/>
            <a:cxnLst/>
            <a:rect l="l" t="t" r="r" b="b"/>
            <a:pathLst>
              <a:path w="1034414" h="1028700">
                <a:moveTo>
                  <a:pt x="943820" y="0"/>
                </a:moveTo>
                <a:lnTo>
                  <a:pt x="90557" y="0"/>
                </a:lnTo>
                <a:lnTo>
                  <a:pt x="55308" y="7116"/>
                </a:lnTo>
                <a:lnTo>
                  <a:pt x="26523" y="26523"/>
                </a:lnTo>
                <a:lnTo>
                  <a:pt x="7116" y="55308"/>
                </a:lnTo>
                <a:lnTo>
                  <a:pt x="0" y="90557"/>
                </a:lnTo>
                <a:lnTo>
                  <a:pt x="0" y="937794"/>
                </a:lnTo>
                <a:lnTo>
                  <a:pt x="7116" y="973043"/>
                </a:lnTo>
                <a:lnTo>
                  <a:pt x="26523" y="1001828"/>
                </a:lnTo>
                <a:lnTo>
                  <a:pt x="55308" y="1021235"/>
                </a:lnTo>
                <a:lnTo>
                  <a:pt x="90557" y="1028352"/>
                </a:lnTo>
                <a:lnTo>
                  <a:pt x="943820" y="1028352"/>
                </a:lnTo>
                <a:lnTo>
                  <a:pt x="979070" y="1021235"/>
                </a:lnTo>
                <a:lnTo>
                  <a:pt x="1007854" y="1001828"/>
                </a:lnTo>
                <a:lnTo>
                  <a:pt x="1027261" y="973043"/>
                </a:lnTo>
                <a:lnTo>
                  <a:pt x="1034378" y="937794"/>
                </a:lnTo>
                <a:lnTo>
                  <a:pt x="1034378" y="90557"/>
                </a:lnTo>
                <a:lnTo>
                  <a:pt x="1027261" y="55308"/>
                </a:lnTo>
                <a:lnTo>
                  <a:pt x="1007854" y="26523"/>
                </a:lnTo>
                <a:lnTo>
                  <a:pt x="979070" y="7116"/>
                </a:lnTo>
                <a:lnTo>
                  <a:pt x="943820" y="0"/>
                </a:lnTo>
                <a:close/>
              </a:path>
            </a:pathLst>
          </a:custGeom>
          <a:solidFill>
            <a:srgbClr val="FAE7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921966" y="4504020"/>
            <a:ext cx="175895" cy="121920"/>
          </a:xfrm>
          <a:custGeom>
            <a:avLst/>
            <a:gdLst/>
            <a:ahLst/>
            <a:cxnLst/>
            <a:rect l="l" t="t" r="r" b="b"/>
            <a:pathLst>
              <a:path w="175895" h="121920">
                <a:moveTo>
                  <a:pt x="0" y="0"/>
                </a:moveTo>
                <a:lnTo>
                  <a:pt x="175430" y="121559"/>
                </a:lnTo>
              </a:path>
            </a:pathLst>
          </a:custGeom>
          <a:ln w="3175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921966" y="4625579"/>
            <a:ext cx="175895" cy="140335"/>
          </a:xfrm>
          <a:custGeom>
            <a:avLst/>
            <a:gdLst/>
            <a:ahLst/>
            <a:cxnLst/>
            <a:rect l="l" t="t" r="r" b="b"/>
            <a:pathLst>
              <a:path w="175895" h="140335">
                <a:moveTo>
                  <a:pt x="0" y="140212"/>
                </a:moveTo>
                <a:lnTo>
                  <a:pt x="175430" y="0"/>
                </a:lnTo>
              </a:path>
            </a:pathLst>
          </a:custGeom>
          <a:ln w="3175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495143" y="4504017"/>
            <a:ext cx="259715" cy="410845"/>
          </a:xfrm>
          <a:custGeom>
            <a:avLst/>
            <a:gdLst/>
            <a:ahLst/>
            <a:cxnLst/>
            <a:rect l="l" t="t" r="r" b="b"/>
            <a:pathLst>
              <a:path w="259714" h="410845">
                <a:moveTo>
                  <a:pt x="0" y="410712"/>
                </a:moveTo>
                <a:lnTo>
                  <a:pt x="259228" y="0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495143" y="4765788"/>
            <a:ext cx="259715" cy="149225"/>
          </a:xfrm>
          <a:custGeom>
            <a:avLst/>
            <a:gdLst/>
            <a:ahLst/>
            <a:cxnLst/>
            <a:rect l="l" t="t" r="r" b="b"/>
            <a:pathLst>
              <a:path w="259714" h="149225">
                <a:moveTo>
                  <a:pt x="0" y="148941"/>
                </a:moveTo>
                <a:lnTo>
                  <a:pt x="259228" y="0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495139" y="4914729"/>
            <a:ext cx="259715" cy="111125"/>
          </a:xfrm>
          <a:custGeom>
            <a:avLst/>
            <a:gdLst/>
            <a:ahLst/>
            <a:cxnLst/>
            <a:rect l="l" t="t" r="r" b="b"/>
            <a:pathLst>
              <a:path w="259714" h="111125">
                <a:moveTo>
                  <a:pt x="0" y="0"/>
                </a:moveTo>
                <a:lnTo>
                  <a:pt x="259229" y="111008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495139" y="4914729"/>
            <a:ext cx="259715" cy="371475"/>
          </a:xfrm>
          <a:custGeom>
            <a:avLst/>
            <a:gdLst/>
            <a:ahLst/>
            <a:cxnLst/>
            <a:rect l="l" t="t" r="r" b="b"/>
            <a:pathLst>
              <a:path w="259714" h="371475">
                <a:moveTo>
                  <a:pt x="0" y="0"/>
                </a:moveTo>
                <a:lnTo>
                  <a:pt x="259229" y="370956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838165" y="4587818"/>
            <a:ext cx="0" cy="94615"/>
          </a:xfrm>
          <a:custGeom>
            <a:avLst/>
            <a:gdLst/>
            <a:ahLst/>
            <a:cxnLst/>
            <a:rect l="l" t="t" r="r" b="b"/>
            <a:pathLst>
              <a:path w="0" h="94614">
                <a:moveTo>
                  <a:pt x="0" y="0"/>
                </a:moveTo>
                <a:lnTo>
                  <a:pt x="1" y="94177"/>
                </a:lnTo>
              </a:path>
            </a:pathLst>
          </a:custGeom>
          <a:ln w="3175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327549" y="4830936"/>
            <a:ext cx="167640" cy="167640"/>
          </a:xfrm>
          <a:custGeom>
            <a:avLst/>
            <a:gdLst/>
            <a:ahLst/>
            <a:cxnLst/>
            <a:rect l="l" t="t" r="r" b="b"/>
            <a:pathLst>
              <a:path w="167639" h="167639">
                <a:moveTo>
                  <a:pt x="0" y="0"/>
                </a:moveTo>
                <a:lnTo>
                  <a:pt x="167594" y="0"/>
                </a:lnTo>
                <a:lnTo>
                  <a:pt x="167594" y="167593"/>
                </a:lnTo>
                <a:lnTo>
                  <a:pt x="0" y="16759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754370" y="4420223"/>
            <a:ext cx="167640" cy="167640"/>
          </a:xfrm>
          <a:custGeom>
            <a:avLst/>
            <a:gdLst/>
            <a:ahLst/>
            <a:cxnLst/>
            <a:rect l="l" t="t" r="r" b="b"/>
            <a:pathLst>
              <a:path w="167639" h="167639">
                <a:moveTo>
                  <a:pt x="0" y="0"/>
                </a:moveTo>
                <a:lnTo>
                  <a:pt x="167594" y="0"/>
                </a:lnTo>
                <a:lnTo>
                  <a:pt x="167594" y="167594"/>
                </a:lnTo>
                <a:lnTo>
                  <a:pt x="0" y="167594"/>
                </a:lnTo>
                <a:lnTo>
                  <a:pt x="0" y="0"/>
                </a:lnTo>
                <a:close/>
              </a:path>
            </a:pathLst>
          </a:custGeom>
          <a:solidFill>
            <a:srgbClr val="9A31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754370" y="4681994"/>
            <a:ext cx="167640" cy="167640"/>
          </a:xfrm>
          <a:custGeom>
            <a:avLst/>
            <a:gdLst/>
            <a:ahLst/>
            <a:cxnLst/>
            <a:rect l="l" t="t" r="r" b="b"/>
            <a:pathLst>
              <a:path w="167639" h="167639">
                <a:moveTo>
                  <a:pt x="0" y="0"/>
                </a:moveTo>
                <a:lnTo>
                  <a:pt x="167594" y="0"/>
                </a:lnTo>
                <a:lnTo>
                  <a:pt x="167594" y="167594"/>
                </a:lnTo>
                <a:lnTo>
                  <a:pt x="0" y="167594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754371" y="4941942"/>
            <a:ext cx="167640" cy="167640"/>
          </a:xfrm>
          <a:custGeom>
            <a:avLst/>
            <a:gdLst/>
            <a:ahLst/>
            <a:cxnLst/>
            <a:rect l="l" t="t" r="r" b="b"/>
            <a:pathLst>
              <a:path w="167639" h="167639">
                <a:moveTo>
                  <a:pt x="0" y="0"/>
                </a:moveTo>
                <a:lnTo>
                  <a:pt x="167594" y="0"/>
                </a:lnTo>
                <a:lnTo>
                  <a:pt x="167594" y="167594"/>
                </a:lnTo>
                <a:lnTo>
                  <a:pt x="0" y="167594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754371" y="5201892"/>
            <a:ext cx="167640" cy="167640"/>
          </a:xfrm>
          <a:custGeom>
            <a:avLst/>
            <a:gdLst/>
            <a:ahLst/>
            <a:cxnLst/>
            <a:rect l="l" t="t" r="r" b="b"/>
            <a:pathLst>
              <a:path w="167639" h="167639">
                <a:moveTo>
                  <a:pt x="0" y="0"/>
                </a:moveTo>
                <a:lnTo>
                  <a:pt x="167594" y="0"/>
                </a:lnTo>
                <a:lnTo>
                  <a:pt x="167594" y="167594"/>
                </a:lnTo>
                <a:lnTo>
                  <a:pt x="0" y="167594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097396" y="4541782"/>
            <a:ext cx="167640" cy="167640"/>
          </a:xfrm>
          <a:custGeom>
            <a:avLst/>
            <a:gdLst/>
            <a:ahLst/>
            <a:cxnLst/>
            <a:rect l="l" t="t" r="r" b="b"/>
            <a:pathLst>
              <a:path w="167639" h="167639">
                <a:moveTo>
                  <a:pt x="0" y="0"/>
                </a:moveTo>
                <a:lnTo>
                  <a:pt x="167593" y="0"/>
                </a:lnTo>
                <a:lnTo>
                  <a:pt x="167593" y="167594"/>
                </a:lnTo>
                <a:lnTo>
                  <a:pt x="0" y="167594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416332" y="4751933"/>
            <a:ext cx="528320" cy="300355"/>
          </a:xfrm>
          <a:custGeom>
            <a:avLst/>
            <a:gdLst/>
            <a:ahLst/>
            <a:cxnLst/>
            <a:rect l="l" t="t" r="r" b="b"/>
            <a:pathLst>
              <a:path w="528320" h="300354">
                <a:moveTo>
                  <a:pt x="377706" y="0"/>
                </a:moveTo>
                <a:lnTo>
                  <a:pt x="377706" y="75034"/>
                </a:lnTo>
                <a:lnTo>
                  <a:pt x="0" y="75034"/>
                </a:lnTo>
                <a:lnTo>
                  <a:pt x="0" y="225101"/>
                </a:lnTo>
                <a:lnTo>
                  <a:pt x="377706" y="225101"/>
                </a:lnTo>
                <a:lnTo>
                  <a:pt x="377706" y="300134"/>
                </a:lnTo>
                <a:lnTo>
                  <a:pt x="527773" y="150067"/>
                </a:lnTo>
                <a:lnTo>
                  <a:pt x="37770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3778078" y="2691892"/>
            <a:ext cx="114808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latin typeface="Arial"/>
                <a:cs typeface="Arial"/>
              </a:rPr>
              <a:t>1</a:t>
            </a:r>
            <a:r>
              <a:rPr dirty="0" baseline="25252" sz="1650" spc="-15">
                <a:latin typeface="Arial"/>
                <a:cs typeface="Arial"/>
              </a:rPr>
              <a:t>st </a:t>
            </a:r>
            <a:r>
              <a:rPr dirty="0" sz="1600" spc="-5">
                <a:latin typeface="Arial"/>
                <a:cs typeface="Arial"/>
              </a:rPr>
              <a:t>hop</a:t>
            </a:r>
            <a:r>
              <a:rPr dirty="0" sz="1600" spc="-8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edge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381853" y="2965890"/>
            <a:ext cx="854075" cy="942340"/>
          </a:xfrm>
          <a:custGeom>
            <a:avLst/>
            <a:gdLst/>
            <a:ahLst/>
            <a:cxnLst/>
            <a:rect l="l" t="t" r="r" b="b"/>
            <a:pathLst>
              <a:path w="854075" h="942339">
                <a:moveTo>
                  <a:pt x="743932" y="0"/>
                </a:moveTo>
                <a:lnTo>
                  <a:pt x="109533" y="0"/>
                </a:lnTo>
                <a:lnTo>
                  <a:pt x="66898" y="8607"/>
                </a:lnTo>
                <a:lnTo>
                  <a:pt x="32081" y="32081"/>
                </a:lnTo>
                <a:lnTo>
                  <a:pt x="8607" y="66898"/>
                </a:lnTo>
                <a:lnTo>
                  <a:pt x="0" y="109533"/>
                </a:lnTo>
                <a:lnTo>
                  <a:pt x="0" y="832708"/>
                </a:lnTo>
                <a:lnTo>
                  <a:pt x="8607" y="875344"/>
                </a:lnTo>
                <a:lnTo>
                  <a:pt x="32081" y="910160"/>
                </a:lnTo>
                <a:lnTo>
                  <a:pt x="66898" y="933634"/>
                </a:lnTo>
                <a:lnTo>
                  <a:pt x="109533" y="942242"/>
                </a:lnTo>
                <a:lnTo>
                  <a:pt x="743932" y="942242"/>
                </a:lnTo>
                <a:lnTo>
                  <a:pt x="786567" y="933634"/>
                </a:lnTo>
                <a:lnTo>
                  <a:pt x="821383" y="910160"/>
                </a:lnTo>
                <a:lnTo>
                  <a:pt x="844857" y="875344"/>
                </a:lnTo>
                <a:lnTo>
                  <a:pt x="853465" y="832708"/>
                </a:lnTo>
                <a:lnTo>
                  <a:pt x="853465" y="109533"/>
                </a:lnTo>
                <a:lnTo>
                  <a:pt x="844857" y="66898"/>
                </a:lnTo>
                <a:lnTo>
                  <a:pt x="821383" y="32081"/>
                </a:lnTo>
                <a:lnTo>
                  <a:pt x="786567" y="8607"/>
                </a:lnTo>
                <a:lnTo>
                  <a:pt x="743932" y="0"/>
                </a:lnTo>
                <a:close/>
              </a:path>
            </a:pathLst>
          </a:custGeom>
          <a:solidFill>
            <a:srgbClr val="F4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706727" y="3439933"/>
            <a:ext cx="167640" cy="635"/>
          </a:xfrm>
          <a:custGeom>
            <a:avLst/>
            <a:gdLst/>
            <a:ahLst/>
            <a:cxnLst/>
            <a:rect l="l" t="t" r="r" b="b"/>
            <a:pathLst>
              <a:path w="167639" h="635">
                <a:moveTo>
                  <a:pt x="-15875" y="74"/>
                </a:moveTo>
                <a:lnTo>
                  <a:pt x="183124" y="74"/>
                </a:lnTo>
              </a:path>
            </a:pathLst>
          </a:custGeom>
          <a:ln w="31898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683320" y="3189404"/>
            <a:ext cx="190500" cy="194310"/>
          </a:xfrm>
          <a:custGeom>
            <a:avLst/>
            <a:gdLst/>
            <a:ahLst/>
            <a:cxnLst/>
            <a:rect l="l" t="t" r="r" b="b"/>
            <a:pathLst>
              <a:path w="190500" h="194310">
                <a:moveTo>
                  <a:pt x="190256" y="0"/>
                </a:moveTo>
                <a:lnTo>
                  <a:pt x="0" y="194177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683320" y="3496583"/>
            <a:ext cx="225425" cy="197485"/>
          </a:xfrm>
          <a:custGeom>
            <a:avLst/>
            <a:gdLst/>
            <a:ahLst/>
            <a:cxnLst/>
            <a:rect l="l" t="t" r="r" b="b"/>
            <a:pathLst>
              <a:path w="225425" h="197485">
                <a:moveTo>
                  <a:pt x="225109" y="197237"/>
                </a:moveTo>
                <a:lnTo>
                  <a:pt x="0" y="0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546913" y="3360177"/>
            <a:ext cx="160020" cy="160020"/>
          </a:xfrm>
          <a:custGeom>
            <a:avLst/>
            <a:gdLst/>
            <a:ahLst/>
            <a:cxnLst/>
            <a:rect l="l" t="t" r="r" b="b"/>
            <a:pathLst>
              <a:path w="160020" h="160020">
                <a:moveTo>
                  <a:pt x="79907" y="0"/>
                </a:moveTo>
                <a:lnTo>
                  <a:pt x="48803" y="6279"/>
                </a:lnTo>
                <a:lnTo>
                  <a:pt x="23404" y="23404"/>
                </a:lnTo>
                <a:lnTo>
                  <a:pt x="6279" y="48803"/>
                </a:lnTo>
                <a:lnTo>
                  <a:pt x="0" y="79907"/>
                </a:lnTo>
                <a:lnTo>
                  <a:pt x="6279" y="111010"/>
                </a:lnTo>
                <a:lnTo>
                  <a:pt x="23404" y="136409"/>
                </a:lnTo>
                <a:lnTo>
                  <a:pt x="48803" y="153534"/>
                </a:lnTo>
                <a:lnTo>
                  <a:pt x="79907" y="159814"/>
                </a:lnTo>
                <a:lnTo>
                  <a:pt x="111011" y="153534"/>
                </a:lnTo>
                <a:lnTo>
                  <a:pt x="136411" y="136409"/>
                </a:lnTo>
                <a:lnTo>
                  <a:pt x="153535" y="111010"/>
                </a:lnTo>
                <a:lnTo>
                  <a:pt x="159815" y="79907"/>
                </a:lnTo>
                <a:lnTo>
                  <a:pt x="153535" y="48803"/>
                </a:lnTo>
                <a:lnTo>
                  <a:pt x="136411" y="23404"/>
                </a:lnTo>
                <a:lnTo>
                  <a:pt x="111011" y="6279"/>
                </a:lnTo>
                <a:lnTo>
                  <a:pt x="7990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873612" y="3608480"/>
            <a:ext cx="160020" cy="160020"/>
          </a:xfrm>
          <a:custGeom>
            <a:avLst/>
            <a:gdLst/>
            <a:ahLst/>
            <a:cxnLst/>
            <a:rect l="l" t="t" r="r" b="b"/>
            <a:pathLst>
              <a:path w="160020" h="160020">
                <a:moveTo>
                  <a:pt x="79907" y="0"/>
                </a:moveTo>
                <a:lnTo>
                  <a:pt x="48803" y="6279"/>
                </a:lnTo>
                <a:lnTo>
                  <a:pt x="23404" y="23404"/>
                </a:lnTo>
                <a:lnTo>
                  <a:pt x="6279" y="48803"/>
                </a:lnTo>
                <a:lnTo>
                  <a:pt x="0" y="79907"/>
                </a:lnTo>
                <a:lnTo>
                  <a:pt x="6279" y="111010"/>
                </a:lnTo>
                <a:lnTo>
                  <a:pt x="23404" y="136409"/>
                </a:lnTo>
                <a:lnTo>
                  <a:pt x="48803" y="153534"/>
                </a:lnTo>
                <a:lnTo>
                  <a:pt x="79907" y="159814"/>
                </a:lnTo>
                <a:lnTo>
                  <a:pt x="111010" y="153534"/>
                </a:lnTo>
                <a:lnTo>
                  <a:pt x="136409" y="136409"/>
                </a:lnTo>
                <a:lnTo>
                  <a:pt x="153534" y="111010"/>
                </a:lnTo>
                <a:lnTo>
                  <a:pt x="159814" y="79907"/>
                </a:lnTo>
                <a:lnTo>
                  <a:pt x="153534" y="48803"/>
                </a:lnTo>
                <a:lnTo>
                  <a:pt x="136409" y="23404"/>
                </a:lnTo>
                <a:lnTo>
                  <a:pt x="111010" y="6279"/>
                </a:lnTo>
                <a:lnTo>
                  <a:pt x="79907" y="0"/>
                </a:lnTo>
                <a:close/>
              </a:path>
            </a:pathLst>
          </a:custGeom>
          <a:solidFill>
            <a:srgbClr val="9A31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873976" y="3360029"/>
            <a:ext cx="160020" cy="160020"/>
          </a:xfrm>
          <a:custGeom>
            <a:avLst/>
            <a:gdLst/>
            <a:ahLst/>
            <a:cxnLst/>
            <a:rect l="l" t="t" r="r" b="b"/>
            <a:pathLst>
              <a:path w="160020" h="160020">
                <a:moveTo>
                  <a:pt x="79907" y="0"/>
                </a:moveTo>
                <a:lnTo>
                  <a:pt x="48803" y="6279"/>
                </a:lnTo>
                <a:lnTo>
                  <a:pt x="23404" y="23404"/>
                </a:lnTo>
                <a:lnTo>
                  <a:pt x="6279" y="48803"/>
                </a:lnTo>
                <a:lnTo>
                  <a:pt x="0" y="79907"/>
                </a:lnTo>
                <a:lnTo>
                  <a:pt x="6279" y="111011"/>
                </a:lnTo>
                <a:lnTo>
                  <a:pt x="23404" y="136411"/>
                </a:lnTo>
                <a:lnTo>
                  <a:pt x="48803" y="153535"/>
                </a:lnTo>
                <a:lnTo>
                  <a:pt x="79907" y="159815"/>
                </a:lnTo>
                <a:lnTo>
                  <a:pt x="111011" y="153535"/>
                </a:lnTo>
                <a:lnTo>
                  <a:pt x="136411" y="136411"/>
                </a:lnTo>
                <a:lnTo>
                  <a:pt x="153535" y="111011"/>
                </a:lnTo>
                <a:lnTo>
                  <a:pt x="159815" y="79907"/>
                </a:lnTo>
                <a:lnTo>
                  <a:pt x="153535" y="48803"/>
                </a:lnTo>
                <a:lnTo>
                  <a:pt x="136411" y="23404"/>
                </a:lnTo>
                <a:lnTo>
                  <a:pt x="111011" y="6279"/>
                </a:lnTo>
                <a:lnTo>
                  <a:pt x="79907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873580" y="3109497"/>
            <a:ext cx="160020" cy="160020"/>
          </a:xfrm>
          <a:custGeom>
            <a:avLst/>
            <a:gdLst/>
            <a:ahLst/>
            <a:cxnLst/>
            <a:rect l="l" t="t" r="r" b="b"/>
            <a:pathLst>
              <a:path w="160020" h="160020">
                <a:moveTo>
                  <a:pt x="79907" y="0"/>
                </a:moveTo>
                <a:lnTo>
                  <a:pt x="48803" y="6279"/>
                </a:lnTo>
                <a:lnTo>
                  <a:pt x="23403" y="23404"/>
                </a:lnTo>
                <a:lnTo>
                  <a:pt x="6279" y="48803"/>
                </a:lnTo>
                <a:lnTo>
                  <a:pt x="0" y="79907"/>
                </a:lnTo>
                <a:lnTo>
                  <a:pt x="6279" y="111010"/>
                </a:lnTo>
                <a:lnTo>
                  <a:pt x="23403" y="136409"/>
                </a:lnTo>
                <a:lnTo>
                  <a:pt x="48803" y="153534"/>
                </a:lnTo>
                <a:lnTo>
                  <a:pt x="79907" y="159814"/>
                </a:lnTo>
                <a:lnTo>
                  <a:pt x="111010" y="153534"/>
                </a:lnTo>
                <a:lnTo>
                  <a:pt x="136409" y="136409"/>
                </a:lnTo>
                <a:lnTo>
                  <a:pt x="153534" y="111010"/>
                </a:lnTo>
                <a:lnTo>
                  <a:pt x="159814" y="79907"/>
                </a:lnTo>
                <a:lnTo>
                  <a:pt x="153534" y="48803"/>
                </a:lnTo>
                <a:lnTo>
                  <a:pt x="136409" y="23404"/>
                </a:lnTo>
                <a:lnTo>
                  <a:pt x="111010" y="6279"/>
                </a:lnTo>
                <a:lnTo>
                  <a:pt x="79907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953515" y="3519844"/>
            <a:ext cx="635" cy="88900"/>
          </a:xfrm>
          <a:custGeom>
            <a:avLst/>
            <a:gdLst/>
            <a:ahLst/>
            <a:cxnLst/>
            <a:rect l="l" t="t" r="r" b="b"/>
            <a:pathLst>
              <a:path w="635" h="88900">
                <a:moveTo>
                  <a:pt x="182" y="-15875"/>
                </a:moveTo>
                <a:lnTo>
                  <a:pt x="182" y="104512"/>
                </a:lnTo>
              </a:path>
            </a:pathLst>
          </a:custGeom>
          <a:ln w="3211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416332" y="3273897"/>
            <a:ext cx="528320" cy="300355"/>
          </a:xfrm>
          <a:custGeom>
            <a:avLst/>
            <a:gdLst/>
            <a:ahLst/>
            <a:cxnLst/>
            <a:rect l="l" t="t" r="r" b="b"/>
            <a:pathLst>
              <a:path w="528320" h="300354">
                <a:moveTo>
                  <a:pt x="377706" y="0"/>
                </a:moveTo>
                <a:lnTo>
                  <a:pt x="377706" y="75032"/>
                </a:lnTo>
                <a:lnTo>
                  <a:pt x="0" y="75032"/>
                </a:lnTo>
                <a:lnTo>
                  <a:pt x="0" y="225099"/>
                </a:lnTo>
                <a:lnTo>
                  <a:pt x="377706" y="225099"/>
                </a:lnTo>
                <a:lnTo>
                  <a:pt x="377706" y="300132"/>
                </a:lnTo>
                <a:lnTo>
                  <a:pt x="527773" y="150067"/>
                </a:lnTo>
                <a:lnTo>
                  <a:pt x="37770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344253" y="2984071"/>
            <a:ext cx="344170" cy="320675"/>
          </a:xfrm>
          <a:custGeom>
            <a:avLst/>
            <a:gdLst/>
            <a:ahLst/>
            <a:cxnLst/>
            <a:rect l="l" t="t" r="r" b="b"/>
            <a:pathLst>
              <a:path w="344170" h="320675">
                <a:moveTo>
                  <a:pt x="279348" y="277754"/>
                </a:moveTo>
                <a:lnTo>
                  <a:pt x="262064" y="296365"/>
                </a:lnTo>
                <a:lnTo>
                  <a:pt x="343827" y="320300"/>
                </a:lnTo>
                <a:lnTo>
                  <a:pt x="332904" y="291169"/>
                </a:lnTo>
                <a:lnTo>
                  <a:pt x="293794" y="291169"/>
                </a:lnTo>
                <a:lnTo>
                  <a:pt x="279348" y="277754"/>
                </a:lnTo>
                <a:close/>
              </a:path>
              <a:path w="344170" h="320675">
                <a:moveTo>
                  <a:pt x="296632" y="259141"/>
                </a:moveTo>
                <a:lnTo>
                  <a:pt x="279348" y="277754"/>
                </a:lnTo>
                <a:lnTo>
                  <a:pt x="293794" y="291169"/>
                </a:lnTo>
                <a:lnTo>
                  <a:pt x="301830" y="290871"/>
                </a:lnTo>
                <a:lnTo>
                  <a:pt x="311376" y="280592"/>
                </a:lnTo>
                <a:lnTo>
                  <a:pt x="311078" y="272557"/>
                </a:lnTo>
                <a:lnTo>
                  <a:pt x="296632" y="259141"/>
                </a:lnTo>
                <a:close/>
              </a:path>
              <a:path w="344170" h="320675">
                <a:moveTo>
                  <a:pt x="313917" y="240529"/>
                </a:moveTo>
                <a:lnTo>
                  <a:pt x="296632" y="259141"/>
                </a:lnTo>
                <a:lnTo>
                  <a:pt x="311078" y="272557"/>
                </a:lnTo>
                <a:lnTo>
                  <a:pt x="311376" y="280592"/>
                </a:lnTo>
                <a:lnTo>
                  <a:pt x="301830" y="290871"/>
                </a:lnTo>
                <a:lnTo>
                  <a:pt x="293794" y="291169"/>
                </a:lnTo>
                <a:lnTo>
                  <a:pt x="332904" y="291169"/>
                </a:lnTo>
                <a:lnTo>
                  <a:pt x="313917" y="240529"/>
                </a:lnTo>
                <a:close/>
              </a:path>
              <a:path w="344170" h="320675">
                <a:moveTo>
                  <a:pt x="17581" y="0"/>
                </a:moveTo>
                <a:lnTo>
                  <a:pt x="9546" y="297"/>
                </a:lnTo>
                <a:lnTo>
                  <a:pt x="0" y="10576"/>
                </a:lnTo>
                <a:lnTo>
                  <a:pt x="297" y="18611"/>
                </a:lnTo>
                <a:lnTo>
                  <a:pt x="279348" y="277754"/>
                </a:lnTo>
                <a:lnTo>
                  <a:pt x="296632" y="259141"/>
                </a:lnTo>
                <a:lnTo>
                  <a:pt x="17581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984446" y="3573903"/>
            <a:ext cx="446405" cy="414655"/>
          </a:xfrm>
          <a:custGeom>
            <a:avLst/>
            <a:gdLst/>
            <a:ahLst/>
            <a:cxnLst/>
            <a:rect l="l" t="t" r="r" b="b"/>
            <a:pathLst>
              <a:path w="446404" h="414654">
                <a:moveTo>
                  <a:pt x="64550" y="42438"/>
                </a:moveTo>
                <a:lnTo>
                  <a:pt x="47297" y="61079"/>
                </a:lnTo>
                <a:lnTo>
                  <a:pt x="428696" y="414080"/>
                </a:lnTo>
                <a:lnTo>
                  <a:pt x="436731" y="413769"/>
                </a:lnTo>
                <a:lnTo>
                  <a:pt x="446260" y="403473"/>
                </a:lnTo>
                <a:lnTo>
                  <a:pt x="445949" y="395439"/>
                </a:lnTo>
                <a:lnTo>
                  <a:pt x="64550" y="42438"/>
                </a:lnTo>
                <a:close/>
              </a:path>
              <a:path w="446404" h="414654">
                <a:moveTo>
                  <a:pt x="0" y="0"/>
                </a:moveTo>
                <a:lnTo>
                  <a:pt x="30044" y="79720"/>
                </a:lnTo>
                <a:lnTo>
                  <a:pt x="47297" y="61079"/>
                </a:lnTo>
                <a:lnTo>
                  <a:pt x="32829" y="47688"/>
                </a:lnTo>
                <a:lnTo>
                  <a:pt x="32518" y="39653"/>
                </a:lnTo>
                <a:lnTo>
                  <a:pt x="42047" y="29358"/>
                </a:lnTo>
                <a:lnTo>
                  <a:pt x="50082" y="29047"/>
                </a:lnTo>
                <a:lnTo>
                  <a:pt x="76944" y="29047"/>
                </a:lnTo>
                <a:lnTo>
                  <a:pt x="81803" y="23797"/>
                </a:lnTo>
                <a:lnTo>
                  <a:pt x="0" y="0"/>
                </a:lnTo>
                <a:close/>
              </a:path>
              <a:path w="446404" h="414654">
                <a:moveTo>
                  <a:pt x="50082" y="29047"/>
                </a:moveTo>
                <a:lnTo>
                  <a:pt x="42047" y="29358"/>
                </a:lnTo>
                <a:lnTo>
                  <a:pt x="32518" y="39653"/>
                </a:lnTo>
                <a:lnTo>
                  <a:pt x="32829" y="47688"/>
                </a:lnTo>
                <a:lnTo>
                  <a:pt x="47297" y="61079"/>
                </a:lnTo>
                <a:lnTo>
                  <a:pt x="64550" y="42438"/>
                </a:lnTo>
                <a:lnTo>
                  <a:pt x="50082" y="29047"/>
                </a:lnTo>
                <a:close/>
              </a:path>
              <a:path w="446404" h="414654">
                <a:moveTo>
                  <a:pt x="76944" y="29047"/>
                </a:moveTo>
                <a:lnTo>
                  <a:pt x="50082" y="29047"/>
                </a:lnTo>
                <a:lnTo>
                  <a:pt x="64550" y="42438"/>
                </a:lnTo>
                <a:lnTo>
                  <a:pt x="76944" y="29047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352161" y="4882445"/>
            <a:ext cx="235585" cy="235585"/>
          </a:xfrm>
          <a:custGeom>
            <a:avLst/>
            <a:gdLst/>
            <a:ahLst/>
            <a:cxnLst/>
            <a:rect l="l" t="t" r="r" b="b"/>
            <a:pathLst>
              <a:path w="235585" h="235585">
                <a:moveTo>
                  <a:pt x="118043" y="0"/>
                </a:moveTo>
                <a:lnTo>
                  <a:pt x="117190" y="0"/>
                </a:lnTo>
                <a:lnTo>
                  <a:pt x="94357" y="2302"/>
                </a:lnTo>
                <a:lnTo>
                  <a:pt x="52193" y="19864"/>
                </a:lnTo>
                <a:lnTo>
                  <a:pt x="20319" y="51516"/>
                </a:lnTo>
                <a:lnTo>
                  <a:pt x="2471" y="93524"/>
                </a:lnTo>
                <a:lnTo>
                  <a:pt x="0" y="117190"/>
                </a:lnTo>
                <a:lnTo>
                  <a:pt x="85" y="118891"/>
                </a:lnTo>
                <a:lnTo>
                  <a:pt x="9081" y="163007"/>
                </a:lnTo>
                <a:lnTo>
                  <a:pt x="34162" y="200497"/>
                </a:lnTo>
                <a:lnTo>
                  <a:pt x="71459" y="225828"/>
                </a:lnTo>
                <a:lnTo>
                  <a:pt x="117190" y="235234"/>
                </a:lnTo>
                <a:lnTo>
                  <a:pt x="118043" y="235234"/>
                </a:lnTo>
                <a:lnTo>
                  <a:pt x="163007" y="226152"/>
                </a:lnTo>
                <a:lnTo>
                  <a:pt x="174587" y="219960"/>
                </a:lnTo>
                <a:lnTo>
                  <a:pt x="117617" y="219960"/>
                </a:lnTo>
                <a:lnTo>
                  <a:pt x="96986" y="217881"/>
                </a:lnTo>
                <a:lnTo>
                  <a:pt x="60396" y="202483"/>
                </a:lnTo>
                <a:lnTo>
                  <a:pt x="32750" y="174838"/>
                </a:lnTo>
                <a:lnTo>
                  <a:pt x="17353" y="138248"/>
                </a:lnTo>
                <a:lnTo>
                  <a:pt x="15317" y="118043"/>
                </a:lnTo>
                <a:lnTo>
                  <a:pt x="15317" y="117190"/>
                </a:lnTo>
                <a:lnTo>
                  <a:pt x="23315" y="77778"/>
                </a:lnTo>
                <a:lnTo>
                  <a:pt x="45248" y="45248"/>
                </a:lnTo>
                <a:lnTo>
                  <a:pt x="77778" y="23315"/>
                </a:lnTo>
                <a:lnTo>
                  <a:pt x="117617" y="15274"/>
                </a:lnTo>
                <a:lnTo>
                  <a:pt x="174585" y="15274"/>
                </a:lnTo>
                <a:lnTo>
                  <a:pt x="163774" y="9406"/>
                </a:lnTo>
                <a:lnTo>
                  <a:pt x="163007" y="9081"/>
                </a:lnTo>
                <a:lnTo>
                  <a:pt x="141710" y="2471"/>
                </a:lnTo>
                <a:lnTo>
                  <a:pt x="140876" y="2302"/>
                </a:lnTo>
                <a:lnTo>
                  <a:pt x="118043" y="0"/>
                </a:lnTo>
                <a:close/>
              </a:path>
              <a:path w="235585" h="235585">
                <a:moveTo>
                  <a:pt x="174585" y="15274"/>
                </a:moveTo>
                <a:lnTo>
                  <a:pt x="117617" y="15274"/>
                </a:lnTo>
                <a:lnTo>
                  <a:pt x="138248" y="17354"/>
                </a:lnTo>
                <a:lnTo>
                  <a:pt x="157455" y="23315"/>
                </a:lnTo>
                <a:lnTo>
                  <a:pt x="189985" y="45248"/>
                </a:lnTo>
                <a:lnTo>
                  <a:pt x="211918" y="77778"/>
                </a:lnTo>
                <a:lnTo>
                  <a:pt x="219917" y="117190"/>
                </a:lnTo>
                <a:lnTo>
                  <a:pt x="219917" y="118043"/>
                </a:lnTo>
                <a:lnTo>
                  <a:pt x="211918" y="157455"/>
                </a:lnTo>
                <a:lnTo>
                  <a:pt x="189985" y="189985"/>
                </a:lnTo>
                <a:lnTo>
                  <a:pt x="157455" y="211918"/>
                </a:lnTo>
                <a:lnTo>
                  <a:pt x="117617" y="219960"/>
                </a:lnTo>
                <a:lnTo>
                  <a:pt x="174587" y="219960"/>
                </a:lnTo>
                <a:lnTo>
                  <a:pt x="214913" y="183719"/>
                </a:lnTo>
                <a:lnTo>
                  <a:pt x="232763" y="141710"/>
                </a:lnTo>
                <a:lnTo>
                  <a:pt x="235234" y="117190"/>
                </a:lnTo>
                <a:lnTo>
                  <a:pt x="232933" y="94358"/>
                </a:lnTo>
                <a:lnTo>
                  <a:pt x="215371" y="52194"/>
                </a:lnTo>
                <a:lnTo>
                  <a:pt x="183719" y="20321"/>
                </a:lnTo>
                <a:lnTo>
                  <a:pt x="183040" y="19862"/>
                </a:lnTo>
                <a:lnTo>
                  <a:pt x="174585" y="15274"/>
                </a:lnTo>
                <a:close/>
              </a:path>
              <a:path w="235585" h="235585">
                <a:moveTo>
                  <a:pt x="117617" y="20379"/>
                </a:moveTo>
                <a:lnTo>
                  <a:pt x="79762" y="28020"/>
                </a:lnTo>
                <a:lnTo>
                  <a:pt x="36981" y="63251"/>
                </a:lnTo>
                <a:lnTo>
                  <a:pt x="20422" y="117190"/>
                </a:lnTo>
                <a:lnTo>
                  <a:pt x="20422" y="118043"/>
                </a:lnTo>
                <a:lnTo>
                  <a:pt x="22357" y="137231"/>
                </a:lnTo>
                <a:lnTo>
                  <a:pt x="48856" y="186377"/>
                </a:lnTo>
                <a:lnTo>
                  <a:pt x="98003" y="212877"/>
                </a:lnTo>
                <a:lnTo>
                  <a:pt x="117617" y="214854"/>
                </a:lnTo>
                <a:lnTo>
                  <a:pt x="137229" y="212877"/>
                </a:lnTo>
                <a:lnTo>
                  <a:pt x="147308" y="209749"/>
                </a:lnTo>
                <a:lnTo>
                  <a:pt x="117617" y="209749"/>
                </a:lnTo>
                <a:lnTo>
                  <a:pt x="99021" y="207874"/>
                </a:lnTo>
                <a:lnTo>
                  <a:pt x="52466" y="182769"/>
                </a:lnTo>
                <a:lnTo>
                  <a:pt x="27359" y="136212"/>
                </a:lnTo>
                <a:lnTo>
                  <a:pt x="25528" y="118043"/>
                </a:lnTo>
                <a:lnTo>
                  <a:pt x="25528" y="117190"/>
                </a:lnTo>
                <a:lnTo>
                  <a:pt x="41212" y="66106"/>
                </a:lnTo>
                <a:lnTo>
                  <a:pt x="81746" y="32722"/>
                </a:lnTo>
                <a:lnTo>
                  <a:pt x="117617" y="25486"/>
                </a:lnTo>
                <a:lnTo>
                  <a:pt x="147310" y="25486"/>
                </a:lnTo>
                <a:lnTo>
                  <a:pt x="137229" y="22357"/>
                </a:lnTo>
                <a:lnTo>
                  <a:pt x="117617" y="20379"/>
                </a:lnTo>
                <a:close/>
              </a:path>
              <a:path w="235585" h="235585">
                <a:moveTo>
                  <a:pt x="147310" y="25486"/>
                </a:moveTo>
                <a:lnTo>
                  <a:pt x="117617" y="25486"/>
                </a:lnTo>
                <a:lnTo>
                  <a:pt x="136212" y="27360"/>
                </a:lnTo>
                <a:lnTo>
                  <a:pt x="153542" y="32752"/>
                </a:lnTo>
                <a:lnTo>
                  <a:pt x="194021" y="66106"/>
                </a:lnTo>
                <a:lnTo>
                  <a:pt x="209705" y="117190"/>
                </a:lnTo>
                <a:lnTo>
                  <a:pt x="209705" y="118043"/>
                </a:lnTo>
                <a:lnTo>
                  <a:pt x="194021" y="169129"/>
                </a:lnTo>
                <a:lnTo>
                  <a:pt x="153488" y="202511"/>
                </a:lnTo>
                <a:lnTo>
                  <a:pt x="117617" y="209749"/>
                </a:lnTo>
                <a:lnTo>
                  <a:pt x="147308" y="209749"/>
                </a:lnTo>
                <a:lnTo>
                  <a:pt x="186376" y="186377"/>
                </a:lnTo>
                <a:lnTo>
                  <a:pt x="212877" y="137231"/>
                </a:lnTo>
                <a:lnTo>
                  <a:pt x="214811" y="118043"/>
                </a:lnTo>
                <a:lnTo>
                  <a:pt x="214811" y="117190"/>
                </a:lnTo>
                <a:lnTo>
                  <a:pt x="207214" y="79762"/>
                </a:lnTo>
                <a:lnTo>
                  <a:pt x="171983" y="36982"/>
                </a:lnTo>
                <a:lnTo>
                  <a:pt x="155472" y="28020"/>
                </a:lnTo>
                <a:lnTo>
                  <a:pt x="147310" y="2548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556752" y="3226681"/>
            <a:ext cx="248285" cy="248285"/>
          </a:xfrm>
          <a:custGeom>
            <a:avLst/>
            <a:gdLst/>
            <a:ahLst/>
            <a:cxnLst/>
            <a:rect l="l" t="t" r="r" b="b"/>
            <a:pathLst>
              <a:path w="248285" h="248285">
                <a:moveTo>
                  <a:pt x="123424" y="0"/>
                </a:moveTo>
                <a:lnTo>
                  <a:pt x="76151" y="9554"/>
                </a:lnTo>
                <a:lnTo>
                  <a:pt x="36600" y="36026"/>
                </a:lnTo>
                <a:lnTo>
                  <a:pt x="9878" y="75382"/>
                </a:lnTo>
                <a:lnTo>
                  <a:pt x="0" y="124705"/>
                </a:lnTo>
                <a:lnTo>
                  <a:pt x="704" y="137368"/>
                </a:lnTo>
                <a:lnTo>
                  <a:pt x="20934" y="193114"/>
                </a:lnTo>
                <a:lnTo>
                  <a:pt x="54338" y="226739"/>
                </a:lnTo>
                <a:lnTo>
                  <a:pt x="98456" y="245499"/>
                </a:lnTo>
                <a:lnTo>
                  <a:pt x="124706" y="248130"/>
                </a:lnTo>
                <a:lnTo>
                  <a:pt x="137369" y="247425"/>
                </a:lnTo>
                <a:lnTo>
                  <a:pt x="182590" y="232909"/>
                </a:lnTo>
                <a:lnTo>
                  <a:pt x="123936" y="232909"/>
                </a:lnTo>
                <a:lnTo>
                  <a:pt x="112805" y="232333"/>
                </a:lnTo>
                <a:lnTo>
                  <a:pt x="63218" y="214308"/>
                </a:lnTo>
                <a:lnTo>
                  <a:pt x="33821" y="184912"/>
                </a:lnTo>
                <a:lnTo>
                  <a:pt x="17429" y="145940"/>
                </a:lnTo>
                <a:lnTo>
                  <a:pt x="15247" y="123423"/>
                </a:lnTo>
                <a:lnTo>
                  <a:pt x="15796" y="112805"/>
                </a:lnTo>
                <a:lnTo>
                  <a:pt x="33821" y="63218"/>
                </a:lnTo>
                <a:lnTo>
                  <a:pt x="63218" y="33821"/>
                </a:lnTo>
                <a:lnTo>
                  <a:pt x="102189" y="17428"/>
                </a:lnTo>
                <a:lnTo>
                  <a:pt x="124193" y="15220"/>
                </a:lnTo>
                <a:lnTo>
                  <a:pt x="182591" y="15220"/>
                </a:lnTo>
                <a:lnTo>
                  <a:pt x="172747" y="9878"/>
                </a:lnTo>
                <a:lnTo>
                  <a:pt x="171979" y="9554"/>
                </a:lnTo>
                <a:lnTo>
                  <a:pt x="149672" y="2628"/>
                </a:lnTo>
                <a:lnTo>
                  <a:pt x="149054" y="2487"/>
                </a:lnTo>
                <a:lnTo>
                  <a:pt x="136094" y="575"/>
                </a:lnTo>
                <a:lnTo>
                  <a:pt x="123424" y="0"/>
                </a:lnTo>
                <a:close/>
              </a:path>
              <a:path w="248285" h="248285">
                <a:moveTo>
                  <a:pt x="182591" y="15220"/>
                </a:moveTo>
                <a:lnTo>
                  <a:pt x="124193" y="15220"/>
                </a:lnTo>
                <a:lnTo>
                  <a:pt x="135324" y="15794"/>
                </a:lnTo>
                <a:lnTo>
                  <a:pt x="145940" y="17428"/>
                </a:lnTo>
                <a:lnTo>
                  <a:pt x="184912" y="33821"/>
                </a:lnTo>
                <a:lnTo>
                  <a:pt x="214308" y="63218"/>
                </a:lnTo>
                <a:lnTo>
                  <a:pt x="230701" y="102189"/>
                </a:lnTo>
                <a:lnTo>
                  <a:pt x="232882" y="124705"/>
                </a:lnTo>
                <a:lnTo>
                  <a:pt x="232335" y="135324"/>
                </a:lnTo>
                <a:lnTo>
                  <a:pt x="214308" y="184912"/>
                </a:lnTo>
                <a:lnTo>
                  <a:pt x="184912" y="214308"/>
                </a:lnTo>
                <a:lnTo>
                  <a:pt x="145940" y="230700"/>
                </a:lnTo>
                <a:lnTo>
                  <a:pt x="123936" y="232909"/>
                </a:lnTo>
                <a:lnTo>
                  <a:pt x="182590" y="232909"/>
                </a:lnTo>
                <a:lnTo>
                  <a:pt x="226739" y="193791"/>
                </a:lnTo>
                <a:lnTo>
                  <a:pt x="245499" y="149672"/>
                </a:lnTo>
                <a:lnTo>
                  <a:pt x="248130" y="123423"/>
                </a:lnTo>
                <a:lnTo>
                  <a:pt x="247426" y="110760"/>
                </a:lnTo>
                <a:lnTo>
                  <a:pt x="227196" y="55015"/>
                </a:lnTo>
                <a:lnTo>
                  <a:pt x="193791" y="21390"/>
                </a:lnTo>
                <a:lnTo>
                  <a:pt x="192995" y="20868"/>
                </a:lnTo>
                <a:lnTo>
                  <a:pt x="182591" y="15220"/>
                </a:lnTo>
                <a:close/>
              </a:path>
              <a:path w="248285" h="248285">
                <a:moveTo>
                  <a:pt x="124449" y="20293"/>
                </a:moveTo>
                <a:lnTo>
                  <a:pt x="83686" y="28491"/>
                </a:lnTo>
                <a:lnTo>
                  <a:pt x="50719" y="50718"/>
                </a:lnTo>
                <a:lnTo>
                  <a:pt x="28492" y="83685"/>
                </a:lnTo>
                <a:lnTo>
                  <a:pt x="20308" y="123423"/>
                </a:lnTo>
                <a:lnTo>
                  <a:pt x="20342" y="124705"/>
                </a:lnTo>
                <a:lnTo>
                  <a:pt x="28492" y="164443"/>
                </a:lnTo>
                <a:lnTo>
                  <a:pt x="50719" y="197410"/>
                </a:lnTo>
                <a:lnTo>
                  <a:pt x="83686" y="219637"/>
                </a:lnTo>
                <a:lnTo>
                  <a:pt x="123681" y="227835"/>
                </a:lnTo>
                <a:lnTo>
                  <a:pt x="134303" y="227337"/>
                </a:lnTo>
                <a:lnTo>
                  <a:pt x="144799" y="225736"/>
                </a:lnTo>
                <a:lnTo>
                  <a:pt x="154380" y="222761"/>
                </a:lnTo>
                <a:lnTo>
                  <a:pt x="123424" y="222761"/>
                </a:lnTo>
                <a:lnTo>
                  <a:pt x="113318" y="222186"/>
                </a:lnTo>
                <a:lnTo>
                  <a:pt x="68927" y="205846"/>
                </a:lnTo>
                <a:lnTo>
                  <a:pt x="33195" y="162459"/>
                </a:lnTo>
                <a:lnTo>
                  <a:pt x="25368" y="123423"/>
                </a:lnTo>
                <a:lnTo>
                  <a:pt x="25870" y="114592"/>
                </a:lnTo>
                <a:lnTo>
                  <a:pt x="42283" y="68926"/>
                </a:lnTo>
                <a:lnTo>
                  <a:pt x="85670" y="33195"/>
                </a:lnTo>
                <a:lnTo>
                  <a:pt x="124706" y="25366"/>
                </a:lnTo>
                <a:lnTo>
                  <a:pt x="154380" y="25366"/>
                </a:lnTo>
                <a:lnTo>
                  <a:pt x="144799" y="22392"/>
                </a:lnTo>
                <a:lnTo>
                  <a:pt x="135069" y="20868"/>
                </a:lnTo>
                <a:lnTo>
                  <a:pt x="124449" y="20293"/>
                </a:lnTo>
                <a:close/>
              </a:path>
              <a:path w="248285" h="248285">
                <a:moveTo>
                  <a:pt x="154380" y="25366"/>
                </a:moveTo>
                <a:lnTo>
                  <a:pt x="124706" y="25366"/>
                </a:lnTo>
                <a:lnTo>
                  <a:pt x="134813" y="25942"/>
                </a:lnTo>
                <a:lnTo>
                  <a:pt x="143656" y="27357"/>
                </a:lnTo>
                <a:lnTo>
                  <a:pt x="179203" y="42282"/>
                </a:lnTo>
                <a:lnTo>
                  <a:pt x="214934" y="85669"/>
                </a:lnTo>
                <a:lnTo>
                  <a:pt x="222763" y="124705"/>
                </a:lnTo>
                <a:lnTo>
                  <a:pt x="222216" y="134302"/>
                </a:lnTo>
                <a:lnTo>
                  <a:pt x="205847" y="179202"/>
                </a:lnTo>
                <a:lnTo>
                  <a:pt x="162460" y="214934"/>
                </a:lnTo>
                <a:lnTo>
                  <a:pt x="123424" y="222761"/>
                </a:lnTo>
                <a:lnTo>
                  <a:pt x="154380" y="222761"/>
                </a:lnTo>
                <a:lnTo>
                  <a:pt x="197411" y="197410"/>
                </a:lnTo>
                <a:lnTo>
                  <a:pt x="219638" y="164443"/>
                </a:lnTo>
                <a:lnTo>
                  <a:pt x="227821" y="124705"/>
                </a:lnTo>
                <a:lnTo>
                  <a:pt x="227787" y="123423"/>
                </a:lnTo>
                <a:lnTo>
                  <a:pt x="219638" y="83685"/>
                </a:lnTo>
                <a:lnTo>
                  <a:pt x="197411" y="50718"/>
                </a:lnTo>
                <a:lnTo>
                  <a:pt x="164444" y="28491"/>
                </a:lnTo>
                <a:lnTo>
                  <a:pt x="154380" y="2536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4823409" y="3981196"/>
            <a:ext cx="11912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latin typeface="Arial"/>
                <a:cs typeface="Arial"/>
              </a:rPr>
              <a:t>2</a:t>
            </a:r>
            <a:r>
              <a:rPr dirty="0" baseline="25252" sz="1650" spc="-15">
                <a:latin typeface="Arial"/>
                <a:cs typeface="Arial"/>
              </a:rPr>
              <a:t>nd </a:t>
            </a:r>
            <a:r>
              <a:rPr dirty="0" sz="1600" spc="-5">
                <a:latin typeface="Arial"/>
                <a:cs typeface="Arial"/>
              </a:rPr>
              <a:t>hop</a:t>
            </a:r>
            <a:r>
              <a:rPr dirty="0" sz="1600" spc="-11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edge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63" name="object 6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64" name="object 6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34</a:t>
            </a:fld>
          </a:p>
        </p:txBody>
      </p:sp>
      <p:sp>
        <p:nvSpPr>
          <p:cNvPr id="61" name="object 61"/>
          <p:cNvSpPr txBox="1"/>
          <p:nvPr/>
        </p:nvSpPr>
        <p:spPr>
          <a:xfrm>
            <a:off x="4055036" y="5549900"/>
            <a:ext cx="175323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5" b="1">
                <a:latin typeface="Arial"/>
                <a:cs typeface="Arial"/>
              </a:rPr>
              <a:t>Neighborhoods  around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anchors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56615"/>
            <a:ext cx="8284464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20355" cy="1491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Use GNN </a:t>
            </a:r>
            <a:r>
              <a:rPr dirty="0" spc="-15"/>
              <a:t>to </a:t>
            </a:r>
            <a:r>
              <a:rPr dirty="0" spc="-10"/>
              <a:t>obtain </a:t>
            </a:r>
            <a:r>
              <a:rPr dirty="0" spc="-15"/>
              <a:t>representations </a:t>
            </a:r>
            <a:r>
              <a:rPr dirty="0"/>
              <a:t>of </a:t>
            </a:r>
            <a:r>
              <a:rPr dirty="0">
                <a:latin typeface="Cambria Math"/>
                <a:cs typeface="Cambria Math"/>
              </a:rPr>
              <a:t>𝑢 </a:t>
            </a:r>
            <a:r>
              <a:rPr dirty="0"/>
              <a:t>and</a:t>
            </a:r>
            <a:r>
              <a:rPr dirty="0" spc="110"/>
              <a:t> </a:t>
            </a:r>
            <a:r>
              <a:rPr dirty="0">
                <a:latin typeface="Cambria Math"/>
                <a:cs typeface="Cambria Math"/>
              </a:rPr>
              <a:t>𝑣</a:t>
            </a:r>
          </a:p>
          <a:p>
            <a:pPr marL="332740" marR="1129030" indent="-320040">
              <a:lnSpc>
                <a:spcPts val="3910"/>
              </a:lnSpc>
              <a:spcBef>
                <a:spcPts val="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latin typeface="Calibri"/>
                <a:cs typeface="Calibri"/>
              </a:rPr>
              <a:t>Predict </a:t>
            </a:r>
            <a:r>
              <a:rPr dirty="0" b="1">
                <a:latin typeface="Calibri"/>
                <a:cs typeface="Calibri"/>
              </a:rPr>
              <a:t>if </a:t>
            </a:r>
            <a:r>
              <a:rPr dirty="0" spc="-5" b="1">
                <a:latin typeface="Calibri"/>
                <a:cs typeface="Calibri"/>
              </a:rPr>
              <a:t>node </a:t>
            </a:r>
            <a:r>
              <a:rPr dirty="0" spc="-65">
                <a:latin typeface="Cambria Math"/>
                <a:cs typeface="Cambria Math"/>
              </a:rPr>
              <a:t>𝒖</a:t>
            </a:r>
            <a:r>
              <a:rPr dirty="0" spc="-65" b="1">
                <a:latin typeface="Calibri"/>
                <a:cs typeface="Calibri"/>
              </a:rPr>
              <a:t>’s </a:t>
            </a:r>
            <a:r>
              <a:rPr dirty="0" spc="-5" b="1">
                <a:latin typeface="Calibri"/>
                <a:cs typeface="Calibri"/>
              </a:rPr>
              <a:t>neighborhood </a:t>
            </a:r>
            <a:r>
              <a:rPr dirty="0" b="1">
                <a:latin typeface="Calibri"/>
                <a:cs typeface="Calibri"/>
              </a:rPr>
              <a:t>is  </a:t>
            </a:r>
            <a:r>
              <a:rPr dirty="0" spc="-5" b="1">
                <a:latin typeface="Calibri"/>
                <a:cs typeface="Calibri"/>
              </a:rPr>
              <a:t>isomorphic </a:t>
            </a:r>
            <a:r>
              <a:rPr dirty="0" spc="-15" b="1">
                <a:latin typeface="Calibri"/>
                <a:cs typeface="Calibri"/>
              </a:rPr>
              <a:t>to </a:t>
            </a:r>
            <a:r>
              <a:rPr dirty="0" spc="-5" b="1">
                <a:latin typeface="Calibri"/>
                <a:cs typeface="Calibri"/>
              </a:rPr>
              <a:t>node </a:t>
            </a:r>
            <a:r>
              <a:rPr dirty="0" spc="-60">
                <a:latin typeface="Cambria Math"/>
                <a:cs typeface="Cambria Math"/>
              </a:rPr>
              <a:t>𝒗</a:t>
            </a:r>
            <a:r>
              <a:rPr dirty="0" spc="-60" b="1">
                <a:latin typeface="Calibri"/>
                <a:cs typeface="Calibri"/>
              </a:rPr>
              <a:t>’s</a:t>
            </a:r>
            <a:r>
              <a:rPr dirty="0" b="1">
                <a:latin typeface="Calibri"/>
                <a:cs typeface="Calibri"/>
              </a:rPr>
              <a:t> </a:t>
            </a:r>
            <a:r>
              <a:rPr dirty="0" spc="-5" b="1">
                <a:latin typeface="Calibri"/>
                <a:cs typeface="Calibri"/>
              </a:rPr>
              <a:t>neighborhood:</a:t>
            </a:r>
          </a:p>
        </p:txBody>
      </p:sp>
      <p:sp>
        <p:nvSpPr>
          <p:cNvPr id="4" name="object 4"/>
          <p:cNvSpPr/>
          <p:nvPr/>
        </p:nvSpPr>
        <p:spPr>
          <a:xfrm>
            <a:off x="508192" y="3282664"/>
            <a:ext cx="906780" cy="1194435"/>
          </a:xfrm>
          <a:custGeom>
            <a:avLst/>
            <a:gdLst/>
            <a:ahLst/>
            <a:cxnLst/>
            <a:rect l="l" t="t" r="r" b="b"/>
            <a:pathLst>
              <a:path w="906780" h="1194435">
                <a:moveTo>
                  <a:pt x="790344" y="0"/>
                </a:moveTo>
                <a:lnTo>
                  <a:pt x="116367" y="0"/>
                </a:lnTo>
                <a:lnTo>
                  <a:pt x="71071" y="9144"/>
                </a:lnTo>
                <a:lnTo>
                  <a:pt x="34083" y="34082"/>
                </a:lnTo>
                <a:lnTo>
                  <a:pt x="9144" y="71071"/>
                </a:lnTo>
                <a:lnTo>
                  <a:pt x="0" y="116366"/>
                </a:lnTo>
                <a:lnTo>
                  <a:pt x="0" y="1077621"/>
                </a:lnTo>
                <a:lnTo>
                  <a:pt x="9144" y="1122917"/>
                </a:lnTo>
                <a:lnTo>
                  <a:pt x="34083" y="1159906"/>
                </a:lnTo>
                <a:lnTo>
                  <a:pt x="71071" y="1184844"/>
                </a:lnTo>
                <a:lnTo>
                  <a:pt x="116367" y="1193989"/>
                </a:lnTo>
                <a:lnTo>
                  <a:pt x="790344" y="1193989"/>
                </a:lnTo>
                <a:lnTo>
                  <a:pt x="835639" y="1184844"/>
                </a:lnTo>
                <a:lnTo>
                  <a:pt x="872628" y="1159906"/>
                </a:lnTo>
                <a:lnTo>
                  <a:pt x="897567" y="1122917"/>
                </a:lnTo>
                <a:lnTo>
                  <a:pt x="906712" y="1077621"/>
                </a:lnTo>
                <a:lnTo>
                  <a:pt x="906712" y="116366"/>
                </a:lnTo>
                <a:lnTo>
                  <a:pt x="897567" y="71071"/>
                </a:lnTo>
                <a:lnTo>
                  <a:pt x="872628" y="34082"/>
                </a:lnTo>
                <a:lnTo>
                  <a:pt x="835639" y="9144"/>
                </a:lnTo>
                <a:lnTo>
                  <a:pt x="790344" y="0"/>
                </a:lnTo>
                <a:close/>
              </a:path>
            </a:pathLst>
          </a:custGeom>
          <a:solidFill>
            <a:srgbClr val="F4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36381" y="3871255"/>
            <a:ext cx="635" cy="339090"/>
          </a:xfrm>
          <a:custGeom>
            <a:avLst/>
            <a:gdLst/>
            <a:ahLst/>
            <a:cxnLst/>
            <a:rect l="l" t="t" r="r" b="b"/>
            <a:pathLst>
              <a:path w="634" h="339089">
                <a:moveTo>
                  <a:pt x="62" y="338515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21956" y="3510206"/>
            <a:ext cx="160020" cy="213995"/>
          </a:xfrm>
          <a:custGeom>
            <a:avLst/>
            <a:gdLst/>
            <a:ahLst/>
            <a:cxnLst/>
            <a:rect l="l" t="t" r="r" b="b"/>
            <a:pathLst>
              <a:path w="160019" h="213995">
                <a:moveTo>
                  <a:pt x="0" y="213571"/>
                </a:moveTo>
                <a:lnTo>
                  <a:pt x="15993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46513" y="3784865"/>
            <a:ext cx="406400" cy="0"/>
          </a:xfrm>
          <a:custGeom>
            <a:avLst/>
            <a:gdLst/>
            <a:ahLst/>
            <a:cxnLst/>
            <a:rect l="l" t="t" r="r" b="b"/>
            <a:pathLst>
              <a:path w="406400" h="0">
                <a:moveTo>
                  <a:pt x="0" y="0"/>
                </a:moveTo>
                <a:lnTo>
                  <a:pt x="406018" y="1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02243" y="3510206"/>
            <a:ext cx="175260" cy="213995"/>
          </a:xfrm>
          <a:custGeom>
            <a:avLst/>
            <a:gdLst/>
            <a:ahLst/>
            <a:cxnLst/>
            <a:rect l="l" t="t" r="r" b="b"/>
            <a:pathLst>
              <a:path w="175259" h="213995">
                <a:moveTo>
                  <a:pt x="174846" y="213571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78818" y="3698472"/>
            <a:ext cx="168275" cy="173355"/>
          </a:xfrm>
          <a:custGeom>
            <a:avLst/>
            <a:gdLst/>
            <a:ahLst/>
            <a:cxnLst/>
            <a:rect l="l" t="t" r="r" b="b"/>
            <a:pathLst>
              <a:path w="168275" h="173354">
                <a:moveTo>
                  <a:pt x="83848" y="0"/>
                </a:moveTo>
                <a:lnTo>
                  <a:pt x="51210" y="6789"/>
                </a:lnTo>
                <a:lnTo>
                  <a:pt x="24558" y="25303"/>
                </a:lnTo>
                <a:lnTo>
                  <a:pt x="6589" y="52764"/>
                </a:lnTo>
                <a:lnTo>
                  <a:pt x="0" y="86391"/>
                </a:lnTo>
                <a:lnTo>
                  <a:pt x="6589" y="120019"/>
                </a:lnTo>
                <a:lnTo>
                  <a:pt x="24558" y="147479"/>
                </a:lnTo>
                <a:lnTo>
                  <a:pt x="51210" y="165994"/>
                </a:lnTo>
                <a:lnTo>
                  <a:pt x="83848" y="172783"/>
                </a:lnTo>
                <a:lnTo>
                  <a:pt x="116485" y="165994"/>
                </a:lnTo>
                <a:lnTo>
                  <a:pt x="143137" y="147479"/>
                </a:lnTo>
                <a:lnTo>
                  <a:pt x="161106" y="120019"/>
                </a:lnTo>
                <a:lnTo>
                  <a:pt x="167696" y="86391"/>
                </a:lnTo>
                <a:lnTo>
                  <a:pt x="161106" y="52764"/>
                </a:lnTo>
                <a:lnTo>
                  <a:pt x="143137" y="25303"/>
                </a:lnTo>
                <a:lnTo>
                  <a:pt x="116485" y="6789"/>
                </a:lnTo>
                <a:lnTo>
                  <a:pt x="8384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56958" y="3360511"/>
            <a:ext cx="170815" cy="175895"/>
          </a:xfrm>
          <a:custGeom>
            <a:avLst/>
            <a:gdLst/>
            <a:ahLst/>
            <a:cxnLst/>
            <a:rect l="l" t="t" r="r" b="b"/>
            <a:pathLst>
              <a:path w="170815" h="175895">
                <a:moveTo>
                  <a:pt x="85106" y="0"/>
                </a:moveTo>
                <a:lnTo>
                  <a:pt x="51979" y="6891"/>
                </a:lnTo>
                <a:lnTo>
                  <a:pt x="24927" y="25683"/>
                </a:lnTo>
                <a:lnTo>
                  <a:pt x="6688" y="53556"/>
                </a:lnTo>
                <a:lnTo>
                  <a:pt x="0" y="87688"/>
                </a:lnTo>
                <a:lnTo>
                  <a:pt x="6688" y="121820"/>
                </a:lnTo>
                <a:lnTo>
                  <a:pt x="24927" y="149693"/>
                </a:lnTo>
                <a:lnTo>
                  <a:pt x="51979" y="168485"/>
                </a:lnTo>
                <a:lnTo>
                  <a:pt x="85106" y="175376"/>
                </a:lnTo>
                <a:lnTo>
                  <a:pt x="118233" y="168485"/>
                </a:lnTo>
                <a:lnTo>
                  <a:pt x="145285" y="149693"/>
                </a:lnTo>
                <a:lnTo>
                  <a:pt x="163524" y="121820"/>
                </a:lnTo>
                <a:lnTo>
                  <a:pt x="170213" y="87688"/>
                </a:lnTo>
                <a:lnTo>
                  <a:pt x="163524" y="53556"/>
                </a:lnTo>
                <a:lnTo>
                  <a:pt x="145285" y="25683"/>
                </a:lnTo>
                <a:lnTo>
                  <a:pt x="118233" y="6891"/>
                </a:lnTo>
                <a:lnTo>
                  <a:pt x="85106" y="0"/>
                </a:lnTo>
                <a:close/>
              </a:path>
            </a:pathLst>
          </a:custGeom>
          <a:solidFill>
            <a:srgbClr val="9A31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52531" y="3698472"/>
            <a:ext cx="168275" cy="173355"/>
          </a:xfrm>
          <a:custGeom>
            <a:avLst/>
            <a:gdLst/>
            <a:ahLst/>
            <a:cxnLst/>
            <a:rect l="l" t="t" r="r" b="b"/>
            <a:pathLst>
              <a:path w="168275" h="173354">
                <a:moveTo>
                  <a:pt x="83847" y="0"/>
                </a:moveTo>
                <a:lnTo>
                  <a:pt x="51210" y="6789"/>
                </a:lnTo>
                <a:lnTo>
                  <a:pt x="24558" y="25303"/>
                </a:lnTo>
                <a:lnTo>
                  <a:pt x="6589" y="52764"/>
                </a:lnTo>
                <a:lnTo>
                  <a:pt x="0" y="86391"/>
                </a:lnTo>
                <a:lnTo>
                  <a:pt x="6589" y="120019"/>
                </a:lnTo>
                <a:lnTo>
                  <a:pt x="24558" y="147479"/>
                </a:lnTo>
                <a:lnTo>
                  <a:pt x="51210" y="165994"/>
                </a:lnTo>
                <a:lnTo>
                  <a:pt x="83847" y="172783"/>
                </a:lnTo>
                <a:lnTo>
                  <a:pt x="116485" y="165994"/>
                </a:lnTo>
                <a:lnTo>
                  <a:pt x="143137" y="147479"/>
                </a:lnTo>
                <a:lnTo>
                  <a:pt x="161107" y="120019"/>
                </a:lnTo>
                <a:lnTo>
                  <a:pt x="167696" y="86391"/>
                </a:lnTo>
                <a:lnTo>
                  <a:pt x="161107" y="52764"/>
                </a:lnTo>
                <a:lnTo>
                  <a:pt x="143137" y="25303"/>
                </a:lnTo>
                <a:lnTo>
                  <a:pt x="116485" y="6789"/>
                </a:lnTo>
                <a:lnTo>
                  <a:pt x="838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54175" y="4209770"/>
            <a:ext cx="165100" cy="169545"/>
          </a:xfrm>
          <a:custGeom>
            <a:avLst/>
            <a:gdLst/>
            <a:ahLst/>
            <a:cxnLst/>
            <a:rect l="l" t="t" r="r" b="b"/>
            <a:pathLst>
              <a:path w="165100" h="169545">
                <a:moveTo>
                  <a:pt x="82265" y="0"/>
                </a:moveTo>
                <a:lnTo>
                  <a:pt x="50244" y="6660"/>
                </a:lnTo>
                <a:lnTo>
                  <a:pt x="24095" y="24826"/>
                </a:lnTo>
                <a:lnTo>
                  <a:pt x="6464" y="51768"/>
                </a:lnTo>
                <a:lnTo>
                  <a:pt x="0" y="84762"/>
                </a:lnTo>
                <a:lnTo>
                  <a:pt x="6464" y="117755"/>
                </a:lnTo>
                <a:lnTo>
                  <a:pt x="24095" y="144697"/>
                </a:lnTo>
                <a:lnTo>
                  <a:pt x="50244" y="162862"/>
                </a:lnTo>
                <a:lnTo>
                  <a:pt x="82265" y="169523"/>
                </a:lnTo>
                <a:lnTo>
                  <a:pt x="114287" y="162862"/>
                </a:lnTo>
                <a:lnTo>
                  <a:pt x="140436" y="144697"/>
                </a:lnTo>
                <a:lnTo>
                  <a:pt x="158067" y="117755"/>
                </a:lnTo>
                <a:lnTo>
                  <a:pt x="164532" y="84762"/>
                </a:lnTo>
                <a:lnTo>
                  <a:pt x="158067" y="51768"/>
                </a:lnTo>
                <a:lnTo>
                  <a:pt x="140436" y="24826"/>
                </a:lnTo>
                <a:lnTo>
                  <a:pt x="114287" y="6660"/>
                </a:lnTo>
                <a:lnTo>
                  <a:pt x="82265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3219" y="4876801"/>
            <a:ext cx="1011555" cy="1158240"/>
          </a:xfrm>
          <a:custGeom>
            <a:avLst/>
            <a:gdLst/>
            <a:ahLst/>
            <a:cxnLst/>
            <a:rect l="l" t="t" r="r" b="b"/>
            <a:pathLst>
              <a:path w="1011555" h="1158239">
                <a:moveTo>
                  <a:pt x="922240" y="0"/>
                </a:moveTo>
                <a:lnTo>
                  <a:pt x="89054" y="0"/>
                </a:lnTo>
                <a:lnTo>
                  <a:pt x="54390" y="6998"/>
                </a:lnTo>
                <a:lnTo>
                  <a:pt x="26083" y="26083"/>
                </a:lnTo>
                <a:lnTo>
                  <a:pt x="6998" y="54390"/>
                </a:lnTo>
                <a:lnTo>
                  <a:pt x="0" y="89054"/>
                </a:lnTo>
                <a:lnTo>
                  <a:pt x="0" y="1068909"/>
                </a:lnTo>
                <a:lnTo>
                  <a:pt x="6998" y="1103573"/>
                </a:lnTo>
                <a:lnTo>
                  <a:pt x="26083" y="1131880"/>
                </a:lnTo>
                <a:lnTo>
                  <a:pt x="54390" y="1150966"/>
                </a:lnTo>
                <a:lnTo>
                  <a:pt x="89054" y="1157964"/>
                </a:lnTo>
                <a:lnTo>
                  <a:pt x="922240" y="1157964"/>
                </a:lnTo>
                <a:lnTo>
                  <a:pt x="956905" y="1150966"/>
                </a:lnTo>
                <a:lnTo>
                  <a:pt x="985212" y="1131880"/>
                </a:lnTo>
                <a:lnTo>
                  <a:pt x="1004297" y="1103573"/>
                </a:lnTo>
                <a:lnTo>
                  <a:pt x="1011295" y="1068909"/>
                </a:lnTo>
                <a:lnTo>
                  <a:pt x="1011295" y="89054"/>
                </a:lnTo>
                <a:lnTo>
                  <a:pt x="1004297" y="54390"/>
                </a:lnTo>
                <a:lnTo>
                  <a:pt x="985212" y="26083"/>
                </a:lnTo>
                <a:lnTo>
                  <a:pt x="956905" y="6998"/>
                </a:lnTo>
                <a:lnTo>
                  <a:pt x="922240" y="0"/>
                </a:lnTo>
                <a:close/>
              </a:path>
            </a:pathLst>
          </a:custGeom>
          <a:solidFill>
            <a:srgbClr val="FAE7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38209" y="5166673"/>
            <a:ext cx="241935" cy="262890"/>
          </a:xfrm>
          <a:custGeom>
            <a:avLst/>
            <a:gdLst/>
            <a:ahLst/>
            <a:cxnLst/>
            <a:rect l="l" t="t" r="r" b="b"/>
            <a:pathLst>
              <a:path w="241934" h="262889">
                <a:moveTo>
                  <a:pt x="241319" y="0"/>
                </a:moveTo>
                <a:lnTo>
                  <a:pt x="0" y="262467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70410" y="6034532"/>
            <a:ext cx="7073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35" b="1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46730" y="5223845"/>
            <a:ext cx="182880" cy="175260"/>
          </a:xfrm>
          <a:custGeom>
            <a:avLst/>
            <a:gdLst/>
            <a:ahLst/>
            <a:cxnLst/>
            <a:rect l="l" t="t" r="r" b="b"/>
            <a:pathLst>
              <a:path w="182880" h="175260">
                <a:moveTo>
                  <a:pt x="0" y="174781"/>
                </a:moveTo>
                <a:lnTo>
                  <a:pt x="182336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10532" y="5468696"/>
            <a:ext cx="107314" cy="286385"/>
          </a:xfrm>
          <a:custGeom>
            <a:avLst/>
            <a:gdLst/>
            <a:ahLst/>
            <a:cxnLst/>
            <a:rect l="l" t="t" r="r" b="b"/>
            <a:pathLst>
              <a:path w="107315" h="286385">
                <a:moveTo>
                  <a:pt x="106795" y="285931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29066" y="5223846"/>
            <a:ext cx="195580" cy="175260"/>
          </a:xfrm>
          <a:custGeom>
            <a:avLst/>
            <a:gdLst/>
            <a:ahLst/>
            <a:cxnLst/>
            <a:rect l="l" t="t" r="r" b="b"/>
            <a:pathLst>
              <a:path w="195580" h="175260">
                <a:moveTo>
                  <a:pt x="195178" y="174780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029461" y="5492606"/>
            <a:ext cx="0" cy="203835"/>
          </a:xfrm>
          <a:custGeom>
            <a:avLst/>
            <a:gdLst/>
            <a:ahLst/>
            <a:cxnLst/>
            <a:rect l="l" t="t" r="r" b="b"/>
            <a:pathLst>
              <a:path w="0" h="203835">
                <a:moveTo>
                  <a:pt x="0" y="203805"/>
                </a:moveTo>
                <a:lnTo>
                  <a:pt x="1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88118" y="5430341"/>
            <a:ext cx="275590" cy="0"/>
          </a:xfrm>
          <a:custGeom>
            <a:avLst/>
            <a:gdLst/>
            <a:ahLst/>
            <a:cxnLst/>
            <a:rect l="l" t="t" r="r" b="b"/>
            <a:pathLst>
              <a:path w="275590" h="0">
                <a:moveTo>
                  <a:pt x="0" y="0"/>
                </a:moveTo>
                <a:lnTo>
                  <a:pt x="275034" y="0"/>
                </a:lnTo>
              </a:path>
            </a:pathLst>
          </a:custGeom>
          <a:ln w="53202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25077" y="5238593"/>
            <a:ext cx="97790" cy="530860"/>
          </a:xfrm>
          <a:custGeom>
            <a:avLst/>
            <a:gdLst/>
            <a:ahLst/>
            <a:cxnLst/>
            <a:rect l="l" t="t" r="r" b="b"/>
            <a:pathLst>
              <a:path w="97790" h="530860">
                <a:moveTo>
                  <a:pt x="0" y="530782"/>
                </a:moveTo>
                <a:lnTo>
                  <a:pt x="97784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56305" y="5368446"/>
            <a:ext cx="132080" cy="121920"/>
          </a:xfrm>
          <a:custGeom>
            <a:avLst/>
            <a:gdLst/>
            <a:ahLst/>
            <a:cxnLst/>
            <a:rect l="l" t="t" r="r" b="b"/>
            <a:pathLst>
              <a:path w="132079" h="121920">
                <a:moveTo>
                  <a:pt x="0" y="0"/>
                </a:moveTo>
                <a:lnTo>
                  <a:pt x="131813" y="0"/>
                </a:lnTo>
                <a:lnTo>
                  <a:pt x="131813" y="121389"/>
                </a:lnTo>
                <a:lnTo>
                  <a:pt x="0" y="121389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63153" y="5370478"/>
            <a:ext cx="132715" cy="122555"/>
          </a:xfrm>
          <a:custGeom>
            <a:avLst/>
            <a:gdLst/>
            <a:ahLst/>
            <a:cxnLst/>
            <a:rect l="l" t="t" r="r" b="b"/>
            <a:pathLst>
              <a:path w="132715" h="122554">
                <a:moveTo>
                  <a:pt x="0" y="0"/>
                </a:moveTo>
                <a:lnTo>
                  <a:pt x="132616" y="0"/>
                </a:lnTo>
                <a:lnTo>
                  <a:pt x="132616" y="122129"/>
                </a:lnTo>
                <a:lnTo>
                  <a:pt x="0" y="122129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51422" y="5693932"/>
            <a:ext cx="132080" cy="121920"/>
          </a:xfrm>
          <a:custGeom>
            <a:avLst/>
            <a:gdLst/>
            <a:ahLst/>
            <a:cxnLst/>
            <a:rect l="l" t="t" r="r" b="b"/>
            <a:pathLst>
              <a:path w="132079" h="121920">
                <a:moveTo>
                  <a:pt x="0" y="0"/>
                </a:moveTo>
                <a:lnTo>
                  <a:pt x="131813" y="0"/>
                </a:lnTo>
                <a:lnTo>
                  <a:pt x="131813" y="121390"/>
                </a:lnTo>
                <a:lnTo>
                  <a:pt x="0" y="121390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63556" y="5696411"/>
            <a:ext cx="132080" cy="121920"/>
          </a:xfrm>
          <a:custGeom>
            <a:avLst/>
            <a:gdLst/>
            <a:ahLst/>
            <a:cxnLst/>
            <a:rect l="l" t="t" r="r" b="b"/>
            <a:pathLst>
              <a:path w="132080" h="121920">
                <a:moveTo>
                  <a:pt x="0" y="0"/>
                </a:moveTo>
                <a:lnTo>
                  <a:pt x="131812" y="0"/>
                </a:lnTo>
                <a:lnTo>
                  <a:pt x="131812" y="121389"/>
                </a:lnTo>
                <a:lnTo>
                  <a:pt x="0" y="121389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218543" y="5104093"/>
            <a:ext cx="132080" cy="121920"/>
          </a:xfrm>
          <a:custGeom>
            <a:avLst/>
            <a:gdLst/>
            <a:ahLst/>
            <a:cxnLst/>
            <a:rect l="l" t="t" r="r" b="b"/>
            <a:pathLst>
              <a:path w="132080" h="121920">
                <a:moveTo>
                  <a:pt x="0" y="0"/>
                </a:moveTo>
                <a:lnTo>
                  <a:pt x="131812" y="0"/>
                </a:lnTo>
                <a:lnTo>
                  <a:pt x="131812" y="121389"/>
                </a:lnTo>
                <a:lnTo>
                  <a:pt x="0" y="12138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60604" y="5113784"/>
            <a:ext cx="132080" cy="121920"/>
          </a:xfrm>
          <a:custGeom>
            <a:avLst/>
            <a:gdLst/>
            <a:ahLst/>
            <a:cxnLst/>
            <a:rect l="l" t="t" r="r" b="b"/>
            <a:pathLst>
              <a:path w="132080" h="121920">
                <a:moveTo>
                  <a:pt x="0" y="0"/>
                </a:moveTo>
                <a:lnTo>
                  <a:pt x="131812" y="0"/>
                </a:lnTo>
                <a:lnTo>
                  <a:pt x="131812" y="121389"/>
                </a:lnTo>
                <a:lnTo>
                  <a:pt x="0" y="121389"/>
                </a:lnTo>
                <a:lnTo>
                  <a:pt x="0" y="0"/>
                </a:lnTo>
                <a:close/>
              </a:path>
            </a:pathLst>
          </a:custGeom>
          <a:solidFill>
            <a:srgbClr val="9A31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167034" y="5397500"/>
            <a:ext cx="7073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2060"/>
                </a:solidFill>
                <a:latin typeface="Calibri"/>
                <a:cs typeface="Calibri"/>
              </a:rPr>
              <a:t>Ancho</a:t>
            </a:r>
            <a:r>
              <a:rPr dirty="0" sz="1800" b="1">
                <a:solidFill>
                  <a:srgbClr val="002060"/>
                </a:solidFill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7188" y="2983483"/>
            <a:ext cx="1318895" cy="763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Query</a:t>
            </a:r>
            <a:endParaRPr sz="1800">
              <a:latin typeface="Arial"/>
              <a:cs typeface="Arial"/>
            </a:endParaRPr>
          </a:p>
          <a:p>
            <a:pPr marL="624205">
              <a:lnSpc>
                <a:spcPct val="100000"/>
              </a:lnSpc>
              <a:spcBef>
                <a:spcPts val="1485"/>
              </a:spcBef>
            </a:pPr>
            <a:r>
              <a:rPr dirty="0" sz="1800" spc="-5" b="1">
                <a:solidFill>
                  <a:srgbClr val="002060"/>
                </a:solidFill>
                <a:latin typeface="Calibri"/>
                <a:cs typeface="Calibri"/>
              </a:rPr>
              <a:t>Ancho</a:t>
            </a:r>
            <a:r>
              <a:rPr dirty="0" sz="1800" b="1">
                <a:solidFill>
                  <a:srgbClr val="002060"/>
                </a:solidFill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843737" y="4806936"/>
            <a:ext cx="1034415" cy="1028700"/>
          </a:xfrm>
          <a:custGeom>
            <a:avLst/>
            <a:gdLst/>
            <a:ahLst/>
            <a:cxnLst/>
            <a:rect l="l" t="t" r="r" b="b"/>
            <a:pathLst>
              <a:path w="1034414" h="1028700">
                <a:moveTo>
                  <a:pt x="943820" y="0"/>
                </a:moveTo>
                <a:lnTo>
                  <a:pt x="90556" y="0"/>
                </a:lnTo>
                <a:lnTo>
                  <a:pt x="55307" y="7116"/>
                </a:lnTo>
                <a:lnTo>
                  <a:pt x="26523" y="26523"/>
                </a:lnTo>
                <a:lnTo>
                  <a:pt x="7116" y="55307"/>
                </a:lnTo>
                <a:lnTo>
                  <a:pt x="0" y="90556"/>
                </a:lnTo>
                <a:lnTo>
                  <a:pt x="0" y="937794"/>
                </a:lnTo>
                <a:lnTo>
                  <a:pt x="7116" y="973042"/>
                </a:lnTo>
                <a:lnTo>
                  <a:pt x="26523" y="1001827"/>
                </a:lnTo>
                <a:lnTo>
                  <a:pt x="55307" y="1021234"/>
                </a:lnTo>
                <a:lnTo>
                  <a:pt x="90556" y="1028350"/>
                </a:lnTo>
                <a:lnTo>
                  <a:pt x="943820" y="1028350"/>
                </a:lnTo>
                <a:lnTo>
                  <a:pt x="979070" y="1021234"/>
                </a:lnTo>
                <a:lnTo>
                  <a:pt x="1007854" y="1001827"/>
                </a:lnTo>
                <a:lnTo>
                  <a:pt x="1027261" y="973042"/>
                </a:lnTo>
                <a:lnTo>
                  <a:pt x="1034378" y="937794"/>
                </a:lnTo>
                <a:lnTo>
                  <a:pt x="1034378" y="90556"/>
                </a:lnTo>
                <a:lnTo>
                  <a:pt x="1027261" y="55307"/>
                </a:lnTo>
                <a:lnTo>
                  <a:pt x="1007854" y="26523"/>
                </a:lnTo>
                <a:lnTo>
                  <a:pt x="979070" y="7116"/>
                </a:lnTo>
                <a:lnTo>
                  <a:pt x="943820" y="0"/>
                </a:lnTo>
                <a:close/>
              </a:path>
            </a:pathLst>
          </a:custGeom>
          <a:solidFill>
            <a:srgbClr val="FAE7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476071" y="4938264"/>
            <a:ext cx="175895" cy="121920"/>
          </a:xfrm>
          <a:custGeom>
            <a:avLst/>
            <a:gdLst/>
            <a:ahLst/>
            <a:cxnLst/>
            <a:rect l="l" t="t" r="r" b="b"/>
            <a:pathLst>
              <a:path w="175895" h="121920">
                <a:moveTo>
                  <a:pt x="0" y="0"/>
                </a:moveTo>
                <a:lnTo>
                  <a:pt x="175430" y="121559"/>
                </a:lnTo>
              </a:path>
            </a:pathLst>
          </a:custGeom>
          <a:ln w="3175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476071" y="5059824"/>
            <a:ext cx="175895" cy="140335"/>
          </a:xfrm>
          <a:custGeom>
            <a:avLst/>
            <a:gdLst/>
            <a:ahLst/>
            <a:cxnLst/>
            <a:rect l="l" t="t" r="r" b="b"/>
            <a:pathLst>
              <a:path w="175895" h="140335">
                <a:moveTo>
                  <a:pt x="0" y="140212"/>
                </a:moveTo>
                <a:lnTo>
                  <a:pt x="175430" y="0"/>
                </a:lnTo>
              </a:path>
            </a:pathLst>
          </a:custGeom>
          <a:ln w="3175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049248" y="4938261"/>
            <a:ext cx="259715" cy="410845"/>
          </a:xfrm>
          <a:custGeom>
            <a:avLst/>
            <a:gdLst/>
            <a:ahLst/>
            <a:cxnLst/>
            <a:rect l="l" t="t" r="r" b="b"/>
            <a:pathLst>
              <a:path w="259714" h="410845">
                <a:moveTo>
                  <a:pt x="0" y="410712"/>
                </a:moveTo>
                <a:lnTo>
                  <a:pt x="259228" y="0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049248" y="5200032"/>
            <a:ext cx="259715" cy="149225"/>
          </a:xfrm>
          <a:custGeom>
            <a:avLst/>
            <a:gdLst/>
            <a:ahLst/>
            <a:cxnLst/>
            <a:rect l="l" t="t" r="r" b="b"/>
            <a:pathLst>
              <a:path w="259714" h="149225">
                <a:moveTo>
                  <a:pt x="0" y="148941"/>
                </a:moveTo>
                <a:lnTo>
                  <a:pt x="259228" y="0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049244" y="5348973"/>
            <a:ext cx="259715" cy="111125"/>
          </a:xfrm>
          <a:custGeom>
            <a:avLst/>
            <a:gdLst/>
            <a:ahLst/>
            <a:cxnLst/>
            <a:rect l="l" t="t" r="r" b="b"/>
            <a:pathLst>
              <a:path w="259714" h="111125">
                <a:moveTo>
                  <a:pt x="0" y="0"/>
                </a:moveTo>
                <a:lnTo>
                  <a:pt x="259229" y="111008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049244" y="5348973"/>
            <a:ext cx="259715" cy="371475"/>
          </a:xfrm>
          <a:custGeom>
            <a:avLst/>
            <a:gdLst/>
            <a:ahLst/>
            <a:cxnLst/>
            <a:rect l="l" t="t" r="r" b="b"/>
            <a:pathLst>
              <a:path w="259714" h="371475">
                <a:moveTo>
                  <a:pt x="0" y="0"/>
                </a:moveTo>
                <a:lnTo>
                  <a:pt x="259229" y="370956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392270" y="5022061"/>
            <a:ext cx="0" cy="94615"/>
          </a:xfrm>
          <a:custGeom>
            <a:avLst/>
            <a:gdLst/>
            <a:ahLst/>
            <a:cxnLst/>
            <a:rect l="l" t="t" r="r" b="b"/>
            <a:pathLst>
              <a:path w="0" h="94614">
                <a:moveTo>
                  <a:pt x="0" y="0"/>
                </a:moveTo>
                <a:lnTo>
                  <a:pt x="1" y="94177"/>
                </a:lnTo>
              </a:path>
            </a:pathLst>
          </a:custGeom>
          <a:ln w="3175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881654" y="5265179"/>
            <a:ext cx="167640" cy="167640"/>
          </a:xfrm>
          <a:custGeom>
            <a:avLst/>
            <a:gdLst/>
            <a:ahLst/>
            <a:cxnLst/>
            <a:rect l="l" t="t" r="r" b="b"/>
            <a:pathLst>
              <a:path w="167639" h="167639">
                <a:moveTo>
                  <a:pt x="0" y="0"/>
                </a:moveTo>
                <a:lnTo>
                  <a:pt x="167594" y="0"/>
                </a:lnTo>
                <a:lnTo>
                  <a:pt x="167594" y="167594"/>
                </a:lnTo>
                <a:lnTo>
                  <a:pt x="0" y="167594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308475" y="4854468"/>
            <a:ext cx="167640" cy="167640"/>
          </a:xfrm>
          <a:custGeom>
            <a:avLst/>
            <a:gdLst/>
            <a:ahLst/>
            <a:cxnLst/>
            <a:rect l="l" t="t" r="r" b="b"/>
            <a:pathLst>
              <a:path w="167639" h="167639">
                <a:moveTo>
                  <a:pt x="0" y="0"/>
                </a:moveTo>
                <a:lnTo>
                  <a:pt x="167594" y="0"/>
                </a:lnTo>
                <a:lnTo>
                  <a:pt x="167594" y="167593"/>
                </a:lnTo>
                <a:lnTo>
                  <a:pt x="0" y="167593"/>
                </a:lnTo>
                <a:lnTo>
                  <a:pt x="0" y="0"/>
                </a:lnTo>
                <a:close/>
              </a:path>
            </a:pathLst>
          </a:custGeom>
          <a:solidFill>
            <a:srgbClr val="9A31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308475" y="5116239"/>
            <a:ext cx="167640" cy="167640"/>
          </a:xfrm>
          <a:custGeom>
            <a:avLst/>
            <a:gdLst/>
            <a:ahLst/>
            <a:cxnLst/>
            <a:rect l="l" t="t" r="r" b="b"/>
            <a:pathLst>
              <a:path w="167639" h="167639">
                <a:moveTo>
                  <a:pt x="0" y="0"/>
                </a:moveTo>
                <a:lnTo>
                  <a:pt x="167594" y="0"/>
                </a:lnTo>
                <a:lnTo>
                  <a:pt x="167594" y="167593"/>
                </a:lnTo>
                <a:lnTo>
                  <a:pt x="0" y="167593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308477" y="5376186"/>
            <a:ext cx="167640" cy="167640"/>
          </a:xfrm>
          <a:custGeom>
            <a:avLst/>
            <a:gdLst/>
            <a:ahLst/>
            <a:cxnLst/>
            <a:rect l="l" t="t" r="r" b="b"/>
            <a:pathLst>
              <a:path w="167639" h="167639">
                <a:moveTo>
                  <a:pt x="0" y="0"/>
                </a:moveTo>
                <a:lnTo>
                  <a:pt x="167594" y="0"/>
                </a:lnTo>
                <a:lnTo>
                  <a:pt x="167594" y="167594"/>
                </a:lnTo>
                <a:lnTo>
                  <a:pt x="0" y="167594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308477" y="5636135"/>
            <a:ext cx="167640" cy="167640"/>
          </a:xfrm>
          <a:custGeom>
            <a:avLst/>
            <a:gdLst/>
            <a:ahLst/>
            <a:cxnLst/>
            <a:rect l="l" t="t" r="r" b="b"/>
            <a:pathLst>
              <a:path w="167639" h="167639">
                <a:moveTo>
                  <a:pt x="0" y="0"/>
                </a:moveTo>
                <a:lnTo>
                  <a:pt x="167594" y="0"/>
                </a:lnTo>
                <a:lnTo>
                  <a:pt x="167594" y="167594"/>
                </a:lnTo>
                <a:lnTo>
                  <a:pt x="0" y="167594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651501" y="4976026"/>
            <a:ext cx="167640" cy="167640"/>
          </a:xfrm>
          <a:custGeom>
            <a:avLst/>
            <a:gdLst/>
            <a:ahLst/>
            <a:cxnLst/>
            <a:rect l="l" t="t" r="r" b="b"/>
            <a:pathLst>
              <a:path w="167639" h="167639">
                <a:moveTo>
                  <a:pt x="0" y="0"/>
                </a:moveTo>
                <a:lnTo>
                  <a:pt x="167593" y="0"/>
                </a:lnTo>
                <a:lnTo>
                  <a:pt x="167593" y="167594"/>
                </a:lnTo>
                <a:lnTo>
                  <a:pt x="0" y="167594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970438" y="5186178"/>
            <a:ext cx="528320" cy="300355"/>
          </a:xfrm>
          <a:custGeom>
            <a:avLst/>
            <a:gdLst/>
            <a:ahLst/>
            <a:cxnLst/>
            <a:rect l="l" t="t" r="r" b="b"/>
            <a:pathLst>
              <a:path w="528319" h="300354">
                <a:moveTo>
                  <a:pt x="377706" y="0"/>
                </a:moveTo>
                <a:lnTo>
                  <a:pt x="377706" y="75032"/>
                </a:lnTo>
                <a:lnTo>
                  <a:pt x="0" y="75032"/>
                </a:lnTo>
                <a:lnTo>
                  <a:pt x="0" y="225099"/>
                </a:lnTo>
                <a:lnTo>
                  <a:pt x="377706" y="225099"/>
                </a:lnTo>
                <a:lnTo>
                  <a:pt x="377706" y="300134"/>
                </a:lnTo>
                <a:lnTo>
                  <a:pt x="527773" y="150067"/>
                </a:lnTo>
                <a:lnTo>
                  <a:pt x="37770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2529230" y="5967476"/>
            <a:ext cx="1753235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-5" b="1">
                <a:latin typeface="Arial"/>
                <a:cs typeface="Arial"/>
              </a:rPr>
              <a:t>Neighborhoods  around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anchors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332182" y="3127755"/>
            <a:ext cx="114808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latin typeface="Arial"/>
                <a:cs typeface="Arial"/>
              </a:rPr>
              <a:t>1</a:t>
            </a:r>
            <a:r>
              <a:rPr dirty="0" baseline="25252" sz="1650" spc="-15">
                <a:latin typeface="Arial"/>
                <a:cs typeface="Arial"/>
              </a:rPr>
              <a:t>st </a:t>
            </a:r>
            <a:r>
              <a:rPr dirty="0" sz="1600" spc="-5">
                <a:latin typeface="Arial"/>
                <a:cs typeface="Arial"/>
              </a:rPr>
              <a:t>hop</a:t>
            </a:r>
            <a:r>
              <a:rPr dirty="0" sz="1600" spc="-8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edge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935958" y="3400135"/>
            <a:ext cx="854075" cy="942340"/>
          </a:xfrm>
          <a:custGeom>
            <a:avLst/>
            <a:gdLst/>
            <a:ahLst/>
            <a:cxnLst/>
            <a:rect l="l" t="t" r="r" b="b"/>
            <a:pathLst>
              <a:path w="854075" h="942339">
                <a:moveTo>
                  <a:pt x="743932" y="0"/>
                </a:moveTo>
                <a:lnTo>
                  <a:pt x="109533" y="0"/>
                </a:lnTo>
                <a:lnTo>
                  <a:pt x="66898" y="8607"/>
                </a:lnTo>
                <a:lnTo>
                  <a:pt x="32081" y="32081"/>
                </a:lnTo>
                <a:lnTo>
                  <a:pt x="8607" y="66898"/>
                </a:lnTo>
                <a:lnTo>
                  <a:pt x="0" y="109533"/>
                </a:lnTo>
                <a:lnTo>
                  <a:pt x="0" y="832708"/>
                </a:lnTo>
                <a:lnTo>
                  <a:pt x="8607" y="875343"/>
                </a:lnTo>
                <a:lnTo>
                  <a:pt x="32081" y="910160"/>
                </a:lnTo>
                <a:lnTo>
                  <a:pt x="66898" y="933634"/>
                </a:lnTo>
                <a:lnTo>
                  <a:pt x="109533" y="942242"/>
                </a:lnTo>
                <a:lnTo>
                  <a:pt x="743932" y="942242"/>
                </a:lnTo>
                <a:lnTo>
                  <a:pt x="786567" y="933634"/>
                </a:lnTo>
                <a:lnTo>
                  <a:pt x="821383" y="910160"/>
                </a:lnTo>
                <a:lnTo>
                  <a:pt x="844857" y="875343"/>
                </a:lnTo>
                <a:lnTo>
                  <a:pt x="853465" y="832708"/>
                </a:lnTo>
                <a:lnTo>
                  <a:pt x="853465" y="109533"/>
                </a:lnTo>
                <a:lnTo>
                  <a:pt x="844857" y="66898"/>
                </a:lnTo>
                <a:lnTo>
                  <a:pt x="821383" y="32081"/>
                </a:lnTo>
                <a:lnTo>
                  <a:pt x="786567" y="8607"/>
                </a:lnTo>
                <a:lnTo>
                  <a:pt x="743932" y="0"/>
                </a:lnTo>
                <a:close/>
              </a:path>
            </a:pathLst>
          </a:custGeom>
          <a:solidFill>
            <a:srgbClr val="F4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260832" y="3874177"/>
            <a:ext cx="167640" cy="635"/>
          </a:xfrm>
          <a:custGeom>
            <a:avLst/>
            <a:gdLst/>
            <a:ahLst/>
            <a:cxnLst/>
            <a:rect l="l" t="t" r="r" b="b"/>
            <a:pathLst>
              <a:path w="167639" h="635">
                <a:moveTo>
                  <a:pt x="-15875" y="74"/>
                </a:moveTo>
                <a:lnTo>
                  <a:pt x="183124" y="74"/>
                </a:lnTo>
              </a:path>
            </a:pathLst>
          </a:custGeom>
          <a:ln w="31898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237425" y="3623648"/>
            <a:ext cx="190500" cy="194310"/>
          </a:xfrm>
          <a:custGeom>
            <a:avLst/>
            <a:gdLst/>
            <a:ahLst/>
            <a:cxnLst/>
            <a:rect l="l" t="t" r="r" b="b"/>
            <a:pathLst>
              <a:path w="190500" h="194310">
                <a:moveTo>
                  <a:pt x="190256" y="0"/>
                </a:moveTo>
                <a:lnTo>
                  <a:pt x="0" y="194177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237426" y="3930828"/>
            <a:ext cx="225425" cy="197485"/>
          </a:xfrm>
          <a:custGeom>
            <a:avLst/>
            <a:gdLst/>
            <a:ahLst/>
            <a:cxnLst/>
            <a:rect l="l" t="t" r="r" b="b"/>
            <a:pathLst>
              <a:path w="225425" h="197485">
                <a:moveTo>
                  <a:pt x="225109" y="197237"/>
                </a:moveTo>
                <a:lnTo>
                  <a:pt x="0" y="0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101018" y="3794420"/>
            <a:ext cx="160020" cy="160020"/>
          </a:xfrm>
          <a:custGeom>
            <a:avLst/>
            <a:gdLst/>
            <a:ahLst/>
            <a:cxnLst/>
            <a:rect l="l" t="t" r="r" b="b"/>
            <a:pathLst>
              <a:path w="160020" h="160020">
                <a:moveTo>
                  <a:pt x="79907" y="0"/>
                </a:moveTo>
                <a:lnTo>
                  <a:pt x="48803" y="6279"/>
                </a:lnTo>
                <a:lnTo>
                  <a:pt x="23404" y="23404"/>
                </a:lnTo>
                <a:lnTo>
                  <a:pt x="6279" y="48803"/>
                </a:lnTo>
                <a:lnTo>
                  <a:pt x="0" y="79907"/>
                </a:lnTo>
                <a:lnTo>
                  <a:pt x="6279" y="111011"/>
                </a:lnTo>
                <a:lnTo>
                  <a:pt x="23404" y="136411"/>
                </a:lnTo>
                <a:lnTo>
                  <a:pt x="48803" y="153535"/>
                </a:lnTo>
                <a:lnTo>
                  <a:pt x="79907" y="159815"/>
                </a:lnTo>
                <a:lnTo>
                  <a:pt x="111011" y="153535"/>
                </a:lnTo>
                <a:lnTo>
                  <a:pt x="136411" y="136411"/>
                </a:lnTo>
                <a:lnTo>
                  <a:pt x="153535" y="111011"/>
                </a:lnTo>
                <a:lnTo>
                  <a:pt x="159815" y="79907"/>
                </a:lnTo>
                <a:lnTo>
                  <a:pt x="153535" y="48803"/>
                </a:lnTo>
                <a:lnTo>
                  <a:pt x="136411" y="23404"/>
                </a:lnTo>
                <a:lnTo>
                  <a:pt x="111011" y="6279"/>
                </a:lnTo>
                <a:lnTo>
                  <a:pt x="7990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427685" y="3543740"/>
            <a:ext cx="160020" cy="160020"/>
          </a:xfrm>
          <a:custGeom>
            <a:avLst/>
            <a:gdLst/>
            <a:ahLst/>
            <a:cxnLst/>
            <a:rect l="l" t="t" r="r" b="b"/>
            <a:pathLst>
              <a:path w="160020" h="160020">
                <a:moveTo>
                  <a:pt x="79907" y="0"/>
                </a:moveTo>
                <a:lnTo>
                  <a:pt x="48803" y="6279"/>
                </a:lnTo>
                <a:lnTo>
                  <a:pt x="23404" y="23404"/>
                </a:lnTo>
                <a:lnTo>
                  <a:pt x="6279" y="48803"/>
                </a:lnTo>
                <a:lnTo>
                  <a:pt x="0" y="79907"/>
                </a:lnTo>
                <a:lnTo>
                  <a:pt x="6279" y="111011"/>
                </a:lnTo>
                <a:lnTo>
                  <a:pt x="23404" y="136411"/>
                </a:lnTo>
                <a:lnTo>
                  <a:pt x="48803" y="153535"/>
                </a:lnTo>
                <a:lnTo>
                  <a:pt x="79907" y="159815"/>
                </a:lnTo>
                <a:lnTo>
                  <a:pt x="111010" y="153535"/>
                </a:lnTo>
                <a:lnTo>
                  <a:pt x="136409" y="136411"/>
                </a:lnTo>
                <a:lnTo>
                  <a:pt x="153534" y="111011"/>
                </a:lnTo>
                <a:lnTo>
                  <a:pt x="159814" y="79907"/>
                </a:lnTo>
                <a:lnTo>
                  <a:pt x="153534" y="48803"/>
                </a:lnTo>
                <a:lnTo>
                  <a:pt x="136409" y="23404"/>
                </a:lnTo>
                <a:lnTo>
                  <a:pt x="111010" y="6279"/>
                </a:lnTo>
                <a:lnTo>
                  <a:pt x="79907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507620" y="3954088"/>
            <a:ext cx="635" cy="88900"/>
          </a:xfrm>
          <a:custGeom>
            <a:avLst/>
            <a:gdLst/>
            <a:ahLst/>
            <a:cxnLst/>
            <a:rect l="l" t="t" r="r" b="b"/>
            <a:pathLst>
              <a:path w="635" h="88900">
                <a:moveTo>
                  <a:pt x="182" y="-15875"/>
                </a:moveTo>
                <a:lnTo>
                  <a:pt x="182" y="104512"/>
                </a:lnTo>
              </a:path>
            </a:pathLst>
          </a:custGeom>
          <a:ln w="3211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427717" y="4042723"/>
            <a:ext cx="160020" cy="160020"/>
          </a:xfrm>
          <a:custGeom>
            <a:avLst/>
            <a:gdLst/>
            <a:ahLst/>
            <a:cxnLst/>
            <a:rect l="l" t="t" r="r" b="b"/>
            <a:pathLst>
              <a:path w="160020" h="160020">
                <a:moveTo>
                  <a:pt x="79907" y="0"/>
                </a:moveTo>
                <a:lnTo>
                  <a:pt x="48803" y="6279"/>
                </a:lnTo>
                <a:lnTo>
                  <a:pt x="23404" y="23404"/>
                </a:lnTo>
                <a:lnTo>
                  <a:pt x="6279" y="48803"/>
                </a:lnTo>
                <a:lnTo>
                  <a:pt x="0" y="79907"/>
                </a:lnTo>
                <a:lnTo>
                  <a:pt x="6279" y="111011"/>
                </a:lnTo>
                <a:lnTo>
                  <a:pt x="23404" y="136411"/>
                </a:lnTo>
                <a:lnTo>
                  <a:pt x="48803" y="153535"/>
                </a:lnTo>
                <a:lnTo>
                  <a:pt x="79907" y="159815"/>
                </a:lnTo>
                <a:lnTo>
                  <a:pt x="111010" y="153535"/>
                </a:lnTo>
                <a:lnTo>
                  <a:pt x="136409" y="136411"/>
                </a:lnTo>
                <a:lnTo>
                  <a:pt x="153534" y="111011"/>
                </a:lnTo>
                <a:lnTo>
                  <a:pt x="159814" y="79907"/>
                </a:lnTo>
                <a:lnTo>
                  <a:pt x="153534" y="48803"/>
                </a:lnTo>
                <a:lnTo>
                  <a:pt x="136409" y="23404"/>
                </a:lnTo>
                <a:lnTo>
                  <a:pt x="111010" y="6279"/>
                </a:lnTo>
                <a:lnTo>
                  <a:pt x="79907" y="0"/>
                </a:lnTo>
                <a:close/>
              </a:path>
            </a:pathLst>
          </a:custGeom>
          <a:solidFill>
            <a:srgbClr val="9A31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428081" y="3794272"/>
            <a:ext cx="160020" cy="160020"/>
          </a:xfrm>
          <a:custGeom>
            <a:avLst/>
            <a:gdLst/>
            <a:ahLst/>
            <a:cxnLst/>
            <a:rect l="l" t="t" r="r" b="b"/>
            <a:pathLst>
              <a:path w="160020" h="160020">
                <a:moveTo>
                  <a:pt x="79907" y="0"/>
                </a:moveTo>
                <a:lnTo>
                  <a:pt x="48803" y="6279"/>
                </a:lnTo>
                <a:lnTo>
                  <a:pt x="23404" y="23404"/>
                </a:lnTo>
                <a:lnTo>
                  <a:pt x="6279" y="48804"/>
                </a:lnTo>
                <a:lnTo>
                  <a:pt x="0" y="79908"/>
                </a:lnTo>
                <a:lnTo>
                  <a:pt x="6279" y="111011"/>
                </a:lnTo>
                <a:lnTo>
                  <a:pt x="23404" y="136411"/>
                </a:lnTo>
                <a:lnTo>
                  <a:pt x="48803" y="153535"/>
                </a:lnTo>
                <a:lnTo>
                  <a:pt x="79907" y="159815"/>
                </a:lnTo>
                <a:lnTo>
                  <a:pt x="111011" y="153535"/>
                </a:lnTo>
                <a:lnTo>
                  <a:pt x="136411" y="136411"/>
                </a:lnTo>
                <a:lnTo>
                  <a:pt x="153535" y="111011"/>
                </a:lnTo>
                <a:lnTo>
                  <a:pt x="159815" y="79908"/>
                </a:lnTo>
                <a:lnTo>
                  <a:pt x="153535" y="48804"/>
                </a:lnTo>
                <a:lnTo>
                  <a:pt x="136411" y="23404"/>
                </a:lnTo>
                <a:lnTo>
                  <a:pt x="111011" y="6279"/>
                </a:lnTo>
                <a:lnTo>
                  <a:pt x="7990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970438" y="3708141"/>
            <a:ext cx="528320" cy="300355"/>
          </a:xfrm>
          <a:custGeom>
            <a:avLst/>
            <a:gdLst/>
            <a:ahLst/>
            <a:cxnLst/>
            <a:rect l="l" t="t" r="r" b="b"/>
            <a:pathLst>
              <a:path w="528319" h="300354">
                <a:moveTo>
                  <a:pt x="377706" y="0"/>
                </a:moveTo>
                <a:lnTo>
                  <a:pt x="377706" y="75032"/>
                </a:lnTo>
                <a:lnTo>
                  <a:pt x="0" y="75032"/>
                </a:lnTo>
                <a:lnTo>
                  <a:pt x="0" y="225099"/>
                </a:lnTo>
                <a:lnTo>
                  <a:pt x="377706" y="225099"/>
                </a:lnTo>
                <a:lnTo>
                  <a:pt x="377706" y="300134"/>
                </a:lnTo>
                <a:lnTo>
                  <a:pt x="527773" y="150067"/>
                </a:lnTo>
                <a:lnTo>
                  <a:pt x="37770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898358" y="3418315"/>
            <a:ext cx="344170" cy="320675"/>
          </a:xfrm>
          <a:custGeom>
            <a:avLst/>
            <a:gdLst/>
            <a:ahLst/>
            <a:cxnLst/>
            <a:rect l="l" t="t" r="r" b="b"/>
            <a:pathLst>
              <a:path w="344169" h="320675">
                <a:moveTo>
                  <a:pt x="279348" y="277755"/>
                </a:moveTo>
                <a:lnTo>
                  <a:pt x="262064" y="296367"/>
                </a:lnTo>
                <a:lnTo>
                  <a:pt x="343827" y="320301"/>
                </a:lnTo>
                <a:lnTo>
                  <a:pt x="332904" y="291170"/>
                </a:lnTo>
                <a:lnTo>
                  <a:pt x="293794" y="291170"/>
                </a:lnTo>
                <a:lnTo>
                  <a:pt x="279348" y="277755"/>
                </a:lnTo>
                <a:close/>
              </a:path>
              <a:path w="344169" h="320675">
                <a:moveTo>
                  <a:pt x="296633" y="259142"/>
                </a:moveTo>
                <a:lnTo>
                  <a:pt x="279348" y="277755"/>
                </a:lnTo>
                <a:lnTo>
                  <a:pt x="293794" y="291170"/>
                </a:lnTo>
                <a:lnTo>
                  <a:pt x="301830" y="290873"/>
                </a:lnTo>
                <a:lnTo>
                  <a:pt x="311376" y="280593"/>
                </a:lnTo>
                <a:lnTo>
                  <a:pt x="311078" y="272557"/>
                </a:lnTo>
                <a:lnTo>
                  <a:pt x="296633" y="259142"/>
                </a:lnTo>
                <a:close/>
              </a:path>
              <a:path w="344169" h="320675">
                <a:moveTo>
                  <a:pt x="313917" y="240530"/>
                </a:moveTo>
                <a:lnTo>
                  <a:pt x="296633" y="259142"/>
                </a:lnTo>
                <a:lnTo>
                  <a:pt x="311078" y="272557"/>
                </a:lnTo>
                <a:lnTo>
                  <a:pt x="311376" y="280593"/>
                </a:lnTo>
                <a:lnTo>
                  <a:pt x="301830" y="290873"/>
                </a:lnTo>
                <a:lnTo>
                  <a:pt x="293794" y="291170"/>
                </a:lnTo>
                <a:lnTo>
                  <a:pt x="332904" y="291170"/>
                </a:lnTo>
                <a:lnTo>
                  <a:pt x="313917" y="240530"/>
                </a:lnTo>
                <a:close/>
              </a:path>
              <a:path w="344169" h="320675">
                <a:moveTo>
                  <a:pt x="17581" y="0"/>
                </a:moveTo>
                <a:lnTo>
                  <a:pt x="9546" y="298"/>
                </a:lnTo>
                <a:lnTo>
                  <a:pt x="0" y="10576"/>
                </a:lnTo>
                <a:lnTo>
                  <a:pt x="297" y="18613"/>
                </a:lnTo>
                <a:lnTo>
                  <a:pt x="279348" y="277755"/>
                </a:lnTo>
                <a:lnTo>
                  <a:pt x="296633" y="259142"/>
                </a:lnTo>
                <a:lnTo>
                  <a:pt x="17581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3490027" y="4438396"/>
            <a:ext cx="11912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latin typeface="Arial"/>
                <a:cs typeface="Arial"/>
              </a:rPr>
              <a:t>2</a:t>
            </a:r>
            <a:r>
              <a:rPr dirty="0" baseline="25252" sz="1650" spc="-15">
                <a:latin typeface="Arial"/>
                <a:cs typeface="Arial"/>
              </a:rPr>
              <a:t>nd </a:t>
            </a:r>
            <a:r>
              <a:rPr dirty="0" sz="1600" spc="-5">
                <a:latin typeface="Arial"/>
                <a:cs typeface="Arial"/>
              </a:rPr>
              <a:t>hop</a:t>
            </a:r>
            <a:r>
              <a:rPr dirty="0" sz="1600" spc="-11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edge</a:t>
            </a:r>
            <a:endParaRPr sz="160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3538551" y="4008146"/>
            <a:ext cx="446405" cy="414655"/>
          </a:xfrm>
          <a:custGeom>
            <a:avLst/>
            <a:gdLst/>
            <a:ahLst/>
            <a:cxnLst/>
            <a:rect l="l" t="t" r="r" b="b"/>
            <a:pathLst>
              <a:path w="446404" h="414654">
                <a:moveTo>
                  <a:pt x="64549" y="42438"/>
                </a:moveTo>
                <a:lnTo>
                  <a:pt x="47296" y="61079"/>
                </a:lnTo>
                <a:lnTo>
                  <a:pt x="428696" y="414080"/>
                </a:lnTo>
                <a:lnTo>
                  <a:pt x="436731" y="413769"/>
                </a:lnTo>
                <a:lnTo>
                  <a:pt x="446260" y="403475"/>
                </a:lnTo>
                <a:lnTo>
                  <a:pt x="445949" y="395439"/>
                </a:lnTo>
                <a:lnTo>
                  <a:pt x="64549" y="42438"/>
                </a:lnTo>
                <a:close/>
              </a:path>
              <a:path w="446404" h="414654">
                <a:moveTo>
                  <a:pt x="0" y="0"/>
                </a:moveTo>
                <a:lnTo>
                  <a:pt x="30044" y="79720"/>
                </a:lnTo>
                <a:lnTo>
                  <a:pt x="47296" y="61079"/>
                </a:lnTo>
                <a:lnTo>
                  <a:pt x="32829" y="47689"/>
                </a:lnTo>
                <a:lnTo>
                  <a:pt x="32518" y="39654"/>
                </a:lnTo>
                <a:lnTo>
                  <a:pt x="42047" y="29358"/>
                </a:lnTo>
                <a:lnTo>
                  <a:pt x="50082" y="29048"/>
                </a:lnTo>
                <a:lnTo>
                  <a:pt x="76942" y="29048"/>
                </a:lnTo>
                <a:lnTo>
                  <a:pt x="81803" y="23797"/>
                </a:lnTo>
                <a:lnTo>
                  <a:pt x="0" y="0"/>
                </a:lnTo>
                <a:close/>
              </a:path>
              <a:path w="446404" h="414654">
                <a:moveTo>
                  <a:pt x="50082" y="29048"/>
                </a:moveTo>
                <a:lnTo>
                  <a:pt x="42047" y="29358"/>
                </a:lnTo>
                <a:lnTo>
                  <a:pt x="32518" y="39654"/>
                </a:lnTo>
                <a:lnTo>
                  <a:pt x="32829" y="47689"/>
                </a:lnTo>
                <a:lnTo>
                  <a:pt x="47296" y="61079"/>
                </a:lnTo>
                <a:lnTo>
                  <a:pt x="64549" y="42438"/>
                </a:lnTo>
                <a:lnTo>
                  <a:pt x="50082" y="29048"/>
                </a:lnTo>
                <a:close/>
              </a:path>
              <a:path w="446404" h="414654">
                <a:moveTo>
                  <a:pt x="76942" y="29048"/>
                </a:moveTo>
                <a:lnTo>
                  <a:pt x="50082" y="29048"/>
                </a:lnTo>
                <a:lnTo>
                  <a:pt x="64549" y="42438"/>
                </a:lnTo>
                <a:lnTo>
                  <a:pt x="76942" y="29048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101948" y="3708141"/>
            <a:ext cx="528320" cy="300355"/>
          </a:xfrm>
          <a:custGeom>
            <a:avLst/>
            <a:gdLst/>
            <a:ahLst/>
            <a:cxnLst/>
            <a:rect l="l" t="t" r="r" b="b"/>
            <a:pathLst>
              <a:path w="528320" h="300354">
                <a:moveTo>
                  <a:pt x="377706" y="0"/>
                </a:moveTo>
                <a:lnTo>
                  <a:pt x="377706" y="75032"/>
                </a:lnTo>
                <a:lnTo>
                  <a:pt x="0" y="75032"/>
                </a:lnTo>
                <a:lnTo>
                  <a:pt x="0" y="225099"/>
                </a:lnTo>
                <a:lnTo>
                  <a:pt x="377706" y="225099"/>
                </a:lnTo>
                <a:lnTo>
                  <a:pt x="377706" y="300134"/>
                </a:lnTo>
                <a:lnTo>
                  <a:pt x="527773" y="150067"/>
                </a:lnTo>
                <a:lnTo>
                  <a:pt x="37770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101946" y="5186178"/>
            <a:ext cx="528320" cy="300355"/>
          </a:xfrm>
          <a:custGeom>
            <a:avLst/>
            <a:gdLst/>
            <a:ahLst/>
            <a:cxnLst/>
            <a:rect l="l" t="t" r="r" b="b"/>
            <a:pathLst>
              <a:path w="528320" h="300354">
                <a:moveTo>
                  <a:pt x="377706" y="0"/>
                </a:moveTo>
                <a:lnTo>
                  <a:pt x="377706" y="75032"/>
                </a:lnTo>
                <a:lnTo>
                  <a:pt x="0" y="75032"/>
                </a:lnTo>
                <a:lnTo>
                  <a:pt x="0" y="225099"/>
                </a:lnTo>
                <a:lnTo>
                  <a:pt x="377706" y="225099"/>
                </a:lnTo>
                <a:lnTo>
                  <a:pt x="377706" y="300134"/>
                </a:lnTo>
                <a:lnTo>
                  <a:pt x="527773" y="150067"/>
                </a:lnTo>
                <a:lnTo>
                  <a:pt x="37770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906266" y="5316689"/>
            <a:ext cx="235585" cy="235585"/>
          </a:xfrm>
          <a:custGeom>
            <a:avLst/>
            <a:gdLst/>
            <a:ahLst/>
            <a:cxnLst/>
            <a:rect l="l" t="t" r="r" b="b"/>
            <a:pathLst>
              <a:path w="235584" h="235585">
                <a:moveTo>
                  <a:pt x="118044" y="0"/>
                </a:moveTo>
                <a:lnTo>
                  <a:pt x="117190" y="0"/>
                </a:lnTo>
                <a:lnTo>
                  <a:pt x="94358" y="2301"/>
                </a:lnTo>
                <a:lnTo>
                  <a:pt x="52193" y="19862"/>
                </a:lnTo>
                <a:lnTo>
                  <a:pt x="20320" y="51515"/>
                </a:lnTo>
                <a:lnTo>
                  <a:pt x="2471" y="93522"/>
                </a:lnTo>
                <a:lnTo>
                  <a:pt x="0" y="117190"/>
                </a:lnTo>
                <a:lnTo>
                  <a:pt x="85" y="118891"/>
                </a:lnTo>
                <a:lnTo>
                  <a:pt x="9082" y="163007"/>
                </a:lnTo>
                <a:lnTo>
                  <a:pt x="34163" y="200496"/>
                </a:lnTo>
                <a:lnTo>
                  <a:pt x="71462" y="225828"/>
                </a:lnTo>
                <a:lnTo>
                  <a:pt x="117190" y="235234"/>
                </a:lnTo>
                <a:lnTo>
                  <a:pt x="118043" y="235234"/>
                </a:lnTo>
                <a:lnTo>
                  <a:pt x="163007" y="226151"/>
                </a:lnTo>
                <a:lnTo>
                  <a:pt x="174585" y="219960"/>
                </a:lnTo>
                <a:lnTo>
                  <a:pt x="117617" y="219960"/>
                </a:lnTo>
                <a:lnTo>
                  <a:pt x="96986" y="217879"/>
                </a:lnTo>
                <a:lnTo>
                  <a:pt x="60396" y="202482"/>
                </a:lnTo>
                <a:lnTo>
                  <a:pt x="32751" y="174838"/>
                </a:lnTo>
                <a:lnTo>
                  <a:pt x="17354" y="138248"/>
                </a:lnTo>
                <a:lnTo>
                  <a:pt x="15317" y="118043"/>
                </a:lnTo>
                <a:lnTo>
                  <a:pt x="15317" y="117190"/>
                </a:lnTo>
                <a:lnTo>
                  <a:pt x="23316" y="77778"/>
                </a:lnTo>
                <a:lnTo>
                  <a:pt x="45248" y="45248"/>
                </a:lnTo>
                <a:lnTo>
                  <a:pt x="77778" y="23315"/>
                </a:lnTo>
                <a:lnTo>
                  <a:pt x="117617" y="15274"/>
                </a:lnTo>
                <a:lnTo>
                  <a:pt x="174587" y="15274"/>
                </a:lnTo>
                <a:lnTo>
                  <a:pt x="163775" y="9405"/>
                </a:lnTo>
                <a:lnTo>
                  <a:pt x="163007" y="9081"/>
                </a:lnTo>
                <a:lnTo>
                  <a:pt x="141711" y="2471"/>
                </a:lnTo>
                <a:lnTo>
                  <a:pt x="140876" y="2301"/>
                </a:lnTo>
                <a:lnTo>
                  <a:pt x="118044" y="0"/>
                </a:lnTo>
                <a:close/>
              </a:path>
              <a:path w="235584" h="235585">
                <a:moveTo>
                  <a:pt x="174587" y="15274"/>
                </a:moveTo>
                <a:lnTo>
                  <a:pt x="117617" y="15274"/>
                </a:lnTo>
                <a:lnTo>
                  <a:pt x="138248" y="17353"/>
                </a:lnTo>
                <a:lnTo>
                  <a:pt x="157455" y="23315"/>
                </a:lnTo>
                <a:lnTo>
                  <a:pt x="189985" y="45248"/>
                </a:lnTo>
                <a:lnTo>
                  <a:pt x="211918" y="77778"/>
                </a:lnTo>
                <a:lnTo>
                  <a:pt x="219917" y="117190"/>
                </a:lnTo>
                <a:lnTo>
                  <a:pt x="219917" y="118043"/>
                </a:lnTo>
                <a:lnTo>
                  <a:pt x="211918" y="157455"/>
                </a:lnTo>
                <a:lnTo>
                  <a:pt x="189985" y="189985"/>
                </a:lnTo>
                <a:lnTo>
                  <a:pt x="157455" y="211918"/>
                </a:lnTo>
                <a:lnTo>
                  <a:pt x="117617" y="219960"/>
                </a:lnTo>
                <a:lnTo>
                  <a:pt x="174585" y="219960"/>
                </a:lnTo>
                <a:lnTo>
                  <a:pt x="214914" y="183718"/>
                </a:lnTo>
                <a:lnTo>
                  <a:pt x="232763" y="141710"/>
                </a:lnTo>
                <a:lnTo>
                  <a:pt x="235234" y="117190"/>
                </a:lnTo>
                <a:lnTo>
                  <a:pt x="232932" y="94357"/>
                </a:lnTo>
                <a:lnTo>
                  <a:pt x="215371" y="52193"/>
                </a:lnTo>
                <a:lnTo>
                  <a:pt x="183719" y="20319"/>
                </a:lnTo>
                <a:lnTo>
                  <a:pt x="183040" y="19862"/>
                </a:lnTo>
                <a:lnTo>
                  <a:pt x="174587" y="15274"/>
                </a:lnTo>
                <a:close/>
              </a:path>
              <a:path w="235584" h="235585">
                <a:moveTo>
                  <a:pt x="117617" y="20379"/>
                </a:moveTo>
                <a:lnTo>
                  <a:pt x="79762" y="28018"/>
                </a:lnTo>
                <a:lnTo>
                  <a:pt x="36981" y="63249"/>
                </a:lnTo>
                <a:lnTo>
                  <a:pt x="20422" y="117190"/>
                </a:lnTo>
                <a:lnTo>
                  <a:pt x="20422" y="118043"/>
                </a:lnTo>
                <a:lnTo>
                  <a:pt x="28019" y="155470"/>
                </a:lnTo>
                <a:lnTo>
                  <a:pt x="63250" y="198252"/>
                </a:lnTo>
                <a:lnTo>
                  <a:pt x="117617" y="214854"/>
                </a:lnTo>
                <a:lnTo>
                  <a:pt x="137230" y="212877"/>
                </a:lnTo>
                <a:lnTo>
                  <a:pt x="147310" y="209748"/>
                </a:lnTo>
                <a:lnTo>
                  <a:pt x="117617" y="209748"/>
                </a:lnTo>
                <a:lnTo>
                  <a:pt x="99022" y="207873"/>
                </a:lnTo>
                <a:lnTo>
                  <a:pt x="52465" y="182768"/>
                </a:lnTo>
                <a:lnTo>
                  <a:pt x="27360" y="136212"/>
                </a:lnTo>
                <a:lnTo>
                  <a:pt x="25528" y="118043"/>
                </a:lnTo>
                <a:lnTo>
                  <a:pt x="25528" y="117190"/>
                </a:lnTo>
                <a:lnTo>
                  <a:pt x="41212" y="66104"/>
                </a:lnTo>
                <a:lnTo>
                  <a:pt x="81746" y="32722"/>
                </a:lnTo>
                <a:lnTo>
                  <a:pt x="117617" y="25485"/>
                </a:lnTo>
                <a:lnTo>
                  <a:pt x="147308" y="25485"/>
                </a:lnTo>
                <a:lnTo>
                  <a:pt x="137230" y="22357"/>
                </a:lnTo>
                <a:lnTo>
                  <a:pt x="117617" y="20379"/>
                </a:lnTo>
                <a:close/>
              </a:path>
              <a:path w="235584" h="235585">
                <a:moveTo>
                  <a:pt x="147308" y="25485"/>
                </a:moveTo>
                <a:lnTo>
                  <a:pt x="117617" y="25485"/>
                </a:lnTo>
                <a:lnTo>
                  <a:pt x="136212" y="27359"/>
                </a:lnTo>
                <a:lnTo>
                  <a:pt x="153539" y="32750"/>
                </a:lnTo>
                <a:lnTo>
                  <a:pt x="194022" y="66104"/>
                </a:lnTo>
                <a:lnTo>
                  <a:pt x="209705" y="117190"/>
                </a:lnTo>
                <a:lnTo>
                  <a:pt x="209705" y="118043"/>
                </a:lnTo>
                <a:lnTo>
                  <a:pt x="194022" y="169128"/>
                </a:lnTo>
                <a:lnTo>
                  <a:pt x="153488" y="202511"/>
                </a:lnTo>
                <a:lnTo>
                  <a:pt x="117617" y="209748"/>
                </a:lnTo>
                <a:lnTo>
                  <a:pt x="147310" y="209748"/>
                </a:lnTo>
                <a:lnTo>
                  <a:pt x="186377" y="186376"/>
                </a:lnTo>
                <a:lnTo>
                  <a:pt x="212877" y="137229"/>
                </a:lnTo>
                <a:lnTo>
                  <a:pt x="214811" y="117190"/>
                </a:lnTo>
                <a:lnTo>
                  <a:pt x="212877" y="98003"/>
                </a:lnTo>
                <a:lnTo>
                  <a:pt x="186377" y="48856"/>
                </a:lnTo>
                <a:lnTo>
                  <a:pt x="155471" y="28018"/>
                </a:lnTo>
                <a:lnTo>
                  <a:pt x="147308" y="25485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110858" y="3660924"/>
            <a:ext cx="248285" cy="248285"/>
          </a:xfrm>
          <a:custGeom>
            <a:avLst/>
            <a:gdLst/>
            <a:ahLst/>
            <a:cxnLst/>
            <a:rect l="l" t="t" r="r" b="b"/>
            <a:pathLst>
              <a:path w="248284" h="248285">
                <a:moveTo>
                  <a:pt x="123424" y="0"/>
                </a:moveTo>
                <a:lnTo>
                  <a:pt x="76150" y="9554"/>
                </a:lnTo>
                <a:lnTo>
                  <a:pt x="36599" y="36026"/>
                </a:lnTo>
                <a:lnTo>
                  <a:pt x="9878" y="75383"/>
                </a:lnTo>
                <a:lnTo>
                  <a:pt x="0" y="124705"/>
                </a:lnTo>
                <a:lnTo>
                  <a:pt x="704" y="137369"/>
                </a:lnTo>
                <a:lnTo>
                  <a:pt x="20933" y="193114"/>
                </a:lnTo>
                <a:lnTo>
                  <a:pt x="54337" y="226739"/>
                </a:lnTo>
                <a:lnTo>
                  <a:pt x="98456" y="245499"/>
                </a:lnTo>
                <a:lnTo>
                  <a:pt x="124705" y="248130"/>
                </a:lnTo>
                <a:lnTo>
                  <a:pt x="137368" y="247425"/>
                </a:lnTo>
                <a:lnTo>
                  <a:pt x="182589" y="232909"/>
                </a:lnTo>
                <a:lnTo>
                  <a:pt x="123936" y="232909"/>
                </a:lnTo>
                <a:lnTo>
                  <a:pt x="112804" y="232333"/>
                </a:lnTo>
                <a:lnTo>
                  <a:pt x="63217" y="214308"/>
                </a:lnTo>
                <a:lnTo>
                  <a:pt x="33821" y="184912"/>
                </a:lnTo>
                <a:lnTo>
                  <a:pt x="17428" y="145940"/>
                </a:lnTo>
                <a:lnTo>
                  <a:pt x="15247" y="123424"/>
                </a:lnTo>
                <a:lnTo>
                  <a:pt x="15795" y="112805"/>
                </a:lnTo>
                <a:lnTo>
                  <a:pt x="33821" y="63218"/>
                </a:lnTo>
                <a:lnTo>
                  <a:pt x="63217" y="33821"/>
                </a:lnTo>
                <a:lnTo>
                  <a:pt x="102188" y="17429"/>
                </a:lnTo>
                <a:lnTo>
                  <a:pt x="124192" y="15220"/>
                </a:lnTo>
                <a:lnTo>
                  <a:pt x="182590" y="15220"/>
                </a:lnTo>
                <a:lnTo>
                  <a:pt x="172747" y="9878"/>
                </a:lnTo>
                <a:lnTo>
                  <a:pt x="171978" y="9554"/>
                </a:lnTo>
                <a:lnTo>
                  <a:pt x="149671" y="2630"/>
                </a:lnTo>
                <a:lnTo>
                  <a:pt x="149054" y="2487"/>
                </a:lnTo>
                <a:lnTo>
                  <a:pt x="136093" y="575"/>
                </a:lnTo>
                <a:lnTo>
                  <a:pt x="123424" y="0"/>
                </a:lnTo>
                <a:close/>
              </a:path>
              <a:path w="248284" h="248285">
                <a:moveTo>
                  <a:pt x="182590" y="15220"/>
                </a:moveTo>
                <a:lnTo>
                  <a:pt x="124192" y="15220"/>
                </a:lnTo>
                <a:lnTo>
                  <a:pt x="135324" y="15796"/>
                </a:lnTo>
                <a:lnTo>
                  <a:pt x="145940" y="17429"/>
                </a:lnTo>
                <a:lnTo>
                  <a:pt x="184911" y="33821"/>
                </a:lnTo>
                <a:lnTo>
                  <a:pt x="214308" y="63218"/>
                </a:lnTo>
                <a:lnTo>
                  <a:pt x="230701" y="102189"/>
                </a:lnTo>
                <a:lnTo>
                  <a:pt x="232882" y="124705"/>
                </a:lnTo>
                <a:lnTo>
                  <a:pt x="232334" y="135324"/>
                </a:lnTo>
                <a:lnTo>
                  <a:pt x="214308" y="184912"/>
                </a:lnTo>
                <a:lnTo>
                  <a:pt x="184911" y="214308"/>
                </a:lnTo>
                <a:lnTo>
                  <a:pt x="145940" y="230700"/>
                </a:lnTo>
                <a:lnTo>
                  <a:pt x="123936" y="232909"/>
                </a:lnTo>
                <a:lnTo>
                  <a:pt x="182589" y="232909"/>
                </a:lnTo>
                <a:lnTo>
                  <a:pt x="226739" y="193791"/>
                </a:lnTo>
                <a:lnTo>
                  <a:pt x="245499" y="149672"/>
                </a:lnTo>
                <a:lnTo>
                  <a:pt x="248129" y="123424"/>
                </a:lnTo>
                <a:lnTo>
                  <a:pt x="247425" y="110760"/>
                </a:lnTo>
                <a:lnTo>
                  <a:pt x="227196" y="55015"/>
                </a:lnTo>
                <a:lnTo>
                  <a:pt x="193791" y="21390"/>
                </a:lnTo>
                <a:lnTo>
                  <a:pt x="192997" y="20869"/>
                </a:lnTo>
                <a:lnTo>
                  <a:pt x="182590" y="15220"/>
                </a:lnTo>
                <a:close/>
              </a:path>
              <a:path w="248284" h="248285">
                <a:moveTo>
                  <a:pt x="124449" y="20294"/>
                </a:moveTo>
                <a:lnTo>
                  <a:pt x="83685" y="28492"/>
                </a:lnTo>
                <a:lnTo>
                  <a:pt x="50719" y="50719"/>
                </a:lnTo>
                <a:lnTo>
                  <a:pt x="28491" y="83686"/>
                </a:lnTo>
                <a:lnTo>
                  <a:pt x="20307" y="123424"/>
                </a:lnTo>
                <a:lnTo>
                  <a:pt x="20342" y="124705"/>
                </a:lnTo>
                <a:lnTo>
                  <a:pt x="28491" y="164443"/>
                </a:lnTo>
                <a:lnTo>
                  <a:pt x="50719" y="197410"/>
                </a:lnTo>
                <a:lnTo>
                  <a:pt x="83685" y="219638"/>
                </a:lnTo>
                <a:lnTo>
                  <a:pt x="123680" y="227835"/>
                </a:lnTo>
                <a:lnTo>
                  <a:pt x="134303" y="227338"/>
                </a:lnTo>
                <a:lnTo>
                  <a:pt x="144798" y="225736"/>
                </a:lnTo>
                <a:lnTo>
                  <a:pt x="154381" y="222761"/>
                </a:lnTo>
                <a:lnTo>
                  <a:pt x="123424" y="222761"/>
                </a:lnTo>
                <a:lnTo>
                  <a:pt x="113317" y="222187"/>
                </a:lnTo>
                <a:lnTo>
                  <a:pt x="68927" y="205847"/>
                </a:lnTo>
                <a:lnTo>
                  <a:pt x="33195" y="162459"/>
                </a:lnTo>
                <a:lnTo>
                  <a:pt x="25367" y="123424"/>
                </a:lnTo>
                <a:lnTo>
                  <a:pt x="25870" y="114593"/>
                </a:lnTo>
                <a:lnTo>
                  <a:pt x="42282" y="68927"/>
                </a:lnTo>
                <a:lnTo>
                  <a:pt x="85669" y="33195"/>
                </a:lnTo>
                <a:lnTo>
                  <a:pt x="124705" y="25368"/>
                </a:lnTo>
                <a:lnTo>
                  <a:pt x="154379" y="25368"/>
                </a:lnTo>
                <a:lnTo>
                  <a:pt x="144798" y="22393"/>
                </a:lnTo>
                <a:lnTo>
                  <a:pt x="135068" y="20869"/>
                </a:lnTo>
                <a:lnTo>
                  <a:pt x="124449" y="20294"/>
                </a:lnTo>
                <a:close/>
              </a:path>
              <a:path w="248284" h="248285">
                <a:moveTo>
                  <a:pt x="154379" y="25368"/>
                </a:moveTo>
                <a:lnTo>
                  <a:pt x="124705" y="25368"/>
                </a:lnTo>
                <a:lnTo>
                  <a:pt x="134812" y="25943"/>
                </a:lnTo>
                <a:lnTo>
                  <a:pt x="143655" y="27358"/>
                </a:lnTo>
                <a:lnTo>
                  <a:pt x="179202" y="42283"/>
                </a:lnTo>
                <a:lnTo>
                  <a:pt x="214934" y="85670"/>
                </a:lnTo>
                <a:lnTo>
                  <a:pt x="222762" y="124705"/>
                </a:lnTo>
                <a:lnTo>
                  <a:pt x="222216" y="134303"/>
                </a:lnTo>
                <a:lnTo>
                  <a:pt x="205847" y="179203"/>
                </a:lnTo>
                <a:lnTo>
                  <a:pt x="162460" y="214934"/>
                </a:lnTo>
                <a:lnTo>
                  <a:pt x="123424" y="222761"/>
                </a:lnTo>
                <a:lnTo>
                  <a:pt x="154381" y="222761"/>
                </a:lnTo>
                <a:lnTo>
                  <a:pt x="197410" y="197410"/>
                </a:lnTo>
                <a:lnTo>
                  <a:pt x="219638" y="164443"/>
                </a:lnTo>
                <a:lnTo>
                  <a:pt x="227822" y="124705"/>
                </a:lnTo>
                <a:lnTo>
                  <a:pt x="227788" y="123424"/>
                </a:lnTo>
                <a:lnTo>
                  <a:pt x="219638" y="83686"/>
                </a:lnTo>
                <a:lnTo>
                  <a:pt x="197410" y="50719"/>
                </a:lnTo>
                <a:lnTo>
                  <a:pt x="164444" y="28492"/>
                </a:lnTo>
                <a:lnTo>
                  <a:pt x="154379" y="2536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387131" y="3200697"/>
            <a:ext cx="160020" cy="160020"/>
          </a:xfrm>
          <a:custGeom>
            <a:avLst/>
            <a:gdLst/>
            <a:ahLst/>
            <a:cxnLst/>
            <a:rect l="l" t="t" r="r" b="b"/>
            <a:pathLst>
              <a:path w="160020" h="160020">
                <a:moveTo>
                  <a:pt x="79907" y="0"/>
                </a:moveTo>
                <a:lnTo>
                  <a:pt x="48803" y="6279"/>
                </a:lnTo>
                <a:lnTo>
                  <a:pt x="23404" y="23404"/>
                </a:lnTo>
                <a:lnTo>
                  <a:pt x="6279" y="48803"/>
                </a:lnTo>
                <a:lnTo>
                  <a:pt x="0" y="79907"/>
                </a:lnTo>
                <a:lnTo>
                  <a:pt x="6279" y="111010"/>
                </a:lnTo>
                <a:lnTo>
                  <a:pt x="23404" y="136409"/>
                </a:lnTo>
                <a:lnTo>
                  <a:pt x="48803" y="153534"/>
                </a:lnTo>
                <a:lnTo>
                  <a:pt x="79907" y="159814"/>
                </a:lnTo>
                <a:lnTo>
                  <a:pt x="111011" y="153534"/>
                </a:lnTo>
                <a:lnTo>
                  <a:pt x="136411" y="136409"/>
                </a:lnTo>
                <a:lnTo>
                  <a:pt x="153535" y="111010"/>
                </a:lnTo>
                <a:lnTo>
                  <a:pt x="159815" y="79907"/>
                </a:lnTo>
                <a:lnTo>
                  <a:pt x="153535" y="48803"/>
                </a:lnTo>
                <a:lnTo>
                  <a:pt x="136411" y="23404"/>
                </a:lnTo>
                <a:lnTo>
                  <a:pt x="111011" y="6279"/>
                </a:lnTo>
                <a:lnTo>
                  <a:pt x="7990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949200" y="3510205"/>
            <a:ext cx="115570" cy="832485"/>
          </a:xfrm>
          <a:custGeom>
            <a:avLst/>
            <a:gdLst/>
            <a:ahLst/>
            <a:cxnLst/>
            <a:rect l="l" t="t" r="r" b="b"/>
            <a:pathLst>
              <a:path w="115570" h="832485">
                <a:moveTo>
                  <a:pt x="0" y="0"/>
                </a:moveTo>
                <a:lnTo>
                  <a:pt x="115023" y="0"/>
                </a:lnTo>
                <a:lnTo>
                  <a:pt x="115023" y="832171"/>
                </a:lnTo>
                <a:lnTo>
                  <a:pt x="0" y="83217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938945" y="4960861"/>
            <a:ext cx="115570" cy="832485"/>
          </a:xfrm>
          <a:custGeom>
            <a:avLst/>
            <a:gdLst/>
            <a:ahLst/>
            <a:cxnLst/>
            <a:rect l="l" t="t" r="r" b="b"/>
            <a:pathLst>
              <a:path w="115570" h="832485">
                <a:moveTo>
                  <a:pt x="0" y="0"/>
                </a:moveTo>
                <a:lnTo>
                  <a:pt x="115023" y="0"/>
                </a:lnTo>
                <a:lnTo>
                  <a:pt x="115023" y="832171"/>
                </a:lnTo>
                <a:lnTo>
                  <a:pt x="0" y="83217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5038633" y="3146044"/>
            <a:ext cx="12782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Embedding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of</a:t>
            </a:r>
            <a:endParaRPr sz="16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6404488" y="4660800"/>
            <a:ext cx="167640" cy="167640"/>
          </a:xfrm>
          <a:custGeom>
            <a:avLst/>
            <a:gdLst/>
            <a:ahLst/>
            <a:cxnLst/>
            <a:rect l="l" t="t" r="r" b="b"/>
            <a:pathLst>
              <a:path w="167640" h="167639">
                <a:moveTo>
                  <a:pt x="0" y="0"/>
                </a:moveTo>
                <a:lnTo>
                  <a:pt x="167594" y="0"/>
                </a:lnTo>
                <a:lnTo>
                  <a:pt x="167594" y="167594"/>
                </a:lnTo>
                <a:lnTo>
                  <a:pt x="0" y="167594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753384" y="3680428"/>
            <a:ext cx="189230" cy="1852295"/>
          </a:xfrm>
          <a:custGeom>
            <a:avLst/>
            <a:gdLst/>
            <a:ahLst/>
            <a:cxnLst/>
            <a:rect l="l" t="t" r="r" b="b"/>
            <a:pathLst>
              <a:path w="189229" h="1852295">
                <a:moveTo>
                  <a:pt x="0" y="0"/>
                </a:moveTo>
                <a:lnTo>
                  <a:pt x="55769" y="37413"/>
                </a:lnTo>
                <a:lnTo>
                  <a:pt x="76210" y="79390"/>
                </a:lnTo>
                <a:lnTo>
                  <a:pt x="89615" y="132620"/>
                </a:lnTo>
                <a:lnTo>
                  <a:pt x="94430" y="193912"/>
                </a:lnTo>
                <a:lnTo>
                  <a:pt x="94430" y="731937"/>
                </a:lnTo>
                <a:lnTo>
                  <a:pt x="99244" y="793228"/>
                </a:lnTo>
                <a:lnTo>
                  <a:pt x="112649" y="846459"/>
                </a:lnTo>
                <a:lnTo>
                  <a:pt x="133090" y="888435"/>
                </a:lnTo>
                <a:lnTo>
                  <a:pt x="159012" y="915963"/>
                </a:lnTo>
                <a:lnTo>
                  <a:pt x="188860" y="925849"/>
                </a:lnTo>
                <a:lnTo>
                  <a:pt x="159012" y="935735"/>
                </a:lnTo>
                <a:lnTo>
                  <a:pt x="133090" y="963263"/>
                </a:lnTo>
                <a:lnTo>
                  <a:pt x="112649" y="1005239"/>
                </a:lnTo>
                <a:lnTo>
                  <a:pt x="99244" y="1058470"/>
                </a:lnTo>
                <a:lnTo>
                  <a:pt x="94430" y="1119761"/>
                </a:lnTo>
                <a:lnTo>
                  <a:pt x="94430" y="1657787"/>
                </a:lnTo>
                <a:lnTo>
                  <a:pt x="89615" y="1719078"/>
                </a:lnTo>
                <a:lnTo>
                  <a:pt x="76210" y="1772309"/>
                </a:lnTo>
                <a:lnTo>
                  <a:pt x="55769" y="1814285"/>
                </a:lnTo>
                <a:lnTo>
                  <a:pt x="29847" y="1841813"/>
                </a:lnTo>
                <a:lnTo>
                  <a:pt x="0" y="185169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150165" y="4444150"/>
            <a:ext cx="528320" cy="300355"/>
          </a:xfrm>
          <a:custGeom>
            <a:avLst/>
            <a:gdLst/>
            <a:ahLst/>
            <a:cxnLst/>
            <a:rect l="l" t="t" r="r" b="b"/>
            <a:pathLst>
              <a:path w="528320" h="300354">
                <a:moveTo>
                  <a:pt x="377706" y="0"/>
                </a:moveTo>
                <a:lnTo>
                  <a:pt x="377706" y="75034"/>
                </a:lnTo>
                <a:lnTo>
                  <a:pt x="0" y="75034"/>
                </a:lnTo>
                <a:lnTo>
                  <a:pt x="0" y="225101"/>
                </a:lnTo>
                <a:lnTo>
                  <a:pt x="377706" y="225101"/>
                </a:lnTo>
                <a:lnTo>
                  <a:pt x="377706" y="300134"/>
                </a:lnTo>
                <a:lnTo>
                  <a:pt x="527773" y="150067"/>
                </a:lnTo>
                <a:lnTo>
                  <a:pt x="37770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7771172" y="4443476"/>
            <a:ext cx="1283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 b="1">
                <a:solidFill>
                  <a:srgbClr val="00B050"/>
                </a:solidFill>
                <a:latin typeface="Arial"/>
                <a:cs typeface="Arial"/>
              </a:rPr>
              <a:t>True </a:t>
            </a:r>
            <a:r>
              <a:rPr dirty="0" sz="1800" b="1">
                <a:latin typeface="Arial"/>
                <a:cs typeface="Arial"/>
              </a:rPr>
              <a:t>/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False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6" name="object 7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77" name="object 7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78" name="object 7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34</a:t>
            </a:fld>
          </a:p>
        </p:txBody>
      </p:sp>
      <p:sp>
        <p:nvSpPr>
          <p:cNvPr id="72" name="object 72"/>
          <p:cNvSpPr txBox="1"/>
          <p:nvPr/>
        </p:nvSpPr>
        <p:spPr>
          <a:xfrm>
            <a:off x="4447988" y="3727196"/>
            <a:ext cx="533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GNN</a:t>
            </a:r>
            <a:endParaRPr sz="18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449204" y="5178044"/>
            <a:ext cx="533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GNN</a:t>
            </a:r>
            <a:endParaRPr sz="18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707432" y="5861432"/>
            <a:ext cx="3285490" cy="739140"/>
          </a:xfrm>
          <a:prstGeom prst="rect">
            <a:avLst/>
          </a:prstGeom>
          <a:solidFill>
            <a:srgbClr val="C4E2C5"/>
          </a:solidFill>
        </p:spPr>
        <p:txBody>
          <a:bodyPr wrap="square" lIns="0" tIns="19685" rIns="0" bIns="0" rtlCol="0" vert="horz">
            <a:spAutoFit/>
          </a:bodyPr>
          <a:lstStyle/>
          <a:p>
            <a:pPr marL="90805" marR="114300">
              <a:lnSpc>
                <a:spcPct val="103800"/>
              </a:lnSpc>
              <a:spcBef>
                <a:spcPts val="155"/>
              </a:spcBef>
            </a:pPr>
            <a:r>
              <a:rPr dirty="0" sz="2100" spc="-5" b="1">
                <a:latin typeface="Arial"/>
                <a:cs typeface="Arial"/>
              </a:rPr>
              <a:t>How </a:t>
            </a:r>
            <a:r>
              <a:rPr dirty="0" sz="2100" b="1">
                <a:latin typeface="Arial"/>
                <a:cs typeface="Arial"/>
              </a:rPr>
              <a:t>to </a:t>
            </a:r>
            <a:r>
              <a:rPr dirty="0" sz="2100" spc="-5" b="1">
                <a:latin typeface="Arial"/>
                <a:cs typeface="Arial"/>
              </a:rPr>
              <a:t>use embeddings  </a:t>
            </a:r>
            <a:r>
              <a:rPr dirty="0" sz="2100" b="1">
                <a:latin typeface="Arial"/>
                <a:cs typeface="Arial"/>
              </a:rPr>
              <a:t>to </a:t>
            </a:r>
            <a:r>
              <a:rPr dirty="0" sz="2100" spc="-10" b="1">
                <a:latin typeface="Arial"/>
                <a:cs typeface="Arial"/>
              </a:rPr>
              <a:t>make</a:t>
            </a:r>
            <a:r>
              <a:rPr dirty="0" sz="2100" spc="-30" b="1">
                <a:latin typeface="Arial"/>
                <a:cs typeface="Arial"/>
              </a:rPr>
              <a:t> </a:t>
            </a:r>
            <a:r>
              <a:rPr dirty="0" sz="2100" spc="-5" b="1">
                <a:latin typeface="Arial"/>
                <a:cs typeface="Arial"/>
              </a:rPr>
              <a:t>predictions?</a:t>
            </a:r>
            <a:endParaRPr sz="21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032599" y="4581652"/>
            <a:ext cx="12782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Embedding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of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324916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297939"/>
            <a:ext cx="8042275" cy="5079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445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5" b="1">
                <a:solidFill>
                  <a:srgbClr val="0000FF"/>
                </a:solidFill>
                <a:latin typeface="Calibri"/>
                <a:cs typeface="Calibri"/>
              </a:rPr>
              <a:t>Recall </a:t>
            </a:r>
            <a:r>
              <a:rPr dirty="0" sz="3000" spc="-10" b="1">
                <a:solidFill>
                  <a:srgbClr val="0000FF"/>
                </a:solidFill>
                <a:latin typeface="Calibri"/>
                <a:cs typeface="Calibri"/>
              </a:rPr>
              <a:t>node-level </a:t>
            </a: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frequency</a:t>
            </a:r>
            <a:r>
              <a:rPr dirty="0" sz="3000" spc="-1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definition:</a:t>
            </a:r>
            <a:endParaRPr sz="3000">
              <a:latin typeface="Calibri"/>
              <a:cs typeface="Calibri"/>
            </a:endParaRPr>
          </a:p>
          <a:p>
            <a:pPr marL="332740" marR="699770">
              <a:lnSpc>
                <a:spcPct val="93300"/>
              </a:lnSpc>
              <a:spcBef>
                <a:spcPts val="85"/>
              </a:spcBef>
            </a:pPr>
            <a:r>
              <a:rPr dirty="0" sz="3000" spc="-5">
                <a:latin typeface="Calibri"/>
                <a:cs typeface="Calibri"/>
              </a:rPr>
              <a:t>The number </a:t>
            </a:r>
            <a:r>
              <a:rPr dirty="0" sz="3000">
                <a:latin typeface="Calibri"/>
                <a:cs typeface="Calibri"/>
              </a:rPr>
              <a:t>of </a:t>
            </a:r>
            <a:r>
              <a:rPr dirty="0" sz="3000" spc="-5">
                <a:latin typeface="Calibri"/>
                <a:cs typeface="Calibri"/>
              </a:rPr>
              <a:t>nodes </a:t>
            </a:r>
            <a:r>
              <a:rPr dirty="0" sz="3000">
                <a:solidFill>
                  <a:srgbClr val="0000FF"/>
                </a:solidFill>
                <a:latin typeface="Cambria Math"/>
                <a:cs typeface="Cambria Math"/>
              </a:rPr>
              <a:t>𝑢 </a:t>
            </a:r>
            <a:r>
              <a:rPr dirty="0" sz="3000" spc="-5">
                <a:latin typeface="Calibri"/>
                <a:cs typeface="Calibri"/>
              </a:rPr>
              <a:t>in </a:t>
            </a:r>
            <a:r>
              <a:rPr dirty="0" sz="3000" spc="360">
                <a:solidFill>
                  <a:srgbClr val="0000FF"/>
                </a:solidFill>
                <a:latin typeface="Cambria Math"/>
                <a:cs typeface="Cambria Math"/>
              </a:rPr>
              <a:t>𝐺</a:t>
            </a:r>
            <a:r>
              <a:rPr dirty="0" baseline="-15151" sz="3300" spc="540">
                <a:solidFill>
                  <a:srgbClr val="0000FF"/>
                </a:solidFill>
                <a:latin typeface="Cambria Math"/>
                <a:cs typeface="Cambria Math"/>
              </a:rPr>
              <a:t>! </a:t>
            </a:r>
            <a:r>
              <a:rPr dirty="0" sz="3000" spc="-5">
                <a:solidFill>
                  <a:srgbClr val="002060"/>
                </a:solidFill>
                <a:latin typeface="Calibri"/>
                <a:cs typeface="Calibri"/>
              </a:rPr>
              <a:t>f</a:t>
            </a:r>
            <a:r>
              <a:rPr dirty="0" sz="3000" spc="-5">
                <a:latin typeface="Calibri"/>
                <a:cs typeface="Calibri"/>
              </a:rPr>
              <a:t>or which </a:t>
            </a:r>
            <a:r>
              <a:rPr dirty="0" sz="3000">
                <a:latin typeface="Calibri"/>
                <a:cs typeface="Calibri"/>
              </a:rPr>
              <a:t>some  </a:t>
            </a:r>
            <a:r>
              <a:rPr dirty="0" sz="3000" spc="-10">
                <a:latin typeface="Calibri"/>
                <a:cs typeface="Calibri"/>
              </a:rPr>
              <a:t>subgraph </a:t>
            </a:r>
            <a:r>
              <a:rPr dirty="0" sz="3000">
                <a:latin typeface="Calibri"/>
                <a:cs typeface="Calibri"/>
              </a:rPr>
              <a:t>of </a:t>
            </a:r>
            <a:r>
              <a:rPr dirty="0" sz="3000" spc="360">
                <a:solidFill>
                  <a:srgbClr val="0000FF"/>
                </a:solidFill>
                <a:latin typeface="Cambria Math"/>
                <a:cs typeface="Cambria Math"/>
              </a:rPr>
              <a:t>𝐺</a:t>
            </a:r>
            <a:r>
              <a:rPr dirty="0" baseline="-15151" sz="3300" spc="540">
                <a:solidFill>
                  <a:srgbClr val="0000FF"/>
                </a:solidFill>
                <a:latin typeface="Cambria Math"/>
                <a:cs typeface="Cambria Math"/>
              </a:rPr>
              <a:t>! </a:t>
            </a:r>
            <a:r>
              <a:rPr dirty="0" sz="3000" spc="-5">
                <a:latin typeface="Calibri"/>
                <a:cs typeface="Calibri"/>
              </a:rPr>
              <a:t>is isomorphic </a:t>
            </a:r>
            <a:r>
              <a:rPr dirty="0" sz="3000" spc="-15">
                <a:latin typeface="Calibri"/>
                <a:cs typeface="Calibri"/>
              </a:rPr>
              <a:t>to </a:t>
            </a:r>
            <a:r>
              <a:rPr dirty="0" sz="3000" spc="280">
                <a:solidFill>
                  <a:srgbClr val="C00000"/>
                </a:solidFill>
                <a:latin typeface="Cambria Math"/>
                <a:cs typeface="Cambria Math"/>
              </a:rPr>
              <a:t>𝐺</a:t>
            </a:r>
            <a:r>
              <a:rPr dirty="0" baseline="-15151" sz="3300" spc="419">
                <a:solidFill>
                  <a:srgbClr val="C00000"/>
                </a:solidFill>
                <a:latin typeface="Cambria Math"/>
                <a:cs typeface="Cambria Math"/>
              </a:rPr>
              <a:t>" </a:t>
            </a:r>
            <a:r>
              <a:rPr dirty="0" sz="3000" spc="-5">
                <a:latin typeface="Calibri"/>
                <a:cs typeface="Calibri"/>
              </a:rPr>
              <a:t>and the  isomorphism maps </a:t>
            </a:r>
            <a:r>
              <a:rPr dirty="0" sz="3000">
                <a:solidFill>
                  <a:srgbClr val="0000FF"/>
                </a:solidFill>
                <a:latin typeface="Cambria Math"/>
                <a:cs typeface="Cambria Math"/>
              </a:rPr>
              <a:t>𝑢 </a:t>
            </a:r>
            <a:r>
              <a:rPr dirty="0" sz="3000" spc="-15">
                <a:latin typeface="Calibri"/>
                <a:cs typeface="Calibri"/>
              </a:rPr>
              <a:t>to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C00000"/>
                </a:solidFill>
                <a:latin typeface="Cambria Math"/>
                <a:cs typeface="Cambria Math"/>
              </a:rPr>
              <a:t>𝑣</a:t>
            </a:r>
            <a:endParaRPr sz="3000">
              <a:latin typeface="Cambria Math"/>
              <a:cs typeface="Cambria Math"/>
            </a:endParaRPr>
          </a:p>
          <a:p>
            <a:pPr marL="332740" marR="369570" indent="-320040">
              <a:lnSpc>
                <a:spcPts val="3190"/>
              </a:lnSpc>
              <a:spcBef>
                <a:spcPts val="234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5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3000" spc="-15">
                <a:solidFill>
                  <a:srgbClr val="C00000"/>
                </a:solidFill>
                <a:latin typeface="Calibri"/>
                <a:cs typeface="Calibri"/>
              </a:rPr>
              <a:t>can compute 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embeddings </a:t>
            </a:r>
            <a:r>
              <a:rPr dirty="0" sz="3000" spc="-25">
                <a:solidFill>
                  <a:srgbClr val="C00000"/>
                </a:solidFill>
                <a:latin typeface="Calibri"/>
                <a:cs typeface="Calibri"/>
              </a:rPr>
              <a:t>for </a:t>
            </a:r>
            <a:r>
              <a:rPr dirty="0" sz="3000">
                <a:solidFill>
                  <a:srgbClr val="C00000"/>
                </a:solidFill>
                <a:latin typeface="Cambria Math"/>
                <a:cs typeface="Cambria Math"/>
              </a:rPr>
              <a:t>𝑢 </a:t>
            </a:r>
            <a:r>
              <a:rPr dirty="0" sz="3000" spc="-5">
                <a:solidFill>
                  <a:srgbClr val="C00000"/>
                </a:solidFill>
                <a:latin typeface="Calibri"/>
                <a:cs typeface="Calibri"/>
              </a:rPr>
              <a:t>and </a:t>
            </a:r>
            <a:r>
              <a:rPr dirty="0" sz="3000">
                <a:solidFill>
                  <a:srgbClr val="C00000"/>
                </a:solidFill>
                <a:latin typeface="Cambria Math"/>
                <a:cs typeface="Cambria Math"/>
              </a:rPr>
              <a:t>𝑣 </a:t>
            </a:r>
            <a:r>
              <a:rPr dirty="0" sz="3000" spc="-5">
                <a:solidFill>
                  <a:srgbClr val="C00000"/>
                </a:solidFill>
                <a:latin typeface="Calibri"/>
                <a:cs typeface="Calibri"/>
              </a:rPr>
              <a:t>using  GNN</a:t>
            </a:r>
            <a:endParaRPr sz="3000">
              <a:latin typeface="Calibri"/>
              <a:cs typeface="Calibri"/>
            </a:endParaRPr>
          </a:p>
          <a:p>
            <a:pPr marL="332740" marR="5080" indent="-320040">
              <a:lnSpc>
                <a:spcPts val="3310"/>
              </a:lnSpc>
              <a:spcBef>
                <a:spcPts val="220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>
                <a:latin typeface="Calibri"/>
                <a:cs typeface="Calibri"/>
              </a:rPr>
              <a:t>Use </a:t>
            </a:r>
            <a:r>
              <a:rPr dirty="0" sz="3000" spc="-5">
                <a:latin typeface="Calibri"/>
                <a:cs typeface="Calibri"/>
              </a:rPr>
              <a:t>embeddings </a:t>
            </a:r>
            <a:r>
              <a:rPr dirty="0" sz="3000" spc="-20">
                <a:latin typeface="Calibri"/>
                <a:cs typeface="Calibri"/>
              </a:rPr>
              <a:t>to </a:t>
            </a:r>
            <a:r>
              <a:rPr dirty="0" sz="3000" spc="-10">
                <a:latin typeface="Calibri"/>
                <a:cs typeface="Calibri"/>
              </a:rPr>
              <a:t>decide </a:t>
            </a:r>
            <a:r>
              <a:rPr dirty="0" sz="3000" spc="-5">
                <a:latin typeface="Calibri"/>
                <a:cs typeface="Calibri"/>
              </a:rPr>
              <a:t>if neighborhood </a:t>
            </a:r>
            <a:r>
              <a:rPr dirty="0" sz="3000">
                <a:latin typeface="Calibri"/>
                <a:cs typeface="Calibri"/>
              </a:rPr>
              <a:t>of </a:t>
            </a:r>
            <a:r>
              <a:rPr dirty="0" sz="3000">
                <a:solidFill>
                  <a:srgbClr val="0000FF"/>
                </a:solidFill>
                <a:latin typeface="Cambria Math"/>
                <a:cs typeface="Cambria Math"/>
              </a:rPr>
              <a:t>𝑢 </a:t>
            </a:r>
            <a:r>
              <a:rPr dirty="0" sz="3000" spc="-5">
                <a:latin typeface="Calibri"/>
                <a:cs typeface="Calibri"/>
              </a:rPr>
              <a:t>is  isomorphic </a:t>
            </a:r>
            <a:r>
              <a:rPr dirty="0" sz="3000" spc="-20">
                <a:latin typeface="Calibri"/>
                <a:cs typeface="Calibri"/>
              </a:rPr>
              <a:t>to </a:t>
            </a:r>
            <a:r>
              <a:rPr dirty="0" sz="3000" spc="-10">
                <a:latin typeface="Calibri"/>
                <a:cs typeface="Calibri"/>
              </a:rPr>
              <a:t>subgraph </a:t>
            </a:r>
            <a:r>
              <a:rPr dirty="0" sz="3000">
                <a:latin typeface="Calibri"/>
                <a:cs typeface="Calibri"/>
              </a:rPr>
              <a:t>of </a:t>
            </a:r>
            <a:r>
              <a:rPr dirty="0" sz="3000" spc="-5">
                <a:latin typeface="Calibri"/>
                <a:cs typeface="Calibri"/>
              </a:rPr>
              <a:t>neighborhood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C00000"/>
                </a:solidFill>
                <a:latin typeface="Cambria Math"/>
                <a:cs typeface="Cambria Math"/>
              </a:rPr>
              <a:t>𝑣</a:t>
            </a:r>
            <a:endParaRPr sz="3000">
              <a:latin typeface="Cambria Math"/>
              <a:cs typeface="Cambria Math"/>
            </a:endParaRPr>
          </a:p>
          <a:p>
            <a:pPr marL="332740" marR="76200" indent="-320040">
              <a:lnSpc>
                <a:spcPts val="3290"/>
              </a:lnSpc>
              <a:spcBef>
                <a:spcPts val="210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5">
                <a:latin typeface="Calibri"/>
                <a:cs typeface="Calibri"/>
              </a:rPr>
              <a:t>We </a:t>
            </a:r>
            <a:r>
              <a:rPr dirty="0" sz="3000" spc="-5">
                <a:latin typeface="Calibri"/>
                <a:cs typeface="Calibri"/>
              </a:rPr>
              <a:t>not only </a:t>
            </a:r>
            <a:r>
              <a:rPr dirty="0" sz="3000" spc="-15">
                <a:latin typeface="Calibri"/>
                <a:cs typeface="Calibri"/>
              </a:rPr>
              <a:t>predict </a:t>
            </a:r>
            <a:r>
              <a:rPr dirty="0" sz="3000" spc="-5">
                <a:latin typeface="Calibri"/>
                <a:cs typeface="Calibri"/>
              </a:rPr>
              <a:t>if </a:t>
            </a:r>
            <a:r>
              <a:rPr dirty="0" sz="3000" spc="-15">
                <a:latin typeface="Calibri"/>
                <a:cs typeface="Calibri"/>
              </a:rPr>
              <a:t>there </a:t>
            </a:r>
            <a:r>
              <a:rPr dirty="0" sz="3000" spc="-20">
                <a:latin typeface="Calibri"/>
                <a:cs typeface="Calibri"/>
              </a:rPr>
              <a:t>exists </a:t>
            </a:r>
            <a:r>
              <a:rPr dirty="0" sz="3000">
                <a:latin typeface="Calibri"/>
                <a:cs typeface="Calibri"/>
              </a:rPr>
              <a:t>a mapping, </a:t>
            </a:r>
            <a:r>
              <a:rPr dirty="0" sz="3000" spc="-5">
                <a:latin typeface="Calibri"/>
                <a:cs typeface="Calibri"/>
              </a:rPr>
              <a:t>but  </a:t>
            </a:r>
            <a:r>
              <a:rPr dirty="0" sz="3000">
                <a:latin typeface="Calibri"/>
                <a:cs typeface="Calibri"/>
              </a:rPr>
              <a:t>also </a:t>
            </a:r>
            <a:r>
              <a:rPr dirty="0" sz="3000" b="1">
                <a:solidFill>
                  <a:srgbClr val="008000"/>
                </a:solidFill>
                <a:latin typeface="Calibri"/>
                <a:cs typeface="Calibri"/>
              </a:rPr>
              <a:t>a </a:t>
            </a:r>
            <a:r>
              <a:rPr dirty="0" sz="3000" spc="-5" b="1">
                <a:solidFill>
                  <a:srgbClr val="008000"/>
                </a:solidFill>
                <a:latin typeface="Calibri"/>
                <a:cs typeface="Calibri"/>
              </a:rPr>
              <a:t>identify </a:t>
            </a:r>
            <a:r>
              <a:rPr dirty="0" sz="3000" spc="-10" b="1">
                <a:solidFill>
                  <a:srgbClr val="008000"/>
                </a:solidFill>
                <a:latin typeface="Calibri"/>
                <a:cs typeface="Calibri"/>
              </a:rPr>
              <a:t>corresponding </a:t>
            </a:r>
            <a:r>
              <a:rPr dirty="0" sz="3000" b="1">
                <a:solidFill>
                  <a:srgbClr val="008000"/>
                </a:solidFill>
                <a:latin typeface="Calibri"/>
                <a:cs typeface="Calibri"/>
              </a:rPr>
              <a:t>nodes </a:t>
            </a:r>
            <a:r>
              <a:rPr dirty="0" sz="3000">
                <a:latin typeface="Calibri"/>
                <a:cs typeface="Calibri"/>
              </a:rPr>
              <a:t>(</a:t>
            </a:r>
            <a:r>
              <a:rPr dirty="0" sz="3000">
                <a:solidFill>
                  <a:srgbClr val="0000FF"/>
                </a:solidFill>
                <a:latin typeface="Cambria Math"/>
                <a:cs typeface="Cambria Math"/>
              </a:rPr>
              <a:t>𝑢 </a:t>
            </a:r>
            <a:r>
              <a:rPr dirty="0" sz="3000" spc="-5">
                <a:latin typeface="Calibri"/>
                <a:cs typeface="Calibri"/>
              </a:rPr>
              <a:t>and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 spc="25">
                <a:solidFill>
                  <a:srgbClr val="C00000"/>
                </a:solidFill>
                <a:latin typeface="Cambria Math"/>
                <a:cs typeface="Cambria Math"/>
              </a:rPr>
              <a:t>𝑣</a:t>
            </a:r>
            <a:r>
              <a:rPr dirty="0" sz="3000" spc="25">
                <a:latin typeface="Calibri"/>
                <a:cs typeface="Calibri"/>
              </a:rPr>
              <a:t>)!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34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968" y="377952"/>
            <a:ext cx="8366759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38163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 b="1">
                <a:latin typeface="Calibri"/>
                <a:cs typeface="Calibri"/>
              </a:rPr>
              <a:t>For </a:t>
            </a:r>
            <a:r>
              <a:rPr dirty="0" spc="-5" b="1">
                <a:latin typeface="Calibri"/>
                <a:cs typeface="Calibri"/>
              </a:rPr>
              <a:t>each node </a:t>
            </a:r>
            <a:r>
              <a:rPr dirty="0" b="1">
                <a:latin typeface="Calibri"/>
                <a:cs typeface="Calibri"/>
              </a:rPr>
              <a:t>in</a:t>
            </a:r>
            <a:r>
              <a:rPr dirty="0" spc="-50" b="1">
                <a:latin typeface="Calibri"/>
                <a:cs typeface="Calibri"/>
              </a:rPr>
              <a:t> </a:t>
            </a:r>
            <a:r>
              <a:rPr dirty="0" spc="30">
                <a:latin typeface="Cambria Math"/>
                <a:cs typeface="Cambria Math"/>
              </a:rPr>
              <a:t>𝑮</a:t>
            </a:r>
            <a:r>
              <a:rPr dirty="0" baseline="-15700" sz="3450" spc="44">
                <a:latin typeface="Cambria Math"/>
                <a:cs typeface="Cambria Math"/>
              </a:rPr>
              <a:t>𝑻</a:t>
            </a:r>
            <a:r>
              <a:rPr dirty="0" sz="3200" spc="30" b="1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826259"/>
            <a:ext cx="8212455" cy="477456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Obtain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25" b="1">
                <a:solidFill>
                  <a:srgbClr val="0070C0"/>
                </a:solidFill>
                <a:latin typeface="Calibri"/>
                <a:cs typeface="Calibri"/>
              </a:rPr>
              <a:t>k-hop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neighborhood </a:t>
            </a:r>
            <a:r>
              <a:rPr dirty="0" sz="2800" spc="-10">
                <a:latin typeface="Calibri"/>
                <a:cs typeface="Calibri"/>
              </a:rPr>
              <a:t>around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anchor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Can </a:t>
            </a:r>
            <a:r>
              <a:rPr dirty="0" sz="2800">
                <a:latin typeface="Calibri"/>
                <a:cs typeface="Calibri"/>
              </a:rPr>
              <a:t>be </a:t>
            </a:r>
            <a:r>
              <a:rPr dirty="0" sz="2800" spc="-15">
                <a:latin typeface="Calibri"/>
                <a:cs typeface="Calibri"/>
              </a:rPr>
              <a:t>performed </a:t>
            </a:r>
            <a:r>
              <a:rPr dirty="0" sz="2800" spc="-5">
                <a:latin typeface="Calibri"/>
                <a:cs typeface="Calibri"/>
              </a:rPr>
              <a:t>using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breadth-first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search</a:t>
            </a:r>
            <a:r>
              <a:rPr dirty="0" sz="2800" spc="114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(BFS)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The depth </a:t>
            </a:r>
            <a:r>
              <a:rPr dirty="0" sz="2800">
                <a:latin typeface="Cambria Math"/>
                <a:cs typeface="Cambria Math"/>
              </a:rPr>
              <a:t>𝑘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20">
                <a:latin typeface="Calibri"/>
                <a:cs typeface="Calibri"/>
              </a:rPr>
              <a:t>hyper-parameter </a:t>
            </a:r>
            <a:r>
              <a:rPr dirty="0" sz="2800" spc="-5">
                <a:latin typeface="Calibri"/>
                <a:cs typeface="Calibri"/>
              </a:rPr>
              <a:t>(</a:t>
            </a:r>
            <a:r>
              <a:rPr dirty="0" sz="2800" spc="-5" i="1">
                <a:latin typeface="Calibri"/>
                <a:cs typeface="Calibri"/>
              </a:rPr>
              <a:t>e.g.</a:t>
            </a:r>
            <a:r>
              <a:rPr dirty="0" sz="2800" spc="100" i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3)</a:t>
            </a:r>
            <a:endParaRPr sz="2800">
              <a:latin typeface="Calibri"/>
              <a:cs typeface="Calibri"/>
            </a:endParaRPr>
          </a:p>
          <a:p>
            <a:pPr lvl="1" marL="890905" indent="-228600">
              <a:lnSpc>
                <a:spcPts val="2840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10">
                <a:latin typeface="Calibri"/>
                <a:cs typeface="Calibri"/>
              </a:rPr>
              <a:t>Larger </a:t>
            </a:r>
            <a:r>
              <a:rPr dirty="0" sz="2400" spc="-5">
                <a:latin typeface="Calibri"/>
                <a:cs typeface="Calibri"/>
              </a:rPr>
              <a:t>depth </a:t>
            </a:r>
            <a:r>
              <a:rPr dirty="0" sz="2400" spc="-10">
                <a:latin typeface="Calibri"/>
                <a:cs typeface="Calibri"/>
              </a:rPr>
              <a:t>results </a:t>
            </a:r>
            <a:r>
              <a:rPr dirty="0" sz="2400" spc="-5">
                <a:latin typeface="Calibri"/>
                <a:cs typeface="Calibri"/>
              </a:rPr>
              <a:t>in </a:t>
            </a:r>
            <a:r>
              <a:rPr dirty="0" sz="2400" spc="-15">
                <a:latin typeface="Calibri"/>
                <a:cs typeface="Calibri"/>
              </a:rPr>
              <a:t>more </a:t>
            </a:r>
            <a:r>
              <a:rPr dirty="0" sz="2400" spc="-10">
                <a:latin typeface="Calibri"/>
                <a:cs typeface="Calibri"/>
              </a:rPr>
              <a:t>expensive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model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38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Same </a:t>
            </a:r>
            <a:r>
              <a:rPr dirty="0" sz="3200" spc="-15">
                <a:latin typeface="Calibri"/>
                <a:cs typeface="Calibri"/>
              </a:rPr>
              <a:t>procedure </a:t>
            </a:r>
            <a:r>
              <a:rPr dirty="0" sz="3200" spc="-5">
                <a:latin typeface="Calibri"/>
                <a:cs typeface="Calibri"/>
              </a:rPr>
              <a:t>applies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509">
                <a:latin typeface="Cambria Math"/>
                <a:cs typeface="Cambria Math"/>
              </a:rPr>
              <a:t>𝐺</a:t>
            </a:r>
            <a:r>
              <a:rPr dirty="0" baseline="-15700" sz="3450" spc="765">
                <a:latin typeface="Cambria Math"/>
                <a:cs typeface="Cambria Math"/>
              </a:rPr>
              <a:t>,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10">
                <a:latin typeface="Calibri"/>
                <a:cs typeface="Calibri"/>
              </a:rPr>
              <a:t>obtain</a:t>
            </a:r>
            <a:r>
              <a:rPr dirty="0" sz="3200" spc="-3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265"/>
              </a:spcBef>
            </a:pPr>
            <a:r>
              <a:rPr dirty="0" sz="3200" spc="-5">
                <a:latin typeface="Calibri"/>
                <a:cs typeface="Calibri"/>
              </a:rPr>
              <a:t>neighborhoods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25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>
                <a:latin typeface="Calibri"/>
                <a:cs typeface="Calibri"/>
              </a:rPr>
              <a:t>We </a:t>
            </a:r>
            <a:r>
              <a:rPr dirty="0" sz="3200" spc="-5">
                <a:latin typeface="Calibri"/>
                <a:cs typeface="Calibri"/>
              </a:rPr>
              <a:t>embed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neighborhoods using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12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GNN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ts val="3290"/>
              </a:lnSpc>
              <a:spcBef>
                <a:spcPts val="9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By </a:t>
            </a:r>
            <a:r>
              <a:rPr dirty="0" sz="2800" spc="-5">
                <a:latin typeface="Calibri"/>
                <a:cs typeface="Calibri"/>
              </a:rPr>
              <a:t>computing the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embeddings </a:t>
            </a:r>
            <a:r>
              <a:rPr dirty="0" sz="2800" spc="-20" b="1">
                <a:solidFill>
                  <a:srgbClr val="C00000"/>
                </a:solidFill>
                <a:latin typeface="Calibri"/>
                <a:cs typeface="Calibri"/>
              </a:rPr>
              <a:t>for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the anchor </a:t>
            </a:r>
            <a:r>
              <a:rPr dirty="0" sz="2800" spc="-120">
                <a:latin typeface="Calibri"/>
                <a:cs typeface="Calibri"/>
              </a:rPr>
              <a:t>nodes  </a:t>
            </a:r>
            <a:r>
              <a:rPr dirty="0" sz="2800" spc="-5">
                <a:latin typeface="Calibri"/>
                <a:cs typeface="Calibri"/>
              </a:rPr>
              <a:t>in their </a:t>
            </a:r>
            <a:r>
              <a:rPr dirty="0" sz="2800" spc="-15">
                <a:latin typeface="Calibri"/>
                <a:cs typeface="Calibri"/>
              </a:rPr>
              <a:t>respective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neighborhoods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93445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99800"/>
              </a:lnSpc>
              <a:spcBef>
                <a:spcPts val="105"/>
              </a:spcBef>
            </a:pPr>
            <a:r>
              <a:rPr dirty="0" b="0">
                <a:latin typeface="Calibri"/>
                <a:cs typeface="Calibri"/>
              </a:rPr>
              <a:t>Map </a:t>
            </a:r>
            <a:r>
              <a:rPr dirty="0" spc="-15" b="0">
                <a:latin typeface="Calibri"/>
                <a:cs typeface="Calibri"/>
              </a:rPr>
              <a:t>graph </a:t>
            </a:r>
            <a:r>
              <a:rPr dirty="0" b="0">
                <a:latin typeface="Cambria Math"/>
                <a:cs typeface="Cambria Math"/>
              </a:rPr>
              <a:t>𝐴 </a:t>
            </a:r>
            <a:r>
              <a:rPr dirty="0" spc="-15" b="0">
                <a:latin typeface="Calibri"/>
                <a:cs typeface="Calibri"/>
              </a:rPr>
              <a:t>to </a:t>
            </a:r>
            <a:r>
              <a:rPr dirty="0" b="0">
                <a:latin typeface="Calibri"/>
                <a:cs typeface="Calibri"/>
              </a:rPr>
              <a:t>a </a:t>
            </a:r>
            <a:r>
              <a:rPr dirty="0" spc="-10" b="0">
                <a:latin typeface="Calibri"/>
                <a:cs typeface="Calibri"/>
              </a:rPr>
              <a:t>point </a:t>
            </a:r>
            <a:r>
              <a:rPr dirty="0" spc="254" b="0">
                <a:latin typeface="Cambria Math"/>
                <a:cs typeface="Cambria Math"/>
              </a:rPr>
              <a:t>𝑧</a:t>
            </a:r>
            <a:r>
              <a:rPr dirty="0" baseline="-15700" sz="3450" spc="382" b="0">
                <a:latin typeface="Cambria Math"/>
                <a:cs typeface="Cambria Math"/>
              </a:rPr>
              <a:t>- </a:t>
            </a:r>
            <a:r>
              <a:rPr dirty="0" sz="3200" spc="-15" b="0">
                <a:latin typeface="Calibri"/>
                <a:cs typeface="Calibri"/>
              </a:rPr>
              <a:t>into </a:t>
            </a:r>
            <a:r>
              <a:rPr dirty="0" sz="3200" b="0">
                <a:latin typeface="Calibri"/>
                <a:cs typeface="Calibri"/>
              </a:rPr>
              <a:t>a high-  </a:t>
            </a:r>
            <a:r>
              <a:rPr dirty="0" sz="3200" spc="-5" b="0">
                <a:latin typeface="Calibri"/>
                <a:cs typeface="Calibri"/>
              </a:rPr>
              <a:t>dimensional </a:t>
            </a:r>
            <a:r>
              <a:rPr dirty="0" sz="3200" spc="0" b="0">
                <a:latin typeface="Calibri"/>
                <a:cs typeface="Calibri"/>
              </a:rPr>
              <a:t>(e.g. </a:t>
            </a:r>
            <a:r>
              <a:rPr dirty="0" sz="3200" b="0">
                <a:latin typeface="Calibri"/>
                <a:cs typeface="Calibri"/>
              </a:rPr>
              <a:t>64-dim) </a:t>
            </a:r>
            <a:r>
              <a:rPr dirty="0" sz="3200" spc="-5" b="0">
                <a:latin typeface="Calibri"/>
                <a:cs typeface="Calibri"/>
              </a:rPr>
              <a:t>embedding space,  such </a:t>
            </a:r>
            <a:r>
              <a:rPr dirty="0" sz="3200" spc="-10" b="0">
                <a:latin typeface="Calibri"/>
                <a:cs typeface="Calibri"/>
              </a:rPr>
              <a:t>that </a:t>
            </a:r>
            <a:r>
              <a:rPr dirty="0" sz="3200" spc="254" b="0">
                <a:latin typeface="Cambria Math"/>
                <a:cs typeface="Cambria Math"/>
              </a:rPr>
              <a:t>𝑧</a:t>
            </a:r>
            <a:r>
              <a:rPr dirty="0" baseline="-15700" sz="3450" spc="382" b="0">
                <a:latin typeface="Cambria Math"/>
                <a:cs typeface="Cambria Math"/>
              </a:rPr>
              <a:t>- </a:t>
            </a:r>
            <a:r>
              <a:rPr dirty="0" sz="3200" b="0">
                <a:latin typeface="Calibri"/>
                <a:cs typeface="Calibri"/>
              </a:rPr>
              <a:t>is </a:t>
            </a:r>
            <a:r>
              <a:rPr dirty="0" sz="3200" spc="-15">
                <a:solidFill>
                  <a:srgbClr val="0070C0"/>
                </a:solidFill>
              </a:rPr>
              <a:t>non-negative </a:t>
            </a:r>
            <a:r>
              <a:rPr dirty="0" sz="3200">
                <a:solidFill>
                  <a:srgbClr val="0070C0"/>
                </a:solidFill>
              </a:rPr>
              <a:t>in </a:t>
            </a:r>
            <a:r>
              <a:rPr dirty="0" sz="3200" spc="-5">
                <a:solidFill>
                  <a:srgbClr val="0070C0"/>
                </a:solidFill>
              </a:rPr>
              <a:t>all dimensions  </a:t>
            </a:r>
            <a:r>
              <a:rPr dirty="0" sz="3200" spc="-15">
                <a:solidFill>
                  <a:srgbClr val="00B050"/>
                </a:solidFill>
              </a:rPr>
              <a:t>Capture </a:t>
            </a:r>
            <a:r>
              <a:rPr dirty="0" sz="3200" spc="-5">
                <a:solidFill>
                  <a:srgbClr val="00B050"/>
                </a:solidFill>
              </a:rPr>
              <a:t>partial </a:t>
            </a:r>
            <a:r>
              <a:rPr dirty="0" sz="3200" spc="-10">
                <a:solidFill>
                  <a:srgbClr val="00B050"/>
                </a:solidFill>
              </a:rPr>
              <a:t>ordering</a:t>
            </a:r>
            <a:r>
              <a:rPr dirty="0" sz="3200" spc="35">
                <a:solidFill>
                  <a:srgbClr val="00B050"/>
                </a:solidFill>
              </a:rPr>
              <a:t> </a:t>
            </a:r>
            <a:r>
              <a:rPr dirty="0" sz="3200" spc="-10">
                <a:solidFill>
                  <a:srgbClr val="00B050"/>
                </a:solidFill>
              </a:rPr>
              <a:t>(transitivity):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3323844"/>
            <a:ext cx="156210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>
                <a:latin typeface="Calibri"/>
                <a:cs typeface="Calibri"/>
              </a:rPr>
              <a:t>We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use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06052" y="3323844"/>
            <a:ext cx="578040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0890" algn="l"/>
              </a:tabLst>
            </a:pPr>
            <a:r>
              <a:rPr dirty="0" sz="3200">
                <a:latin typeface="Cambria Math"/>
                <a:cs typeface="Cambria Math"/>
              </a:rPr>
              <a:t>≼	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10">
                <a:latin typeface="Calibri"/>
                <a:cs typeface="Calibri"/>
              </a:rPr>
              <a:t>denote that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3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embedding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8149" y="3805428"/>
            <a:ext cx="462153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2335" algn="l"/>
              </a:tabLst>
            </a:pPr>
            <a:r>
              <a:rPr dirty="0" sz="3200" spc="-5">
                <a:latin typeface="Calibri"/>
                <a:cs typeface="Calibri"/>
              </a:rPr>
              <a:t>of	</a:t>
            </a: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 spc="-5">
                <a:latin typeface="Calibri"/>
                <a:cs typeface="Calibri"/>
              </a:rPr>
              <a:t>less </a:t>
            </a:r>
            <a:r>
              <a:rPr dirty="0" sz="3200">
                <a:latin typeface="Calibri"/>
                <a:cs typeface="Calibri"/>
              </a:rPr>
              <a:t>than </a:t>
            </a:r>
            <a:r>
              <a:rPr dirty="0" sz="3200" spc="-5">
                <a:latin typeface="Calibri"/>
                <a:cs typeface="Calibri"/>
              </a:rPr>
              <a:t>or equal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to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8149" y="4287011"/>
            <a:ext cx="200533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5" b="1">
                <a:latin typeface="Calibri"/>
                <a:cs typeface="Calibri"/>
              </a:rPr>
              <a:t>coordinates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108" y="4783835"/>
            <a:ext cx="170942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1019810" algn="l"/>
                <a:tab pos="1594485" algn="l"/>
              </a:tabLst>
            </a:pPr>
            <a:r>
              <a:rPr dirty="0" sz="3200" spc="0">
                <a:latin typeface="Calibri"/>
                <a:cs typeface="Calibri"/>
              </a:rPr>
              <a:t>I</a:t>
            </a:r>
            <a:r>
              <a:rPr dirty="0" sz="3200">
                <a:latin typeface="Calibri"/>
                <a:cs typeface="Calibri"/>
              </a:rPr>
              <a:t>f	</a:t>
            </a:r>
            <a:r>
              <a:rPr dirty="0" sz="3200">
                <a:latin typeface="Cambria Math"/>
                <a:cs typeface="Cambria Math"/>
              </a:rPr>
              <a:t>≼	</a:t>
            </a:r>
            <a:r>
              <a:rPr dirty="0" sz="3200">
                <a:latin typeface="Calibri"/>
                <a:cs typeface="Calibri"/>
              </a:rPr>
              <a:t>,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70111" y="4783835"/>
            <a:ext cx="212534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8815" algn="l"/>
                <a:tab pos="1814195" algn="l"/>
              </a:tabLst>
            </a:pPr>
            <a:r>
              <a:rPr dirty="0" sz="3200">
                <a:latin typeface="Cambria Math"/>
                <a:cs typeface="Cambria Math"/>
              </a:rPr>
              <a:t>≼	</a:t>
            </a:r>
            <a:r>
              <a:rPr dirty="0" sz="3200">
                <a:latin typeface="Calibri"/>
                <a:cs typeface="Calibri"/>
              </a:rPr>
              <a:t>t</a:t>
            </a:r>
            <a:r>
              <a:rPr dirty="0" sz="3200" spc="0">
                <a:latin typeface="Calibri"/>
                <a:cs typeface="Calibri"/>
              </a:rPr>
              <a:t>h</a:t>
            </a:r>
            <a:r>
              <a:rPr dirty="0" sz="3200" spc="-1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n	</a:t>
            </a:r>
            <a:r>
              <a:rPr dirty="0" sz="3200">
                <a:latin typeface="Cambria Math"/>
                <a:cs typeface="Cambria Math"/>
              </a:rPr>
              <a:t>≼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58190" y="5001281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39" h="154939">
                <a:moveTo>
                  <a:pt x="0" y="0"/>
                </a:moveTo>
                <a:lnTo>
                  <a:pt x="154520" y="0"/>
                </a:lnTo>
                <a:lnTo>
                  <a:pt x="154520" y="154522"/>
                </a:lnTo>
                <a:lnTo>
                  <a:pt x="0" y="15452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929813" y="4858533"/>
            <a:ext cx="158750" cy="1498600"/>
          </a:xfrm>
          <a:custGeom>
            <a:avLst/>
            <a:gdLst/>
            <a:ahLst/>
            <a:cxnLst/>
            <a:rect l="l" t="t" r="r" b="b"/>
            <a:pathLst>
              <a:path w="158750" h="1498600">
                <a:moveTo>
                  <a:pt x="88141" y="127000"/>
                </a:moveTo>
                <a:lnTo>
                  <a:pt x="70606" y="127000"/>
                </a:lnTo>
                <a:lnTo>
                  <a:pt x="63500" y="134106"/>
                </a:lnTo>
                <a:lnTo>
                  <a:pt x="63498" y="1491111"/>
                </a:lnTo>
                <a:lnTo>
                  <a:pt x="70605" y="1498218"/>
                </a:lnTo>
                <a:lnTo>
                  <a:pt x="88140" y="1498218"/>
                </a:lnTo>
                <a:lnTo>
                  <a:pt x="95248" y="1491111"/>
                </a:lnTo>
                <a:lnTo>
                  <a:pt x="95250" y="134106"/>
                </a:lnTo>
                <a:lnTo>
                  <a:pt x="88141" y="127000"/>
                </a:lnTo>
                <a:close/>
              </a:path>
              <a:path w="158750" h="1498600">
                <a:moveTo>
                  <a:pt x="79375" y="0"/>
                </a:moveTo>
                <a:lnTo>
                  <a:pt x="0" y="158750"/>
                </a:lnTo>
                <a:lnTo>
                  <a:pt x="63499" y="158750"/>
                </a:lnTo>
                <a:lnTo>
                  <a:pt x="63500" y="134106"/>
                </a:lnTo>
                <a:lnTo>
                  <a:pt x="70606" y="127000"/>
                </a:lnTo>
                <a:lnTo>
                  <a:pt x="142873" y="127000"/>
                </a:lnTo>
                <a:lnTo>
                  <a:pt x="79375" y="0"/>
                </a:lnTo>
                <a:close/>
              </a:path>
              <a:path w="158750" h="1498600">
                <a:moveTo>
                  <a:pt x="142873" y="127000"/>
                </a:moveTo>
                <a:lnTo>
                  <a:pt x="88141" y="127000"/>
                </a:lnTo>
                <a:lnTo>
                  <a:pt x="95250" y="134106"/>
                </a:lnTo>
                <a:lnTo>
                  <a:pt x="95249" y="158750"/>
                </a:lnTo>
                <a:lnTo>
                  <a:pt x="158748" y="158750"/>
                </a:lnTo>
                <a:lnTo>
                  <a:pt x="142873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993311" y="6266353"/>
            <a:ext cx="1652905" cy="158750"/>
          </a:xfrm>
          <a:custGeom>
            <a:avLst/>
            <a:gdLst/>
            <a:ahLst/>
            <a:cxnLst/>
            <a:rect l="l" t="t" r="r" b="b"/>
            <a:pathLst>
              <a:path w="1652904" h="158750">
                <a:moveTo>
                  <a:pt x="1620741" y="63500"/>
                </a:moveTo>
                <a:lnTo>
                  <a:pt x="1518382" y="63500"/>
                </a:lnTo>
                <a:lnTo>
                  <a:pt x="1525490" y="70607"/>
                </a:lnTo>
                <a:lnTo>
                  <a:pt x="1525489" y="88143"/>
                </a:lnTo>
                <a:lnTo>
                  <a:pt x="1518382" y="95250"/>
                </a:lnTo>
                <a:lnTo>
                  <a:pt x="1493740" y="95250"/>
                </a:lnTo>
                <a:lnTo>
                  <a:pt x="1493740" y="158750"/>
                </a:lnTo>
                <a:lnTo>
                  <a:pt x="1652490" y="79374"/>
                </a:lnTo>
                <a:lnTo>
                  <a:pt x="1620741" y="63500"/>
                </a:lnTo>
                <a:close/>
              </a:path>
              <a:path w="1652904" h="158750">
                <a:moveTo>
                  <a:pt x="1493740" y="63500"/>
                </a:moveTo>
                <a:lnTo>
                  <a:pt x="15875" y="63500"/>
                </a:lnTo>
                <a:lnTo>
                  <a:pt x="7108" y="63500"/>
                </a:lnTo>
                <a:lnTo>
                  <a:pt x="0" y="70607"/>
                </a:lnTo>
                <a:lnTo>
                  <a:pt x="0" y="88143"/>
                </a:lnTo>
                <a:lnTo>
                  <a:pt x="7108" y="95250"/>
                </a:lnTo>
                <a:lnTo>
                  <a:pt x="1493740" y="95250"/>
                </a:lnTo>
                <a:lnTo>
                  <a:pt x="1493740" y="63500"/>
                </a:lnTo>
                <a:close/>
              </a:path>
              <a:path w="1652904" h="158750">
                <a:moveTo>
                  <a:pt x="1518382" y="63500"/>
                </a:moveTo>
                <a:lnTo>
                  <a:pt x="1493740" y="63500"/>
                </a:lnTo>
                <a:lnTo>
                  <a:pt x="1493740" y="95250"/>
                </a:lnTo>
                <a:lnTo>
                  <a:pt x="1518382" y="95250"/>
                </a:lnTo>
                <a:lnTo>
                  <a:pt x="1525489" y="88143"/>
                </a:lnTo>
                <a:lnTo>
                  <a:pt x="1525490" y="70607"/>
                </a:lnTo>
                <a:lnTo>
                  <a:pt x="1518382" y="63500"/>
                </a:lnTo>
                <a:close/>
              </a:path>
              <a:path w="1652904" h="158750">
                <a:moveTo>
                  <a:pt x="1493740" y="0"/>
                </a:moveTo>
                <a:lnTo>
                  <a:pt x="1493740" y="63500"/>
                </a:lnTo>
                <a:lnTo>
                  <a:pt x="1620741" y="63500"/>
                </a:lnTo>
                <a:lnTo>
                  <a:pt x="14937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883672" y="6371844"/>
            <a:ext cx="156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orbel"/>
                <a:cs typeface="Corbel"/>
              </a:rPr>
              <a:t>O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85682" y="3805428"/>
            <a:ext cx="2692400" cy="965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spc="-5" b="1">
                <a:latin typeface="Calibri"/>
                <a:cs typeface="Calibri"/>
              </a:rPr>
              <a:t>all </a:t>
            </a:r>
            <a:r>
              <a:rPr dirty="0" sz="3200" b="1">
                <a:latin typeface="Calibri"/>
                <a:cs typeface="Calibri"/>
              </a:rPr>
              <a:t>of</a:t>
            </a:r>
            <a:r>
              <a:rPr dirty="0" sz="3200" spc="-5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its</a:t>
            </a:r>
            <a:endParaRPr sz="3200">
              <a:latin typeface="Calibri"/>
              <a:cs typeface="Calibri"/>
            </a:endParaRPr>
          </a:p>
          <a:p>
            <a:pPr marL="850265">
              <a:lnSpc>
                <a:spcPct val="100000"/>
              </a:lnSpc>
              <a:spcBef>
                <a:spcPts val="1400"/>
              </a:spcBef>
            </a:pPr>
            <a:r>
              <a:rPr dirty="0" sz="1800" spc="-5">
                <a:latin typeface="Arial"/>
                <a:cs typeface="Arial"/>
              </a:rPr>
              <a:t>Embedding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space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871433" y="5126939"/>
            <a:ext cx="145415" cy="165100"/>
          </a:xfrm>
          <a:custGeom>
            <a:avLst/>
            <a:gdLst/>
            <a:ahLst/>
            <a:cxnLst/>
            <a:rect l="l" t="t" r="r" b="b"/>
            <a:pathLst>
              <a:path w="145415" h="165100">
                <a:moveTo>
                  <a:pt x="0" y="0"/>
                </a:moveTo>
                <a:lnTo>
                  <a:pt x="145393" y="0"/>
                </a:lnTo>
                <a:lnTo>
                  <a:pt x="145393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367613" y="5887485"/>
            <a:ext cx="145415" cy="165100"/>
          </a:xfrm>
          <a:custGeom>
            <a:avLst/>
            <a:gdLst/>
            <a:ahLst/>
            <a:cxnLst/>
            <a:rect l="l" t="t" r="r" b="b"/>
            <a:pathLst>
              <a:path w="145415" h="165100">
                <a:moveTo>
                  <a:pt x="0" y="0"/>
                </a:moveTo>
                <a:lnTo>
                  <a:pt x="145393" y="0"/>
                </a:lnTo>
                <a:lnTo>
                  <a:pt x="145393" y="164629"/>
                </a:lnTo>
                <a:lnTo>
                  <a:pt x="0" y="164629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424553" y="353259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010338" y="5001281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477496" y="4022446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703633" y="4022446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395181" y="496967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453816" y="5001281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245195" y="499622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872969" y="5001281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39" h="154939">
                <a:moveTo>
                  <a:pt x="0" y="0"/>
                </a:moveTo>
                <a:lnTo>
                  <a:pt x="154520" y="0"/>
                </a:lnTo>
                <a:lnTo>
                  <a:pt x="154520" y="154522"/>
                </a:lnTo>
                <a:lnTo>
                  <a:pt x="0" y="15452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126578" y="353259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49608" y="5403307"/>
            <a:ext cx="6053455" cy="1077595"/>
          </a:xfrm>
          <a:prstGeom prst="rect">
            <a:avLst/>
          </a:prstGeom>
          <a:solidFill>
            <a:srgbClr val="F4DADA"/>
          </a:solidFill>
        </p:spPr>
        <p:txBody>
          <a:bodyPr wrap="square" lIns="0" tIns="20955" rIns="0" bIns="0" rtlCol="0" vert="horz">
            <a:spAutoFit/>
          </a:bodyPr>
          <a:lstStyle/>
          <a:p>
            <a:pPr marL="91440">
              <a:lnSpc>
                <a:spcPts val="3815"/>
              </a:lnSpc>
              <a:spcBef>
                <a:spcPts val="165"/>
              </a:spcBef>
            </a:pPr>
            <a:r>
              <a:rPr dirty="0" sz="3200" spc="-10" b="1">
                <a:solidFill>
                  <a:srgbClr val="D9253E"/>
                </a:solidFill>
                <a:latin typeface="Calibri"/>
                <a:cs typeface="Calibri"/>
              </a:rPr>
              <a:t>Intuition: </a:t>
            </a:r>
            <a:r>
              <a:rPr dirty="0" sz="3200" spc="-15" b="1">
                <a:solidFill>
                  <a:srgbClr val="D9253E"/>
                </a:solidFill>
                <a:latin typeface="Calibri"/>
                <a:cs typeface="Calibri"/>
              </a:rPr>
              <a:t>subgraph </a:t>
            </a:r>
            <a:r>
              <a:rPr dirty="0" sz="3200" b="1">
                <a:solidFill>
                  <a:srgbClr val="D9253E"/>
                </a:solidFill>
                <a:latin typeface="Calibri"/>
                <a:cs typeface="Calibri"/>
              </a:rPr>
              <a:t>is </a:t>
            </a:r>
            <a:r>
              <a:rPr dirty="0" sz="3200" spc="-15" b="1">
                <a:solidFill>
                  <a:srgbClr val="D9253E"/>
                </a:solidFill>
                <a:latin typeface="Calibri"/>
                <a:cs typeface="Calibri"/>
              </a:rPr>
              <a:t>to</a:t>
            </a:r>
            <a:r>
              <a:rPr dirty="0" sz="3200" spc="0" b="1">
                <a:solidFill>
                  <a:srgbClr val="D9253E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D9253E"/>
                </a:solidFill>
                <a:latin typeface="Calibri"/>
                <a:cs typeface="Calibri"/>
              </a:rPr>
              <a:t>the</a:t>
            </a:r>
            <a:endParaRPr sz="3200">
              <a:latin typeface="Calibri"/>
              <a:cs typeface="Calibri"/>
            </a:endParaRPr>
          </a:p>
          <a:p>
            <a:pPr marL="91440">
              <a:lnSpc>
                <a:spcPts val="3815"/>
              </a:lnSpc>
            </a:pPr>
            <a:r>
              <a:rPr dirty="0" sz="3200" spc="-15" b="1">
                <a:solidFill>
                  <a:srgbClr val="D9253E"/>
                </a:solidFill>
                <a:latin typeface="Calibri"/>
                <a:cs typeface="Calibri"/>
              </a:rPr>
              <a:t>lower-left </a:t>
            </a:r>
            <a:r>
              <a:rPr dirty="0" sz="3200" b="1">
                <a:solidFill>
                  <a:srgbClr val="D9253E"/>
                </a:solidFill>
                <a:latin typeface="Calibri"/>
                <a:cs typeface="Calibri"/>
              </a:rPr>
              <a:t>of its </a:t>
            </a:r>
            <a:r>
              <a:rPr dirty="0" sz="3200" spc="-15" b="1">
                <a:solidFill>
                  <a:srgbClr val="D9253E"/>
                </a:solidFill>
                <a:latin typeface="Calibri"/>
                <a:cs typeface="Calibri"/>
              </a:rPr>
              <a:t>supergraph </a:t>
            </a:r>
            <a:r>
              <a:rPr dirty="0" sz="3200" b="1">
                <a:solidFill>
                  <a:srgbClr val="D9253E"/>
                </a:solidFill>
                <a:latin typeface="Calibri"/>
                <a:cs typeface="Calibri"/>
              </a:rPr>
              <a:t>(in</a:t>
            </a:r>
            <a:r>
              <a:rPr dirty="0" sz="3200" spc="-50" b="1">
                <a:solidFill>
                  <a:srgbClr val="D9253E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D9253E"/>
                </a:solidFill>
                <a:latin typeface="Calibri"/>
                <a:cs typeface="Calibri"/>
              </a:rPr>
              <a:t>2D)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4496" y="5768067"/>
            <a:ext cx="69850" cy="187960"/>
          </a:xfrm>
          <a:custGeom>
            <a:avLst/>
            <a:gdLst/>
            <a:ahLst/>
            <a:cxnLst/>
            <a:rect l="l" t="t" r="r" b="b"/>
            <a:pathLst>
              <a:path w="69850" h="187960">
                <a:moveTo>
                  <a:pt x="69398" y="0"/>
                </a:moveTo>
                <a:lnTo>
                  <a:pt x="0" y="187778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855162" y="3794036"/>
            <a:ext cx="31750" cy="306070"/>
          </a:xfrm>
          <a:custGeom>
            <a:avLst/>
            <a:gdLst/>
            <a:ahLst/>
            <a:cxnLst/>
            <a:rect l="l" t="t" r="r" b="b"/>
            <a:pathLst>
              <a:path w="31750" h="306070">
                <a:moveTo>
                  <a:pt x="24643" y="0"/>
                </a:moveTo>
                <a:lnTo>
                  <a:pt x="7106" y="0"/>
                </a:lnTo>
                <a:lnTo>
                  <a:pt x="0" y="7106"/>
                </a:lnTo>
                <a:lnTo>
                  <a:pt x="0" y="88143"/>
                </a:lnTo>
                <a:lnTo>
                  <a:pt x="7108" y="95250"/>
                </a:lnTo>
                <a:lnTo>
                  <a:pt x="24643" y="95250"/>
                </a:lnTo>
                <a:lnTo>
                  <a:pt x="31748" y="88143"/>
                </a:lnTo>
                <a:lnTo>
                  <a:pt x="31750" y="7106"/>
                </a:lnTo>
                <a:lnTo>
                  <a:pt x="24643" y="0"/>
                </a:lnTo>
                <a:close/>
              </a:path>
              <a:path w="31750" h="306070">
                <a:moveTo>
                  <a:pt x="24643" y="127000"/>
                </a:moveTo>
                <a:lnTo>
                  <a:pt x="7108" y="127000"/>
                </a:lnTo>
                <a:lnTo>
                  <a:pt x="0" y="134106"/>
                </a:lnTo>
                <a:lnTo>
                  <a:pt x="1" y="215143"/>
                </a:lnTo>
                <a:lnTo>
                  <a:pt x="7108" y="222250"/>
                </a:lnTo>
                <a:lnTo>
                  <a:pt x="24643" y="222250"/>
                </a:lnTo>
                <a:lnTo>
                  <a:pt x="31750" y="215143"/>
                </a:lnTo>
                <a:lnTo>
                  <a:pt x="31750" y="134106"/>
                </a:lnTo>
                <a:lnTo>
                  <a:pt x="24643" y="127000"/>
                </a:lnTo>
                <a:close/>
              </a:path>
              <a:path w="31750" h="306070">
                <a:moveTo>
                  <a:pt x="24643" y="254000"/>
                </a:moveTo>
                <a:lnTo>
                  <a:pt x="7108" y="254000"/>
                </a:lnTo>
                <a:lnTo>
                  <a:pt x="1" y="261106"/>
                </a:lnTo>
                <a:lnTo>
                  <a:pt x="1" y="298899"/>
                </a:lnTo>
                <a:lnTo>
                  <a:pt x="7108" y="306006"/>
                </a:lnTo>
                <a:lnTo>
                  <a:pt x="24643" y="306006"/>
                </a:lnTo>
                <a:lnTo>
                  <a:pt x="31751" y="298899"/>
                </a:lnTo>
                <a:lnTo>
                  <a:pt x="31751" y="261106"/>
                </a:lnTo>
                <a:lnTo>
                  <a:pt x="24643" y="25400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73023" y="347472"/>
            <a:ext cx="842772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576951" y="2987916"/>
            <a:ext cx="984885" cy="40005"/>
          </a:xfrm>
          <a:custGeom>
            <a:avLst/>
            <a:gdLst/>
            <a:ahLst/>
            <a:cxnLst/>
            <a:rect l="l" t="t" r="r" b="b"/>
            <a:pathLst>
              <a:path w="984884" h="40005">
                <a:moveTo>
                  <a:pt x="896274" y="7052"/>
                </a:moveTo>
                <a:lnTo>
                  <a:pt x="889110" y="14103"/>
                </a:lnTo>
                <a:lnTo>
                  <a:pt x="888972" y="31638"/>
                </a:lnTo>
                <a:lnTo>
                  <a:pt x="896023" y="38802"/>
                </a:lnTo>
                <a:lnTo>
                  <a:pt x="977055" y="39444"/>
                </a:lnTo>
                <a:lnTo>
                  <a:pt x="984219" y="32393"/>
                </a:lnTo>
                <a:lnTo>
                  <a:pt x="984357" y="14859"/>
                </a:lnTo>
                <a:lnTo>
                  <a:pt x="977306" y="7696"/>
                </a:lnTo>
                <a:lnTo>
                  <a:pt x="896274" y="7052"/>
                </a:lnTo>
                <a:close/>
              </a:path>
              <a:path w="984884" h="40005">
                <a:moveTo>
                  <a:pt x="769278" y="6045"/>
                </a:moveTo>
                <a:lnTo>
                  <a:pt x="762115" y="13096"/>
                </a:lnTo>
                <a:lnTo>
                  <a:pt x="761975" y="30629"/>
                </a:lnTo>
                <a:lnTo>
                  <a:pt x="769026" y="37793"/>
                </a:lnTo>
                <a:lnTo>
                  <a:pt x="850059" y="38436"/>
                </a:lnTo>
                <a:lnTo>
                  <a:pt x="857223" y="31386"/>
                </a:lnTo>
                <a:lnTo>
                  <a:pt x="857361" y="13851"/>
                </a:lnTo>
                <a:lnTo>
                  <a:pt x="850310" y="6687"/>
                </a:lnTo>
                <a:lnTo>
                  <a:pt x="769278" y="6045"/>
                </a:lnTo>
                <a:close/>
              </a:path>
              <a:path w="984884" h="40005">
                <a:moveTo>
                  <a:pt x="642282" y="5038"/>
                </a:moveTo>
                <a:lnTo>
                  <a:pt x="635119" y="12087"/>
                </a:lnTo>
                <a:lnTo>
                  <a:pt x="634979" y="29622"/>
                </a:lnTo>
                <a:lnTo>
                  <a:pt x="642030" y="36786"/>
                </a:lnTo>
                <a:lnTo>
                  <a:pt x="723063" y="37429"/>
                </a:lnTo>
                <a:lnTo>
                  <a:pt x="730227" y="30378"/>
                </a:lnTo>
                <a:lnTo>
                  <a:pt x="730365" y="12843"/>
                </a:lnTo>
                <a:lnTo>
                  <a:pt x="723314" y="5680"/>
                </a:lnTo>
                <a:lnTo>
                  <a:pt x="642282" y="5038"/>
                </a:lnTo>
                <a:close/>
              </a:path>
              <a:path w="984884" h="40005">
                <a:moveTo>
                  <a:pt x="515287" y="4029"/>
                </a:moveTo>
                <a:lnTo>
                  <a:pt x="508123" y="11080"/>
                </a:lnTo>
                <a:lnTo>
                  <a:pt x="507983" y="28615"/>
                </a:lnTo>
                <a:lnTo>
                  <a:pt x="515034" y="35778"/>
                </a:lnTo>
                <a:lnTo>
                  <a:pt x="596066" y="36422"/>
                </a:lnTo>
                <a:lnTo>
                  <a:pt x="603230" y="29371"/>
                </a:lnTo>
                <a:lnTo>
                  <a:pt x="603370" y="11836"/>
                </a:lnTo>
                <a:lnTo>
                  <a:pt x="596319" y="4672"/>
                </a:lnTo>
                <a:lnTo>
                  <a:pt x="515287" y="4029"/>
                </a:lnTo>
                <a:close/>
              </a:path>
              <a:path w="984884" h="40005">
                <a:moveTo>
                  <a:pt x="388291" y="3022"/>
                </a:moveTo>
                <a:lnTo>
                  <a:pt x="381126" y="10073"/>
                </a:lnTo>
                <a:lnTo>
                  <a:pt x="380987" y="27607"/>
                </a:lnTo>
                <a:lnTo>
                  <a:pt x="388038" y="34771"/>
                </a:lnTo>
                <a:lnTo>
                  <a:pt x="469070" y="35413"/>
                </a:lnTo>
                <a:lnTo>
                  <a:pt x="476234" y="28362"/>
                </a:lnTo>
                <a:lnTo>
                  <a:pt x="476374" y="10829"/>
                </a:lnTo>
                <a:lnTo>
                  <a:pt x="469323" y="3665"/>
                </a:lnTo>
                <a:lnTo>
                  <a:pt x="388291" y="3022"/>
                </a:lnTo>
                <a:close/>
              </a:path>
              <a:path w="984884" h="40005">
                <a:moveTo>
                  <a:pt x="261294" y="2014"/>
                </a:moveTo>
                <a:lnTo>
                  <a:pt x="254130" y="9065"/>
                </a:lnTo>
                <a:lnTo>
                  <a:pt x="253992" y="26600"/>
                </a:lnTo>
                <a:lnTo>
                  <a:pt x="261043" y="33764"/>
                </a:lnTo>
                <a:lnTo>
                  <a:pt x="342075" y="34406"/>
                </a:lnTo>
                <a:lnTo>
                  <a:pt x="349238" y="27355"/>
                </a:lnTo>
                <a:lnTo>
                  <a:pt x="349378" y="9820"/>
                </a:lnTo>
                <a:lnTo>
                  <a:pt x="342327" y="2658"/>
                </a:lnTo>
                <a:lnTo>
                  <a:pt x="261294" y="2014"/>
                </a:lnTo>
                <a:close/>
              </a:path>
              <a:path w="984884" h="40005">
                <a:moveTo>
                  <a:pt x="134298" y="1007"/>
                </a:moveTo>
                <a:lnTo>
                  <a:pt x="127134" y="8058"/>
                </a:lnTo>
                <a:lnTo>
                  <a:pt x="126996" y="25593"/>
                </a:lnTo>
                <a:lnTo>
                  <a:pt x="134047" y="32755"/>
                </a:lnTo>
                <a:lnTo>
                  <a:pt x="215079" y="33399"/>
                </a:lnTo>
                <a:lnTo>
                  <a:pt x="222242" y="26348"/>
                </a:lnTo>
                <a:lnTo>
                  <a:pt x="222382" y="8813"/>
                </a:lnTo>
                <a:lnTo>
                  <a:pt x="215331" y="1649"/>
                </a:lnTo>
                <a:lnTo>
                  <a:pt x="134298" y="1007"/>
                </a:lnTo>
                <a:close/>
              </a:path>
              <a:path w="984884" h="40005">
                <a:moveTo>
                  <a:pt x="7302" y="0"/>
                </a:moveTo>
                <a:lnTo>
                  <a:pt x="138" y="7051"/>
                </a:lnTo>
                <a:lnTo>
                  <a:pt x="0" y="24584"/>
                </a:lnTo>
                <a:lnTo>
                  <a:pt x="7051" y="31748"/>
                </a:lnTo>
                <a:lnTo>
                  <a:pt x="88083" y="32391"/>
                </a:lnTo>
                <a:lnTo>
                  <a:pt x="95247" y="25340"/>
                </a:lnTo>
                <a:lnTo>
                  <a:pt x="95385" y="7806"/>
                </a:lnTo>
                <a:lnTo>
                  <a:pt x="88334" y="642"/>
                </a:lnTo>
                <a:lnTo>
                  <a:pt x="7302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5537" y="3072803"/>
            <a:ext cx="31750" cy="984250"/>
          </a:xfrm>
          <a:custGeom>
            <a:avLst/>
            <a:gdLst/>
            <a:ahLst/>
            <a:cxnLst/>
            <a:rect l="l" t="t" r="r" b="b"/>
            <a:pathLst>
              <a:path w="31750" h="984250">
                <a:moveTo>
                  <a:pt x="24643" y="0"/>
                </a:moveTo>
                <a:lnTo>
                  <a:pt x="7108" y="0"/>
                </a:lnTo>
                <a:lnTo>
                  <a:pt x="0" y="7106"/>
                </a:lnTo>
                <a:lnTo>
                  <a:pt x="0" y="88141"/>
                </a:lnTo>
                <a:lnTo>
                  <a:pt x="7108" y="95250"/>
                </a:lnTo>
                <a:lnTo>
                  <a:pt x="24643" y="95250"/>
                </a:lnTo>
                <a:lnTo>
                  <a:pt x="31750" y="88141"/>
                </a:lnTo>
                <a:lnTo>
                  <a:pt x="31750" y="7106"/>
                </a:lnTo>
                <a:lnTo>
                  <a:pt x="24643" y="0"/>
                </a:lnTo>
                <a:close/>
              </a:path>
              <a:path w="31750" h="984250">
                <a:moveTo>
                  <a:pt x="24643" y="127000"/>
                </a:moveTo>
                <a:lnTo>
                  <a:pt x="7108" y="127000"/>
                </a:lnTo>
                <a:lnTo>
                  <a:pt x="0" y="134106"/>
                </a:lnTo>
                <a:lnTo>
                  <a:pt x="1" y="215141"/>
                </a:lnTo>
                <a:lnTo>
                  <a:pt x="7108" y="222250"/>
                </a:lnTo>
                <a:lnTo>
                  <a:pt x="24643" y="222250"/>
                </a:lnTo>
                <a:lnTo>
                  <a:pt x="31751" y="215141"/>
                </a:lnTo>
                <a:lnTo>
                  <a:pt x="31750" y="134106"/>
                </a:lnTo>
                <a:lnTo>
                  <a:pt x="24643" y="127000"/>
                </a:lnTo>
                <a:close/>
              </a:path>
              <a:path w="31750" h="984250">
                <a:moveTo>
                  <a:pt x="24643" y="254000"/>
                </a:moveTo>
                <a:lnTo>
                  <a:pt x="7108" y="254000"/>
                </a:lnTo>
                <a:lnTo>
                  <a:pt x="1" y="261106"/>
                </a:lnTo>
                <a:lnTo>
                  <a:pt x="1" y="342141"/>
                </a:lnTo>
                <a:lnTo>
                  <a:pt x="7108" y="349250"/>
                </a:lnTo>
                <a:lnTo>
                  <a:pt x="24643" y="349250"/>
                </a:lnTo>
                <a:lnTo>
                  <a:pt x="31751" y="342141"/>
                </a:lnTo>
                <a:lnTo>
                  <a:pt x="31751" y="261106"/>
                </a:lnTo>
                <a:lnTo>
                  <a:pt x="24643" y="254000"/>
                </a:lnTo>
                <a:close/>
              </a:path>
              <a:path w="31750" h="984250">
                <a:moveTo>
                  <a:pt x="24643" y="381000"/>
                </a:moveTo>
                <a:lnTo>
                  <a:pt x="7108" y="381000"/>
                </a:lnTo>
                <a:lnTo>
                  <a:pt x="1" y="388106"/>
                </a:lnTo>
                <a:lnTo>
                  <a:pt x="1" y="469141"/>
                </a:lnTo>
                <a:lnTo>
                  <a:pt x="7108" y="476250"/>
                </a:lnTo>
                <a:lnTo>
                  <a:pt x="24643" y="476250"/>
                </a:lnTo>
                <a:lnTo>
                  <a:pt x="31751" y="469141"/>
                </a:lnTo>
                <a:lnTo>
                  <a:pt x="31751" y="388106"/>
                </a:lnTo>
                <a:lnTo>
                  <a:pt x="24643" y="381000"/>
                </a:lnTo>
                <a:close/>
              </a:path>
              <a:path w="31750" h="984250">
                <a:moveTo>
                  <a:pt x="24643" y="508000"/>
                </a:moveTo>
                <a:lnTo>
                  <a:pt x="7108" y="508000"/>
                </a:lnTo>
                <a:lnTo>
                  <a:pt x="1" y="515106"/>
                </a:lnTo>
                <a:lnTo>
                  <a:pt x="1" y="596143"/>
                </a:lnTo>
                <a:lnTo>
                  <a:pt x="7108" y="603250"/>
                </a:lnTo>
                <a:lnTo>
                  <a:pt x="24643" y="603250"/>
                </a:lnTo>
                <a:lnTo>
                  <a:pt x="31750" y="596143"/>
                </a:lnTo>
                <a:lnTo>
                  <a:pt x="31751" y="515106"/>
                </a:lnTo>
                <a:lnTo>
                  <a:pt x="24643" y="508000"/>
                </a:lnTo>
                <a:close/>
              </a:path>
              <a:path w="31750" h="984250">
                <a:moveTo>
                  <a:pt x="24643" y="635000"/>
                </a:moveTo>
                <a:lnTo>
                  <a:pt x="7108" y="635000"/>
                </a:lnTo>
                <a:lnTo>
                  <a:pt x="1" y="642106"/>
                </a:lnTo>
                <a:lnTo>
                  <a:pt x="1" y="723143"/>
                </a:lnTo>
                <a:lnTo>
                  <a:pt x="7108" y="730250"/>
                </a:lnTo>
                <a:lnTo>
                  <a:pt x="24644" y="730250"/>
                </a:lnTo>
                <a:lnTo>
                  <a:pt x="31750" y="723143"/>
                </a:lnTo>
                <a:lnTo>
                  <a:pt x="31751" y="642106"/>
                </a:lnTo>
                <a:lnTo>
                  <a:pt x="24643" y="635000"/>
                </a:lnTo>
                <a:close/>
              </a:path>
              <a:path w="31750" h="984250">
                <a:moveTo>
                  <a:pt x="24644" y="762000"/>
                </a:moveTo>
                <a:lnTo>
                  <a:pt x="7108" y="762000"/>
                </a:lnTo>
                <a:lnTo>
                  <a:pt x="1" y="769106"/>
                </a:lnTo>
                <a:lnTo>
                  <a:pt x="1" y="850143"/>
                </a:lnTo>
                <a:lnTo>
                  <a:pt x="7109" y="857250"/>
                </a:lnTo>
                <a:lnTo>
                  <a:pt x="24644" y="857250"/>
                </a:lnTo>
                <a:lnTo>
                  <a:pt x="31750" y="850143"/>
                </a:lnTo>
                <a:lnTo>
                  <a:pt x="31751" y="769106"/>
                </a:lnTo>
                <a:lnTo>
                  <a:pt x="24644" y="762000"/>
                </a:lnTo>
                <a:close/>
              </a:path>
              <a:path w="31750" h="984250">
                <a:moveTo>
                  <a:pt x="24644" y="889000"/>
                </a:moveTo>
                <a:lnTo>
                  <a:pt x="7109" y="889000"/>
                </a:lnTo>
                <a:lnTo>
                  <a:pt x="1" y="896106"/>
                </a:lnTo>
                <a:lnTo>
                  <a:pt x="1" y="977141"/>
                </a:lnTo>
                <a:lnTo>
                  <a:pt x="7109" y="984250"/>
                </a:lnTo>
                <a:lnTo>
                  <a:pt x="24644" y="984250"/>
                </a:lnTo>
                <a:lnTo>
                  <a:pt x="31751" y="977141"/>
                </a:lnTo>
                <a:lnTo>
                  <a:pt x="31751" y="896106"/>
                </a:lnTo>
                <a:lnTo>
                  <a:pt x="24644" y="88900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118553" y="3496786"/>
            <a:ext cx="32384" cy="580390"/>
          </a:xfrm>
          <a:custGeom>
            <a:avLst/>
            <a:gdLst/>
            <a:ahLst/>
            <a:cxnLst/>
            <a:rect l="l" t="t" r="r" b="b"/>
            <a:pathLst>
              <a:path w="32384" h="580389">
                <a:moveTo>
                  <a:pt x="24643" y="0"/>
                </a:moveTo>
                <a:lnTo>
                  <a:pt x="7108" y="0"/>
                </a:lnTo>
                <a:lnTo>
                  <a:pt x="0" y="7108"/>
                </a:lnTo>
                <a:lnTo>
                  <a:pt x="1" y="88143"/>
                </a:lnTo>
                <a:lnTo>
                  <a:pt x="7108" y="95250"/>
                </a:lnTo>
                <a:lnTo>
                  <a:pt x="24643" y="95250"/>
                </a:lnTo>
                <a:lnTo>
                  <a:pt x="31751" y="88143"/>
                </a:lnTo>
                <a:lnTo>
                  <a:pt x="31750" y="7108"/>
                </a:lnTo>
                <a:lnTo>
                  <a:pt x="24643" y="0"/>
                </a:lnTo>
                <a:close/>
              </a:path>
              <a:path w="32384" h="580389">
                <a:moveTo>
                  <a:pt x="24643" y="127000"/>
                </a:moveTo>
                <a:lnTo>
                  <a:pt x="7108" y="127000"/>
                </a:lnTo>
                <a:lnTo>
                  <a:pt x="1" y="134108"/>
                </a:lnTo>
                <a:lnTo>
                  <a:pt x="1" y="215143"/>
                </a:lnTo>
                <a:lnTo>
                  <a:pt x="7108" y="222250"/>
                </a:lnTo>
                <a:lnTo>
                  <a:pt x="24643" y="222250"/>
                </a:lnTo>
                <a:lnTo>
                  <a:pt x="31751" y="215143"/>
                </a:lnTo>
                <a:lnTo>
                  <a:pt x="31751" y="134108"/>
                </a:lnTo>
                <a:lnTo>
                  <a:pt x="24643" y="127000"/>
                </a:lnTo>
                <a:close/>
              </a:path>
              <a:path w="32384" h="580389">
                <a:moveTo>
                  <a:pt x="24643" y="254000"/>
                </a:moveTo>
                <a:lnTo>
                  <a:pt x="7108" y="254000"/>
                </a:lnTo>
                <a:lnTo>
                  <a:pt x="1" y="261108"/>
                </a:lnTo>
                <a:lnTo>
                  <a:pt x="1" y="342143"/>
                </a:lnTo>
                <a:lnTo>
                  <a:pt x="7108" y="349250"/>
                </a:lnTo>
                <a:lnTo>
                  <a:pt x="24643" y="349250"/>
                </a:lnTo>
                <a:lnTo>
                  <a:pt x="31751" y="342143"/>
                </a:lnTo>
                <a:lnTo>
                  <a:pt x="31751" y="261108"/>
                </a:lnTo>
                <a:lnTo>
                  <a:pt x="24643" y="254000"/>
                </a:lnTo>
                <a:close/>
              </a:path>
              <a:path w="32384" h="580389">
                <a:moveTo>
                  <a:pt x="24644" y="381000"/>
                </a:moveTo>
                <a:lnTo>
                  <a:pt x="7108" y="381000"/>
                </a:lnTo>
                <a:lnTo>
                  <a:pt x="1" y="388108"/>
                </a:lnTo>
                <a:lnTo>
                  <a:pt x="1" y="469143"/>
                </a:lnTo>
                <a:lnTo>
                  <a:pt x="7109" y="476250"/>
                </a:lnTo>
                <a:lnTo>
                  <a:pt x="24644" y="476250"/>
                </a:lnTo>
                <a:lnTo>
                  <a:pt x="31751" y="469143"/>
                </a:lnTo>
                <a:lnTo>
                  <a:pt x="31751" y="388108"/>
                </a:lnTo>
                <a:lnTo>
                  <a:pt x="24644" y="381000"/>
                </a:lnTo>
                <a:close/>
              </a:path>
              <a:path w="32384" h="580389">
                <a:moveTo>
                  <a:pt x="24644" y="508000"/>
                </a:moveTo>
                <a:lnTo>
                  <a:pt x="7109" y="508000"/>
                </a:lnTo>
                <a:lnTo>
                  <a:pt x="1" y="515108"/>
                </a:lnTo>
                <a:lnTo>
                  <a:pt x="1" y="573156"/>
                </a:lnTo>
                <a:lnTo>
                  <a:pt x="7109" y="580263"/>
                </a:lnTo>
                <a:lnTo>
                  <a:pt x="24644" y="580263"/>
                </a:lnTo>
                <a:lnTo>
                  <a:pt x="31751" y="573156"/>
                </a:lnTo>
                <a:lnTo>
                  <a:pt x="31751" y="515108"/>
                </a:lnTo>
                <a:lnTo>
                  <a:pt x="24644" y="50800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613900" y="3424524"/>
            <a:ext cx="465455" cy="35560"/>
          </a:xfrm>
          <a:custGeom>
            <a:avLst/>
            <a:gdLst/>
            <a:ahLst/>
            <a:cxnLst/>
            <a:rect l="l" t="t" r="r" b="b"/>
            <a:pathLst>
              <a:path w="465454" h="35560">
                <a:moveTo>
                  <a:pt x="7299" y="0"/>
                </a:moveTo>
                <a:lnTo>
                  <a:pt x="137" y="7052"/>
                </a:lnTo>
                <a:lnTo>
                  <a:pt x="0" y="24585"/>
                </a:lnTo>
                <a:lnTo>
                  <a:pt x="7051" y="31748"/>
                </a:lnTo>
                <a:lnTo>
                  <a:pt x="88084" y="32383"/>
                </a:lnTo>
                <a:lnTo>
                  <a:pt x="95247" y="25332"/>
                </a:lnTo>
                <a:lnTo>
                  <a:pt x="95384" y="7797"/>
                </a:lnTo>
                <a:lnTo>
                  <a:pt x="88332" y="635"/>
                </a:lnTo>
                <a:lnTo>
                  <a:pt x="7299" y="0"/>
                </a:lnTo>
                <a:close/>
              </a:path>
              <a:path w="465454" h="35560">
                <a:moveTo>
                  <a:pt x="134296" y="995"/>
                </a:moveTo>
                <a:lnTo>
                  <a:pt x="127133" y="8046"/>
                </a:lnTo>
                <a:lnTo>
                  <a:pt x="126996" y="25581"/>
                </a:lnTo>
                <a:lnTo>
                  <a:pt x="134047" y="32744"/>
                </a:lnTo>
                <a:lnTo>
                  <a:pt x="215079" y="33379"/>
                </a:lnTo>
                <a:lnTo>
                  <a:pt x="222243" y="26328"/>
                </a:lnTo>
                <a:lnTo>
                  <a:pt x="222380" y="8793"/>
                </a:lnTo>
                <a:lnTo>
                  <a:pt x="215328" y="1630"/>
                </a:lnTo>
                <a:lnTo>
                  <a:pt x="134296" y="995"/>
                </a:lnTo>
                <a:close/>
              </a:path>
              <a:path w="465454" h="35560">
                <a:moveTo>
                  <a:pt x="261292" y="1991"/>
                </a:moveTo>
                <a:lnTo>
                  <a:pt x="254129" y="9042"/>
                </a:lnTo>
                <a:lnTo>
                  <a:pt x="253992" y="26577"/>
                </a:lnTo>
                <a:lnTo>
                  <a:pt x="261043" y="33740"/>
                </a:lnTo>
                <a:lnTo>
                  <a:pt x="342075" y="34375"/>
                </a:lnTo>
                <a:lnTo>
                  <a:pt x="349239" y="27324"/>
                </a:lnTo>
                <a:lnTo>
                  <a:pt x="349376" y="9789"/>
                </a:lnTo>
                <a:lnTo>
                  <a:pt x="342324" y="2626"/>
                </a:lnTo>
                <a:lnTo>
                  <a:pt x="261292" y="1991"/>
                </a:lnTo>
                <a:close/>
              </a:path>
              <a:path w="465454" h="35560">
                <a:moveTo>
                  <a:pt x="388288" y="2985"/>
                </a:moveTo>
                <a:lnTo>
                  <a:pt x="381125" y="10038"/>
                </a:lnTo>
                <a:lnTo>
                  <a:pt x="380988" y="27572"/>
                </a:lnTo>
                <a:lnTo>
                  <a:pt x="388039" y="34735"/>
                </a:lnTo>
                <a:lnTo>
                  <a:pt x="457848" y="35283"/>
                </a:lnTo>
                <a:lnTo>
                  <a:pt x="465011" y="28230"/>
                </a:lnTo>
                <a:lnTo>
                  <a:pt x="465148" y="10695"/>
                </a:lnTo>
                <a:lnTo>
                  <a:pt x="458097" y="3533"/>
                </a:lnTo>
                <a:lnTo>
                  <a:pt x="388288" y="2985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521368" y="2601823"/>
            <a:ext cx="158750" cy="1498600"/>
          </a:xfrm>
          <a:custGeom>
            <a:avLst/>
            <a:gdLst/>
            <a:ahLst/>
            <a:cxnLst/>
            <a:rect l="l" t="t" r="r" b="b"/>
            <a:pathLst>
              <a:path w="158750" h="1498600">
                <a:moveTo>
                  <a:pt x="88143" y="127000"/>
                </a:moveTo>
                <a:lnTo>
                  <a:pt x="70608" y="127000"/>
                </a:lnTo>
                <a:lnTo>
                  <a:pt x="63500" y="134108"/>
                </a:lnTo>
                <a:lnTo>
                  <a:pt x="63498" y="1491112"/>
                </a:lnTo>
                <a:lnTo>
                  <a:pt x="70606" y="1498219"/>
                </a:lnTo>
                <a:lnTo>
                  <a:pt x="88141" y="1498219"/>
                </a:lnTo>
                <a:lnTo>
                  <a:pt x="95248" y="1491112"/>
                </a:lnTo>
                <a:lnTo>
                  <a:pt x="95250" y="134108"/>
                </a:lnTo>
                <a:lnTo>
                  <a:pt x="88143" y="127000"/>
                </a:lnTo>
                <a:close/>
              </a:path>
              <a:path w="158750" h="1498600">
                <a:moveTo>
                  <a:pt x="79375" y="0"/>
                </a:moveTo>
                <a:lnTo>
                  <a:pt x="0" y="158750"/>
                </a:lnTo>
                <a:lnTo>
                  <a:pt x="63499" y="158750"/>
                </a:lnTo>
                <a:lnTo>
                  <a:pt x="63500" y="134108"/>
                </a:lnTo>
                <a:lnTo>
                  <a:pt x="70608" y="127000"/>
                </a:lnTo>
                <a:lnTo>
                  <a:pt x="142875" y="127000"/>
                </a:lnTo>
                <a:lnTo>
                  <a:pt x="79375" y="0"/>
                </a:lnTo>
                <a:close/>
              </a:path>
              <a:path w="158750" h="1498600">
                <a:moveTo>
                  <a:pt x="142875" y="127000"/>
                </a:moveTo>
                <a:lnTo>
                  <a:pt x="88143" y="127000"/>
                </a:lnTo>
                <a:lnTo>
                  <a:pt x="95250" y="134108"/>
                </a:lnTo>
                <a:lnTo>
                  <a:pt x="95249" y="158750"/>
                </a:lnTo>
                <a:lnTo>
                  <a:pt x="158750" y="158750"/>
                </a:lnTo>
                <a:lnTo>
                  <a:pt x="142875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584868" y="4009645"/>
            <a:ext cx="1869439" cy="158750"/>
          </a:xfrm>
          <a:custGeom>
            <a:avLst/>
            <a:gdLst/>
            <a:ahLst/>
            <a:cxnLst/>
            <a:rect l="l" t="t" r="r" b="b"/>
            <a:pathLst>
              <a:path w="1869440" h="158750">
                <a:moveTo>
                  <a:pt x="1837263" y="63500"/>
                </a:moveTo>
                <a:lnTo>
                  <a:pt x="1734906" y="63500"/>
                </a:lnTo>
                <a:lnTo>
                  <a:pt x="1742013" y="70606"/>
                </a:lnTo>
                <a:lnTo>
                  <a:pt x="1742012" y="88143"/>
                </a:lnTo>
                <a:lnTo>
                  <a:pt x="1734906" y="95250"/>
                </a:lnTo>
                <a:lnTo>
                  <a:pt x="1710263" y="95250"/>
                </a:lnTo>
                <a:lnTo>
                  <a:pt x="1710263" y="158750"/>
                </a:lnTo>
                <a:lnTo>
                  <a:pt x="1869013" y="79375"/>
                </a:lnTo>
                <a:lnTo>
                  <a:pt x="1837263" y="63500"/>
                </a:lnTo>
                <a:close/>
              </a:path>
              <a:path w="1869440" h="158750">
                <a:moveTo>
                  <a:pt x="1710263" y="63500"/>
                </a:moveTo>
                <a:lnTo>
                  <a:pt x="15875" y="63501"/>
                </a:lnTo>
                <a:lnTo>
                  <a:pt x="7106" y="63501"/>
                </a:lnTo>
                <a:lnTo>
                  <a:pt x="1" y="70606"/>
                </a:lnTo>
                <a:lnTo>
                  <a:pt x="0" y="88143"/>
                </a:lnTo>
                <a:lnTo>
                  <a:pt x="7106" y="95251"/>
                </a:lnTo>
                <a:lnTo>
                  <a:pt x="1710263" y="95250"/>
                </a:lnTo>
                <a:lnTo>
                  <a:pt x="1710263" y="63500"/>
                </a:lnTo>
                <a:close/>
              </a:path>
              <a:path w="1869440" h="158750">
                <a:moveTo>
                  <a:pt x="1734906" y="63500"/>
                </a:moveTo>
                <a:lnTo>
                  <a:pt x="1710263" y="63500"/>
                </a:lnTo>
                <a:lnTo>
                  <a:pt x="1710263" y="95250"/>
                </a:lnTo>
                <a:lnTo>
                  <a:pt x="1734906" y="95250"/>
                </a:lnTo>
                <a:lnTo>
                  <a:pt x="1742012" y="88143"/>
                </a:lnTo>
                <a:lnTo>
                  <a:pt x="1742013" y="70606"/>
                </a:lnTo>
                <a:lnTo>
                  <a:pt x="1734906" y="63500"/>
                </a:lnTo>
                <a:close/>
              </a:path>
              <a:path w="1869440" h="158750">
                <a:moveTo>
                  <a:pt x="1710263" y="0"/>
                </a:moveTo>
                <a:lnTo>
                  <a:pt x="1710263" y="63500"/>
                </a:lnTo>
                <a:lnTo>
                  <a:pt x="1837263" y="63500"/>
                </a:lnTo>
                <a:lnTo>
                  <a:pt x="17102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949776" y="4162044"/>
            <a:ext cx="156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orbel"/>
                <a:cs typeface="Corbel"/>
              </a:rPr>
              <a:t>O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20377" y="1995932"/>
            <a:ext cx="182943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609600" marR="5080" indent="-596900">
              <a:lnSpc>
                <a:spcPts val="2090"/>
              </a:lnSpc>
              <a:spcBef>
                <a:spcPts val="225"/>
              </a:spcBef>
            </a:pPr>
            <a:r>
              <a:rPr dirty="0" sz="1800" spc="-5">
                <a:latin typeface="Arial"/>
                <a:cs typeface="Arial"/>
              </a:rPr>
              <a:t>Order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Embedding  space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545367" y="2934155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40" h="154939">
                <a:moveTo>
                  <a:pt x="0" y="0"/>
                </a:moveTo>
                <a:lnTo>
                  <a:pt x="154522" y="0"/>
                </a:lnTo>
                <a:lnTo>
                  <a:pt x="154522" y="154522"/>
                </a:lnTo>
                <a:lnTo>
                  <a:pt x="0" y="15452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187577" y="2084323"/>
            <a:ext cx="15944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Anchor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node</a:t>
            </a:r>
            <a:r>
              <a:rPr dirty="0" sz="1800" spc="-7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𝒕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451532" y="1737077"/>
            <a:ext cx="200660" cy="130175"/>
          </a:xfrm>
          <a:custGeom>
            <a:avLst/>
            <a:gdLst/>
            <a:ahLst/>
            <a:cxnLst/>
            <a:rect l="l" t="t" r="r" b="b"/>
            <a:pathLst>
              <a:path w="200660" h="130175">
                <a:moveTo>
                  <a:pt x="0" y="129852"/>
                </a:moveTo>
                <a:lnTo>
                  <a:pt x="200648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867528" y="1665156"/>
            <a:ext cx="241935" cy="262890"/>
          </a:xfrm>
          <a:custGeom>
            <a:avLst/>
            <a:gdLst/>
            <a:ahLst/>
            <a:cxnLst/>
            <a:rect l="l" t="t" r="r" b="b"/>
            <a:pathLst>
              <a:path w="241935" h="262889">
                <a:moveTo>
                  <a:pt x="241319" y="0"/>
                </a:moveTo>
                <a:lnTo>
                  <a:pt x="0" y="262467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658385" y="1722329"/>
            <a:ext cx="195580" cy="175260"/>
          </a:xfrm>
          <a:custGeom>
            <a:avLst/>
            <a:gdLst/>
            <a:ahLst/>
            <a:cxnLst/>
            <a:rect l="l" t="t" r="r" b="b"/>
            <a:pathLst>
              <a:path w="195579" h="175260">
                <a:moveTo>
                  <a:pt x="195178" y="174780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858780" y="1991091"/>
            <a:ext cx="0" cy="203835"/>
          </a:xfrm>
          <a:custGeom>
            <a:avLst/>
            <a:gdLst/>
            <a:ahLst/>
            <a:cxnLst/>
            <a:rect l="l" t="t" r="r" b="b"/>
            <a:pathLst>
              <a:path w="0" h="203835">
                <a:moveTo>
                  <a:pt x="0" y="203805"/>
                </a:moveTo>
                <a:lnTo>
                  <a:pt x="1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517437" y="1928824"/>
            <a:ext cx="275590" cy="0"/>
          </a:xfrm>
          <a:custGeom>
            <a:avLst/>
            <a:gdLst/>
            <a:ahLst/>
            <a:cxnLst/>
            <a:rect l="l" t="t" r="r" b="b"/>
            <a:pathLst>
              <a:path w="275589" h="0">
                <a:moveTo>
                  <a:pt x="0" y="0"/>
                </a:moveTo>
                <a:lnTo>
                  <a:pt x="275035" y="0"/>
                </a:lnTo>
              </a:path>
            </a:pathLst>
          </a:custGeom>
          <a:ln w="53202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385625" y="1866929"/>
            <a:ext cx="132080" cy="121920"/>
          </a:xfrm>
          <a:custGeom>
            <a:avLst/>
            <a:gdLst/>
            <a:ahLst/>
            <a:cxnLst/>
            <a:rect l="l" t="t" r="r" b="b"/>
            <a:pathLst>
              <a:path w="132079" h="121919">
                <a:moveTo>
                  <a:pt x="0" y="0"/>
                </a:moveTo>
                <a:lnTo>
                  <a:pt x="131812" y="0"/>
                </a:lnTo>
                <a:lnTo>
                  <a:pt x="131812" y="121389"/>
                </a:lnTo>
                <a:lnTo>
                  <a:pt x="0" y="121389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792472" y="1868962"/>
            <a:ext cx="132715" cy="122555"/>
          </a:xfrm>
          <a:custGeom>
            <a:avLst/>
            <a:gdLst/>
            <a:ahLst/>
            <a:cxnLst/>
            <a:rect l="l" t="t" r="r" b="b"/>
            <a:pathLst>
              <a:path w="132714" h="122555">
                <a:moveTo>
                  <a:pt x="0" y="0"/>
                </a:moveTo>
                <a:lnTo>
                  <a:pt x="132615" y="0"/>
                </a:lnTo>
                <a:lnTo>
                  <a:pt x="132615" y="122128"/>
                </a:lnTo>
                <a:lnTo>
                  <a:pt x="0" y="122128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92875" y="2194895"/>
            <a:ext cx="132080" cy="121920"/>
          </a:xfrm>
          <a:custGeom>
            <a:avLst/>
            <a:gdLst/>
            <a:ahLst/>
            <a:cxnLst/>
            <a:rect l="l" t="t" r="r" b="b"/>
            <a:pathLst>
              <a:path w="132079" h="121919">
                <a:moveTo>
                  <a:pt x="0" y="0"/>
                </a:moveTo>
                <a:lnTo>
                  <a:pt x="131813" y="0"/>
                </a:lnTo>
                <a:lnTo>
                  <a:pt x="131813" y="121389"/>
                </a:lnTo>
                <a:lnTo>
                  <a:pt x="0" y="121389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047862" y="1602576"/>
            <a:ext cx="132080" cy="121920"/>
          </a:xfrm>
          <a:custGeom>
            <a:avLst/>
            <a:gdLst/>
            <a:ahLst/>
            <a:cxnLst/>
            <a:rect l="l" t="t" r="r" b="b"/>
            <a:pathLst>
              <a:path w="132079" h="121919">
                <a:moveTo>
                  <a:pt x="0" y="0"/>
                </a:moveTo>
                <a:lnTo>
                  <a:pt x="131813" y="0"/>
                </a:lnTo>
                <a:lnTo>
                  <a:pt x="131813" y="121390"/>
                </a:lnTo>
                <a:lnTo>
                  <a:pt x="0" y="121390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589923" y="1612267"/>
            <a:ext cx="132080" cy="121920"/>
          </a:xfrm>
          <a:custGeom>
            <a:avLst/>
            <a:gdLst/>
            <a:ahLst/>
            <a:cxnLst/>
            <a:rect l="l" t="t" r="r" b="b"/>
            <a:pathLst>
              <a:path w="132079" h="121919">
                <a:moveTo>
                  <a:pt x="0" y="0"/>
                </a:moveTo>
                <a:lnTo>
                  <a:pt x="131813" y="0"/>
                </a:lnTo>
                <a:lnTo>
                  <a:pt x="131813" y="121389"/>
                </a:lnTo>
                <a:lnTo>
                  <a:pt x="0" y="121389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962401" y="1915505"/>
            <a:ext cx="521970" cy="170815"/>
          </a:xfrm>
          <a:custGeom>
            <a:avLst/>
            <a:gdLst/>
            <a:ahLst/>
            <a:cxnLst/>
            <a:rect l="l" t="t" r="r" b="b"/>
            <a:pathLst>
              <a:path w="521970" h="170814">
                <a:moveTo>
                  <a:pt x="121218" y="42975"/>
                </a:moveTo>
                <a:lnTo>
                  <a:pt x="99534" y="64462"/>
                </a:lnTo>
                <a:lnTo>
                  <a:pt x="111029" y="92743"/>
                </a:lnTo>
                <a:lnTo>
                  <a:pt x="491492" y="170637"/>
                </a:lnTo>
                <a:lnTo>
                  <a:pt x="501578" y="170665"/>
                </a:lnTo>
                <a:lnTo>
                  <a:pt x="510579" y="166951"/>
                </a:lnTo>
                <a:lnTo>
                  <a:pt x="517532" y="160133"/>
                </a:lnTo>
                <a:lnTo>
                  <a:pt x="521470" y="150848"/>
                </a:lnTo>
                <a:lnTo>
                  <a:pt x="521498" y="140761"/>
                </a:lnTo>
                <a:lnTo>
                  <a:pt x="517784" y="131760"/>
                </a:lnTo>
                <a:lnTo>
                  <a:pt x="510967" y="124808"/>
                </a:lnTo>
                <a:lnTo>
                  <a:pt x="501681" y="120869"/>
                </a:lnTo>
                <a:lnTo>
                  <a:pt x="121218" y="42975"/>
                </a:lnTo>
                <a:close/>
              </a:path>
              <a:path w="521970" h="170814">
                <a:moveTo>
                  <a:pt x="164586" y="0"/>
                </a:moveTo>
                <a:lnTo>
                  <a:pt x="0" y="44084"/>
                </a:lnTo>
                <a:lnTo>
                  <a:pt x="134019" y="149303"/>
                </a:lnTo>
                <a:lnTo>
                  <a:pt x="111029" y="92743"/>
                </a:lnTo>
                <a:lnTo>
                  <a:pt x="94441" y="89347"/>
                </a:lnTo>
                <a:lnTo>
                  <a:pt x="85154" y="85408"/>
                </a:lnTo>
                <a:lnTo>
                  <a:pt x="78336" y="78455"/>
                </a:lnTo>
                <a:lnTo>
                  <a:pt x="74623" y="69454"/>
                </a:lnTo>
                <a:lnTo>
                  <a:pt x="74650" y="59368"/>
                </a:lnTo>
                <a:lnTo>
                  <a:pt x="78589" y="50082"/>
                </a:lnTo>
                <a:lnTo>
                  <a:pt x="85541" y="43264"/>
                </a:lnTo>
                <a:lnTo>
                  <a:pt x="94543" y="39551"/>
                </a:lnTo>
                <a:lnTo>
                  <a:pt x="124673" y="39551"/>
                </a:lnTo>
                <a:lnTo>
                  <a:pt x="164586" y="0"/>
                </a:lnTo>
                <a:close/>
              </a:path>
              <a:path w="521970" h="170814">
                <a:moveTo>
                  <a:pt x="94543" y="39551"/>
                </a:moveTo>
                <a:lnTo>
                  <a:pt x="85541" y="43264"/>
                </a:lnTo>
                <a:lnTo>
                  <a:pt x="78589" y="50082"/>
                </a:lnTo>
                <a:lnTo>
                  <a:pt x="74650" y="59368"/>
                </a:lnTo>
                <a:lnTo>
                  <a:pt x="74623" y="69454"/>
                </a:lnTo>
                <a:lnTo>
                  <a:pt x="78336" y="78455"/>
                </a:lnTo>
                <a:lnTo>
                  <a:pt x="85154" y="85408"/>
                </a:lnTo>
                <a:lnTo>
                  <a:pt x="94441" y="89347"/>
                </a:lnTo>
                <a:lnTo>
                  <a:pt x="111029" y="92743"/>
                </a:lnTo>
                <a:lnTo>
                  <a:pt x="99534" y="64462"/>
                </a:lnTo>
                <a:lnTo>
                  <a:pt x="121218" y="42975"/>
                </a:lnTo>
                <a:lnTo>
                  <a:pt x="104630" y="39579"/>
                </a:lnTo>
                <a:lnTo>
                  <a:pt x="94543" y="39551"/>
                </a:lnTo>
                <a:close/>
              </a:path>
              <a:path w="521970" h="170814">
                <a:moveTo>
                  <a:pt x="124673" y="39551"/>
                </a:moveTo>
                <a:lnTo>
                  <a:pt x="94543" y="39551"/>
                </a:lnTo>
                <a:lnTo>
                  <a:pt x="104630" y="39579"/>
                </a:lnTo>
                <a:lnTo>
                  <a:pt x="121218" y="42975"/>
                </a:lnTo>
                <a:lnTo>
                  <a:pt x="124673" y="39551"/>
                </a:lnTo>
                <a:close/>
              </a:path>
            </a:pathLst>
          </a:custGeom>
          <a:solidFill>
            <a:srgbClr val="343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179033" y="2888995"/>
            <a:ext cx="2825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𝑮</a:t>
            </a:r>
            <a:r>
              <a:rPr dirty="0" baseline="-14957" sz="1950">
                <a:solidFill>
                  <a:srgbClr val="C00000"/>
                </a:solidFill>
                <a:latin typeface="Cambria Math"/>
                <a:cs typeface="Cambria Math"/>
              </a:rPr>
              <a:t>𝑻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25309" y="1761538"/>
            <a:ext cx="1011555" cy="1158240"/>
          </a:xfrm>
          <a:custGeom>
            <a:avLst/>
            <a:gdLst/>
            <a:ahLst/>
            <a:cxnLst/>
            <a:rect l="l" t="t" r="r" b="b"/>
            <a:pathLst>
              <a:path w="1011555" h="1158239">
                <a:moveTo>
                  <a:pt x="922241" y="0"/>
                </a:moveTo>
                <a:lnTo>
                  <a:pt x="89054" y="0"/>
                </a:lnTo>
                <a:lnTo>
                  <a:pt x="54390" y="6998"/>
                </a:lnTo>
                <a:lnTo>
                  <a:pt x="26083" y="26083"/>
                </a:lnTo>
                <a:lnTo>
                  <a:pt x="6998" y="54390"/>
                </a:lnTo>
                <a:lnTo>
                  <a:pt x="0" y="89054"/>
                </a:lnTo>
                <a:lnTo>
                  <a:pt x="0" y="1068909"/>
                </a:lnTo>
                <a:lnTo>
                  <a:pt x="6998" y="1103573"/>
                </a:lnTo>
                <a:lnTo>
                  <a:pt x="26083" y="1131880"/>
                </a:lnTo>
                <a:lnTo>
                  <a:pt x="54390" y="1150964"/>
                </a:lnTo>
                <a:lnTo>
                  <a:pt x="89054" y="1157963"/>
                </a:lnTo>
                <a:lnTo>
                  <a:pt x="922241" y="1157963"/>
                </a:lnTo>
                <a:lnTo>
                  <a:pt x="956905" y="1150964"/>
                </a:lnTo>
                <a:lnTo>
                  <a:pt x="985212" y="1131880"/>
                </a:lnTo>
                <a:lnTo>
                  <a:pt x="1004297" y="1103573"/>
                </a:lnTo>
                <a:lnTo>
                  <a:pt x="1011295" y="1068909"/>
                </a:lnTo>
                <a:lnTo>
                  <a:pt x="1011295" y="89054"/>
                </a:lnTo>
                <a:lnTo>
                  <a:pt x="1004297" y="54390"/>
                </a:lnTo>
                <a:lnTo>
                  <a:pt x="985212" y="26083"/>
                </a:lnTo>
                <a:lnTo>
                  <a:pt x="956905" y="6998"/>
                </a:lnTo>
                <a:lnTo>
                  <a:pt x="922241" y="0"/>
                </a:lnTo>
                <a:close/>
              </a:path>
            </a:pathLst>
          </a:custGeom>
          <a:solidFill>
            <a:srgbClr val="FAE7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410299" y="2051409"/>
            <a:ext cx="241935" cy="262890"/>
          </a:xfrm>
          <a:custGeom>
            <a:avLst/>
            <a:gdLst/>
            <a:ahLst/>
            <a:cxnLst/>
            <a:rect l="l" t="t" r="r" b="b"/>
            <a:pathLst>
              <a:path w="241935" h="262889">
                <a:moveTo>
                  <a:pt x="241319" y="0"/>
                </a:moveTo>
                <a:lnTo>
                  <a:pt x="0" y="262467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018820" y="2108582"/>
            <a:ext cx="182880" cy="175260"/>
          </a:xfrm>
          <a:custGeom>
            <a:avLst/>
            <a:gdLst/>
            <a:ahLst/>
            <a:cxnLst/>
            <a:rect l="l" t="t" r="r" b="b"/>
            <a:pathLst>
              <a:path w="182880" h="175260">
                <a:moveTo>
                  <a:pt x="0" y="174781"/>
                </a:moveTo>
                <a:lnTo>
                  <a:pt x="182336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982622" y="2353432"/>
            <a:ext cx="107314" cy="286385"/>
          </a:xfrm>
          <a:custGeom>
            <a:avLst/>
            <a:gdLst/>
            <a:ahLst/>
            <a:cxnLst/>
            <a:rect l="l" t="t" r="r" b="b"/>
            <a:pathLst>
              <a:path w="107315" h="286385">
                <a:moveTo>
                  <a:pt x="106795" y="285931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201156" y="2108582"/>
            <a:ext cx="195580" cy="175260"/>
          </a:xfrm>
          <a:custGeom>
            <a:avLst/>
            <a:gdLst/>
            <a:ahLst/>
            <a:cxnLst/>
            <a:rect l="l" t="t" r="r" b="b"/>
            <a:pathLst>
              <a:path w="195580" h="175260">
                <a:moveTo>
                  <a:pt x="195178" y="174780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401551" y="2377344"/>
            <a:ext cx="0" cy="203835"/>
          </a:xfrm>
          <a:custGeom>
            <a:avLst/>
            <a:gdLst/>
            <a:ahLst/>
            <a:cxnLst/>
            <a:rect l="l" t="t" r="r" b="b"/>
            <a:pathLst>
              <a:path w="0" h="203835">
                <a:moveTo>
                  <a:pt x="0" y="203805"/>
                </a:moveTo>
                <a:lnTo>
                  <a:pt x="1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060208" y="2315077"/>
            <a:ext cx="275590" cy="0"/>
          </a:xfrm>
          <a:custGeom>
            <a:avLst/>
            <a:gdLst/>
            <a:ahLst/>
            <a:cxnLst/>
            <a:rect l="l" t="t" r="r" b="b"/>
            <a:pathLst>
              <a:path w="275590" h="0">
                <a:moveTo>
                  <a:pt x="0" y="0"/>
                </a:moveTo>
                <a:lnTo>
                  <a:pt x="275034" y="0"/>
                </a:lnTo>
              </a:path>
            </a:pathLst>
          </a:custGeom>
          <a:ln w="53202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097166" y="2123328"/>
            <a:ext cx="97790" cy="530860"/>
          </a:xfrm>
          <a:custGeom>
            <a:avLst/>
            <a:gdLst/>
            <a:ahLst/>
            <a:cxnLst/>
            <a:rect l="l" t="t" r="r" b="b"/>
            <a:pathLst>
              <a:path w="97790" h="530860">
                <a:moveTo>
                  <a:pt x="0" y="530782"/>
                </a:moveTo>
                <a:lnTo>
                  <a:pt x="97784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928395" y="2253181"/>
            <a:ext cx="132080" cy="121920"/>
          </a:xfrm>
          <a:custGeom>
            <a:avLst/>
            <a:gdLst/>
            <a:ahLst/>
            <a:cxnLst/>
            <a:rect l="l" t="t" r="r" b="b"/>
            <a:pathLst>
              <a:path w="132080" h="121919">
                <a:moveTo>
                  <a:pt x="0" y="0"/>
                </a:moveTo>
                <a:lnTo>
                  <a:pt x="131813" y="0"/>
                </a:lnTo>
                <a:lnTo>
                  <a:pt x="131813" y="121390"/>
                </a:lnTo>
                <a:lnTo>
                  <a:pt x="0" y="121390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335243" y="2255215"/>
            <a:ext cx="132715" cy="122555"/>
          </a:xfrm>
          <a:custGeom>
            <a:avLst/>
            <a:gdLst/>
            <a:ahLst/>
            <a:cxnLst/>
            <a:rect l="l" t="t" r="r" b="b"/>
            <a:pathLst>
              <a:path w="132715" h="122555">
                <a:moveTo>
                  <a:pt x="0" y="0"/>
                </a:moveTo>
                <a:lnTo>
                  <a:pt x="132615" y="0"/>
                </a:lnTo>
                <a:lnTo>
                  <a:pt x="132615" y="122128"/>
                </a:lnTo>
                <a:lnTo>
                  <a:pt x="0" y="122128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023512" y="2578668"/>
            <a:ext cx="132080" cy="121920"/>
          </a:xfrm>
          <a:custGeom>
            <a:avLst/>
            <a:gdLst/>
            <a:ahLst/>
            <a:cxnLst/>
            <a:rect l="l" t="t" r="r" b="b"/>
            <a:pathLst>
              <a:path w="132080" h="121919">
                <a:moveTo>
                  <a:pt x="0" y="0"/>
                </a:moveTo>
                <a:lnTo>
                  <a:pt x="131812" y="0"/>
                </a:lnTo>
                <a:lnTo>
                  <a:pt x="131812" y="121390"/>
                </a:lnTo>
                <a:lnTo>
                  <a:pt x="0" y="121390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335646" y="2581148"/>
            <a:ext cx="132080" cy="121920"/>
          </a:xfrm>
          <a:custGeom>
            <a:avLst/>
            <a:gdLst/>
            <a:ahLst/>
            <a:cxnLst/>
            <a:rect l="l" t="t" r="r" b="b"/>
            <a:pathLst>
              <a:path w="132080" h="121919">
                <a:moveTo>
                  <a:pt x="0" y="0"/>
                </a:moveTo>
                <a:lnTo>
                  <a:pt x="131813" y="0"/>
                </a:lnTo>
                <a:lnTo>
                  <a:pt x="131813" y="121390"/>
                </a:lnTo>
                <a:lnTo>
                  <a:pt x="0" y="121390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590633" y="1988828"/>
            <a:ext cx="132080" cy="121920"/>
          </a:xfrm>
          <a:custGeom>
            <a:avLst/>
            <a:gdLst/>
            <a:ahLst/>
            <a:cxnLst/>
            <a:rect l="l" t="t" r="r" b="b"/>
            <a:pathLst>
              <a:path w="132080" h="121919">
                <a:moveTo>
                  <a:pt x="0" y="0"/>
                </a:moveTo>
                <a:lnTo>
                  <a:pt x="131813" y="0"/>
                </a:lnTo>
                <a:lnTo>
                  <a:pt x="131813" y="121390"/>
                </a:lnTo>
                <a:lnTo>
                  <a:pt x="0" y="121390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132693" y="1998521"/>
            <a:ext cx="132080" cy="121920"/>
          </a:xfrm>
          <a:custGeom>
            <a:avLst/>
            <a:gdLst/>
            <a:ahLst/>
            <a:cxnLst/>
            <a:rect l="l" t="t" r="r" b="b"/>
            <a:pathLst>
              <a:path w="132080" h="121919">
                <a:moveTo>
                  <a:pt x="0" y="0"/>
                </a:moveTo>
                <a:lnTo>
                  <a:pt x="131813" y="0"/>
                </a:lnTo>
                <a:lnTo>
                  <a:pt x="131813" y="121387"/>
                </a:lnTo>
                <a:lnTo>
                  <a:pt x="0" y="121387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3114578" y="1203452"/>
            <a:ext cx="158813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Neighborhood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873083" y="2222083"/>
            <a:ext cx="894080" cy="300355"/>
          </a:xfrm>
          <a:custGeom>
            <a:avLst/>
            <a:gdLst/>
            <a:ahLst/>
            <a:cxnLst/>
            <a:rect l="l" t="t" r="r" b="b"/>
            <a:pathLst>
              <a:path w="894080" h="300355">
                <a:moveTo>
                  <a:pt x="743681" y="0"/>
                </a:moveTo>
                <a:lnTo>
                  <a:pt x="743681" y="75032"/>
                </a:lnTo>
                <a:lnTo>
                  <a:pt x="0" y="75032"/>
                </a:lnTo>
                <a:lnTo>
                  <a:pt x="0" y="225099"/>
                </a:lnTo>
                <a:lnTo>
                  <a:pt x="743681" y="225099"/>
                </a:lnTo>
                <a:lnTo>
                  <a:pt x="743681" y="300134"/>
                </a:lnTo>
                <a:lnTo>
                  <a:pt x="893747" y="150067"/>
                </a:lnTo>
                <a:lnTo>
                  <a:pt x="743681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278306" y="2922028"/>
            <a:ext cx="906780" cy="1194435"/>
          </a:xfrm>
          <a:custGeom>
            <a:avLst/>
            <a:gdLst/>
            <a:ahLst/>
            <a:cxnLst/>
            <a:rect l="l" t="t" r="r" b="b"/>
            <a:pathLst>
              <a:path w="906779" h="1194435">
                <a:moveTo>
                  <a:pt x="790345" y="0"/>
                </a:moveTo>
                <a:lnTo>
                  <a:pt x="116367" y="0"/>
                </a:lnTo>
                <a:lnTo>
                  <a:pt x="71071" y="9144"/>
                </a:lnTo>
                <a:lnTo>
                  <a:pt x="34083" y="34083"/>
                </a:lnTo>
                <a:lnTo>
                  <a:pt x="9144" y="71071"/>
                </a:lnTo>
                <a:lnTo>
                  <a:pt x="0" y="116367"/>
                </a:lnTo>
                <a:lnTo>
                  <a:pt x="0" y="1077622"/>
                </a:lnTo>
                <a:lnTo>
                  <a:pt x="9144" y="1122918"/>
                </a:lnTo>
                <a:lnTo>
                  <a:pt x="34083" y="1159907"/>
                </a:lnTo>
                <a:lnTo>
                  <a:pt x="71071" y="1184845"/>
                </a:lnTo>
                <a:lnTo>
                  <a:pt x="116367" y="1193990"/>
                </a:lnTo>
                <a:lnTo>
                  <a:pt x="790345" y="1193990"/>
                </a:lnTo>
                <a:lnTo>
                  <a:pt x="835640" y="1184845"/>
                </a:lnTo>
                <a:lnTo>
                  <a:pt x="872628" y="1159907"/>
                </a:lnTo>
                <a:lnTo>
                  <a:pt x="897566" y="1122918"/>
                </a:lnTo>
                <a:lnTo>
                  <a:pt x="906711" y="1077622"/>
                </a:lnTo>
                <a:lnTo>
                  <a:pt x="906711" y="116367"/>
                </a:lnTo>
                <a:lnTo>
                  <a:pt x="897566" y="71071"/>
                </a:lnTo>
                <a:lnTo>
                  <a:pt x="872628" y="34083"/>
                </a:lnTo>
                <a:lnTo>
                  <a:pt x="835640" y="9144"/>
                </a:lnTo>
                <a:lnTo>
                  <a:pt x="790345" y="0"/>
                </a:lnTo>
                <a:close/>
              </a:path>
            </a:pathLst>
          </a:custGeom>
          <a:solidFill>
            <a:srgbClr val="F4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006495" y="3510621"/>
            <a:ext cx="635" cy="339090"/>
          </a:xfrm>
          <a:custGeom>
            <a:avLst/>
            <a:gdLst/>
            <a:ahLst/>
            <a:cxnLst/>
            <a:rect l="l" t="t" r="r" b="b"/>
            <a:pathLst>
              <a:path w="635" h="339089">
                <a:moveTo>
                  <a:pt x="62" y="338515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492070" y="3149570"/>
            <a:ext cx="160020" cy="213995"/>
          </a:xfrm>
          <a:custGeom>
            <a:avLst/>
            <a:gdLst/>
            <a:ahLst/>
            <a:cxnLst/>
            <a:rect l="l" t="t" r="r" b="b"/>
            <a:pathLst>
              <a:path w="160020" h="213995">
                <a:moveTo>
                  <a:pt x="0" y="213571"/>
                </a:moveTo>
                <a:lnTo>
                  <a:pt x="15993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516628" y="3424231"/>
            <a:ext cx="406400" cy="0"/>
          </a:xfrm>
          <a:custGeom>
            <a:avLst/>
            <a:gdLst/>
            <a:ahLst/>
            <a:cxnLst/>
            <a:rect l="l" t="t" r="r" b="b"/>
            <a:pathLst>
              <a:path w="406400" h="0">
                <a:moveTo>
                  <a:pt x="0" y="0"/>
                </a:moveTo>
                <a:lnTo>
                  <a:pt x="406018" y="1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772358" y="3149570"/>
            <a:ext cx="175260" cy="213995"/>
          </a:xfrm>
          <a:custGeom>
            <a:avLst/>
            <a:gdLst/>
            <a:ahLst/>
            <a:cxnLst/>
            <a:rect l="l" t="t" r="r" b="b"/>
            <a:pathLst>
              <a:path w="175260" h="213995">
                <a:moveTo>
                  <a:pt x="174846" y="213571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348932" y="3337839"/>
            <a:ext cx="168275" cy="173355"/>
          </a:xfrm>
          <a:custGeom>
            <a:avLst/>
            <a:gdLst/>
            <a:ahLst/>
            <a:cxnLst/>
            <a:rect l="l" t="t" r="r" b="b"/>
            <a:pathLst>
              <a:path w="168275" h="173354">
                <a:moveTo>
                  <a:pt x="83847" y="0"/>
                </a:moveTo>
                <a:lnTo>
                  <a:pt x="51210" y="6788"/>
                </a:lnTo>
                <a:lnTo>
                  <a:pt x="24558" y="25303"/>
                </a:lnTo>
                <a:lnTo>
                  <a:pt x="6589" y="52763"/>
                </a:lnTo>
                <a:lnTo>
                  <a:pt x="0" y="86390"/>
                </a:lnTo>
                <a:lnTo>
                  <a:pt x="6589" y="120018"/>
                </a:lnTo>
                <a:lnTo>
                  <a:pt x="24558" y="147479"/>
                </a:lnTo>
                <a:lnTo>
                  <a:pt x="51210" y="165993"/>
                </a:lnTo>
                <a:lnTo>
                  <a:pt x="83847" y="172782"/>
                </a:lnTo>
                <a:lnTo>
                  <a:pt x="116485" y="165993"/>
                </a:lnTo>
                <a:lnTo>
                  <a:pt x="143137" y="147479"/>
                </a:lnTo>
                <a:lnTo>
                  <a:pt x="161106" y="120018"/>
                </a:lnTo>
                <a:lnTo>
                  <a:pt x="167695" y="86390"/>
                </a:lnTo>
                <a:lnTo>
                  <a:pt x="161106" y="52763"/>
                </a:lnTo>
                <a:lnTo>
                  <a:pt x="143137" y="25303"/>
                </a:lnTo>
                <a:lnTo>
                  <a:pt x="116485" y="6788"/>
                </a:lnTo>
                <a:lnTo>
                  <a:pt x="83847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627073" y="2999878"/>
            <a:ext cx="170815" cy="175895"/>
          </a:xfrm>
          <a:custGeom>
            <a:avLst/>
            <a:gdLst/>
            <a:ahLst/>
            <a:cxnLst/>
            <a:rect l="l" t="t" r="r" b="b"/>
            <a:pathLst>
              <a:path w="170814" h="175894">
                <a:moveTo>
                  <a:pt x="85106" y="0"/>
                </a:moveTo>
                <a:lnTo>
                  <a:pt x="51979" y="6891"/>
                </a:lnTo>
                <a:lnTo>
                  <a:pt x="24927" y="25683"/>
                </a:lnTo>
                <a:lnTo>
                  <a:pt x="6688" y="53556"/>
                </a:lnTo>
                <a:lnTo>
                  <a:pt x="0" y="87688"/>
                </a:lnTo>
                <a:lnTo>
                  <a:pt x="6688" y="121820"/>
                </a:lnTo>
                <a:lnTo>
                  <a:pt x="24927" y="149693"/>
                </a:lnTo>
                <a:lnTo>
                  <a:pt x="51979" y="168485"/>
                </a:lnTo>
                <a:lnTo>
                  <a:pt x="85106" y="175376"/>
                </a:lnTo>
                <a:lnTo>
                  <a:pt x="118233" y="168485"/>
                </a:lnTo>
                <a:lnTo>
                  <a:pt x="145285" y="149693"/>
                </a:lnTo>
                <a:lnTo>
                  <a:pt x="163524" y="121820"/>
                </a:lnTo>
                <a:lnTo>
                  <a:pt x="170213" y="87688"/>
                </a:lnTo>
                <a:lnTo>
                  <a:pt x="163524" y="53556"/>
                </a:lnTo>
                <a:lnTo>
                  <a:pt x="145285" y="25683"/>
                </a:lnTo>
                <a:lnTo>
                  <a:pt x="118233" y="6891"/>
                </a:lnTo>
                <a:lnTo>
                  <a:pt x="85106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922646" y="3337839"/>
            <a:ext cx="168275" cy="173355"/>
          </a:xfrm>
          <a:custGeom>
            <a:avLst/>
            <a:gdLst/>
            <a:ahLst/>
            <a:cxnLst/>
            <a:rect l="l" t="t" r="r" b="b"/>
            <a:pathLst>
              <a:path w="168275" h="173354">
                <a:moveTo>
                  <a:pt x="83847" y="0"/>
                </a:moveTo>
                <a:lnTo>
                  <a:pt x="51210" y="6788"/>
                </a:lnTo>
                <a:lnTo>
                  <a:pt x="24558" y="25303"/>
                </a:lnTo>
                <a:lnTo>
                  <a:pt x="6589" y="52763"/>
                </a:lnTo>
                <a:lnTo>
                  <a:pt x="0" y="86390"/>
                </a:lnTo>
                <a:lnTo>
                  <a:pt x="6589" y="120018"/>
                </a:lnTo>
                <a:lnTo>
                  <a:pt x="24558" y="147479"/>
                </a:lnTo>
                <a:lnTo>
                  <a:pt x="51210" y="165993"/>
                </a:lnTo>
                <a:lnTo>
                  <a:pt x="83847" y="172782"/>
                </a:lnTo>
                <a:lnTo>
                  <a:pt x="116485" y="165993"/>
                </a:lnTo>
                <a:lnTo>
                  <a:pt x="143137" y="147479"/>
                </a:lnTo>
                <a:lnTo>
                  <a:pt x="161106" y="120018"/>
                </a:lnTo>
                <a:lnTo>
                  <a:pt x="167695" y="86390"/>
                </a:lnTo>
                <a:lnTo>
                  <a:pt x="161106" y="52763"/>
                </a:lnTo>
                <a:lnTo>
                  <a:pt x="143137" y="25303"/>
                </a:lnTo>
                <a:lnTo>
                  <a:pt x="116485" y="6788"/>
                </a:lnTo>
                <a:lnTo>
                  <a:pt x="83847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924291" y="3849136"/>
            <a:ext cx="165100" cy="169545"/>
          </a:xfrm>
          <a:custGeom>
            <a:avLst/>
            <a:gdLst/>
            <a:ahLst/>
            <a:cxnLst/>
            <a:rect l="l" t="t" r="r" b="b"/>
            <a:pathLst>
              <a:path w="165100" h="169545">
                <a:moveTo>
                  <a:pt x="82265" y="0"/>
                </a:moveTo>
                <a:lnTo>
                  <a:pt x="50243" y="6661"/>
                </a:lnTo>
                <a:lnTo>
                  <a:pt x="24094" y="24826"/>
                </a:lnTo>
                <a:lnTo>
                  <a:pt x="6464" y="51769"/>
                </a:lnTo>
                <a:lnTo>
                  <a:pt x="0" y="84762"/>
                </a:lnTo>
                <a:lnTo>
                  <a:pt x="6464" y="117755"/>
                </a:lnTo>
                <a:lnTo>
                  <a:pt x="24094" y="144697"/>
                </a:lnTo>
                <a:lnTo>
                  <a:pt x="50243" y="162862"/>
                </a:lnTo>
                <a:lnTo>
                  <a:pt x="82265" y="169523"/>
                </a:lnTo>
                <a:lnTo>
                  <a:pt x="114287" y="162862"/>
                </a:lnTo>
                <a:lnTo>
                  <a:pt x="140436" y="144697"/>
                </a:lnTo>
                <a:lnTo>
                  <a:pt x="158067" y="117755"/>
                </a:lnTo>
                <a:lnTo>
                  <a:pt x="164532" y="84762"/>
                </a:lnTo>
                <a:lnTo>
                  <a:pt x="158067" y="51769"/>
                </a:lnTo>
                <a:lnTo>
                  <a:pt x="140436" y="24826"/>
                </a:lnTo>
                <a:lnTo>
                  <a:pt x="114287" y="6661"/>
                </a:lnTo>
                <a:lnTo>
                  <a:pt x="8226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3075942" y="2581148"/>
            <a:ext cx="18802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Example Query</a:t>
            </a:r>
            <a:r>
              <a:rPr dirty="0" sz="1800" spc="-9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70C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098453" y="3460217"/>
            <a:ext cx="521970" cy="170815"/>
          </a:xfrm>
          <a:custGeom>
            <a:avLst/>
            <a:gdLst/>
            <a:ahLst/>
            <a:cxnLst/>
            <a:rect l="l" t="t" r="r" b="b"/>
            <a:pathLst>
              <a:path w="521970" h="170814">
                <a:moveTo>
                  <a:pt x="121219" y="42974"/>
                </a:moveTo>
                <a:lnTo>
                  <a:pt x="99534" y="64462"/>
                </a:lnTo>
                <a:lnTo>
                  <a:pt x="111029" y="92743"/>
                </a:lnTo>
                <a:lnTo>
                  <a:pt x="491492" y="170637"/>
                </a:lnTo>
                <a:lnTo>
                  <a:pt x="501578" y="170664"/>
                </a:lnTo>
                <a:lnTo>
                  <a:pt x="510579" y="166951"/>
                </a:lnTo>
                <a:lnTo>
                  <a:pt x="517532" y="160133"/>
                </a:lnTo>
                <a:lnTo>
                  <a:pt x="521470" y="150848"/>
                </a:lnTo>
                <a:lnTo>
                  <a:pt x="521498" y="140761"/>
                </a:lnTo>
                <a:lnTo>
                  <a:pt x="517784" y="131760"/>
                </a:lnTo>
                <a:lnTo>
                  <a:pt x="510967" y="124808"/>
                </a:lnTo>
                <a:lnTo>
                  <a:pt x="501681" y="120869"/>
                </a:lnTo>
                <a:lnTo>
                  <a:pt x="121219" y="42974"/>
                </a:lnTo>
                <a:close/>
              </a:path>
              <a:path w="521970" h="170814">
                <a:moveTo>
                  <a:pt x="164586" y="0"/>
                </a:moveTo>
                <a:lnTo>
                  <a:pt x="0" y="44084"/>
                </a:lnTo>
                <a:lnTo>
                  <a:pt x="134019" y="149303"/>
                </a:lnTo>
                <a:lnTo>
                  <a:pt x="111029" y="92743"/>
                </a:lnTo>
                <a:lnTo>
                  <a:pt x="94441" y="89347"/>
                </a:lnTo>
                <a:lnTo>
                  <a:pt x="85154" y="85408"/>
                </a:lnTo>
                <a:lnTo>
                  <a:pt x="78337" y="78455"/>
                </a:lnTo>
                <a:lnTo>
                  <a:pt x="74623" y="69454"/>
                </a:lnTo>
                <a:lnTo>
                  <a:pt x="74651" y="59367"/>
                </a:lnTo>
                <a:lnTo>
                  <a:pt x="78590" y="50082"/>
                </a:lnTo>
                <a:lnTo>
                  <a:pt x="85541" y="43264"/>
                </a:lnTo>
                <a:lnTo>
                  <a:pt x="94543" y="39551"/>
                </a:lnTo>
                <a:lnTo>
                  <a:pt x="124674" y="39551"/>
                </a:lnTo>
                <a:lnTo>
                  <a:pt x="164586" y="0"/>
                </a:lnTo>
                <a:close/>
              </a:path>
              <a:path w="521970" h="170814">
                <a:moveTo>
                  <a:pt x="94543" y="39551"/>
                </a:moveTo>
                <a:lnTo>
                  <a:pt x="85541" y="43264"/>
                </a:lnTo>
                <a:lnTo>
                  <a:pt x="78590" y="50082"/>
                </a:lnTo>
                <a:lnTo>
                  <a:pt x="74651" y="59367"/>
                </a:lnTo>
                <a:lnTo>
                  <a:pt x="74623" y="69454"/>
                </a:lnTo>
                <a:lnTo>
                  <a:pt x="78337" y="78455"/>
                </a:lnTo>
                <a:lnTo>
                  <a:pt x="85154" y="85408"/>
                </a:lnTo>
                <a:lnTo>
                  <a:pt x="94441" y="89347"/>
                </a:lnTo>
                <a:lnTo>
                  <a:pt x="111029" y="92743"/>
                </a:lnTo>
                <a:lnTo>
                  <a:pt x="99534" y="64462"/>
                </a:lnTo>
                <a:lnTo>
                  <a:pt x="121219" y="42974"/>
                </a:lnTo>
                <a:lnTo>
                  <a:pt x="104630" y="39578"/>
                </a:lnTo>
                <a:lnTo>
                  <a:pt x="94543" y="39551"/>
                </a:lnTo>
                <a:close/>
              </a:path>
              <a:path w="521970" h="170814">
                <a:moveTo>
                  <a:pt x="124674" y="39551"/>
                </a:moveTo>
                <a:lnTo>
                  <a:pt x="94543" y="39551"/>
                </a:lnTo>
                <a:lnTo>
                  <a:pt x="104630" y="39578"/>
                </a:lnTo>
                <a:lnTo>
                  <a:pt x="121219" y="42974"/>
                </a:lnTo>
                <a:lnTo>
                  <a:pt x="124674" y="39551"/>
                </a:lnTo>
                <a:close/>
              </a:path>
            </a:pathLst>
          </a:custGeom>
          <a:solidFill>
            <a:srgbClr val="343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340677" y="3128865"/>
            <a:ext cx="894080" cy="300355"/>
          </a:xfrm>
          <a:custGeom>
            <a:avLst/>
            <a:gdLst/>
            <a:ahLst/>
            <a:cxnLst/>
            <a:rect l="l" t="t" r="r" b="b"/>
            <a:pathLst>
              <a:path w="894079" h="300354">
                <a:moveTo>
                  <a:pt x="743681" y="0"/>
                </a:moveTo>
                <a:lnTo>
                  <a:pt x="743681" y="75032"/>
                </a:lnTo>
                <a:lnTo>
                  <a:pt x="0" y="75032"/>
                </a:lnTo>
                <a:lnTo>
                  <a:pt x="0" y="225101"/>
                </a:lnTo>
                <a:lnTo>
                  <a:pt x="743681" y="225101"/>
                </a:lnTo>
                <a:lnTo>
                  <a:pt x="743681" y="300134"/>
                </a:lnTo>
                <a:lnTo>
                  <a:pt x="893747" y="150067"/>
                </a:lnTo>
                <a:lnTo>
                  <a:pt x="743681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032593" y="3367045"/>
            <a:ext cx="168275" cy="173355"/>
          </a:xfrm>
          <a:custGeom>
            <a:avLst/>
            <a:gdLst/>
            <a:ahLst/>
            <a:cxnLst/>
            <a:rect l="l" t="t" r="r" b="b"/>
            <a:pathLst>
              <a:path w="168275" h="173354">
                <a:moveTo>
                  <a:pt x="83849" y="0"/>
                </a:moveTo>
                <a:lnTo>
                  <a:pt x="51211" y="6788"/>
                </a:lnTo>
                <a:lnTo>
                  <a:pt x="24559" y="25303"/>
                </a:lnTo>
                <a:lnTo>
                  <a:pt x="6589" y="52763"/>
                </a:lnTo>
                <a:lnTo>
                  <a:pt x="0" y="86390"/>
                </a:lnTo>
                <a:lnTo>
                  <a:pt x="6589" y="120017"/>
                </a:lnTo>
                <a:lnTo>
                  <a:pt x="24559" y="147478"/>
                </a:lnTo>
                <a:lnTo>
                  <a:pt x="51211" y="165993"/>
                </a:lnTo>
                <a:lnTo>
                  <a:pt x="83849" y="172782"/>
                </a:lnTo>
                <a:lnTo>
                  <a:pt x="116486" y="165993"/>
                </a:lnTo>
                <a:lnTo>
                  <a:pt x="143138" y="147478"/>
                </a:lnTo>
                <a:lnTo>
                  <a:pt x="161107" y="120017"/>
                </a:lnTo>
                <a:lnTo>
                  <a:pt x="167697" y="86390"/>
                </a:lnTo>
                <a:lnTo>
                  <a:pt x="161107" y="52763"/>
                </a:lnTo>
                <a:lnTo>
                  <a:pt x="143138" y="25303"/>
                </a:lnTo>
                <a:lnTo>
                  <a:pt x="116486" y="6788"/>
                </a:lnTo>
                <a:lnTo>
                  <a:pt x="83849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222561" y="5767377"/>
            <a:ext cx="168275" cy="173355"/>
          </a:xfrm>
          <a:custGeom>
            <a:avLst/>
            <a:gdLst/>
            <a:ahLst/>
            <a:cxnLst/>
            <a:rect l="l" t="t" r="r" b="b"/>
            <a:pathLst>
              <a:path w="168275" h="173354">
                <a:moveTo>
                  <a:pt x="83847" y="0"/>
                </a:moveTo>
                <a:lnTo>
                  <a:pt x="51211" y="6789"/>
                </a:lnTo>
                <a:lnTo>
                  <a:pt x="24558" y="25303"/>
                </a:lnTo>
                <a:lnTo>
                  <a:pt x="6589" y="52764"/>
                </a:lnTo>
                <a:lnTo>
                  <a:pt x="0" y="86391"/>
                </a:lnTo>
                <a:lnTo>
                  <a:pt x="6589" y="120018"/>
                </a:lnTo>
                <a:lnTo>
                  <a:pt x="24558" y="147479"/>
                </a:lnTo>
                <a:lnTo>
                  <a:pt x="51211" y="165993"/>
                </a:lnTo>
                <a:lnTo>
                  <a:pt x="83847" y="172782"/>
                </a:lnTo>
                <a:lnTo>
                  <a:pt x="116485" y="165993"/>
                </a:lnTo>
                <a:lnTo>
                  <a:pt x="143138" y="147479"/>
                </a:lnTo>
                <a:lnTo>
                  <a:pt x="161107" y="120018"/>
                </a:lnTo>
                <a:lnTo>
                  <a:pt x="167697" y="86391"/>
                </a:lnTo>
                <a:lnTo>
                  <a:pt x="161107" y="52764"/>
                </a:lnTo>
                <a:lnTo>
                  <a:pt x="143138" y="25303"/>
                </a:lnTo>
                <a:lnTo>
                  <a:pt x="116485" y="6789"/>
                </a:lnTo>
                <a:lnTo>
                  <a:pt x="83847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633029" y="5785639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39" h="154939">
                <a:moveTo>
                  <a:pt x="0" y="0"/>
                </a:moveTo>
                <a:lnTo>
                  <a:pt x="154522" y="0"/>
                </a:lnTo>
                <a:lnTo>
                  <a:pt x="154522" y="154522"/>
                </a:lnTo>
                <a:lnTo>
                  <a:pt x="0" y="15452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887359" y="5187188"/>
            <a:ext cx="6694805" cy="107442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algn="ctr" marL="884555">
              <a:lnSpc>
                <a:spcPct val="100000"/>
              </a:lnSpc>
              <a:spcBef>
                <a:spcPts val="1010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Anchor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110"/>
              </a:lnSpc>
              <a:spcBef>
                <a:spcPts val="1019"/>
              </a:spcBef>
              <a:tabLst>
                <a:tab pos="4533265" algn="l"/>
                <a:tab pos="4955540" algn="l"/>
                <a:tab pos="5590540" algn="l"/>
                <a:tab pos="6076315" algn="l"/>
              </a:tabLst>
            </a:pPr>
            <a:r>
              <a:rPr dirty="0" sz="1800" spc="-5">
                <a:latin typeface="Arial"/>
                <a:cs typeface="Arial"/>
              </a:rPr>
              <a:t>By comparing the embedding, </a:t>
            </a:r>
            <a:r>
              <a:rPr dirty="0" sz="1800">
                <a:latin typeface="Arial"/>
                <a:cs typeface="Arial"/>
              </a:rPr>
              <a:t>we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find</a:t>
            </a:r>
            <a:r>
              <a:rPr dirty="0" sz="180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that	</a:t>
            </a:r>
            <a:r>
              <a:rPr dirty="0" sz="1800">
                <a:latin typeface="Cambria Math"/>
                <a:cs typeface="Cambria Math"/>
              </a:rPr>
              <a:t>≼	</a:t>
            </a:r>
            <a:r>
              <a:rPr dirty="0" sz="1800" spc="-5">
                <a:latin typeface="Arial"/>
                <a:cs typeface="Arial"/>
              </a:rPr>
              <a:t>but	</a:t>
            </a:r>
            <a:r>
              <a:rPr dirty="0" sz="1800">
                <a:latin typeface="Cambria Math"/>
                <a:cs typeface="Cambria Math"/>
              </a:rPr>
              <a:t>≼	</a:t>
            </a:r>
            <a:r>
              <a:rPr dirty="0" sz="1800">
                <a:latin typeface="Arial"/>
                <a:cs typeface="Arial"/>
              </a:rPr>
              <a:t>,  </a:t>
            </a:r>
            <a:r>
              <a:rPr dirty="0" sz="1800" spc="-5">
                <a:latin typeface="Arial"/>
                <a:cs typeface="Arial"/>
              </a:rPr>
              <a:t>Indicating that only query </a:t>
            </a:r>
            <a:r>
              <a:rPr dirty="0" sz="1800">
                <a:latin typeface="Arial"/>
                <a:cs typeface="Arial"/>
              </a:rPr>
              <a:t>1 is a </a:t>
            </a:r>
            <a:r>
              <a:rPr dirty="0" sz="1800" spc="-5">
                <a:latin typeface="Arial"/>
                <a:cs typeface="Arial"/>
              </a:rPr>
              <a:t>subgraph of the neighborhood of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Cambria Math"/>
                <a:cs typeface="Cambria Math"/>
              </a:rPr>
              <a:t>𝑡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3280369" y="4579128"/>
            <a:ext cx="906780" cy="1194435"/>
          </a:xfrm>
          <a:custGeom>
            <a:avLst/>
            <a:gdLst/>
            <a:ahLst/>
            <a:cxnLst/>
            <a:rect l="l" t="t" r="r" b="b"/>
            <a:pathLst>
              <a:path w="906779" h="1194435">
                <a:moveTo>
                  <a:pt x="790345" y="0"/>
                </a:moveTo>
                <a:lnTo>
                  <a:pt x="116366" y="0"/>
                </a:lnTo>
                <a:lnTo>
                  <a:pt x="71071" y="9144"/>
                </a:lnTo>
                <a:lnTo>
                  <a:pt x="34082" y="34082"/>
                </a:lnTo>
                <a:lnTo>
                  <a:pt x="9144" y="71071"/>
                </a:lnTo>
                <a:lnTo>
                  <a:pt x="0" y="116366"/>
                </a:lnTo>
                <a:lnTo>
                  <a:pt x="0" y="1077622"/>
                </a:lnTo>
                <a:lnTo>
                  <a:pt x="9144" y="1122917"/>
                </a:lnTo>
                <a:lnTo>
                  <a:pt x="34082" y="1159906"/>
                </a:lnTo>
                <a:lnTo>
                  <a:pt x="71071" y="1184844"/>
                </a:lnTo>
                <a:lnTo>
                  <a:pt x="116366" y="1193989"/>
                </a:lnTo>
                <a:lnTo>
                  <a:pt x="790345" y="1193989"/>
                </a:lnTo>
                <a:lnTo>
                  <a:pt x="835640" y="1184844"/>
                </a:lnTo>
                <a:lnTo>
                  <a:pt x="872628" y="1159906"/>
                </a:lnTo>
                <a:lnTo>
                  <a:pt x="897566" y="1122917"/>
                </a:lnTo>
                <a:lnTo>
                  <a:pt x="906711" y="1077622"/>
                </a:lnTo>
                <a:lnTo>
                  <a:pt x="906711" y="116366"/>
                </a:lnTo>
                <a:lnTo>
                  <a:pt x="897566" y="71071"/>
                </a:lnTo>
                <a:lnTo>
                  <a:pt x="872628" y="34082"/>
                </a:lnTo>
                <a:lnTo>
                  <a:pt x="835640" y="9144"/>
                </a:lnTo>
                <a:lnTo>
                  <a:pt x="790345" y="0"/>
                </a:lnTo>
                <a:close/>
              </a:path>
            </a:pathLst>
          </a:custGeom>
          <a:solidFill>
            <a:srgbClr val="F4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494112" y="5160833"/>
            <a:ext cx="240665" cy="287020"/>
          </a:xfrm>
          <a:custGeom>
            <a:avLst/>
            <a:gdLst/>
            <a:ahLst/>
            <a:cxnLst/>
            <a:rect l="l" t="t" r="r" b="b"/>
            <a:pathLst>
              <a:path w="240664" h="287020">
                <a:moveTo>
                  <a:pt x="240334" y="286703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494133" y="4806670"/>
            <a:ext cx="160020" cy="213995"/>
          </a:xfrm>
          <a:custGeom>
            <a:avLst/>
            <a:gdLst/>
            <a:ahLst/>
            <a:cxnLst/>
            <a:rect l="l" t="t" r="r" b="b"/>
            <a:pathLst>
              <a:path w="160020" h="213995">
                <a:moveTo>
                  <a:pt x="0" y="213571"/>
                </a:moveTo>
                <a:lnTo>
                  <a:pt x="15993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518691" y="5081329"/>
            <a:ext cx="406400" cy="0"/>
          </a:xfrm>
          <a:custGeom>
            <a:avLst/>
            <a:gdLst/>
            <a:ahLst/>
            <a:cxnLst/>
            <a:rect l="l" t="t" r="r" b="b"/>
            <a:pathLst>
              <a:path w="406400" h="0">
                <a:moveTo>
                  <a:pt x="0" y="0"/>
                </a:moveTo>
                <a:lnTo>
                  <a:pt x="406018" y="1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774420" y="4806670"/>
            <a:ext cx="175260" cy="213995"/>
          </a:xfrm>
          <a:custGeom>
            <a:avLst/>
            <a:gdLst/>
            <a:ahLst/>
            <a:cxnLst/>
            <a:rect l="l" t="t" r="r" b="b"/>
            <a:pathLst>
              <a:path w="175260" h="213995">
                <a:moveTo>
                  <a:pt x="174846" y="213571"/>
                </a:moveTo>
                <a:lnTo>
                  <a:pt x="0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350995" y="4994937"/>
            <a:ext cx="168275" cy="173355"/>
          </a:xfrm>
          <a:custGeom>
            <a:avLst/>
            <a:gdLst/>
            <a:ahLst/>
            <a:cxnLst/>
            <a:rect l="l" t="t" r="r" b="b"/>
            <a:pathLst>
              <a:path w="168275" h="173354">
                <a:moveTo>
                  <a:pt x="83847" y="0"/>
                </a:moveTo>
                <a:lnTo>
                  <a:pt x="51210" y="6789"/>
                </a:lnTo>
                <a:lnTo>
                  <a:pt x="24558" y="25303"/>
                </a:lnTo>
                <a:lnTo>
                  <a:pt x="6589" y="52764"/>
                </a:lnTo>
                <a:lnTo>
                  <a:pt x="0" y="86391"/>
                </a:lnTo>
                <a:lnTo>
                  <a:pt x="6589" y="120019"/>
                </a:lnTo>
                <a:lnTo>
                  <a:pt x="24558" y="147479"/>
                </a:lnTo>
                <a:lnTo>
                  <a:pt x="51210" y="165993"/>
                </a:lnTo>
                <a:lnTo>
                  <a:pt x="83847" y="172782"/>
                </a:lnTo>
                <a:lnTo>
                  <a:pt x="116485" y="165993"/>
                </a:lnTo>
                <a:lnTo>
                  <a:pt x="143137" y="147479"/>
                </a:lnTo>
                <a:lnTo>
                  <a:pt x="161106" y="120019"/>
                </a:lnTo>
                <a:lnTo>
                  <a:pt x="167695" y="86391"/>
                </a:lnTo>
                <a:lnTo>
                  <a:pt x="161106" y="52764"/>
                </a:lnTo>
                <a:lnTo>
                  <a:pt x="143137" y="25303"/>
                </a:lnTo>
                <a:lnTo>
                  <a:pt x="116485" y="6789"/>
                </a:lnTo>
                <a:lnTo>
                  <a:pt x="83847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629135" y="4656976"/>
            <a:ext cx="170815" cy="175895"/>
          </a:xfrm>
          <a:custGeom>
            <a:avLst/>
            <a:gdLst/>
            <a:ahLst/>
            <a:cxnLst/>
            <a:rect l="l" t="t" r="r" b="b"/>
            <a:pathLst>
              <a:path w="170814" h="175895">
                <a:moveTo>
                  <a:pt x="85106" y="0"/>
                </a:moveTo>
                <a:lnTo>
                  <a:pt x="51978" y="6891"/>
                </a:lnTo>
                <a:lnTo>
                  <a:pt x="24926" y="25683"/>
                </a:lnTo>
                <a:lnTo>
                  <a:pt x="6687" y="53556"/>
                </a:lnTo>
                <a:lnTo>
                  <a:pt x="0" y="87688"/>
                </a:lnTo>
                <a:lnTo>
                  <a:pt x="6687" y="121820"/>
                </a:lnTo>
                <a:lnTo>
                  <a:pt x="24926" y="149693"/>
                </a:lnTo>
                <a:lnTo>
                  <a:pt x="51978" y="168485"/>
                </a:lnTo>
                <a:lnTo>
                  <a:pt x="85106" y="175376"/>
                </a:lnTo>
                <a:lnTo>
                  <a:pt x="118233" y="168485"/>
                </a:lnTo>
                <a:lnTo>
                  <a:pt x="145285" y="149693"/>
                </a:lnTo>
                <a:lnTo>
                  <a:pt x="163524" y="121820"/>
                </a:lnTo>
                <a:lnTo>
                  <a:pt x="170213" y="87688"/>
                </a:lnTo>
                <a:lnTo>
                  <a:pt x="163524" y="53556"/>
                </a:lnTo>
                <a:lnTo>
                  <a:pt x="145285" y="25683"/>
                </a:lnTo>
                <a:lnTo>
                  <a:pt x="118233" y="6891"/>
                </a:lnTo>
                <a:lnTo>
                  <a:pt x="85106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3078004" y="4239259"/>
            <a:ext cx="18802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Example Query</a:t>
            </a:r>
            <a:r>
              <a:rPr dirty="0" sz="1800" spc="-9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70C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3734446" y="5142417"/>
            <a:ext cx="215265" cy="305435"/>
          </a:xfrm>
          <a:custGeom>
            <a:avLst/>
            <a:gdLst/>
            <a:ahLst/>
            <a:cxnLst/>
            <a:rect l="l" t="t" r="r" b="b"/>
            <a:pathLst>
              <a:path w="215264" h="305435">
                <a:moveTo>
                  <a:pt x="0" y="305119"/>
                </a:moveTo>
                <a:lnTo>
                  <a:pt x="214822" y="0"/>
                </a:lnTo>
              </a:path>
            </a:pathLst>
          </a:custGeom>
          <a:ln w="50800">
            <a:solidFill>
              <a:srgbClr val="3434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100516" y="5117316"/>
            <a:ext cx="521970" cy="170815"/>
          </a:xfrm>
          <a:custGeom>
            <a:avLst/>
            <a:gdLst/>
            <a:ahLst/>
            <a:cxnLst/>
            <a:rect l="l" t="t" r="r" b="b"/>
            <a:pathLst>
              <a:path w="521970" h="170814">
                <a:moveTo>
                  <a:pt x="121217" y="42975"/>
                </a:moveTo>
                <a:lnTo>
                  <a:pt x="99534" y="64462"/>
                </a:lnTo>
                <a:lnTo>
                  <a:pt x="111029" y="92743"/>
                </a:lnTo>
                <a:lnTo>
                  <a:pt x="491491" y="170637"/>
                </a:lnTo>
                <a:lnTo>
                  <a:pt x="501578" y="170665"/>
                </a:lnTo>
                <a:lnTo>
                  <a:pt x="510579" y="166951"/>
                </a:lnTo>
                <a:lnTo>
                  <a:pt x="517532" y="160133"/>
                </a:lnTo>
                <a:lnTo>
                  <a:pt x="521470" y="150848"/>
                </a:lnTo>
                <a:lnTo>
                  <a:pt x="521498" y="140761"/>
                </a:lnTo>
                <a:lnTo>
                  <a:pt x="517784" y="131760"/>
                </a:lnTo>
                <a:lnTo>
                  <a:pt x="510966" y="124808"/>
                </a:lnTo>
                <a:lnTo>
                  <a:pt x="501680" y="120869"/>
                </a:lnTo>
                <a:lnTo>
                  <a:pt x="121217" y="42975"/>
                </a:lnTo>
                <a:close/>
              </a:path>
              <a:path w="521970" h="170814">
                <a:moveTo>
                  <a:pt x="164585" y="0"/>
                </a:moveTo>
                <a:lnTo>
                  <a:pt x="0" y="44084"/>
                </a:lnTo>
                <a:lnTo>
                  <a:pt x="134018" y="149303"/>
                </a:lnTo>
                <a:lnTo>
                  <a:pt x="111029" y="92743"/>
                </a:lnTo>
                <a:lnTo>
                  <a:pt x="94439" y="89347"/>
                </a:lnTo>
                <a:lnTo>
                  <a:pt x="85154" y="85408"/>
                </a:lnTo>
                <a:lnTo>
                  <a:pt x="78336" y="78455"/>
                </a:lnTo>
                <a:lnTo>
                  <a:pt x="74623" y="69454"/>
                </a:lnTo>
                <a:lnTo>
                  <a:pt x="74650" y="59368"/>
                </a:lnTo>
                <a:lnTo>
                  <a:pt x="78589" y="50082"/>
                </a:lnTo>
                <a:lnTo>
                  <a:pt x="85541" y="43264"/>
                </a:lnTo>
                <a:lnTo>
                  <a:pt x="94542" y="39551"/>
                </a:lnTo>
                <a:lnTo>
                  <a:pt x="124673" y="39551"/>
                </a:lnTo>
                <a:lnTo>
                  <a:pt x="164585" y="0"/>
                </a:lnTo>
                <a:close/>
              </a:path>
              <a:path w="521970" h="170814">
                <a:moveTo>
                  <a:pt x="94542" y="39551"/>
                </a:moveTo>
                <a:lnTo>
                  <a:pt x="85541" y="43264"/>
                </a:lnTo>
                <a:lnTo>
                  <a:pt x="78589" y="50082"/>
                </a:lnTo>
                <a:lnTo>
                  <a:pt x="74650" y="59368"/>
                </a:lnTo>
                <a:lnTo>
                  <a:pt x="74623" y="69454"/>
                </a:lnTo>
                <a:lnTo>
                  <a:pt x="78336" y="78455"/>
                </a:lnTo>
                <a:lnTo>
                  <a:pt x="85154" y="85408"/>
                </a:lnTo>
                <a:lnTo>
                  <a:pt x="94439" y="89347"/>
                </a:lnTo>
                <a:lnTo>
                  <a:pt x="111029" y="92743"/>
                </a:lnTo>
                <a:lnTo>
                  <a:pt x="99534" y="64462"/>
                </a:lnTo>
                <a:lnTo>
                  <a:pt x="121217" y="42975"/>
                </a:lnTo>
                <a:lnTo>
                  <a:pt x="104628" y="39579"/>
                </a:lnTo>
                <a:lnTo>
                  <a:pt x="94542" y="39551"/>
                </a:lnTo>
                <a:close/>
              </a:path>
              <a:path w="521970" h="170814">
                <a:moveTo>
                  <a:pt x="124673" y="39551"/>
                </a:moveTo>
                <a:lnTo>
                  <a:pt x="94542" y="39551"/>
                </a:lnTo>
                <a:lnTo>
                  <a:pt x="104628" y="39579"/>
                </a:lnTo>
                <a:lnTo>
                  <a:pt x="121217" y="42975"/>
                </a:lnTo>
                <a:lnTo>
                  <a:pt x="124673" y="39551"/>
                </a:lnTo>
                <a:close/>
              </a:path>
            </a:pathLst>
          </a:custGeom>
          <a:solidFill>
            <a:srgbClr val="343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924708" y="4994937"/>
            <a:ext cx="168275" cy="173355"/>
          </a:xfrm>
          <a:custGeom>
            <a:avLst/>
            <a:gdLst/>
            <a:ahLst/>
            <a:cxnLst/>
            <a:rect l="l" t="t" r="r" b="b"/>
            <a:pathLst>
              <a:path w="168275" h="173354">
                <a:moveTo>
                  <a:pt x="83847" y="0"/>
                </a:moveTo>
                <a:lnTo>
                  <a:pt x="51210" y="6789"/>
                </a:lnTo>
                <a:lnTo>
                  <a:pt x="24558" y="25303"/>
                </a:lnTo>
                <a:lnTo>
                  <a:pt x="6589" y="52764"/>
                </a:lnTo>
                <a:lnTo>
                  <a:pt x="0" y="86391"/>
                </a:lnTo>
                <a:lnTo>
                  <a:pt x="6589" y="120019"/>
                </a:lnTo>
                <a:lnTo>
                  <a:pt x="24558" y="147479"/>
                </a:lnTo>
                <a:lnTo>
                  <a:pt x="51210" y="165993"/>
                </a:lnTo>
                <a:lnTo>
                  <a:pt x="83847" y="172782"/>
                </a:lnTo>
                <a:lnTo>
                  <a:pt x="116485" y="165993"/>
                </a:lnTo>
                <a:lnTo>
                  <a:pt x="143137" y="147479"/>
                </a:lnTo>
                <a:lnTo>
                  <a:pt x="161106" y="120019"/>
                </a:lnTo>
                <a:lnTo>
                  <a:pt x="167695" y="86391"/>
                </a:lnTo>
                <a:lnTo>
                  <a:pt x="161106" y="52764"/>
                </a:lnTo>
                <a:lnTo>
                  <a:pt x="143137" y="25303"/>
                </a:lnTo>
                <a:lnTo>
                  <a:pt x="116485" y="6789"/>
                </a:lnTo>
                <a:lnTo>
                  <a:pt x="83847" y="0"/>
                </a:lnTo>
                <a:close/>
              </a:path>
            </a:pathLst>
          </a:custGeom>
          <a:solidFill>
            <a:srgbClr val="B48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652179" y="5447536"/>
            <a:ext cx="165100" cy="169545"/>
          </a:xfrm>
          <a:custGeom>
            <a:avLst/>
            <a:gdLst/>
            <a:ahLst/>
            <a:cxnLst/>
            <a:rect l="l" t="t" r="r" b="b"/>
            <a:pathLst>
              <a:path w="165100" h="169545">
                <a:moveTo>
                  <a:pt x="82266" y="0"/>
                </a:moveTo>
                <a:lnTo>
                  <a:pt x="50245" y="6660"/>
                </a:lnTo>
                <a:lnTo>
                  <a:pt x="24095" y="24825"/>
                </a:lnTo>
                <a:lnTo>
                  <a:pt x="6464" y="51768"/>
                </a:lnTo>
                <a:lnTo>
                  <a:pt x="0" y="84761"/>
                </a:lnTo>
                <a:lnTo>
                  <a:pt x="6464" y="117754"/>
                </a:lnTo>
                <a:lnTo>
                  <a:pt x="24095" y="144697"/>
                </a:lnTo>
                <a:lnTo>
                  <a:pt x="50245" y="162862"/>
                </a:lnTo>
                <a:lnTo>
                  <a:pt x="82266" y="169523"/>
                </a:lnTo>
                <a:lnTo>
                  <a:pt x="114288" y="162862"/>
                </a:lnTo>
                <a:lnTo>
                  <a:pt x="140437" y="144697"/>
                </a:lnTo>
                <a:lnTo>
                  <a:pt x="158067" y="117754"/>
                </a:lnTo>
                <a:lnTo>
                  <a:pt x="164532" y="84761"/>
                </a:lnTo>
                <a:lnTo>
                  <a:pt x="158067" y="51768"/>
                </a:lnTo>
                <a:lnTo>
                  <a:pt x="140437" y="24825"/>
                </a:lnTo>
                <a:lnTo>
                  <a:pt x="114288" y="6660"/>
                </a:lnTo>
                <a:lnTo>
                  <a:pt x="82266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7787189" y="3613678"/>
            <a:ext cx="168275" cy="173355"/>
          </a:xfrm>
          <a:custGeom>
            <a:avLst/>
            <a:gdLst/>
            <a:ahLst/>
            <a:cxnLst/>
            <a:rect l="l" t="t" r="r" b="b"/>
            <a:pathLst>
              <a:path w="168275" h="173354">
                <a:moveTo>
                  <a:pt x="83847" y="0"/>
                </a:moveTo>
                <a:lnTo>
                  <a:pt x="51210" y="6789"/>
                </a:lnTo>
                <a:lnTo>
                  <a:pt x="24558" y="25303"/>
                </a:lnTo>
                <a:lnTo>
                  <a:pt x="6589" y="52764"/>
                </a:lnTo>
                <a:lnTo>
                  <a:pt x="0" y="86391"/>
                </a:lnTo>
                <a:lnTo>
                  <a:pt x="6589" y="120019"/>
                </a:lnTo>
                <a:lnTo>
                  <a:pt x="24558" y="147479"/>
                </a:lnTo>
                <a:lnTo>
                  <a:pt x="51210" y="165994"/>
                </a:lnTo>
                <a:lnTo>
                  <a:pt x="83847" y="172783"/>
                </a:lnTo>
                <a:lnTo>
                  <a:pt x="116485" y="165994"/>
                </a:lnTo>
                <a:lnTo>
                  <a:pt x="143137" y="147479"/>
                </a:lnTo>
                <a:lnTo>
                  <a:pt x="161106" y="120019"/>
                </a:lnTo>
                <a:lnTo>
                  <a:pt x="167695" y="86391"/>
                </a:lnTo>
                <a:lnTo>
                  <a:pt x="161106" y="52764"/>
                </a:lnTo>
                <a:lnTo>
                  <a:pt x="143137" y="25303"/>
                </a:lnTo>
                <a:lnTo>
                  <a:pt x="116485" y="6789"/>
                </a:lnTo>
                <a:lnTo>
                  <a:pt x="83847" y="0"/>
                </a:lnTo>
                <a:close/>
              </a:path>
            </a:pathLst>
          </a:custGeom>
          <a:solidFill>
            <a:srgbClr val="B48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653250" y="3689958"/>
            <a:ext cx="1111250" cy="31750"/>
          </a:xfrm>
          <a:custGeom>
            <a:avLst/>
            <a:gdLst/>
            <a:ahLst/>
            <a:cxnLst/>
            <a:rect l="l" t="t" r="r" b="b"/>
            <a:pathLst>
              <a:path w="1111250" h="31750">
                <a:moveTo>
                  <a:pt x="88141" y="0"/>
                </a:moveTo>
                <a:lnTo>
                  <a:pt x="7106" y="0"/>
                </a:lnTo>
                <a:lnTo>
                  <a:pt x="0" y="7106"/>
                </a:lnTo>
                <a:lnTo>
                  <a:pt x="0" y="24641"/>
                </a:lnTo>
                <a:lnTo>
                  <a:pt x="7106" y="31749"/>
                </a:lnTo>
                <a:lnTo>
                  <a:pt x="88141" y="31749"/>
                </a:lnTo>
                <a:lnTo>
                  <a:pt x="95250" y="24641"/>
                </a:lnTo>
                <a:lnTo>
                  <a:pt x="95250" y="7106"/>
                </a:lnTo>
                <a:lnTo>
                  <a:pt x="88141" y="0"/>
                </a:lnTo>
                <a:close/>
              </a:path>
              <a:path w="1111250" h="31750">
                <a:moveTo>
                  <a:pt x="215141" y="0"/>
                </a:moveTo>
                <a:lnTo>
                  <a:pt x="134106" y="0"/>
                </a:lnTo>
                <a:lnTo>
                  <a:pt x="127000" y="7106"/>
                </a:lnTo>
                <a:lnTo>
                  <a:pt x="127000" y="24641"/>
                </a:lnTo>
                <a:lnTo>
                  <a:pt x="134106" y="31749"/>
                </a:lnTo>
                <a:lnTo>
                  <a:pt x="215141" y="31749"/>
                </a:lnTo>
                <a:lnTo>
                  <a:pt x="222250" y="24641"/>
                </a:lnTo>
                <a:lnTo>
                  <a:pt x="222250" y="7106"/>
                </a:lnTo>
                <a:lnTo>
                  <a:pt x="215141" y="0"/>
                </a:lnTo>
                <a:close/>
              </a:path>
              <a:path w="1111250" h="31750">
                <a:moveTo>
                  <a:pt x="342141" y="0"/>
                </a:moveTo>
                <a:lnTo>
                  <a:pt x="261106" y="0"/>
                </a:lnTo>
                <a:lnTo>
                  <a:pt x="254000" y="7106"/>
                </a:lnTo>
                <a:lnTo>
                  <a:pt x="254000" y="24641"/>
                </a:lnTo>
                <a:lnTo>
                  <a:pt x="261106" y="31749"/>
                </a:lnTo>
                <a:lnTo>
                  <a:pt x="342141" y="31749"/>
                </a:lnTo>
                <a:lnTo>
                  <a:pt x="349250" y="24641"/>
                </a:lnTo>
                <a:lnTo>
                  <a:pt x="349250" y="7106"/>
                </a:lnTo>
                <a:lnTo>
                  <a:pt x="342141" y="0"/>
                </a:lnTo>
                <a:close/>
              </a:path>
              <a:path w="1111250" h="31750">
                <a:moveTo>
                  <a:pt x="469141" y="0"/>
                </a:moveTo>
                <a:lnTo>
                  <a:pt x="388106" y="0"/>
                </a:lnTo>
                <a:lnTo>
                  <a:pt x="381000" y="7106"/>
                </a:lnTo>
                <a:lnTo>
                  <a:pt x="381001" y="24643"/>
                </a:lnTo>
                <a:lnTo>
                  <a:pt x="388106" y="31749"/>
                </a:lnTo>
                <a:lnTo>
                  <a:pt x="469141" y="31749"/>
                </a:lnTo>
                <a:lnTo>
                  <a:pt x="476250" y="24643"/>
                </a:lnTo>
                <a:lnTo>
                  <a:pt x="476250" y="7106"/>
                </a:lnTo>
                <a:lnTo>
                  <a:pt x="469141" y="0"/>
                </a:lnTo>
                <a:close/>
              </a:path>
              <a:path w="1111250" h="31750">
                <a:moveTo>
                  <a:pt x="596141" y="0"/>
                </a:moveTo>
                <a:lnTo>
                  <a:pt x="515106" y="0"/>
                </a:lnTo>
                <a:lnTo>
                  <a:pt x="508000" y="7106"/>
                </a:lnTo>
                <a:lnTo>
                  <a:pt x="508000" y="24643"/>
                </a:lnTo>
                <a:lnTo>
                  <a:pt x="515106" y="31749"/>
                </a:lnTo>
                <a:lnTo>
                  <a:pt x="596141" y="31749"/>
                </a:lnTo>
                <a:lnTo>
                  <a:pt x="603250" y="24643"/>
                </a:lnTo>
                <a:lnTo>
                  <a:pt x="603248" y="7106"/>
                </a:lnTo>
                <a:lnTo>
                  <a:pt x="596141" y="0"/>
                </a:lnTo>
                <a:close/>
              </a:path>
              <a:path w="1111250" h="31750">
                <a:moveTo>
                  <a:pt x="723141" y="0"/>
                </a:moveTo>
                <a:lnTo>
                  <a:pt x="642106" y="0"/>
                </a:lnTo>
                <a:lnTo>
                  <a:pt x="635000" y="7108"/>
                </a:lnTo>
                <a:lnTo>
                  <a:pt x="635000" y="24643"/>
                </a:lnTo>
                <a:lnTo>
                  <a:pt x="642106" y="31749"/>
                </a:lnTo>
                <a:lnTo>
                  <a:pt x="723141" y="31749"/>
                </a:lnTo>
                <a:lnTo>
                  <a:pt x="730250" y="24643"/>
                </a:lnTo>
                <a:lnTo>
                  <a:pt x="730250" y="7108"/>
                </a:lnTo>
                <a:lnTo>
                  <a:pt x="723141" y="0"/>
                </a:lnTo>
                <a:close/>
              </a:path>
              <a:path w="1111250" h="31750">
                <a:moveTo>
                  <a:pt x="850141" y="0"/>
                </a:moveTo>
                <a:lnTo>
                  <a:pt x="769106" y="0"/>
                </a:lnTo>
                <a:lnTo>
                  <a:pt x="762000" y="7108"/>
                </a:lnTo>
                <a:lnTo>
                  <a:pt x="762000" y="24643"/>
                </a:lnTo>
                <a:lnTo>
                  <a:pt x="769106" y="31749"/>
                </a:lnTo>
                <a:lnTo>
                  <a:pt x="850141" y="31749"/>
                </a:lnTo>
                <a:lnTo>
                  <a:pt x="857250" y="24643"/>
                </a:lnTo>
                <a:lnTo>
                  <a:pt x="857250" y="7108"/>
                </a:lnTo>
                <a:lnTo>
                  <a:pt x="850141" y="0"/>
                </a:lnTo>
                <a:close/>
              </a:path>
              <a:path w="1111250" h="31750">
                <a:moveTo>
                  <a:pt x="977141" y="0"/>
                </a:moveTo>
                <a:lnTo>
                  <a:pt x="896106" y="0"/>
                </a:lnTo>
                <a:lnTo>
                  <a:pt x="889000" y="7108"/>
                </a:lnTo>
                <a:lnTo>
                  <a:pt x="889000" y="24643"/>
                </a:lnTo>
                <a:lnTo>
                  <a:pt x="896106" y="31749"/>
                </a:lnTo>
                <a:lnTo>
                  <a:pt x="977141" y="31749"/>
                </a:lnTo>
                <a:lnTo>
                  <a:pt x="984250" y="24643"/>
                </a:lnTo>
                <a:lnTo>
                  <a:pt x="984250" y="7108"/>
                </a:lnTo>
                <a:lnTo>
                  <a:pt x="977141" y="0"/>
                </a:lnTo>
                <a:close/>
              </a:path>
              <a:path w="1111250" h="31750">
                <a:moveTo>
                  <a:pt x="1104141" y="0"/>
                </a:moveTo>
                <a:lnTo>
                  <a:pt x="1023106" y="0"/>
                </a:lnTo>
                <a:lnTo>
                  <a:pt x="1016000" y="7108"/>
                </a:lnTo>
                <a:lnTo>
                  <a:pt x="1016000" y="24643"/>
                </a:lnTo>
                <a:lnTo>
                  <a:pt x="1023106" y="31749"/>
                </a:lnTo>
                <a:lnTo>
                  <a:pt x="1104141" y="31749"/>
                </a:lnTo>
                <a:lnTo>
                  <a:pt x="1111250" y="24643"/>
                </a:lnTo>
                <a:lnTo>
                  <a:pt x="1111250" y="7108"/>
                </a:lnTo>
                <a:lnTo>
                  <a:pt x="1104141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272358" y="5762061"/>
            <a:ext cx="168275" cy="173355"/>
          </a:xfrm>
          <a:custGeom>
            <a:avLst/>
            <a:gdLst/>
            <a:ahLst/>
            <a:cxnLst/>
            <a:rect l="l" t="t" r="r" b="b"/>
            <a:pathLst>
              <a:path w="168275" h="173354">
                <a:moveTo>
                  <a:pt x="83847" y="0"/>
                </a:moveTo>
                <a:lnTo>
                  <a:pt x="51210" y="6789"/>
                </a:lnTo>
                <a:lnTo>
                  <a:pt x="24558" y="25303"/>
                </a:lnTo>
                <a:lnTo>
                  <a:pt x="6589" y="52764"/>
                </a:lnTo>
                <a:lnTo>
                  <a:pt x="0" y="86391"/>
                </a:lnTo>
                <a:lnTo>
                  <a:pt x="6589" y="120018"/>
                </a:lnTo>
                <a:lnTo>
                  <a:pt x="24558" y="147479"/>
                </a:lnTo>
                <a:lnTo>
                  <a:pt x="51210" y="165993"/>
                </a:lnTo>
                <a:lnTo>
                  <a:pt x="83847" y="172782"/>
                </a:lnTo>
                <a:lnTo>
                  <a:pt x="116485" y="165993"/>
                </a:lnTo>
                <a:lnTo>
                  <a:pt x="143137" y="147479"/>
                </a:lnTo>
                <a:lnTo>
                  <a:pt x="161106" y="120018"/>
                </a:lnTo>
                <a:lnTo>
                  <a:pt x="167695" y="86391"/>
                </a:lnTo>
                <a:lnTo>
                  <a:pt x="161106" y="52764"/>
                </a:lnTo>
                <a:lnTo>
                  <a:pt x="143137" y="25303"/>
                </a:lnTo>
                <a:lnTo>
                  <a:pt x="116485" y="6789"/>
                </a:lnTo>
                <a:lnTo>
                  <a:pt x="83847" y="0"/>
                </a:lnTo>
                <a:close/>
              </a:path>
            </a:pathLst>
          </a:custGeom>
          <a:solidFill>
            <a:srgbClr val="B48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745819" y="5771191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40" h="154939">
                <a:moveTo>
                  <a:pt x="0" y="0"/>
                </a:moveTo>
                <a:lnTo>
                  <a:pt x="154520" y="0"/>
                </a:lnTo>
                <a:lnTo>
                  <a:pt x="154520" y="154522"/>
                </a:lnTo>
                <a:lnTo>
                  <a:pt x="0" y="15452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4262135" y="3376676"/>
            <a:ext cx="1758314" cy="571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ts val="215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2060"/>
                </a:solidFill>
                <a:latin typeface="Arial"/>
                <a:cs typeface="Arial"/>
              </a:rPr>
              <a:t>GNN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50"/>
              </a:lnSpc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Anchor</a:t>
            </a:r>
            <a:endParaRPr sz="1800">
              <a:latin typeface="Arial"/>
              <a:cs typeface="Arial"/>
            </a:endParaRPr>
          </a:p>
        </p:txBody>
      </p:sp>
      <p:sp>
        <p:nvSpPr>
          <p:cNvPr id="76" name="object 7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77" name="object 7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78" name="object 7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744321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515859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 b="1">
                <a:latin typeface="Calibri"/>
                <a:cs typeface="Calibri"/>
              </a:rPr>
              <a:t>Subgraph </a:t>
            </a:r>
            <a:r>
              <a:rPr dirty="0" spc="-5" b="1">
                <a:latin typeface="Calibri"/>
                <a:cs typeface="Calibri"/>
              </a:rPr>
              <a:t>isomorphism </a:t>
            </a:r>
            <a:r>
              <a:rPr dirty="0" spc="-10" b="1">
                <a:latin typeface="Calibri"/>
                <a:cs typeface="Calibri"/>
              </a:rPr>
              <a:t>relationship </a:t>
            </a:r>
            <a:r>
              <a:rPr dirty="0" spc="-10"/>
              <a:t>can </a:t>
            </a:r>
            <a:r>
              <a:rPr dirty="0"/>
              <a:t>be  </a:t>
            </a:r>
            <a:r>
              <a:rPr dirty="0" spc="-5"/>
              <a:t>nicely </a:t>
            </a:r>
            <a:r>
              <a:rPr dirty="0" spc="-10"/>
              <a:t>encoded </a:t>
            </a:r>
            <a:r>
              <a:rPr dirty="0"/>
              <a:t>in </a:t>
            </a:r>
            <a:r>
              <a:rPr dirty="0" spc="-10" b="1">
                <a:latin typeface="Calibri"/>
                <a:cs typeface="Calibri"/>
              </a:rPr>
              <a:t>order </a:t>
            </a:r>
            <a:r>
              <a:rPr dirty="0" spc="-5" b="1">
                <a:latin typeface="Calibri"/>
                <a:cs typeface="Calibri"/>
              </a:rPr>
              <a:t>embedding</a:t>
            </a:r>
            <a:r>
              <a:rPr dirty="0" spc="5" b="1">
                <a:latin typeface="Calibri"/>
                <a:cs typeface="Calibri"/>
              </a:rPr>
              <a:t> </a:t>
            </a:r>
            <a:r>
              <a:rPr dirty="0" spc="-5" b="1">
                <a:latin typeface="Calibri"/>
                <a:cs typeface="Calibri"/>
              </a:rPr>
              <a:t>space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956563" y="2414523"/>
            <a:ext cx="7606665" cy="369252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87020" marR="949960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0" b="1">
                <a:solidFill>
                  <a:srgbClr val="D60093"/>
                </a:solidFill>
                <a:latin typeface="Calibri"/>
                <a:cs typeface="Calibri"/>
              </a:rPr>
              <a:t>Transitivity</a:t>
            </a:r>
            <a:r>
              <a:rPr dirty="0" sz="2800" spc="-20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if </a:t>
            </a:r>
            <a:r>
              <a:rPr dirty="0" sz="2800" spc="-55">
                <a:latin typeface="Cambria Math"/>
                <a:cs typeface="Cambria Math"/>
              </a:rPr>
              <a:t>𝐺</a:t>
            </a:r>
            <a:r>
              <a:rPr dirty="0" baseline="-16666" sz="3000" spc="-82">
                <a:latin typeface="Cambria Math"/>
                <a:cs typeface="Cambria Math"/>
              </a:rPr>
              <a:t>0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subgraph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15">
                <a:latin typeface="Cambria Math"/>
                <a:cs typeface="Cambria Math"/>
              </a:rPr>
              <a:t>𝐺</a:t>
            </a:r>
            <a:r>
              <a:rPr dirty="0" baseline="-16666" sz="3000" spc="22">
                <a:latin typeface="Cambria Math"/>
                <a:cs typeface="Cambria Math"/>
              </a:rPr>
              <a:t>1</a:t>
            </a:r>
            <a:r>
              <a:rPr dirty="0" sz="2800" spc="15">
                <a:latin typeface="Calibri"/>
                <a:cs typeface="Calibri"/>
              </a:rPr>
              <a:t>, </a:t>
            </a:r>
            <a:r>
              <a:rPr dirty="0" sz="2800" spc="-20">
                <a:latin typeface="Cambria Math"/>
                <a:cs typeface="Cambria Math"/>
              </a:rPr>
              <a:t>𝐺</a:t>
            </a:r>
            <a:r>
              <a:rPr dirty="0" baseline="-16666" sz="3000" spc="-30">
                <a:latin typeface="Cambria Math"/>
                <a:cs typeface="Cambria Math"/>
              </a:rPr>
              <a:t>1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90">
                <a:latin typeface="Calibri"/>
                <a:cs typeface="Calibri"/>
              </a:rPr>
              <a:t>a  </a:t>
            </a:r>
            <a:r>
              <a:rPr dirty="0" sz="2800" spc="-10">
                <a:latin typeface="Calibri"/>
                <a:cs typeface="Calibri"/>
              </a:rPr>
              <a:t>subgraph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15">
                <a:latin typeface="Cambria Math"/>
                <a:cs typeface="Cambria Math"/>
              </a:rPr>
              <a:t>𝐺</a:t>
            </a:r>
            <a:r>
              <a:rPr dirty="0" baseline="-16666" sz="3000" spc="22">
                <a:latin typeface="Cambria Math"/>
                <a:cs typeface="Cambria Math"/>
              </a:rPr>
              <a:t>2</a:t>
            </a:r>
            <a:r>
              <a:rPr dirty="0" sz="2800" spc="15">
                <a:latin typeface="Calibri"/>
                <a:cs typeface="Calibri"/>
              </a:rPr>
              <a:t>, </a:t>
            </a:r>
            <a:r>
              <a:rPr dirty="0" sz="2800" spc="-5">
                <a:latin typeface="Calibri"/>
                <a:cs typeface="Calibri"/>
              </a:rPr>
              <a:t>then </a:t>
            </a:r>
            <a:r>
              <a:rPr dirty="0" sz="2800" spc="-55">
                <a:latin typeface="Cambria Math"/>
                <a:cs typeface="Cambria Math"/>
              </a:rPr>
              <a:t>𝐺</a:t>
            </a:r>
            <a:r>
              <a:rPr dirty="0" baseline="-16666" sz="3000" spc="-82">
                <a:latin typeface="Cambria Math"/>
                <a:cs typeface="Cambria Math"/>
              </a:rPr>
              <a:t>0 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subgraph </a:t>
            </a:r>
            <a:r>
              <a:rPr dirty="0" sz="2800" spc="-5">
                <a:latin typeface="Calibri"/>
                <a:cs typeface="Calibri"/>
              </a:rPr>
              <a:t>of</a:t>
            </a:r>
            <a:r>
              <a:rPr dirty="0" sz="2800" spc="-225">
                <a:latin typeface="Calibri"/>
                <a:cs typeface="Calibri"/>
              </a:rPr>
              <a:t> </a:t>
            </a:r>
            <a:r>
              <a:rPr dirty="0" sz="2800" spc="-20">
                <a:latin typeface="Cambria Math"/>
                <a:cs typeface="Cambria Math"/>
              </a:rPr>
              <a:t>𝐺</a:t>
            </a:r>
            <a:r>
              <a:rPr dirty="0" baseline="-16666" sz="3000" spc="-30">
                <a:latin typeface="Cambria Math"/>
                <a:cs typeface="Cambria Math"/>
              </a:rPr>
              <a:t>2</a:t>
            </a:r>
            <a:endParaRPr baseline="-16666" sz="3000">
              <a:latin typeface="Cambria Math"/>
              <a:cs typeface="Cambria Math"/>
            </a:endParaRPr>
          </a:p>
          <a:p>
            <a:pPr marL="287020" marR="5080" indent="-274320">
              <a:lnSpc>
                <a:spcPts val="3290"/>
              </a:lnSpc>
              <a:spcBef>
                <a:spcPts val="80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Anti-symmetry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if </a:t>
            </a:r>
            <a:r>
              <a:rPr dirty="0" sz="2800" spc="-55">
                <a:latin typeface="Cambria Math"/>
                <a:cs typeface="Cambria Math"/>
              </a:rPr>
              <a:t>𝐺</a:t>
            </a:r>
            <a:r>
              <a:rPr dirty="0" baseline="-15277" sz="3000" spc="-82">
                <a:latin typeface="Cambria Math"/>
                <a:cs typeface="Cambria Math"/>
              </a:rPr>
              <a:t>0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subgraph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15">
                <a:latin typeface="Cambria Math"/>
                <a:cs typeface="Cambria Math"/>
              </a:rPr>
              <a:t>𝐺</a:t>
            </a:r>
            <a:r>
              <a:rPr dirty="0" baseline="-15277" sz="3000" spc="22">
                <a:latin typeface="Cambria Math"/>
                <a:cs typeface="Cambria Math"/>
              </a:rPr>
              <a:t>1</a:t>
            </a:r>
            <a:r>
              <a:rPr dirty="0" sz="2800" spc="15">
                <a:latin typeface="Calibri"/>
                <a:cs typeface="Calibri"/>
              </a:rPr>
              <a:t>,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20">
                <a:latin typeface="Cambria Math"/>
                <a:cs typeface="Cambria Math"/>
              </a:rPr>
              <a:t>𝐺</a:t>
            </a:r>
            <a:r>
              <a:rPr dirty="0" baseline="-15277" sz="3000" spc="-30">
                <a:latin typeface="Cambria Math"/>
                <a:cs typeface="Cambria Math"/>
              </a:rPr>
              <a:t>1 </a:t>
            </a:r>
            <a:r>
              <a:rPr dirty="0" sz="2800" spc="-95">
                <a:latin typeface="Calibri"/>
                <a:cs typeface="Calibri"/>
              </a:rPr>
              <a:t>is 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subgraph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5">
                <a:latin typeface="Cambria Math"/>
                <a:cs typeface="Cambria Math"/>
              </a:rPr>
              <a:t>𝐺</a:t>
            </a:r>
            <a:r>
              <a:rPr dirty="0" baseline="-16666" sz="3000" spc="-7">
                <a:latin typeface="Cambria Math"/>
                <a:cs typeface="Cambria Math"/>
              </a:rPr>
              <a:t>0</a:t>
            </a:r>
            <a:r>
              <a:rPr dirty="0" sz="2800" spc="-5">
                <a:latin typeface="Calibri"/>
                <a:cs typeface="Calibri"/>
              </a:rPr>
              <a:t>, then </a:t>
            </a:r>
            <a:r>
              <a:rPr dirty="0" sz="2800" spc="-55">
                <a:latin typeface="Cambria Math"/>
                <a:cs typeface="Cambria Math"/>
              </a:rPr>
              <a:t>𝐺</a:t>
            </a:r>
            <a:r>
              <a:rPr dirty="0" baseline="-16666" sz="3000" spc="-82">
                <a:latin typeface="Cambria Math"/>
                <a:cs typeface="Cambria Math"/>
              </a:rPr>
              <a:t>0  </a:t>
            </a:r>
            <a:r>
              <a:rPr dirty="0" sz="2800" spc="-5">
                <a:latin typeface="Calibri"/>
                <a:cs typeface="Calibri"/>
              </a:rPr>
              <a:t>is isomorphic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-190">
                <a:latin typeface="Calibri"/>
                <a:cs typeface="Calibri"/>
              </a:rPr>
              <a:t> </a:t>
            </a:r>
            <a:r>
              <a:rPr dirty="0" sz="2800" spc="-20">
                <a:latin typeface="Cambria Math"/>
                <a:cs typeface="Cambria Math"/>
              </a:rPr>
              <a:t>𝐺</a:t>
            </a:r>
            <a:r>
              <a:rPr dirty="0" baseline="-16666" sz="3000" spc="-30">
                <a:latin typeface="Cambria Math"/>
                <a:cs typeface="Cambria Math"/>
              </a:rPr>
              <a:t>1</a:t>
            </a:r>
            <a:endParaRPr baseline="-16666" sz="3000">
              <a:latin typeface="Cambria Math"/>
              <a:cs typeface="Cambria Math"/>
            </a:endParaRPr>
          </a:p>
          <a:p>
            <a:pPr marL="287020" marR="309245" indent="-274320">
              <a:lnSpc>
                <a:spcPts val="3290"/>
              </a:lnSpc>
              <a:spcBef>
                <a:spcPts val="81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Closure </a:t>
            </a: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under </a:t>
            </a: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intersection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the trivial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600">
                <a:latin typeface="Calibri"/>
                <a:cs typeface="Calibri"/>
              </a:rPr>
              <a:t>1  </a:t>
            </a:r>
            <a:r>
              <a:rPr dirty="0" sz="2800" spc="-5">
                <a:latin typeface="Calibri"/>
                <a:cs typeface="Calibri"/>
              </a:rPr>
              <a:t>node is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subgraph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20">
                <a:latin typeface="Calibri"/>
                <a:cs typeface="Calibri"/>
              </a:rPr>
              <a:t>any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graph</a:t>
            </a:r>
            <a:endParaRPr sz="2800">
              <a:latin typeface="Calibri"/>
              <a:cs typeface="Calibri"/>
            </a:endParaRPr>
          </a:p>
          <a:p>
            <a:pPr marL="287020" marR="714375" indent="-274320">
              <a:lnSpc>
                <a:spcPct val="101400"/>
              </a:lnSpc>
              <a:spcBef>
                <a:spcPts val="5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All properties </a:t>
            </a:r>
            <a:r>
              <a:rPr dirty="0" sz="2800" spc="-20" b="1">
                <a:latin typeface="Calibri"/>
                <a:cs typeface="Calibri"/>
              </a:rPr>
              <a:t>have </a:t>
            </a:r>
            <a:r>
              <a:rPr dirty="0" sz="2800" spc="-5" b="1">
                <a:latin typeface="Calibri"/>
                <a:cs typeface="Calibri"/>
              </a:rPr>
              <a:t>their </a:t>
            </a:r>
            <a:r>
              <a:rPr dirty="0" sz="2800" spc="-10" b="1">
                <a:latin typeface="Calibri"/>
                <a:cs typeface="Calibri"/>
              </a:rPr>
              <a:t>counter-parts </a:t>
            </a:r>
            <a:r>
              <a:rPr dirty="0" sz="2800" b="1">
                <a:latin typeface="Calibri"/>
                <a:cs typeface="Calibri"/>
              </a:rPr>
              <a:t>in </a:t>
            </a:r>
            <a:r>
              <a:rPr dirty="0" sz="2800" spc="-135" b="1">
                <a:latin typeface="Calibri"/>
                <a:cs typeface="Calibri"/>
              </a:rPr>
              <a:t>the  </a:t>
            </a:r>
            <a:r>
              <a:rPr dirty="0" sz="2800" spc="-10" b="1">
                <a:latin typeface="Calibri"/>
                <a:cs typeface="Calibri"/>
              </a:rPr>
              <a:t>order </a:t>
            </a:r>
            <a:r>
              <a:rPr dirty="0" sz="2800" spc="-5" b="1">
                <a:latin typeface="Calibri"/>
                <a:cs typeface="Calibri"/>
              </a:rPr>
              <a:t>embedding</a:t>
            </a:r>
            <a:r>
              <a:rPr dirty="0" sz="2800" spc="-40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space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744321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795210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10" b="1">
                <a:latin typeface="Calibri"/>
                <a:cs typeface="Calibri"/>
              </a:rPr>
              <a:t>Subgraph </a:t>
            </a:r>
            <a:r>
              <a:rPr dirty="0" sz="2400" spc="-5" b="1">
                <a:latin typeface="Calibri"/>
                <a:cs typeface="Calibri"/>
              </a:rPr>
              <a:t>isomorphism </a:t>
            </a:r>
            <a:r>
              <a:rPr dirty="0" sz="2400" spc="-10" b="1">
                <a:latin typeface="Calibri"/>
                <a:cs typeface="Calibri"/>
              </a:rPr>
              <a:t>relationship </a:t>
            </a:r>
            <a:r>
              <a:rPr dirty="0" sz="2400" spc="-10"/>
              <a:t>can </a:t>
            </a:r>
            <a:r>
              <a:rPr dirty="0" sz="2400"/>
              <a:t>be </a:t>
            </a:r>
            <a:r>
              <a:rPr dirty="0" sz="2400" spc="-5"/>
              <a:t>nicely encoded </a:t>
            </a:r>
            <a:r>
              <a:rPr dirty="0" sz="2400"/>
              <a:t>in  </a:t>
            </a:r>
            <a:r>
              <a:rPr dirty="0" sz="2400" spc="-10"/>
              <a:t>order </a:t>
            </a:r>
            <a:r>
              <a:rPr dirty="0" sz="2400" spc="-5"/>
              <a:t>embedding</a:t>
            </a:r>
            <a:r>
              <a:rPr dirty="0" sz="2400" spc="-30"/>
              <a:t> </a:t>
            </a:r>
            <a:r>
              <a:rPr dirty="0" sz="2400" spc="-5"/>
              <a:t>space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2160523"/>
            <a:ext cx="28575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2339340" algn="l"/>
                <a:tab pos="2767965" algn="l"/>
              </a:tabLst>
            </a:pPr>
            <a:r>
              <a:rPr dirty="0" sz="2400" spc="-125" b="1">
                <a:solidFill>
                  <a:srgbClr val="D60093"/>
                </a:solidFill>
                <a:latin typeface="Calibri"/>
                <a:cs typeface="Calibri"/>
              </a:rPr>
              <a:t>T</a:t>
            </a:r>
            <a:r>
              <a:rPr dirty="0" sz="2400" spc="-55" b="1">
                <a:solidFill>
                  <a:srgbClr val="D60093"/>
                </a:solidFill>
                <a:latin typeface="Calibri"/>
                <a:cs typeface="Calibri"/>
              </a:rPr>
              <a:t>r</a:t>
            </a:r>
            <a:r>
              <a:rPr dirty="0" sz="2400" b="1">
                <a:solidFill>
                  <a:srgbClr val="D60093"/>
                </a:solidFill>
                <a:latin typeface="Calibri"/>
                <a:cs typeface="Calibri"/>
              </a:rPr>
              <a:t>a</a:t>
            </a:r>
            <a:r>
              <a:rPr dirty="0" sz="2400" spc="-5" b="1">
                <a:solidFill>
                  <a:srgbClr val="D60093"/>
                </a:solidFill>
                <a:latin typeface="Calibri"/>
                <a:cs typeface="Calibri"/>
              </a:rPr>
              <a:t>n</a:t>
            </a:r>
            <a:r>
              <a:rPr dirty="0" sz="2400" spc="0" b="1">
                <a:solidFill>
                  <a:srgbClr val="D60093"/>
                </a:solidFill>
                <a:latin typeface="Calibri"/>
                <a:cs typeface="Calibri"/>
              </a:rPr>
              <a:t>s</a:t>
            </a:r>
            <a:r>
              <a:rPr dirty="0" sz="2400" spc="-5" b="1">
                <a:solidFill>
                  <a:srgbClr val="D60093"/>
                </a:solidFill>
                <a:latin typeface="Calibri"/>
                <a:cs typeface="Calibri"/>
              </a:rPr>
              <a:t>i</a:t>
            </a:r>
            <a:r>
              <a:rPr dirty="0" sz="2400" spc="0" b="1">
                <a:solidFill>
                  <a:srgbClr val="D60093"/>
                </a:solidFill>
                <a:latin typeface="Calibri"/>
                <a:cs typeface="Calibri"/>
              </a:rPr>
              <a:t>t</a:t>
            </a:r>
            <a:r>
              <a:rPr dirty="0" sz="2400" spc="-5" b="1">
                <a:solidFill>
                  <a:srgbClr val="D60093"/>
                </a:solidFill>
                <a:latin typeface="Calibri"/>
                <a:cs typeface="Calibri"/>
              </a:rPr>
              <a:t>i</a:t>
            </a:r>
            <a:r>
              <a:rPr dirty="0" sz="2400" b="1">
                <a:solidFill>
                  <a:srgbClr val="D60093"/>
                </a:solidFill>
                <a:latin typeface="Calibri"/>
                <a:cs typeface="Calibri"/>
              </a:rPr>
              <a:t>v</a:t>
            </a:r>
            <a:r>
              <a:rPr dirty="0" sz="2400" spc="-5" b="1">
                <a:solidFill>
                  <a:srgbClr val="D60093"/>
                </a:solidFill>
                <a:latin typeface="Calibri"/>
                <a:cs typeface="Calibri"/>
              </a:rPr>
              <a:t>i</a:t>
            </a:r>
            <a:r>
              <a:rPr dirty="0" sz="2400" spc="0" b="1">
                <a:solidFill>
                  <a:srgbClr val="D60093"/>
                </a:solidFill>
                <a:latin typeface="Calibri"/>
                <a:cs typeface="Calibri"/>
              </a:rPr>
              <a:t>t</a:t>
            </a:r>
            <a:r>
              <a:rPr dirty="0" sz="2400" spc="-5" b="1">
                <a:solidFill>
                  <a:srgbClr val="D60093"/>
                </a:solidFill>
                <a:latin typeface="Calibri"/>
                <a:cs typeface="Calibri"/>
              </a:rPr>
              <a:t>y</a:t>
            </a:r>
            <a:r>
              <a:rPr dirty="0" sz="2400">
                <a:latin typeface="Calibri"/>
                <a:cs typeface="Calibri"/>
              </a:rPr>
              <a:t>: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i</a:t>
            </a:r>
            <a:r>
              <a:rPr dirty="0" sz="2400">
                <a:latin typeface="Calibri"/>
                <a:cs typeface="Calibri"/>
              </a:rPr>
              <a:t>f	</a:t>
            </a:r>
            <a:r>
              <a:rPr dirty="0" sz="2400">
                <a:latin typeface="Cambria Math"/>
                <a:cs typeface="Cambria Math"/>
              </a:rPr>
              <a:t>≼	</a:t>
            </a:r>
            <a:r>
              <a:rPr dirty="0" sz="2400">
                <a:latin typeface="Calibri"/>
                <a:cs typeface="Calibri"/>
              </a:rPr>
              <a:t>,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2593339"/>
            <a:ext cx="25012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10" b="1">
                <a:solidFill>
                  <a:srgbClr val="D60093"/>
                </a:solidFill>
                <a:latin typeface="Calibri"/>
                <a:cs typeface="Calibri"/>
              </a:rPr>
              <a:t>Anti-symmetry</a:t>
            </a:r>
            <a:r>
              <a:rPr dirty="0" sz="2400" spc="-10">
                <a:latin typeface="Calibri"/>
                <a:cs typeface="Calibri"/>
              </a:rPr>
              <a:t>: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480">
                <a:latin typeface="Calibri"/>
                <a:cs typeface="Calibri"/>
              </a:rPr>
              <a:t>if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73741" y="2093467"/>
            <a:ext cx="1881505" cy="89154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299720">
              <a:lnSpc>
                <a:spcPct val="100000"/>
              </a:lnSpc>
              <a:spcBef>
                <a:spcPts val="625"/>
              </a:spcBef>
              <a:tabLst>
                <a:tab pos="796925" algn="l"/>
                <a:tab pos="1644650" algn="l"/>
              </a:tabLst>
            </a:pPr>
            <a:r>
              <a:rPr dirty="0" sz="2400">
                <a:latin typeface="Cambria Math"/>
                <a:cs typeface="Cambria Math"/>
              </a:rPr>
              <a:t>≼	</a:t>
            </a:r>
            <a:r>
              <a:rPr dirty="0" sz="2400" spc="-5">
                <a:latin typeface="Calibri"/>
                <a:cs typeface="Calibri"/>
              </a:rPr>
              <a:t>t</a:t>
            </a:r>
            <a:r>
              <a:rPr dirty="0" sz="2400">
                <a:latin typeface="Calibri"/>
                <a:cs typeface="Calibri"/>
              </a:rPr>
              <a:t>h</a:t>
            </a:r>
            <a:r>
              <a:rPr dirty="0" sz="2400" spc="0">
                <a:latin typeface="Calibri"/>
                <a:cs typeface="Calibri"/>
              </a:rPr>
              <a:t>e</a:t>
            </a:r>
            <a:r>
              <a:rPr dirty="0" sz="2400">
                <a:latin typeface="Calibri"/>
                <a:cs typeface="Calibri"/>
              </a:rPr>
              <a:t>n	</a:t>
            </a:r>
            <a:r>
              <a:rPr dirty="0" sz="2400">
                <a:latin typeface="Cambria Math"/>
                <a:cs typeface="Cambria Math"/>
              </a:rPr>
              <a:t>≼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  <a:tabLst>
                <a:tab pos="577215" algn="l"/>
              </a:tabLst>
            </a:pPr>
            <a:r>
              <a:rPr dirty="0" sz="2400">
                <a:latin typeface="Cambria Math"/>
                <a:cs typeface="Cambria Math"/>
              </a:rPr>
              <a:t>≼	</a:t>
            </a:r>
            <a:r>
              <a:rPr dirty="0" sz="240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46928" y="2593339"/>
            <a:ext cx="18110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7215" algn="l"/>
                <a:tab pos="1569720" algn="l"/>
              </a:tabLst>
            </a:pPr>
            <a:r>
              <a:rPr dirty="0" sz="2400">
                <a:latin typeface="Cambria Math"/>
                <a:cs typeface="Cambria Math"/>
              </a:rPr>
              <a:t>≼	</a:t>
            </a:r>
            <a:r>
              <a:rPr dirty="0" sz="2400">
                <a:latin typeface="Calibri"/>
                <a:cs typeface="Calibri"/>
              </a:rPr>
              <a:t>,</a:t>
            </a:r>
            <a:r>
              <a:rPr dirty="0" sz="2400" spc="-5">
                <a:latin typeface="Calibri"/>
                <a:cs typeface="Calibri"/>
              </a:rPr>
              <a:t> t</a:t>
            </a:r>
            <a:r>
              <a:rPr dirty="0" sz="2400">
                <a:latin typeface="Calibri"/>
                <a:cs typeface="Calibri"/>
              </a:rPr>
              <a:t>h</a:t>
            </a:r>
            <a:r>
              <a:rPr dirty="0" sz="2400" spc="0">
                <a:latin typeface="Calibri"/>
                <a:cs typeface="Calibri"/>
              </a:rPr>
              <a:t>e</a:t>
            </a:r>
            <a:r>
              <a:rPr dirty="0" sz="2400">
                <a:latin typeface="Calibri"/>
                <a:cs typeface="Calibri"/>
              </a:rPr>
              <a:t>n	</a:t>
            </a:r>
            <a:r>
              <a:rPr dirty="0" sz="240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6563" y="3038348"/>
            <a:ext cx="74942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10" b="1">
                <a:solidFill>
                  <a:srgbClr val="D60093"/>
                </a:solidFill>
                <a:latin typeface="Calibri"/>
                <a:cs typeface="Calibri"/>
              </a:rPr>
              <a:t>Closure </a:t>
            </a:r>
            <a:r>
              <a:rPr dirty="0" sz="2400" spc="-5" b="1">
                <a:solidFill>
                  <a:srgbClr val="D60093"/>
                </a:solidFill>
                <a:latin typeface="Calibri"/>
                <a:cs typeface="Calibri"/>
              </a:rPr>
              <a:t>under </a:t>
            </a:r>
            <a:r>
              <a:rPr dirty="0" sz="2400" spc="-10" b="1">
                <a:solidFill>
                  <a:srgbClr val="D60093"/>
                </a:solidFill>
                <a:latin typeface="Calibri"/>
                <a:cs typeface="Calibri"/>
              </a:rPr>
              <a:t>intersection</a:t>
            </a:r>
            <a:r>
              <a:rPr dirty="0" sz="2400" spc="-10">
                <a:latin typeface="Calibri"/>
                <a:cs typeface="Calibri"/>
              </a:rPr>
              <a:t>: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>
                <a:latin typeface="Calibri"/>
                <a:cs typeface="Calibri"/>
              </a:rPr>
              <a:t>0 </a:t>
            </a:r>
            <a:r>
              <a:rPr dirty="0" sz="2400" spc="-5">
                <a:latin typeface="Calibri"/>
                <a:cs typeface="Calibri"/>
              </a:rPr>
              <a:t>embedding </a:t>
            </a:r>
            <a:r>
              <a:rPr dirty="0" sz="2400" spc="-10">
                <a:latin typeface="Calibri"/>
                <a:cs typeface="Calibri"/>
              </a:rPr>
              <a:t>satisfies </a:t>
            </a:r>
            <a:r>
              <a:rPr dirty="0" sz="2400">
                <a:latin typeface="Cambria Math"/>
                <a:cs typeface="Cambria Math"/>
              </a:rPr>
              <a:t>0</a:t>
            </a:r>
            <a:r>
              <a:rPr dirty="0" sz="2400" spc="160">
                <a:latin typeface="Cambria Math"/>
                <a:cs typeface="Cambria Math"/>
              </a:rPr>
              <a:t> </a:t>
            </a:r>
            <a:r>
              <a:rPr dirty="0" sz="2400" spc="-390">
                <a:latin typeface="Cambria Math"/>
                <a:cs typeface="Cambria Math"/>
              </a:rPr>
              <a:t>≼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0883" y="3407155"/>
            <a:ext cx="3107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latin typeface="Calibri"/>
                <a:cs typeface="Calibri"/>
              </a:rPr>
              <a:t>for </a:t>
            </a:r>
            <a:r>
              <a:rPr dirty="0" sz="2400" spc="-15">
                <a:latin typeface="Calibri"/>
                <a:cs typeface="Calibri"/>
              </a:rPr>
              <a:t>any </a:t>
            </a:r>
            <a:r>
              <a:rPr dirty="0" sz="2400" spc="-10">
                <a:latin typeface="Calibri"/>
                <a:cs typeface="Calibri"/>
              </a:rPr>
              <a:t>order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embedding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53402" y="3407155"/>
            <a:ext cx="35648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Calibri"/>
                <a:cs typeface="Calibri"/>
              </a:rPr>
              <a:t>since all dimensions of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order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0883" y="3772915"/>
            <a:ext cx="3590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Calibri"/>
                <a:cs typeface="Calibri"/>
              </a:rPr>
              <a:t>embedding </a:t>
            </a:r>
            <a:r>
              <a:rPr dirty="0" sz="2400" spc="-15">
                <a:latin typeface="Calibri"/>
                <a:cs typeface="Calibri"/>
              </a:rPr>
              <a:t>are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non-negative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60115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317541" y="2318228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39" h="154939">
                <a:moveTo>
                  <a:pt x="0" y="0"/>
                </a:moveTo>
                <a:lnTo>
                  <a:pt x="154520" y="0"/>
                </a:lnTo>
                <a:lnTo>
                  <a:pt x="154520" y="154522"/>
                </a:lnTo>
                <a:lnTo>
                  <a:pt x="0" y="15452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547292" y="2313175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54596" y="2313175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903353" y="2313175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223953" y="230812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673213" y="2308120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39" h="154939">
                <a:moveTo>
                  <a:pt x="0" y="0"/>
                </a:moveTo>
                <a:lnTo>
                  <a:pt x="154522" y="0"/>
                </a:lnTo>
                <a:lnTo>
                  <a:pt x="154522" y="154522"/>
                </a:lnTo>
                <a:lnTo>
                  <a:pt x="0" y="15452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085794" y="2739049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554233" y="2739049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28" y="0"/>
                </a:lnTo>
                <a:lnTo>
                  <a:pt x="164628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901164" y="2739049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432727" y="2739049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512275" y="2737284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013270" y="2737284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489012" y="3181705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408507" y="3561345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795164" y="431150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203261" y="431150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954288" y="432537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362386" y="4310978"/>
            <a:ext cx="165100" cy="179705"/>
          </a:xfrm>
          <a:custGeom>
            <a:avLst/>
            <a:gdLst/>
            <a:ahLst/>
            <a:cxnLst/>
            <a:rect l="l" t="t" r="r" b="b"/>
            <a:pathLst>
              <a:path w="165100" h="179704">
                <a:moveTo>
                  <a:pt x="0" y="0"/>
                </a:moveTo>
                <a:lnTo>
                  <a:pt x="164628" y="0"/>
                </a:lnTo>
                <a:lnTo>
                  <a:pt x="164628" y="179330"/>
                </a:lnTo>
                <a:lnTo>
                  <a:pt x="0" y="179330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175726" y="4327715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28"/>
                </a:lnTo>
                <a:lnTo>
                  <a:pt x="0" y="164628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921592" y="5339557"/>
            <a:ext cx="945515" cy="32384"/>
          </a:xfrm>
          <a:custGeom>
            <a:avLst/>
            <a:gdLst/>
            <a:ahLst/>
            <a:cxnLst/>
            <a:rect l="l" t="t" r="r" b="b"/>
            <a:pathLst>
              <a:path w="945514" h="32385">
                <a:moveTo>
                  <a:pt x="938204" y="0"/>
                </a:moveTo>
                <a:lnTo>
                  <a:pt x="857169" y="48"/>
                </a:lnTo>
                <a:lnTo>
                  <a:pt x="850123" y="7103"/>
                </a:lnTo>
                <a:lnTo>
                  <a:pt x="850076" y="24695"/>
                </a:lnTo>
                <a:lnTo>
                  <a:pt x="857188" y="31798"/>
                </a:lnTo>
                <a:lnTo>
                  <a:pt x="938223" y="31750"/>
                </a:lnTo>
                <a:lnTo>
                  <a:pt x="945269" y="24695"/>
                </a:lnTo>
                <a:lnTo>
                  <a:pt x="945316" y="7103"/>
                </a:lnTo>
                <a:lnTo>
                  <a:pt x="938204" y="0"/>
                </a:lnTo>
                <a:close/>
              </a:path>
              <a:path w="945514" h="32385">
                <a:moveTo>
                  <a:pt x="811204" y="76"/>
                </a:moveTo>
                <a:lnTo>
                  <a:pt x="730169" y="124"/>
                </a:lnTo>
                <a:lnTo>
                  <a:pt x="723123" y="7179"/>
                </a:lnTo>
                <a:lnTo>
                  <a:pt x="723076" y="24771"/>
                </a:lnTo>
                <a:lnTo>
                  <a:pt x="730188" y="31874"/>
                </a:lnTo>
                <a:lnTo>
                  <a:pt x="811223" y="31826"/>
                </a:lnTo>
                <a:lnTo>
                  <a:pt x="818269" y="24771"/>
                </a:lnTo>
                <a:lnTo>
                  <a:pt x="818316" y="7179"/>
                </a:lnTo>
                <a:lnTo>
                  <a:pt x="811204" y="76"/>
                </a:lnTo>
                <a:close/>
              </a:path>
              <a:path w="945514" h="32385">
                <a:moveTo>
                  <a:pt x="684204" y="152"/>
                </a:moveTo>
                <a:lnTo>
                  <a:pt x="603169" y="201"/>
                </a:lnTo>
                <a:lnTo>
                  <a:pt x="596123" y="7255"/>
                </a:lnTo>
                <a:lnTo>
                  <a:pt x="596076" y="24847"/>
                </a:lnTo>
                <a:lnTo>
                  <a:pt x="603188" y="31951"/>
                </a:lnTo>
                <a:lnTo>
                  <a:pt x="684223" y="31902"/>
                </a:lnTo>
                <a:lnTo>
                  <a:pt x="691269" y="24847"/>
                </a:lnTo>
                <a:lnTo>
                  <a:pt x="691316" y="7255"/>
                </a:lnTo>
                <a:lnTo>
                  <a:pt x="684204" y="152"/>
                </a:lnTo>
                <a:close/>
              </a:path>
              <a:path w="945514" h="32385">
                <a:moveTo>
                  <a:pt x="557204" y="228"/>
                </a:moveTo>
                <a:lnTo>
                  <a:pt x="476169" y="278"/>
                </a:lnTo>
                <a:lnTo>
                  <a:pt x="469123" y="7331"/>
                </a:lnTo>
                <a:lnTo>
                  <a:pt x="469076" y="24925"/>
                </a:lnTo>
                <a:lnTo>
                  <a:pt x="476188" y="32028"/>
                </a:lnTo>
                <a:lnTo>
                  <a:pt x="557223" y="31978"/>
                </a:lnTo>
                <a:lnTo>
                  <a:pt x="564269" y="24925"/>
                </a:lnTo>
                <a:lnTo>
                  <a:pt x="564316" y="7331"/>
                </a:lnTo>
                <a:lnTo>
                  <a:pt x="557204" y="228"/>
                </a:lnTo>
                <a:close/>
              </a:path>
              <a:path w="945514" h="32385">
                <a:moveTo>
                  <a:pt x="430204" y="304"/>
                </a:moveTo>
                <a:lnTo>
                  <a:pt x="349169" y="354"/>
                </a:lnTo>
                <a:lnTo>
                  <a:pt x="342124" y="7407"/>
                </a:lnTo>
                <a:lnTo>
                  <a:pt x="342077" y="25001"/>
                </a:lnTo>
                <a:lnTo>
                  <a:pt x="349188" y="32104"/>
                </a:lnTo>
                <a:lnTo>
                  <a:pt x="430223" y="32054"/>
                </a:lnTo>
                <a:lnTo>
                  <a:pt x="437269" y="25001"/>
                </a:lnTo>
                <a:lnTo>
                  <a:pt x="437316" y="7407"/>
                </a:lnTo>
                <a:lnTo>
                  <a:pt x="430204" y="304"/>
                </a:lnTo>
                <a:close/>
              </a:path>
              <a:path w="945514" h="32385">
                <a:moveTo>
                  <a:pt x="303204" y="382"/>
                </a:moveTo>
                <a:lnTo>
                  <a:pt x="222169" y="430"/>
                </a:lnTo>
                <a:lnTo>
                  <a:pt x="215123" y="7485"/>
                </a:lnTo>
                <a:lnTo>
                  <a:pt x="215077" y="25077"/>
                </a:lnTo>
                <a:lnTo>
                  <a:pt x="222188" y="32180"/>
                </a:lnTo>
                <a:lnTo>
                  <a:pt x="303223" y="32131"/>
                </a:lnTo>
                <a:lnTo>
                  <a:pt x="310269" y="25077"/>
                </a:lnTo>
                <a:lnTo>
                  <a:pt x="310316" y="7485"/>
                </a:lnTo>
                <a:lnTo>
                  <a:pt x="303204" y="382"/>
                </a:lnTo>
                <a:close/>
              </a:path>
              <a:path w="945514" h="32385">
                <a:moveTo>
                  <a:pt x="176204" y="458"/>
                </a:moveTo>
                <a:lnTo>
                  <a:pt x="95169" y="506"/>
                </a:lnTo>
                <a:lnTo>
                  <a:pt x="88123" y="7561"/>
                </a:lnTo>
                <a:lnTo>
                  <a:pt x="88077" y="25153"/>
                </a:lnTo>
                <a:lnTo>
                  <a:pt x="95188" y="32256"/>
                </a:lnTo>
                <a:lnTo>
                  <a:pt x="176223" y="32208"/>
                </a:lnTo>
                <a:lnTo>
                  <a:pt x="183270" y="25153"/>
                </a:lnTo>
                <a:lnTo>
                  <a:pt x="183316" y="7561"/>
                </a:lnTo>
                <a:lnTo>
                  <a:pt x="176204" y="458"/>
                </a:lnTo>
                <a:close/>
              </a:path>
              <a:path w="945514" h="32385">
                <a:moveTo>
                  <a:pt x="49204" y="534"/>
                </a:moveTo>
                <a:lnTo>
                  <a:pt x="7092" y="560"/>
                </a:lnTo>
                <a:lnTo>
                  <a:pt x="22" y="7637"/>
                </a:lnTo>
                <a:lnTo>
                  <a:pt x="0" y="25206"/>
                </a:lnTo>
                <a:lnTo>
                  <a:pt x="7111" y="32310"/>
                </a:lnTo>
                <a:lnTo>
                  <a:pt x="49223" y="32284"/>
                </a:lnTo>
                <a:lnTo>
                  <a:pt x="56292" y="25206"/>
                </a:lnTo>
                <a:lnTo>
                  <a:pt x="56316" y="7637"/>
                </a:lnTo>
                <a:lnTo>
                  <a:pt x="49204" y="534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921210" y="5416824"/>
            <a:ext cx="31750" cy="984250"/>
          </a:xfrm>
          <a:custGeom>
            <a:avLst/>
            <a:gdLst/>
            <a:ahLst/>
            <a:cxnLst/>
            <a:rect l="l" t="t" r="r" b="b"/>
            <a:pathLst>
              <a:path w="31750" h="984250">
                <a:moveTo>
                  <a:pt x="24641" y="0"/>
                </a:moveTo>
                <a:lnTo>
                  <a:pt x="7106" y="0"/>
                </a:lnTo>
                <a:lnTo>
                  <a:pt x="0" y="7106"/>
                </a:lnTo>
                <a:lnTo>
                  <a:pt x="0" y="88141"/>
                </a:lnTo>
                <a:lnTo>
                  <a:pt x="7106" y="95249"/>
                </a:lnTo>
                <a:lnTo>
                  <a:pt x="24641" y="95249"/>
                </a:lnTo>
                <a:lnTo>
                  <a:pt x="31750" y="88141"/>
                </a:lnTo>
                <a:lnTo>
                  <a:pt x="31750" y="7106"/>
                </a:lnTo>
                <a:lnTo>
                  <a:pt x="24641" y="0"/>
                </a:lnTo>
                <a:close/>
              </a:path>
              <a:path w="31750" h="984250">
                <a:moveTo>
                  <a:pt x="24641" y="126999"/>
                </a:moveTo>
                <a:lnTo>
                  <a:pt x="7106" y="126999"/>
                </a:lnTo>
                <a:lnTo>
                  <a:pt x="0" y="134106"/>
                </a:lnTo>
                <a:lnTo>
                  <a:pt x="0" y="215142"/>
                </a:lnTo>
                <a:lnTo>
                  <a:pt x="7106" y="222249"/>
                </a:lnTo>
                <a:lnTo>
                  <a:pt x="24641" y="222249"/>
                </a:lnTo>
                <a:lnTo>
                  <a:pt x="31750" y="215142"/>
                </a:lnTo>
                <a:lnTo>
                  <a:pt x="31750" y="134106"/>
                </a:lnTo>
                <a:lnTo>
                  <a:pt x="24641" y="126999"/>
                </a:lnTo>
                <a:close/>
              </a:path>
              <a:path w="31750" h="984250">
                <a:moveTo>
                  <a:pt x="24641" y="253999"/>
                </a:moveTo>
                <a:lnTo>
                  <a:pt x="7106" y="253999"/>
                </a:lnTo>
                <a:lnTo>
                  <a:pt x="0" y="261107"/>
                </a:lnTo>
                <a:lnTo>
                  <a:pt x="0" y="342142"/>
                </a:lnTo>
                <a:lnTo>
                  <a:pt x="7106" y="349249"/>
                </a:lnTo>
                <a:lnTo>
                  <a:pt x="24643" y="349249"/>
                </a:lnTo>
                <a:lnTo>
                  <a:pt x="31750" y="342142"/>
                </a:lnTo>
                <a:lnTo>
                  <a:pt x="31750" y="261107"/>
                </a:lnTo>
                <a:lnTo>
                  <a:pt x="24641" y="253999"/>
                </a:lnTo>
                <a:close/>
              </a:path>
              <a:path w="31750" h="984250">
                <a:moveTo>
                  <a:pt x="24643" y="380999"/>
                </a:moveTo>
                <a:lnTo>
                  <a:pt x="7106" y="380999"/>
                </a:lnTo>
                <a:lnTo>
                  <a:pt x="0" y="388107"/>
                </a:lnTo>
                <a:lnTo>
                  <a:pt x="0" y="469142"/>
                </a:lnTo>
                <a:lnTo>
                  <a:pt x="7108" y="476249"/>
                </a:lnTo>
                <a:lnTo>
                  <a:pt x="24643" y="476249"/>
                </a:lnTo>
                <a:lnTo>
                  <a:pt x="31750" y="469142"/>
                </a:lnTo>
                <a:lnTo>
                  <a:pt x="31750" y="388107"/>
                </a:lnTo>
                <a:lnTo>
                  <a:pt x="24643" y="380999"/>
                </a:lnTo>
                <a:close/>
              </a:path>
              <a:path w="31750" h="984250">
                <a:moveTo>
                  <a:pt x="24643" y="507999"/>
                </a:moveTo>
                <a:lnTo>
                  <a:pt x="7108" y="507999"/>
                </a:lnTo>
                <a:lnTo>
                  <a:pt x="0" y="515107"/>
                </a:lnTo>
                <a:lnTo>
                  <a:pt x="0" y="596142"/>
                </a:lnTo>
                <a:lnTo>
                  <a:pt x="7108" y="603249"/>
                </a:lnTo>
                <a:lnTo>
                  <a:pt x="24643" y="603249"/>
                </a:lnTo>
                <a:lnTo>
                  <a:pt x="31750" y="596142"/>
                </a:lnTo>
                <a:lnTo>
                  <a:pt x="31750" y="515107"/>
                </a:lnTo>
                <a:lnTo>
                  <a:pt x="24643" y="507999"/>
                </a:lnTo>
                <a:close/>
              </a:path>
              <a:path w="31750" h="984250">
                <a:moveTo>
                  <a:pt x="24643" y="634999"/>
                </a:moveTo>
                <a:lnTo>
                  <a:pt x="7108" y="634999"/>
                </a:lnTo>
                <a:lnTo>
                  <a:pt x="0" y="642107"/>
                </a:lnTo>
                <a:lnTo>
                  <a:pt x="0" y="723142"/>
                </a:lnTo>
                <a:lnTo>
                  <a:pt x="7108" y="730249"/>
                </a:lnTo>
                <a:lnTo>
                  <a:pt x="24643" y="730249"/>
                </a:lnTo>
                <a:lnTo>
                  <a:pt x="31750" y="723142"/>
                </a:lnTo>
                <a:lnTo>
                  <a:pt x="31750" y="642107"/>
                </a:lnTo>
                <a:lnTo>
                  <a:pt x="24643" y="634999"/>
                </a:lnTo>
                <a:close/>
              </a:path>
              <a:path w="31750" h="984250">
                <a:moveTo>
                  <a:pt x="24643" y="761999"/>
                </a:moveTo>
                <a:lnTo>
                  <a:pt x="7108" y="761999"/>
                </a:lnTo>
                <a:lnTo>
                  <a:pt x="0" y="769107"/>
                </a:lnTo>
                <a:lnTo>
                  <a:pt x="0" y="850142"/>
                </a:lnTo>
                <a:lnTo>
                  <a:pt x="7108" y="857249"/>
                </a:lnTo>
                <a:lnTo>
                  <a:pt x="24643" y="857249"/>
                </a:lnTo>
                <a:lnTo>
                  <a:pt x="31750" y="850142"/>
                </a:lnTo>
                <a:lnTo>
                  <a:pt x="31750" y="769107"/>
                </a:lnTo>
                <a:lnTo>
                  <a:pt x="24643" y="761999"/>
                </a:lnTo>
                <a:close/>
              </a:path>
              <a:path w="31750" h="984250">
                <a:moveTo>
                  <a:pt x="24643" y="888999"/>
                </a:moveTo>
                <a:lnTo>
                  <a:pt x="7108" y="888999"/>
                </a:lnTo>
                <a:lnTo>
                  <a:pt x="0" y="896107"/>
                </a:lnTo>
                <a:lnTo>
                  <a:pt x="0" y="977142"/>
                </a:lnTo>
                <a:lnTo>
                  <a:pt x="7108" y="984249"/>
                </a:lnTo>
                <a:lnTo>
                  <a:pt x="24643" y="984249"/>
                </a:lnTo>
                <a:lnTo>
                  <a:pt x="31749" y="977142"/>
                </a:lnTo>
                <a:lnTo>
                  <a:pt x="31750" y="896107"/>
                </a:lnTo>
                <a:lnTo>
                  <a:pt x="24643" y="888999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424226" y="5840807"/>
            <a:ext cx="32384" cy="580390"/>
          </a:xfrm>
          <a:custGeom>
            <a:avLst/>
            <a:gdLst/>
            <a:ahLst/>
            <a:cxnLst/>
            <a:rect l="l" t="t" r="r" b="b"/>
            <a:pathLst>
              <a:path w="32384" h="580389">
                <a:moveTo>
                  <a:pt x="24641" y="0"/>
                </a:moveTo>
                <a:lnTo>
                  <a:pt x="7106" y="0"/>
                </a:lnTo>
                <a:lnTo>
                  <a:pt x="0" y="7107"/>
                </a:lnTo>
                <a:lnTo>
                  <a:pt x="0" y="88142"/>
                </a:lnTo>
                <a:lnTo>
                  <a:pt x="7106" y="95250"/>
                </a:lnTo>
                <a:lnTo>
                  <a:pt x="24641" y="95250"/>
                </a:lnTo>
                <a:lnTo>
                  <a:pt x="31750" y="88142"/>
                </a:lnTo>
                <a:lnTo>
                  <a:pt x="31750" y="7107"/>
                </a:lnTo>
                <a:lnTo>
                  <a:pt x="24641" y="0"/>
                </a:lnTo>
                <a:close/>
              </a:path>
              <a:path w="32384" h="580389">
                <a:moveTo>
                  <a:pt x="24643" y="127000"/>
                </a:moveTo>
                <a:lnTo>
                  <a:pt x="7106" y="127000"/>
                </a:lnTo>
                <a:lnTo>
                  <a:pt x="0" y="134107"/>
                </a:lnTo>
                <a:lnTo>
                  <a:pt x="0" y="215142"/>
                </a:lnTo>
                <a:lnTo>
                  <a:pt x="7108" y="222250"/>
                </a:lnTo>
                <a:lnTo>
                  <a:pt x="24643" y="222250"/>
                </a:lnTo>
                <a:lnTo>
                  <a:pt x="31750" y="215142"/>
                </a:lnTo>
                <a:lnTo>
                  <a:pt x="31750" y="134107"/>
                </a:lnTo>
                <a:lnTo>
                  <a:pt x="24643" y="127000"/>
                </a:lnTo>
                <a:close/>
              </a:path>
              <a:path w="32384" h="580389">
                <a:moveTo>
                  <a:pt x="24643" y="254000"/>
                </a:moveTo>
                <a:lnTo>
                  <a:pt x="7108" y="254000"/>
                </a:lnTo>
                <a:lnTo>
                  <a:pt x="0" y="261107"/>
                </a:lnTo>
                <a:lnTo>
                  <a:pt x="0" y="342142"/>
                </a:lnTo>
                <a:lnTo>
                  <a:pt x="7108" y="349250"/>
                </a:lnTo>
                <a:lnTo>
                  <a:pt x="24643" y="349250"/>
                </a:lnTo>
                <a:lnTo>
                  <a:pt x="31750" y="342142"/>
                </a:lnTo>
                <a:lnTo>
                  <a:pt x="31750" y="261107"/>
                </a:lnTo>
                <a:lnTo>
                  <a:pt x="24643" y="254000"/>
                </a:lnTo>
                <a:close/>
              </a:path>
              <a:path w="32384" h="580389">
                <a:moveTo>
                  <a:pt x="24643" y="381000"/>
                </a:moveTo>
                <a:lnTo>
                  <a:pt x="7108" y="381000"/>
                </a:lnTo>
                <a:lnTo>
                  <a:pt x="0" y="388107"/>
                </a:lnTo>
                <a:lnTo>
                  <a:pt x="0" y="469142"/>
                </a:lnTo>
                <a:lnTo>
                  <a:pt x="7108" y="476250"/>
                </a:lnTo>
                <a:lnTo>
                  <a:pt x="24643" y="476250"/>
                </a:lnTo>
                <a:lnTo>
                  <a:pt x="31750" y="469142"/>
                </a:lnTo>
                <a:lnTo>
                  <a:pt x="31750" y="388107"/>
                </a:lnTo>
                <a:lnTo>
                  <a:pt x="24643" y="381000"/>
                </a:lnTo>
                <a:close/>
              </a:path>
              <a:path w="32384" h="580389">
                <a:moveTo>
                  <a:pt x="24643" y="508000"/>
                </a:moveTo>
                <a:lnTo>
                  <a:pt x="7108" y="508000"/>
                </a:lnTo>
                <a:lnTo>
                  <a:pt x="1" y="515107"/>
                </a:lnTo>
                <a:lnTo>
                  <a:pt x="1" y="573155"/>
                </a:lnTo>
                <a:lnTo>
                  <a:pt x="7108" y="580263"/>
                </a:lnTo>
                <a:lnTo>
                  <a:pt x="24643" y="580263"/>
                </a:lnTo>
                <a:lnTo>
                  <a:pt x="31751" y="573155"/>
                </a:lnTo>
                <a:lnTo>
                  <a:pt x="31751" y="515107"/>
                </a:lnTo>
                <a:lnTo>
                  <a:pt x="24643" y="50800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919572" y="5768545"/>
            <a:ext cx="465455" cy="35560"/>
          </a:xfrm>
          <a:custGeom>
            <a:avLst/>
            <a:gdLst/>
            <a:ahLst/>
            <a:cxnLst/>
            <a:rect l="l" t="t" r="r" b="b"/>
            <a:pathLst>
              <a:path w="465455" h="35560">
                <a:moveTo>
                  <a:pt x="7300" y="0"/>
                </a:moveTo>
                <a:lnTo>
                  <a:pt x="137" y="7051"/>
                </a:lnTo>
                <a:lnTo>
                  <a:pt x="0" y="24586"/>
                </a:lnTo>
                <a:lnTo>
                  <a:pt x="7051" y="31748"/>
                </a:lnTo>
                <a:lnTo>
                  <a:pt x="88084" y="32384"/>
                </a:lnTo>
                <a:lnTo>
                  <a:pt x="95247" y="25332"/>
                </a:lnTo>
                <a:lnTo>
                  <a:pt x="95384" y="7798"/>
                </a:lnTo>
                <a:lnTo>
                  <a:pt x="88332" y="635"/>
                </a:lnTo>
                <a:lnTo>
                  <a:pt x="7300" y="0"/>
                </a:lnTo>
                <a:close/>
              </a:path>
              <a:path w="465455" h="35560">
                <a:moveTo>
                  <a:pt x="134296" y="995"/>
                </a:moveTo>
                <a:lnTo>
                  <a:pt x="127133" y="8046"/>
                </a:lnTo>
                <a:lnTo>
                  <a:pt x="126996" y="25581"/>
                </a:lnTo>
                <a:lnTo>
                  <a:pt x="134047" y="32744"/>
                </a:lnTo>
                <a:lnTo>
                  <a:pt x="215080" y="33379"/>
                </a:lnTo>
                <a:lnTo>
                  <a:pt x="222243" y="26327"/>
                </a:lnTo>
                <a:lnTo>
                  <a:pt x="222380" y="8793"/>
                </a:lnTo>
                <a:lnTo>
                  <a:pt x="215329" y="1630"/>
                </a:lnTo>
                <a:lnTo>
                  <a:pt x="134296" y="995"/>
                </a:lnTo>
                <a:close/>
              </a:path>
              <a:path w="465455" h="35560">
                <a:moveTo>
                  <a:pt x="261292" y="1990"/>
                </a:moveTo>
                <a:lnTo>
                  <a:pt x="254129" y="9042"/>
                </a:lnTo>
                <a:lnTo>
                  <a:pt x="253992" y="26576"/>
                </a:lnTo>
                <a:lnTo>
                  <a:pt x="261043" y="33739"/>
                </a:lnTo>
                <a:lnTo>
                  <a:pt x="342076" y="34374"/>
                </a:lnTo>
                <a:lnTo>
                  <a:pt x="349239" y="27323"/>
                </a:lnTo>
                <a:lnTo>
                  <a:pt x="349376" y="9788"/>
                </a:lnTo>
                <a:lnTo>
                  <a:pt x="342325" y="2625"/>
                </a:lnTo>
                <a:lnTo>
                  <a:pt x="261292" y="1990"/>
                </a:lnTo>
                <a:close/>
              </a:path>
              <a:path w="465455" h="35560">
                <a:moveTo>
                  <a:pt x="388288" y="2986"/>
                </a:moveTo>
                <a:lnTo>
                  <a:pt x="381125" y="10037"/>
                </a:lnTo>
                <a:lnTo>
                  <a:pt x="380988" y="27572"/>
                </a:lnTo>
                <a:lnTo>
                  <a:pt x="388039" y="34735"/>
                </a:lnTo>
                <a:lnTo>
                  <a:pt x="457848" y="35282"/>
                </a:lnTo>
                <a:lnTo>
                  <a:pt x="465011" y="28230"/>
                </a:lnTo>
                <a:lnTo>
                  <a:pt x="465148" y="10696"/>
                </a:lnTo>
                <a:lnTo>
                  <a:pt x="458097" y="3533"/>
                </a:lnTo>
                <a:lnTo>
                  <a:pt x="388288" y="2986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851038" y="5278177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39" h="154939">
                <a:moveTo>
                  <a:pt x="0" y="0"/>
                </a:moveTo>
                <a:lnTo>
                  <a:pt x="154522" y="0"/>
                </a:lnTo>
                <a:lnTo>
                  <a:pt x="154522" y="154522"/>
                </a:lnTo>
                <a:lnTo>
                  <a:pt x="0" y="15452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682163" y="5748325"/>
            <a:ext cx="31750" cy="673100"/>
          </a:xfrm>
          <a:custGeom>
            <a:avLst/>
            <a:gdLst/>
            <a:ahLst/>
            <a:cxnLst/>
            <a:rect l="l" t="t" r="r" b="b"/>
            <a:pathLst>
              <a:path w="31750" h="673100">
                <a:moveTo>
                  <a:pt x="24641" y="0"/>
                </a:moveTo>
                <a:lnTo>
                  <a:pt x="7106" y="0"/>
                </a:lnTo>
                <a:lnTo>
                  <a:pt x="0" y="7107"/>
                </a:lnTo>
                <a:lnTo>
                  <a:pt x="0" y="88142"/>
                </a:lnTo>
                <a:lnTo>
                  <a:pt x="7106" y="95249"/>
                </a:lnTo>
                <a:lnTo>
                  <a:pt x="24641" y="95249"/>
                </a:lnTo>
                <a:lnTo>
                  <a:pt x="31750" y="88142"/>
                </a:lnTo>
                <a:lnTo>
                  <a:pt x="31750" y="7107"/>
                </a:lnTo>
                <a:lnTo>
                  <a:pt x="24641" y="0"/>
                </a:lnTo>
                <a:close/>
              </a:path>
              <a:path w="31750" h="673100">
                <a:moveTo>
                  <a:pt x="24641" y="126999"/>
                </a:moveTo>
                <a:lnTo>
                  <a:pt x="7106" y="126999"/>
                </a:lnTo>
                <a:lnTo>
                  <a:pt x="0" y="134107"/>
                </a:lnTo>
                <a:lnTo>
                  <a:pt x="0" y="215142"/>
                </a:lnTo>
                <a:lnTo>
                  <a:pt x="7106" y="222249"/>
                </a:lnTo>
                <a:lnTo>
                  <a:pt x="24643" y="222249"/>
                </a:lnTo>
                <a:lnTo>
                  <a:pt x="31750" y="215142"/>
                </a:lnTo>
                <a:lnTo>
                  <a:pt x="31750" y="134107"/>
                </a:lnTo>
                <a:lnTo>
                  <a:pt x="24641" y="126999"/>
                </a:lnTo>
                <a:close/>
              </a:path>
              <a:path w="31750" h="673100">
                <a:moveTo>
                  <a:pt x="24643" y="253999"/>
                </a:moveTo>
                <a:lnTo>
                  <a:pt x="7106" y="253999"/>
                </a:lnTo>
                <a:lnTo>
                  <a:pt x="0" y="261107"/>
                </a:lnTo>
                <a:lnTo>
                  <a:pt x="0" y="342142"/>
                </a:lnTo>
                <a:lnTo>
                  <a:pt x="7108" y="349249"/>
                </a:lnTo>
                <a:lnTo>
                  <a:pt x="24643" y="349249"/>
                </a:lnTo>
                <a:lnTo>
                  <a:pt x="31750" y="342142"/>
                </a:lnTo>
                <a:lnTo>
                  <a:pt x="31750" y="261107"/>
                </a:lnTo>
                <a:lnTo>
                  <a:pt x="24643" y="253999"/>
                </a:lnTo>
                <a:close/>
              </a:path>
              <a:path w="31750" h="673100">
                <a:moveTo>
                  <a:pt x="24643" y="380999"/>
                </a:moveTo>
                <a:lnTo>
                  <a:pt x="7108" y="380999"/>
                </a:lnTo>
                <a:lnTo>
                  <a:pt x="0" y="388107"/>
                </a:lnTo>
                <a:lnTo>
                  <a:pt x="0" y="469142"/>
                </a:lnTo>
                <a:lnTo>
                  <a:pt x="7108" y="476249"/>
                </a:lnTo>
                <a:lnTo>
                  <a:pt x="24643" y="476249"/>
                </a:lnTo>
                <a:lnTo>
                  <a:pt x="31749" y="469142"/>
                </a:lnTo>
                <a:lnTo>
                  <a:pt x="31750" y="388107"/>
                </a:lnTo>
                <a:lnTo>
                  <a:pt x="24643" y="380999"/>
                </a:lnTo>
                <a:close/>
              </a:path>
              <a:path w="31750" h="673100">
                <a:moveTo>
                  <a:pt x="24643" y="507999"/>
                </a:moveTo>
                <a:lnTo>
                  <a:pt x="7108" y="507999"/>
                </a:lnTo>
                <a:lnTo>
                  <a:pt x="0" y="515107"/>
                </a:lnTo>
                <a:lnTo>
                  <a:pt x="0" y="596142"/>
                </a:lnTo>
                <a:lnTo>
                  <a:pt x="7108" y="603249"/>
                </a:lnTo>
                <a:lnTo>
                  <a:pt x="24643" y="603249"/>
                </a:lnTo>
                <a:lnTo>
                  <a:pt x="31749" y="596142"/>
                </a:lnTo>
                <a:lnTo>
                  <a:pt x="31750" y="515107"/>
                </a:lnTo>
                <a:lnTo>
                  <a:pt x="24643" y="507999"/>
                </a:lnTo>
                <a:close/>
              </a:path>
              <a:path w="31750" h="673100">
                <a:moveTo>
                  <a:pt x="24643" y="634999"/>
                </a:moveTo>
                <a:lnTo>
                  <a:pt x="7108" y="634999"/>
                </a:lnTo>
                <a:lnTo>
                  <a:pt x="0" y="642107"/>
                </a:lnTo>
                <a:lnTo>
                  <a:pt x="1" y="665637"/>
                </a:lnTo>
                <a:lnTo>
                  <a:pt x="7108" y="672745"/>
                </a:lnTo>
                <a:lnTo>
                  <a:pt x="24643" y="672745"/>
                </a:lnTo>
                <a:lnTo>
                  <a:pt x="31751" y="665637"/>
                </a:lnTo>
                <a:lnTo>
                  <a:pt x="31750" y="642107"/>
                </a:lnTo>
                <a:lnTo>
                  <a:pt x="24643" y="634999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932437" y="5601332"/>
            <a:ext cx="699770" cy="34925"/>
          </a:xfrm>
          <a:custGeom>
            <a:avLst/>
            <a:gdLst/>
            <a:ahLst/>
            <a:cxnLst/>
            <a:rect l="l" t="t" r="r" b="b"/>
            <a:pathLst>
              <a:path w="699769" h="34925">
                <a:moveTo>
                  <a:pt x="7208" y="0"/>
                </a:moveTo>
                <a:lnTo>
                  <a:pt x="71" y="7078"/>
                </a:lnTo>
                <a:lnTo>
                  <a:pt x="0" y="24613"/>
                </a:lnTo>
                <a:lnTo>
                  <a:pt x="7078" y="31749"/>
                </a:lnTo>
                <a:lnTo>
                  <a:pt x="88112" y="32082"/>
                </a:lnTo>
                <a:lnTo>
                  <a:pt x="95249" y="25004"/>
                </a:lnTo>
                <a:lnTo>
                  <a:pt x="95321" y="7469"/>
                </a:lnTo>
                <a:lnTo>
                  <a:pt x="88242" y="332"/>
                </a:lnTo>
                <a:lnTo>
                  <a:pt x="7208" y="0"/>
                </a:lnTo>
                <a:close/>
              </a:path>
              <a:path w="699769" h="34925">
                <a:moveTo>
                  <a:pt x="134207" y="521"/>
                </a:moveTo>
                <a:lnTo>
                  <a:pt x="127070" y="7599"/>
                </a:lnTo>
                <a:lnTo>
                  <a:pt x="126998" y="25134"/>
                </a:lnTo>
                <a:lnTo>
                  <a:pt x="134077" y="32270"/>
                </a:lnTo>
                <a:lnTo>
                  <a:pt x="215111" y="32603"/>
                </a:lnTo>
                <a:lnTo>
                  <a:pt x="222248" y="25524"/>
                </a:lnTo>
                <a:lnTo>
                  <a:pt x="222319" y="7990"/>
                </a:lnTo>
                <a:lnTo>
                  <a:pt x="215241" y="853"/>
                </a:lnTo>
                <a:lnTo>
                  <a:pt x="134207" y="521"/>
                </a:lnTo>
                <a:close/>
              </a:path>
              <a:path w="699769" h="34925">
                <a:moveTo>
                  <a:pt x="261206" y="1042"/>
                </a:moveTo>
                <a:lnTo>
                  <a:pt x="254069" y="8120"/>
                </a:lnTo>
                <a:lnTo>
                  <a:pt x="253997" y="25655"/>
                </a:lnTo>
                <a:lnTo>
                  <a:pt x="261076" y="32791"/>
                </a:lnTo>
                <a:lnTo>
                  <a:pt x="342110" y="33124"/>
                </a:lnTo>
                <a:lnTo>
                  <a:pt x="349246" y="26046"/>
                </a:lnTo>
                <a:lnTo>
                  <a:pt x="349319" y="8511"/>
                </a:lnTo>
                <a:lnTo>
                  <a:pt x="342240" y="1374"/>
                </a:lnTo>
                <a:lnTo>
                  <a:pt x="261206" y="1042"/>
                </a:lnTo>
                <a:close/>
              </a:path>
              <a:path w="699769" h="34925">
                <a:moveTo>
                  <a:pt x="388205" y="1563"/>
                </a:moveTo>
                <a:lnTo>
                  <a:pt x="381069" y="8641"/>
                </a:lnTo>
                <a:lnTo>
                  <a:pt x="380996" y="26176"/>
                </a:lnTo>
                <a:lnTo>
                  <a:pt x="388074" y="33312"/>
                </a:lnTo>
                <a:lnTo>
                  <a:pt x="469109" y="33645"/>
                </a:lnTo>
                <a:lnTo>
                  <a:pt x="476245" y="26567"/>
                </a:lnTo>
                <a:lnTo>
                  <a:pt x="476317" y="9032"/>
                </a:lnTo>
                <a:lnTo>
                  <a:pt x="469240" y="1895"/>
                </a:lnTo>
                <a:lnTo>
                  <a:pt x="388205" y="1563"/>
                </a:lnTo>
                <a:close/>
              </a:path>
              <a:path w="699769" h="34925">
                <a:moveTo>
                  <a:pt x="515204" y="2084"/>
                </a:moveTo>
                <a:lnTo>
                  <a:pt x="508067" y="9162"/>
                </a:lnTo>
                <a:lnTo>
                  <a:pt x="507995" y="26697"/>
                </a:lnTo>
                <a:lnTo>
                  <a:pt x="515074" y="33833"/>
                </a:lnTo>
                <a:lnTo>
                  <a:pt x="596108" y="34166"/>
                </a:lnTo>
                <a:lnTo>
                  <a:pt x="603244" y="27088"/>
                </a:lnTo>
                <a:lnTo>
                  <a:pt x="603316" y="9553"/>
                </a:lnTo>
                <a:lnTo>
                  <a:pt x="596238" y="2416"/>
                </a:lnTo>
                <a:lnTo>
                  <a:pt x="515204" y="2084"/>
                </a:lnTo>
                <a:close/>
              </a:path>
              <a:path w="699769" h="34925">
                <a:moveTo>
                  <a:pt x="642202" y="2605"/>
                </a:moveTo>
                <a:lnTo>
                  <a:pt x="635066" y="9683"/>
                </a:lnTo>
                <a:lnTo>
                  <a:pt x="634994" y="27218"/>
                </a:lnTo>
                <a:lnTo>
                  <a:pt x="642073" y="34354"/>
                </a:lnTo>
                <a:lnTo>
                  <a:pt x="691988" y="34559"/>
                </a:lnTo>
                <a:lnTo>
                  <a:pt x="699124" y="27481"/>
                </a:lnTo>
                <a:lnTo>
                  <a:pt x="699196" y="9946"/>
                </a:lnTo>
                <a:lnTo>
                  <a:pt x="692118" y="2810"/>
                </a:lnTo>
                <a:lnTo>
                  <a:pt x="642202" y="2605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614833" y="5659836"/>
            <a:ext cx="31750" cy="730250"/>
          </a:xfrm>
          <a:custGeom>
            <a:avLst/>
            <a:gdLst/>
            <a:ahLst/>
            <a:cxnLst/>
            <a:rect l="l" t="t" r="r" b="b"/>
            <a:pathLst>
              <a:path w="31750" h="730250">
                <a:moveTo>
                  <a:pt x="24641" y="0"/>
                </a:moveTo>
                <a:lnTo>
                  <a:pt x="7106" y="0"/>
                </a:lnTo>
                <a:lnTo>
                  <a:pt x="0" y="7107"/>
                </a:lnTo>
                <a:lnTo>
                  <a:pt x="0" y="88142"/>
                </a:lnTo>
                <a:lnTo>
                  <a:pt x="7106" y="95250"/>
                </a:lnTo>
                <a:lnTo>
                  <a:pt x="24641" y="95250"/>
                </a:lnTo>
                <a:lnTo>
                  <a:pt x="31750" y="88142"/>
                </a:lnTo>
                <a:lnTo>
                  <a:pt x="31750" y="7107"/>
                </a:lnTo>
                <a:lnTo>
                  <a:pt x="24641" y="0"/>
                </a:lnTo>
                <a:close/>
              </a:path>
              <a:path w="31750" h="730250">
                <a:moveTo>
                  <a:pt x="24641" y="127000"/>
                </a:moveTo>
                <a:lnTo>
                  <a:pt x="7106" y="127000"/>
                </a:lnTo>
                <a:lnTo>
                  <a:pt x="0" y="134107"/>
                </a:lnTo>
                <a:lnTo>
                  <a:pt x="0" y="215142"/>
                </a:lnTo>
                <a:lnTo>
                  <a:pt x="7106" y="222250"/>
                </a:lnTo>
                <a:lnTo>
                  <a:pt x="24641" y="222250"/>
                </a:lnTo>
                <a:lnTo>
                  <a:pt x="31750" y="215142"/>
                </a:lnTo>
                <a:lnTo>
                  <a:pt x="31750" y="134107"/>
                </a:lnTo>
                <a:lnTo>
                  <a:pt x="24641" y="127000"/>
                </a:lnTo>
                <a:close/>
              </a:path>
              <a:path w="31750" h="730250">
                <a:moveTo>
                  <a:pt x="24641" y="254000"/>
                </a:moveTo>
                <a:lnTo>
                  <a:pt x="7106" y="254000"/>
                </a:lnTo>
                <a:lnTo>
                  <a:pt x="0" y="261107"/>
                </a:lnTo>
                <a:lnTo>
                  <a:pt x="0" y="342142"/>
                </a:lnTo>
                <a:lnTo>
                  <a:pt x="7106" y="349250"/>
                </a:lnTo>
                <a:lnTo>
                  <a:pt x="24643" y="349250"/>
                </a:lnTo>
                <a:lnTo>
                  <a:pt x="31750" y="342142"/>
                </a:lnTo>
                <a:lnTo>
                  <a:pt x="31750" y="261107"/>
                </a:lnTo>
                <a:lnTo>
                  <a:pt x="24641" y="254000"/>
                </a:lnTo>
                <a:close/>
              </a:path>
              <a:path w="31750" h="730250">
                <a:moveTo>
                  <a:pt x="24643" y="381000"/>
                </a:moveTo>
                <a:lnTo>
                  <a:pt x="7106" y="381000"/>
                </a:lnTo>
                <a:lnTo>
                  <a:pt x="0" y="388107"/>
                </a:lnTo>
                <a:lnTo>
                  <a:pt x="0" y="469142"/>
                </a:lnTo>
                <a:lnTo>
                  <a:pt x="7108" y="476250"/>
                </a:lnTo>
                <a:lnTo>
                  <a:pt x="24643" y="476250"/>
                </a:lnTo>
                <a:lnTo>
                  <a:pt x="31750" y="469142"/>
                </a:lnTo>
                <a:lnTo>
                  <a:pt x="31750" y="388107"/>
                </a:lnTo>
                <a:lnTo>
                  <a:pt x="24643" y="381000"/>
                </a:lnTo>
                <a:close/>
              </a:path>
              <a:path w="31750" h="730250">
                <a:moveTo>
                  <a:pt x="24643" y="508000"/>
                </a:moveTo>
                <a:lnTo>
                  <a:pt x="7108" y="508000"/>
                </a:lnTo>
                <a:lnTo>
                  <a:pt x="0" y="515107"/>
                </a:lnTo>
                <a:lnTo>
                  <a:pt x="0" y="596142"/>
                </a:lnTo>
                <a:lnTo>
                  <a:pt x="7108" y="603250"/>
                </a:lnTo>
                <a:lnTo>
                  <a:pt x="24643" y="603250"/>
                </a:lnTo>
                <a:lnTo>
                  <a:pt x="31750" y="596142"/>
                </a:lnTo>
                <a:lnTo>
                  <a:pt x="31750" y="515107"/>
                </a:lnTo>
                <a:lnTo>
                  <a:pt x="24643" y="508000"/>
                </a:lnTo>
                <a:close/>
              </a:path>
              <a:path w="31750" h="730250">
                <a:moveTo>
                  <a:pt x="24643" y="635000"/>
                </a:moveTo>
                <a:lnTo>
                  <a:pt x="7108" y="635000"/>
                </a:lnTo>
                <a:lnTo>
                  <a:pt x="0" y="642107"/>
                </a:lnTo>
                <a:lnTo>
                  <a:pt x="0" y="723142"/>
                </a:lnTo>
                <a:lnTo>
                  <a:pt x="7108" y="730250"/>
                </a:lnTo>
                <a:lnTo>
                  <a:pt x="24643" y="730250"/>
                </a:lnTo>
                <a:lnTo>
                  <a:pt x="31750" y="723142"/>
                </a:lnTo>
                <a:lnTo>
                  <a:pt x="31750" y="642107"/>
                </a:lnTo>
                <a:lnTo>
                  <a:pt x="24643" y="63500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865058" y="5570804"/>
            <a:ext cx="708025" cy="38735"/>
          </a:xfrm>
          <a:custGeom>
            <a:avLst/>
            <a:gdLst/>
            <a:ahLst/>
            <a:cxnLst/>
            <a:rect l="l" t="t" r="r" b="b"/>
            <a:pathLst>
              <a:path w="708025" h="38735">
                <a:moveTo>
                  <a:pt x="7348" y="0"/>
                </a:moveTo>
                <a:lnTo>
                  <a:pt x="171" y="7037"/>
                </a:lnTo>
                <a:lnTo>
                  <a:pt x="0" y="24571"/>
                </a:lnTo>
                <a:lnTo>
                  <a:pt x="7037" y="31748"/>
                </a:lnTo>
                <a:lnTo>
                  <a:pt x="88068" y="32543"/>
                </a:lnTo>
                <a:lnTo>
                  <a:pt x="95244" y="25506"/>
                </a:lnTo>
                <a:lnTo>
                  <a:pt x="95416" y="7971"/>
                </a:lnTo>
                <a:lnTo>
                  <a:pt x="88379" y="795"/>
                </a:lnTo>
                <a:lnTo>
                  <a:pt x="7348" y="0"/>
                </a:lnTo>
                <a:close/>
              </a:path>
              <a:path w="708025" h="38735">
                <a:moveTo>
                  <a:pt x="134341" y="1245"/>
                </a:moveTo>
                <a:lnTo>
                  <a:pt x="127165" y="8284"/>
                </a:lnTo>
                <a:lnTo>
                  <a:pt x="126993" y="25817"/>
                </a:lnTo>
                <a:lnTo>
                  <a:pt x="134030" y="32994"/>
                </a:lnTo>
                <a:lnTo>
                  <a:pt x="215061" y="33789"/>
                </a:lnTo>
                <a:lnTo>
                  <a:pt x="222238" y="26752"/>
                </a:lnTo>
                <a:lnTo>
                  <a:pt x="222411" y="9217"/>
                </a:lnTo>
                <a:lnTo>
                  <a:pt x="215372" y="2040"/>
                </a:lnTo>
                <a:lnTo>
                  <a:pt x="134341" y="1245"/>
                </a:lnTo>
                <a:close/>
              </a:path>
              <a:path w="708025" h="38735">
                <a:moveTo>
                  <a:pt x="261336" y="2491"/>
                </a:moveTo>
                <a:lnTo>
                  <a:pt x="254158" y="9530"/>
                </a:lnTo>
                <a:lnTo>
                  <a:pt x="253987" y="27063"/>
                </a:lnTo>
                <a:lnTo>
                  <a:pt x="261024" y="34240"/>
                </a:lnTo>
                <a:lnTo>
                  <a:pt x="342055" y="35035"/>
                </a:lnTo>
                <a:lnTo>
                  <a:pt x="349232" y="27998"/>
                </a:lnTo>
                <a:lnTo>
                  <a:pt x="349404" y="10464"/>
                </a:lnTo>
                <a:lnTo>
                  <a:pt x="342367" y="3286"/>
                </a:lnTo>
                <a:lnTo>
                  <a:pt x="261336" y="2491"/>
                </a:lnTo>
                <a:close/>
              </a:path>
              <a:path w="708025" h="38735">
                <a:moveTo>
                  <a:pt x="388330" y="3738"/>
                </a:moveTo>
                <a:lnTo>
                  <a:pt x="381153" y="10775"/>
                </a:lnTo>
                <a:lnTo>
                  <a:pt x="380980" y="28309"/>
                </a:lnTo>
                <a:lnTo>
                  <a:pt x="388018" y="35486"/>
                </a:lnTo>
                <a:lnTo>
                  <a:pt x="469050" y="36281"/>
                </a:lnTo>
                <a:lnTo>
                  <a:pt x="476227" y="29244"/>
                </a:lnTo>
                <a:lnTo>
                  <a:pt x="476398" y="11710"/>
                </a:lnTo>
                <a:lnTo>
                  <a:pt x="469361" y="4533"/>
                </a:lnTo>
                <a:lnTo>
                  <a:pt x="388330" y="3738"/>
                </a:lnTo>
                <a:close/>
              </a:path>
              <a:path w="708025" h="38735">
                <a:moveTo>
                  <a:pt x="515324" y="4984"/>
                </a:moveTo>
                <a:lnTo>
                  <a:pt x="508147" y="12021"/>
                </a:lnTo>
                <a:lnTo>
                  <a:pt x="507974" y="29555"/>
                </a:lnTo>
                <a:lnTo>
                  <a:pt x="515012" y="36732"/>
                </a:lnTo>
                <a:lnTo>
                  <a:pt x="596044" y="37527"/>
                </a:lnTo>
                <a:lnTo>
                  <a:pt x="603220" y="30490"/>
                </a:lnTo>
                <a:lnTo>
                  <a:pt x="603392" y="12956"/>
                </a:lnTo>
                <a:lnTo>
                  <a:pt x="596355" y="5779"/>
                </a:lnTo>
                <a:lnTo>
                  <a:pt x="515324" y="4984"/>
                </a:lnTo>
                <a:close/>
              </a:path>
              <a:path w="708025" h="38735">
                <a:moveTo>
                  <a:pt x="642317" y="6230"/>
                </a:moveTo>
                <a:lnTo>
                  <a:pt x="635140" y="13267"/>
                </a:lnTo>
                <a:lnTo>
                  <a:pt x="634969" y="30801"/>
                </a:lnTo>
                <a:lnTo>
                  <a:pt x="642006" y="37978"/>
                </a:lnTo>
                <a:lnTo>
                  <a:pt x="700515" y="38552"/>
                </a:lnTo>
                <a:lnTo>
                  <a:pt x="707692" y="31515"/>
                </a:lnTo>
                <a:lnTo>
                  <a:pt x="707863" y="13981"/>
                </a:lnTo>
                <a:lnTo>
                  <a:pt x="700826" y="6804"/>
                </a:lnTo>
                <a:lnTo>
                  <a:pt x="642317" y="623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375774" y="573432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28" y="0"/>
                </a:lnTo>
                <a:lnTo>
                  <a:pt x="164628" y="164629"/>
                </a:lnTo>
                <a:lnTo>
                  <a:pt x="0" y="164629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893261" y="5810328"/>
            <a:ext cx="31750" cy="580390"/>
          </a:xfrm>
          <a:custGeom>
            <a:avLst/>
            <a:gdLst/>
            <a:ahLst/>
            <a:cxnLst/>
            <a:rect l="l" t="t" r="r" b="b"/>
            <a:pathLst>
              <a:path w="31750" h="580389">
                <a:moveTo>
                  <a:pt x="24642" y="0"/>
                </a:moveTo>
                <a:lnTo>
                  <a:pt x="7108" y="0"/>
                </a:lnTo>
                <a:lnTo>
                  <a:pt x="0" y="7107"/>
                </a:lnTo>
                <a:lnTo>
                  <a:pt x="1" y="88142"/>
                </a:lnTo>
                <a:lnTo>
                  <a:pt x="7108" y="95249"/>
                </a:lnTo>
                <a:lnTo>
                  <a:pt x="24642" y="95249"/>
                </a:lnTo>
                <a:lnTo>
                  <a:pt x="31751" y="88142"/>
                </a:lnTo>
                <a:lnTo>
                  <a:pt x="31749" y="7107"/>
                </a:lnTo>
                <a:lnTo>
                  <a:pt x="24642" y="0"/>
                </a:lnTo>
                <a:close/>
              </a:path>
              <a:path w="31750" h="580389">
                <a:moveTo>
                  <a:pt x="24642" y="126999"/>
                </a:moveTo>
                <a:lnTo>
                  <a:pt x="7108" y="126999"/>
                </a:lnTo>
                <a:lnTo>
                  <a:pt x="1" y="134107"/>
                </a:lnTo>
                <a:lnTo>
                  <a:pt x="1" y="215142"/>
                </a:lnTo>
                <a:lnTo>
                  <a:pt x="7108" y="222249"/>
                </a:lnTo>
                <a:lnTo>
                  <a:pt x="24642" y="222249"/>
                </a:lnTo>
                <a:lnTo>
                  <a:pt x="31751" y="215142"/>
                </a:lnTo>
                <a:lnTo>
                  <a:pt x="31751" y="134107"/>
                </a:lnTo>
                <a:lnTo>
                  <a:pt x="24642" y="126999"/>
                </a:lnTo>
                <a:close/>
              </a:path>
              <a:path w="31750" h="580389">
                <a:moveTo>
                  <a:pt x="24642" y="253999"/>
                </a:moveTo>
                <a:lnTo>
                  <a:pt x="7108" y="253999"/>
                </a:lnTo>
                <a:lnTo>
                  <a:pt x="1" y="261107"/>
                </a:lnTo>
                <a:lnTo>
                  <a:pt x="1" y="342142"/>
                </a:lnTo>
                <a:lnTo>
                  <a:pt x="7108" y="349249"/>
                </a:lnTo>
                <a:lnTo>
                  <a:pt x="24644" y="349249"/>
                </a:lnTo>
                <a:lnTo>
                  <a:pt x="31751" y="342142"/>
                </a:lnTo>
                <a:lnTo>
                  <a:pt x="31751" y="261107"/>
                </a:lnTo>
                <a:lnTo>
                  <a:pt x="24642" y="253999"/>
                </a:lnTo>
                <a:close/>
              </a:path>
              <a:path w="31750" h="580389">
                <a:moveTo>
                  <a:pt x="24644" y="380999"/>
                </a:moveTo>
                <a:lnTo>
                  <a:pt x="7108" y="380999"/>
                </a:lnTo>
                <a:lnTo>
                  <a:pt x="1" y="388107"/>
                </a:lnTo>
                <a:lnTo>
                  <a:pt x="1" y="469142"/>
                </a:lnTo>
                <a:lnTo>
                  <a:pt x="7109" y="476249"/>
                </a:lnTo>
                <a:lnTo>
                  <a:pt x="24644" y="476249"/>
                </a:lnTo>
                <a:lnTo>
                  <a:pt x="31751" y="469142"/>
                </a:lnTo>
                <a:lnTo>
                  <a:pt x="31751" y="388107"/>
                </a:lnTo>
                <a:lnTo>
                  <a:pt x="24644" y="380999"/>
                </a:lnTo>
                <a:close/>
              </a:path>
              <a:path w="31750" h="580389">
                <a:moveTo>
                  <a:pt x="24644" y="507999"/>
                </a:moveTo>
                <a:lnTo>
                  <a:pt x="7109" y="507999"/>
                </a:lnTo>
                <a:lnTo>
                  <a:pt x="1" y="515107"/>
                </a:lnTo>
                <a:lnTo>
                  <a:pt x="1" y="573155"/>
                </a:lnTo>
                <a:lnTo>
                  <a:pt x="7109" y="580262"/>
                </a:lnTo>
                <a:lnTo>
                  <a:pt x="24644" y="580262"/>
                </a:lnTo>
                <a:lnTo>
                  <a:pt x="31751" y="573155"/>
                </a:lnTo>
                <a:lnTo>
                  <a:pt x="31751" y="515107"/>
                </a:lnTo>
                <a:lnTo>
                  <a:pt x="24644" y="507999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388608" y="5776666"/>
            <a:ext cx="465455" cy="35560"/>
          </a:xfrm>
          <a:custGeom>
            <a:avLst/>
            <a:gdLst/>
            <a:ahLst/>
            <a:cxnLst/>
            <a:rect l="l" t="t" r="r" b="b"/>
            <a:pathLst>
              <a:path w="465454" h="35560">
                <a:moveTo>
                  <a:pt x="7301" y="0"/>
                </a:moveTo>
                <a:lnTo>
                  <a:pt x="138" y="7051"/>
                </a:lnTo>
                <a:lnTo>
                  <a:pt x="0" y="24586"/>
                </a:lnTo>
                <a:lnTo>
                  <a:pt x="7052" y="31749"/>
                </a:lnTo>
                <a:lnTo>
                  <a:pt x="88084" y="32384"/>
                </a:lnTo>
                <a:lnTo>
                  <a:pt x="95247" y="25332"/>
                </a:lnTo>
                <a:lnTo>
                  <a:pt x="95384" y="7798"/>
                </a:lnTo>
                <a:lnTo>
                  <a:pt x="88333" y="635"/>
                </a:lnTo>
                <a:lnTo>
                  <a:pt x="7301" y="0"/>
                </a:lnTo>
                <a:close/>
              </a:path>
              <a:path w="465454" h="35560">
                <a:moveTo>
                  <a:pt x="134297" y="995"/>
                </a:moveTo>
                <a:lnTo>
                  <a:pt x="127134" y="8046"/>
                </a:lnTo>
                <a:lnTo>
                  <a:pt x="126996" y="25581"/>
                </a:lnTo>
                <a:lnTo>
                  <a:pt x="134048" y="32744"/>
                </a:lnTo>
                <a:lnTo>
                  <a:pt x="215080" y="33379"/>
                </a:lnTo>
                <a:lnTo>
                  <a:pt x="222243" y="26328"/>
                </a:lnTo>
                <a:lnTo>
                  <a:pt x="222380" y="8793"/>
                </a:lnTo>
                <a:lnTo>
                  <a:pt x="215329" y="1630"/>
                </a:lnTo>
                <a:lnTo>
                  <a:pt x="134297" y="995"/>
                </a:lnTo>
                <a:close/>
              </a:path>
              <a:path w="465454" h="35560">
                <a:moveTo>
                  <a:pt x="261293" y="1990"/>
                </a:moveTo>
                <a:lnTo>
                  <a:pt x="254130" y="9042"/>
                </a:lnTo>
                <a:lnTo>
                  <a:pt x="253992" y="26576"/>
                </a:lnTo>
                <a:lnTo>
                  <a:pt x="261044" y="33739"/>
                </a:lnTo>
                <a:lnTo>
                  <a:pt x="342077" y="34375"/>
                </a:lnTo>
                <a:lnTo>
                  <a:pt x="349239" y="27323"/>
                </a:lnTo>
                <a:lnTo>
                  <a:pt x="349376" y="9789"/>
                </a:lnTo>
                <a:lnTo>
                  <a:pt x="342325" y="2625"/>
                </a:lnTo>
                <a:lnTo>
                  <a:pt x="261293" y="1990"/>
                </a:lnTo>
                <a:close/>
              </a:path>
              <a:path w="465454" h="35560">
                <a:moveTo>
                  <a:pt x="388289" y="2986"/>
                </a:moveTo>
                <a:lnTo>
                  <a:pt x="381125" y="10037"/>
                </a:lnTo>
                <a:lnTo>
                  <a:pt x="380988" y="27572"/>
                </a:lnTo>
                <a:lnTo>
                  <a:pt x="388040" y="34735"/>
                </a:lnTo>
                <a:lnTo>
                  <a:pt x="457850" y="35282"/>
                </a:lnTo>
                <a:lnTo>
                  <a:pt x="465013" y="28230"/>
                </a:lnTo>
                <a:lnTo>
                  <a:pt x="465150" y="10696"/>
                </a:lnTo>
                <a:lnTo>
                  <a:pt x="458097" y="3533"/>
                </a:lnTo>
                <a:lnTo>
                  <a:pt x="388289" y="2986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844810" y="5703841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29"/>
                </a:lnTo>
                <a:lnTo>
                  <a:pt x="0" y="164629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388608" y="5340018"/>
            <a:ext cx="465455" cy="35560"/>
          </a:xfrm>
          <a:custGeom>
            <a:avLst/>
            <a:gdLst/>
            <a:ahLst/>
            <a:cxnLst/>
            <a:rect l="l" t="t" r="r" b="b"/>
            <a:pathLst>
              <a:path w="465454" h="35560">
                <a:moveTo>
                  <a:pt x="7301" y="0"/>
                </a:moveTo>
                <a:lnTo>
                  <a:pt x="138" y="7051"/>
                </a:lnTo>
                <a:lnTo>
                  <a:pt x="0" y="24585"/>
                </a:lnTo>
                <a:lnTo>
                  <a:pt x="7052" y="31748"/>
                </a:lnTo>
                <a:lnTo>
                  <a:pt x="88084" y="32383"/>
                </a:lnTo>
                <a:lnTo>
                  <a:pt x="95247" y="25332"/>
                </a:lnTo>
                <a:lnTo>
                  <a:pt x="95384" y="7797"/>
                </a:lnTo>
                <a:lnTo>
                  <a:pt x="88333" y="634"/>
                </a:lnTo>
                <a:lnTo>
                  <a:pt x="7301" y="0"/>
                </a:lnTo>
                <a:close/>
              </a:path>
              <a:path w="465454" h="35560">
                <a:moveTo>
                  <a:pt x="134297" y="995"/>
                </a:moveTo>
                <a:lnTo>
                  <a:pt x="127134" y="8046"/>
                </a:lnTo>
                <a:lnTo>
                  <a:pt x="126996" y="25581"/>
                </a:lnTo>
                <a:lnTo>
                  <a:pt x="134048" y="32744"/>
                </a:lnTo>
                <a:lnTo>
                  <a:pt x="215080" y="33379"/>
                </a:lnTo>
                <a:lnTo>
                  <a:pt x="222243" y="26328"/>
                </a:lnTo>
                <a:lnTo>
                  <a:pt x="222380" y="8793"/>
                </a:lnTo>
                <a:lnTo>
                  <a:pt x="215329" y="1630"/>
                </a:lnTo>
                <a:lnTo>
                  <a:pt x="134297" y="995"/>
                </a:lnTo>
                <a:close/>
              </a:path>
              <a:path w="465454" h="35560">
                <a:moveTo>
                  <a:pt x="261293" y="1991"/>
                </a:moveTo>
                <a:lnTo>
                  <a:pt x="254130" y="9042"/>
                </a:lnTo>
                <a:lnTo>
                  <a:pt x="253992" y="26577"/>
                </a:lnTo>
                <a:lnTo>
                  <a:pt x="261044" y="33740"/>
                </a:lnTo>
                <a:lnTo>
                  <a:pt x="342077" y="34375"/>
                </a:lnTo>
                <a:lnTo>
                  <a:pt x="349239" y="27322"/>
                </a:lnTo>
                <a:lnTo>
                  <a:pt x="349376" y="9789"/>
                </a:lnTo>
                <a:lnTo>
                  <a:pt x="342325" y="2626"/>
                </a:lnTo>
                <a:lnTo>
                  <a:pt x="261293" y="1991"/>
                </a:lnTo>
                <a:close/>
              </a:path>
              <a:path w="465454" h="35560">
                <a:moveTo>
                  <a:pt x="388289" y="2985"/>
                </a:moveTo>
                <a:lnTo>
                  <a:pt x="381125" y="10038"/>
                </a:lnTo>
                <a:lnTo>
                  <a:pt x="380988" y="27571"/>
                </a:lnTo>
                <a:lnTo>
                  <a:pt x="388040" y="34735"/>
                </a:lnTo>
                <a:lnTo>
                  <a:pt x="457850" y="35281"/>
                </a:lnTo>
                <a:lnTo>
                  <a:pt x="465013" y="28230"/>
                </a:lnTo>
                <a:lnTo>
                  <a:pt x="465150" y="10695"/>
                </a:lnTo>
                <a:lnTo>
                  <a:pt x="458097" y="3533"/>
                </a:lnTo>
                <a:lnTo>
                  <a:pt x="388289" y="2985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895330" y="5418333"/>
            <a:ext cx="41910" cy="222885"/>
          </a:xfrm>
          <a:custGeom>
            <a:avLst/>
            <a:gdLst/>
            <a:ahLst/>
            <a:cxnLst/>
            <a:rect l="l" t="t" r="r" b="b"/>
            <a:pathLst>
              <a:path w="41909" h="222885">
                <a:moveTo>
                  <a:pt x="17104" y="0"/>
                </a:moveTo>
                <a:lnTo>
                  <a:pt x="9674" y="6769"/>
                </a:lnTo>
                <a:lnTo>
                  <a:pt x="5905" y="87716"/>
                </a:lnTo>
                <a:lnTo>
                  <a:pt x="12675" y="95147"/>
                </a:lnTo>
                <a:lnTo>
                  <a:pt x="30191" y="95962"/>
                </a:lnTo>
                <a:lnTo>
                  <a:pt x="37621" y="89193"/>
                </a:lnTo>
                <a:lnTo>
                  <a:pt x="41390" y="8246"/>
                </a:lnTo>
                <a:lnTo>
                  <a:pt x="34620" y="815"/>
                </a:lnTo>
                <a:lnTo>
                  <a:pt x="17104" y="0"/>
                </a:lnTo>
                <a:close/>
              </a:path>
              <a:path w="41909" h="222885">
                <a:moveTo>
                  <a:pt x="11198" y="126862"/>
                </a:moveTo>
                <a:lnTo>
                  <a:pt x="3768" y="133631"/>
                </a:lnTo>
                <a:lnTo>
                  <a:pt x="0" y="214579"/>
                </a:lnTo>
                <a:lnTo>
                  <a:pt x="6769" y="222009"/>
                </a:lnTo>
                <a:lnTo>
                  <a:pt x="24284" y="222825"/>
                </a:lnTo>
                <a:lnTo>
                  <a:pt x="31715" y="216055"/>
                </a:lnTo>
                <a:lnTo>
                  <a:pt x="35483" y="135108"/>
                </a:lnTo>
                <a:lnTo>
                  <a:pt x="28714" y="127678"/>
                </a:lnTo>
                <a:lnTo>
                  <a:pt x="11198" y="12686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993522" y="5770239"/>
            <a:ext cx="349885" cy="33655"/>
          </a:xfrm>
          <a:custGeom>
            <a:avLst/>
            <a:gdLst/>
            <a:ahLst/>
            <a:cxnLst/>
            <a:rect l="l" t="t" r="r" b="b"/>
            <a:pathLst>
              <a:path w="349884" h="33654">
                <a:moveTo>
                  <a:pt x="7226" y="0"/>
                </a:moveTo>
                <a:lnTo>
                  <a:pt x="85" y="7072"/>
                </a:lnTo>
                <a:lnTo>
                  <a:pt x="0" y="24607"/>
                </a:lnTo>
                <a:lnTo>
                  <a:pt x="7072" y="31749"/>
                </a:lnTo>
                <a:lnTo>
                  <a:pt x="88106" y="32143"/>
                </a:lnTo>
                <a:lnTo>
                  <a:pt x="95248" y="25070"/>
                </a:lnTo>
                <a:lnTo>
                  <a:pt x="95333" y="7535"/>
                </a:lnTo>
                <a:lnTo>
                  <a:pt x="88261" y="393"/>
                </a:lnTo>
                <a:lnTo>
                  <a:pt x="7226" y="0"/>
                </a:lnTo>
                <a:close/>
              </a:path>
              <a:path w="349884" h="33654">
                <a:moveTo>
                  <a:pt x="134225" y="617"/>
                </a:moveTo>
                <a:lnTo>
                  <a:pt x="127083" y="7690"/>
                </a:lnTo>
                <a:lnTo>
                  <a:pt x="126997" y="25225"/>
                </a:lnTo>
                <a:lnTo>
                  <a:pt x="134071" y="32367"/>
                </a:lnTo>
                <a:lnTo>
                  <a:pt x="215104" y="32761"/>
                </a:lnTo>
                <a:lnTo>
                  <a:pt x="222247" y="25688"/>
                </a:lnTo>
                <a:lnTo>
                  <a:pt x="222332" y="8153"/>
                </a:lnTo>
                <a:lnTo>
                  <a:pt x="215258" y="1011"/>
                </a:lnTo>
                <a:lnTo>
                  <a:pt x="134225" y="617"/>
                </a:lnTo>
                <a:close/>
              </a:path>
              <a:path w="349884" h="33654">
                <a:moveTo>
                  <a:pt x="261223" y="1234"/>
                </a:moveTo>
                <a:lnTo>
                  <a:pt x="254081" y="8307"/>
                </a:lnTo>
                <a:lnTo>
                  <a:pt x="253996" y="25842"/>
                </a:lnTo>
                <a:lnTo>
                  <a:pt x="261068" y="32984"/>
                </a:lnTo>
                <a:lnTo>
                  <a:pt x="342103" y="33378"/>
                </a:lnTo>
                <a:lnTo>
                  <a:pt x="349244" y="26305"/>
                </a:lnTo>
                <a:lnTo>
                  <a:pt x="349330" y="8770"/>
                </a:lnTo>
                <a:lnTo>
                  <a:pt x="342257" y="1628"/>
                </a:lnTo>
                <a:lnTo>
                  <a:pt x="261223" y="1234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390245" y="5879367"/>
            <a:ext cx="31750" cy="580390"/>
          </a:xfrm>
          <a:custGeom>
            <a:avLst/>
            <a:gdLst/>
            <a:ahLst/>
            <a:cxnLst/>
            <a:rect l="l" t="t" r="r" b="b"/>
            <a:pathLst>
              <a:path w="31750" h="580389">
                <a:moveTo>
                  <a:pt x="24642" y="0"/>
                </a:moveTo>
                <a:lnTo>
                  <a:pt x="7108" y="0"/>
                </a:lnTo>
                <a:lnTo>
                  <a:pt x="0" y="7107"/>
                </a:lnTo>
                <a:lnTo>
                  <a:pt x="1" y="88142"/>
                </a:lnTo>
                <a:lnTo>
                  <a:pt x="7108" y="95249"/>
                </a:lnTo>
                <a:lnTo>
                  <a:pt x="24642" y="95249"/>
                </a:lnTo>
                <a:lnTo>
                  <a:pt x="31751" y="88142"/>
                </a:lnTo>
                <a:lnTo>
                  <a:pt x="31749" y="7107"/>
                </a:lnTo>
                <a:lnTo>
                  <a:pt x="24642" y="0"/>
                </a:lnTo>
                <a:close/>
              </a:path>
              <a:path w="31750" h="580389">
                <a:moveTo>
                  <a:pt x="24642" y="126999"/>
                </a:moveTo>
                <a:lnTo>
                  <a:pt x="7108" y="126999"/>
                </a:lnTo>
                <a:lnTo>
                  <a:pt x="1" y="134107"/>
                </a:lnTo>
                <a:lnTo>
                  <a:pt x="1" y="215142"/>
                </a:lnTo>
                <a:lnTo>
                  <a:pt x="7108" y="222249"/>
                </a:lnTo>
                <a:lnTo>
                  <a:pt x="24642" y="222249"/>
                </a:lnTo>
                <a:lnTo>
                  <a:pt x="31751" y="215142"/>
                </a:lnTo>
                <a:lnTo>
                  <a:pt x="31751" y="134107"/>
                </a:lnTo>
                <a:lnTo>
                  <a:pt x="24642" y="126999"/>
                </a:lnTo>
                <a:close/>
              </a:path>
              <a:path w="31750" h="580389">
                <a:moveTo>
                  <a:pt x="24642" y="253999"/>
                </a:moveTo>
                <a:lnTo>
                  <a:pt x="7108" y="253999"/>
                </a:lnTo>
                <a:lnTo>
                  <a:pt x="1" y="261107"/>
                </a:lnTo>
                <a:lnTo>
                  <a:pt x="1" y="342142"/>
                </a:lnTo>
                <a:lnTo>
                  <a:pt x="7108" y="349249"/>
                </a:lnTo>
                <a:lnTo>
                  <a:pt x="24644" y="349249"/>
                </a:lnTo>
                <a:lnTo>
                  <a:pt x="31751" y="342142"/>
                </a:lnTo>
                <a:lnTo>
                  <a:pt x="31751" y="261107"/>
                </a:lnTo>
                <a:lnTo>
                  <a:pt x="24642" y="253999"/>
                </a:lnTo>
                <a:close/>
              </a:path>
              <a:path w="31750" h="580389">
                <a:moveTo>
                  <a:pt x="24644" y="380999"/>
                </a:moveTo>
                <a:lnTo>
                  <a:pt x="7108" y="380999"/>
                </a:lnTo>
                <a:lnTo>
                  <a:pt x="1" y="388107"/>
                </a:lnTo>
                <a:lnTo>
                  <a:pt x="1" y="469142"/>
                </a:lnTo>
                <a:lnTo>
                  <a:pt x="7109" y="476249"/>
                </a:lnTo>
                <a:lnTo>
                  <a:pt x="24644" y="476249"/>
                </a:lnTo>
                <a:lnTo>
                  <a:pt x="31751" y="469142"/>
                </a:lnTo>
                <a:lnTo>
                  <a:pt x="31751" y="388107"/>
                </a:lnTo>
                <a:lnTo>
                  <a:pt x="24644" y="380999"/>
                </a:lnTo>
                <a:close/>
              </a:path>
              <a:path w="31750" h="580389">
                <a:moveTo>
                  <a:pt x="24644" y="507999"/>
                </a:moveTo>
                <a:lnTo>
                  <a:pt x="7109" y="507999"/>
                </a:lnTo>
                <a:lnTo>
                  <a:pt x="1" y="515107"/>
                </a:lnTo>
                <a:lnTo>
                  <a:pt x="1" y="573155"/>
                </a:lnTo>
                <a:lnTo>
                  <a:pt x="7109" y="580262"/>
                </a:lnTo>
                <a:lnTo>
                  <a:pt x="24644" y="580262"/>
                </a:lnTo>
                <a:lnTo>
                  <a:pt x="31751" y="573155"/>
                </a:lnTo>
                <a:lnTo>
                  <a:pt x="31751" y="515107"/>
                </a:lnTo>
                <a:lnTo>
                  <a:pt x="24644" y="507999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07732" y="4989667"/>
            <a:ext cx="158750" cy="1498600"/>
          </a:xfrm>
          <a:custGeom>
            <a:avLst/>
            <a:gdLst/>
            <a:ahLst/>
            <a:cxnLst/>
            <a:rect l="l" t="t" r="r" b="b"/>
            <a:pathLst>
              <a:path w="158750" h="1498600">
                <a:moveTo>
                  <a:pt x="88142" y="127000"/>
                </a:moveTo>
                <a:lnTo>
                  <a:pt x="70607" y="127000"/>
                </a:lnTo>
                <a:lnTo>
                  <a:pt x="63500" y="134106"/>
                </a:lnTo>
                <a:lnTo>
                  <a:pt x="63499" y="1491111"/>
                </a:lnTo>
                <a:lnTo>
                  <a:pt x="70606" y="1498218"/>
                </a:lnTo>
                <a:lnTo>
                  <a:pt x="88141" y="1498218"/>
                </a:lnTo>
                <a:lnTo>
                  <a:pt x="95249" y="1491111"/>
                </a:lnTo>
                <a:lnTo>
                  <a:pt x="95250" y="134106"/>
                </a:lnTo>
                <a:lnTo>
                  <a:pt x="88142" y="127000"/>
                </a:lnTo>
                <a:close/>
              </a:path>
              <a:path w="158750" h="1498600">
                <a:moveTo>
                  <a:pt x="79375" y="0"/>
                </a:moveTo>
                <a:lnTo>
                  <a:pt x="0" y="158750"/>
                </a:lnTo>
                <a:lnTo>
                  <a:pt x="63499" y="158750"/>
                </a:lnTo>
                <a:lnTo>
                  <a:pt x="63500" y="134106"/>
                </a:lnTo>
                <a:lnTo>
                  <a:pt x="70607" y="127000"/>
                </a:lnTo>
                <a:lnTo>
                  <a:pt x="142875" y="127000"/>
                </a:lnTo>
                <a:lnTo>
                  <a:pt x="79375" y="0"/>
                </a:lnTo>
                <a:close/>
              </a:path>
              <a:path w="158750" h="1498600">
                <a:moveTo>
                  <a:pt x="142875" y="127000"/>
                </a:moveTo>
                <a:lnTo>
                  <a:pt x="88142" y="127000"/>
                </a:lnTo>
                <a:lnTo>
                  <a:pt x="95250" y="134106"/>
                </a:lnTo>
                <a:lnTo>
                  <a:pt x="95249" y="158750"/>
                </a:lnTo>
                <a:lnTo>
                  <a:pt x="158750" y="158750"/>
                </a:lnTo>
                <a:lnTo>
                  <a:pt x="142875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71232" y="6397487"/>
            <a:ext cx="1869439" cy="158750"/>
          </a:xfrm>
          <a:custGeom>
            <a:avLst/>
            <a:gdLst/>
            <a:ahLst/>
            <a:cxnLst/>
            <a:rect l="l" t="t" r="r" b="b"/>
            <a:pathLst>
              <a:path w="1869439" h="158750">
                <a:moveTo>
                  <a:pt x="1837263" y="63499"/>
                </a:moveTo>
                <a:lnTo>
                  <a:pt x="1734906" y="63499"/>
                </a:lnTo>
                <a:lnTo>
                  <a:pt x="1742013" y="70607"/>
                </a:lnTo>
                <a:lnTo>
                  <a:pt x="1742012" y="88143"/>
                </a:lnTo>
                <a:lnTo>
                  <a:pt x="1734906" y="95249"/>
                </a:lnTo>
                <a:lnTo>
                  <a:pt x="1710263" y="95250"/>
                </a:lnTo>
                <a:lnTo>
                  <a:pt x="1710263" y="158749"/>
                </a:lnTo>
                <a:lnTo>
                  <a:pt x="1869013" y="79374"/>
                </a:lnTo>
                <a:lnTo>
                  <a:pt x="1837263" y="63499"/>
                </a:lnTo>
                <a:close/>
              </a:path>
              <a:path w="1869439" h="158750">
                <a:moveTo>
                  <a:pt x="1710263" y="63500"/>
                </a:moveTo>
                <a:lnTo>
                  <a:pt x="15875" y="63501"/>
                </a:lnTo>
                <a:lnTo>
                  <a:pt x="7107" y="63501"/>
                </a:lnTo>
                <a:lnTo>
                  <a:pt x="0" y="70607"/>
                </a:lnTo>
                <a:lnTo>
                  <a:pt x="0" y="88143"/>
                </a:lnTo>
                <a:lnTo>
                  <a:pt x="7107" y="95251"/>
                </a:lnTo>
                <a:lnTo>
                  <a:pt x="1710263" y="95250"/>
                </a:lnTo>
                <a:lnTo>
                  <a:pt x="1710263" y="63500"/>
                </a:lnTo>
                <a:close/>
              </a:path>
              <a:path w="1869439" h="158750">
                <a:moveTo>
                  <a:pt x="1734906" y="63499"/>
                </a:moveTo>
                <a:lnTo>
                  <a:pt x="1710263" y="63500"/>
                </a:lnTo>
                <a:lnTo>
                  <a:pt x="1710263" y="95250"/>
                </a:lnTo>
                <a:lnTo>
                  <a:pt x="1734906" y="95249"/>
                </a:lnTo>
                <a:lnTo>
                  <a:pt x="1742012" y="88143"/>
                </a:lnTo>
                <a:lnTo>
                  <a:pt x="1742013" y="70607"/>
                </a:lnTo>
                <a:lnTo>
                  <a:pt x="1734906" y="63499"/>
                </a:lnTo>
                <a:close/>
              </a:path>
              <a:path w="1869439" h="158750">
                <a:moveTo>
                  <a:pt x="1710263" y="0"/>
                </a:moveTo>
                <a:lnTo>
                  <a:pt x="1710263" y="63500"/>
                </a:lnTo>
                <a:lnTo>
                  <a:pt x="1837263" y="63499"/>
                </a:lnTo>
                <a:lnTo>
                  <a:pt x="17102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554227" y="6502907"/>
            <a:ext cx="400685" cy="354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16205">
              <a:lnSpc>
                <a:spcPts val="1595"/>
              </a:lnSpc>
              <a:spcBef>
                <a:spcPts val="100"/>
              </a:spcBef>
            </a:pPr>
            <a:r>
              <a:rPr dirty="0" sz="1400" b="1">
                <a:latin typeface="Corbel"/>
                <a:cs typeface="Corbel"/>
              </a:rPr>
              <a:t>O</a:t>
            </a:r>
            <a:endParaRPr sz="1400">
              <a:latin typeface="Corbel"/>
              <a:cs typeface="Corbel"/>
            </a:endParaRPr>
          </a:p>
          <a:p>
            <a:pPr algn="ctr">
              <a:lnSpc>
                <a:spcPts val="994"/>
              </a:lnSpc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/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18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/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79644" y="4076248"/>
            <a:ext cx="4318000" cy="825500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marL="728980" indent="-228600">
              <a:lnSpc>
                <a:spcPct val="100000"/>
              </a:lnSpc>
              <a:spcBef>
                <a:spcPts val="1015"/>
              </a:spcBef>
              <a:buClr>
                <a:srgbClr val="E66C7D"/>
              </a:buClr>
              <a:buFont typeface="Malgun Gothic"/>
              <a:buChar char="▪"/>
              <a:tabLst>
                <a:tab pos="729615" algn="l"/>
                <a:tab pos="2207260" algn="l"/>
                <a:tab pos="2679065" algn="l"/>
                <a:tab pos="3353435" algn="l"/>
                <a:tab pos="3825240" algn="l"/>
              </a:tabLst>
            </a:pPr>
            <a:r>
              <a:rPr dirty="0" sz="2000" spc="-5">
                <a:latin typeface="Calibri"/>
                <a:cs typeface="Calibri"/>
              </a:rPr>
              <a:t>Co</a:t>
            </a:r>
            <a:r>
              <a:rPr dirty="0" sz="2000" spc="-30">
                <a:latin typeface="Calibri"/>
                <a:cs typeface="Calibri"/>
              </a:rPr>
              <a:t>r</a:t>
            </a:r>
            <a:r>
              <a:rPr dirty="0" sz="2000" spc="-5">
                <a:latin typeface="Calibri"/>
                <a:cs typeface="Calibri"/>
              </a:rPr>
              <a:t>o</a:t>
            </a:r>
            <a:r>
              <a:rPr dirty="0" sz="2000">
                <a:latin typeface="Calibri"/>
                <a:cs typeface="Calibri"/>
              </a:rPr>
              <a:t>lla</a:t>
            </a:r>
            <a:r>
              <a:rPr dirty="0" sz="2000" spc="5">
                <a:latin typeface="Calibri"/>
                <a:cs typeface="Calibri"/>
              </a:rPr>
              <a:t>r</a:t>
            </a:r>
            <a:r>
              <a:rPr dirty="0" sz="2000" spc="-5">
                <a:latin typeface="Calibri"/>
                <a:cs typeface="Calibri"/>
              </a:rPr>
              <a:t>y</a:t>
            </a:r>
            <a:r>
              <a:rPr dirty="0" sz="2000">
                <a:latin typeface="Calibri"/>
                <a:cs typeface="Calibri"/>
              </a:rPr>
              <a:t>: if	</a:t>
            </a:r>
            <a:r>
              <a:rPr dirty="0" sz="2000">
                <a:latin typeface="Cambria Math"/>
                <a:cs typeface="Cambria Math"/>
              </a:rPr>
              <a:t>≼	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">
                <a:latin typeface="Calibri"/>
                <a:cs typeface="Calibri"/>
              </a:rPr>
              <a:t>n</a:t>
            </a:r>
            <a:r>
              <a:rPr dirty="0" sz="2000">
                <a:latin typeface="Calibri"/>
                <a:cs typeface="Calibri"/>
              </a:rPr>
              <a:t>d	</a:t>
            </a:r>
            <a:r>
              <a:rPr dirty="0" sz="2000">
                <a:latin typeface="Cambria Math"/>
                <a:cs typeface="Cambria Math"/>
              </a:rPr>
              <a:t>≼	</a:t>
            </a:r>
            <a:r>
              <a:rPr dirty="0" sz="2000" spc="0">
                <a:latin typeface="Calibri"/>
                <a:cs typeface="Calibri"/>
              </a:rPr>
              <a:t>t</a:t>
            </a:r>
            <a:r>
              <a:rPr dirty="0" sz="2000" spc="-5">
                <a:latin typeface="Calibri"/>
                <a:cs typeface="Calibri"/>
              </a:rPr>
              <a:t>h</a:t>
            </a:r>
            <a:r>
              <a:rPr dirty="0" sz="2000">
                <a:latin typeface="Calibri"/>
                <a:cs typeface="Calibri"/>
              </a:rPr>
              <a:t>en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1800" spc="-10">
                <a:latin typeface="Arial"/>
                <a:cs typeface="Arial"/>
              </a:rPr>
              <a:t>Transitivity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740403" y="4959187"/>
            <a:ext cx="158750" cy="1498600"/>
          </a:xfrm>
          <a:custGeom>
            <a:avLst/>
            <a:gdLst/>
            <a:ahLst/>
            <a:cxnLst/>
            <a:rect l="l" t="t" r="r" b="b"/>
            <a:pathLst>
              <a:path w="158750" h="1498600">
                <a:moveTo>
                  <a:pt x="88141" y="126999"/>
                </a:moveTo>
                <a:lnTo>
                  <a:pt x="70606" y="126999"/>
                </a:lnTo>
                <a:lnTo>
                  <a:pt x="63500" y="134108"/>
                </a:lnTo>
                <a:lnTo>
                  <a:pt x="63498" y="1491111"/>
                </a:lnTo>
                <a:lnTo>
                  <a:pt x="70606" y="1498219"/>
                </a:lnTo>
                <a:lnTo>
                  <a:pt x="88141" y="1498219"/>
                </a:lnTo>
                <a:lnTo>
                  <a:pt x="95248" y="1491111"/>
                </a:lnTo>
                <a:lnTo>
                  <a:pt x="95250" y="134108"/>
                </a:lnTo>
                <a:lnTo>
                  <a:pt x="88141" y="126999"/>
                </a:lnTo>
                <a:close/>
              </a:path>
              <a:path w="158750" h="1498600">
                <a:moveTo>
                  <a:pt x="79375" y="0"/>
                </a:moveTo>
                <a:lnTo>
                  <a:pt x="0" y="158749"/>
                </a:lnTo>
                <a:lnTo>
                  <a:pt x="63499" y="158749"/>
                </a:lnTo>
                <a:lnTo>
                  <a:pt x="63500" y="134108"/>
                </a:lnTo>
                <a:lnTo>
                  <a:pt x="70606" y="126999"/>
                </a:lnTo>
                <a:lnTo>
                  <a:pt x="142875" y="126999"/>
                </a:lnTo>
                <a:lnTo>
                  <a:pt x="79375" y="0"/>
                </a:lnTo>
                <a:close/>
              </a:path>
              <a:path w="158750" h="1498600">
                <a:moveTo>
                  <a:pt x="142875" y="126999"/>
                </a:moveTo>
                <a:lnTo>
                  <a:pt x="88141" y="126999"/>
                </a:lnTo>
                <a:lnTo>
                  <a:pt x="95250" y="134108"/>
                </a:lnTo>
                <a:lnTo>
                  <a:pt x="95249" y="158749"/>
                </a:lnTo>
                <a:lnTo>
                  <a:pt x="158750" y="158749"/>
                </a:lnTo>
                <a:lnTo>
                  <a:pt x="142875" y="12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803903" y="6367009"/>
            <a:ext cx="1869439" cy="158750"/>
          </a:xfrm>
          <a:custGeom>
            <a:avLst/>
            <a:gdLst/>
            <a:ahLst/>
            <a:cxnLst/>
            <a:rect l="l" t="t" r="r" b="b"/>
            <a:pathLst>
              <a:path w="1869439" h="158750">
                <a:moveTo>
                  <a:pt x="1837263" y="63499"/>
                </a:moveTo>
                <a:lnTo>
                  <a:pt x="1734906" y="63499"/>
                </a:lnTo>
                <a:lnTo>
                  <a:pt x="1742013" y="70607"/>
                </a:lnTo>
                <a:lnTo>
                  <a:pt x="1742012" y="88143"/>
                </a:lnTo>
                <a:lnTo>
                  <a:pt x="1734906" y="95249"/>
                </a:lnTo>
                <a:lnTo>
                  <a:pt x="1710263" y="95250"/>
                </a:lnTo>
                <a:lnTo>
                  <a:pt x="1710263" y="158749"/>
                </a:lnTo>
                <a:lnTo>
                  <a:pt x="1869013" y="79374"/>
                </a:lnTo>
                <a:lnTo>
                  <a:pt x="1837263" y="63499"/>
                </a:lnTo>
                <a:close/>
              </a:path>
              <a:path w="1869439" h="158750">
                <a:moveTo>
                  <a:pt x="1734906" y="63499"/>
                </a:moveTo>
                <a:lnTo>
                  <a:pt x="15875" y="63500"/>
                </a:lnTo>
                <a:lnTo>
                  <a:pt x="7106" y="63500"/>
                </a:lnTo>
                <a:lnTo>
                  <a:pt x="1" y="70607"/>
                </a:lnTo>
                <a:lnTo>
                  <a:pt x="0" y="88143"/>
                </a:lnTo>
                <a:lnTo>
                  <a:pt x="7106" y="95250"/>
                </a:lnTo>
                <a:lnTo>
                  <a:pt x="1710263" y="95250"/>
                </a:lnTo>
                <a:lnTo>
                  <a:pt x="1710263" y="63500"/>
                </a:lnTo>
                <a:lnTo>
                  <a:pt x="1734906" y="63500"/>
                </a:lnTo>
                <a:close/>
              </a:path>
              <a:path w="1869439" h="158750">
                <a:moveTo>
                  <a:pt x="1734906" y="63500"/>
                </a:moveTo>
                <a:lnTo>
                  <a:pt x="1710263" y="63500"/>
                </a:lnTo>
                <a:lnTo>
                  <a:pt x="1710263" y="95250"/>
                </a:lnTo>
                <a:lnTo>
                  <a:pt x="1734906" y="95249"/>
                </a:lnTo>
                <a:lnTo>
                  <a:pt x="1742012" y="88143"/>
                </a:lnTo>
                <a:lnTo>
                  <a:pt x="1742013" y="70607"/>
                </a:lnTo>
                <a:lnTo>
                  <a:pt x="1734906" y="63500"/>
                </a:lnTo>
                <a:close/>
              </a:path>
              <a:path w="1869439" h="158750">
                <a:moveTo>
                  <a:pt x="1710263" y="0"/>
                </a:moveTo>
                <a:lnTo>
                  <a:pt x="1710263" y="63500"/>
                </a:lnTo>
                <a:lnTo>
                  <a:pt x="1837263" y="63499"/>
                </a:lnTo>
                <a:lnTo>
                  <a:pt x="17102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3712316" y="4571491"/>
            <a:ext cx="1485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Anti-symmetry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7328860" y="5710448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40" h="154939">
                <a:moveTo>
                  <a:pt x="0" y="0"/>
                </a:moveTo>
                <a:lnTo>
                  <a:pt x="154522" y="0"/>
                </a:lnTo>
                <a:lnTo>
                  <a:pt x="154522" y="154522"/>
                </a:lnTo>
                <a:lnTo>
                  <a:pt x="0" y="15452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838139" y="5269969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615723" y="554094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29"/>
                </a:lnTo>
                <a:lnTo>
                  <a:pt x="0" y="164629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276769" y="4959187"/>
            <a:ext cx="158750" cy="1498600"/>
          </a:xfrm>
          <a:custGeom>
            <a:avLst/>
            <a:gdLst/>
            <a:ahLst/>
            <a:cxnLst/>
            <a:rect l="l" t="t" r="r" b="b"/>
            <a:pathLst>
              <a:path w="158750" h="1498600">
                <a:moveTo>
                  <a:pt x="88143" y="126999"/>
                </a:moveTo>
                <a:lnTo>
                  <a:pt x="70608" y="126999"/>
                </a:lnTo>
                <a:lnTo>
                  <a:pt x="63500" y="134108"/>
                </a:lnTo>
                <a:lnTo>
                  <a:pt x="63500" y="1491111"/>
                </a:lnTo>
                <a:lnTo>
                  <a:pt x="70606" y="1498219"/>
                </a:lnTo>
                <a:lnTo>
                  <a:pt x="88141" y="1498219"/>
                </a:lnTo>
                <a:lnTo>
                  <a:pt x="95250" y="1491111"/>
                </a:lnTo>
                <a:lnTo>
                  <a:pt x="95250" y="134108"/>
                </a:lnTo>
                <a:lnTo>
                  <a:pt x="88143" y="126999"/>
                </a:lnTo>
                <a:close/>
              </a:path>
              <a:path w="158750" h="1498600">
                <a:moveTo>
                  <a:pt x="79376" y="0"/>
                </a:moveTo>
                <a:lnTo>
                  <a:pt x="0" y="158749"/>
                </a:lnTo>
                <a:lnTo>
                  <a:pt x="63500" y="158749"/>
                </a:lnTo>
                <a:lnTo>
                  <a:pt x="63500" y="134108"/>
                </a:lnTo>
                <a:lnTo>
                  <a:pt x="70608" y="126999"/>
                </a:lnTo>
                <a:lnTo>
                  <a:pt x="142875" y="126999"/>
                </a:lnTo>
                <a:lnTo>
                  <a:pt x="79376" y="0"/>
                </a:lnTo>
                <a:close/>
              </a:path>
              <a:path w="158750" h="1498600">
                <a:moveTo>
                  <a:pt x="142875" y="126999"/>
                </a:moveTo>
                <a:lnTo>
                  <a:pt x="88143" y="126999"/>
                </a:lnTo>
                <a:lnTo>
                  <a:pt x="95250" y="134108"/>
                </a:lnTo>
                <a:lnTo>
                  <a:pt x="95250" y="158749"/>
                </a:lnTo>
                <a:lnTo>
                  <a:pt x="158750" y="158749"/>
                </a:lnTo>
                <a:lnTo>
                  <a:pt x="142875" y="12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340269" y="6367009"/>
            <a:ext cx="1869439" cy="158750"/>
          </a:xfrm>
          <a:custGeom>
            <a:avLst/>
            <a:gdLst/>
            <a:ahLst/>
            <a:cxnLst/>
            <a:rect l="l" t="t" r="r" b="b"/>
            <a:pathLst>
              <a:path w="1869440" h="158750">
                <a:moveTo>
                  <a:pt x="1837263" y="63499"/>
                </a:moveTo>
                <a:lnTo>
                  <a:pt x="1734906" y="63499"/>
                </a:lnTo>
                <a:lnTo>
                  <a:pt x="1742013" y="70607"/>
                </a:lnTo>
                <a:lnTo>
                  <a:pt x="1742012" y="88143"/>
                </a:lnTo>
                <a:lnTo>
                  <a:pt x="1734906" y="95249"/>
                </a:lnTo>
                <a:lnTo>
                  <a:pt x="1710263" y="95250"/>
                </a:lnTo>
                <a:lnTo>
                  <a:pt x="1710263" y="158749"/>
                </a:lnTo>
                <a:lnTo>
                  <a:pt x="1869013" y="79374"/>
                </a:lnTo>
                <a:lnTo>
                  <a:pt x="1837263" y="63499"/>
                </a:lnTo>
                <a:close/>
              </a:path>
              <a:path w="1869440" h="158750">
                <a:moveTo>
                  <a:pt x="1734906" y="63499"/>
                </a:moveTo>
                <a:lnTo>
                  <a:pt x="15875" y="63500"/>
                </a:lnTo>
                <a:lnTo>
                  <a:pt x="7108" y="63500"/>
                </a:lnTo>
                <a:lnTo>
                  <a:pt x="1" y="70607"/>
                </a:lnTo>
                <a:lnTo>
                  <a:pt x="0" y="88143"/>
                </a:lnTo>
                <a:lnTo>
                  <a:pt x="7108" y="95250"/>
                </a:lnTo>
                <a:lnTo>
                  <a:pt x="1710263" y="95250"/>
                </a:lnTo>
                <a:lnTo>
                  <a:pt x="1710263" y="63500"/>
                </a:lnTo>
                <a:lnTo>
                  <a:pt x="1734906" y="63500"/>
                </a:lnTo>
                <a:close/>
              </a:path>
              <a:path w="1869440" h="158750">
                <a:moveTo>
                  <a:pt x="1734906" y="63500"/>
                </a:moveTo>
                <a:lnTo>
                  <a:pt x="1710263" y="63500"/>
                </a:lnTo>
                <a:lnTo>
                  <a:pt x="1710263" y="95250"/>
                </a:lnTo>
                <a:lnTo>
                  <a:pt x="1734906" y="95249"/>
                </a:lnTo>
                <a:lnTo>
                  <a:pt x="1742012" y="88143"/>
                </a:lnTo>
                <a:lnTo>
                  <a:pt x="1742013" y="70607"/>
                </a:lnTo>
                <a:lnTo>
                  <a:pt x="1734906" y="63500"/>
                </a:lnTo>
                <a:close/>
              </a:path>
              <a:path w="1869440" h="158750">
                <a:moveTo>
                  <a:pt x="1710263" y="0"/>
                </a:moveTo>
                <a:lnTo>
                  <a:pt x="1710263" y="63500"/>
                </a:lnTo>
                <a:lnTo>
                  <a:pt x="1837263" y="63499"/>
                </a:lnTo>
                <a:lnTo>
                  <a:pt x="17102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2673615" y="6458994"/>
            <a:ext cx="4027804" cy="39814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005840">
              <a:lnSpc>
                <a:spcPct val="100000"/>
              </a:lnSpc>
              <a:spcBef>
                <a:spcPts val="204"/>
              </a:spcBef>
              <a:tabLst>
                <a:tab pos="3542029" algn="l"/>
              </a:tabLst>
            </a:pPr>
            <a:r>
              <a:rPr dirty="0" sz="1400" b="1">
                <a:latin typeface="Corbel"/>
                <a:cs typeface="Corbel"/>
              </a:rPr>
              <a:t>O	O</a:t>
            </a:r>
            <a:endParaRPr sz="14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414334" y="4110115"/>
            <a:ext cx="3527425" cy="76136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2000" spc="-5">
                <a:latin typeface="Calibri"/>
                <a:cs typeface="Calibri"/>
              </a:rPr>
              <a:t>has </a:t>
            </a:r>
            <a:r>
              <a:rPr dirty="0" sz="2000">
                <a:latin typeface="Calibri"/>
                <a:cs typeface="Calibri"/>
              </a:rPr>
              <a:t>a </a:t>
            </a:r>
            <a:r>
              <a:rPr dirty="0" sz="2000" spc="-10">
                <a:latin typeface="Calibri"/>
                <a:cs typeface="Calibri"/>
              </a:rPr>
              <a:t>valid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embedding</a:t>
            </a:r>
            <a:endParaRPr sz="2000">
              <a:latin typeface="Calibri"/>
              <a:cs typeface="Calibri"/>
            </a:endParaRPr>
          </a:p>
          <a:p>
            <a:pPr marL="846455">
              <a:lnSpc>
                <a:spcPct val="100000"/>
              </a:lnSpc>
              <a:spcBef>
                <a:spcPts val="580"/>
              </a:spcBef>
            </a:pPr>
            <a:r>
              <a:rPr dirty="0" sz="1800" spc="-5">
                <a:latin typeface="Arial"/>
                <a:cs typeface="Arial"/>
              </a:rPr>
              <a:t>Closure under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intersection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4831080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381365" cy="1973580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/>
              <a:t>We </a:t>
            </a:r>
            <a:r>
              <a:rPr dirty="0" spc="-5"/>
              <a:t>use </a:t>
            </a:r>
            <a:r>
              <a:rPr dirty="0"/>
              <a:t>a </a:t>
            </a:r>
            <a:r>
              <a:rPr dirty="0" spc="-5"/>
              <a:t>GNN </a:t>
            </a:r>
            <a:r>
              <a:rPr dirty="0" spc="-15"/>
              <a:t>to </a:t>
            </a:r>
            <a:r>
              <a:rPr dirty="0" spc="-5"/>
              <a:t>learn </a:t>
            </a:r>
            <a:r>
              <a:rPr dirty="0" spc="-15"/>
              <a:t>to </a:t>
            </a:r>
            <a:r>
              <a:rPr dirty="0" spc="-5"/>
              <a:t>embed neighborhoods  </a:t>
            </a:r>
            <a:r>
              <a:rPr dirty="0"/>
              <a:t>and </a:t>
            </a:r>
            <a:r>
              <a:rPr dirty="0" spc="-10"/>
              <a:t>preserve </a:t>
            </a:r>
            <a:r>
              <a:rPr dirty="0"/>
              <a:t>the </a:t>
            </a:r>
            <a:r>
              <a:rPr dirty="0" spc="-10" b="1">
                <a:solidFill>
                  <a:srgbClr val="008000"/>
                </a:solidFill>
                <a:latin typeface="Calibri"/>
                <a:cs typeface="Calibri"/>
              </a:rPr>
              <a:t>order </a:t>
            </a:r>
            <a:r>
              <a:rPr dirty="0" spc="-5" b="1">
                <a:solidFill>
                  <a:srgbClr val="008000"/>
                </a:solidFill>
                <a:latin typeface="Calibri"/>
                <a:cs typeface="Calibri"/>
              </a:rPr>
              <a:t>embedding</a:t>
            </a:r>
            <a:r>
              <a:rPr dirty="0" spc="-1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pc="-15"/>
              <a:t>structure</a:t>
            </a:r>
          </a:p>
          <a:p>
            <a:pPr marL="332740" marR="92075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 b="1">
                <a:latin typeface="Calibri"/>
                <a:cs typeface="Calibri"/>
              </a:rPr>
              <a:t>What 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loss function </a:t>
            </a:r>
            <a:r>
              <a:rPr dirty="0" spc="-5" b="1">
                <a:latin typeface="Calibri"/>
                <a:cs typeface="Calibri"/>
              </a:rPr>
              <a:t>should </a:t>
            </a:r>
            <a:r>
              <a:rPr dirty="0" spc="-15" b="1">
                <a:latin typeface="Calibri"/>
                <a:cs typeface="Calibri"/>
              </a:rPr>
              <a:t>we </a:t>
            </a:r>
            <a:r>
              <a:rPr dirty="0" spc="-5" b="1">
                <a:latin typeface="Calibri"/>
                <a:cs typeface="Calibri"/>
              </a:rPr>
              <a:t>use, so </a:t>
            </a:r>
            <a:r>
              <a:rPr dirty="0" spc="-10" b="1">
                <a:latin typeface="Calibri"/>
                <a:cs typeface="Calibri"/>
              </a:rPr>
              <a:t>that </a:t>
            </a:r>
            <a:r>
              <a:rPr dirty="0" spc="-5" b="1">
                <a:latin typeface="Calibri"/>
                <a:cs typeface="Calibri"/>
              </a:rPr>
              <a:t>the  learned </a:t>
            </a:r>
            <a:r>
              <a:rPr dirty="0" spc="-10" b="1">
                <a:latin typeface="Calibri"/>
                <a:cs typeface="Calibri"/>
              </a:rPr>
              <a:t>order </a:t>
            </a:r>
            <a:r>
              <a:rPr dirty="0" spc="-5" b="1">
                <a:latin typeface="Calibri"/>
                <a:cs typeface="Calibri"/>
              </a:rPr>
              <a:t>embedding </a:t>
            </a:r>
            <a:r>
              <a:rPr dirty="0" spc="-10" b="1">
                <a:latin typeface="Calibri"/>
                <a:cs typeface="Calibri"/>
              </a:rPr>
              <a:t>reflects </a:t>
            </a:r>
            <a:r>
              <a:rPr dirty="0" spc="-5" b="1">
                <a:latin typeface="Calibri"/>
                <a:cs typeface="Calibri"/>
              </a:rPr>
              <a:t>the</a:t>
            </a:r>
            <a:r>
              <a:rPr dirty="0" b="1">
                <a:latin typeface="Calibri"/>
                <a:cs typeface="Calibri"/>
              </a:rPr>
              <a:t> </a:t>
            </a:r>
            <a:r>
              <a:rPr dirty="0" spc="-15" b="1">
                <a:latin typeface="Calibri"/>
                <a:cs typeface="Calibri"/>
              </a:rPr>
              <a:t>subgraph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45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3305555"/>
            <a:ext cx="8258809" cy="2420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>
              <a:lnSpc>
                <a:spcPts val="3815"/>
              </a:lnSpc>
              <a:spcBef>
                <a:spcPts val="100"/>
              </a:spcBef>
            </a:pPr>
            <a:r>
              <a:rPr dirty="0" sz="3200" spc="-10" b="1">
                <a:latin typeface="Calibri"/>
                <a:cs typeface="Calibri"/>
              </a:rPr>
              <a:t>relationship?</a:t>
            </a:r>
            <a:endParaRPr sz="3200">
              <a:latin typeface="Calibri"/>
              <a:cs typeface="Calibri"/>
            </a:endParaRPr>
          </a:p>
          <a:p>
            <a:pPr marL="332740" marR="591820" indent="-320040">
              <a:lnSpc>
                <a:spcPts val="3790"/>
              </a:lnSpc>
              <a:spcBef>
                <a:spcPts val="1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>
                <a:latin typeface="Calibri"/>
                <a:cs typeface="Calibri"/>
              </a:rPr>
              <a:t>We </a:t>
            </a:r>
            <a:r>
              <a:rPr dirty="0" sz="3200" spc="-5">
                <a:latin typeface="Calibri"/>
                <a:cs typeface="Calibri"/>
              </a:rPr>
              <a:t>design loss functions based on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order  </a:t>
            </a: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constraint: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ts val="3310"/>
              </a:lnSpc>
              <a:spcBef>
                <a:spcPts val="79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Order </a:t>
            </a:r>
            <a:r>
              <a:rPr dirty="0" sz="2800" spc="-20">
                <a:latin typeface="Calibri"/>
                <a:cs typeface="Calibri"/>
              </a:rPr>
              <a:t>constraint </a:t>
            </a:r>
            <a:r>
              <a:rPr dirty="0" sz="2800" spc="-10">
                <a:latin typeface="Calibri"/>
                <a:cs typeface="Calibri"/>
              </a:rPr>
              <a:t>specifies </a:t>
            </a:r>
            <a:r>
              <a:rPr dirty="0" sz="2800" spc="-5">
                <a:latin typeface="Calibri"/>
                <a:cs typeface="Calibri"/>
              </a:rPr>
              <a:t>the ideal </a:t>
            </a:r>
            <a:r>
              <a:rPr dirty="0" sz="2800" spc="-15">
                <a:latin typeface="Calibri"/>
                <a:cs typeface="Calibri"/>
              </a:rPr>
              <a:t>order </a:t>
            </a:r>
            <a:r>
              <a:rPr dirty="0" sz="2800" spc="-60">
                <a:latin typeface="Calibri"/>
                <a:cs typeface="Calibri"/>
              </a:rPr>
              <a:t>embedding  </a:t>
            </a:r>
            <a:r>
              <a:rPr dirty="0" sz="2800" spc="-10">
                <a:latin typeface="Calibri"/>
                <a:cs typeface="Calibri"/>
              </a:rPr>
              <a:t>property that </a:t>
            </a:r>
            <a:r>
              <a:rPr dirty="0" sz="2800" spc="-15">
                <a:latin typeface="Calibri"/>
                <a:cs typeface="Calibri"/>
              </a:rPr>
              <a:t>reflects </a:t>
            </a:r>
            <a:r>
              <a:rPr dirty="0" sz="2800" spc="-10">
                <a:latin typeface="Calibri"/>
                <a:cs typeface="Calibri"/>
              </a:rPr>
              <a:t>subgraph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relationships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4834128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85"/>
              </a:spcBef>
            </a:pPr>
            <a:r>
              <a:rPr dirty="0" spc="-60"/>
              <a:t>We </a:t>
            </a:r>
            <a:r>
              <a:rPr dirty="0" spc="-5"/>
              <a:t>specify the </a:t>
            </a:r>
            <a:r>
              <a:rPr dirty="0" spc="-10"/>
              <a:t>order </a:t>
            </a:r>
            <a:r>
              <a:rPr dirty="0" spc="-20"/>
              <a:t>constraint </a:t>
            </a:r>
            <a:r>
              <a:rPr dirty="0" spc="-15"/>
              <a:t>to </a:t>
            </a:r>
            <a:r>
              <a:rPr dirty="0" spc="-10"/>
              <a:t>ensure that  </a:t>
            </a:r>
            <a:r>
              <a:rPr dirty="0" spc="-5"/>
              <a:t>the </a:t>
            </a:r>
            <a:r>
              <a:rPr dirty="0" spc="-15"/>
              <a:t>subgraph </a:t>
            </a:r>
            <a:r>
              <a:rPr dirty="0" spc="-10"/>
              <a:t>properties </a:t>
            </a:r>
            <a:r>
              <a:rPr dirty="0" spc="-20"/>
              <a:t>are </a:t>
            </a:r>
            <a:r>
              <a:rPr dirty="0" spc="-10"/>
              <a:t>preserved </a:t>
            </a:r>
            <a:r>
              <a:rPr dirty="0"/>
              <a:t>in </a:t>
            </a:r>
            <a:r>
              <a:rPr dirty="0" spc="-5"/>
              <a:t>the  </a:t>
            </a:r>
            <a:r>
              <a:rPr dirty="0" spc="-10"/>
              <a:t>order </a:t>
            </a:r>
            <a:r>
              <a:rPr dirty="0" spc="-5"/>
              <a:t>embedding</a:t>
            </a:r>
            <a:r>
              <a:rPr dirty="0" spc="-70"/>
              <a:t> </a:t>
            </a:r>
            <a:r>
              <a:rPr dirty="0" spc="-5"/>
              <a:t>space</a:t>
            </a:r>
          </a:p>
        </p:txBody>
      </p:sp>
      <p:sp>
        <p:nvSpPr>
          <p:cNvPr id="4" name="object 4"/>
          <p:cNvSpPr/>
          <p:nvPr/>
        </p:nvSpPr>
        <p:spPr>
          <a:xfrm>
            <a:off x="6863608" y="5101212"/>
            <a:ext cx="984885" cy="40005"/>
          </a:xfrm>
          <a:custGeom>
            <a:avLst/>
            <a:gdLst/>
            <a:ahLst/>
            <a:cxnLst/>
            <a:rect l="l" t="t" r="r" b="b"/>
            <a:pathLst>
              <a:path w="984884" h="40004">
                <a:moveTo>
                  <a:pt x="896274" y="7053"/>
                </a:moveTo>
                <a:lnTo>
                  <a:pt x="889111" y="14104"/>
                </a:lnTo>
                <a:lnTo>
                  <a:pt x="888972" y="31638"/>
                </a:lnTo>
                <a:lnTo>
                  <a:pt x="896023" y="38802"/>
                </a:lnTo>
                <a:lnTo>
                  <a:pt x="977055" y="39444"/>
                </a:lnTo>
                <a:lnTo>
                  <a:pt x="984219" y="32393"/>
                </a:lnTo>
                <a:lnTo>
                  <a:pt x="984357" y="14860"/>
                </a:lnTo>
                <a:lnTo>
                  <a:pt x="977306" y="7696"/>
                </a:lnTo>
                <a:lnTo>
                  <a:pt x="896274" y="7053"/>
                </a:lnTo>
                <a:close/>
              </a:path>
              <a:path w="984884" h="40004">
                <a:moveTo>
                  <a:pt x="769278" y="6045"/>
                </a:moveTo>
                <a:lnTo>
                  <a:pt x="762115" y="13096"/>
                </a:lnTo>
                <a:lnTo>
                  <a:pt x="761975" y="30631"/>
                </a:lnTo>
                <a:lnTo>
                  <a:pt x="769026" y="37795"/>
                </a:lnTo>
                <a:lnTo>
                  <a:pt x="850059" y="38437"/>
                </a:lnTo>
                <a:lnTo>
                  <a:pt x="857223" y="31386"/>
                </a:lnTo>
                <a:lnTo>
                  <a:pt x="857361" y="13851"/>
                </a:lnTo>
                <a:lnTo>
                  <a:pt x="850311" y="6689"/>
                </a:lnTo>
                <a:lnTo>
                  <a:pt x="769278" y="6045"/>
                </a:lnTo>
                <a:close/>
              </a:path>
              <a:path w="984884" h="40004">
                <a:moveTo>
                  <a:pt x="642283" y="5038"/>
                </a:moveTo>
                <a:lnTo>
                  <a:pt x="635119" y="12089"/>
                </a:lnTo>
                <a:lnTo>
                  <a:pt x="634979" y="29624"/>
                </a:lnTo>
                <a:lnTo>
                  <a:pt x="642030" y="36786"/>
                </a:lnTo>
                <a:lnTo>
                  <a:pt x="723063" y="37430"/>
                </a:lnTo>
                <a:lnTo>
                  <a:pt x="730227" y="30379"/>
                </a:lnTo>
                <a:lnTo>
                  <a:pt x="730366" y="12844"/>
                </a:lnTo>
                <a:lnTo>
                  <a:pt x="723315" y="5680"/>
                </a:lnTo>
                <a:lnTo>
                  <a:pt x="642283" y="5038"/>
                </a:lnTo>
                <a:close/>
              </a:path>
              <a:path w="984884" h="40004">
                <a:moveTo>
                  <a:pt x="515287" y="4030"/>
                </a:moveTo>
                <a:lnTo>
                  <a:pt x="508123" y="11082"/>
                </a:lnTo>
                <a:lnTo>
                  <a:pt x="507984" y="28615"/>
                </a:lnTo>
                <a:lnTo>
                  <a:pt x="515034" y="35779"/>
                </a:lnTo>
                <a:lnTo>
                  <a:pt x="596068" y="36422"/>
                </a:lnTo>
                <a:lnTo>
                  <a:pt x="603230" y="29371"/>
                </a:lnTo>
                <a:lnTo>
                  <a:pt x="603370" y="11837"/>
                </a:lnTo>
                <a:lnTo>
                  <a:pt x="596319" y="4673"/>
                </a:lnTo>
                <a:lnTo>
                  <a:pt x="515287" y="4030"/>
                </a:lnTo>
                <a:close/>
              </a:path>
              <a:path w="984884" h="40004">
                <a:moveTo>
                  <a:pt x="388291" y="3022"/>
                </a:moveTo>
                <a:lnTo>
                  <a:pt x="381126" y="10073"/>
                </a:lnTo>
                <a:lnTo>
                  <a:pt x="380988" y="27608"/>
                </a:lnTo>
                <a:lnTo>
                  <a:pt x="388039" y="34772"/>
                </a:lnTo>
                <a:lnTo>
                  <a:pt x="469071" y="35415"/>
                </a:lnTo>
                <a:lnTo>
                  <a:pt x="476234" y="28364"/>
                </a:lnTo>
                <a:lnTo>
                  <a:pt x="476374" y="10829"/>
                </a:lnTo>
                <a:lnTo>
                  <a:pt x="469323" y="3666"/>
                </a:lnTo>
                <a:lnTo>
                  <a:pt x="388291" y="3022"/>
                </a:lnTo>
                <a:close/>
              </a:path>
              <a:path w="984884" h="40004">
                <a:moveTo>
                  <a:pt x="261294" y="2015"/>
                </a:moveTo>
                <a:lnTo>
                  <a:pt x="254130" y="9066"/>
                </a:lnTo>
                <a:lnTo>
                  <a:pt x="253992" y="26601"/>
                </a:lnTo>
                <a:lnTo>
                  <a:pt x="261043" y="33764"/>
                </a:lnTo>
                <a:lnTo>
                  <a:pt x="342075" y="34406"/>
                </a:lnTo>
                <a:lnTo>
                  <a:pt x="349239" y="27357"/>
                </a:lnTo>
                <a:lnTo>
                  <a:pt x="349378" y="9822"/>
                </a:lnTo>
                <a:lnTo>
                  <a:pt x="342327" y="2658"/>
                </a:lnTo>
                <a:lnTo>
                  <a:pt x="261294" y="2015"/>
                </a:lnTo>
                <a:close/>
              </a:path>
              <a:path w="984884" h="40004">
                <a:moveTo>
                  <a:pt x="134298" y="1008"/>
                </a:moveTo>
                <a:lnTo>
                  <a:pt x="127135" y="8059"/>
                </a:lnTo>
                <a:lnTo>
                  <a:pt x="126996" y="25593"/>
                </a:lnTo>
                <a:lnTo>
                  <a:pt x="134047" y="32757"/>
                </a:lnTo>
                <a:lnTo>
                  <a:pt x="215079" y="33399"/>
                </a:lnTo>
                <a:lnTo>
                  <a:pt x="222243" y="26348"/>
                </a:lnTo>
                <a:lnTo>
                  <a:pt x="222382" y="8815"/>
                </a:lnTo>
                <a:lnTo>
                  <a:pt x="215331" y="1650"/>
                </a:lnTo>
                <a:lnTo>
                  <a:pt x="134298" y="1008"/>
                </a:lnTo>
                <a:close/>
              </a:path>
              <a:path w="984884" h="40004">
                <a:moveTo>
                  <a:pt x="7302" y="0"/>
                </a:moveTo>
                <a:lnTo>
                  <a:pt x="139" y="7051"/>
                </a:lnTo>
                <a:lnTo>
                  <a:pt x="0" y="24585"/>
                </a:lnTo>
                <a:lnTo>
                  <a:pt x="7051" y="31748"/>
                </a:lnTo>
                <a:lnTo>
                  <a:pt x="88083" y="32392"/>
                </a:lnTo>
                <a:lnTo>
                  <a:pt x="95247" y="25341"/>
                </a:lnTo>
                <a:lnTo>
                  <a:pt x="95385" y="7806"/>
                </a:lnTo>
                <a:lnTo>
                  <a:pt x="88336" y="642"/>
                </a:lnTo>
                <a:lnTo>
                  <a:pt x="7302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902195" y="5186099"/>
            <a:ext cx="31750" cy="984250"/>
          </a:xfrm>
          <a:custGeom>
            <a:avLst/>
            <a:gdLst/>
            <a:ahLst/>
            <a:cxnLst/>
            <a:rect l="l" t="t" r="r" b="b"/>
            <a:pathLst>
              <a:path w="31750" h="984250">
                <a:moveTo>
                  <a:pt x="24641" y="0"/>
                </a:moveTo>
                <a:lnTo>
                  <a:pt x="7106" y="0"/>
                </a:lnTo>
                <a:lnTo>
                  <a:pt x="0" y="7108"/>
                </a:lnTo>
                <a:lnTo>
                  <a:pt x="0" y="88143"/>
                </a:lnTo>
                <a:lnTo>
                  <a:pt x="7106" y="95250"/>
                </a:lnTo>
                <a:lnTo>
                  <a:pt x="24641" y="95250"/>
                </a:lnTo>
                <a:lnTo>
                  <a:pt x="31750" y="88143"/>
                </a:lnTo>
                <a:lnTo>
                  <a:pt x="31750" y="7108"/>
                </a:lnTo>
                <a:lnTo>
                  <a:pt x="24641" y="0"/>
                </a:lnTo>
                <a:close/>
              </a:path>
              <a:path w="31750" h="984250">
                <a:moveTo>
                  <a:pt x="24641" y="127000"/>
                </a:moveTo>
                <a:lnTo>
                  <a:pt x="7106" y="127000"/>
                </a:lnTo>
                <a:lnTo>
                  <a:pt x="0" y="134108"/>
                </a:lnTo>
                <a:lnTo>
                  <a:pt x="0" y="215143"/>
                </a:lnTo>
                <a:lnTo>
                  <a:pt x="7106" y="222250"/>
                </a:lnTo>
                <a:lnTo>
                  <a:pt x="24641" y="222250"/>
                </a:lnTo>
                <a:lnTo>
                  <a:pt x="31750" y="215143"/>
                </a:lnTo>
                <a:lnTo>
                  <a:pt x="31750" y="134108"/>
                </a:lnTo>
                <a:lnTo>
                  <a:pt x="24641" y="127000"/>
                </a:lnTo>
                <a:close/>
              </a:path>
              <a:path w="31750" h="984250">
                <a:moveTo>
                  <a:pt x="24641" y="254000"/>
                </a:moveTo>
                <a:lnTo>
                  <a:pt x="7106" y="254000"/>
                </a:lnTo>
                <a:lnTo>
                  <a:pt x="0" y="261108"/>
                </a:lnTo>
                <a:lnTo>
                  <a:pt x="0" y="342143"/>
                </a:lnTo>
                <a:lnTo>
                  <a:pt x="7106" y="349250"/>
                </a:lnTo>
                <a:lnTo>
                  <a:pt x="24641" y="349250"/>
                </a:lnTo>
                <a:lnTo>
                  <a:pt x="31750" y="342143"/>
                </a:lnTo>
                <a:lnTo>
                  <a:pt x="31750" y="261108"/>
                </a:lnTo>
                <a:lnTo>
                  <a:pt x="24641" y="254000"/>
                </a:lnTo>
                <a:close/>
              </a:path>
              <a:path w="31750" h="984250">
                <a:moveTo>
                  <a:pt x="24641" y="381000"/>
                </a:moveTo>
                <a:lnTo>
                  <a:pt x="7106" y="381000"/>
                </a:lnTo>
                <a:lnTo>
                  <a:pt x="0" y="388108"/>
                </a:lnTo>
                <a:lnTo>
                  <a:pt x="0" y="469142"/>
                </a:lnTo>
                <a:lnTo>
                  <a:pt x="7106" y="476250"/>
                </a:lnTo>
                <a:lnTo>
                  <a:pt x="24643" y="476250"/>
                </a:lnTo>
                <a:lnTo>
                  <a:pt x="31750" y="469142"/>
                </a:lnTo>
                <a:lnTo>
                  <a:pt x="31750" y="388108"/>
                </a:lnTo>
                <a:lnTo>
                  <a:pt x="24641" y="381000"/>
                </a:lnTo>
                <a:close/>
              </a:path>
              <a:path w="31750" h="984250">
                <a:moveTo>
                  <a:pt x="24643" y="508000"/>
                </a:moveTo>
                <a:lnTo>
                  <a:pt x="7106" y="508000"/>
                </a:lnTo>
                <a:lnTo>
                  <a:pt x="0" y="515107"/>
                </a:lnTo>
                <a:lnTo>
                  <a:pt x="0" y="596142"/>
                </a:lnTo>
                <a:lnTo>
                  <a:pt x="7108" y="603250"/>
                </a:lnTo>
                <a:lnTo>
                  <a:pt x="24643" y="603250"/>
                </a:lnTo>
                <a:lnTo>
                  <a:pt x="31749" y="596142"/>
                </a:lnTo>
                <a:lnTo>
                  <a:pt x="31750" y="515107"/>
                </a:lnTo>
                <a:lnTo>
                  <a:pt x="24643" y="508000"/>
                </a:lnTo>
                <a:close/>
              </a:path>
              <a:path w="31750" h="984250">
                <a:moveTo>
                  <a:pt x="24643" y="635000"/>
                </a:moveTo>
                <a:lnTo>
                  <a:pt x="7108" y="635000"/>
                </a:lnTo>
                <a:lnTo>
                  <a:pt x="0" y="642107"/>
                </a:lnTo>
                <a:lnTo>
                  <a:pt x="0" y="723142"/>
                </a:lnTo>
                <a:lnTo>
                  <a:pt x="7108" y="730250"/>
                </a:lnTo>
                <a:lnTo>
                  <a:pt x="24643" y="730250"/>
                </a:lnTo>
                <a:lnTo>
                  <a:pt x="31750" y="723142"/>
                </a:lnTo>
                <a:lnTo>
                  <a:pt x="31750" y="642107"/>
                </a:lnTo>
                <a:lnTo>
                  <a:pt x="24643" y="635000"/>
                </a:lnTo>
                <a:close/>
              </a:path>
              <a:path w="31750" h="984250">
                <a:moveTo>
                  <a:pt x="24643" y="762000"/>
                </a:moveTo>
                <a:lnTo>
                  <a:pt x="7108" y="762000"/>
                </a:lnTo>
                <a:lnTo>
                  <a:pt x="0" y="769107"/>
                </a:lnTo>
                <a:lnTo>
                  <a:pt x="0" y="850142"/>
                </a:lnTo>
                <a:lnTo>
                  <a:pt x="7108" y="857250"/>
                </a:lnTo>
                <a:lnTo>
                  <a:pt x="24643" y="857250"/>
                </a:lnTo>
                <a:lnTo>
                  <a:pt x="31750" y="850142"/>
                </a:lnTo>
                <a:lnTo>
                  <a:pt x="31750" y="769107"/>
                </a:lnTo>
                <a:lnTo>
                  <a:pt x="24643" y="762000"/>
                </a:lnTo>
                <a:close/>
              </a:path>
              <a:path w="31750" h="984250">
                <a:moveTo>
                  <a:pt x="24643" y="889000"/>
                </a:moveTo>
                <a:lnTo>
                  <a:pt x="7108" y="889000"/>
                </a:lnTo>
                <a:lnTo>
                  <a:pt x="0" y="896107"/>
                </a:lnTo>
                <a:lnTo>
                  <a:pt x="0" y="977142"/>
                </a:lnTo>
                <a:lnTo>
                  <a:pt x="7108" y="984250"/>
                </a:lnTo>
                <a:lnTo>
                  <a:pt x="24643" y="984250"/>
                </a:lnTo>
                <a:lnTo>
                  <a:pt x="31750" y="977142"/>
                </a:lnTo>
                <a:lnTo>
                  <a:pt x="31750" y="896107"/>
                </a:lnTo>
                <a:lnTo>
                  <a:pt x="24643" y="88900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73043" y="5632267"/>
            <a:ext cx="243204" cy="632460"/>
          </a:xfrm>
          <a:custGeom>
            <a:avLst/>
            <a:gdLst/>
            <a:ahLst/>
            <a:cxnLst/>
            <a:rect l="l" t="t" r="r" b="b"/>
            <a:pathLst>
              <a:path w="243204" h="632460">
                <a:moveTo>
                  <a:pt x="242715" y="632123"/>
                </a:moveTo>
                <a:lnTo>
                  <a:pt x="0" y="0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12623" y="5528052"/>
            <a:ext cx="274955" cy="0"/>
          </a:xfrm>
          <a:custGeom>
            <a:avLst/>
            <a:gdLst/>
            <a:ahLst/>
            <a:cxnLst/>
            <a:rect l="l" t="t" r="r" b="b"/>
            <a:pathLst>
              <a:path w="274954" h="0">
                <a:moveTo>
                  <a:pt x="274700" y="0"/>
                </a:moveTo>
                <a:lnTo>
                  <a:pt x="0" y="1"/>
                </a:lnTo>
              </a:path>
            </a:pathLst>
          </a:custGeom>
          <a:ln w="31750">
            <a:solidFill>
              <a:srgbClr val="6868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00327" y="5528052"/>
            <a:ext cx="248285" cy="255904"/>
          </a:xfrm>
          <a:custGeom>
            <a:avLst/>
            <a:gdLst/>
            <a:ahLst/>
            <a:cxnLst/>
            <a:rect l="l" t="t" r="r" b="b"/>
            <a:pathLst>
              <a:path w="248285" h="255904">
                <a:moveTo>
                  <a:pt x="247667" y="0"/>
                </a:moveTo>
                <a:lnTo>
                  <a:pt x="0" y="255306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000327" y="5783359"/>
            <a:ext cx="248285" cy="241300"/>
          </a:xfrm>
          <a:custGeom>
            <a:avLst/>
            <a:gdLst/>
            <a:ahLst/>
            <a:cxnLst/>
            <a:rect l="l" t="t" r="r" b="b"/>
            <a:pathLst>
              <a:path w="248285" h="241300">
                <a:moveTo>
                  <a:pt x="247667" y="241052"/>
                </a:moveTo>
                <a:lnTo>
                  <a:pt x="0" y="0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405211" y="5610083"/>
            <a:ext cx="31750" cy="580390"/>
          </a:xfrm>
          <a:custGeom>
            <a:avLst/>
            <a:gdLst/>
            <a:ahLst/>
            <a:cxnLst/>
            <a:rect l="l" t="t" r="r" b="b"/>
            <a:pathLst>
              <a:path w="31750" h="580389">
                <a:moveTo>
                  <a:pt x="24641" y="0"/>
                </a:moveTo>
                <a:lnTo>
                  <a:pt x="7106" y="0"/>
                </a:lnTo>
                <a:lnTo>
                  <a:pt x="0" y="7107"/>
                </a:lnTo>
                <a:lnTo>
                  <a:pt x="0" y="88142"/>
                </a:lnTo>
                <a:lnTo>
                  <a:pt x="7106" y="95250"/>
                </a:lnTo>
                <a:lnTo>
                  <a:pt x="24641" y="95249"/>
                </a:lnTo>
                <a:lnTo>
                  <a:pt x="31750" y="88142"/>
                </a:lnTo>
                <a:lnTo>
                  <a:pt x="31750" y="7107"/>
                </a:lnTo>
                <a:lnTo>
                  <a:pt x="24641" y="0"/>
                </a:lnTo>
                <a:close/>
              </a:path>
              <a:path w="31750" h="580389">
                <a:moveTo>
                  <a:pt x="24641" y="126999"/>
                </a:moveTo>
                <a:lnTo>
                  <a:pt x="7106" y="127000"/>
                </a:lnTo>
                <a:lnTo>
                  <a:pt x="0" y="134107"/>
                </a:lnTo>
                <a:lnTo>
                  <a:pt x="0" y="215142"/>
                </a:lnTo>
                <a:lnTo>
                  <a:pt x="7106" y="222250"/>
                </a:lnTo>
                <a:lnTo>
                  <a:pt x="24643" y="222249"/>
                </a:lnTo>
                <a:lnTo>
                  <a:pt x="31750" y="215142"/>
                </a:lnTo>
                <a:lnTo>
                  <a:pt x="31750" y="134107"/>
                </a:lnTo>
                <a:lnTo>
                  <a:pt x="24641" y="126999"/>
                </a:lnTo>
                <a:close/>
              </a:path>
              <a:path w="31750" h="580389">
                <a:moveTo>
                  <a:pt x="24643" y="253999"/>
                </a:moveTo>
                <a:lnTo>
                  <a:pt x="7106" y="254000"/>
                </a:lnTo>
                <a:lnTo>
                  <a:pt x="0" y="261107"/>
                </a:lnTo>
                <a:lnTo>
                  <a:pt x="0" y="342142"/>
                </a:lnTo>
                <a:lnTo>
                  <a:pt x="7108" y="349250"/>
                </a:lnTo>
                <a:lnTo>
                  <a:pt x="24643" y="349250"/>
                </a:lnTo>
                <a:lnTo>
                  <a:pt x="31750" y="342142"/>
                </a:lnTo>
                <a:lnTo>
                  <a:pt x="31750" y="261107"/>
                </a:lnTo>
                <a:lnTo>
                  <a:pt x="24643" y="253999"/>
                </a:lnTo>
                <a:close/>
              </a:path>
              <a:path w="31750" h="580389">
                <a:moveTo>
                  <a:pt x="24643" y="381000"/>
                </a:moveTo>
                <a:lnTo>
                  <a:pt x="7108" y="381000"/>
                </a:lnTo>
                <a:lnTo>
                  <a:pt x="0" y="388107"/>
                </a:lnTo>
                <a:lnTo>
                  <a:pt x="0" y="469142"/>
                </a:lnTo>
                <a:lnTo>
                  <a:pt x="7108" y="476250"/>
                </a:lnTo>
                <a:lnTo>
                  <a:pt x="24643" y="476250"/>
                </a:lnTo>
                <a:lnTo>
                  <a:pt x="31750" y="469142"/>
                </a:lnTo>
                <a:lnTo>
                  <a:pt x="31750" y="388107"/>
                </a:lnTo>
                <a:lnTo>
                  <a:pt x="24643" y="381000"/>
                </a:lnTo>
                <a:close/>
              </a:path>
              <a:path w="31750" h="580389">
                <a:moveTo>
                  <a:pt x="24643" y="508000"/>
                </a:moveTo>
                <a:lnTo>
                  <a:pt x="7108" y="508000"/>
                </a:lnTo>
                <a:lnTo>
                  <a:pt x="0" y="515107"/>
                </a:lnTo>
                <a:lnTo>
                  <a:pt x="0" y="573155"/>
                </a:lnTo>
                <a:lnTo>
                  <a:pt x="7108" y="580263"/>
                </a:lnTo>
                <a:lnTo>
                  <a:pt x="24643" y="580263"/>
                </a:lnTo>
                <a:lnTo>
                  <a:pt x="31750" y="573155"/>
                </a:lnTo>
                <a:lnTo>
                  <a:pt x="31750" y="515107"/>
                </a:lnTo>
                <a:lnTo>
                  <a:pt x="24643" y="50800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900557" y="5537820"/>
            <a:ext cx="465455" cy="35560"/>
          </a:xfrm>
          <a:custGeom>
            <a:avLst/>
            <a:gdLst/>
            <a:ahLst/>
            <a:cxnLst/>
            <a:rect l="l" t="t" r="r" b="b"/>
            <a:pathLst>
              <a:path w="465454" h="35560">
                <a:moveTo>
                  <a:pt x="7301" y="0"/>
                </a:moveTo>
                <a:lnTo>
                  <a:pt x="137" y="7052"/>
                </a:lnTo>
                <a:lnTo>
                  <a:pt x="0" y="24585"/>
                </a:lnTo>
                <a:lnTo>
                  <a:pt x="7052" y="31750"/>
                </a:lnTo>
                <a:lnTo>
                  <a:pt x="88084" y="32384"/>
                </a:lnTo>
                <a:lnTo>
                  <a:pt x="95247" y="25332"/>
                </a:lnTo>
                <a:lnTo>
                  <a:pt x="95384" y="7799"/>
                </a:lnTo>
                <a:lnTo>
                  <a:pt x="88333" y="634"/>
                </a:lnTo>
                <a:lnTo>
                  <a:pt x="7301" y="0"/>
                </a:lnTo>
                <a:close/>
              </a:path>
              <a:path w="465454" h="35560">
                <a:moveTo>
                  <a:pt x="134296" y="995"/>
                </a:moveTo>
                <a:lnTo>
                  <a:pt x="127133" y="8047"/>
                </a:lnTo>
                <a:lnTo>
                  <a:pt x="126996" y="25581"/>
                </a:lnTo>
                <a:lnTo>
                  <a:pt x="134048" y="32744"/>
                </a:lnTo>
                <a:lnTo>
                  <a:pt x="215080" y="33379"/>
                </a:lnTo>
                <a:lnTo>
                  <a:pt x="222243" y="26328"/>
                </a:lnTo>
                <a:lnTo>
                  <a:pt x="222380" y="8793"/>
                </a:lnTo>
                <a:lnTo>
                  <a:pt x="215329" y="1630"/>
                </a:lnTo>
                <a:lnTo>
                  <a:pt x="134296" y="995"/>
                </a:lnTo>
                <a:close/>
              </a:path>
              <a:path w="465454" h="35560">
                <a:moveTo>
                  <a:pt x="261292" y="1991"/>
                </a:moveTo>
                <a:lnTo>
                  <a:pt x="254129" y="9042"/>
                </a:lnTo>
                <a:lnTo>
                  <a:pt x="253992" y="26577"/>
                </a:lnTo>
                <a:lnTo>
                  <a:pt x="261043" y="33740"/>
                </a:lnTo>
                <a:lnTo>
                  <a:pt x="342077" y="34375"/>
                </a:lnTo>
                <a:lnTo>
                  <a:pt x="349239" y="27324"/>
                </a:lnTo>
                <a:lnTo>
                  <a:pt x="349376" y="9789"/>
                </a:lnTo>
                <a:lnTo>
                  <a:pt x="342325" y="2626"/>
                </a:lnTo>
                <a:lnTo>
                  <a:pt x="261292" y="1991"/>
                </a:lnTo>
                <a:close/>
              </a:path>
              <a:path w="465454" h="35560">
                <a:moveTo>
                  <a:pt x="388288" y="2987"/>
                </a:moveTo>
                <a:lnTo>
                  <a:pt x="381125" y="10038"/>
                </a:lnTo>
                <a:lnTo>
                  <a:pt x="380988" y="27572"/>
                </a:lnTo>
                <a:lnTo>
                  <a:pt x="388039" y="34735"/>
                </a:lnTo>
                <a:lnTo>
                  <a:pt x="457848" y="35283"/>
                </a:lnTo>
                <a:lnTo>
                  <a:pt x="465011" y="28230"/>
                </a:lnTo>
                <a:lnTo>
                  <a:pt x="465150" y="10697"/>
                </a:lnTo>
                <a:lnTo>
                  <a:pt x="458097" y="3534"/>
                </a:lnTo>
                <a:lnTo>
                  <a:pt x="388288" y="298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808025" y="4715121"/>
            <a:ext cx="158750" cy="1498600"/>
          </a:xfrm>
          <a:custGeom>
            <a:avLst/>
            <a:gdLst/>
            <a:ahLst/>
            <a:cxnLst/>
            <a:rect l="l" t="t" r="r" b="b"/>
            <a:pathLst>
              <a:path w="158750" h="1498600">
                <a:moveTo>
                  <a:pt x="88143" y="126999"/>
                </a:moveTo>
                <a:lnTo>
                  <a:pt x="70608" y="126999"/>
                </a:lnTo>
                <a:lnTo>
                  <a:pt x="63500" y="134106"/>
                </a:lnTo>
                <a:lnTo>
                  <a:pt x="63500" y="1491111"/>
                </a:lnTo>
                <a:lnTo>
                  <a:pt x="70606" y="1498218"/>
                </a:lnTo>
                <a:lnTo>
                  <a:pt x="88141" y="1498218"/>
                </a:lnTo>
                <a:lnTo>
                  <a:pt x="95250" y="1491111"/>
                </a:lnTo>
                <a:lnTo>
                  <a:pt x="95250" y="134106"/>
                </a:lnTo>
                <a:lnTo>
                  <a:pt x="88143" y="126999"/>
                </a:lnTo>
                <a:close/>
              </a:path>
              <a:path w="158750" h="1498600">
                <a:moveTo>
                  <a:pt x="79375" y="0"/>
                </a:moveTo>
                <a:lnTo>
                  <a:pt x="0" y="158749"/>
                </a:lnTo>
                <a:lnTo>
                  <a:pt x="63500" y="158749"/>
                </a:lnTo>
                <a:lnTo>
                  <a:pt x="63500" y="134106"/>
                </a:lnTo>
                <a:lnTo>
                  <a:pt x="70608" y="126999"/>
                </a:lnTo>
                <a:lnTo>
                  <a:pt x="142875" y="126999"/>
                </a:lnTo>
                <a:lnTo>
                  <a:pt x="79375" y="0"/>
                </a:lnTo>
                <a:close/>
              </a:path>
              <a:path w="158750" h="1498600">
                <a:moveTo>
                  <a:pt x="142875" y="126999"/>
                </a:moveTo>
                <a:lnTo>
                  <a:pt x="88143" y="126999"/>
                </a:lnTo>
                <a:lnTo>
                  <a:pt x="95250" y="134106"/>
                </a:lnTo>
                <a:lnTo>
                  <a:pt x="95250" y="158749"/>
                </a:lnTo>
                <a:lnTo>
                  <a:pt x="158750" y="158749"/>
                </a:lnTo>
                <a:lnTo>
                  <a:pt x="142875" y="12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871525" y="6122941"/>
            <a:ext cx="1869439" cy="158750"/>
          </a:xfrm>
          <a:custGeom>
            <a:avLst/>
            <a:gdLst/>
            <a:ahLst/>
            <a:cxnLst/>
            <a:rect l="l" t="t" r="r" b="b"/>
            <a:pathLst>
              <a:path w="1869440" h="158750">
                <a:moveTo>
                  <a:pt x="1837263" y="63500"/>
                </a:moveTo>
                <a:lnTo>
                  <a:pt x="1734906" y="63500"/>
                </a:lnTo>
                <a:lnTo>
                  <a:pt x="1742013" y="70607"/>
                </a:lnTo>
                <a:lnTo>
                  <a:pt x="1742012" y="88143"/>
                </a:lnTo>
                <a:lnTo>
                  <a:pt x="1734906" y="95250"/>
                </a:lnTo>
                <a:lnTo>
                  <a:pt x="1710263" y="95250"/>
                </a:lnTo>
                <a:lnTo>
                  <a:pt x="1710263" y="158750"/>
                </a:lnTo>
                <a:lnTo>
                  <a:pt x="1869013" y="79374"/>
                </a:lnTo>
                <a:lnTo>
                  <a:pt x="1837263" y="63500"/>
                </a:lnTo>
                <a:close/>
              </a:path>
              <a:path w="1869440" h="158750">
                <a:moveTo>
                  <a:pt x="1710263" y="63500"/>
                </a:moveTo>
                <a:lnTo>
                  <a:pt x="15875" y="63500"/>
                </a:lnTo>
                <a:lnTo>
                  <a:pt x="7108" y="63500"/>
                </a:lnTo>
                <a:lnTo>
                  <a:pt x="1" y="70607"/>
                </a:lnTo>
                <a:lnTo>
                  <a:pt x="0" y="88143"/>
                </a:lnTo>
                <a:lnTo>
                  <a:pt x="7108" y="95250"/>
                </a:lnTo>
                <a:lnTo>
                  <a:pt x="1710263" y="95250"/>
                </a:lnTo>
                <a:lnTo>
                  <a:pt x="1710263" y="63500"/>
                </a:lnTo>
                <a:close/>
              </a:path>
              <a:path w="1869440" h="158750">
                <a:moveTo>
                  <a:pt x="1734906" y="63500"/>
                </a:moveTo>
                <a:lnTo>
                  <a:pt x="1710263" y="63500"/>
                </a:lnTo>
                <a:lnTo>
                  <a:pt x="1710263" y="95250"/>
                </a:lnTo>
                <a:lnTo>
                  <a:pt x="1734906" y="95250"/>
                </a:lnTo>
                <a:lnTo>
                  <a:pt x="1742012" y="88143"/>
                </a:lnTo>
                <a:lnTo>
                  <a:pt x="1742013" y="70607"/>
                </a:lnTo>
                <a:lnTo>
                  <a:pt x="1734906" y="63500"/>
                </a:lnTo>
                <a:close/>
              </a:path>
              <a:path w="1869440" h="158750">
                <a:moveTo>
                  <a:pt x="1710263" y="0"/>
                </a:moveTo>
                <a:lnTo>
                  <a:pt x="1710263" y="63500"/>
                </a:lnTo>
                <a:lnTo>
                  <a:pt x="1837263" y="63500"/>
                </a:lnTo>
                <a:lnTo>
                  <a:pt x="17102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236433" y="6274308"/>
            <a:ext cx="156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orbel"/>
                <a:cs typeface="Corbel"/>
              </a:rPr>
              <a:t>O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79939" y="4327652"/>
            <a:ext cx="1854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Embedding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space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832024" y="5047452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40" h="154939">
                <a:moveTo>
                  <a:pt x="0" y="0"/>
                </a:moveTo>
                <a:lnTo>
                  <a:pt x="154522" y="0"/>
                </a:lnTo>
                <a:lnTo>
                  <a:pt x="154522" y="154522"/>
                </a:lnTo>
                <a:lnTo>
                  <a:pt x="0" y="15452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349763" y="5474845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835698" y="5701043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247993" y="544573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29"/>
                </a:lnTo>
                <a:lnTo>
                  <a:pt x="0" y="164629"/>
                </a:lnTo>
                <a:lnTo>
                  <a:pt x="0" y="0"/>
                </a:lnTo>
                <a:close/>
              </a:path>
            </a:pathLst>
          </a:custGeom>
          <a:solidFill>
            <a:srgbClr val="9D9D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247993" y="5942095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29"/>
                </a:lnTo>
                <a:lnTo>
                  <a:pt x="0" y="164629"/>
                </a:lnTo>
                <a:lnTo>
                  <a:pt x="0" y="0"/>
                </a:lnTo>
                <a:close/>
              </a:path>
            </a:pathLst>
          </a:custGeom>
          <a:solidFill>
            <a:srgbClr val="9D9D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687322" y="5445738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29"/>
                </a:lnTo>
                <a:lnTo>
                  <a:pt x="0" y="164629"/>
                </a:lnTo>
                <a:lnTo>
                  <a:pt x="0" y="0"/>
                </a:lnTo>
                <a:close/>
              </a:path>
            </a:pathLst>
          </a:custGeom>
          <a:solidFill>
            <a:srgbClr val="9D9D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980386" y="5387440"/>
            <a:ext cx="274955" cy="0"/>
          </a:xfrm>
          <a:custGeom>
            <a:avLst/>
            <a:gdLst/>
            <a:ahLst/>
            <a:cxnLst/>
            <a:rect l="l" t="t" r="r" b="b"/>
            <a:pathLst>
              <a:path w="274954" h="0">
                <a:moveTo>
                  <a:pt x="274700" y="0"/>
                </a:moveTo>
                <a:lnTo>
                  <a:pt x="0" y="1"/>
                </a:lnTo>
              </a:path>
            </a:pathLst>
          </a:custGeom>
          <a:ln w="31750">
            <a:solidFill>
              <a:srgbClr val="6868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568091" y="5387440"/>
            <a:ext cx="248285" cy="255904"/>
          </a:xfrm>
          <a:custGeom>
            <a:avLst/>
            <a:gdLst/>
            <a:ahLst/>
            <a:cxnLst/>
            <a:rect l="l" t="t" r="r" b="b"/>
            <a:pathLst>
              <a:path w="248285" h="255904">
                <a:moveTo>
                  <a:pt x="247667" y="0"/>
                </a:moveTo>
                <a:lnTo>
                  <a:pt x="0" y="255306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568091" y="5642745"/>
            <a:ext cx="248285" cy="241300"/>
          </a:xfrm>
          <a:custGeom>
            <a:avLst/>
            <a:gdLst/>
            <a:ahLst/>
            <a:cxnLst/>
            <a:rect l="l" t="t" r="r" b="b"/>
            <a:pathLst>
              <a:path w="248285" h="241300">
                <a:moveTo>
                  <a:pt x="247667" y="241052"/>
                </a:moveTo>
                <a:lnTo>
                  <a:pt x="0" y="0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815757" y="5305125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9D9D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815757" y="5801482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29"/>
                </a:lnTo>
                <a:lnTo>
                  <a:pt x="0" y="164629"/>
                </a:lnTo>
                <a:lnTo>
                  <a:pt x="0" y="0"/>
                </a:lnTo>
                <a:close/>
              </a:path>
            </a:pathLst>
          </a:custGeom>
          <a:solidFill>
            <a:srgbClr val="9D9D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255086" y="5305125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9D9D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418521" y="5555006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39" h="154939">
                <a:moveTo>
                  <a:pt x="0" y="0"/>
                </a:moveTo>
                <a:lnTo>
                  <a:pt x="154522" y="0"/>
                </a:lnTo>
                <a:lnTo>
                  <a:pt x="154522" y="154522"/>
                </a:lnTo>
                <a:lnTo>
                  <a:pt x="0" y="15452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815757" y="6182074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29"/>
                </a:lnTo>
                <a:lnTo>
                  <a:pt x="0" y="164629"/>
                </a:lnTo>
                <a:lnTo>
                  <a:pt x="0" y="0"/>
                </a:lnTo>
                <a:close/>
              </a:path>
            </a:pathLst>
          </a:custGeom>
          <a:solidFill>
            <a:srgbClr val="9D9D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980387" y="5469755"/>
            <a:ext cx="357505" cy="414655"/>
          </a:xfrm>
          <a:custGeom>
            <a:avLst/>
            <a:gdLst/>
            <a:ahLst/>
            <a:cxnLst/>
            <a:rect l="l" t="t" r="r" b="b"/>
            <a:pathLst>
              <a:path w="357504" h="414654">
                <a:moveTo>
                  <a:pt x="357014" y="0"/>
                </a:moveTo>
                <a:lnTo>
                  <a:pt x="0" y="414043"/>
                </a:lnTo>
              </a:path>
            </a:pathLst>
          </a:custGeom>
          <a:ln w="31750">
            <a:solidFill>
              <a:srgbClr val="6868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188161" y="4770706"/>
            <a:ext cx="14478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45"/>
              </a:lnSpc>
            </a:pPr>
            <a:r>
              <a:rPr dirty="0" sz="1400" spc="-30">
                <a:latin typeface="Arial"/>
                <a:cs typeface="Arial"/>
              </a:rPr>
              <a:t>a</a:t>
            </a:r>
            <a:r>
              <a:rPr dirty="0" sz="1400">
                <a:latin typeface="Arial"/>
                <a:cs typeface="Arial"/>
              </a:rPr>
              <a:t>t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66009" y="4741164"/>
            <a:ext cx="915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</a:rPr>
              <a:t>is</a:t>
            </a:r>
            <a:r>
              <a:rPr dirty="0" sz="1400" spc="-13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subgraph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22314" y="4741164"/>
            <a:ext cx="1738630" cy="443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45"/>
              </a:lnSpc>
              <a:spcBef>
                <a:spcPts val="100"/>
              </a:spcBef>
            </a:pPr>
            <a:r>
              <a:rPr dirty="0" sz="1400" spc="-30">
                <a:latin typeface="Arial"/>
                <a:cs typeface="Arial"/>
              </a:rPr>
              <a:t>Subgraph</a:t>
            </a:r>
            <a:r>
              <a:rPr dirty="0" sz="1400" spc="-11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anchored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45"/>
              </a:lnSpc>
            </a:pPr>
            <a:r>
              <a:rPr dirty="0" sz="1400" spc="-15">
                <a:latin typeface="Arial"/>
                <a:cs typeface="Arial"/>
              </a:rPr>
              <a:t>of the </a:t>
            </a:r>
            <a:r>
              <a:rPr dirty="0" sz="1400" spc="-20">
                <a:latin typeface="Arial"/>
                <a:cs typeface="Arial"/>
              </a:rPr>
              <a:t>one </a:t>
            </a:r>
            <a:r>
              <a:rPr dirty="0" sz="1400" spc="-25">
                <a:latin typeface="Arial"/>
                <a:cs typeface="Arial"/>
              </a:rPr>
              <a:t>anchored</a:t>
            </a:r>
            <a:r>
              <a:rPr dirty="0" sz="1400" spc="-215">
                <a:latin typeface="Arial"/>
                <a:cs typeface="Arial"/>
              </a:rPr>
              <a:t> </a:t>
            </a:r>
            <a:r>
              <a:rPr dirty="0" sz="1400" spc="-30">
                <a:latin typeface="Arial"/>
                <a:cs typeface="Arial"/>
              </a:rPr>
              <a:t>at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167843" y="4778747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413793" y="5002895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4" h="164464">
                <a:moveTo>
                  <a:pt x="0" y="0"/>
                </a:moveTo>
                <a:lnTo>
                  <a:pt x="163976" y="0"/>
                </a:lnTo>
                <a:lnTo>
                  <a:pt x="163976" y="163976"/>
                </a:lnTo>
                <a:lnTo>
                  <a:pt x="0" y="163976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349336" y="4595846"/>
            <a:ext cx="3533775" cy="1854200"/>
          </a:xfrm>
          <a:custGeom>
            <a:avLst/>
            <a:gdLst/>
            <a:ahLst/>
            <a:cxnLst/>
            <a:rect l="l" t="t" r="r" b="b"/>
            <a:pathLst>
              <a:path w="3533775" h="1854200">
                <a:moveTo>
                  <a:pt x="3029294" y="1841500"/>
                </a:moveTo>
                <a:lnTo>
                  <a:pt x="223791" y="1841500"/>
                </a:lnTo>
                <a:lnTo>
                  <a:pt x="254261" y="1854200"/>
                </a:lnTo>
                <a:lnTo>
                  <a:pt x="2998868" y="1854200"/>
                </a:lnTo>
                <a:lnTo>
                  <a:pt x="3029294" y="1841500"/>
                </a:lnTo>
                <a:close/>
              </a:path>
              <a:path w="3533775" h="1854200">
                <a:moveTo>
                  <a:pt x="15380" y="1541713"/>
                </a:moveTo>
                <a:lnTo>
                  <a:pt x="16" y="1549400"/>
                </a:lnTo>
                <a:lnTo>
                  <a:pt x="1720" y="1574800"/>
                </a:lnTo>
                <a:lnTo>
                  <a:pt x="6596" y="1612900"/>
                </a:lnTo>
                <a:lnTo>
                  <a:pt x="14483" y="1638300"/>
                </a:lnTo>
                <a:lnTo>
                  <a:pt x="25222" y="1663700"/>
                </a:lnTo>
                <a:lnTo>
                  <a:pt x="38649" y="1689100"/>
                </a:lnTo>
                <a:lnTo>
                  <a:pt x="54607" y="1727200"/>
                </a:lnTo>
                <a:lnTo>
                  <a:pt x="72933" y="1739900"/>
                </a:lnTo>
                <a:lnTo>
                  <a:pt x="93470" y="1765300"/>
                </a:lnTo>
                <a:lnTo>
                  <a:pt x="116061" y="1790700"/>
                </a:lnTo>
                <a:lnTo>
                  <a:pt x="140548" y="1803400"/>
                </a:lnTo>
                <a:lnTo>
                  <a:pt x="166771" y="1828800"/>
                </a:lnTo>
                <a:lnTo>
                  <a:pt x="194574" y="1841500"/>
                </a:lnTo>
                <a:lnTo>
                  <a:pt x="256561" y="1841500"/>
                </a:lnTo>
                <a:lnTo>
                  <a:pt x="227587" y="1828800"/>
                </a:lnTo>
                <a:lnTo>
                  <a:pt x="199811" y="1816100"/>
                </a:lnTo>
                <a:lnTo>
                  <a:pt x="173385" y="1803400"/>
                </a:lnTo>
                <a:lnTo>
                  <a:pt x="148460" y="1790700"/>
                </a:lnTo>
                <a:lnTo>
                  <a:pt x="125188" y="1778000"/>
                </a:lnTo>
                <a:lnTo>
                  <a:pt x="103720" y="1752600"/>
                </a:lnTo>
                <a:lnTo>
                  <a:pt x="84212" y="1739900"/>
                </a:lnTo>
                <a:lnTo>
                  <a:pt x="51675" y="1689100"/>
                </a:lnTo>
                <a:lnTo>
                  <a:pt x="28794" y="1638300"/>
                </a:lnTo>
                <a:lnTo>
                  <a:pt x="21356" y="1600200"/>
                </a:lnTo>
                <a:lnTo>
                  <a:pt x="16785" y="1574800"/>
                </a:lnTo>
                <a:lnTo>
                  <a:pt x="15380" y="1541713"/>
                </a:lnTo>
                <a:close/>
              </a:path>
              <a:path w="3533775" h="1854200">
                <a:moveTo>
                  <a:pt x="1894815" y="1828800"/>
                </a:moveTo>
                <a:lnTo>
                  <a:pt x="257327" y="1828800"/>
                </a:lnTo>
                <a:lnTo>
                  <a:pt x="286838" y="1841500"/>
                </a:lnTo>
                <a:lnTo>
                  <a:pt x="2933611" y="1841500"/>
                </a:lnTo>
                <a:lnTo>
                  <a:pt x="1894815" y="1828800"/>
                </a:lnTo>
                <a:close/>
              </a:path>
              <a:path w="3533775" h="1854200">
                <a:moveTo>
                  <a:pt x="2993809" y="1828800"/>
                </a:moveTo>
                <a:lnTo>
                  <a:pt x="2963513" y="1828800"/>
                </a:lnTo>
                <a:lnTo>
                  <a:pt x="2933611" y="1841500"/>
                </a:lnTo>
                <a:lnTo>
                  <a:pt x="2964280" y="1841500"/>
                </a:lnTo>
                <a:lnTo>
                  <a:pt x="2993809" y="1828800"/>
                </a:lnTo>
                <a:close/>
              </a:path>
              <a:path w="3533775" h="1854200">
                <a:moveTo>
                  <a:pt x="3235764" y="1558759"/>
                </a:moveTo>
                <a:lnTo>
                  <a:pt x="3230477" y="1600200"/>
                </a:lnTo>
                <a:lnTo>
                  <a:pt x="3223014" y="1638300"/>
                </a:lnTo>
                <a:lnTo>
                  <a:pt x="3200091" y="1689100"/>
                </a:lnTo>
                <a:lnTo>
                  <a:pt x="3167517" y="1739900"/>
                </a:lnTo>
                <a:lnTo>
                  <a:pt x="3147990" y="1752600"/>
                </a:lnTo>
                <a:lnTo>
                  <a:pt x="3126508" y="1778000"/>
                </a:lnTo>
                <a:lnTo>
                  <a:pt x="3078281" y="1803400"/>
                </a:lnTo>
                <a:lnTo>
                  <a:pt x="3024056" y="1828800"/>
                </a:lnTo>
                <a:lnTo>
                  <a:pt x="2995074" y="1841500"/>
                </a:lnTo>
                <a:lnTo>
                  <a:pt x="3058457" y="1841500"/>
                </a:lnTo>
                <a:lnTo>
                  <a:pt x="3086193" y="1816100"/>
                </a:lnTo>
                <a:lnTo>
                  <a:pt x="3112347" y="1803400"/>
                </a:lnTo>
                <a:lnTo>
                  <a:pt x="3136759" y="1790700"/>
                </a:lnTo>
                <a:lnTo>
                  <a:pt x="3179723" y="1739900"/>
                </a:lnTo>
                <a:lnTo>
                  <a:pt x="3213821" y="1689100"/>
                </a:lnTo>
                <a:lnTo>
                  <a:pt x="3237774" y="1638300"/>
                </a:lnTo>
                <a:lnTo>
                  <a:pt x="3245543" y="1600200"/>
                </a:lnTo>
                <a:lnTo>
                  <a:pt x="3251079" y="1562100"/>
                </a:lnTo>
                <a:lnTo>
                  <a:pt x="3238078" y="1562100"/>
                </a:lnTo>
                <a:lnTo>
                  <a:pt x="3235764" y="1558759"/>
                </a:lnTo>
                <a:close/>
              </a:path>
              <a:path w="3533775" h="1854200">
                <a:moveTo>
                  <a:pt x="25045" y="1536877"/>
                </a:moveTo>
                <a:lnTo>
                  <a:pt x="20222" y="1539290"/>
                </a:lnTo>
                <a:lnTo>
                  <a:pt x="21807" y="1574800"/>
                </a:lnTo>
                <a:lnTo>
                  <a:pt x="26276" y="1600200"/>
                </a:lnTo>
                <a:lnTo>
                  <a:pt x="33566" y="1625600"/>
                </a:lnTo>
                <a:lnTo>
                  <a:pt x="43529" y="1663700"/>
                </a:lnTo>
                <a:lnTo>
                  <a:pt x="56017" y="1689100"/>
                </a:lnTo>
                <a:lnTo>
                  <a:pt x="70881" y="1714500"/>
                </a:lnTo>
                <a:lnTo>
                  <a:pt x="87971" y="1727200"/>
                </a:lnTo>
                <a:lnTo>
                  <a:pt x="107138" y="1752600"/>
                </a:lnTo>
                <a:lnTo>
                  <a:pt x="151098" y="1790700"/>
                </a:lnTo>
                <a:lnTo>
                  <a:pt x="201557" y="1816100"/>
                </a:lnTo>
                <a:lnTo>
                  <a:pt x="228852" y="1828800"/>
                </a:lnTo>
                <a:lnTo>
                  <a:pt x="258094" y="1828800"/>
                </a:lnTo>
                <a:lnTo>
                  <a:pt x="230117" y="1816100"/>
                </a:lnTo>
                <a:lnTo>
                  <a:pt x="203304" y="1816100"/>
                </a:lnTo>
                <a:lnTo>
                  <a:pt x="177794" y="1803400"/>
                </a:lnTo>
                <a:lnTo>
                  <a:pt x="153736" y="1790700"/>
                </a:lnTo>
                <a:lnTo>
                  <a:pt x="131273" y="1765300"/>
                </a:lnTo>
                <a:lnTo>
                  <a:pt x="110554" y="1752600"/>
                </a:lnTo>
                <a:lnTo>
                  <a:pt x="74949" y="1701800"/>
                </a:lnTo>
                <a:lnTo>
                  <a:pt x="48105" y="1651000"/>
                </a:lnTo>
                <a:lnTo>
                  <a:pt x="31195" y="1600200"/>
                </a:lnTo>
                <a:lnTo>
                  <a:pt x="25634" y="1549400"/>
                </a:lnTo>
                <a:lnTo>
                  <a:pt x="25400" y="1549400"/>
                </a:lnTo>
                <a:lnTo>
                  <a:pt x="25376" y="1543922"/>
                </a:lnTo>
                <a:lnTo>
                  <a:pt x="25045" y="1536877"/>
                </a:lnTo>
                <a:close/>
              </a:path>
              <a:path w="3533775" h="1854200">
                <a:moveTo>
                  <a:pt x="3226483" y="1543922"/>
                </a:moveTo>
                <a:lnTo>
                  <a:pt x="3224924" y="1574800"/>
                </a:lnTo>
                <a:lnTo>
                  <a:pt x="3220434" y="1600200"/>
                </a:lnTo>
                <a:lnTo>
                  <a:pt x="3213174" y="1625600"/>
                </a:lnTo>
                <a:lnTo>
                  <a:pt x="3203294" y="1651000"/>
                </a:lnTo>
                <a:lnTo>
                  <a:pt x="3190938" y="1689100"/>
                </a:lnTo>
                <a:lnTo>
                  <a:pt x="3176252" y="1701800"/>
                </a:lnTo>
                <a:lnTo>
                  <a:pt x="3159381" y="1727200"/>
                </a:lnTo>
                <a:lnTo>
                  <a:pt x="3140472" y="1752600"/>
                </a:lnTo>
                <a:lnTo>
                  <a:pt x="3119674" y="1765300"/>
                </a:lnTo>
                <a:lnTo>
                  <a:pt x="3097136" y="1790700"/>
                </a:lnTo>
                <a:lnTo>
                  <a:pt x="3073006" y="1803400"/>
                </a:lnTo>
                <a:lnTo>
                  <a:pt x="3047433" y="1816100"/>
                </a:lnTo>
                <a:lnTo>
                  <a:pt x="3020564" y="1816100"/>
                </a:lnTo>
                <a:lnTo>
                  <a:pt x="2992542" y="1828800"/>
                </a:lnTo>
                <a:lnTo>
                  <a:pt x="3022310" y="1828800"/>
                </a:lnTo>
                <a:lnTo>
                  <a:pt x="3049638" y="1816100"/>
                </a:lnTo>
                <a:lnTo>
                  <a:pt x="3100179" y="1790700"/>
                </a:lnTo>
                <a:lnTo>
                  <a:pt x="3144231" y="1752600"/>
                </a:lnTo>
                <a:lnTo>
                  <a:pt x="3163449" y="1727200"/>
                </a:lnTo>
                <a:lnTo>
                  <a:pt x="3180593" y="1714500"/>
                </a:lnTo>
                <a:lnTo>
                  <a:pt x="3195515" y="1689100"/>
                </a:lnTo>
                <a:lnTo>
                  <a:pt x="3208064" y="1663700"/>
                </a:lnTo>
                <a:lnTo>
                  <a:pt x="3218094" y="1625600"/>
                </a:lnTo>
                <a:lnTo>
                  <a:pt x="3225455" y="1600200"/>
                </a:lnTo>
                <a:lnTo>
                  <a:pt x="3229998" y="1574800"/>
                </a:lnTo>
                <a:lnTo>
                  <a:pt x="3231066" y="1551977"/>
                </a:lnTo>
                <a:lnTo>
                  <a:pt x="3229281" y="1549400"/>
                </a:lnTo>
                <a:lnTo>
                  <a:pt x="3226483" y="1549400"/>
                </a:lnTo>
                <a:lnTo>
                  <a:pt x="3226483" y="1543922"/>
                </a:lnTo>
                <a:close/>
              </a:path>
              <a:path w="3533775" h="1854200">
                <a:moveTo>
                  <a:pt x="3236499" y="1541711"/>
                </a:moveTo>
                <a:lnTo>
                  <a:pt x="3235764" y="1558759"/>
                </a:lnTo>
                <a:lnTo>
                  <a:pt x="3238078" y="1562100"/>
                </a:lnTo>
                <a:lnTo>
                  <a:pt x="3243299" y="1562100"/>
                </a:lnTo>
                <a:lnTo>
                  <a:pt x="3251505" y="1555226"/>
                </a:lnTo>
                <a:lnTo>
                  <a:pt x="3251866" y="1549400"/>
                </a:lnTo>
                <a:lnTo>
                  <a:pt x="3236499" y="1541711"/>
                </a:lnTo>
                <a:close/>
              </a:path>
              <a:path w="3533775" h="1854200">
                <a:moveTo>
                  <a:pt x="3251505" y="1555226"/>
                </a:moveTo>
                <a:lnTo>
                  <a:pt x="3243299" y="1562100"/>
                </a:lnTo>
                <a:lnTo>
                  <a:pt x="3251079" y="1562100"/>
                </a:lnTo>
                <a:lnTo>
                  <a:pt x="3251505" y="1555226"/>
                </a:lnTo>
                <a:close/>
              </a:path>
              <a:path w="3533775" h="1854200">
                <a:moveTo>
                  <a:pt x="3231660" y="1539290"/>
                </a:moveTo>
                <a:lnTo>
                  <a:pt x="3231066" y="1551977"/>
                </a:lnTo>
                <a:lnTo>
                  <a:pt x="3235764" y="1558759"/>
                </a:lnTo>
                <a:lnTo>
                  <a:pt x="3236499" y="1541711"/>
                </a:lnTo>
                <a:lnTo>
                  <a:pt x="3231660" y="1539290"/>
                </a:lnTo>
                <a:close/>
              </a:path>
              <a:path w="3533775" h="1854200">
                <a:moveTo>
                  <a:pt x="3057310" y="25400"/>
                </a:moveTo>
                <a:lnTo>
                  <a:pt x="2995322" y="25400"/>
                </a:lnTo>
                <a:lnTo>
                  <a:pt x="3024296" y="38100"/>
                </a:lnTo>
                <a:lnTo>
                  <a:pt x="3052071" y="50800"/>
                </a:lnTo>
                <a:lnTo>
                  <a:pt x="3078497" y="63500"/>
                </a:lnTo>
                <a:lnTo>
                  <a:pt x="3103422" y="76200"/>
                </a:lnTo>
                <a:lnTo>
                  <a:pt x="3126695" y="88900"/>
                </a:lnTo>
                <a:lnTo>
                  <a:pt x="3148162" y="114300"/>
                </a:lnTo>
                <a:lnTo>
                  <a:pt x="3167672" y="127000"/>
                </a:lnTo>
                <a:lnTo>
                  <a:pt x="3200209" y="177800"/>
                </a:lnTo>
                <a:lnTo>
                  <a:pt x="3223089" y="228600"/>
                </a:lnTo>
                <a:lnTo>
                  <a:pt x="3230528" y="266700"/>
                </a:lnTo>
                <a:lnTo>
                  <a:pt x="3236647" y="317500"/>
                </a:lnTo>
                <a:lnTo>
                  <a:pt x="3236643" y="1092200"/>
                </a:lnTo>
                <a:lnTo>
                  <a:pt x="3236981" y="1092200"/>
                </a:lnTo>
                <a:lnTo>
                  <a:pt x="3516440" y="1320800"/>
                </a:lnTo>
                <a:lnTo>
                  <a:pt x="3251883" y="1528715"/>
                </a:lnTo>
                <a:lnTo>
                  <a:pt x="3251883" y="1536700"/>
                </a:lnTo>
                <a:lnTo>
                  <a:pt x="3236715" y="1536700"/>
                </a:lnTo>
                <a:lnTo>
                  <a:pt x="3236502" y="1541713"/>
                </a:lnTo>
                <a:lnTo>
                  <a:pt x="3251866" y="1549400"/>
                </a:lnTo>
                <a:lnTo>
                  <a:pt x="3251505" y="1555226"/>
                </a:lnTo>
                <a:lnTo>
                  <a:pt x="3531382" y="1320800"/>
                </a:lnTo>
                <a:lnTo>
                  <a:pt x="3533134" y="1320800"/>
                </a:lnTo>
                <a:lnTo>
                  <a:pt x="3533198" y="1308100"/>
                </a:lnTo>
                <a:lnTo>
                  <a:pt x="3531506" y="1308100"/>
                </a:lnTo>
                <a:lnTo>
                  <a:pt x="3251883" y="1079500"/>
                </a:lnTo>
                <a:lnTo>
                  <a:pt x="3251866" y="317500"/>
                </a:lnTo>
                <a:lnTo>
                  <a:pt x="3250163" y="292100"/>
                </a:lnTo>
                <a:lnTo>
                  <a:pt x="3245288" y="254000"/>
                </a:lnTo>
                <a:lnTo>
                  <a:pt x="3237400" y="228600"/>
                </a:lnTo>
                <a:lnTo>
                  <a:pt x="3226662" y="203200"/>
                </a:lnTo>
                <a:lnTo>
                  <a:pt x="3213234" y="165100"/>
                </a:lnTo>
                <a:lnTo>
                  <a:pt x="3197277" y="139700"/>
                </a:lnTo>
                <a:lnTo>
                  <a:pt x="3178949" y="127000"/>
                </a:lnTo>
                <a:lnTo>
                  <a:pt x="3158412" y="101600"/>
                </a:lnTo>
                <a:lnTo>
                  <a:pt x="3135821" y="76200"/>
                </a:lnTo>
                <a:lnTo>
                  <a:pt x="3111336" y="63500"/>
                </a:lnTo>
                <a:lnTo>
                  <a:pt x="3085111" y="38100"/>
                </a:lnTo>
                <a:lnTo>
                  <a:pt x="3057310" y="25400"/>
                </a:lnTo>
                <a:close/>
              </a:path>
              <a:path w="3533775" h="1854200">
                <a:moveTo>
                  <a:pt x="3226838" y="1536877"/>
                </a:moveTo>
                <a:lnTo>
                  <a:pt x="3226594" y="1541711"/>
                </a:lnTo>
                <a:lnTo>
                  <a:pt x="3226483" y="1549400"/>
                </a:lnTo>
                <a:lnTo>
                  <a:pt x="3229281" y="1549400"/>
                </a:lnTo>
                <a:lnTo>
                  <a:pt x="3231066" y="1551977"/>
                </a:lnTo>
                <a:lnTo>
                  <a:pt x="3231660" y="1539290"/>
                </a:lnTo>
                <a:lnTo>
                  <a:pt x="3226838" y="1536877"/>
                </a:lnTo>
                <a:close/>
              </a:path>
              <a:path w="3533775" h="1854200">
                <a:moveTo>
                  <a:pt x="256810" y="25400"/>
                </a:moveTo>
                <a:lnTo>
                  <a:pt x="193427" y="25400"/>
                </a:lnTo>
                <a:lnTo>
                  <a:pt x="165689" y="38100"/>
                </a:lnTo>
                <a:lnTo>
                  <a:pt x="139536" y="63500"/>
                </a:lnTo>
                <a:lnTo>
                  <a:pt x="115125" y="76200"/>
                </a:lnTo>
                <a:lnTo>
                  <a:pt x="72161" y="127000"/>
                </a:lnTo>
                <a:lnTo>
                  <a:pt x="38063" y="177800"/>
                </a:lnTo>
                <a:lnTo>
                  <a:pt x="14109" y="228600"/>
                </a:lnTo>
                <a:lnTo>
                  <a:pt x="1591" y="292100"/>
                </a:lnTo>
                <a:lnTo>
                  <a:pt x="0" y="317500"/>
                </a:lnTo>
                <a:lnTo>
                  <a:pt x="0" y="1549400"/>
                </a:lnTo>
                <a:lnTo>
                  <a:pt x="15380" y="1541713"/>
                </a:lnTo>
                <a:lnTo>
                  <a:pt x="15167" y="1536700"/>
                </a:lnTo>
                <a:lnTo>
                  <a:pt x="5492" y="1536700"/>
                </a:lnTo>
                <a:lnTo>
                  <a:pt x="15239" y="1527713"/>
                </a:lnTo>
                <a:lnTo>
                  <a:pt x="15239" y="317500"/>
                </a:lnTo>
                <a:lnTo>
                  <a:pt x="16812" y="292100"/>
                </a:lnTo>
                <a:lnTo>
                  <a:pt x="28869" y="228600"/>
                </a:lnTo>
                <a:lnTo>
                  <a:pt x="51793" y="177800"/>
                </a:lnTo>
                <a:lnTo>
                  <a:pt x="84366" y="127000"/>
                </a:lnTo>
                <a:lnTo>
                  <a:pt x="103892" y="114300"/>
                </a:lnTo>
                <a:lnTo>
                  <a:pt x="125375" y="88900"/>
                </a:lnTo>
                <a:lnTo>
                  <a:pt x="148663" y="76200"/>
                </a:lnTo>
                <a:lnTo>
                  <a:pt x="173602" y="63500"/>
                </a:lnTo>
                <a:lnTo>
                  <a:pt x="200041" y="50800"/>
                </a:lnTo>
                <a:lnTo>
                  <a:pt x="227827" y="38100"/>
                </a:lnTo>
                <a:lnTo>
                  <a:pt x="256810" y="25400"/>
                </a:lnTo>
                <a:close/>
              </a:path>
              <a:path w="3533775" h="1854200">
                <a:moveTo>
                  <a:pt x="20218" y="1539292"/>
                </a:moveTo>
                <a:lnTo>
                  <a:pt x="15383" y="1541711"/>
                </a:lnTo>
                <a:lnTo>
                  <a:pt x="15706" y="1549400"/>
                </a:lnTo>
                <a:lnTo>
                  <a:pt x="20670" y="1549400"/>
                </a:lnTo>
                <a:lnTo>
                  <a:pt x="20218" y="1539292"/>
                </a:lnTo>
                <a:close/>
              </a:path>
              <a:path w="3533775" h="1854200">
                <a:moveTo>
                  <a:pt x="25400" y="1544417"/>
                </a:moveTo>
                <a:lnTo>
                  <a:pt x="25400" y="1549400"/>
                </a:lnTo>
                <a:lnTo>
                  <a:pt x="25634" y="1549400"/>
                </a:lnTo>
                <a:lnTo>
                  <a:pt x="25400" y="1544417"/>
                </a:lnTo>
                <a:close/>
              </a:path>
              <a:path w="3533775" h="1854200">
                <a:moveTo>
                  <a:pt x="25400" y="1536700"/>
                </a:moveTo>
                <a:lnTo>
                  <a:pt x="25045" y="1536877"/>
                </a:lnTo>
                <a:lnTo>
                  <a:pt x="25400" y="1544417"/>
                </a:lnTo>
                <a:lnTo>
                  <a:pt x="25400" y="1536700"/>
                </a:lnTo>
                <a:close/>
              </a:path>
              <a:path w="3533775" h="1854200">
                <a:moveTo>
                  <a:pt x="3226483" y="1536700"/>
                </a:moveTo>
                <a:lnTo>
                  <a:pt x="3226483" y="1543922"/>
                </a:lnTo>
                <a:lnTo>
                  <a:pt x="3226838" y="1536877"/>
                </a:lnTo>
                <a:lnTo>
                  <a:pt x="3226483" y="1536700"/>
                </a:lnTo>
                <a:close/>
              </a:path>
              <a:path w="3533775" h="1854200">
                <a:moveTo>
                  <a:pt x="20319" y="1526317"/>
                </a:moveTo>
                <a:lnTo>
                  <a:pt x="20319" y="1536700"/>
                </a:lnTo>
                <a:lnTo>
                  <a:pt x="20218" y="1539292"/>
                </a:lnTo>
                <a:lnTo>
                  <a:pt x="25044" y="1536877"/>
                </a:lnTo>
                <a:lnTo>
                  <a:pt x="25036" y="1536700"/>
                </a:lnTo>
                <a:lnTo>
                  <a:pt x="20319" y="1526317"/>
                </a:lnTo>
                <a:close/>
              </a:path>
              <a:path w="3533775" h="1854200">
                <a:moveTo>
                  <a:pt x="3232617" y="1524000"/>
                </a:moveTo>
                <a:lnTo>
                  <a:pt x="3226847" y="1536700"/>
                </a:lnTo>
                <a:lnTo>
                  <a:pt x="3226838" y="1536877"/>
                </a:lnTo>
                <a:lnTo>
                  <a:pt x="3231660" y="1539290"/>
                </a:lnTo>
                <a:lnTo>
                  <a:pt x="3231781" y="1536700"/>
                </a:lnTo>
                <a:lnTo>
                  <a:pt x="3241723" y="1536700"/>
                </a:lnTo>
                <a:lnTo>
                  <a:pt x="3244242" y="1534719"/>
                </a:lnTo>
                <a:lnTo>
                  <a:pt x="3232617" y="1524000"/>
                </a:lnTo>
                <a:close/>
              </a:path>
              <a:path w="3533775" h="1854200">
                <a:moveTo>
                  <a:pt x="15239" y="1527713"/>
                </a:moveTo>
                <a:lnTo>
                  <a:pt x="5492" y="1536700"/>
                </a:lnTo>
                <a:lnTo>
                  <a:pt x="15239" y="1536700"/>
                </a:lnTo>
                <a:lnTo>
                  <a:pt x="15239" y="1527713"/>
                </a:lnTo>
                <a:close/>
              </a:path>
              <a:path w="3533775" h="1854200">
                <a:moveTo>
                  <a:pt x="19267" y="1524000"/>
                </a:moveTo>
                <a:lnTo>
                  <a:pt x="15239" y="1527713"/>
                </a:lnTo>
                <a:lnTo>
                  <a:pt x="15239" y="1536700"/>
                </a:lnTo>
                <a:lnTo>
                  <a:pt x="20319" y="1536700"/>
                </a:lnTo>
                <a:lnTo>
                  <a:pt x="20319" y="1526317"/>
                </a:lnTo>
                <a:lnTo>
                  <a:pt x="19267" y="1524000"/>
                </a:lnTo>
                <a:close/>
              </a:path>
              <a:path w="3533775" h="1854200">
                <a:moveTo>
                  <a:pt x="231320" y="38100"/>
                </a:moveTo>
                <a:lnTo>
                  <a:pt x="229574" y="38100"/>
                </a:lnTo>
                <a:lnTo>
                  <a:pt x="202246" y="50800"/>
                </a:lnTo>
                <a:lnTo>
                  <a:pt x="151705" y="76200"/>
                </a:lnTo>
                <a:lnTo>
                  <a:pt x="107651" y="114300"/>
                </a:lnTo>
                <a:lnTo>
                  <a:pt x="88435" y="139700"/>
                </a:lnTo>
                <a:lnTo>
                  <a:pt x="71290" y="152400"/>
                </a:lnTo>
                <a:lnTo>
                  <a:pt x="43818" y="203200"/>
                </a:lnTo>
                <a:lnTo>
                  <a:pt x="26428" y="266700"/>
                </a:lnTo>
                <a:lnTo>
                  <a:pt x="20319" y="317500"/>
                </a:lnTo>
                <a:lnTo>
                  <a:pt x="20319" y="1526317"/>
                </a:lnTo>
                <a:lnTo>
                  <a:pt x="25036" y="1536700"/>
                </a:lnTo>
                <a:lnTo>
                  <a:pt x="25400" y="1536700"/>
                </a:lnTo>
                <a:lnTo>
                  <a:pt x="25400" y="317500"/>
                </a:lnTo>
                <a:lnTo>
                  <a:pt x="26958" y="292100"/>
                </a:lnTo>
                <a:lnTo>
                  <a:pt x="31450" y="266700"/>
                </a:lnTo>
                <a:lnTo>
                  <a:pt x="38709" y="241300"/>
                </a:lnTo>
                <a:lnTo>
                  <a:pt x="48590" y="203200"/>
                </a:lnTo>
                <a:lnTo>
                  <a:pt x="60946" y="177800"/>
                </a:lnTo>
                <a:lnTo>
                  <a:pt x="75632" y="165100"/>
                </a:lnTo>
                <a:lnTo>
                  <a:pt x="92502" y="139700"/>
                </a:lnTo>
                <a:lnTo>
                  <a:pt x="111410" y="114300"/>
                </a:lnTo>
                <a:lnTo>
                  <a:pt x="132209" y="101600"/>
                </a:lnTo>
                <a:lnTo>
                  <a:pt x="154748" y="76200"/>
                </a:lnTo>
                <a:lnTo>
                  <a:pt x="178878" y="63500"/>
                </a:lnTo>
                <a:lnTo>
                  <a:pt x="204450" y="50800"/>
                </a:lnTo>
                <a:lnTo>
                  <a:pt x="231320" y="38100"/>
                </a:lnTo>
                <a:close/>
              </a:path>
              <a:path w="3533775" h="1854200">
                <a:moveTo>
                  <a:pt x="3244242" y="1534719"/>
                </a:moveTo>
                <a:lnTo>
                  <a:pt x="3241723" y="1536700"/>
                </a:lnTo>
                <a:lnTo>
                  <a:pt x="3246390" y="1536700"/>
                </a:lnTo>
                <a:lnTo>
                  <a:pt x="3244242" y="1534719"/>
                </a:lnTo>
                <a:close/>
              </a:path>
              <a:path w="3533775" h="1854200">
                <a:moveTo>
                  <a:pt x="3246803" y="1532707"/>
                </a:moveTo>
                <a:lnTo>
                  <a:pt x="3244242" y="1534719"/>
                </a:lnTo>
                <a:lnTo>
                  <a:pt x="3246390" y="1536700"/>
                </a:lnTo>
                <a:lnTo>
                  <a:pt x="3246803" y="1536700"/>
                </a:lnTo>
                <a:lnTo>
                  <a:pt x="3246803" y="1532707"/>
                </a:lnTo>
                <a:close/>
              </a:path>
              <a:path w="3533775" h="1854200">
                <a:moveTo>
                  <a:pt x="3251883" y="1520053"/>
                </a:moveTo>
                <a:lnTo>
                  <a:pt x="3246803" y="1524000"/>
                </a:lnTo>
                <a:lnTo>
                  <a:pt x="3246803" y="1532707"/>
                </a:lnTo>
                <a:lnTo>
                  <a:pt x="3251883" y="1528715"/>
                </a:lnTo>
                <a:lnTo>
                  <a:pt x="3251883" y="1520053"/>
                </a:lnTo>
                <a:close/>
              </a:path>
              <a:path w="3533775" h="1854200">
                <a:moveTo>
                  <a:pt x="3232576" y="1092200"/>
                </a:moveTo>
                <a:lnTo>
                  <a:pt x="3228172" y="1092200"/>
                </a:lnTo>
                <a:lnTo>
                  <a:pt x="3500334" y="1320800"/>
                </a:lnTo>
                <a:lnTo>
                  <a:pt x="3251883" y="1511300"/>
                </a:lnTo>
                <a:lnTo>
                  <a:pt x="3251883" y="1520053"/>
                </a:lnTo>
                <a:lnTo>
                  <a:pt x="3508387" y="1320800"/>
                </a:lnTo>
                <a:lnTo>
                  <a:pt x="3232576" y="1092200"/>
                </a:lnTo>
                <a:close/>
              </a:path>
              <a:path w="3533775" h="1854200">
                <a:moveTo>
                  <a:pt x="3023031" y="38100"/>
                </a:moveTo>
                <a:lnTo>
                  <a:pt x="3021766" y="38100"/>
                </a:lnTo>
                <a:lnTo>
                  <a:pt x="3048580" y="50800"/>
                </a:lnTo>
                <a:lnTo>
                  <a:pt x="3074088" y="63500"/>
                </a:lnTo>
                <a:lnTo>
                  <a:pt x="3098148" y="76200"/>
                </a:lnTo>
                <a:lnTo>
                  <a:pt x="3120610" y="101600"/>
                </a:lnTo>
                <a:lnTo>
                  <a:pt x="3141329" y="114300"/>
                </a:lnTo>
                <a:lnTo>
                  <a:pt x="3176935" y="165100"/>
                </a:lnTo>
                <a:lnTo>
                  <a:pt x="3203778" y="215900"/>
                </a:lnTo>
                <a:lnTo>
                  <a:pt x="3220688" y="266700"/>
                </a:lnTo>
                <a:lnTo>
                  <a:pt x="3226499" y="330200"/>
                </a:lnTo>
                <a:lnTo>
                  <a:pt x="3226483" y="1092200"/>
                </a:lnTo>
                <a:lnTo>
                  <a:pt x="3231563" y="1092200"/>
                </a:lnTo>
                <a:lnTo>
                  <a:pt x="3231573" y="317500"/>
                </a:lnTo>
                <a:lnTo>
                  <a:pt x="3230076" y="292100"/>
                </a:lnTo>
                <a:lnTo>
                  <a:pt x="3225608" y="266700"/>
                </a:lnTo>
                <a:lnTo>
                  <a:pt x="3218318" y="241300"/>
                </a:lnTo>
                <a:lnTo>
                  <a:pt x="3208355" y="203200"/>
                </a:lnTo>
                <a:lnTo>
                  <a:pt x="3195867" y="177800"/>
                </a:lnTo>
                <a:lnTo>
                  <a:pt x="3181003" y="152400"/>
                </a:lnTo>
                <a:lnTo>
                  <a:pt x="3163912" y="139700"/>
                </a:lnTo>
                <a:lnTo>
                  <a:pt x="3144746" y="114300"/>
                </a:lnTo>
                <a:lnTo>
                  <a:pt x="3123653" y="88900"/>
                </a:lnTo>
                <a:lnTo>
                  <a:pt x="3100785" y="76200"/>
                </a:lnTo>
                <a:lnTo>
                  <a:pt x="3076293" y="63500"/>
                </a:lnTo>
                <a:lnTo>
                  <a:pt x="3050326" y="50800"/>
                </a:lnTo>
                <a:lnTo>
                  <a:pt x="3023031" y="38100"/>
                </a:lnTo>
                <a:close/>
              </a:path>
              <a:path w="3533775" h="1854200">
                <a:moveTo>
                  <a:pt x="318272" y="25400"/>
                </a:moveTo>
                <a:lnTo>
                  <a:pt x="287604" y="25400"/>
                </a:lnTo>
                <a:lnTo>
                  <a:pt x="258075" y="38100"/>
                </a:lnTo>
                <a:lnTo>
                  <a:pt x="288371" y="38100"/>
                </a:lnTo>
                <a:lnTo>
                  <a:pt x="318272" y="25400"/>
                </a:lnTo>
                <a:close/>
              </a:path>
              <a:path w="3533775" h="1854200">
                <a:moveTo>
                  <a:pt x="2965044" y="25400"/>
                </a:moveTo>
                <a:lnTo>
                  <a:pt x="2934252" y="25400"/>
                </a:lnTo>
                <a:lnTo>
                  <a:pt x="2964789" y="38100"/>
                </a:lnTo>
                <a:lnTo>
                  <a:pt x="2994557" y="38100"/>
                </a:lnTo>
                <a:lnTo>
                  <a:pt x="2965044" y="25400"/>
                </a:lnTo>
                <a:close/>
              </a:path>
              <a:path w="3533775" h="1854200">
                <a:moveTo>
                  <a:pt x="2997622" y="12700"/>
                </a:moveTo>
                <a:lnTo>
                  <a:pt x="253015" y="12700"/>
                </a:lnTo>
                <a:lnTo>
                  <a:pt x="222590" y="25400"/>
                </a:lnTo>
                <a:lnTo>
                  <a:pt x="3028091" y="25400"/>
                </a:lnTo>
                <a:lnTo>
                  <a:pt x="2997622" y="12700"/>
                </a:lnTo>
                <a:close/>
              </a:path>
              <a:path w="3533775" h="1854200">
                <a:moveTo>
                  <a:pt x="2934252" y="0"/>
                </a:moveTo>
                <a:lnTo>
                  <a:pt x="316991" y="0"/>
                </a:lnTo>
                <a:lnTo>
                  <a:pt x="284538" y="12700"/>
                </a:lnTo>
                <a:lnTo>
                  <a:pt x="2966069" y="12700"/>
                </a:lnTo>
                <a:lnTo>
                  <a:pt x="2934252" y="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378338" y="5469755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29"/>
                </a:lnTo>
                <a:lnTo>
                  <a:pt x="0" y="164629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414565" y="4125467"/>
            <a:ext cx="14865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B48200"/>
                </a:solidFill>
                <a:latin typeface="Arial"/>
                <a:cs typeface="Arial"/>
              </a:rPr>
              <a:t>Query</a:t>
            </a:r>
            <a:r>
              <a:rPr dirty="0" sz="1400" spc="-140" b="1">
                <a:solidFill>
                  <a:srgbClr val="B48200"/>
                </a:solidFill>
                <a:latin typeface="Arial"/>
                <a:cs typeface="Arial"/>
              </a:rPr>
              <a:t> </a:t>
            </a:r>
            <a:r>
              <a:rPr dirty="0" sz="1400" spc="-30" b="1">
                <a:solidFill>
                  <a:srgbClr val="B48200"/>
                </a:solidFill>
                <a:latin typeface="Arial"/>
                <a:cs typeface="Arial"/>
              </a:rPr>
              <a:t>embedding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451052" y="3814609"/>
            <a:ext cx="113030" cy="316230"/>
          </a:xfrm>
          <a:custGeom>
            <a:avLst/>
            <a:gdLst/>
            <a:ahLst/>
            <a:cxnLst/>
            <a:rect l="l" t="t" r="r" b="b"/>
            <a:pathLst>
              <a:path w="113030" h="316229">
                <a:moveTo>
                  <a:pt x="0" y="232666"/>
                </a:moveTo>
                <a:lnTo>
                  <a:pt x="16899" y="316167"/>
                </a:lnTo>
                <a:lnTo>
                  <a:pt x="58946" y="268958"/>
                </a:lnTo>
                <a:lnTo>
                  <a:pt x="36925" y="268958"/>
                </a:lnTo>
                <a:lnTo>
                  <a:pt x="23383" y="265297"/>
                </a:lnTo>
                <a:lnTo>
                  <a:pt x="19377" y="258325"/>
                </a:lnTo>
                <a:lnTo>
                  <a:pt x="24521" y="239294"/>
                </a:lnTo>
                <a:lnTo>
                  <a:pt x="0" y="232666"/>
                </a:lnTo>
                <a:close/>
              </a:path>
              <a:path w="113030" h="316229">
                <a:moveTo>
                  <a:pt x="24521" y="239294"/>
                </a:moveTo>
                <a:lnTo>
                  <a:pt x="19377" y="258325"/>
                </a:lnTo>
                <a:lnTo>
                  <a:pt x="23383" y="265297"/>
                </a:lnTo>
                <a:lnTo>
                  <a:pt x="36925" y="268958"/>
                </a:lnTo>
                <a:lnTo>
                  <a:pt x="43897" y="264952"/>
                </a:lnTo>
                <a:lnTo>
                  <a:pt x="49041" y="245921"/>
                </a:lnTo>
                <a:lnTo>
                  <a:pt x="24521" y="239294"/>
                </a:lnTo>
                <a:close/>
              </a:path>
              <a:path w="113030" h="316229">
                <a:moveTo>
                  <a:pt x="49041" y="245921"/>
                </a:moveTo>
                <a:lnTo>
                  <a:pt x="43897" y="264952"/>
                </a:lnTo>
                <a:lnTo>
                  <a:pt x="36925" y="268958"/>
                </a:lnTo>
                <a:lnTo>
                  <a:pt x="58946" y="268958"/>
                </a:lnTo>
                <a:lnTo>
                  <a:pt x="73560" y="252548"/>
                </a:lnTo>
                <a:lnTo>
                  <a:pt x="49041" y="245921"/>
                </a:lnTo>
                <a:close/>
              </a:path>
              <a:path w="113030" h="316229">
                <a:moveTo>
                  <a:pt x="95084" y="0"/>
                </a:moveTo>
                <a:lnTo>
                  <a:pt x="88112" y="4005"/>
                </a:lnTo>
                <a:lnTo>
                  <a:pt x="24521" y="239294"/>
                </a:lnTo>
                <a:lnTo>
                  <a:pt x="49041" y="245921"/>
                </a:lnTo>
                <a:lnTo>
                  <a:pt x="112632" y="10632"/>
                </a:lnTo>
                <a:lnTo>
                  <a:pt x="108626" y="3660"/>
                </a:lnTo>
                <a:lnTo>
                  <a:pt x="95084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699108" y="3831375"/>
            <a:ext cx="288290" cy="285750"/>
          </a:xfrm>
          <a:custGeom>
            <a:avLst/>
            <a:gdLst/>
            <a:ahLst/>
            <a:cxnLst/>
            <a:rect l="l" t="t" r="r" b="b"/>
            <a:pathLst>
              <a:path w="288289" h="285750">
                <a:moveTo>
                  <a:pt x="224907" y="240866"/>
                </a:moveTo>
                <a:lnTo>
                  <a:pt x="207029" y="258909"/>
                </a:lnTo>
                <a:lnTo>
                  <a:pt x="287973" y="285480"/>
                </a:lnTo>
                <a:lnTo>
                  <a:pt x="277571" y="254742"/>
                </a:lnTo>
                <a:lnTo>
                  <a:pt x="238911" y="254742"/>
                </a:lnTo>
                <a:lnTo>
                  <a:pt x="224907" y="240866"/>
                </a:lnTo>
                <a:close/>
              </a:path>
              <a:path w="288289" h="285750">
                <a:moveTo>
                  <a:pt x="242785" y="222824"/>
                </a:moveTo>
                <a:lnTo>
                  <a:pt x="224907" y="240866"/>
                </a:lnTo>
                <a:lnTo>
                  <a:pt x="238911" y="254742"/>
                </a:lnTo>
                <a:lnTo>
                  <a:pt x="246951" y="254706"/>
                </a:lnTo>
                <a:lnTo>
                  <a:pt x="256825" y="244741"/>
                </a:lnTo>
                <a:lnTo>
                  <a:pt x="256788" y="236700"/>
                </a:lnTo>
                <a:lnTo>
                  <a:pt x="242785" y="222824"/>
                </a:lnTo>
                <a:close/>
              </a:path>
              <a:path w="288289" h="285750">
                <a:moveTo>
                  <a:pt x="260663" y="204782"/>
                </a:moveTo>
                <a:lnTo>
                  <a:pt x="242785" y="222824"/>
                </a:lnTo>
                <a:lnTo>
                  <a:pt x="256788" y="236700"/>
                </a:lnTo>
                <a:lnTo>
                  <a:pt x="256825" y="244741"/>
                </a:lnTo>
                <a:lnTo>
                  <a:pt x="246951" y="254706"/>
                </a:lnTo>
                <a:lnTo>
                  <a:pt x="238911" y="254742"/>
                </a:lnTo>
                <a:lnTo>
                  <a:pt x="277571" y="254742"/>
                </a:lnTo>
                <a:lnTo>
                  <a:pt x="260663" y="204782"/>
                </a:lnTo>
                <a:close/>
              </a:path>
              <a:path w="288289" h="285750">
                <a:moveTo>
                  <a:pt x="17915" y="0"/>
                </a:moveTo>
                <a:lnTo>
                  <a:pt x="9874" y="36"/>
                </a:lnTo>
                <a:lnTo>
                  <a:pt x="0" y="10001"/>
                </a:lnTo>
                <a:lnTo>
                  <a:pt x="36" y="18042"/>
                </a:lnTo>
                <a:lnTo>
                  <a:pt x="224907" y="240866"/>
                </a:lnTo>
                <a:lnTo>
                  <a:pt x="242785" y="222824"/>
                </a:lnTo>
                <a:lnTo>
                  <a:pt x="1791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2705644" y="4101084"/>
            <a:ext cx="15024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5" b="1">
                <a:solidFill>
                  <a:srgbClr val="C00000"/>
                </a:solidFill>
                <a:latin typeface="Arial"/>
                <a:cs typeface="Arial"/>
              </a:rPr>
              <a:t>Target</a:t>
            </a:r>
            <a:r>
              <a:rPr dirty="0" sz="1400" spc="-10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00" spc="-30" b="1">
                <a:solidFill>
                  <a:srgbClr val="C00000"/>
                </a:solidFill>
                <a:latin typeface="Arial"/>
                <a:cs typeface="Arial"/>
              </a:rPr>
              <a:t>embedding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027532" y="3215346"/>
            <a:ext cx="219075" cy="207645"/>
          </a:xfrm>
          <a:custGeom>
            <a:avLst/>
            <a:gdLst/>
            <a:ahLst/>
            <a:cxnLst/>
            <a:rect l="l" t="t" r="r" b="b"/>
            <a:pathLst>
              <a:path w="219075" h="207645">
                <a:moveTo>
                  <a:pt x="154714" y="43110"/>
                </a:moveTo>
                <a:lnTo>
                  <a:pt x="226" y="189122"/>
                </a:lnTo>
                <a:lnTo>
                  <a:pt x="0" y="197159"/>
                </a:lnTo>
                <a:lnTo>
                  <a:pt x="9635" y="207355"/>
                </a:lnTo>
                <a:lnTo>
                  <a:pt x="17673" y="207581"/>
                </a:lnTo>
                <a:lnTo>
                  <a:pt x="172161" y="61570"/>
                </a:lnTo>
                <a:lnTo>
                  <a:pt x="154714" y="43110"/>
                </a:lnTo>
                <a:close/>
              </a:path>
              <a:path w="219075" h="207645">
                <a:moveTo>
                  <a:pt x="208025" y="29569"/>
                </a:moveTo>
                <a:lnTo>
                  <a:pt x="169042" y="29569"/>
                </a:lnTo>
                <a:lnTo>
                  <a:pt x="177079" y="29796"/>
                </a:lnTo>
                <a:lnTo>
                  <a:pt x="186715" y="39992"/>
                </a:lnTo>
                <a:lnTo>
                  <a:pt x="186488" y="48030"/>
                </a:lnTo>
                <a:lnTo>
                  <a:pt x="172161" y="61570"/>
                </a:lnTo>
                <a:lnTo>
                  <a:pt x="189608" y="80030"/>
                </a:lnTo>
                <a:lnTo>
                  <a:pt x="208025" y="29569"/>
                </a:lnTo>
                <a:close/>
              </a:path>
              <a:path w="219075" h="207645">
                <a:moveTo>
                  <a:pt x="169042" y="29569"/>
                </a:moveTo>
                <a:lnTo>
                  <a:pt x="154714" y="43110"/>
                </a:lnTo>
                <a:lnTo>
                  <a:pt x="172161" y="61570"/>
                </a:lnTo>
                <a:lnTo>
                  <a:pt x="186488" y="48030"/>
                </a:lnTo>
                <a:lnTo>
                  <a:pt x="186715" y="39992"/>
                </a:lnTo>
                <a:lnTo>
                  <a:pt x="177079" y="29796"/>
                </a:lnTo>
                <a:lnTo>
                  <a:pt x="169042" y="29569"/>
                </a:lnTo>
                <a:close/>
              </a:path>
              <a:path w="219075" h="207645">
                <a:moveTo>
                  <a:pt x="218817" y="0"/>
                </a:moveTo>
                <a:lnTo>
                  <a:pt x="137267" y="24650"/>
                </a:lnTo>
                <a:lnTo>
                  <a:pt x="154714" y="43110"/>
                </a:lnTo>
                <a:lnTo>
                  <a:pt x="169042" y="29569"/>
                </a:lnTo>
                <a:lnTo>
                  <a:pt x="208025" y="29569"/>
                </a:lnTo>
                <a:lnTo>
                  <a:pt x="218817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3222705" y="2979420"/>
            <a:ext cx="18675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 b="1">
                <a:solidFill>
                  <a:srgbClr val="7030A0"/>
                </a:solidFill>
                <a:latin typeface="Arial"/>
                <a:cs typeface="Arial"/>
              </a:rPr>
              <a:t>Embedding</a:t>
            </a:r>
            <a:r>
              <a:rPr dirty="0" sz="1400" spc="-114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1400" spc="-30" b="1">
                <a:solidFill>
                  <a:srgbClr val="7030A0"/>
                </a:solidFill>
                <a:latin typeface="Arial"/>
                <a:cs typeface="Arial"/>
              </a:rPr>
              <a:t>dimension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587520" y="3794400"/>
            <a:ext cx="288290" cy="285750"/>
          </a:xfrm>
          <a:custGeom>
            <a:avLst/>
            <a:gdLst/>
            <a:ahLst/>
            <a:cxnLst/>
            <a:rect l="l" t="t" r="r" b="b"/>
            <a:pathLst>
              <a:path w="288289" h="285750">
                <a:moveTo>
                  <a:pt x="224907" y="240867"/>
                </a:moveTo>
                <a:lnTo>
                  <a:pt x="207029" y="258909"/>
                </a:lnTo>
                <a:lnTo>
                  <a:pt x="287973" y="285480"/>
                </a:lnTo>
                <a:lnTo>
                  <a:pt x="277571" y="254742"/>
                </a:lnTo>
                <a:lnTo>
                  <a:pt x="238909" y="254742"/>
                </a:lnTo>
                <a:lnTo>
                  <a:pt x="224907" y="240867"/>
                </a:lnTo>
                <a:close/>
              </a:path>
              <a:path w="288289" h="285750">
                <a:moveTo>
                  <a:pt x="242785" y="222824"/>
                </a:moveTo>
                <a:lnTo>
                  <a:pt x="224907" y="240867"/>
                </a:lnTo>
                <a:lnTo>
                  <a:pt x="238909" y="254742"/>
                </a:lnTo>
                <a:lnTo>
                  <a:pt x="246951" y="254706"/>
                </a:lnTo>
                <a:lnTo>
                  <a:pt x="256825" y="244741"/>
                </a:lnTo>
                <a:lnTo>
                  <a:pt x="256788" y="236700"/>
                </a:lnTo>
                <a:lnTo>
                  <a:pt x="242785" y="222824"/>
                </a:lnTo>
                <a:close/>
              </a:path>
              <a:path w="288289" h="285750">
                <a:moveTo>
                  <a:pt x="260663" y="204782"/>
                </a:moveTo>
                <a:lnTo>
                  <a:pt x="242785" y="222824"/>
                </a:lnTo>
                <a:lnTo>
                  <a:pt x="256788" y="236700"/>
                </a:lnTo>
                <a:lnTo>
                  <a:pt x="256825" y="244741"/>
                </a:lnTo>
                <a:lnTo>
                  <a:pt x="246951" y="254706"/>
                </a:lnTo>
                <a:lnTo>
                  <a:pt x="238909" y="254742"/>
                </a:lnTo>
                <a:lnTo>
                  <a:pt x="277571" y="254742"/>
                </a:lnTo>
                <a:lnTo>
                  <a:pt x="260663" y="204782"/>
                </a:lnTo>
                <a:close/>
              </a:path>
              <a:path w="288289" h="285750">
                <a:moveTo>
                  <a:pt x="17914" y="0"/>
                </a:moveTo>
                <a:lnTo>
                  <a:pt x="9874" y="36"/>
                </a:lnTo>
                <a:lnTo>
                  <a:pt x="0" y="10001"/>
                </a:lnTo>
                <a:lnTo>
                  <a:pt x="36" y="18042"/>
                </a:lnTo>
                <a:lnTo>
                  <a:pt x="224907" y="240867"/>
                </a:lnTo>
                <a:lnTo>
                  <a:pt x="242785" y="222824"/>
                </a:lnTo>
                <a:lnTo>
                  <a:pt x="17914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4490575" y="4104132"/>
            <a:ext cx="1553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 b="1">
                <a:solidFill>
                  <a:srgbClr val="00B050"/>
                </a:solidFill>
                <a:latin typeface="Arial"/>
                <a:cs typeface="Arial"/>
              </a:rPr>
              <a:t>Subgraph</a:t>
            </a:r>
            <a:r>
              <a:rPr dirty="0" sz="1400" spc="-114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00B050"/>
                </a:solidFill>
                <a:latin typeface="Arial"/>
                <a:cs typeface="Arial"/>
              </a:rPr>
              <a:t>Relation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664851" y="3428491"/>
            <a:ext cx="3187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trained with max-margin</a:t>
            </a:r>
            <a:r>
              <a:rPr dirty="0" sz="1800" spc="-5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70C0"/>
                </a:solidFill>
                <a:latin typeface="Arial"/>
                <a:cs typeface="Arial"/>
              </a:rPr>
              <a:t>loss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33884" y="3528567"/>
            <a:ext cx="29337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270">
                <a:latin typeface="Cambria Math"/>
                <a:cs typeface="Cambria Math"/>
              </a:rPr>
              <a:t>'</a:t>
            </a:r>
            <a:r>
              <a:rPr dirty="0" sz="1900" spc="585">
                <a:latin typeface="Cambria Math"/>
                <a:cs typeface="Cambria Math"/>
              </a:rPr>
              <a:t>(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2022591" y="3755390"/>
            <a:ext cx="72390" cy="0"/>
          </a:xfrm>
          <a:custGeom>
            <a:avLst/>
            <a:gdLst/>
            <a:ahLst/>
            <a:cxnLst/>
            <a:rect l="l" t="t" r="r" b="b"/>
            <a:pathLst>
              <a:path w="72389" h="0">
                <a:moveTo>
                  <a:pt x="0" y="0"/>
                </a:moveTo>
                <a:lnTo>
                  <a:pt x="7190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081117" y="3465829"/>
            <a:ext cx="0" cy="283210"/>
          </a:xfrm>
          <a:custGeom>
            <a:avLst/>
            <a:gdLst/>
            <a:ahLst/>
            <a:cxnLst/>
            <a:rect l="l" t="t" r="r" b="b"/>
            <a:pathLst>
              <a:path w="0" h="283210">
                <a:moveTo>
                  <a:pt x="0" y="0"/>
                </a:moveTo>
                <a:lnTo>
                  <a:pt x="0" y="283210"/>
                </a:lnTo>
              </a:path>
            </a:pathLst>
          </a:custGeom>
          <a:ln w="267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022591" y="3460115"/>
            <a:ext cx="72390" cy="0"/>
          </a:xfrm>
          <a:custGeom>
            <a:avLst/>
            <a:gdLst/>
            <a:ahLst/>
            <a:cxnLst/>
            <a:rect l="l" t="t" r="r" b="b"/>
            <a:pathLst>
              <a:path w="72389" h="0">
                <a:moveTo>
                  <a:pt x="0" y="0"/>
                </a:moveTo>
                <a:lnTo>
                  <a:pt x="71908" y="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821533" y="3755390"/>
            <a:ext cx="72390" cy="0"/>
          </a:xfrm>
          <a:custGeom>
            <a:avLst/>
            <a:gdLst/>
            <a:ahLst/>
            <a:cxnLst/>
            <a:rect l="l" t="t" r="r" b="b"/>
            <a:pathLst>
              <a:path w="72389" h="0">
                <a:moveTo>
                  <a:pt x="0" y="0"/>
                </a:moveTo>
                <a:lnTo>
                  <a:pt x="7190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834915" y="3465829"/>
            <a:ext cx="0" cy="283210"/>
          </a:xfrm>
          <a:custGeom>
            <a:avLst/>
            <a:gdLst/>
            <a:ahLst/>
            <a:cxnLst/>
            <a:rect l="l" t="t" r="r" b="b"/>
            <a:pathLst>
              <a:path w="0" h="283210">
                <a:moveTo>
                  <a:pt x="0" y="0"/>
                </a:moveTo>
                <a:lnTo>
                  <a:pt x="0" y="283210"/>
                </a:lnTo>
              </a:path>
            </a:pathLst>
          </a:custGeom>
          <a:ln w="2676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821533" y="3460115"/>
            <a:ext cx="72390" cy="0"/>
          </a:xfrm>
          <a:custGeom>
            <a:avLst/>
            <a:gdLst/>
            <a:ahLst/>
            <a:cxnLst/>
            <a:rect l="l" t="t" r="r" b="b"/>
            <a:pathLst>
              <a:path w="72389" h="0">
                <a:moveTo>
                  <a:pt x="0" y="0"/>
                </a:moveTo>
                <a:lnTo>
                  <a:pt x="71908" y="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127428" y="3755390"/>
            <a:ext cx="72390" cy="0"/>
          </a:xfrm>
          <a:custGeom>
            <a:avLst/>
            <a:gdLst/>
            <a:ahLst/>
            <a:cxnLst/>
            <a:rect l="l" t="t" r="r" b="b"/>
            <a:pathLst>
              <a:path w="72389" h="0">
                <a:moveTo>
                  <a:pt x="0" y="0"/>
                </a:moveTo>
                <a:lnTo>
                  <a:pt x="7190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185954" y="3465829"/>
            <a:ext cx="0" cy="283210"/>
          </a:xfrm>
          <a:custGeom>
            <a:avLst/>
            <a:gdLst/>
            <a:ahLst/>
            <a:cxnLst/>
            <a:rect l="l" t="t" r="r" b="b"/>
            <a:pathLst>
              <a:path w="0" h="283210">
                <a:moveTo>
                  <a:pt x="0" y="0"/>
                </a:moveTo>
                <a:lnTo>
                  <a:pt x="0" y="283210"/>
                </a:lnTo>
              </a:path>
            </a:pathLst>
          </a:custGeom>
          <a:ln w="267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127428" y="3460115"/>
            <a:ext cx="72390" cy="0"/>
          </a:xfrm>
          <a:custGeom>
            <a:avLst/>
            <a:gdLst/>
            <a:ahLst/>
            <a:cxnLst/>
            <a:rect l="l" t="t" r="r" b="b"/>
            <a:pathLst>
              <a:path w="72389" h="0">
                <a:moveTo>
                  <a:pt x="0" y="0"/>
                </a:moveTo>
                <a:lnTo>
                  <a:pt x="71908" y="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926369" y="3755390"/>
            <a:ext cx="72390" cy="0"/>
          </a:xfrm>
          <a:custGeom>
            <a:avLst/>
            <a:gdLst/>
            <a:ahLst/>
            <a:cxnLst/>
            <a:rect l="l" t="t" r="r" b="b"/>
            <a:pathLst>
              <a:path w="72389" h="0">
                <a:moveTo>
                  <a:pt x="0" y="0"/>
                </a:moveTo>
                <a:lnTo>
                  <a:pt x="7190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939751" y="3465829"/>
            <a:ext cx="0" cy="283210"/>
          </a:xfrm>
          <a:custGeom>
            <a:avLst/>
            <a:gdLst/>
            <a:ahLst/>
            <a:cxnLst/>
            <a:rect l="l" t="t" r="r" b="b"/>
            <a:pathLst>
              <a:path w="0" h="283210">
                <a:moveTo>
                  <a:pt x="0" y="0"/>
                </a:moveTo>
                <a:lnTo>
                  <a:pt x="0" y="283210"/>
                </a:lnTo>
              </a:path>
            </a:pathLst>
          </a:custGeom>
          <a:ln w="2676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926369" y="3460115"/>
            <a:ext cx="72390" cy="0"/>
          </a:xfrm>
          <a:custGeom>
            <a:avLst/>
            <a:gdLst/>
            <a:ahLst/>
            <a:cxnLst/>
            <a:rect l="l" t="t" r="r" b="b"/>
            <a:pathLst>
              <a:path w="72389" h="0">
                <a:moveTo>
                  <a:pt x="0" y="0"/>
                </a:moveTo>
                <a:lnTo>
                  <a:pt x="71908" y="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825922" y="3360420"/>
            <a:ext cx="229679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97000" algn="l"/>
              </a:tabLst>
            </a:pPr>
            <a:r>
              <a:rPr dirty="0" sz="2600" spc="265">
                <a:latin typeface="Cambria Math"/>
                <a:cs typeface="Cambria Math"/>
              </a:rPr>
              <a:t>∀</a:t>
            </a:r>
            <a:r>
              <a:rPr dirty="0" baseline="30701" sz="2850" spc="397">
                <a:latin typeface="Cambria Math"/>
                <a:cs typeface="Cambria Math"/>
              </a:rPr>
              <a:t>*</a:t>
            </a:r>
            <a:r>
              <a:rPr dirty="0" baseline="30701" sz="2850" spc="487">
                <a:latin typeface="Cambria Math"/>
                <a:cs typeface="Cambria Math"/>
              </a:rPr>
              <a:t> </a:t>
            </a:r>
            <a:r>
              <a:rPr dirty="0" baseline="-17543" sz="2850" spc="7">
                <a:latin typeface="Cambria Math"/>
                <a:cs typeface="Cambria Math"/>
              </a:rPr>
              <a:t>)</a:t>
            </a:r>
            <a:r>
              <a:rPr dirty="0" sz="2600" spc="5">
                <a:latin typeface="Cambria Math"/>
                <a:cs typeface="Cambria Math"/>
              </a:rPr>
              <a:t>𝑧</a:t>
            </a:r>
            <a:r>
              <a:rPr dirty="0" baseline="-16081" sz="2850" spc="7">
                <a:latin typeface="Cambria Math"/>
                <a:cs typeface="Cambria Math"/>
              </a:rPr>
              <a:t>+</a:t>
            </a:r>
            <a:r>
              <a:rPr dirty="0" baseline="-16081" sz="2850" spc="540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𝑖	≤ </a:t>
            </a:r>
            <a:r>
              <a:rPr dirty="0" sz="2600" spc="385">
                <a:latin typeface="Cambria Math"/>
                <a:cs typeface="Cambria Math"/>
              </a:rPr>
              <a:t>𝑧</a:t>
            </a:r>
            <a:r>
              <a:rPr dirty="0" baseline="-16081" sz="2850" spc="577">
                <a:latin typeface="Cambria Math"/>
                <a:cs typeface="Cambria Math"/>
              </a:rPr>
              <a:t>,</a:t>
            </a:r>
            <a:r>
              <a:rPr dirty="0" baseline="-16081" sz="2850" spc="600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𝑖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63" name="object 6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64" name="object 6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45</a:t>
            </a:fld>
          </a:p>
        </p:txBody>
      </p:sp>
      <p:sp>
        <p:nvSpPr>
          <p:cNvPr id="61" name="object 61"/>
          <p:cNvSpPr txBox="1"/>
          <p:nvPr/>
        </p:nvSpPr>
        <p:spPr>
          <a:xfrm>
            <a:off x="3442503" y="3360420"/>
            <a:ext cx="171132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3240" algn="l"/>
              </a:tabLst>
            </a:pPr>
            <a:r>
              <a:rPr dirty="0" sz="2600" spc="-5">
                <a:latin typeface="Cambria Math"/>
                <a:cs typeface="Cambria Math"/>
              </a:rPr>
              <a:t>iff	</a:t>
            </a:r>
            <a:r>
              <a:rPr dirty="0" sz="2600" spc="300">
                <a:latin typeface="Cambria Math"/>
                <a:cs typeface="Cambria Math"/>
              </a:rPr>
              <a:t>𝐺</a:t>
            </a:r>
            <a:r>
              <a:rPr dirty="0" baseline="-16081" sz="2850" spc="450">
                <a:latin typeface="Cambria Math"/>
                <a:cs typeface="Cambria Math"/>
              </a:rPr>
              <a:t>- </a:t>
            </a:r>
            <a:r>
              <a:rPr dirty="0" sz="2600">
                <a:latin typeface="Cambria Math"/>
                <a:cs typeface="Cambria Math"/>
              </a:rPr>
              <a:t>⊆</a:t>
            </a:r>
            <a:r>
              <a:rPr dirty="0" sz="2600" spc="-25">
                <a:latin typeface="Cambria Math"/>
                <a:cs typeface="Cambria Math"/>
              </a:rPr>
              <a:t> </a:t>
            </a:r>
            <a:r>
              <a:rPr dirty="0" sz="2600" spc="385">
                <a:latin typeface="Cambria Math"/>
                <a:cs typeface="Cambria Math"/>
              </a:rPr>
              <a:t>𝐺</a:t>
            </a:r>
            <a:r>
              <a:rPr dirty="0" baseline="-16081" sz="2850" spc="577">
                <a:latin typeface="Cambria Math"/>
                <a:cs typeface="Cambria Math"/>
              </a:rPr>
              <a:t>.</a:t>
            </a:r>
            <a:endParaRPr baseline="-16081" sz="28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738872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745730" cy="88519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32740" marR="5080" indent="-320040">
              <a:lnSpc>
                <a:spcPct val="101400"/>
              </a:lnSpc>
              <a:spcBef>
                <a:spcPts val="5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/>
              <a:t>GNN Embeddings </a:t>
            </a:r>
            <a:r>
              <a:rPr dirty="0" sz="2800" spc="-20"/>
              <a:t>are </a:t>
            </a:r>
            <a:r>
              <a:rPr dirty="0" sz="2800" spc="-10"/>
              <a:t>learned by </a:t>
            </a:r>
            <a:r>
              <a:rPr dirty="0" sz="2800" spc="-5"/>
              <a:t>minimizing </a:t>
            </a:r>
            <a:r>
              <a:rPr dirty="0" sz="2800"/>
              <a:t>a </a:t>
            </a:r>
            <a:r>
              <a:rPr dirty="0" sz="2800" spc="-30" b="1">
                <a:solidFill>
                  <a:srgbClr val="C00000"/>
                </a:solidFill>
                <a:latin typeface="Calibri"/>
                <a:cs typeface="Calibri"/>
              </a:rPr>
              <a:t>max- 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margin</a:t>
            </a:r>
            <a:r>
              <a:rPr dirty="0" sz="2800" spc="-8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C00000"/>
                </a:solidFill>
              </a:rPr>
              <a:t>loss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43847" y="2289680"/>
            <a:ext cx="1120140" cy="429895"/>
          </a:xfrm>
          <a:custGeom>
            <a:avLst/>
            <a:gdLst/>
            <a:ahLst/>
            <a:cxnLst/>
            <a:rect l="l" t="t" r="r" b="b"/>
            <a:pathLst>
              <a:path w="1120139" h="429894">
                <a:moveTo>
                  <a:pt x="1007040" y="0"/>
                </a:moveTo>
                <a:lnTo>
                  <a:pt x="1002699" y="14237"/>
                </a:lnTo>
                <a:lnTo>
                  <a:pt x="1022434" y="24471"/>
                </a:lnTo>
                <a:lnTo>
                  <a:pt x="1039618" y="39371"/>
                </a:lnTo>
                <a:lnTo>
                  <a:pt x="1066336" y="83171"/>
                </a:lnTo>
                <a:lnTo>
                  <a:pt x="1082549" y="142683"/>
                </a:lnTo>
                <a:lnTo>
                  <a:pt x="1087953" y="214957"/>
                </a:lnTo>
                <a:lnTo>
                  <a:pt x="1086602" y="252609"/>
                </a:lnTo>
                <a:lnTo>
                  <a:pt x="1075794" y="318372"/>
                </a:lnTo>
                <a:lnTo>
                  <a:pt x="1054252" y="370679"/>
                </a:lnTo>
                <a:lnTo>
                  <a:pt x="1022434" y="405102"/>
                </a:lnTo>
                <a:lnTo>
                  <a:pt x="1002699" y="415330"/>
                </a:lnTo>
                <a:lnTo>
                  <a:pt x="1007040" y="429568"/>
                </a:lnTo>
                <a:lnTo>
                  <a:pt x="1055006" y="404000"/>
                </a:lnTo>
                <a:lnTo>
                  <a:pt x="1090557" y="355773"/>
                </a:lnTo>
                <a:lnTo>
                  <a:pt x="1112566" y="290748"/>
                </a:lnTo>
                <a:lnTo>
                  <a:pt x="1119902" y="214784"/>
                </a:lnTo>
                <a:lnTo>
                  <a:pt x="1118068" y="175435"/>
                </a:lnTo>
                <a:lnTo>
                  <a:pt x="1103396" y="104939"/>
                </a:lnTo>
                <a:lnTo>
                  <a:pt x="1074334" y="46848"/>
                </a:lnTo>
                <a:lnTo>
                  <a:pt x="1032575" y="9951"/>
                </a:lnTo>
                <a:lnTo>
                  <a:pt x="1007040" y="0"/>
                </a:lnTo>
                <a:close/>
              </a:path>
              <a:path w="1120139" h="429894">
                <a:moveTo>
                  <a:pt x="112861" y="0"/>
                </a:moveTo>
                <a:lnTo>
                  <a:pt x="64895" y="25567"/>
                </a:lnTo>
                <a:lnTo>
                  <a:pt x="29344" y="73794"/>
                </a:lnTo>
                <a:lnTo>
                  <a:pt x="7336" y="138820"/>
                </a:lnTo>
                <a:lnTo>
                  <a:pt x="0" y="214784"/>
                </a:lnTo>
                <a:lnTo>
                  <a:pt x="1834" y="254134"/>
                </a:lnTo>
                <a:lnTo>
                  <a:pt x="16506" y="324628"/>
                </a:lnTo>
                <a:lnTo>
                  <a:pt x="45568" y="382719"/>
                </a:lnTo>
                <a:lnTo>
                  <a:pt x="87326" y="419617"/>
                </a:lnTo>
                <a:lnTo>
                  <a:pt x="112861" y="429568"/>
                </a:lnTo>
                <a:lnTo>
                  <a:pt x="117201" y="415330"/>
                </a:lnTo>
                <a:lnTo>
                  <a:pt x="97467" y="405102"/>
                </a:lnTo>
                <a:lnTo>
                  <a:pt x="80283" y="390218"/>
                </a:lnTo>
                <a:lnTo>
                  <a:pt x="53566" y="346485"/>
                </a:lnTo>
                <a:lnTo>
                  <a:pt x="37352" y="287080"/>
                </a:lnTo>
                <a:lnTo>
                  <a:pt x="31954" y="214784"/>
                </a:lnTo>
                <a:lnTo>
                  <a:pt x="33299" y="177225"/>
                </a:lnTo>
                <a:lnTo>
                  <a:pt x="44108" y="111331"/>
                </a:lnTo>
                <a:lnTo>
                  <a:pt x="65649" y="58938"/>
                </a:lnTo>
                <a:lnTo>
                  <a:pt x="97467" y="24471"/>
                </a:lnTo>
                <a:lnTo>
                  <a:pt x="117201" y="14237"/>
                </a:lnTo>
                <a:lnTo>
                  <a:pt x="1128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097020" y="2424683"/>
            <a:ext cx="3098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0">
                <a:latin typeface="Cambria Math"/>
                <a:cs typeface="Cambria Math"/>
              </a:rPr>
              <a:t>/</a:t>
            </a:r>
            <a:r>
              <a:rPr dirty="0" sz="2000" spc="340">
                <a:latin typeface="Cambria Math"/>
                <a:cs typeface="Cambria Math"/>
              </a:rPr>
              <a:t>6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108" y="2237739"/>
            <a:ext cx="792035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  <a:tab pos="1753870" algn="l"/>
                <a:tab pos="2875280" algn="l"/>
              </a:tabLst>
            </a:pPr>
            <a:r>
              <a:rPr dirty="0" sz="2800" spc="-10">
                <a:latin typeface="Calibri"/>
                <a:cs typeface="Calibri"/>
              </a:rPr>
              <a:t>Define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𝐸	</a:t>
            </a:r>
            <a:r>
              <a:rPr dirty="0" sz="2800" spc="10">
                <a:latin typeface="Cambria Math"/>
                <a:cs typeface="Cambria Math"/>
              </a:rPr>
              <a:t>𝐺</a:t>
            </a:r>
            <a:r>
              <a:rPr dirty="0" baseline="-16666" sz="3000" spc="15">
                <a:latin typeface="Cambria Math"/>
                <a:cs typeface="Cambria Math"/>
              </a:rPr>
              <a:t>4</a:t>
            </a:r>
            <a:r>
              <a:rPr dirty="0" sz="2800" spc="10">
                <a:latin typeface="Cambria Math"/>
                <a:cs typeface="Cambria Math"/>
              </a:rPr>
              <a:t>,</a:t>
            </a:r>
            <a:r>
              <a:rPr dirty="0" sz="2800" spc="-145">
                <a:latin typeface="Cambria Math"/>
                <a:cs typeface="Cambria Math"/>
              </a:rPr>
              <a:t> </a:t>
            </a:r>
            <a:r>
              <a:rPr dirty="0" sz="2800" spc="-160">
                <a:latin typeface="Cambria Math"/>
                <a:cs typeface="Cambria Math"/>
              </a:rPr>
              <a:t>𝐺</a:t>
            </a:r>
            <a:r>
              <a:rPr dirty="0" baseline="-16666" sz="3000" spc="-240">
                <a:latin typeface="Cambria Math"/>
                <a:cs typeface="Cambria Math"/>
              </a:rPr>
              <a:t>5	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baseline="1984" sz="4200" spc="232">
                <a:latin typeface="Cambria Math"/>
                <a:cs typeface="Cambria Math"/>
              </a:rPr>
              <a:t>∑</a:t>
            </a:r>
            <a:r>
              <a:rPr dirty="0" baseline="31944" sz="3000" spc="232">
                <a:latin typeface="Cambria Math"/>
                <a:cs typeface="Cambria Math"/>
              </a:rPr>
              <a:t>7  </a:t>
            </a:r>
            <a:r>
              <a:rPr dirty="0" baseline="-18055" sz="3000" spc="0">
                <a:latin typeface="Cambria Math"/>
                <a:cs typeface="Cambria Math"/>
              </a:rPr>
              <a:t>0</a:t>
            </a:r>
            <a:r>
              <a:rPr dirty="0" sz="2800" spc="0">
                <a:latin typeface="Cambria Math"/>
                <a:cs typeface="Cambria Math"/>
              </a:rPr>
              <a:t>(max(0, </a:t>
            </a:r>
            <a:r>
              <a:rPr dirty="0" sz="2800" spc="35">
                <a:latin typeface="Cambria Math"/>
                <a:cs typeface="Cambria Math"/>
              </a:rPr>
              <a:t>𝑧</a:t>
            </a:r>
            <a:r>
              <a:rPr dirty="0" baseline="-16666" sz="3000" spc="52">
                <a:latin typeface="Cambria Math"/>
                <a:cs typeface="Cambria Math"/>
              </a:rPr>
              <a:t>4</a:t>
            </a:r>
            <a:r>
              <a:rPr dirty="0" sz="2800" spc="35">
                <a:latin typeface="Cambria Math"/>
                <a:cs typeface="Cambria Math"/>
              </a:rPr>
              <a:t>[𝑖] </a:t>
            </a:r>
            <a:r>
              <a:rPr dirty="0" sz="2800">
                <a:latin typeface="Cambria Math"/>
                <a:cs typeface="Cambria Math"/>
              </a:rPr>
              <a:t>− </a:t>
            </a:r>
            <a:r>
              <a:rPr dirty="0" sz="2800" spc="-10">
                <a:latin typeface="Cambria Math"/>
                <a:cs typeface="Cambria Math"/>
              </a:rPr>
              <a:t>𝑧</a:t>
            </a:r>
            <a:r>
              <a:rPr dirty="0" baseline="-16666" sz="3000" spc="-15">
                <a:latin typeface="Cambria Math"/>
                <a:cs typeface="Cambria Math"/>
              </a:rPr>
              <a:t>5</a:t>
            </a:r>
            <a:r>
              <a:rPr dirty="0" sz="2800" spc="-10">
                <a:latin typeface="Cambria Math"/>
                <a:cs typeface="Cambria Math"/>
              </a:rPr>
              <a:t>[𝑖]))</a:t>
            </a:r>
            <a:r>
              <a:rPr dirty="0" baseline="29166" sz="3000" spc="-15">
                <a:latin typeface="Cambria Math"/>
                <a:cs typeface="Cambria Math"/>
              </a:rPr>
              <a:t>1</a:t>
            </a:r>
            <a:r>
              <a:rPr dirty="0" baseline="29166" sz="3000">
                <a:latin typeface="Cambria Math"/>
                <a:cs typeface="Cambria Math"/>
              </a:rPr>
              <a:t> </a:t>
            </a:r>
            <a:r>
              <a:rPr dirty="0" sz="2800" spc="-5">
                <a:latin typeface="Calibri"/>
                <a:cs typeface="Calibri"/>
              </a:rPr>
              <a:t>as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8149" y="2694939"/>
            <a:ext cx="57899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“margin” between </a:t>
            </a:r>
            <a:r>
              <a:rPr dirty="0" sz="2800" spc="-15">
                <a:latin typeface="Calibri"/>
                <a:cs typeface="Calibri"/>
              </a:rPr>
              <a:t>graphs </a:t>
            </a:r>
            <a:r>
              <a:rPr dirty="0" sz="2800" spc="-45">
                <a:latin typeface="Cambria Math"/>
                <a:cs typeface="Cambria Math"/>
              </a:rPr>
              <a:t>𝐺</a:t>
            </a:r>
            <a:r>
              <a:rPr dirty="0" baseline="-16666" sz="3000" spc="-67">
                <a:latin typeface="Cambria Math"/>
                <a:cs typeface="Cambria Math"/>
              </a:rPr>
              <a:t>4  </a:t>
            </a:r>
            <a:r>
              <a:rPr dirty="0" sz="2800" spc="-5">
                <a:latin typeface="Calibri"/>
                <a:cs typeface="Calibri"/>
              </a:rPr>
              <a:t>and</a:t>
            </a:r>
            <a:r>
              <a:rPr dirty="0" sz="2800" spc="-170">
                <a:latin typeface="Calibri"/>
                <a:cs typeface="Calibri"/>
              </a:rPr>
              <a:t> </a:t>
            </a:r>
            <a:r>
              <a:rPr dirty="0" sz="2800" spc="-160">
                <a:latin typeface="Cambria Math"/>
                <a:cs typeface="Cambria Math"/>
              </a:rPr>
              <a:t>𝐺</a:t>
            </a:r>
            <a:r>
              <a:rPr dirty="0" baseline="-16666" sz="3000" spc="-240">
                <a:latin typeface="Cambria Math"/>
                <a:cs typeface="Cambria Math"/>
              </a:rPr>
              <a:t>5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13281" y="4187831"/>
            <a:ext cx="984885" cy="40005"/>
          </a:xfrm>
          <a:custGeom>
            <a:avLst/>
            <a:gdLst/>
            <a:ahLst/>
            <a:cxnLst/>
            <a:rect l="l" t="t" r="r" b="b"/>
            <a:pathLst>
              <a:path w="984885" h="40004">
                <a:moveTo>
                  <a:pt x="896274" y="7053"/>
                </a:moveTo>
                <a:lnTo>
                  <a:pt x="889110" y="14104"/>
                </a:lnTo>
                <a:lnTo>
                  <a:pt x="888972" y="31639"/>
                </a:lnTo>
                <a:lnTo>
                  <a:pt x="896023" y="38802"/>
                </a:lnTo>
                <a:lnTo>
                  <a:pt x="977055" y="39444"/>
                </a:lnTo>
                <a:lnTo>
                  <a:pt x="984218" y="32395"/>
                </a:lnTo>
                <a:lnTo>
                  <a:pt x="984357" y="14860"/>
                </a:lnTo>
                <a:lnTo>
                  <a:pt x="977306" y="7696"/>
                </a:lnTo>
                <a:lnTo>
                  <a:pt x="896274" y="7053"/>
                </a:lnTo>
                <a:close/>
              </a:path>
              <a:path w="984885" h="40004">
                <a:moveTo>
                  <a:pt x="769278" y="6046"/>
                </a:moveTo>
                <a:lnTo>
                  <a:pt x="762114" y="13097"/>
                </a:lnTo>
                <a:lnTo>
                  <a:pt x="761975" y="30631"/>
                </a:lnTo>
                <a:lnTo>
                  <a:pt x="769026" y="37795"/>
                </a:lnTo>
                <a:lnTo>
                  <a:pt x="850059" y="38437"/>
                </a:lnTo>
                <a:lnTo>
                  <a:pt x="857223" y="31386"/>
                </a:lnTo>
                <a:lnTo>
                  <a:pt x="857361" y="13853"/>
                </a:lnTo>
                <a:lnTo>
                  <a:pt x="850310" y="6689"/>
                </a:lnTo>
                <a:lnTo>
                  <a:pt x="769278" y="6046"/>
                </a:lnTo>
                <a:close/>
              </a:path>
              <a:path w="984885" h="40004">
                <a:moveTo>
                  <a:pt x="642282" y="5038"/>
                </a:moveTo>
                <a:lnTo>
                  <a:pt x="635119" y="12089"/>
                </a:lnTo>
                <a:lnTo>
                  <a:pt x="634979" y="29624"/>
                </a:lnTo>
                <a:lnTo>
                  <a:pt x="642030" y="36786"/>
                </a:lnTo>
                <a:lnTo>
                  <a:pt x="723063" y="37430"/>
                </a:lnTo>
                <a:lnTo>
                  <a:pt x="730227" y="30379"/>
                </a:lnTo>
                <a:lnTo>
                  <a:pt x="730365" y="12844"/>
                </a:lnTo>
                <a:lnTo>
                  <a:pt x="723314" y="5681"/>
                </a:lnTo>
                <a:lnTo>
                  <a:pt x="642282" y="5038"/>
                </a:lnTo>
                <a:close/>
              </a:path>
              <a:path w="984885" h="40004">
                <a:moveTo>
                  <a:pt x="515285" y="4030"/>
                </a:moveTo>
                <a:lnTo>
                  <a:pt x="508123" y="11082"/>
                </a:lnTo>
                <a:lnTo>
                  <a:pt x="507983" y="28615"/>
                </a:lnTo>
                <a:lnTo>
                  <a:pt x="515034" y="35779"/>
                </a:lnTo>
                <a:lnTo>
                  <a:pt x="596066" y="36422"/>
                </a:lnTo>
                <a:lnTo>
                  <a:pt x="603230" y="29371"/>
                </a:lnTo>
                <a:lnTo>
                  <a:pt x="603369" y="11837"/>
                </a:lnTo>
                <a:lnTo>
                  <a:pt x="596318" y="4673"/>
                </a:lnTo>
                <a:lnTo>
                  <a:pt x="515285" y="4030"/>
                </a:lnTo>
                <a:close/>
              </a:path>
              <a:path w="984885" h="40004">
                <a:moveTo>
                  <a:pt x="388291" y="3023"/>
                </a:moveTo>
                <a:lnTo>
                  <a:pt x="381126" y="10073"/>
                </a:lnTo>
                <a:lnTo>
                  <a:pt x="380987" y="27608"/>
                </a:lnTo>
                <a:lnTo>
                  <a:pt x="388038" y="34772"/>
                </a:lnTo>
                <a:lnTo>
                  <a:pt x="469070" y="35415"/>
                </a:lnTo>
                <a:lnTo>
                  <a:pt x="476234" y="28364"/>
                </a:lnTo>
                <a:lnTo>
                  <a:pt x="476374" y="10829"/>
                </a:lnTo>
                <a:lnTo>
                  <a:pt x="469323" y="3666"/>
                </a:lnTo>
                <a:lnTo>
                  <a:pt x="388291" y="3023"/>
                </a:lnTo>
                <a:close/>
              </a:path>
              <a:path w="984885" h="40004">
                <a:moveTo>
                  <a:pt x="261294" y="2015"/>
                </a:moveTo>
                <a:lnTo>
                  <a:pt x="254130" y="9066"/>
                </a:lnTo>
                <a:lnTo>
                  <a:pt x="253991" y="26601"/>
                </a:lnTo>
                <a:lnTo>
                  <a:pt x="261042" y="33764"/>
                </a:lnTo>
                <a:lnTo>
                  <a:pt x="342074" y="34408"/>
                </a:lnTo>
                <a:lnTo>
                  <a:pt x="349238" y="27357"/>
                </a:lnTo>
                <a:lnTo>
                  <a:pt x="349378" y="9822"/>
                </a:lnTo>
                <a:lnTo>
                  <a:pt x="342327" y="2658"/>
                </a:lnTo>
                <a:lnTo>
                  <a:pt x="261294" y="2015"/>
                </a:lnTo>
                <a:close/>
              </a:path>
              <a:path w="984885" h="40004">
                <a:moveTo>
                  <a:pt x="134298" y="1008"/>
                </a:moveTo>
                <a:lnTo>
                  <a:pt x="127134" y="8059"/>
                </a:lnTo>
                <a:lnTo>
                  <a:pt x="126996" y="25593"/>
                </a:lnTo>
                <a:lnTo>
                  <a:pt x="134047" y="32757"/>
                </a:lnTo>
                <a:lnTo>
                  <a:pt x="215079" y="33399"/>
                </a:lnTo>
                <a:lnTo>
                  <a:pt x="222242" y="26348"/>
                </a:lnTo>
                <a:lnTo>
                  <a:pt x="222382" y="8815"/>
                </a:lnTo>
                <a:lnTo>
                  <a:pt x="215331" y="1651"/>
                </a:lnTo>
                <a:lnTo>
                  <a:pt x="134298" y="1008"/>
                </a:lnTo>
                <a:close/>
              </a:path>
              <a:path w="984885" h="40004">
                <a:moveTo>
                  <a:pt x="7302" y="0"/>
                </a:moveTo>
                <a:lnTo>
                  <a:pt x="138" y="7051"/>
                </a:lnTo>
                <a:lnTo>
                  <a:pt x="0" y="24585"/>
                </a:lnTo>
                <a:lnTo>
                  <a:pt x="7051" y="31750"/>
                </a:lnTo>
                <a:lnTo>
                  <a:pt x="88083" y="32392"/>
                </a:lnTo>
                <a:lnTo>
                  <a:pt x="95246" y="25341"/>
                </a:lnTo>
                <a:lnTo>
                  <a:pt x="95385" y="7806"/>
                </a:lnTo>
                <a:lnTo>
                  <a:pt x="88334" y="643"/>
                </a:lnTo>
                <a:lnTo>
                  <a:pt x="7302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551866" y="4272719"/>
            <a:ext cx="32384" cy="984250"/>
          </a:xfrm>
          <a:custGeom>
            <a:avLst/>
            <a:gdLst/>
            <a:ahLst/>
            <a:cxnLst/>
            <a:rect l="l" t="t" r="r" b="b"/>
            <a:pathLst>
              <a:path w="32385" h="984250">
                <a:moveTo>
                  <a:pt x="24643" y="0"/>
                </a:moveTo>
                <a:lnTo>
                  <a:pt x="7108" y="0"/>
                </a:lnTo>
                <a:lnTo>
                  <a:pt x="0" y="7106"/>
                </a:lnTo>
                <a:lnTo>
                  <a:pt x="0" y="88141"/>
                </a:lnTo>
                <a:lnTo>
                  <a:pt x="7108" y="95250"/>
                </a:lnTo>
                <a:lnTo>
                  <a:pt x="24643" y="95250"/>
                </a:lnTo>
                <a:lnTo>
                  <a:pt x="31750" y="88141"/>
                </a:lnTo>
                <a:lnTo>
                  <a:pt x="31750" y="7106"/>
                </a:lnTo>
                <a:lnTo>
                  <a:pt x="24643" y="0"/>
                </a:lnTo>
                <a:close/>
              </a:path>
              <a:path w="32385" h="984250">
                <a:moveTo>
                  <a:pt x="24643" y="127000"/>
                </a:moveTo>
                <a:lnTo>
                  <a:pt x="7108" y="127000"/>
                </a:lnTo>
                <a:lnTo>
                  <a:pt x="0" y="134106"/>
                </a:lnTo>
                <a:lnTo>
                  <a:pt x="0" y="215141"/>
                </a:lnTo>
                <a:lnTo>
                  <a:pt x="7108" y="222250"/>
                </a:lnTo>
                <a:lnTo>
                  <a:pt x="24643" y="222250"/>
                </a:lnTo>
                <a:lnTo>
                  <a:pt x="31750" y="215141"/>
                </a:lnTo>
                <a:lnTo>
                  <a:pt x="31750" y="134106"/>
                </a:lnTo>
                <a:lnTo>
                  <a:pt x="24643" y="127000"/>
                </a:lnTo>
                <a:close/>
              </a:path>
              <a:path w="32385" h="984250">
                <a:moveTo>
                  <a:pt x="24643" y="254000"/>
                </a:moveTo>
                <a:lnTo>
                  <a:pt x="7108" y="254000"/>
                </a:lnTo>
                <a:lnTo>
                  <a:pt x="0" y="261106"/>
                </a:lnTo>
                <a:lnTo>
                  <a:pt x="0" y="342141"/>
                </a:lnTo>
                <a:lnTo>
                  <a:pt x="7108" y="349250"/>
                </a:lnTo>
                <a:lnTo>
                  <a:pt x="24643" y="349250"/>
                </a:lnTo>
                <a:lnTo>
                  <a:pt x="31750" y="342141"/>
                </a:lnTo>
                <a:lnTo>
                  <a:pt x="31750" y="261106"/>
                </a:lnTo>
                <a:lnTo>
                  <a:pt x="24643" y="254000"/>
                </a:lnTo>
                <a:close/>
              </a:path>
              <a:path w="32385" h="984250">
                <a:moveTo>
                  <a:pt x="24643" y="381000"/>
                </a:moveTo>
                <a:lnTo>
                  <a:pt x="7108" y="381000"/>
                </a:lnTo>
                <a:lnTo>
                  <a:pt x="0" y="388106"/>
                </a:lnTo>
                <a:lnTo>
                  <a:pt x="0" y="469141"/>
                </a:lnTo>
                <a:lnTo>
                  <a:pt x="7108" y="476250"/>
                </a:lnTo>
                <a:lnTo>
                  <a:pt x="24643" y="476250"/>
                </a:lnTo>
                <a:lnTo>
                  <a:pt x="31750" y="469141"/>
                </a:lnTo>
                <a:lnTo>
                  <a:pt x="31750" y="388106"/>
                </a:lnTo>
                <a:lnTo>
                  <a:pt x="24643" y="381000"/>
                </a:lnTo>
                <a:close/>
              </a:path>
              <a:path w="32385" h="984250">
                <a:moveTo>
                  <a:pt x="24643" y="508000"/>
                </a:moveTo>
                <a:lnTo>
                  <a:pt x="7108" y="508000"/>
                </a:lnTo>
                <a:lnTo>
                  <a:pt x="1" y="515106"/>
                </a:lnTo>
                <a:lnTo>
                  <a:pt x="1" y="596141"/>
                </a:lnTo>
                <a:lnTo>
                  <a:pt x="7108" y="603250"/>
                </a:lnTo>
                <a:lnTo>
                  <a:pt x="24643" y="603250"/>
                </a:lnTo>
                <a:lnTo>
                  <a:pt x="31751" y="596141"/>
                </a:lnTo>
                <a:lnTo>
                  <a:pt x="31750" y="515106"/>
                </a:lnTo>
                <a:lnTo>
                  <a:pt x="24643" y="508000"/>
                </a:lnTo>
                <a:close/>
              </a:path>
              <a:path w="32385" h="984250">
                <a:moveTo>
                  <a:pt x="24643" y="635000"/>
                </a:moveTo>
                <a:lnTo>
                  <a:pt x="7108" y="635000"/>
                </a:lnTo>
                <a:lnTo>
                  <a:pt x="1" y="642106"/>
                </a:lnTo>
                <a:lnTo>
                  <a:pt x="1" y="723141"/>
                </a:lnTo>
                <a:lnTo>
                  <a:pt x="7108" y="730250"/>
                </a:lnTo>
                <a:lnTo>
                  <a:pt x="24643" y="730250"/>
                </a:lnTo>
                <a:lnTo>
                  <a:pt x="31751" y="723141"/>
                </a:lnTo>
                <a:lnTo>
                  <a:pt x="31751" y="642106"/>
                </a:lnTo>
                <a:lnTo>
                  <a:pt x="24643" y="635000"/>
                </a:lnTo>
                <a:close/>
              </a:path>
              <a:path w="32385" h="984250">
                <a:moveTo>
                  <a:pt x="24643" y="762000"/>
                </a:moveTo>
                <a:lnTo>
                  <a:pt x="7108" y="762000"/>
                </a:lnTo>
                <a:lnTo>
                  <a:pt x="1" y="769106"/>
                </a:lnTo>
                <a:lnTo>
                  <a:pt x="1" y="850141"/>
                </a:lnTo>
                <a:lnTo>
                  <a:pt x="7108" y="857250"/>
                </a:lnTo>
                <a:lnTo>
                  <a:pt x="24643" y="857250"/>
                </a:lnTo>
                <a:lnTo>
                  <a:pt x="31751" y="850141"/>
                </a:lnTo>
                <a:lnTo>
                  <a:pt x="31751" y="769106"/>
                </a:lnTo>
                <a:lnTo>
                  <a:pt x="24643" y="762000"/>
                </a:lnTo>
                <a:close/>
              </a:path>
              <a:path w="32385" h="984250">
                <a:moveTo>
                  <a:pt x="24643" y="889000"/>
                </a:moveTo>
                <a:lnTo>
                  <a:pt x="7108" y="889000"/>
                </a:lnTo>
                <a:lnTo>
                  <a:pt x="1" y="896106"/>
                </a:lnTo>
                <a:lnTo>
                  <a:pt x="1" y="977141"/>
                </a:lnTo>
                <a:lnTo>
                  <a:pt x="7108" y="984250"/>
                </a:lnTo>
                <a:lnTo>
                  <a:pt x="24643" y="984250"/>
                </a:lnTo>
                <a:lnTo>
                  <a:pt x="31751" y="977141"/>
                </a:lnTo>
                <a:lnTo>
                  <a:pt x="31751" y="896106"/>
                </a:lnTo>
                <a:lnTo>
                  <a:pt x="24643" y="88900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54882" y="4696702"/>
            <a:ext cx="32384" cy="580390"/>
          </a:xfrm>
          <a:custGeom>
            <a:avLst/>
            <a:gdLst/>
            <a:ahLst/>
            <a:cxnLst/>
            <a:rect l="l" t="t" r="r" b="b"/>
            <a:pathLst>
              <a:path w="32385" h="580389">
                <a:moveTo>
                  <a:pt x="24643" y="0"/>
                </a:moveTo>
                <a:lnTo>
                  <a:pt x="7108" y="0"/>
                </a:lnTo>
                <a:lnTo>
                  <a:pt x="0" y="7108"/>
                </a:lnTo>
                <a:lnTo>
                  <a:pt x="0" y="88143"/>
                </a:lnTo>
                <a:lnTo>
                  <a:pt x="7108" y="95250"/>
                </a:lnTo>
                <a:lnTo>
                  <a:pt x="24643" y="95250"/>
                </a:lnTo>
                <a:lnTo>
                  <a:pt x="31750" y="88143"/>
                </a:lnTo>
                <a:lnTo>
                  <a:pt x="31750" y="7108"/>
                </a:lnTo>
                <a:lnTo>
                  <a:pt x="24643" y="0"/>
                </a:lnTo>
                <a:close/>
              </a:path>
              <a:path w="32385" h="580389">
                <a:moveTo>
                  <a:pt x="24643" y="127000"/>
                </a:moveTo>
                <a:lnTo>
                  <a:pt x="7108" y="127000"/>
                </a:lnTo>
                <a:lnTo>
                  <a:pt x="0" y="134108"/>
                </a:lnTo>
                <a:lnTo>
                  <a:pt x="0" y="215143"/>
                </a:lnTo>
                <a:lnTo>
                  <a:pt x="7108" y="222250"/>
                </a:lnTo>
                <a:lnTo>
                  <a:pt x="24643" y="222250"/>
                </a:lnTo>
                <a:lnTo>
                  <a:pt x="31750" y="215143"/>
                </a:lnTo>
                <a:lnTo>
                  <a:pt x="31750" y="134108"/>
                </a:lnTo>
                <a:lnTo>
                  <a:pt x="24643" y="127000"/>
                </a:lnTo>
                <a:close/>
              </a:path>
              <a:path w="32385" h="580389">
                <a:moveTo>
                  <a:pt x="24643" y="254000"/>
                </a:moveTo>
                <a:lnTo>
                  <a:pt x="7108" y="254000"/>
                </a:lnTo>
                <a:lnTo>
                  <a:pt x="0" y="261108"/>
                </a:lnTo>
                <a:lnTo>
                  <a:pt x="1" y="342143"/>
                </a:lnTo>
                <a:lnTo>
                  <a:pt x="7108" y="349250"/>
                </a:lnTo>
                <a:lnTo>
                  <a:pt x="24643" y="349250"/>
                </a:lnTo>
                <a:lnTo>
                  <a:pt x="31751" y="342143"/>
                </a:lnTo>
                <a:lnTo>
                  <a:pt x="31750" y="261108"/>
                </a:lnTo>
                <a:lnTo>
                  <a:pt x="24643" y="254000"/>
                </a:lnTo>
                <a:close/>
              </a:path>
              <a:path w="32385" h="580389">
                <a:moveTo>
                  <a:pt x="24643" y="381000"/>
                </a:moveTo>
                <a:lnTo>
                  <a:pt x="7108" y="381000"/>
                </a:lnTo>
                <a:lnTo>
                  <a:pt x="1" y="388108"/>
                </a:lnTo>
                <a:lnTo>
                  <a:pt x="1" y="469143"/>
                </a:lnTo>
                <a:lnTo>
                  <a:pt x="7108" y="476250"/>
                </a:lnTo>
                <a:lnTo>
                  <a:pt x="24643" y="476250"/>
                </a:lnTo>
                <a:lnTo>
                  <a:pt x="31751" y="469143"/>
                </a:lnTo>
                <a:lnTo>
                  <a:pt x="31751" y="388108"/>
                </a:lnTo>
                <a:lnTo>
                  <a:pt x="24643" y="381000"/>
                </a:lnTo>
                <a:close/>
              </a:path>
              <a:path w="32385" h="580389">
                <a:moveTo>
                  <a:pt x="24643" y="508000"/>
                </a:moveTo>
                <a:lnTo>
                  <a:pt x="7108" y="508000"/>
                </a:lnTo>
                <a:lnTo>
                  <a:pt x="1" y="515108"/>
                </a:lnTo>
                <a:lnTo>
                  <a:pt x="1" y="573156"/>
                </a:lnTo>
                <a:lnTo>
                  <a:pt x="7108" y="580263"/>
                </a:lnTo>
                <a:lnTo>
                  <a:pt x="24643" y="580263"/>
                </a:lnTo>
                <a:lnTo>
                  <a:pt x="31751" y="573156"/>
                </a:lnTo>
                <a:lnTo>
                  <a:pt x="31751" y="515108"/>
                </a:lnTo>
                <a:lnTo>
                  <a:pt x="24643" y="50800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50229" y="4624440"/>
            <a:ext cx="465455" cy="35560"/>
          </a:xfrm>
          <a:custGeom>
            <a:avLst/>
            <a:gdLst/>
            <a:ahLst/>
            <a:cxnLst/>
            <a:rect l="l" t="t" r="r" b="b"/>
            <a:pathLst>
              <a:path w="465455" h="35560">
                <a:moveTo>
                  <a:pt x="7301" y="0"/>
                </a:moveTo>
                <a:lnTo>
                  <a:pt x="138" y="7051"/>
                </a:lnTo>
                <a:lnTo>
                  <a:pt x="0" y="24585"/>
                </a:lnTo>
                <a:lnTo>
                  <a:pt x="7052" y="31748"/>
                </a:lnTo>
                <a:lnTo>
                  <a:pt x="88084" y="32383"/>
                </a:lnTo>
                <a:lnTo>
                  <a:pt x="95247" y="25332"/>
                </a:lnTo>
                <a:lnTo>
                  <a:pt x="95384" y="7797"/>
                </a:lnTo>
                <a:lnTo>
                  <a:pt x="88333" y="635"/>
                </a:lnTo>
                <a:lnTo>
                  <a:pt x="7301" y="0"/>
                </a:lnTo>
                <a:close/>
              </a:path>
              <a:path w="465455" h="35560">
                <a:moveTo>
                  <a:pt x="134297" y="995"/>
                </a:moveTo>
                <a:lnTo>
                  <a:pt x="127134" y="8046"/>
                </a:lnTo>
                <a:lnTo>
                  <a:pt x="126996" y="25581"/>
                </a:lnTo>
                <a:lnTo>
                  <a:pt x="134048" y="32744"/>
                </a:lnTo>
                <a:lnTo>
                  <a:pt x="215080" y="33379"/>
                </a:lnTo>
                <a:lnTo>
                  <a:pt x="222243" y="26328"/>
                </a:lnTo>
                <a:lnTo>
                  <a:pt x="222380" y="8793"/>
                </a:lnTo>
                <a:lnTo>
                  <a:pt x="215329" y="1630"/>
                </a:lnTo>
                <a:lnTo>
                  <a:pt x="134297" y="995"/>
                </a:lnTo>
                <a:close/>
              </a:path>
              <a:path w="465455" h="35560">
                <a:moveTo>
                  <a:pt x="261293" y="1990"/>
                </a:moveTo>
                <a:lnTo>
                  <a:pt x="254129" y="9042"/>
                </a:lnTo>
                <a:lnTo>
                  <a:pt x="253992" y="26576"/>
                </a:lnTo>
                <a:lnTo>
                  <a:pt x="261044" y="33740"/>
                </a:lnTo>
                <a:lnTo>
                  <a:pt x="342077" y="34375"/>
                </a:lnTo>
                <a:lnTo>
                  <a:pt x="349239" y="27322"/>
                </a:lnTo>
                <a:lnTo>
                  <a:pt x="349377" y="9789"/>
                </a:lnTo>
                <a:lnTo>
                  <a:pt x="342325" y="2626"/>
                </a:lnTo>
                <a:lnTo>
                  <a:pt x="261293" y="1990"/>
                </a:lnTo>
                <a:close/>
              </a:path>
              <a:path w="465455" h="35560">
                <a:moveTo>
                  <a:pt x="388289" y="2985"/>
                </a:moveTo>
                <a:lnTo>
                  <a:pt x="381125" y="10038"/>
                </a:lnTo>
                <a:lnTo>
                  <a:pt x="380988" y="27571"/>
                </a:lnTo>
                <a:lnTo>
                  <a:pt x="388040" y="34734"/>
                </a:lnTo>
                <a:lnTo>
                  <a:pt x="457848" y="35281"/>
                </a:lnTo>
                <a:lnTo>
                  <a:pt x="465013" y="28230"/>
                </a:lnTo>
                <a:lnTo>
                  <a:pt x="465150" y="10695"/>
                </a:lnTo>
                <a:lnTo>
                  <a:pt x="458097" y="3533"/>
                </a:lnTo>
                <a:lnTo>
                  <a:pt x="388289" y="2985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09146" y="3863022"/>
            <a:ext cx="158750" cy="1498600"/>
          </a:xfrm>
          <a:custGeom>
            <a:avLst/>
            <a:gdLst/>
            <a:ahLst/>
            <a:cxnLst/>
            <a:rect l="l" t="t" r="r" b="b"/>
            <a:pathLst>
              <a:path w="158750" h="1498600">
                <a:moveTo>
                  <a:pt x="88143" y="127000"/>
                </a:moveTo>
                <a:lnTo>
                  <a:pt x="70608" y="127000"/>
                </a:lnTo>
                <a:lnTo>
                  <a:pt x="63500" y="134106"/>
                </a:lnTo>
                <a:lnTo>
                  <a:pt x="63500" y="1491110"/>
                </a:lnTo>
                <a:lnTo>
                  <a:pt x="70606" y="1498218"/>
                </a:lnTo>
                <a:lnTo>
                  <a:pt x="88141" y="1498218"/>
                </a:lnTo>
                <a:lnTo>
                  <a:pt x="95250" y="1491110"/>
                </a:lnTo>
                <a:lnTo>
                  <a:pt x="95250" y="134106"/>
                </a:lnTo>
                <a:lnTo>
                  <a:pt x="88143" y="127000"/>
                </a:lnTo>
                <a:close/>
              </a:path>
              <a:path w="158750" h="1498600">
                <a:moveTo>
                  <a:pt x="79376" y="0"/>
                </a:moveTo>
                <a:lnTo>
                  <a:pt x="0" y="158750"/>
                </a:lnTo>
                <a:lnTo>
                  <a:pt x="63500" y="158750"/>
                </a:lnTo>
                <a:lnTo>
                  <a:pt x="63500" y="134106"/>
                </a:lnTo>
                <a:lnTo>
                  <a:pt x="70608" y="127000"/>
                </a:lnTo>
                <a:lnTo>
                  <a:pt x="142875" y="127000"/>
                </a:lnTo>
                <a:lnTo>
                  <a:pt x="79376" y="0"/>
                </a:lnTo>
                <a:close/>
              </a:path>
              <a:path w="158750" h="1498600">
                <a:moveTo>
                  <a:pt x="142875" y="127000"/>
                </a:moveTo>
                <a:lnTo>
                  <a:pt x="88143" y="127000"/>
                </a:lnTo>
                <a:lnTo>
                  <a:pt x="95250" y="134106"/>
                </a:lnTo>
                <a:lnTo>
                  <a:pt x="95250" y="158750"/>
                </a:lnTo>
                <a:lnTo>
                  <a:pt x="158750" y="158750"/>
                </a:lnTo>
                <a:lnTo>
                  <a:pt x="142875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472647" y="5270843"/>
            <a:ext cx="1869439" cy="158750"/>
          </a:xfrm>
          <a:custGeom>
            <a:avLst/>
            <a:gdLst/>
            <a:ahLst/>
            <a:cxnLst/>
            <a:rect l="l" t="t" r="r" b="b"/>
            <a:pathLst>
              <a:path w="1869439" h="158750">
                <a:moveTo>
                  <a:pt x="1837262" y="63500"/>
                </a:moveTo>
                <a:lnTo>
                  <a:pt x="1734905" y="63500"/>
                </a:lnTo>
                <a:lnTo>
                  <a:pt x="1742012" y="70606"/>
                </a:lnTo>
                <a:lnTo>
                  <a:pt x="1742012" y="88143"/>
                </a:lnTo>
                <a:lnTo>
                  <a:pt x="1734905" y="95250"/>
                </a:lnTo>
                <a:lnTo>
                  <a:pt x="1710262" y="95250"/>
                </a:lnTo>
                <a:lnTo>
                  <a:pt x="1710262" y="158750"/>
                </a:lnTo>
                <a:lnTo>
                  <a:pt x="1869012" y="79375"/>
                </a:lnTo>
                <a:lnTo>
                  <a:pt x="1837262" y="63500"/>
                </a:lnTo>
                <a:close/>
              </a:path>
              <a:path w="1869439" h="158750">
                <a:moveTo>
                  <a:pt x="1710262" y="63500"/>
                </a:moveTo>
                <a:lnTo>
                  <a:pt x="15875" y="63501"/>
                </a:lnTo>
                <a:lnTo>
                  <a:pt x="7106" y="63501"/>
                </a:lnTo>
                <a:lnTo>
                  <a:pt x="1" y="70606"/>
                </a:lnTo>
                <a:lnTo>
                  <a:pt x="0" y="88143"/>
                </a:lnTo>
                <a:lnTo>
                  <a:pt x="7106" y="95251"/>
                </a:lnTo>
                <a:lnTo>
                  <a:pt x="1710262" y="95250"/>
                </a:lnTo>
                <a:lnTo>
                  <a:pt x="1710262" y="63500"/>
                </a:lnTo>
                <a:close/>
              </a:path>
              <a:path w="1869439" h="158750">
                <a:moveTo>
                  <a:pt x="1734905" y="63500"/>
                </a:moveTo>
                <a:lnTo>
                  <a:pt x="1710262" y="63500"/>
                </a:lnTo>
                <a:lnTo>
                  <a:pt x="1710262" y="95250"/>
                </a:lnTo>
                <a:lnTo>
                  <a:pt x="1734905" y="95250"/>
                </a:lnTo>
                <a:lnTo>
                  <a:pt x="1742012" y="88143"/>
                </a:lnTo>
                <a:lnTo>
                  <a:pt x="1742012" y="70606"/>
                </a:lnTo>
                <a:lnTo>
                  <a:pt x="1734905" y="63500"/>
                </a:lnTo>
                <a:close/>
              </a:path>
              <a:path w="1869439" h="158750">
                <a:moveTo>
                  <a:pt x="1710262" y="0"/>
                </a:moveTo>
                <a:lnTo>
                  <a:pt x="1710262" y="63500"/>
                </a:lnTo>
                <a:lnTo>
                  <a:pt x="1837262" y="63500"/>
                </a:lnTo>
                <a:lnTo>
                  <a:pt x="17102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335982" y="5375147"/>
            <a:ext cx="156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orbel"/>
                <a:cs typeface="Corbel"/>
              </a:rPr>
              <a:t>O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481695" y="4134072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39" h="154939">
                <a:moveTo>
                  <a:pt x="0" y="0"/>
                </a:moveTo>
                <a:lnTo>
                  <a:pt x="154522" y="0"/>
                </a:lnTo>
                <a:lnTo>
                  <a:pt x="154522" y="154522"/>
                </a:lnTo>
                <a:lnTo>
                  <a:pt x="0" y="15452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999434" y="4561465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28"/>
                </a:lnTo>
                <a:lnTo>
                  <a:pt x="0" y="164628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028009" y="4556373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153075" y="3559555"/>
            <a:ext cx="1854835" cy="1217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Embedding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space</a:t>
            </a:r>
            <a:endParaRPr sz="1800">
              <a:latin typeface="Arial"/>
              <a:cs typeface="Arial"/>
            </a:endParaRPr>
          </a:p>
          <a:p>
            <a:pPr algn="r" marR="112395">
              <a:lnSpc>
                <a:spcPct val="100000"/>
              </a:lnSpc>
              <a:spcBef>
                <a:spcPts val="1585"/>
              </a:spcBef>
            </a:pPr>
            <a:r>
              <a:rPr dirty="0" sz="1800" spc="-50">
                <a:latin typeface="Cambria Math"/>
                <a:cs typeface="Cambria Math"/>
              </a:rPr>
              <a:t>𝐺</a:t>
            </a:r>
            <a:r>
              <a:rPr dirty="0" baseline="-14957" sz="1950" spc="-352">
                <a:latin typeface="Cambria Math"/>
                <a:cs typeface="Cambria Math"/>
              </a:rPr>
              <a:t>#</a:t>
            </a:r>
            <a:endParaRPr baseline="-14957" sz="1950">
              <a:latin typeface="Cambria Math"/>
              <a:cs typeface="Cambria Math"/>
            </a:endParaRPr>
          </a:p>
          <a:p>
            <a:pPr marL="1069340">
              <a:lnSpc>
                <a:spcPct val="100000"/>
              </a:lnSpc>
              <a:spcBef>
                <a:spcPts val="1320"/>
              </a:spcBef>
            </a:pPr>
            <a:r>
              <a:rPr dirty="0" sz="1800" spc="0">
                <a:latin typeface="Cambria Math"/>
                <a:cs typeface="Cambria Math"/>
              </a:rPr>
              <a:t>𝐺</a:t>
            </a:r>
            <a:r>
              <a:rPr dirty="0" baseline="-17094" sz="1950" spc="0">
                <a:latin typeface="Cambria Math"/>
                <a:cs typeface="Cambria Math"/>
              </a:rPr>
              <a:t>$</a:t>
            </a:r>
            <a:endParaRPr baseline="-17094" sz="195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17139" y="5530392"/>
            <a:ext cx="721360" cy="276225"/>
          </a:xfrm>
          <a:custGeom>
            <a:avLst/>
            <a:gdLst/>
            <a:ahLst/>
            <a:cxnLst/>
            <a:rect l="l" t="t" r="r" b="b"/>
            <a:pathLst>
              <a:path w="721360" h="276225">
                <a:moveTo>
                  <a:pt x="648634" y="0"/>
                </a:moveTo>
                <a:lnTo>
                  <a:pt x="645844" y="9152"/>
                </a:lnTo>
                <a:lnTo>
                  <a:pt x="658530" y="15731"/>
                </a:lnTo>
                <a:lnTo>
                  <a:pt x="669577" y="25310"/>
                </a:lnTo>
                <a:lnTo>
                  <a:pt x="692833" y="71570"/>
                </a:lnTo>
                <a:lnTo>
                  <a:pt x="699781" y="113930"/>
                </a:lnTo>
                <a:lnTo>
                  <a:pt x="700649" y="138186"/>
                </a:lnTo>
                <a:lnTo>
                  <a:pt x="699781" y="162391"/>
                </a:lnTo>
                <a:lnTo>
                  <a:pt x="692833" y="204667"/>
                </a:lnTo>
                <a:lnTo>
                  <a:pt x="669577" y="250854"/>
                </a:lnTo>
                <a:lnTo>
                  <a:pt x="645844" y="266997"/>
                </a:lnTo>
                <a:lnTo>
                  <a:pt x="648634" y="276150"/>
                </a:lnTo>
                <a:lnTo>
                  <a:pt x="691894" y="246033"/>
                </a:lnTo>
                <a:lnTo>
                  <a:pt x="710577" y="208689"/>
                </a:lnTo>
                <a:lnTo>
                  <a:pt x="720009" y="163371"/>
                </a:lnTo>
                <a:lnTo>
                  <a:pt x="721188" y="138075"/>
                </a:lnTo>
                <a:lnTo>
                  <a:pt x="720009" y="112779"/>
                </a:lnTo>
                <a:lnTo>
                  <a:pt x="710577" y="67460"/>
                </a:lnTo>
                <a:lnTo>
                  <a:pt x="691894" y="30116"/>
                </a:lnTo>
                <a:lnTo>
                  <a:pt x="665049" y="6397"/>
                </a:lnTo>
                <a:lnTo>
                  <a:pt x="648634" y="0"/>
                </a:lnTo>
                <a:close/>
              </a:path>
              <a:path w="721360" h="276225">
                <a:moveTo>
                  <a:pt x="72548" y="0"/>
                </a:moveTo>
                <a:lnTo>
                  <a:pt x="29288" y="30116"/>
                </a:lnTo>
                <a:lnTo>
                  <a:pt x="10605" y="67460"/>
                </a:lnTo>
                <a:lnTo>
                  <a:pt x="1173" y="112779"/>
                </a:lnTo>
                <a:lnTo>
                  <a:pt x="0" y="138186"/>
                </a:lnTo>
                <a:lnTo>
                  <a:pt x="1173" y="163371"/>
                </a:lnTo>
                <a:lnTo>
                  <a:pt x="10605" y="208689"/>
                </a:lnTo>
                <a:lnTo>
                  <a:pt x="29288" y="246033"/>
                </a:lnTo>
                <a:lnTo>
                  <a:pt x="72548" y="276150"/>
                </a:lnTo>
                <a:lnTo>
                  <a:pt x="75338" y="266997"/>
                </a:lnTo>
                <a:lnTo>
                  <a:pt x="62652" y="260422"/>
                </a:lnTo>
                <a:lnTo>
                  <a:pt x="51605" y="250854"/>
                </a:lnTo>
                <a:lnTo>
                  <a:pt x="28350" y="204667"/>
                </a:lnTo>
                <a:lnTo>
                  <a:pt x="21401" y="162391"/>
                </a:lnTo>
                <a:lnTo>
                  <a:pt x="20537" y="138075"/>
                </a:lnTo>
                <a:lnTo>
                  <a:pt x="21401" y="113930"/>
                </a:lnTo>
                <a:lnTo>
                  <a:pt x="28350" y="71570"/>
                </a:lnTo>
                <a:lnTo>
                  <a:pt x="51605" y="25310"/>
                </a:lnTo>
                <a:lnTo>
                  <a:pt x="75338" y="9152"/>
                </a:lnTo>
                <a:lnTo>
                  <a:pt x="72548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118086" y="5601208"/>
            <a:ext cx="43624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0520" algn="l"/>
              </a:tabLst>
            </a:pPr>
            <a:r>
              <a:rPr dirty="0" sz="1300" spc="114">
                <a:solidFill>
                  <a:srgbClr val="008000"/>
                </a:solidFill>
                <a:latin typeface="Cambria Math"/>
                <a:cs typeface="Cambria Math"/>
              </a:rPr>
              <a:t>$</a:t>
            </a:r>
            <a:r>
              <a:rPr dirty="0" sz="1300" spc="114">
                <a:solidFill>
                  <a:srgbClr val="008000"/>
                </a:solidFill>
                <a:latin typeface="Cambria Math"/>
                <a:cs typeface="Cambria Math"/>
              </a:rPr>
              <a:t>	</a:t>
            </a:r>
            <a:r>
              <a:rPr dirty="0" sz="1300" spc="-235">
                <a:solidFill>
                  <a:srgbClr val="008000"/>
                </a:solidFill>
                <a:latin typeface="Cambria Math"/>
                <a:cs typeface="Cambria Math"/>
              </a:rPr>
              <a:t>#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32514" y="5491988"/>
            <a:ext cx="13639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9330" algn="l"/>
              </a:tabLst>
            </a:pP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𝐸  𝐺 </a:t>
            </a:r>
            <a:r>
              <a:rPr dirty="0" sz="1800" spc="8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,</a:t>
            </a:r>
            <a:r>
              <a:rPr dirty="0" sz="1800" spc="-95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𝐺	= 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3517" y="5784596"/>
            <a:ext cx="3531235" cy="580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According to the order</a:t>
            </a:r>
            <a:r>
              <a:rPr dirty="0" sz="1800" spc="-4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embedding,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800" spc="0">
                <a:solidFill>
                  <a:srgbClr val="008000"/>
                </a:solidFill>
                <a:latin typeface="Cambria Math"/>
                <a:cs typeface="Cambria Math"/>
              </a:rPr>
              <a:t>𝐺</a:t>
            </a:r>
            <a:r>
              <a:rPr dirty="0" baseline="-14957" sz="1950" spc="0">
                <a:solidFill>
                  <a:srgbClr val="008000"/>
                </a:solidFill>
                <a:latin typeface="Cambria Math"/>
                <a:cs typeface="Cambria Math"/>
              </a:rPr>
              <a:t>$  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is a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subgraph of</a:t>
            </a:r>
            <a:r>
              <a:rPr dirty="0" sz="1800" spc="-22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008000"/>
                </a:solidFill>
                <a:latin typeface="Cambria Math"/>
                <a:cs typeface="Cambria Math"/>
              </a:rPr>
              <a:t>𝐺</a:t>
            </a:r>
            <a:r>
              <a:rPr dirty="0" baseline="-14957" sz="1950" spc="-104">
                <a:solidFill>
                  <a:srgbClr val="008000"/>
                </a:solidFill>
                <a:latin typeface="Cambria Math"/>
                <a:cs typeface="Cambria Math"/>
              </a:rPr>
              <a:t>#</a:t>
            </a:r>
            <a:r>
              <a:rPr dirty="0" sz="1800" spc="-70">
                <a:solidFill>
                  <a:srgbClr val="008000"/>
                </a:solidFill>
                <a:latin typeface="Arial"/>
                <a:cs typeface="Arial"/>
              </a:rPr>
              <a:t>!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840432" y="4211196"/>
            <a:ext cx="468630" cy="41910"/>
          </a:xfrm>
          <a:custGeom>
            <a:avLst/>
            <a:gdLst/>
            <a:ahLst/>
            <a:cxnLst/>
            <a:rect l="l" t="t" r="r" b="b"/>
            <a:pathLst>
              <a:path w="468629" h="41910">
                <a:moveTo>
                  <a:pt x="460862" y="0"/>
                </a:moveTo>
                <a:lnTo>
                  <a:pt x="379846" y="1775"/>
                </a:lnTo>
                <a:lnTo>
                  <a:pt x="372897" y="9037"/>
                </a:lnTo>
                <a:lnTo>
                  <a:pt x="373280" y="26568"/>
                </a:lnTo>
                <a:lnTo>
                  <a:pt x="380542" y="33517"/>
                </a:lnTo>
                <a:lnTo>
                  <a:pt x="461558" y="31742"/>
                </a:lnTo>
                <a:lnTo>
                  <a:pt x="468508" y="24480"/>
                </a:lnTo>
                <a:lnTo>
                  <a:pt x="468124" y="6949"/>
                </a:lnTo>
                <a:lnTo>
                  <a:pt x="460862" y="0"/>
                </a:lnTo>
                <a:close/>
              </a:path>
              <a:path w="468629" h="41910">
                <a:moveTo>
                  <a:pt x="333893" y="2782"/>
                </a:moveTo>
                <a:lnTo>
                  <a:pt x="252877" y="4558"/>
                </a:lnTo>
                <a:lnTo>
                  <a:pt x="245927" y="11819"/>
                </a:lnTo>
                <a:lnTo>
                  <a:pt x="246311" y="29350"/>
                </a:lnTo>
                <a:lnTo>
                  <a:pt x="253573" y="36300"/>
                </a:lnTo>
                <a:lnTo>
                  <a:pt x="334589" y="34524"/>
                </a:lnTo>
                <a:lnTo>
                  <a:pt x="341538" y="27263"/>
                </a:lnTo>
                <a:lnTo>
                  <a:pt x="341155" y="9733"/>
                </a:lnTo>
                <a:lnTo>
                  <a:pt x="333893" y="2782"/>
                </a:lnTo>
                <a:close/>
              </a:path>
              <a:path w="468629" h="41910">
                <a:moveTo>
                  <a:pt x="206923" y="5565"/>
                </a:moveTo>
                <a:lnTo>
                  <a:pt x="125907" y="7340"/>
                </a:lnTo>
                <a:lnTo>
                  <a:pt x="118958" y="14602"/>
                </a:lnTo>
                <a:lnTo>
                  <a:pt x="119341" y="32133"/>
                </a:lnTo>
                <a:lnTo>
                  <a:pt x="126603" y="39082"/>
                </a:lnTo>
                <a:lnTo>
                  <a:pt x="207619" y="37307"/>
                </a:lnTo>
                <a:lnTo>
                  <a:pt x="214569" y="30045"/>
                </a:lnTo>
                <a:lnTo>
                  <a:pt x="214185" y="12515"/>
                </a:lnTo>
                <a:lnTo>
                  <a:pt x="206923" y="5565"/>
                </a:lnTo>
                <a:close/>
              </a:path>
              <a:path w="468629" h="41910">
                <a:moveTo>
                  <a:pt x="79954" y="8347"/>
                </a:moveTo>
                <a:lnTo>
                  <a:pt x="6949" y="9947"/>
                </a:lnTo>
                <a:lnTo>
                  <a:pt x="0" y="17209"/>
                </a:lnTo>
                <a:lnTo>
                  <a:pt x="383" y="34740"/>
                </a:lnTo>
                <a:lnTo>
                  <a:pt x="7645" y="41690"/>
                </a:lnTo>
                <a:lnTo>
                  <a:pt x="80650" y="40090"/>
                </a:lnTo>
                <a:lnTo>
                  <a:pt x="87599" y="32829"/>
                </a:lnTo>
                <a:lnTo>
                  <a:pt x="87215" y="15298"/>
                </a:lnTo>
                <a:lnTo>
                  <a:pt x="79954" y="834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845217" y="4706731"/>
            <a:ext cx="38100" cy="570865"/>
          </a:xfrm>
          <a:custGeom>
            <a:avLst/>
            <a:gdLst/>
            <a:ahLst/>
            <a:cxnLst/>
            <a:rect l="l" t="t" r="r" b="b"/>
            <a:pathLst>
              <a:path w="38100" h="570864">
                <a:moveTo>
                  <a:pt x="13051" y="0"/>
                </a:moveTo>
                <a:lnTo>
                  <a:pt x="5869" y="7031"/>
                </a:lnTo>
                <a:lnTo>
                  <a:pt x="5013" y="88063"/>
                </a:lnTo>
                <a:lnTo>
                  <a:pt x="12045" y="95244"/>
                </a:lnTo>
                <a:lnTo>
                  <a:pt x="29579" y="95430"/>
                </a:lnTo>
                <a:lnTo>
                  <a:pt x="36762" y="88398"/>
                </a:lnTo>
                <a:lnTo>
                  <a:pt x="37617" y="7367"/>
                </a:lnTo>
                <a:lnTo>
                  <a:pt x="30585" y="185"/>
                </a:lnTo>
                <a:lnTo>
                  <a:pt x="13051" y="0"/>
                </a:lnTo>
                <a:close/>
              </a:path>
              <a:path w="38100" h="570864">
                <a:moveTo>
                  <a:pt x="11710" y="126993"/>
                </a:moveTo>
                <a:lnTo>
                  <a:pt x="4528" y="134025"/>
                </a:lnTo>
                <a:lnTo>
                  <a:pt x="3672" y="215055"/>
                </a:lnTo>
                <a:lnTo>
                  <a:pt x="10704" y="222238"/>
                </a:lnTo>
                <a:lnTo>
                  <a:pt x="28239" y="222422"/>
                </a:lnTo>
                <a:lnTo>
                  <a:pt x="35421" y="215390"/>
                </a:lnTo>
                <a:lnTo>
                  <a:pt x="36277" y="134360"/>
                </a:lnTo>
                <a:lnTo>
                  <a:pt x="29245" y="127177"/>
                </a:lnTo>
                <a:lnTo>
                  <a:pt x="11710" y="126993"/>
                </a:lnTo>
                <a:close/>
              </a:path>
              <a:path w="38100" h="570864">
                <a:moveTo>
                  <a:pt x="10370" y="253986"/>
                </a:moveTo>
                <a:lnTo>
                  <a:pt x="3187" y="261018"/>
                </a:lnTo>
                <a:lnTo>
                  <a:pt x="2332" y="342049"/>
                </a:lnTo>
                <a:lnTo>
                  <a:pt x="9364" y="349230"/>
                </a:lnTo>
                <a:lnTo>
                  <a:pt x="26898" y="349416"/>
                </a:lnTo>
                <a:lnTo>
                  <a:pt x="34080" y="342384"/>
                </a:lnTo>
                <a:lnTo>
                  <a:pt x="34936" y="261353"/>
                </a:lnTo>
                <a:lnTo>
                  <a:pt x="27904" y="254171"/>
                </a:lnTo>
                <a:lnTo>
                  <a:pt x="10370" y="253986"/>
                </a:lnTo>
                <a:close/>
              </a:path>
              <a:path w="38100" h="570864">
                <a:moveTo>
                  <a:pt x="9029" y="380979"/>
                </a:moveTo>
                <a:lnTo>
                  <a:pt x="1847" y="388011"/>
                </a:lnTo>
                <a:lnTo>
                  <a:pt x="991" y="469041"/>
                </a:lnTo>
                <a:lnTo>
                  <a:pt x="8023" y="476223"/>
                </a:lnTo>
                <a:lnTo>
                  <a:pt x="25557" y="476408"/>
                </a:lnTo>
                <a:lnTo>
                  <a:pt x="32740" y="469376"/>
                </a:lnTo>
                <a:lnTo>
                  <a:pt x="33595" y="388346"/>
                </a:lnTo>
                <a:lnTo>
                  <a:pt x="26563" y="381163"/>
                </a:lnTo>
                <a:lnTo>
                  <a:pt x="9029" y="380979"/>
                </a:lnTo>
                <a:close/>
              </a:path>
              <a:path w="38100" h="570864">
                <a:moveTo>
                  <a:pt x="7688" y="507972"/>
                </a:moveTo>
                <a:lnTo>
                  <a:pt x="506" y="515004"/>
                </a:lnTo>
                <a:lnTo>
                  <a:pt x="0" y="562957"/>
                </a:lnTo>
                <a:lnTo>
                  <a:pt x="7031" y="570141"/>
                </a:lnTo>
                <a:lnTo>
                  <a:pt x="24566" y="570325"/>
                </a:lnTo>
                <a:lnTo>
                  <a:pt x="31748" y="563293"/>
                </a:lnTo>
                <a:lnTo>
                  <a:pt x="32255" y="515339"/>
                </a:lnTo>
                <a:lnTo>
                  <a:pt x="25223" y="508157"/>
                </a:lnTo>
                <a:lnTo>
                  <a:pt x="7688" y="50797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348297" y="4288591"/>
            <a:ext cx="38100" cy="984885"/>
          </a:xfrm>
          <a:custGeom>
            <a:avLst/>
            <a:gdLst/>
            <a:ahLst/>
            <a:cxnLst/>
            <a:rect l="l" t="t" r="r" b="b"/>
            <a:pathLst>
              <a:path w="38100" h="984885">
                <a:moveTo>
                  <a:pt x="13173" y="0"/>
                </a:moveTo>
                <a:lnTo>
                  <a:pt x="6022" y="7062"/>
                </a:lnTo>
                <a:lnTo>
                  <a:pt x="5519" y="88096"/>
                </a:lnTo>
                <a:lnTo>
                  <a:pt x="12581" y="95247"/>
                </a:lnTo>
                <a:lnTo>
                  <a:pt x="30116" y="95356"/>
                </a:lnTo>
                <a:lnTo>
                  <a:pt x="37268" y="88294"/>
                </a:lnTo>
                <a:lnTo>
                  <a:pt x="37771" y="7260"/>
                </a:lnTo>
                <a:lnTo>
                  <a:pt x="30708" y="109"/>
                </a:lnTo>
                <a:lnTo>
                  <a:pt x="13173" y="0"/>
                </a:lnTo>
                <a:close/>
              </a:path>
              <a:path w="38100" h="984885">
                <a:moveTo>
                  <a:pt x="12385" y="126997"/>
                </a:moveTo>
                <a:lnTo>
                  <a:pt x="5233" y="134061"/>
                </a:lnTo>
                <a:lnTo>
                  <a:pt x="4730" y="215093"/>
                </a:lnTo>
                <a:lnTo>
                  <a:pt x="11793" y="222244"/>
                </a:lnTo>
                <a:lnTo>
                  <a:pt x="29328" y="222354"/>
                </a:lnTo>
                <a:lnTo>
                  <a:pt x="36479" y="215291"/>
                </a:lnTo>
                <a:lnTo>
                  <a:pt x="36982" y="134258"/>
                </a:lnTo>
                <a:lnTo>
                  <a:pt x="29919" y="127106"/>
                </a:lnTo>
                <a:lnTo>
                  <a:pt x="12385" y="126997"/>
                </a:lnTo>
                <a:close/>
              </a:path>
              <a:path w="38100" h="984885">
                <a:moveTo>
                  <a:pt x="11596" y="253994"/>
                </a:moveTo>
                <a:lnTo>
                  <a:pt x="4444" y="261058"/>
                </a:lnTo>
                <a:lnTo>
                  <a:pt x="3942" y="342091"/>
                </a:lnTo>
                <a:lnTo>
                  <a:pt x="11005" y="349243"/>
                </a:lnTo>
                <a:lnTo>
                  <a:pt x="28539" y="349351"/>
                </a:lnTo>
                <a:lnTo>
                  <a:pt x="35692" y="342289"/>
                </a:lnTo>
                <a:lnTo>
                  <a:pt x="36194" y="261255"/>
                </a:lnTo>
                <a:lnTo>
                  <a:pt x="29131" y="254104"/>
                </a:lnTo>
                <a:lnTo>
                  <a:pt x="11596" y="253994"/>
                </a:lnTo>
                <a:close/>
              </a:path>
              <a:path w="38100" h="984885">
                <a:moveTo>
                  <a:pt x="10807" y="380992"/>
                </a:moveTo>
                <a:lnTo>
                  <a:pt x="3656" y="388056"/>
                </a:lnTo>
                <a:lnTo>
                  <a:pt x="3153" y="469089"/>
                </a:lnTo>
                <a:lnTo>
                  <a:pt x="10217" y="476241"/>
                </a:lnTo>
                <a:lnTo>
                  <a:pt x="27752" y="476349"/>
                </a:lnTo>
                <a:lnTo>
                  <a:pt x="34903" y="469286"/>
                </a:lnTo>
                <a:lnTo>
                  <a:pt x="35406" y="388252"/>
                </a:lnTo>
                <a:lnTo>
                  <a:pt x="28342" y="381101"/>
                </a:lnTo>
                <a:lnTo>
                  <a:pt x="10807" y="380992"/>
                </a:lnTo>
                <a:close/>
              </a:path>
              <a:path w="38100" h="984885">
                <a:moveTo>
                  <a:pt x="10020" y="507989"/>
                </a:moveTo>
                <a:lnTo>
                  <a:pt x="2868" y="515053"/>
                </a:lnTo>
                <a:lnTo>
                  <a:pt x="2366" y="596087"/>
                </a:lnTo>
                <a:lnTo>
                  <a:pt x="9428" y="603238"/>
                </a:lnTo>
                <a:lnTo>
                  <a:pt x="26963" y="603346"/>
                </a:lnTo>
                <a:lnTo>
                  <a:pt x="34114" y="596284"/>
                </a:lnTo>
                <a:lnTo>
                  <a:pt x="34617" y="515250"/>
                </a:lnTo>
                <a:lnTo>
                  <a:pt x="27555" y="508099"/>
                </a:lnTo>
                <a:lnTo>
                  <a:pt x="10020" y="507989"/>
                </a:lnTo>
                <a:close/>
              </a:path>
              <a:path w="38100" h="984885">
                <a:moveTo>
                  <a:pt x="9231" y="634987"/>
                </a:moveTo>
                <a:lnTo>
                  <a:pt x="2080" y="642051"/>
                </a:lnTo>
                <a:lnTo>
                  <a:pt x="1577" y="723084"/>
                </a:lnTo>
                <a:lnTo>
                  <a:pt x="8639" y="730236"/>
                </a:lnTo>
                <a:lnTo>
                  <a:pt x="26174" y="730343"/>
                </a:lnTo>
                <a:lnTo>
                  <a:pt x="33326" y="723281"/>
                </a:lnTo>
                <a:lnTo>
                  <a:pt x="33828" y="642247"/>
                </a:lnTo>
                <a:lnTo>
                  <a:pt x="26766" y="635096"/>
                </a:lnTo>
                <a:lnTo>
                  <a:pt x="9231" y="634987"/>
                </a:lnTo>
                <a:close/>
              </a:path>
              <a:path w="38100" h="984885">
                <a:moveTo>
                  <a:pt x="8442" y="761984"/>
                </a:moveTo>
                <a:lnTo>
                  <a:pt x="1291" y="769048"/>
                </a:lnTo>
                <a:lnTo>
                  <a:pt x="788" y="850082"/>
                </a:lnTo>
                <a:lnTo>
                  <a:pt x="7852" y="857233"/>
                </a:lnTo>
                <a:lnTo>
                  <a:pt x="25386" y="857341"/>
                </a:lnTo>
                <a:lnTo>
                  <a:pt x="32538" y="850278"/>
                </a:lnTo>
                <a:lnTo>
                  <a:pt x="33041" y="769245"/>
                </a:lnTo>
                <a:lnTo>
                  <a:pt x="25977" y="762093"/>
                </a:lnTo>
                <a:lnTo>
                  <a:pt x="8442" y="761984"/>
                </a:lnTo>
                <a:close/>
              </a:path>
              <a:path w="38100" h="984885">
                <a:moveTo>
                  <a:pt x="7654" y="888982"/>
                </a:moveTo>
                <a:lnTo>
                  <a:pt x="502" y="896045"/>
                </a:lnTo>
                <a:lnTo>
                  <a:pt x="0" y="977079"/>
                </a:lnTo>
                <a:lnTo>
                  <a:pt x="7063" y="984230"/>
                </a:lnTo>
                <a:lnTo>
                  <a:pt x="24598" y="984340"/>
                </a:lnTo>
                <a:lnTo>
                  <a:pt x="31750" y="977276"/>
                </a:lnTo>
                <a:lnTo>
                  <a:pt x="32252" y="896242"/>
                </a:lnTo>
                <a:lnTo>
                  <a:pt x="25189" y="889091"/>
                </a:lnTo>
                <a:lnTo>
                  <a:pt x="7654" y="88898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846864" y="4624009"/>
            <a:ext cx="953769" cy="32384"/>
          </a:xfrm>
          <a:custGeom>
            <a:avLst/>
            <a:gdLst/>
            <a:ahLst/>
            <a:cxnLst/>
            <a:rect l="l" t="t" r="r" b="b"/>
            <a:pathLst>
              <a:path w="953770" h="32385">
                <a:moveTo>
                  <a:pt x="7112" y="0"/>
                </a:moveTo>
                <a:lnTo>
                  <a:pt x="0" y="7104"/>
                </a:lnTo>
                <a:lnTo>
                  <a:pt x="41" y="24690"/>
                </a:lnTo>
                <a:lnTo>
                  <a:pt x="7094" y="31750"/>
                </a:lnTo>
                <a:lnTo>
                  <a:pt x="88129" y="31793"/>
                </a:lnTo>
                <a:lnTo>
                  <a:pt x="95241" y="24690"/>
                </a:lnTo>
                <a:lnTo>
                  <a:pt x="95199" y="7104"/>
                </a:lnTo>
                <a:lnTo>
                  <a:pt x="88146" y="43"/>
                </a:lnTo>
                <a:lnTo>
                  <a:pt x="7112" y="0"/>
                </a:lnTo>
                <a:close/>
              </a:path>
              <a:path w="953770" h="32385">
                <a:moveTo>
                  <a:pt x="134112" y="68"/>
                </a:moveTo>
                <a:lnTo>
                  <a:pt x="127000" y="7171"/>
                </a:lnTo>
                <a:lnTo>
                  <a:pt x="127043" y="24758"/>
                </a:lnTo>
                <a:lnTo>
                  <a:pt x="134094" y="31818"/>
                </a:lnTo>
                <a:lnTo>
                  <a:pt x="215129" y="31861"/>
                </a:lnTo>
                <a:lnTo>
                  <a:pt x="222241" y="24758"/>
                </a:lnTo>
                <a:lnTo>
                  <a:pt x="222197" y="7171"/>
                </a:lnTo>
                <a:lnTo>
                  <a:pt x="215146" y="111"/>
                </a:lnTo>
                <a:lnTo>
                  <a:pt x="134112" y="68"/>
                </a:lnTo>
                <a:close/>
              </a:path>
              <a:path w="953770" h="32385">
                <a:moveTo>
                  <a:pt x="261112" y="137"/>
                </a:moveTo>
                <a:lnTo>
                  <a:pt x="254000" y="7240"/>
                </a:lnTo>
                <a:lnTo>
                  <a:pt x="254041" y="24825"/>
                </a:lnTo>
                <a:lnTo>
                  <a:pt x="261094" y="31887"/>
                </a:lnTo>
                <a:lnTo>
                  <a:pt x="342129" y="31930"/>
                </a:lnTo>
                <a:lnTo>
                  <a:pt x="349241" y="24825"/>
                </a:lnTo>
                <a:lnTo>
                  <a:pt x="349199" y="7240"/>
                </a:lnTo>
                <a:lnTo>
                  <a:pt x="342146" y="180"/>
                </a:lnTo>
                <a:lnTo>
                  <a:pt x="261112" y="137"/>
                </a:lnTo>
                <a:close/>
              </a:path>
              <a:path w="953770" h="32385">
                <a:moveTo>
                  <a:pt x="388112" y="204"/>
                </a:moveTo>
                <a:lnTo>
                  <a:pt x="381000" y="7308"/>
                </a:lnTo>
                <a:lnTo>
                  <a:pt x="381041" y="24894"/>
                </a:lnTo>
                <a:lnTo>
                  <a:pt x="388094" y="31954"/>
                </a:lnTo>
                <a:lnTo>
                  <a:pt x="469129" y="31998"/>
                </a:lnTo>
                <a:lnTo>
                  <a:pt x="476241" y="24894"/>
                </a:lnTo>
                <a:lnTo>
                  <a:pt x="476199" y="7308"/>
                </a:lnTo>
                <a:lnTo>
                  <a:pt x="469146" y="248"/>
                </a:lnTo>
                <a:lnTo>
                  <a:pt x="388112" y="204"/>
                </a:lnTo>
                <a:close/>
              </a:path>
              <a:path w="953770" h="32385">
                <a:moveTo>
                  <a:pt x="515112" y="273"/>
                </a:moveTo>
                <a:lnTo>
                  <a:pt x="508000" y="7376"/>
                </a:lnTo>
                <a:lnTo>
                  <a:pt x="508041" y="24963"/>
                </a:lnTo>
                <a:lnTo>
                  <a:pt x="515094" y="32023"/>
                </a:lnTo>
                <a:lnTo>
                  <a:pt x="596129" y="32066"/>
                </a:lnTo>
                <a:lnTo>
                  <a:pt x="603241" y="24963"/>
                </a:lnTo>
                <a:lnTo>
                  <a:pt x="603197" y="7376"/>
                </a:lnTo>
                <a:lnTo>
                  <a:pt x="596146" y="316"/>
                </a:lnTo>
                <a:lnTo>
                  <a:pt x="515112" y="273"/>
                </a:lnTo>
                <a:close/>
              </a:path>
              <a:path w="953770" h="32385">
                <a:moveTo>
                  <a:pt x="642112" y="341"/>
                </a:moveTo>
                <a:lnTo>
                  <a:pt x="635000" y="7444"/>
                </a:lnTo>
                <a:lnTo>
                  <a:pt x="635041" y="25030"/>
                </a:lnTo>
                <a:lnTo>
                  <a:pt x="642094" y="32091"/>
                </a:lnTo>
                <a:lnTo>
                  <a:pt x="723129" y="32134"/>
                </a:lnTo>
                <a:lnTo>
                  <a:pt x="730241" y="25030"/>
                </a:lnTo>
                <a:lnTo>
                  <a:pt x="730199" y="7444"/>
                </a:lnTo>
                <a:lnTo>
                  <a:pt x="723146" y="384"/>
                </a:lnTo>
                <a:lnTo>
                  <a:pt x="642112" y="341"/>
                </a:lnTo>
                <a:close/>
              </a:path>
              <a:path w="953770" h="32385">
                <a:moveTo>
                  <a:pt x="769112" y="408"/>
                </a:moveTo>
                <a:lnTo>
                  <a:pt x="762000" y="7513"/>
                </a:lnTo>
                <a:lnTo>
                  <a:pt x="762041" y="25099"/>
                </a:lnTo>
                <a:lnTo>
                  <a:pt x="769094" y="32158"/>
                </a:lnTo>
                <a:lnTo>
                  <a:pt x="850129" y="32203"/>
                </a:lnTo>
                <a:lnTo>
                  <a:pt x="857241" y="25099"/>
                </a:lnTo>
                <a:lnTo>
                  <a:pt x="857199" y="7513"/>
                </a:lnTo>
                <a:lnTo>
                  <a:pt x="850146" y="453"/>
                </a:lnTo>
                <a:lnTo>
                  <a:pt x="769112" y="408"/>
                </a:lnTo>
                <a:close/>
              </a:path>
              <a:path w="953770" h="32385">
                <a:moveTo>
                  <a:pt x="896112" y="477"/>
                </a:moveTo>
                <a:lnTo>
                  <a:pt x="889000" y="7580"/>
                </a:lnTo>
                <a:lnTo>
                  <a:pt x="889025" y="25151"/>
                </a:lnTo>
                <a:lnTo>
                  <a:pt x="896094" y="32227"/>
                </a:lnTo>
                <a:lnTo>
                  <a:pt x="946448" y="32254"/>
                </a:lnTo>
                <a:lnTo>
                  <a:pt x="953560" y="25151"/>
                </a:lnTo>
                <a:lnTo>
                  <a:pt x="953533" y="7580"/>
                </a:lnTo>
                <a:lnTo>
                  <a:pt x="946466" y="504"/>
                </a:lnTo>
                <a:lnTo>
                  <a:pt x="896112" y="47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724985" y="3826917"/>
            <a:ext cx="158750" cy="1498600"/>
          </a:xfrm>
          <a:custGeom>
            <a:avLst/>
            <a:gdLst/>
            <a:ahLst/>
            <a:cxnLst/>
            <a:rect l="l" t="t" r="r" b="b"/>
            <a:pathLst>
              <a:path w="158750" h="1498600">
                <a:moveTo>
                  <a:pt x="88143" y="127000"/>
                </a:moveTo>
                <a:lnTo>
                  <a:pt x="70608" y="127000"/>
                </a:lnTo>
                <a:lnTo>
                  <a:pt x="63501" y="134108"/>
                </a:lnTo>
                <a:lnTo>
                  <a:pt x="63500" y="1491112"/>
                </a:lnTo>
                <a:lnTo>
                  <a:pt x="70606" y="1498219"/>
                </a:lnTo>
                <a:lnTo>
                  <a:pt x="88141" y="1498219"/>
                </a:lnTo>
                <a:lnTo>
                  <a:pt x="95250" y="1491112"/>
                </a:lnTo>
                <a:lnTo>
                  <a:pt x="95251" y="134108"/>
                </a:lnTo>
                <a:lnTo>
                  <a:pt x="88143" y="127000"/>
                </a:lnTo>
                <a:close/>
              </a:path>
              <a:path w="158750" h="1498600">
                <a:moveTo>
                  <a:pt x="79376" y="0"/>
                </a:moveTo>
                <a:lnTo>
                  <a:pt x="0" y="158750"/>
                </a:lnTo>
                <a:lnTo>
                  <a:pt x="63501" y="158750"/>
                </a:lnTo>
                <a:lnTo>
                  <a:pt x="63501" y="134108"/>
                </a:lnTo>
                <a:lnTo>
                  <a:pt x="70608" y="127000"/>
                </a:lnTo>
                <a:lnTo>
                  <a:pt x="142875" y="127000"/>
                </a:lnTo>
                <a:lnTo>
                  <a:pt x="79376" y="0"/>
                </a:lnTo>
                <a:close/>
              </a:path>
              <a:path w="158750" h="1498600">
                <a:moveTo>
                  <a:pt x="142875" y="127000"/>
                </a:moveTo>
                <a:lnTo>
                  <a:pt x="88143" y="127000"/>
                </a:lnTo>
                <a:lnTo>
                  <a:pt x="95251" y="134108"/>
                </a:lnTo>
                <a:lnTo>
                  <a:pt x="95251" y="158750"/>
                </a:lnTo>
                <a:lnTo>
                  <a:pt x="158750" y="158750"/>
                </a:lnTo>
                <a:lnTo>
                  <a:pt x="142875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788487" y="5234739"/>
            <a:ext cx="1869439" cy="158750"/>
          </a:xfrm>
          <a:custGeom>
            <a:avLst/>
            <a:gdLst/>
            <a:ahLst/>
            <a:cxnLst/>
            <a:rect l="l" t="t" r="r" b="b"/>
            <a:pathLst>
              <a:path w="1869440" h="158750">
                <a:moveTo>
                  <a:pt x="1710262" y="0"/>
                </a:moveTo>
                <a:lnTo>
                  <a:pt x="1710262" y="158749"/>
                </a:lnTo>
                <a:lnTo>
                  <a:pt x="1837262" y="95249"/>
                </a:lnTo>
                <a:lnTo>
                  <a:pt x="1734905" y="95249"/>
                </a:lnTo>
                <a:lnTo>
                  <a:pt x="1742012" y="88143"/>
                </a:lnTo>
                <a:lnTo>
                  <a:pt x="1742013" y="70606"/>
                </a:lnTo>
                <a:lnTo>
                  <a:pt x="1734905" y="63499"/>
                </a:lnTo>
                <a:lnTo>
                  <a:pt x="1837262" y="63499"/>
                </a:lnTo>
                <a:lnTo>
                  <a:pt x="1710262" y="0"/>
                </a:lnTo>
                <a:close/>
              </a:path>
              <a:path w="1869440" h="158750">
                <a:moveTo>
                  <a:pt x="1710262" y="63499"/>
                </a:moveTo>
                <a:lnTo>
                  <a:pt x="7106" y="63499"/>
                </a:lnTo>
                <a:lnTo>
                  <a:pt x="1" y="70606"/>
                </a:lnTo>
                <a:lnTo>
                  <a:pt x="0" y="88143"/>
                </a:lnTo>
                <a:lnTo>
                  <a:pt x="7106" y="95249"/>
                </a:lnTo>
                <a:lnTo>
                  <a:pt x="1710262" y="95249"/>
                </a:lnTo>
                <a:lnTo>
                  <a:pt x="1710262" y="63499"/>
                </a:lnTo>
                <a:close/>
              </a:path>
              <a:path w="1869440" h="158750">
                <a:moveTo>
                  <a:pt x="1837262" y="63499"/>
                </a:moveTo>
                <a:lnTo>
                  <a:pt x="1734905" y="63499"/>
                </a:lnTo>
                <a:lnTo>
                  <a:pt x="1742013" y="70606"/>
                </a:lnTo>
                <a:lnTo>
                  <a:pt x="1742012" y="88143"/>
                </a:lnTo>
                <a:lnTo>
                  <a:pt x="1734905" y="95249"/>
                </a:lnTo>
                <a:lnTo>
                  <a:pt x="1837262" y="95249"/>
                </a:lnTo>
                <a:lnTo>
                  <a:pt x="1869012" y="79374"/>
                </a:lnTo>
                <a:lnTo>
                  <a:pt x="1837262" y="6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651822" y="5338572"/>
            <a:ext cx="156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orbel"/>
                <a:cs typeface="Corbel"/>
              </a:rPr>
              <a:t>O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784553" y="4558069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0"/>
                </a:moveTo>
                <a:lnTo>
                  <a:pt x="164630" y="0"/>
                </a:lnTo>
                <a:lnTo>
                  <a:pt x="164630" y="164630"/>
                </a:lnTo>
                <a:lnTo>
                  <a:pt x="0" y="164630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749579" y="3425444"/>
            <a:ext cx="1854835" cy="132715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800" spc="-5">
                <a:latin typeface="Arial"/>
                <a:cs typeface="Arial"/>
              </a:rPr>
              <a:t>Embedding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space</a:t>
            </a:r>
            <a:endParaRPr sz="1800">
              <a:latin typeface="Arial"/>
              <a:cs typeface="Arial"/>
            </a:endParaRPr>
          </a:p>
          <a:p>
            <a:pPr algn="ctr" marR="278130">
              <a:lnSpc>
                <a:spcPct val="100000"/>
              </a:lnSpc>
              <a:spcBef>
                <a:spcPts val="790"/>
              </a:spcBef>
            </a:pPr>
            <a:r>
              <a:rPr dirty="0" sz="1800" spc="-145">
                <a:latin typeface="Cambria Math"/>
                <a:cs typeface="Cambria Math"/>
              </a:rPr>
              <a:t>𝐺</a:t>
            </a:r>
            <a:r>
              <a:rPr dirty="0" baseline="-14957" sz="1950" spc="-217">
                <a:latin typeface="Cambria Math"/>
                <a:cs typeface="Cambria Math"/>
              </a:rPr>
              <a:t>#</a:t>
            </a:r>
            <a:endParaRPr baseline="-14957" sz="19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50">
              <a:latin typeface="Times New Roman"/>
              <a:cs typeface="Times New Roman"/>
            </a:endParaRPr>
          </a:p>
          <a:p>
            <a:pPr algn="r" marR="346075">
              <a:lnSpc>
                <a:spcPct val="100000"/>
              </a:lnSpc>
            </a:pPr>
            <a:r>
              <a:rPr dirty="0" sz="1800" spc="-105">
                <a:latin typeface="Cambria Math"/>
                <a:cs typeface="Cambria Math"/>
              </a:rPr>
              <a:t>𝐺</a:t>
            </a:r>
            <a:r>
              <a:rPr dirty="0" baseline="-17094" sz="1950" spc="172">
                <a:latin typeface="Cambria Math"/>
                <a:cs typeface="Cambria Math"/>
              </a:rPr>
              <a:t>$</a:t>
            </a:r>
            <a:endParaRPr baseline="-17094" sz="195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363234" y="5563857"/>
            <a:ext cx="721360" cy="276225"/>
          </a:xfrm>
          <a:custGeom>
            <a:avLst/>
            <a:gdLst/>
            <a:ahLst/>
            <a:cxnLst/>
            <a:rect l="l" t="t" r="r" b="b"/>
            <a:pathLst>
              <a:path w="721359" h="276225">
                <a:moveTo>
                  <a:pt x="648633" y="0"/>
                </a:moveTo>
                <a:lnTo>
                  <a:pt x="645843" y="9152"/>
                </a:lnTo>
                <a:lnTo>
                  <a:pt x="658529" y="15731"/>
                </a:lnTo>
                <a:lnTo>
                  <a:pt x="669576" y="25309"/>
                </a:lnTo>
                <a:lnTo>
                  <a:pt x="692832" y="71569"/>
                </a:lnTo>
                <a:lnTo>
                  <a:pt x="699781" y="113929"/>
                </a:lnTo>
                <a:lnTo>
                  <a:pt x="700649" y="138186"/>
                </a:lnTo>
                <a:lnTo>
                  <a:pt x="699781" y="162390"/>
                </a:lnTo>
                <a:lnTo>
                  <a:pt x="692832" y="204667"/>
                </a:lnTo>
                <a:lnTo>
                  <a:pt x="669576" y="250853"/>
                </a:lnTo>
                <a:lnTo>
                  <a:pt x="645843" y="266997"/>
                </a:lnTo>
                <a:lnTo>
                  <a:pt x="648633" y="276149"/>
                </a:lnTo>
                <a:lnTo>
                  <a:pt x="691894" y="246033"/>
                </a:lnTo>
                <a:lnTo>
                  <a:pt x="710576" y="208688"/>
                </a:lnTo>
                <a:lnTo>
                  <a:pt x="720008" y="163370"/>
                </a:lnTo>
                <a:lnTo>
                  <a:pt x="721187" y="138074"/>
                </a:lnTo>
                <a:lnTo>
                  <a:pt x="720008" y="112778"/>
                </a:lnTo>
                <a:lnTo>
                  <a:pt x="710576" y="67460"/>
                </a:lnTo>
                <a:lnTo>
                  <a:pt x="691894" y="30115"/>
                </a:lnTo>
                <a:lnTo>
                  <a:pt x="665049" y="6396"/>
                </a:lnTo>
                <a:lnTo>
                  <a:pt x="648633" y="0"/>
                </a:lnTo>
                <a:close/>
              </a:path>
              <a:path w="721359" h="276225">
                <a:moveTo>
                  <a:pt x="72548" y="0"/>
                </a:moveTo>
                <a:lnTo>
                  <a:pt x="29288" y="30115"/>
                </a:lnTo>
                <a:lnTo>
                  <a:pt x="10605" y="67460"/>
                </a:lnTo>
                <a:lnTo>
                  <a:pt x="1173" y="112778"/>
                </a:lnTo>
                <a:lnTo>
                  <a:pt x="0" y="138186"/>
                </a:lnTo>
                <a:lnTo>
                  <a:pt x="1173" y="163370"/>
                </a:lnTo>
                <a:lnTo>
                  <a:pt x="10605" y="208688"/>
                </a:lnTo>
                <a:lnTo>
                  <a:pt x="29288" y="246033"/>
                </a:lnTo>
                <a:lnTo>
                  <a:pt x="72548" y="276149"/>
                </a:lnTo>
                <a:lnTo>
                  <a:pt x="75338" y="266997"/>
                </a:lnTo>
                <a:lnTo>
                  <a:pt x="62652" y="260421"/>
                </a:lnTo>
                <a:lnTo>
                  <a:pt x="51605" y="250853"/>
                </a:lnTo>
                <a:lnTo>
                  <a:pt x="28349" y="204667"/>
                </a:lnTo>
                <a:lnTo>
                  <a:pt x="21401" y="162390"/>
                </a:lnTo>
                <a:lnTo>
                  <a:pt x="20537" y="138074"/>
                </a:lnTo>
                <a:lnTo>
                  <a:pt x="21401" y="113929"/>
                </a:lnTo>
                <a:lnTo>
                  <a:pt x="28349" y="71569"/>
                </a:lnTo>
                <a:lnTo>
                  <a:pt x="51605" y="25309"/>
                </a:lnTo>
                <a:lnTo>
                  <a:pt x="75338" y="9152"/>
                </a:lnTo>
                <a:lnTo>
                  <a:pt x="72548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564180" y="5634735"/>
            <a:ext cx="43624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0520" algn="l"/>
              </a:tabLst>
            </a:pPr>
            <a:r>
              <a:rPr dirty="0" sz="1300" spc="114">
                <a:solidFill>
                  <a:srgbClr val="008000"/>
                </a:solidFill>
                <a:latin typeface="Cambria Math"/>
                <a:cs typeface="Cambria Math"/>
              </a:rPr>
              <a:t>$</a:t>
            </a:r>
            <a:r>
              <a:rPr dirty="0" sz="1300" spc="114">
                <a:solidFill>
                  <a:srgbClr val="008000"/>
                </a:solidFill>
                <a:latin typeface="Cambria Math"/>
                <a:cs typeface="Cambria Math"/>
              </a:rPr>
              <a:t>	</a:t>
            </a:r>
            <a:r>
              <a:rPr dirty="0" sz="1300" spc="-235">
                <a:solidFill>
                  <a:srgbClr val="008000"/>
                </a:solidFill>
                <a:latin typeface="Cambria Math"/>
                <a:cs typeface="Cambria Math"/>
              </a:rPr>
              <a:t>#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178608" y="5525515"/>
            <a:ext cx="13639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9330" algn="l"/>
              </a:tabLst>
            </a:pP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𝐸  𝐺 </a:t>
            </a:r>
            <a:r>
              <a:rPr dirty="0" sz="1800" spc="8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,</a:t>
            </a:r>
            <a:r>
              <a:rPr dirty="0" sz="1800" spc="-95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𝐺	&gt; 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059611" y="5818123"/>
            <a:ext cx="3531235" cy="580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According to the order</a:t>
            </a:r>
            <a:r>
              <a:rPr dirty="0" sz="1800" spc="-4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embedding,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800" spc="0">
                <a:solidFill>
                  <a:srgbClr val="008000"/>
                </a:solidFill>
                <a:latin typeface="Cambria Math"/>
                <a:cs typeface="Cambria Math"/>
              </a:rPr>
              <a:t>𝐺</a:t>
            </a:r>
            <a:r>
              <a:rPr dirty="0" baseline="-14957" sz="1950" spc="0">
                <a:solidFill>
                  <a:srgbClr val="008000"/>
                </a:solidFill>
                <a:latin typeface="Cambria Math"/>
                <a:cs typeface="Cambria Math"/>
              </a:rPr>
              <a:t>$  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is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not 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a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subgraph of</a:t>
            </a:r>
            <a:r>
              <a:rPr dirty="0" sz="1800" spc="-22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008000"/>
                </a:solidFill>
                <a:latin typeface="Cambria Math"/>
                <a:cs typeface="Cambria Math"/>
              </a:rPr>
              <a:t>𝐺</a:t>
            </a:r>
            <a:r>
              <a:rPr dirty="0" baseline="-14957" sz="1950" spc="-104">
                <a:solidFill>
                  <a:srgbClr val="008000"/>
                </a:solidFill>
                <a:latin typeface="Cambria Math"/>
                <a:cs typeface="Cambria Math"/>
              </a:rPr>
              <a:t>#</a:t>
            </a:r>
            <a:r>
              <a:rPr dirty="0" sz="1800" spc="-70">
                <a:solidFill>
                  <a:srgbClr val="008000"/>
                </a:solidFill>
                <a:latin typeface="Arial"/>
                <a:cs typeface="Arial"/>
              </a:rPr>
              <a:t>!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292877" y="4149999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39" h="154939">
                <a:moveTo>
                  <a:pt x="0" y="0"/>
                </a:moveTo>
                <a:lnTo>
                  <a:pt x="154522" y="0"/>
                </a:lnTo>
                <a:lnTo>
                  <a:pt x="154522" y="154522"/>
                </a:lnTo>
                <a:lnTo>
                  <a:pt x="0" y="15452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45</a:t>
            </a:fld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3334512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745172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/>
              <a:t>Embeddings </a:t>
            </a:r>
            <a:r>
              <a:rPr dirty="0" sz="3000" spc="-15"/>
              <a:t>are </a:t>
            </a:r>
            <a:r>
              <a:rPr dirty="0" sz="3000" spc="-5"/>
              <a:t>learned </a:t>
            </a:r>
            <a:r>
              <a:rPr dirty="0" sz="3000" spc="-10"/>
              <a:t>by </a:t>
            </a:r>
            <a:r>
              <a:rPr dirty="0" sz="3000" spc="-5"/>
              <a:t>minimizing </a:t>
            </a:r>
            <a:r>
              <a:rPr dirty="0" sz="3000"/>
              <a:t>a </a:t>
            </a:r>
            <a:r>
              <a:rPr dirty="0" sz="3000" spc="-40" b="1">
                <a:solidFill>
                  <a:srgbClr val="C00000"/>
                </a:solidFill>
                <a:latin typeface="Calibri"/>
                <a:cs typeface="Calibri"/>
              </a:rPr>
              <a:t>max-  </a:t>
            </a: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margin</a:t>
            </a:r>
            <a:r>
              <a:rPr dirty="0" sz="3000" spc="-8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000" spc="-5">
                <a:solidFill>
                  <a:srgbClr val="C00000"/>
                </a:solidFill>
              </a:rPr>
              <a:t>loss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97262" y="2355983"/>
            <a:ext cx="1199515" cy="460375"/>
          </a:xfrm>
          <a:custGeom>
            <a:avLst/>
            <a:gdLst/>
            <a:ahLst/>
            <a:cxnLst/>
            <a:rect l="l" t="t" r="r" b="b"/>
            <a:pathLst>
              <a:path w="1199514" h="460375">
                <a:moveTo>
                  <a:pt x="1078059" y="0"/>
                </a:moveTo>
                <a:lnTo>
                  <a:pt x="1073409" y="15255"/>
                </a:lnTo>
                <a:lnTo>
                  <a:pt x="1094553" y="26219"/>
                </a:lnTo>
                <a:lnTo>
                  <a:pt x="1112965" y="42184"/>
                </a:lnTo>
                <a:lnTo>
                  <a:pt x="1141591" y="89110"/>
                </a:lnTo>
                <a:lnTo>
                  <a:pt x="1158962" y="152874"/>
                </a:lnTo>
                <a:lnTo>
                  <a:pt x="1164752" y="230311"/>
                </a:lnTo>
                <a:lnTo>
                  <a:pt x="1163304" y="270652"/>
                </a:lnTo>
                <a:lnTo>
                  <a:pt x="1151724" y="341113"/>
                </a:lnTo>
                <a:lnTo>
                  <a:pt x="1128644" y="397156"/>
                </a:lnTo>
                <a:lnTo>
                  <a:pt x="1094553" y="434037"/>
                </a:lnTo>
                <a:lnTo>
                  <a:pt x="1073409" y="444996"/>
                </a:lnTo>
                <a:lnTo>
                  <a:pt x="1078059" y="460251"/>
                </a:lnTo>
                <a:lnTo>
                  <a:pt x="1129452" y="432857"/>
                </a:lnTo>
                <a:lnTo>
                  <a:pt x="1167542" y="381186"/>
                </a:lnTo>
                <a:lnTo>
                  <a:pt x="1191122" y="311516"/>
                </a:lnTo>
                <a:lnTo>
                  <a:pt x="1197017" y="272286"/>
                </a:lnTo>
                <a:lnTo>
                  <a:pt x="1198982" y="230126"/>
                </a:lnTo>
                <a:lnTo>
                  <a:pt x="1197017" y="187966"/>
                </a:lnTo>
                <a:lnTo>
                  <a:pt x="1191122" y="148735"/>
                </a:lnTo>
                <a:lnTo>
                  <a:pt x="1167542" y="79065"/>
                </a:lnTo>
                <a:lnTo>
                  <a:pt x="1129452" y="27393"/>
                </a:lnTo>
                <a:lnTo>
                  <a:pt x="1105418" y="10662"/>
                </a:lnTo>
                <a:lnTo>
                  <a:pt x="1078059" y="0"/>
                </a:lnTo>
                <a:close/>
              </a:path>
              <a:path w="1199514" h="460375">
                <a:moveTo>
                  <a:pt x="120923" y="0"/>
                </a:moveTo>
                <a:lnTo>
                  <a:pt x="69530" y="27393"/>
                </a:lnTo>
                <a:lnTo>
                  <a:pt x="31440" y="79065"/>
                </a:lnTo>
                <a:lnTo>
                  <a:pt x="7860" y="148735"/>
                </a:lnTo>
                <a:lnTo>
                  <a:pt x="1965" y="187966"/>
                </a:lnTo>
                <a:lnTo>
                  <a:pt x="0" y="230126"/>
                </a:lnTo>
                <a:lnTo>
                  <a:pt x="1965" y="272286"/>
                </a:lnTo>
                <a:lnTo>
                  <a:pt x="7860" y="311516"/>
                </a:lnTo>
                <a:lnTo>
                  <a:pt x="31440" y="381186"/>
                </a:lnTo>
                <a:lnTo>
                  <a:pt x="69530" y="432857"/>
                </a:lnTo>
                <a:lnTo>
                  <a:pt x="120923" y="460251"/>
                </a:lnTo>
                <a:lnTo>
                  <a:pt x="125573" y="444996"/>
                </a:lnTo>
                <a:lnTo>
                  <a:pt x="104429" y="434037"/>
                </a:lnTo>
                <a:lnTo>
                  <a:pt x="86018" y="418091"/>
                </a:lnTo>
                <a:lnTo>
                  <a:pt x="57392" y="371233"/>
                </a:lnTo>
                <a:lnTo>
                  <a:pt x="40020" y="307586"/>
                </a:lnTo>
                <a:lnTo>
                  <a:pt x="34230" y="230311"/>
                </a:lnTo>
                <a:lnTo>
                  <a:pt x="35677" y="189884"/>
                </a:lnTo>
                <a:lnTo>
                  <a:pt x="47258" y="119283"/>
                </a:lnTo>
                <a:lnTo>
                  <a:pt x="70339" y="63147"/>
                </a:lnTo>
                <a:lnTo>
                  <a:pt x="104429" y="26219"/>
                </a:lnTo>
                <a:lnTo>
                  <a:pt x="125573" y="15255"/>
                </a:lnTo>
                <a:lnTo>
                  <a:pt x="1209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82821" y="2496820"/>
            <a:ext cx="33528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125">
                <a:latin typeface="Cambria Math"/>
                <a:cs typeface="Cambria Math"/>
              </a:rPr>
              <a:t>%</a:t>
            </a:r>
            <a:r>
              <a:rPr dirty="0" sz="2200" spc="80">
                <a:latin typeface="Cambria Math"/>
                <a:cs typeface="Cambria Math"/>
              </a:rPr>
              <a:t>&amp;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108" y="2300732"/>
            <a:ext cx="798512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  <a:tab pos="1316355" algn="l"/>
                <a:tab pos="2517140" algn="l"/>
              </a:tabLst>
            </a:pPr>
            <a:r>
              <a:rPr dirty="0" sz="3000" spc="-10">
                <a:latin typeface="Calibri"/>
                <a:cs typeface="Calibri"/>
              </a:rPr>
              <a:t>Let </a:t>
            </a:r>
            <a:r>
              <a:rPr dirty="0" sz="3000">
                <a:latin typeface="Cambria Math"/>
                <a:cs typeface="Cambria Math"/>
              </a:rPr>
              <a:t>𝐸	</a:t>
            </a:r>
            <a:r>
              <a:rPr dirty="0" sz="3000" spc="-35">
                <a:latin typeface="Cambria Math"/>
                <a:cs typeface="Cambria Math"/>
              </a:rPr>
              <a:t>𝐺</a:t>
            </a:r>
            <a:r>
              <a:rPr dirty="0" baseline="-15151" sz="3300" spc="-52">
                <a:latin typeface="Cambria Math"/>
                <a:cs typeface="Cambria Math"/>
              </a:rPr>
              <a:t>#</a:t>
            </a:r>
            <a:r>
              <a:rPr dirty="0" sz="3000" spc="-35">
                <a:latin typeface="Cambria Math"/>
                <a:cs typeface="Cambria Math"/>
              </a:rPr>
              <a:t>,</a:t>
            </a:r>
            <a:r>
              <a:rPr dirty="0" sz="3000" spc="-165">
                <a:latin typeface="Cambria Math"/>
                <a:cs typeface="Cambria Math"/>
              </a:rPr>
              <a:t> </a:t>
            </a:r>
            <a:r>
              <a:rPr dirty="0" sz="3000" spc="-120">
                <a:latin typeface="Cambria Math"/>
                <a:cs typeface="Cambria Math"/>
              </a:rPr>
              <a:t>𝐺</a:t>
            </a:r>
            <a:r>
              <a:rPr dirty="0" baseline="-15151" sz="3300" spc="-179">
                <a:latin typeface="Cambria Math"/>
                <a:cs typeface="Cambria Math"/>
              </a:rPr>
              <a:t>$	</a:t>
            </a:r>
            <a:r>
              <a:rPr dirty="0" sz="3000">
                <a:latin typeface="Cambria Math"/>
                <a:cs typeface="Cambria Math"/>
              </a:rPr>
              <a:t>= </a:t>
            </a:r>
            <a:r>
              <a:rPr dirty="0" baseline="1851" sz="4500" spc="487">
                <a:latin typeface="Cambria Math"/>
                <a:cs typeface="Cambria Math"/>
              </a:rPr>
              <a:t>∑</a:t>
            </a:r>
            <a:r>
              <a:rPr dirty="0" baseline="30303" sz="3300" spc="487">
                <a:latin typeface="Cambria Math"/>
                <a:cs typeface="Cambria Math"/>
              </a:rPr>
              <a:t>( </a:t>
            </a:r>
            <a:r>
              <a:rPr dirty="0" baseline="-18939" sz="3300" spc="127">
                <a:latin typeface="Cambria Math"/>
                <a:cs typeface="Cambria Math"/>
              </a:rPr>
              <a:t>'</a:t>
            </a:r>
            <a:r>
              <a:rPr dirty="0" sz="3000" spc="85">
                <a:latin typeface="Cambria Math"/>
                <a:cs typeface="Cambria Math"/>
              </a:rPr>
              <a:t>(max(0, </a:t>
            </a:r>
            <a:r>
              <a:rPr dirty="0" sz="3000" spc="10">
                <a:latin typeface="Cambria Math"/>
                <a:cs typeface="Cambria Math"/>
              </a:rPr>
              <a:t>𝑧</a:t>
            </a:r>
            <a:r>
              <a:rPr dirty="0" baseline="-15151" sz="3300" spc="15">
                <a:latin typeface="Cambria Math"/>
                <a:cs typeface="Cambria Math"/>
              </a:rPr>
              <a:t>#</a:t>
            </a:r>
            <a:r>
              <a:rPr dirty="0" sz="3000" spc="10">
                <a:latin typeface="Cambria Math"/>
                <a:cs typeface="Cambria Math"/>
              </a:rPr>
              <a:t>[𝑖] </a:t>
            </a:r>
            <a:r>
              <a:rPr dirty="0" sz="3000">
                <a:latin typeface="Cambria Math"/>
                <a:cs typeface="Cambria Math"/>
              </a:rPr>
              <a:t>− </a:t>
            </a:r>
            <a:r>
              <a:rPr dirty="0" sz="3000" spc="35">
                <a:latin typeface="Cambria Math"/>
                <a:cs typeface="Cambria Math"/>
              </a:rPr>
              <a:t>𝑧</a:t>
            </a:r>
            <a:r>
              <a:rPr dirty="0" baseline="-15151" sz="3300" spc="52">
                <a:latin typeface="Cambria Math"/>
                <a:cs typeface="Cambria Math"/>
              </a:rPr>
              <a:t>$</a:t>
            </a:r>
            <a:r>
              <a:rPr dirty="0" sz="3000" spc="35">
                <a:latin typeface="Cambria Math"/>
                <a:cs typeface="Cambria Math"/>
              </a:rPr>
              <a:t>[𝑖]))</a:t>
            </a:r>
            <a:r>
              <a:rPr dirty="0" baseline="27777" sz="3300" spc="52">
                <a:latin typeface="Cambria Math"/>
                <a:cs typeface="Cambria Math"/>
              </a:rPr>
              <a:t>)</a:t>
            </a:r>
            <a:r>
              <a:rPr dirty="0" baseline="27777" sz="3300" spc="509">
                <a:latin typeface="Cambria Math"/>
                <a:cs typeface="Cambria Math"/>
              </a:rPr>
              <a:t> </a:t>
            </a:r>
            <a:r>
              <a:rPr dirty="0" sz="3000" spc="-5">
                <a:latin typeface="Calibri"/>
                <a:cs typeface="Calibri"/>
              </a:rPr>
              <a:t>be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108" y="2773172"/>
            <a:ext cx="7938770" cy="145796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332740">
              <a:lnSpc>
                <a:spcPct val="100000"/>
              </a:lnSpc>
              <a:spcBef>
                <a:spcPts val="290"/>
              </a:spcBef>
            </a:pPr>
            <a:r>
              <a:rPr dirty="0" sz="3000" spc="-5">
                <a:latin typeface="Calibri"/>
                <a:cs typeface="Calibri"/>
              </a:rPr>
              <a:t>the </a:t>
            </a:r>
            <a:r>
              <a:rPr dirty="0" sz="3000" spc="-10">
                <a:latin typeface="Calibri"/>
                <a:cs typeface="Calibri"/>
              </a:rPr>
              <a:t>“margin” </a:t>
            </a:r>
            <a:r>
              <a:rPr dirty="0" sz="3000" spc="-15">
                <a:latin typeface="Calibri"/>
                <a:cs typeface="Calibri"/>
              </a:rPr>
              <a:t>between graphs </a:t>
            </a:r>
            <a:r>
              <a:rPr dirty="0" sz="3000" spc="-114">
                <a:latin typeface="Cambria Math"/>
                <a:cs typeface="Cambria Math"/>
              </a:rPr>
              <a:t>𝐺</a:t>
            </a:r>
            <a:r>
              <a:rPr dirty="0" baseline="-15151" sz="3300" spc="-172">
                <a:latin typeface="Cambria Math"/>
                <a:cs typeface="Cambria Math"/>
              </a:rPr>
              <a:t>#  </a:t>
            </a:r>
            <a:r>
              <a:rPr dirty="0" sz="3000" spc="-5">
                <a:latin typeface="Calibri"/>
                <a:cs typeface="Calibri"/>
              </a:rPr>
              <a:t>and</a:t>
            </a:r>
            <a:r>
              <a:rPr dirty="0" sz="3000" spc="-120">
                <a:latin typeface="Calibri"/>
                <a:cs typeface="Calibri"/>
              </a:rPr>
              <a:t> </a:t>
            </a:r>
            <a:r>
              <a:rPr dirty="0" sz="3000" spc="-120">
                <a:latin typeface="Cambria Math"/>
                <a:cs typeface="Cambria Math"/>
              </a:rPr>
              <a:t>𝐺</a:t>
            </a:r>
            <a:r>
              <a:rPr dirty="0" baseline="-15151" sz="3300" spc="-179">
                <a:latin typeface="Cambria Math"/>
                <a:cs typeface="Cambria Math"/>
              </a:rPr>
              <a:t>$</a:t>
            </a:r>
            <a:endParaRPr baseline="-15151" sz="3300">
              <a:latin typeface="Cambria Math"/>
              <a:cs typeface="Cambria Math"/>
            </a:endParaRPr>
          </a:p>
          <a:p>
            <a:pPr marL="332740" marR="5080" indent="-320040">
              <a:lnSpc>
                <a:spcPct val="102699"/>
              </a:lnSpc>
              <a:spcBef>
                <a:spcPts val="9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30" b="1">
                <a:solidFill>
                  <a:srgbClr val="0070C0"/>
                </a:solidFill>
                <a:latin typeface="Calibri"/>
                <a:cs typeface="Calibri"/>
              </a:rPr>
              <a:t>To </a:t>
            </a:r>
            <a:r>
              <a:rPr dirty="0" sz="3000" spc="-5" b="1">
                <a:solidFill>
                  <a:srgbClr val="0070C0"/>
                </a:solidFill>
                <a:latin typeface="Calibri"/>
                <a:cs typeface="Calibri"/>
              </a:rPr>
              <a:t>learn the </a:t>
            </a:r>
            <a:r>
              <a:rPr dirty="0" sz="3000" spc="-15" b="1">
                <a:solidFill>
                  <a:srgbClr val="0070C0"/>
                </a:solidFill>
                <a:latin typeface="Calibri"/>
                <a:cs typeface="Calibri"/>
              </a:rPr>
              <a:t>correct </a:t>
            </a:r>
            <a:r>
              <a:rPr dirty="0" sz="3000" spc="-10" b="1">
                <a:solidFill>
                  <a:srgbClr val="0070C0"/>
                </a:solidFill>
                <a:latin typeface="Calibri"/>
                <a:cs typeface="Calibri"/>
              </a:rPr>
              <a:t>order </a:t>
            </a:r>
            <a:r>
              <a:rPr dirty="0" sz="3000" spc="-5" b="1">
                <a:solidFill>
                  <a:srgbClr val="0070C0"/>
                </a:solidFill>
                <a:latin typeface="Calibri"/>
                <a:cs typeface="Calibri"/>
              </a:rPr>
              <a:t>embeddings, </a:t>
            </a:r>
            <a:r>
              <a:rPr dirty="0" sz="3000" spc="-15" b="1">
                <a:solidFill>
                  <a:srgbClr val="0070C0"/>
                </a:solidFill>
                <a:latin typeface="Calibri"/>
                <a:cs typeface="Calibri"/>
              </a:rPr>
              <a:t>we </a:t>
            </a:r>
            <a:r>
              <a:rPr dirty="0" sz="3000" spc="-20" b="1">
                <a:solidFill>
                  <a:srgbClr val="0070C0"/>
                </a:solidFill>
                <a:latin typeface="Calibri"/>
                <a:cs typeface="Calibri"/>
              </a:rPr>
              <a:t>want  to </a:t>
            </a:r>
            <a:r>
              <a:rPr dirty="0" sz="3000" spc="-5" b="1">
                <a:solidFill>
                  <a:srgbClr val="0070C0"/>
                </a:solidFill>
                <a:latin typeface="Calibri"/>
                <a:cs typeface="Calibri"/>
              </a:rPr>
              <a:t>learn </a:t>
            </a:r>
            <a:r>
              <a:rPr dirty="0" sz="3000" spc="25">
                <a:solidFill>
                  <a:srgbClr val="0070C0"/>
                </a:solidFill>
                <a:latin typeface="Cambria Math"/>
                <a:cs typeface="Cambria Math"/>
              </a:rPr>
              <a:t>𝒛</a:t>
            </a:r>
            <a:r>
              <a:rPr dirty="0" baseline="-15151" sz="3300" spc="37">
                <a:solidFill>
                  <a:srgbClr val="0070C0"/>
                </a:solidFill>
                <a:latin typeface="Cambria Math"/>
                <a:cs typeface="Cambria Math"/>
              </a:rPr>
              <a:t>𝒒</a:t>
            </a:r>
            <a:r>
              <a:rPr dirty="0" sz="3000" spc="25">
                <a:solidFill>
                  <a:srgbClr val="0070C0"/>
                </a:solidFill>
                <a:latin typeface="Cambria Math"/>
                <a:cs typeface="Cambria Math"/>
              </a:rPr>
              <a:t>, </a:t>
            </a:r>
            <a:r>
              <a:rPr dirty="0" sz="3000">
                <a:solidFill>
                  <a:srgbClr val="0070C0"/>
                </a:solidFill>
                <a:latin typeface="Cambria Math"/>
                <a:cs typeface="Cambria Math"/>
              </a:rPr>
              <a:t>𝒛</a:t>
            </a:r>
            <a:r>
              <a:rPr dirty="0" baseline="-15151" sz="3300">
                <a:solidFill>
                  <a:srgbClr val="0070C0"/>
                </a:solidFill>
                <a:latin typeface="Cambria Math"/>
                <a:cs typeface="Cambria Math"/>
              </a:rPr>
              <a:t>𝒕 </a:t>
            </a:r>
            <a:r>
              <a:rPr dirty="0" sz="3000" spc="-5" b="1">
                <a:solidFill>
                  <a:srgbClr val="0070C0"/>
                </a:solidFill>
                <a:latin typeface="Calibri"/>
                <a:cs typeface="Calibri"/>
              </a:rPr>
              <a:t>such</a:t>
            </a:r>
            <a:r>
              <a:rPr dirty="0" sz="3000" spc="-14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0070C0"/>
                </a:solidFill>
                <a:latin typeface="Calibri"/>
                <a:cs typeface="Calibri"/>
              </a:rPr>
              <a:t>that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30054" y="4438784"/>
            <a:ext cx="1199515" cy="460375"/>
          </a:xfrm>
          <a:custGeom>
            <a:avLst/>
            <a:gdLst/>
            <a:ahLst/>
            <a:cxnLst/>
            <a:rect l="l" t="t" r="r" b="b"/>
            <a:pathLst>
              <a:path w="1199514" h="460375">
                <a:moveTo>
                  <a:pt x="1078059" y="0"/>
                </a:moveTo>
                <a:lnTo>
                  <a:pt x="1073409" y="15253"/>
                </a:lnTo>
                <a:lnTo>
                  <a:pt x="1094553" y="26218"/>
                </a:lnTo>
                <a:lnTo>
                  <a:pt x="1112965" y="42183"/>
                </a:lnTo>
                <a:lnTo>
                  <a:pt x="1141591" y="89110"/>
                </a:lnTo>
                <a:lnTo>
                  <a:pt x="1158962" y="152873"/>
                </a:lnTo>
                <a:lnTo>
                  <a:pt x="1164752" y="230310"/>
                </a:lnTo>
                <a:lnTo>
                  <a:pt x="1163304" y="270651"/>
                </a:lnTo>
                <a:lnTo>
                  <a:pt x="1151724" y="341112"/>
                </a:lnTo>
                <a:lnTo>
                  <a:pt x="1128644" y="397155"/>
                </a:lnTo>
                <a:lnTo>
                  <a:pt x="1094553" y="434036"/>
                </a:lnTo>
                <a:lnTo>
                  <a:pt x="1073409" y="444995"/>
                </a:lnTo>
                <a:lnTo>
                  <a:pt x="1078059" y="460250"/>
                </a:lnTo>
                <a:lnTo>
                  <a:pt x="1129452" y="432856"/>
                </a:lnTo>
                <a:lnTo>
                  <a:pt x="1167542" y="381185"/>
                </a:lnTo>
                <a:lnTo>
                  <a:pt x="1191122" y="311515"/>
                </a:lnTo>
                <a:lnTo>
                  <a:pt x="1197017" y="272285"/>
                </a:lnTo>
                <a:lnTo>
                  <a:pt x="1198982" y="230125"/>
                </a:lnTo>
                <a:lnTo>
                  <a:pt x="1197017" y="187964"/>
                </a:lnTo>
                <a:lnTo>
                  <a:pt x="1191122" y="148734"/>
                </a:lnTo>
                <a:lnTo>
                  <a:pt x="1167542" y="79063"/>
                </a:lnTo>
                <a:lnTo>
                  <a:pt x="1129452" y="27392"/>
                </a:lnTo>
                <a:lnTo>
                  <a:pt x="1105418" y="10661"/>
                </a:lnTo>
                <a:lnTo>
                  <a:pt x="1078059" y="0"/>
                </a:lnTo>
                <a:close/>
              </a:path>
              <a:path w="1199514" h="460375">
                <a:moveTo>
                  <a:pt x="120923" y="0"/>
                </a:moveTo>
                <a:lnTo>
                  <a:pt x="69530" y="27392"/>
                </a:lnTo>
                <a:lnTo>
                  <a:pt x="31440" y="79063"/>
                </a:lnTo>
                <a:lnTo>
                  <a:pt x="7860" y="148734"/>
                </a:lnTo>
                <a:lnTo>
                  <a:pt x="1965" y="187964"/>
                </a:lnTo>
                <a:lnTo>
                  <a:pt x="0" y="230125"/>
                </a:lnTo>
                <a:lnTo>
                  <a:pt x="1965" y="272285"/>
                </a:lnTo>
                <a:lnTo>
                  <a:pt x="7860" y="311515"/>
                </a:lnTo>
                <a:lnTo>
                  <a:pt x="31440" y="381185"/>
                </a:lnTo>
                <a:lnTo>
                  <a:pt x="69530" y="432856"/>
                </a:lnTo>
                <a:lnTo>
                  <a:pt x="120923" y="460250"/>
                </a:lnTo>
                <a:lnTo>
                  <a:pt x="125573" y="444995"/>
                </a:lnTo>
                <a:lnTo>
                  <a:pt x="104429" y="434036"/>
                </a:lnTo>
                <a:lnTo>
                  <a:pt x="86018" y="418089"/>
                </a:lnTo>
                <a:lnTo>
                  <a:pt x="57392" y="371232"/>
                </a:lnTo>
                <a:lnTo>
                  <a:pt x="40020" y="307585"/>
                </a:lnTo>
                <a:lnTo>
                  <a:pt x="34230" y="230310"/>
                </a:lnTo>
                <a:lnTo>
                  <a:pt x="35677" y="189883"/>
                </a:lnTo>
                <a:lnTo>
                  <a:pt x="47258" y="119282"/>
                </a:lnTo>
                <a:lnTo>
                  <a:pt x="70339" y="63147"/>
                </a:lnTo>
                <a:lnTo>
                  <a:pt x="104429" y="26218"/>
                </a:lnTo>
                <a:lnTo>
                  <a:pt x="125573" y="15253"/>
                </a:lnTo>
                <a:lnTo>
                  <a:pt x="1209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0054" y="5061083"/>
            <a:ext cx="1199515" cy="460375"/>
          </a:xfrm>
          <a:custGeom>
            <a:avLst/>
            <a:gdLst/>
            <a:ahLst/>
            <a:cxnLst/>
            <a:rect l="l" t="t" r="r" b="b"/>
            <a:pathLst>
              <a:path w="1199514" h="460375">
                <a:moveTo>
                  <a:pt x="1078059" y="0"/>
                </a:moveTo>
                <a:lnTo>
                  <a:pt x="1073409" y="15255"/>
                </a:lnTo>
                <a:lnTo>
                  <a:pt x="1094553" y="26219"/>
                </a:lnTo>
                <a:lnTo>
                  <a:pt x="1112965" y="42183"/>
                </a:lnTo>
                <a:lnTo>
                  <a:pt x="1141591" y="89110"/>
                </a:lnTo>
                <a:lnTo>
                  <a:pt x="1158962" y="152874"/>
                </a:lnTo>
                <a:lnTo>
                  <a:pt x="1164752" y="230311"/>
                </a:lnTo>
                <a:lnTo>
                  <a:pt x="1163304" y="270652"/>
                </a:lnTo>
                <a:lnTo>
                  <a:pt x="1151724" y="341113"/>
                </a:lnTo>
                <a:lnTo>
                  <a:pt x="1128644" y="397156"/>
                </a:lnTo>
                <a:lnTo>
                  <a:pt x="1094553" y="434037"/>
                </a:lnTo>
                <a:lnTo>
                  <a:pt x="1073409" y="444996"/>
                </a:lnTo>
                <a:lnTo>
                  <a:pt x="1078059" y="460251"/>
                </a:lnTo>
                <a:lnTo>
                  <a:pt x="1129452" y="432857"/>
                </a:lnTo>
                <a:lnTo>
                  <a:pt x="1167542" y="381186"/>
                </a:lnTo>
                <a:lnTo>
                  <a:pt x="1191122" y="311516"/>
                </a:lnTo>
                <a:lnTo>
                  <a:pt x="1197017" y="272285"/>
                </a:lnTo>
                <a:lnTo>
                  <a:pt x="1198982" y="230125"/>
                </a:lnTo>
                <a:lnTo>
                  <a:pt x="1197017" y="187965"/>
                </a:lnTo>
                <a:lnTo>
                  <a:pt x="1191122" y="148735"/>
                </a:lnTo>
                <a:lnTo>
                  <a:pt x="1167542" y="79065"/>
                </a:lnTo>
                <a:lnTo>
                  <a:pt x="1129452" y="27393"/>
                </a:lnTo>
                <a:lnTo>
                  <a:pt x="1105418" y="10662"/>
                </a:lnTo>
                <a:lnTo>
                  <a:pt x="1078059" y="0"/>
                </a:lnTo>
                <a:close/>
              </a:path>
              <a:path w="1199514" h="460375">
                <a:moveTo>
                  <a:pt x="120923" y="0"/>
                </a:moveTo>
                <a:lnTo>
                  <a:pt x="69530" y="27393"/>
                </a:lnTo>
                <a:lnTo>
                  <a:pt x="31440" y="79065"/>
                </a:lnTo>
                <a:lnTo>
                  <a:pt x="7860" y="148735"/>
                </a:lnTo>
                <a:lnTo>
                  <a:pt x="1965" y="187965"/>
                </a:lnTo>
                <a:lnTo>
                  <a:pt x="0" y="230125"/>
                </a:lnTo>
                <a:lnTo>
                  <a:pt x="1965" y="272285"/>
                </a:lnTo>
                <a:lnTo>
                  <a:pt x="7860" y="311516"/>
                </a:lnTo>
                <a:lnTo>
                  <a:pt x="31440" y="381186"/>
                </a:lnTo>
                <a:lnTo>
                  <a:pt x="69530" y="432857"/>
                </a:lnTo>
                <a:lnTo>
                  <a:pt x="120923" y="460251"/>
                </a:lnTo>
                <a:lnTo>
                  <a:pt x="125573" y="444996"/>
                </a:lnTo>
                <a:lnTo>
                  <a:pt x="104429" y="434037"/>
                </a:lnTo>
                <a:lnTo>
                  <a:pt x="86018" y="418091"/>
                </a:lnTo>
                <a:lnTo>
                  <a:pt x="57392" y="371233"/>
                </a:lnTo>
                <a:lnTo>
                  <a:pt x="40020" y="307586"/>
                </a:lnTo>
                <a:lnTo>
                  <a:pt x="34230" y="230311"/>
                </a:lnTo>
                <a:lnTo>
                  <a:pt x="35677" y="189884"/>
                </a:lnTo>
                <a:lnTo>
                  <a:pt x="47258" y="119283"/>
                </a:lnTo>
                <a:lnTo>
                  <a:pt x="70339" y="63147"/>
                </a:lnTo>
                <a:lnTo>
                  <a:pt x="104429" y="26219"/>
                </a:lnTo>
                <a:lnTo>
                  <a:pt x="125573" y="15255"/>
                </a:lnTo>
                <a:lnTo>
                  <a:pt x="1209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56563" y="4214876"/>
            <a:ext cx="1625600" cy="127508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4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710565" algn="l"/>
              </a:tabLst>
            </a:pPr>
            <a:r>
              <a:rPr dirty="0" sz="3000">
                <a:latin typeface="Cambria Math"/>
                <a:cs typeface="Cambria Math"/>
              </a:rPr>
              <a:t>𝐸	</a:t>
            </a:r>
            <a:r>
              <a:rPr dirty="0" sz="3000" spc="-35">
                <a:latin typeface="Cambria Math"/>
                <a:cs typeface="Cambria Math"/>
              </a:rPr>
              <a:t>𝐺</a:t>
            </a:r>
            <a:r>
              <a:rPr dirty="0" baseline="-15151" sz="3300" spc="-52">
                <a:latin typeface="Cambria Math"/>
                <a:cs typeface="Cambria Math"/>
              </a:rPr>
              <a:t>#</a:t>
            </a:r>
            <a:r>
              <a:rPr dirty="0" sz="3000" spc="-35">
                <a:latin typeface="Cambria Math"/>
                <a:cs typeface="Cambria Math"/>
              </a:rPr>
              <a:t>,</a:t>
            </a:r>
            <a:r>
              <a:rPr dirty="0" sz="3000" spc="-250">
                <a:latin typeface="Cambria Math"/>
                <a:cs typeface="Cambria Math"/>
              </a:rPr>
              <a:t> </a:t>
            </a:r>
            <a:r>
              <a:rPr dirty="0" sz="3000" spc="-120">
                <a:latin typeface="Cambria Math"/>
                <a:cs typeface="Cambria Math"/>
              </a:rPr>
              <a:t>𝐺</a:t>
            </a:r>
            <a:r>
              <a:rPr dirty="0" baseline="-15151" sz="3300" spc="-179">
                <a:latin typeface="Cambria Math"/>
                <a:cs typeface="Cambria Math"/>
              </a:rPr>
              <a:t>$</a:t>
            </a:r>
            <a:endParaRPr baseline="-15151" sz="3300">
              <a:latin typeface="Cambria Math"/>
              <a:cs typeface="Cambria Math"/>
            </a:endParaRPr>
          </a:p>
          <a:p>
            <a:pPr marL="287020" indent="-274320">
              <a:lnSpc>
                <a:spcPct val="100000"/>
              </a:lnSpc>
              <a:spcBef>
                <a:spcPts val="13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710565" algn="l"/>
              </a:tabLst>
            </a:pPr>
            <a:r>
              <a:rPr dirty="0" sz="3000">
                <a:latin typeface="Cambria Math"/>
                <a:cs typeface="Cambria Math"/>
              </a:rPr>
              <a:t>𝐸	</a:t>
            </a:r>
            <a:r>
              <a:rPr dirty="0" sz="3000" spc="-35">
                <a:latin typeface="Cambria Math"/>
                <a:cs typeface="Cambria Math"/>
              </a:rPr>
              <a:t>𝐺</a:t>
            </a:r>
            <a:r>
              <a:rPr dirty="0" baseline="-15151" sz="3300" spc="-52">
                <a:latin typeface="Cambria Math"/>
                <a:cs typeface="Cambria Math"/>
              </a:rPr>
              <a:t>#</a:t>
            </a:r>
            <a:r>
              <a:rPr dirty="0" sz="3000" spc="-35">
                <a:latin typeface="Cambria Math"/>
                <a:cs typeface="Cambria Math"/>
              </a:rPr>
              <a:t>,</a:t>
            </a:r>
            <a:r>
              <a:rPr dirty="0" sz="3000" spc="-250">
                <a:latin typeface="Cambria Math"/>
                <a:cs typeface="Cambria Math"/>
              </a:rPr>
              <a:t> </a:t>
            </a:r>
            <a:r>
              <a:rPr dirty="0" sz="3000" spc="-120">
                <a:latin typeface="Cambria Math"/>
                <a:cs typeface="Cambria Math"/>
              </a:rPr>
              <a:t>𝐺</a:t>
            </a:r>
            <a:r>
              <a:rPr dirty="0" baseline="-15151" sz="3300" spc="-179">
                <a:latin typeface="Cambria Math"/>
                <a:cs typeface="Cambria Math"/>
              </a:rPr>
              <a:t>$</a:t>
            </a:r>
            <a:endParaRPr baseline="-15151" sz="33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45</a:t>
            </a:fld>
          </a:p>
        </p:txBody>
      </p:sp>
      <p:sp>
        <p:nvSpPr>
          <p:cNvPr id="11" name="object 11"/>
          <p:cNvSpPr txBox="1"/>
          <p:nvPr/>
        </p:nvSpPr>
        <p:spPr>
          <a:xfrm>
            <a:off x="2855658" y="4214876"/>
            <a:ext cx="5660390" cy="127508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3000">
                <a:latin typeface="Cambria Math"/>
                <a:cs typeface="Cambria Math"/>
              </a:rPr>
              <a:t>= 0 </a:t>
            </a:r>
            <a:r>
              <a:rPr dirty="0" sz="3000" spc="-5">
                <a:latin typeface="Calibri"/>
                <a:cs typeface="Calibri"/>
              </a:rPr>
              <a:t>when </a:t>
            </a:r>
            <a:r>
              <a:rPr dirty="0" sz="3000" spc="-114">
                <a:latin typeface="Cambria Math"/>
                <a:cs typeface="Cambria Math"/>
              </a:rPr>
              <a:t>𝐺</a:t>
            </a:r>
            <a:r>
              <a:rPr dirty="0" baseline="-15151" sz="3300" spc="-172">
                <a:latin typeface="Cambria Math"/>
                <a:cs typeface="Cambria Math"/>
              </a:rPr>
              <a:t>#  </a:t>
            </a:r>
            <a:r>
              <a:rPr dirty="0" sz="3000" b="1">
                <a:latin typeface="Calibri"/>
                <a:cs typeface="Calibri"/>
              </a:rPr>
              <a:t>is </a:t>
            </a:r>
            <a:r>
              <a:rPr dirty="0" sz="3000">
                <a:latin typeface="Calibri"/>
                <a:cs typeface="Calibri"/>
              </a:rPr>
              <a:t>a </a:t>
            </a:r>
            <a:r>
              <a:rPr dirty="0" sz="3000" spc="-10">
                <a:latin typeface="Calibri"/>
                <a:cs typeface="Calibri"/>
              </a:rPr>
              <a:t>subgraph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 spc="-120">
                <a:latin typeface="Cambria Math"/>
                <a:cs typeface="Cambria Math"/>
              </a:rPr>
              <a:t>𝐺</a:t>
            </a:r>
            <a:r>
              <a:rPr dirty="0" baseline="-15151" sz="3300" spc="-179">
                <a:latin typeface="Cambria Math"/>
                <a:cs typeface="Cambria Math"/>
              </a:rPr>
              <a:t>$</a:t>
            </a:r>
            <a:endParaRPr baseline="-15151" sz="33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3000">
                <a:latin typeface="Cambria Math"/>
                <a:cs typeface="Cambria Math"/>
              </a:rPr>
              <a:t>&gt; 0 </a:t>
            </a:r>
            <a:r>
              <a:rPr dirty="0" sz="3000" spc="-5">
                <a:latin typeface="Calibri"/>
                <a:cs typeface="Calibri"/>
              </a:rPr>
              <a:t>when </a:t>
            </a:r>
            <a:r>
              <a:rPr dirty="0" sz="3000" spc="-114">
                <a:latin typeface="Cambria Math"/>
                <a:cs typeface="Cambria Math"/>
              </a:rPr>
              <a:t>𝐺</a:t>
            </a:r>
            <a:r>
              <a:rPr dirty="0" baseline="-15151" sz="3300" spc="-172">
                <a:latin typeface="Cambria Math"/>
                <a:cs typeface="Cambria Math"/>
              </a:rPr>
              <a:t>#  </a:t>
            </a:r>
            <a:r>
              <a:rPr dirty="0" sz="3000" b="1">
                <a:latin typeface="Calibri"/>
                <a:cs typeface="Calibri"/>
              </a:rPr>
              <a:t>is </a:t>
            </a:r>
            <a:r>
              <a:rPr dirty="0" sz="3000" spc="-5" b="1">
                <a:latin typeface="Calibri"/>
                <a:cs typeface="Calibri"/>
              </a:rPr>
              <a:t>not </a:t>
            </a:r>
            <a:r>
              <a:rPr dirty="0" sz="3000">
                <a:latin typeface="Calibri"/>
                <a:cs typeface="Calibri"/>
              </a:rPr>
              <a:t>a </a:t>
            </a:r>
            <a:r>
              <a:rPr dirty="0" sz="3000" spc="-10">
                <a:latin typeface="Calibri"/>
                <a:cs typeface="Calibri"/>
              </a:rPr>
              <a:t>subgraph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 spc="-120">
                <a:latin typeface="Cambria Math"/>
                <a:cs typeface="Cambria Math"/>
              </a:rPr>
              <a:t>𝐺</a:t>
            </a:r>
            <a:r>
              <a:rPr dirty="0" baseline="-15151" sz="3300" spc="-179">
                <a:latin typeface="Cambria Math"/>
                <a:cs typeface="Cambria Math"/>
              </a:rPr>
              <a:t>$</a:t>
            </a:r>
            <a:endParaRPr baseline="-15151" sz="33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65759"/>
            <a:ext cx="7949183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7960359" cy="1860550"/>
          </a:xfrm>
          <a:prstGeom prst="rect"/>
        </p:spPr>
        <p:txBody>
          <a:bodyPr wrap="square" lIns="0" tIns="53340" rIns="0" bIns="0" rtlCol="0" vert="horz">
            <a:spAutoFit/>
          </a:bodyPr>
          <a:lstStyle/>
          <a:p>
            <a:pPr marL="332740" marR="5080" indent="-320040">
              <a:lnSpc>
                <a:spcPts val="3600"/>
              </a:lnSpc>
              <a:spcBef>
                <a:spcPts val="42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45"/>
              <a:t>To </a:t>
            </a:r>
            <a:r>
              <a:rPr dirty="0" spc="-5"/>
              <a:t>learn such embeddings, </a:t>
            </a: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construct </a:t>
            </a:r>
            <a:r>
              <a:rPr dirty="0" spc="-15" b="1">
                <a:solidFill>
                  <a:srgbClr val="C00000"/>
                </a:solidFill>
                <a:latin typeface="Calibri"/>
                <a:cs typeface="Calibri"/>
              </a:rPr>
              <a:t>training  examples </a:t>
            </a:r>
            <a:r>
              <a:rPr dirty="0" spc="210">
                <a:latin typeface="Cambria Math"/>
                <a:cs typeface="Cambria Math"/>
              </a:rPr>
              <a:t>(𝐺</a:t>
            </a:r>
            <a:r>
              <a:rPr dirty="0" baseline="-15700" sz="3450" spc="315">
                <a:latin typeface="Cambria Math"/>
                <a:cs typeface="Cambria Math"/>
              </a:rPr>
              <a:t>.</a:t>
            </a:r>
            <a:r>
              <a:rPr dirty="0" sz="3200" spc="210">
                <a:latin typeface="Cambria Math"/>
                <a:cs typeface="Cambria Math"/>
              </a:rPr>
              <a:t>, </a:t>
            </a:r>
            <a:r>
              <a:rPr dirty="0" sz="3200" spc="-25">
                <a:latin typeface="Cambria Math"/>
                <a:cs typeface="Cambria Math"/>
              </a:rPr>
              <a:t>𝐺</a:t>
            </a:r>
            <a:r>
              <a:rPr dirty="0" baseline="-15700" sz="3450" spc="-37">
                <a:latin typeface="Cambria Math"/>
                <a:cs typeface="Cambria Math"/>
              </a:rPr>
              <a:t>/</a:t>
            </a:r>
            <a:r>
              <a:rPr dirty="0" sz="3200" spc="-25">
                <a:latin typeface="Cambria Math"/>
                <a:cs typeface="Cambria Math"/>
              </a:rPr>
              <a:t>) </a:t>
            </a:r>
            <a:r>
              <a:rPr dirty="0" sz="3200" spc="-15"/>
              <a:t>where </a:t>
            </a:r>
            <a:r>
              <a:rPr dirty="0" sz="3200"/>
              <a:t>half the </a:t>
            </a:r>
            <a:r>
              <a:rPr dirty="0" sz="3200" spc="-5"/>
              <a:t>time, </a:t>
            </a:r>
            <a:r>
              <a:rPr dirty="0" sz="3200" spc="350">
                <a:latin typeface="Cambria Math"/>
                <a:cs typeface="Cambria Math"/>
              </a:rPr>
              <a:t>𝐺</a:t>
            </a:r>
            <a:r>
              <a:rPr dirty="0" baseline="-15700" sz="3450" spc="525">
                <a:latin typeface="Cambria Math"/>
                <a:cs typeface="Cambria Math"/>
              </a:rPr>
              <a:t>.</a:t>
            </a:r>
            <a:r>
              <a:rPr dirty="0" baseline="-15700" sz="3450" spc="-307">
                <a:latin typeface="Cambria Math"/>
                <a:cs typeface="Cambria Math"/>
              </a:rPr>
              <a:t> </a:t>
            </a:r>
            <a:r>
              <a:rPr dirty="0" sz="3200"/>
              <a:t>is a  </a:t>
            </a:r>
            <a:r>
              <a:rPr dirty="0" sz="3200" spc="-10"/>
              <a:t>subgraph </a:t>
            </a:r>
            <a:r>
              <a:rPr dirty="0" sz="3200"/>
              <a:t>of </a:t>
            </a:r>
            <a:r>
              <a:rPr dirty="0" sz="3200" spc="-25">
                <a:latin typeface="Cambria Math"/>
                <a:cs typeface="Cambria Math"/>
              </a:rPr>
              <a:t>𝐺</a:t>
            </a:r>
            <a:r>
              <a:rPr dirty="0" baseline="-15700" sz="3450" spc="-37">
                <a:latin typeface="Cambria Math"/>
                <a:cs typeface="Cambria Math"/>
              </a:rPr>
              <a:t>/</a:t>
            </a:r>
            <a:r>
              <a:rPr dirty="0" sz="3200" spc="-25"/>
              <a:t>, </a:t>
            </a:r>
            <a:r>
              <a:rPr dirty="0" sz="3200"/>
              <a:t>and the </a:t>
            </a:r>
            <a:r>
              <a:rPr dirty="0" sz="3200" spc="-5"/>
              <a:t>other </a:t>
            </a:r>
            <a:r>
              <a:rPr dirty="0" sz="3200" spc="-40"/>
              <a:t>half, </a:t>
            </a:r>
            <a:r>
              <a:rPr dirty="0" sz="3200"/>
              <a:t>it is</a:t>
            </a:r>
            <a:r>
              <a:rPr dirty="0" sz="3200" spc="50"/>
              <a:t> </a:t>
            </a:r>
            <a:r>
              <a:rPr dirty="0" sz="3200" spc="-5"/>
              <a:t>not</a:t>
            </a:r>
            <a:endParaRPr sz="3200">
              <a:latin typeface="Cambria Math"/>
              <a:cs typeface="Cambria Math"/>
            </a:endParaRPr>
          </a:p>
          <a:p>
            <a:pPr marL="332740" indent="-320040">
              <a:lnSpc>
                <a:spcPts val="3329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5"/>
              <a:t>Train </a:t>
            </a:r>
            <a:r>
              <a:rPr dirty="0" spc="-5"/>
              <a:t>on these </a:t>
            </a:r>
            <a:r>
              <a:rPr dirty="0" spc="-15"/>
              <a:t>examples </a:t>
            </a:r>
            <a:r>
              <a:rPr dirty="0" spc="-10"/>
              <a:t>by </a:t>
            </a:r>
            <a:r>
              <a:rPr dirty="0" spc="-5"/>
              <a:t>minimizing</a:t>
            </a:r>
            <a:r>
              <a:rPr dirty="0" spc="100"/>
              <a:t> </a:t>
            </a:r>
            <a:r>
              <a:rPr dirty="0"/>
              <a:t>the</a:t>
            </a:r>
          </a:p>
        </p:txBody>
      </p:sp>
      <p:sp>
        <p:nvSpPr>
          <p:cNvPr id="4" name="object 4"/>
          <p:cNvSpPr/>
          <p:nvPr/>
        </p:nvSpPr>
        <p:spPr>
          <a:xfrm>
            <a:off x="4682183" y="5020180"/>
            <a:ext cx="1120140" cy="429895"/>
          </a:xfrm>
          <a:custGeom>
            <a:avLst/>
            <a:gdLst/>
            <a:ahLst/>
            <a:cxnLst/>
            <a:rect l="l" t="t" r="r" b="b"/>
            <a:pathLst>
              <a:path w="1120139" h="429895">
                <a:moveTo>
                  <a:pt x="1007040" y="0"/>
                </a:moveTo>
                <a:lnTo>
                  <a:pt x="1002699" y="14237"/>
                </a:lnTo>
                <a:lnTo>
                  <a:pt x="1022434" y="24471"/>
                </a:lnTo>
                <a:lnTo>
                  <a:pt x="1039618" y="39371"/>
                </a:lnTo>
                <a:lnTo>
                  <a:pt x="1066336" y="83171"/>
                </a:lnTo>
                <a:lnTo>
                  <a:pt x="1082548" y="142683"/>
                </a:lnTo>
                <a:lnTo>
                  <a:pt x="1087953" y="214957"/>
                </a:lnTo>
                <a:lnTo>
                  <a:pt x="1086602" y="252609"/>
                </a:lnTo>
                <a:lnTo>
                  <a:pt x="1075793" y="318372"/>
                </a:lnTo>
                <a:lnTo>
                  <a:pt x="1054252" y="370679"/>
                </a:lnTo>
                <a:lnTo>
                  <a:pt x="1022434" y="405102"/>
                </a:lnTo>
                <a:lnTo>
                  <a:pt x="1002699" y="415330"/>
                </a:lnTo>
                <a:lnTo>
                  <a:pt x="1007040" y="429568"/>
                </a:lnTo>
                <a:lnTo>
                  <a:pt x="1055006" y="404000"/>
                </a:lnTo>
                <a:lnTo>
                  <a:pt x="1090557" y="355773"/>
                </a:lnTo>
                <a:lnTo>
                  <a:pt x="1112565" y="290748"/>
                </a:lnTo>
                <a:lnTo>
                  <a:pt x="1119901" y="214783"/>
                </a:lnTo>
                <a:lnTo>
                  <a:pt x="1118067" y="175434"/>
                </a:lnTo>
                <a:lnTo>
                  <a:pt x="1103395" y="104939"/>
                </a:lnTo>
                <a:lnTo>
                  <a:pt x="1074334" y="46848"/>
                </a:lnTo>
                <a:lnTo>
                  <a:pt x="1032575" y="9951"/>
                </a:lnTo>
                <a:lnTo>
                  <a:pt x="1007040" y="0"/>
                </a:lnTo>
                <a:close/>
              </a:path>
              <a:path w="1120139" h="429895">
                <a:moveTo>
                  <a:pt x="112861" y="0"/>
                </a:moveTo>
                <a:lnTo>
                  <a:pt x="64895" y="25567"/>
                </a:lnTo>
                <a:lnTo>
                  <a:pt x="29344" y="73794"/>
                </a:lnTo>
                <a:lnTo>
                  <a:pt x="7336" y="138819"/>
                </a:lnTo>
                <a:lnTo>
                  <a:pt x="0" y="214783"/>
                </a:lnTo>
                <a:lnTo>
                  <a:pt x="1834" y="254133"/>
                </a:lnTo>
                <a:lnTo>
                  <a:pt x="16506" y="324628"/>
                </a:lnTo>
                <a:lnTo>
                  <a:pt x="45568" y="382719"/>
                </a:lnTo>
                <a:lnTo>
                  <a:pt x="87326" y="419617"/>
                </a:lnTo>
                <a:lnTo>
                  <a:pt x="112861" y="429568"/>
                </a:lnTo>
                <a:lnTo>
                  <a:pt x="117201" y="415330"/>
                </a:lnTo>
                <a:lnTo>
                  <a:pt x="97467" y="405102"/>
                </a:lnTo>
                <a:lnTo>
                  <a:pt x="80283" y="390218"/>
                </a:lnTo>
                <a:lnTo>
                  <a:pt x="53566" y="346485"/>
                </a:lnTo>
                <a:lnTo>
                  <a:pt x="37352" y="287080"/>
                </a:lnTo>
                <a:lnTo>
                  <a:pt x="31954" y="214783"/>
                </a:lnTo>
                <a:lnTo>
                  <a:pt x="33299" y="177225"/>
                </a:lnTo>
                <a:lnTo>
                  <a:pt x="44108" y="111331"/>
                </a:lnTo>
                <a:lnTo>
                  <a:pt x="65649" y="58938"/>
                </a:lnTo>
                <a:lnTo>
                  <a:pt x="97467" y="24471"/>
                </a:lnTo>
                <a:lnTo>
                  <a:pt x="117201" y="14237"/>
                </a:lnTo>
                <a:lnTo>
                  <a:pt x="1128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38149" y="3010190"/>
            <a:ext cx="7433309" cy="349186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3200" spc="-10">
                <a:latin typeface="Calibri"/>
                <a:cs typeface="Calibri"/>
              </a:rPr>
              <a:t>following </a:t>
            </a:r>
            <a:r>
              <a:rPr dirty="0" sz="3200" spc="-25" b="1">
                <a:latin typeface="Calibri"/>
                <a:cs typeface="Calibri"/>
              </a:rPr>
              <a:t>max-margin</a:t>
            </a:r>
            <a:r>
              <a:rPr dirty="0" sz="3200" spc="-30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loss</a:t>
            </a:r>
            <a:r>
              <a:rPr dirty="0" sz="3200" spc="-5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marL="305435" indent="-274320">
              <a:lnSpc>
                <a:spcPts val="3290"/>
              </a:lnSpc>
              <a:spcBef>
                <a:spcPts val="540"/>
              </a:spcBef>
              <a:buClr>
                <a:srgbClr val="60B5CC"/>
              </a:buClr>
              <a:buFont typeface="Malgun Gothic"/>
              <a:buChar char="▪"/>
              <a:tabLst>
                <a:tab pos="305435" algn="l"/>
              </a:tabLst>
            </a:pPr>
            <a:r>
              <a:rPr dirty="0" sz="2800" spc="-15" b="1">
                <a:solidFill>
                  <a:srgbClr val="008000"/>
                </a:solidFill>
                <a:latin typeface="Calibri"/>
                <a:cs typeface="Calibri"/>
              </a:rPr>
              <a:t>For </a:t>
            </a: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positive </a:t>
            </a:r>
            <a:r>
              <a:rPr dirty="0" sz="2800" spc="-15" b="1">
                <a:solidFill>
                  <a:srgbClr val="008000"/>
                </a:solidFill>
                <a:latin typeface="Calibri"/>
                <a:cs typeface="Calibri"/>
              </a:rPr>
              <a:t>examples: </a:t>
            </a:r>
            <a:r>
              <a:rPr dirty="0" sz="2800" spc="-15">
                <a:latin typeface="Calibri"/>
                <a:cs typeface="Calibri"/>
              </a:rPr>
              <a:t>Minimize </a:t>
            </a:r>
            <a:r>
              <a:rPr dirty="0" sz="2800" spc="25">
                <a:latin typeface="Cambria Math"/>
                <a:cs typeface="Cambria Math"/>
              </a:rPr>
              <a:t>𝐸(𝐺</a:t>
            </a:r>
            <a:r>
              <a:rPr dirty="0" baseline="-16666" sz="3000" spc="37">
                <a:latin typeface="Cambria Math"/>
                <a:cs typeface="Cambria Math"/>
              </a:rPr>
              <a:t>4</a:t>
            </a:r>
            <a:r>
              <a:rPr dirty="0" sz="2800" spc="25">
                <a:latin typeface="Cambria Math"/>
                <a:cs typeface="Cambria Math"/>
              </a:rPr>
              <a:t>, </a:t>
            </a:r>
            <a:r>
              <a:rPr dirty="0" sz="2800" spc="-65">
                <a:latin typeface="Cambria Math"/>
                <a:cs typeface="Cambria Math"/>
              </a:rPr>
              <a:t>𝐺</a:t>
            </a:r>
            <a:r>
              <a:rPr dirty="0" baseline="-16666" sz="3000" spc="-97">
                <a:latin typeface="Cambria Math"/>
                <a:cs typeface="Cambria Math"/>
              </a:rPr>
              <a:t>5</a:t>
            </a:r>
            <a:r>
              <a:rPr dirty="0" sz="2800" spc="-65">
                <a:latin typeface="Cambria Math"/>
                <a:cs typeface="Cambria Math"/>
              </a:rPr>
              <a:t>)</a:t>
            </a:r>
            <a:r>
              <a:rPr dirty="0" sz="2800" spc="-45">
                <a:latin typeface="Cambria Math"/>
                <a:cs typeface="Cambria Math"/>
              </a:rPr>
              <a:t> </a:t>
            </a:r>
            <a:r>
              <a:rPr dirty="0" sz="2800" spc="-5">
                <a:latin typeface="Calibri"/>
                <a:cs typeface="Calibri"/>
              </a:rPr>
              <a:t>when</a:t>
            </a:r>
            <a:endParaRPr sz="2800">
              <a:latin typeface="Calibri"/>
              <a:cs typeface="Calibri"/>
            </a:endParaRPr>
          </a:p>
          <a:p>
            <a:pPr marL="304800">
              <a:lnSpc>
                <a:spcPts val="3290"/>
              </a:lnSpc>
            </a:pPr>
            <a:r>
              <a:rPr dirty="0" sz="2800" spc="-45">
                <a:latin typeface="Cambria Math"/>
                <a:cs typeface="Cambria Math"/>
              </a:rPr>
              <a:t>𝐺</a:t>
            </a:r>
            <a:r>
              <a:rPr dirty="0" baseline="-16666" sz="3000" spc="-67">
                <a:latin typeface="Cambria Math"/>
                <a:cs typeface="Cambria Math"/>
              </a:rPr>
              <a:t>4 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subgraph </a:t>
            </a:r>
            <a:r>
              <a:rPr dirty="0" sz="2800" spc="-5">
                <a:latin typeface="Calibri"/>
                <a:cs typeface="Calibri"/>
              </a:rPr>
              <a:t>of</a:t>
            </a:r>
            <a:r>
              <a:rPr dirty="0" sz="2800" spc="-240">
                <a:latin typeface="Calibri"/>
                <a:cs typeface="Calibri"/>
              </a:rPr>
              <a:t> </a:t>
            </a:r>
            <a:r>
              <a:rPr dirty="0" sz="2800" spc="-160">
                <a:latin typeface="Cambria Math"/>
                <a:cs typeface="Cambria Math"/>
              </a:rPr>
              <a:t>𝐺</a:t>
            </a:r>
            <a:r>
              <a:rPr dirty="0" baseline="-16666" sz="3000" spc="-240">
                <a:latin typeface="Cambria Math"/>
                <a:cs typeface="Cambria Math"/>
              </a:rPr>
              <a:t>5</a:t>
            </a:r>
            <a:endParaRPr baseline="-16666" sz="3000">
              <a:latin typeface="Cambria Math"/>
              <a:cs typeface="Cambria Math"/>
            </a:endParaRPr>
          </a:p>
          <a:p>
            <a:pPr marL="305435" indent="-274320">
              <a:lnSpc>
                <a:spcPct val="100000"/>
              </a:lnSpc>
              <a:spcBef>
                <a:spcPts val="434"/>
              </a:spcBef>
              <a:buClr>
                <a:srgbClr val="60B5CC"/>
              </a:buClr>
              <a:buFont typeface="Malgun Gothic"/>
              <a:buChar char="▪"/>
              <a:tabLst>
                <a:tab pos="305435" algn="l"/>
              </a:tabLst>
            </a:pPr>
            <a:r>
              <a:rPr dirty="0" sz="2800" spc="-15" b="1">
                <a:solidFill>
                  <a:srgbClr val="008000"/>
                </a:solidFill>
                <a:latin typeface="Calibri"/>
                <a:cs typeface="Calibri"/>
              </a:rPr>
              <a:t>For negative</a:t>
            </a:r>
            <a:r>
              <a:rPr dirty="0" sz="2800" spc="-25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008000"/>
                </a:solidFill>
                <a:latin typeface="Calibri"/>
                <a:cs typeface="Calibri"/>
              </a:rPr>
              <a:t>examples:</a:t>
            </a:r>
            <a:endParaRPr sz="2800">
              <a:latin typeface="Calibri"/>
              <a:cs typeface="Calibri"/>
            </a:endParaRPr>
          </a:p>
          <a:p>
            <a:pPr marL="304800">
              <a:lnSpc>
                <a:spcPct val="100000"/>
              </a:lnSpc>
              <a:spcBef>
                <a:spcPts val="45"/>
              </a:spcBef>
              <a:tabLst>
                <a:tab pos="3872229" algn="l"/>
                <a:tab pos="4894580" algn="l"/>
              </a:tabLst>
            </a:pPr>
            <a:r>
              <a:rPr dirty="0" sz="2800" spc="-15">
                <a:latin typeface="Calibri"/>
                <a:cs typeface="Calibri"/>
              </a:rPr>
              <a:t>Minimize </a:t>
            </a:r>
            <a:r>
              <a:rPr dirty="0" sz="2800" spc="-5">
                <a:latin typeface="Cambria Math"/>
                <a:cs typeface="Cambria Math"/>
              </a:rPr>
              <a:t>max(0, </a:t>
            </a:r>
            <a:r>
              <a:rPr dirty="0" sz="2800">
                <a:latin typeface="Cambria Math"/>
                <a:cs typeface="Cambria Math"/>
              </a:rPr>
              <a:t>𝛼</a:t>
            </a:r>
            <a:r>
              <a:rPr dirty="0" sz="2800" spc="-3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−</a:t>
            </a:r>
            <a:r>
              <a:rPr dirty="0" sz="2800" spc="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𝐸	</a:t>
            </a:r>
            <a:r>
              <a:rPr dirty="0" sz="2800" spc="10">
                <a:latin typeface="Cambria Math"/>
                <a:cs typeface="Cambria Math"/>
              </a:rPr>
              <a:t>𝐺</a:t>
            </a:r>
            <a:r>
              <a:rPr dirty="0" baseline="-16666" sz="3000" spc="15">
                <a:latin typeface="Cambria Math"/>
                <a:cs typeface="Cambria Math"/>
              </a:rPr>
              <a:t>4</a:t>
            </a:r>
            <a:r>
              <a:rPr dirty="0" sz="2800" spc="10">
                <a:latin typeface="Cambria Math"/>
                <a:cs typeface="Cambria Math"/>
              </a:rPr>
              <a:t>,</a:t>
            </a:r>
            <a:r>
              <a:rPr dirty="0" sz="2800" spc="-145">
                <a:latin typeface="Cambria Math"/>
                <a:cs typeface="Cambria Math"/>
              </a:rPr>
              <a:t> </a:t>
            </a:r>
            <a:r>
              <a:rPr dirty="0" sz="2800" spc="-160">
                <a:latin typeface="Cambria Math"/>
                <a:cs typeface="Cambria Math"/>
              </a:rPr>
              <a:t>𝐺</a:t>
            </a:r>
            <a:r>
              <a:rPr dirty="0" baseline="-16666" sz="3000" spc="-240">
                <a:latin typeface="Cambria Math"/>
                <a:cs typeface="Cambria Math"/>
              </a:rPr>
              <a:t>5	</a:t>
            </a:r>
            <a:r>
              <a:rPr dirty="0" sz="2800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  <a:p>
            <a:pPr lvl="1" marL="570865" marR="5080" indent="-228600">
              <a:lnSpc>
                <a:spcPct val="90400"/>
              </a:lnSpc>
              <a:spcBef>
                <a:spcPts val="695"/>
              </a:spcBef>
              <a:buClr>
                <a:srgbClr val="E66C7D"/>
              </a:buClr>
              <a:buFont typeface="Malgun Gothic"/>
              <a:buChar char="▪"/>
              <a:tabLst>
                <a:tab pos="570865" algn="l"/>
              </a:tabLst>
            </a:pPr>
            <a:r>
              <a:rPr dirty="0" sz="2400" spc="-20">
                <a:latin typeface="Calibri"/>
                <a:cs typeface="Calibri"/>
              </a:rPr>
              <a:t>Max-margin </a:t>
            </a:r>
            <a:r>
              <a:rPr dirty="0" sz="2400" spc="-5">
                <a:latin typeface="Calibri"/>
                <a:cs typeface="Calibri"/>
              </a:rPr>
              <a:t>loss </a:t>
            </a:r>
            <a:r>
              <a:rPr dirty="0" sz="2400" spc="-15">
                <a:latin typeface="Calibri"/>
                <a:cs typeface="Calibri"/>
              </a:rPr>
              <a:t>prevents </a:t>
            </a:r>
            <a:r>
              <a:rPr dirty="0" sz="2400" spc="-5">
                <a:latin typeface="Calibri"/>
                <a:cs typeface="Calibri"/>
              </a:rPr>
              <a:t>the model </a:t>
            </a:r>
            <a:r>
              <a:rPr dirty="0" sz="2400" spc="-15">
                <a:latin typeface="Calibri"/>
                <a:cs typeface="Calibri"/>
              </a:rPr>
              <a:t>from </a:t>
            </a:r>
            <a:r>
              <a:rPr dirty="0" sz="2400" spc="-5">
                <a:latin typeface="Calibri"/>
                <a:cs typeface="Calibri"/>
              </a:rPr>
              <a:t>learning the  </a:t>
            </a:r>
            <a:r>
              <a:rPr dirty="0" sz="2400" spc="-15">
                <a:latin typeface="Calibri"/>
                <a:cs typeface="Calibri"/>
              </a:rPr>
              <a:t>degenerate </a:t>
            </a:r>
            <a:r>
              <a:rPr dirty="0" sz="2400" spc="-20">
                <a:latin typeface="Calibri"/>
                <a:cs typeface="Calibri"/>
              </a:rPr>
              <a:t>strategy </a:t>
            </a:r>
            <a:r>
              <a:rPr dirty="0" sz="2400" spc="-5">
                <a:latin typeface="Calibri"/>
                <a:cs typeface="Calibri"/>
              </a:rPr>
              <a:t>of moving embeddings further </a:t>
            </a:r>
            <a:r>
              <a:rPr dirty="0" sz="2400">
                <a:latin typeface="Calibri"/>
                <a:cs typeface="Calibri"/>
              </a:rPr>
              <a:t>and  </a:t>
            </a:r>
            <a:r>
              <a:rPr dirty="0" sz="2400" spc="-5">
                <a:latin typeface="Calibri"/>
                <a:cs typeface="Calibri"/>
              </a:rPr>
              <a:t>further </a:t>
            </a:r>
            <a:r>
              <a:rPr dirty="0" sz="2400">
                <a:latin typeface="Calibri"/>
                <a:cs typeface="Calibri"/>
              </a:rPr>
              <a:t>apart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forever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45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753770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5244" y="1272539"/>
            <a:ext cx="7750175" cy="955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000" spc="-5"/>
              <a:t>Need </a:t>
            </a:r>
            <a:r>
              <a:rPr dirty="0" sz="2000" spc="-10"/>
              <a:t>to </a:t>
            </a:r>
            <a:r>
              <a:rPr dirty="0" sz="2000" spc="-15"/>
              <a:t>generate </a:t>
            </a:r>
            <a:r>
              <a:rPr dirty="0" sz="2000" spc="-10"/>
              <a:t>training </a:t>
            </a:r>
            <a:r>
              <a:rPr dirty="0" sz="2000" spc="-5"/>
              <a:t>queries </a:t>
            </a:r>
            <a:r>
              <a:rPr dirty="0" sz="2000" spc="105">
                <a:latin typeface="Cambria Math"/>
                <a:cs typeface="Cambria Math"/>
              </a:rPr>
              <a:t>𝐺</a:t>
            </a:r>
            <a:r>
              <a:rPr dirty="0" baseline="-14814" sz="2250" spc="157">
                <a:latin typeface="Cambria Math"/>
                <a:cs typeface="Cambria Math"/>
              </a:rPr>
              <a:t>$ </a:t>
            </a:r>
            <a:r>
              <a:rPr dirty="0" sz="2000" spc="-5"/>
              <a:t>and </a:t>
            </a:r>
            <a:r>
              <a:rPr dirty="0" sz="2000" spc="-15"/>
              <a:t>targets </a:t>
            </a:r>
            <a:r>
              <a:rPr dirty="0" sz="2000" spc="-204">
                <a:latin typeface="Cambria Math"/>
                <a:cs typeface="Cambria Math"/>
              </a:rPr>
              <a:t>𝐺</a:t>
            </a:r>
            <a:r>
              <a:rPr dirty="0" baseline="-14814" sz="2250" spc="-307">
                <a:latin typeface="Cambria Math"/>
                <a:cs typeface="Cambria Math"/>
              </a:rPr>
              <a:t>%   </a:t>
            </a:r>
            <a:r>
              <a:rPr dirty="0" sz="2000" spc="-10"/>
              <a:t>from </a:t>
            </a:r>
            <a:r>
              <a:rPr dirty="0" sz="2000" spc="-5"/>
              <a:t>the </a:t>
            </a:r>
            <a:r>
              <a:rPr dirty="0" sz="2000" spc="-10"/>
              <a:t>dataset</a:t>
            </a:r>
            <a:r>
              <a:rPr dirty="0" sz="2000" spc="150"/>
              <a:t> </a:t>
            </a:r>
            <a:r>
              <a:rPr dirty="0" sz="2000">
                <a:latin typeface="Cambria Math"/>
                <a:cs typeface="Cambria Math"/>
              </a:rPr>
              <a:t>𝐺</a:t>
            </a:r>
            <a:endParaRPr sz="2000">
              <a:latin typeface="Cambria Math"/>
              <a:cs typeface="Cambria Math"/>
            </a:endParaRPr>
          </a:p>
          <a:p>
            <a:pPr marL="332740" marR="82550" indent="-320040">
              <a:lnSpc>
                <a:spcPct val="100000"/>
              </a:lnSpc>
              <a:spcBef>
                <a:spcPts val="12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000" spc="-5"/>
              <a:t>Get </a:t>
            </a:r>
            <a:r>
              <a:rPr dirty="0" sz="2000" spc="-204">
                <a:latin typeface="Cambria Math"/>
                <a:cs typeface="Cambria Math"/>
              </a:rPr>
              <a:t>𝐺</a:t>
            </a:r>
            <a:r>
              <a:rPr dirty="0" baseline="-14814" sz="2250" spc="-307">
                <a:latin typeface="Cambria Math"/>
                <a:cs typeface="Cambria Math"/>
              </a:rPr>
              <a:t>% </a:t>
            </a:r>
            <a:r>
              <a:rPr dirty="0" sz="2000" spc="-10"/>
              <a:t>by </a:t>
            </a:r>
            <a:r>
              <a:rPr dirty="0" sz="2000" spc="-5"/>
              <a:t>choosing </a:t>
            </a:r>
            <a:r>
              <a:rPr dirty="0" sz="2000"/>
              <a:t>a </a:t>
            </a:r>
            <a:r>
              <a:rPr dirty="0" sz="2000" spc="-10"/>
              <a:t>random </a:t>
            </a:r>
            <a:r>
              <a:rPr dirty="0" sz="2000" spc="-5"/>
              <a:t>anchor </a:t>
            </a:r>
            <a:r>
              <a:rPr dirty="0" sz="2000">
                <a:latin typeface="Cambria Math"/>
                <a:cs typeface="Cambria Math"/>
              </a:rPr>
              <a:t>𝑣 </a:t>
            </a:r>
            <a:r>
              <a:rPr dirty="0" sz="2000" spc="-5"/>
              <a:t>and taking </a:t>
            </a:r>
            <a:r>
              <a:rPr dirty="0" sz="2000"/>
              <a:t>all </a:t>
            </a:r>
            <a:r>
              <a:rPr dirty="0" sz="2000" spc="-5"/>
              <a:t>nodes </a:t>
            </a:r>
            <a:r>
              <a:rPr dirty="0" sz="2000"/>
              <a:t>in </a:t>
            </a:r>
            <a:r>
              <a:rPr dirty="0" sz="2000">
                <a:latin typeface="Cambria Math"/>
                <a:cs typeface="Cambria Math"/>
              </a:rPr>
              <a:t>𝐺 </a:t>
            </a:r>
            <a:r>
              <a:rPr dirty="0" sz="2000" spc="-5"/>
              <a:t>within  </a:t>
            </a:r>
            <a:r>
              <a:rPr dirty="0" sz="2000" spc="-10"/>
              <a:t>distance </a:t>
            </a:r>
            <a:r>
              <a:rPr dirty="0" sz="2000">
                <a:latin typeface="Cambria Math"/>
                <a:cs typeface="Cambria Math"/>
              </a:rPr>
              <a:t>𝐾 </a:t>
            </a:r>
            <a:r>
              <a:rPr dirty="0" sz="2000" spc="-10"/>
              <a:t>from </a:t>
            </a:r>
            <a:r>
              <a:rPr dirty="0" sz="2000">
                <a:latin typeface="Cambria Math"/>
                <a:cs typeface="Cambria Math"/>
              </a:rPr>
              <a:t>𝑣 </a:t>
            </a:r>
            <a:r>
              <a:rPr dirty="0" sz="2000" spc="-10"/>
              <a:t>to </a:t>
            </a:r>
            <a:r>
              <a:rPr dirty="0" sz="2000" spc="-5"/>
              <a:t>be </a:t>
            </a:r>
            <a:r>
              <a:rPr dirty="0" sz="2000"/>
              <a:t>in</a:t>
            </a:r>
            <a:r>
              <a:rPr dirty="0" sz="2000" spc="105"/>
              <a:t> </a:t>
            </a:r>
            <a:r>
              <a:rPr dirty="0" sz="2000" spc="-204">
                <a:latin typeface="Cambria Math"/>
                <a:cs typeface="Cambria Math"/>
              </a:rPr>
              <a:t>𝐺</a:t>
            </a:r>
            <a:r>
              <a:rPr dirty="0" baseline="-14814" sz="2250" spc="-307">
                <a:latin typeface="Cambria Math"/>
                <a:cs typeface="Cambria Math"/>
              </a:rPr>
              <a:t>%</a:t>
            </a:r>
            <a:endParaRPr baseline="-14814" sz="225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22199" y="2670663"/>
            <a:ext cx="318770" cy="236854"/>
          </a:xfrm>
          <a:custGeom>
            <a:avLst/>
            <a:gdLst/>
            <a:ahLst/>
            <a:cxnLst/>
            <a:rect l="l" t="t" r="r" b="b"/>
            <a:pathLst>
              <a:path w="318769" h="236855">
                <a:moveTo>
                  <a:pt x="242787" y="0"/>
                </a:moveTo>
                <a:lnTo>
                  <a:pt x="239562" y="0"/>
                </a:lnTo>
                <a:lnTo>
                  <a:pt x="239562" y="9424"/>
                </a:lnTo>
                <a:lnTo>
                  <a:pt x="241421" y="9424"/>
                </a:lnTo>
                <a:lnTo>
                  <a:pt x="249925" y="10009"/>
                </a:lnTo>
                <a:lnTo>
                  <a:pt x="279109" y="39706"/>
                </a:lnTo>
                <a:lnTo>
                  <a:pt x="279745" y="49733"/>
                </a:lnTo>
                <a:lnTo>
                  <a:pt x="279745" y="55520"/>
                </a:lnTo>
                <a:lnTo>
                  <a:pt x="278918" y="62673"/>
                </a:lnTo>
                <a:lnTo>
                  <a:pt x="275611" y="79705"/>
                </a:lnTo>
                <a:lnTo>
                  <a:pt x="274784" y="85782"/>
                </a:lnTo>
                <a:lnTo>
                  <a:pt x="274784" y="96448"/>
                </a:lnTo>
                <a:lnTo>
                  <a:pt x="276852" y="102215"/>
                </a:lnTo>
                <a:lnTo>
                  <a:pt x="285120" y="111227"/>
                </a:lnTo>
                <a:lnTo>
                  <a:pt x="290040" y="114555"/>
                </a:lnTo>
                <a:lnTo>
                  <a:pt x="295744" y="116705"/>
                </a:lnTo>
                <a:lnTo>
                  <a:pt x="295744" y="118938"/>
                </a:lnTo>
                <a:lnTo>
                  <a:pt x="290040" y="121088"/>
                </a:lnTo>
                <a:lnTo>
                  <a:pt x="285120" y="124415"/>
                </a:lnTo>
                <a:lnTo>
                  <a:pt x="276852" y="133427"/>
                </a:lnTo>
                <a:lnTo>
                  <a:pt x="274784" y="139194"/>
                </a:lnTo>
                <a:lnTo>
                  <a:pt x="274784" y="149861"/>
                </a:lnTo>
                <a:lnTo>
                  <a:pt x="275611" y="155938"/>
                </a:lnTo>
                <a:lnTo>
                  <a:pt x="278918" y="172971"/>
                </a:lnTo>
                <a:lnTo>
                  <a:pt x="279745" y="180122"/>
                </a:lnTo>
                <a:lnTo>
                  <a:pt x="279745" y="185910"/>
                </a:lnTo>
                <a:lnTo>
                  <a:pt x="279109" y="196316"/>
                </a:lnTo>
                <a:lnTo>
                  <a:pt x="249925" y="226501"/>
                </a:lnTo>
                <a:lnTo>
                  <a:pt x="241421" y="227086"/>
                </a:lnTo>
                <a:lnTo>
                  <a:pt x="239562" y="227086"/>
                </a:lnTo>
                <a:lnTo>
                  <a:pt x="239562" y="236512"/>
                </a:lnTo>
                <a:lnTo>
                  <a:pt x="242787" y="236512"/>
                </a:lnTo>
                <a:lnTo>
                  <a:pt x="256441" y="235492"/>
                </a:lnTo>
                <a:lnTo>
                  <a:pt x="292702" y="215897"/>
                </a:lnTo>
                <a:lnTo>
                  <a:pt x="300829" y="183678"/>
                </a:lnTo>
                <a:lnTo>
                  <a:pt x="300829" y="176815"/>
                </a:lnTo>
                <a:lnTo>
                  <a:pt x="299858" y="169002"/>
                </a:lnTo>
                <a:lnTo>
                  <a:pt x="295972" y="151472"/>
                </a:lnTo>
                <a:lnTo>
                  <a:pt x="295000" y="145602"/>
                </a:lnTo>
                <a:lnTo>
                  <a:pt x="295000" y="136921"/>
                </a:lnTo>
                <a:lnTo>
                  <a:pt x="296964" y="132270"/>
                </a:lnTo>
                <a:lnTo>
                  <a:pt x="304819" y="125077"/>
                </a:lnTo>
                <a:lnTo>
                  <a:pt x="310751" y="123154"/>
                </a:lnTo>
                <a:lnTo>
                  <a:pt x="318688" y="122906"/>
                </a:lnTo>
                <a:lnTo>
                  <a:pt x="318688" y="112736"/>
                </a:lnTo>
                <a:lnTo>
                  <a:pt x="310751" y="112488"/>
                </a:lnTo>
                <a:lnTo>
                  <a:pt x="304819" y="110566"/>
                </a:lnTo>
                <a:lnTo>
                  <a:pt x="296964" y="103372"/>
                </a:lnTo>
                <a:lnTo>
                  <a:pt x="295000" y="98722"/>
                </a:lnTo>
                <a:lnTo>
                  <a:pt x="295000" y="90040"/>
                </a:lnTo>
                <a:lnTo>
                  <a:pt x="295972" y="84170"/>
                </a:lnTo>
                <a:lnTo>
                  <a:pt x="299858" y="66641"/>
                </a:lnTo>
                <a:lnTo>
                  <a:pt x="300829" y="58827"/>
                </a:lnTo>
                <a:lnTo>
                  <a:pt x="300829" y="51965"/>
                </a:lnTo>
                <a:lnTo>
                  <a:pt x="299926" y="39877"/>
                </a:lnTo>
                <a:lnTo>
                  <a:pt x="278238" y="7685"/>
                </a:lnTo>
                <a:lnTo>
                  <a:pt x="256441" y="1018"/>
                </a:lnTo>
                <a:lnTo>
                  <a:pt x="242787" y="0"/>
                </a:lnTo>
                <a:close/>
              </a:path>
              <a:path w="318769" h="236855">
                <a:moveTo>
                  <a:pt x="79126" y="0"/>
                </a:moveTo>
                <a:lnTo>
                  <a:pt x="75901" y="0"/>
                </a:lnTo>
                <a:lnTo>
                  <a:pt x="62247" y="1018"/>
                </a:lnTo>
                <a:lnTo>
                  <a:pt x="25986" y="20552"/>
                </a:lnTo>
                <a:lnTo>
                  <a:pt x="17858" y="51841"/>
                </a:lnTo>
                <a:lnTo>
                  <a:pt x="17858" y="58704"/>
                </a:lnTo>
                <a:lnTo>
                  <a:pt x="18830" y="66517"/>
                </a:lnTo>
                <a:lnTo>
                  <a:pt x="22716" y="84046"/>
                </a:lnTo>
                <a:lnTo>
                  <a:pt x="23688" y="89915"/>
                </a:lnTo>
                <a:lnTo>
                  <a:pt x="23688" y="98597"/>
                </a:lnTo>
                <a:lnTo>
                  <a:pt x="21724" y="103248"/>
                </a:lnTo>
                <a:lnTo>
                  <a:pt x="13869" y="110443"/>
                </a:lnTo>
                <a:lnTo>
                  <a:pt x="7937" y="112364"/>
                </a:lnTo>
                <a:lnTo>
                  <a:pt x="0" y="112612"/>
                </a:lnTo>
                <a:lnTo>
                  <a:pt x="0" y="122782"/>
                </a:lnTo>
                <a:lnTo>
                  <a:pt x="7937" y="123031"/>
                </a:lnTo>
                <a:lnTo>
                  <a:pt x="13869" y="124952"/>
                </a:lnTo>
                <a:lnTo>
                  <a:pt x="21724" y="132146"/>
                </a:lnTo>
                <a:lnTo>
                  <a:pt x="23688" y="136796"/>
                </a:lnTo>
                <a:lnTo>
                  <a:pt x="23688" y="145478"/>
                </a:lnTo>
                <a:lnTo>
                  <a:pt x="22716" y="151349"/>
                </a:lnTo>
                <a:lnTo>
                  <a:pt x="18830" y="168878"/>
                </a:lnTo>
                <a:lnTo>
                  <a:pt x="17858" y="176691"/>
                </a:lnTo>
                <a:lnTo>
                  <a:pt x="17858" y="183554"/>
                </a:lnTo>
                <a:lnTo>
                  <a:pt x="18761" y="196076"/>
                </a:lnTo>
                <a:lnTo>
                  <a:pt x="40450" y="228826"/>
                </a:lnTo>
                <a:lnTo>
                  <a:pt x="75901" y="236512"/>
                </a:lnTo>
                <a:lnTo>
                  <a:pt x="79126" y="236512"/>
                </a:lnTo>
                <a:lnTo>
                  <a:pt x="79126" y="227086"/>
                </a:lnTo>
                <a:lnTo>
                  <a:pt x="77265" y="227086"/>
                </a:lnTo>
                <a:lnTo>
                  <a:pt x="68762" y="226501"/>
                </a:lnTo>
                <a:lnTo>
                  <a:pt x="39578" y="196247"/>
                </a:lnTo>
                <a:lnTo>
                  <a:pt x="38943" y="185787"/>
                </a:lnTo>
                <a:lnTo>
                  <a:pt x="38943" y="179998"/>
                </a:lnTo>
                <a:lnTo>
                  <a:pt x="39770" y="172847"/>
                </a:lnTo>
                <a:lnTo>
                  <a:pt x="43077" y="155813"/>
                </a:lnTo>
                <a:lnTo>
                  <a:pt x="43903" y="149736"/>
                </a:lnTo>
                <a:lnTo>
                  <a:pt x="43903" y="139071"/>
                </a:lnTo>
                <a:lnTo>
                  <a:pt x="41836" y="133304"/>
                </a:lnTo>
                <a:lnTo>
                  <a:pt x="33568" y="124291"/>
                </a:lnTo>
                <a:lnTo>
                  <a:pt x="28648" y="120963"/>
                </a:lnTo>
                <a:lnTo>
                  <a:pt x="22943" y="118813"/>
                </a:lnTo>
                <a:lnTo>
                  <a:pt x="22943" y="116580"/>
                </a:lnTo>
                <a:lnTo>
                  <a:pt x="28648" y="114432"/>
                </a:lnTo>
                <a:lnTo>
                  <a:pt x="33568" y="111103"/>
                </a:lnTo>
                <a:lnTo>
                  <a:pt x="41836" y="102091"/>
                </a:lnTo>
                <a:lnTo>
                  <a:pt x="43903" y="96324"/>
                </a:lnTo>
                <a:lnTo>
                  <a:pt x="43903" y="85658"/>
                </a:lnTo>
                <a:lnTo>
                  <a:pt x="43077" y="79580"/>
                </a:lnTo>
                <a:lnTo>
                  <a:pt x="39770" y="62548"/>
                </a:lnTo>
                <a:lnTo>
                  <a:pt x="38943" y="55396"/>
                </a:lnTo>
                <a:lnTo>
                  <a:pt x="38943" y="49608"/>
                </a:lnTo>
                <a:lnTo>
                  <a:pt x="39578" y="39636"/>
                </a:lnTo>
                <a:lnTo>
                  <a:pt x="68762" y="10009"/>
                </a:lnTo>
                <a:lnTo>
                  <a:pt x="77265" y="9424"/>
                </a:lnTo>
                <a:lnTo>
                  <a:pt x="79126" y="9424"/>
                </a:lnTo>
                <a:lnTo>
                  <a:pt x="791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71678" y="3344386"/>
            <a:ext cx="306705" cy="235585"/>
          </a:xfrm>
          <a:custGeom>
            <a:avLst/>
            <a:gdLst/>
            <a:ahLst/>
            <a:cxnLst/>
            <a:rect l="l" t="t" r="r" b="b"/>
            <a:pathLst>
              <a:path w="306704" h="235585">
                <a:moveTo>
                  <a:pt x="231038" y="0"/>
                </a:moveTo>
                <a:lnTo>
                  <a:pt x="227689" y="9550"/>
                </a:lnTo>
                <a:lnTo>
                  <a:pt x="241309" y="15460"/>
                </a:lnTo>
                <a:lnTo>
                  <a:pt x="253021" y="23642"/>
                </a:lnTo>
                <a:lnTo>
                  <a:pt x="276802" y="61565"/>
                </a:lnTo>
                <a:lnTo>
                  <a:pt x="284615" y="116457"/>
                </a:lnTo>
                <a:lnTo>
                  <a:pt x="283743" y="137208"/>
                </a:lnTo>
                <a:lnTo>
                  <a:pt x="270663" y="188019"/>
                </a:lnTo>
                <a:lnTo>
                  <a:pt x="241467" y="219785"/>
                </a:lnTo>
                <a:lnTo>
                  <a:pt x="228061" y="225723"/>
                </a:lnTo>
                <a:lnTo>
                  <a:pt x="231038" y="235272"/>
                </a:lnTo>
                <a:lnTo>
                  <a:pt x="275989" y="208564"/>
                </a:lnTo>
                <a:lnTo>
                  <a:pt x="301235" y="159261"/>
                </a:lnTo>
                <a:lnTo>
                  <a:pt x="306072" y="117698"/>
                </a:lnTo>
                <a:lnTo>
                  <a:pt x="304859" y="96129"/>
                </a:lnTo>
                <a:lnTo>
                  <a:pt x="295154" y="57899"/>
                </a:lnTo>
                <a:lnTo>
                  <a:pt x="263051" y="15084"/>
                </a:lnTo>
                <a:lnTo>
                  <a:pt x="248095" y="6158"/>
                </a:lnTo>
                <a:lnTo>
                  <a:pt x="231038" y="0"/>
                </a:lnTo>
                <a:close/>
              </a:path>
              <a:path w="306704" h="235585">
                <a:moveTo>
                  <a:pt x="75034" y="0"/>
                </a:moveTo>
                <a:lnTo>
                  <a:pt x="30165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3"/>
                </a:lnTo>
                <a:lnTo>
                  <a:pt x="64604" y="219785"/>
                </a:lnTo>
                <a:lnTo>
                  <a:pt x="53035" y="211522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60"/>
                </a:lnTo>
                <a:lnTo>
                  <a:pt x="78383" y="9550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587503" y="3649186"/>
            <a:ext cx="306705" cy="235585"/>
          </a:xfrm>
          <a:custGeom>
            <a:avLst/>
            <a:gdLst/>
            <a:ahLst/>
            <a:cxnLst/>
            <a:rect l="l" t="t" r="r" b="b"/>
            <a:pathLst>
              <a:path w="306705" h="235585">
                <a:moveTo>
                  <a:pt x="231038" y="0"/>
                </a:moveTo>
                <a:lnTo>
                  <a:pt x="227689" y="9550"/>
                </a:lnTo>
                <a:lnTo>
                  <a:pt x="241309" y="15460"/>
                </a:lnTo>
                <a:lnTo>
                  <a:pt x="253021" y="23642"/>
                </a:lnTo>
                <a:lnTo>
                  <a:pt x="276802" y="61565"/>
                </a:lnTo>
                <a:lnTo>
                  <a:pt x="284615" y="116457"/>
                </a:lnTo>
                <a:lnTo>
                  <a:pt x="283743" y="137208"/>
                </a:lnTo>
                <a:lnTo>
                  <a:pt x="270663" y="188019"/>
                </a:lnTo>
                <a:lnTo>
                  <a:pt x="241467" y="219784"/>
                </a:lnTo>
                <a:lnTo>
                  <a:pt x="228061" y="225722"/>
                </a:lnTo>
                <a:lnTo>
                  <a:pt x="231038" y="235272"/>
                </a:lnTo>
                <a:lnTo>
                  <a:pt x="275989" y="208564"/>
                </a:lnTo>
                <a:lnTo>
                  <a:pt x="301235" y="159261"/>
                </a:lnTo>
                <a:lnTo>
                  <a:pt x="306072" y="117698"/>
                </a:lnTo>
                <a:lnTo>
                  <a:pt x="304859" y="96129"/>
                </a:lnTo>
                <a:lnTo>
                  <a:pt x="295154" y="57899"/>
                </a:lnTo>
                <a:lnTo>
                  <a:pt x="263051" y="15084"/>
                </a:lnTo>
                <a:lnTo>
                  <a:pt x="248095" y="6158"/>
                </a:lnTo>
                <a:lnTo>
                  <a:pt x="231038" y="0"/>
                </a:lnTo>
                <a:close/>
              </a:path>
              <a:path w="306705" h="235585">
                <a:moveTo>
                  <a:pt x="75034" y="0"/>
                </a:moveTo>
                <a:lnTo>
                  <a:pt x="30165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60"/>
                </a:lnTo>
                <a:lnTo>
                  <a:pt x="78383" y="9550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05186" y="4964534"/>
            <a:ext cx="3813117" cy="1581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2262" y="5690894"/>
            <a:ext cx="109220" cy="103505"/>
          </a:xfrm>
          <a:custGeom>
            <a:avLst/>
            <a:gdLst/>
            <a:ahLst/>
            <a:cxnLst/>
            <a:rect l="l" t="t" r="r" b="b"/>
            <a:pathLst>
              <a:path w="109220" h="103504">
                <a:moveTo>
                  <a:pt x="54428" y="0"/>
                </a:moveTo>
                <a:lnTo>
                  <a:pt x="33242" y="4063"/>
                </a:lnTo>
                <a:lnTo>
                  <a:pt x="15941" y="15144"/>
                </a:lnTo>
                <a:lnTo>
                  <a:pt x="4277" y="31580"/>
                </a:lnTo>
                <a:lnTo>
                  <a:pt x="0" y="51707"/>
                </a:lnTo>
                <a:lnTo>
                  <a:pt x="4277" y="71834"/>
                </a:lnTo>
                <a:lnTo>
                  <a:pt x="15941" y="88270"/>
                </a:lnTo>
                <a:lnTo>
                  <a:pt x="33242" y="99351"/>
                </a:lnTo>
                <a:lnTo>
                  <a:pt x="54428" y="103415"/>
                </a:lnTo>
                <a:lnTo>
                  <a:pt x="75614" y="99351"/>
                </a:lnTo>
                <a:lnTo>
                  <a:pt x="92915" y="88270"/>
                </a:lnTo>
                <a:lnTo>
                  <a:pt x="104579" y="71834"/>
                </a:lnTo>
                <a:lnTo>
                  <a:pt x="108857" y="51707"/>
                </a:lnTo>
                <a:lnTo>
                  <a:pt x="104579" y="31580"/>
                </a:lnTo>
                <a:lnTo>
                  <a:pt x="92915" y="15144"/>
                </a:lnTo>
                <a:lnTo>
                  <a:pt x="75614" y="4063"/>
                </a:lnTo>
                <a:lnTo>
                  <a:pt x="5442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8218" y="5666858"/>
            <a:ext cx="157480" cy="151765"/>
          </a:xfrm>
          <a:custGeom>
            <a:avLst/>
            <a:gdLst/>
            <a:ahLst/>
            <a:cxnLst/>
            <a:rect l="l" t="t" r="r" b="b"/>
            <a:pathLst>
              <a:path w="157479" h="151764">
                <a:moveTo>
                  <a:pt x="79238" y="0"/>
                </a:moveTo>
                <a:lnTo>
                  <a:pt x="77707" y="0"/>
                </a:lnTo>
                <a:lnTo>
                  <a:pt x="63691" y="1342"/>
                </a:lnTo>
                <a:lnTo>
                  <a:pt x="23977" y="21235"/>
                </a:lnTo>
                <a:lnTo>
                  <a:pt x="1814" y="59468"/>
                </a:lnTo>
                <a:lnTo>
                  <a:pt x="0" y="74894"/>
                </a:lnTo>
                <a:lnTo>
                  <a:pt x="0" y="76593"/>
                </a:lnTo>
                <a:lnTo>
                  <a:pt x="13280" y="117923"/>
                </a:lnTo>
                <a:lnTo>
                  <a:pt x="47634" y="145413"/>
                </a:lnTo>
                <a:lnTo>
                  <a:pt x="77707" y="151487"/>
                </a:lnTo>
                <a:lnTo>
                  <a:pt x="79239" y="151487"/>
                </a:lnTo>
                <a:lnTo>
                  <a:pt x="121247" y="139259"/>
                </a:lnTo>
                <a:lnTo>
                  <a:pt x="139782" y="122629"/>
                </a:lnTo>
                <a:lnTo>
                  <a:pt x="78473" y="122629"/>
                </a:lnTo>
                <a:lnTo>
                  <a:pt x="68419" y="121666"/>
                </a:lnTo>
                <a:lnTo>
                  <a:pt x="32732" y="93914"/>
                </a:lnTo>
                <a:lnTo>
                  <a:pt x="28961" y="74894"/>
                </a:lnTo>
                <a:lnTo>
                  <a:pt x="29870" y="66332"/>
                </a:lnTo>
                <a:lnTo>
                  <a:pt x="59081" y="32574"/>
                </a:lnTo>
                <a:lnTo>
                  <a:pt x="78473" y="28858"/>
                </a:lnTo>
                <a:lnTo>
                  <a:pt x="139782" y="28858"/>
                </a:lnTo>
                <a:lnTo>
                  <a:pt x="134077" y="22289"/>
                </a:lnTo>
                <a:lnTo>
                  <a:pt x="94761" y="1633"/>
                </a:lnTo>
                <a:lnTo>
                  <a:pt x="93254" y="1342"/>
                </a:lnTo>
                <a:lnTo>
                  <a:pt x="79238" y="0"/>
                </a:lnTo>
                <a:close/>
              </a:path>
              <a:path w="157479" h="151764">
                <a:moveTo>
                  <a:pt x="139782" y="28858"/>
                </a:moveTo>
                <a:lnTo>
                  <a:pt x="78473" y="28858"/>
                </a:lnTo>
                <a:lnTo>
                  <a:pt x="88526" y="29821"/>
                </a:lnTo>
                <a:lnTo>
                  <a:pt x="97864" y="32574"/>
                </a:lnTo>
                <a:lnTo>
                  <a:pt x="127076" y="66332"/>
                </a:lnTo>
                <a:lnTo>
                  <a:pt x="127984" y="74894"/>
                </a:lnTo>
                <a:lnTo>
                  <a:pt x="127984" y="76593"/>
                </a:lnTo>
                <a:lnTo>
                  <a:pt x="106300" y="114562"/>
                </a:lnTo>
                <a:lnTo>
                  <a:pt x="78473" y="122629"/>
                </a:lnTo>
                <a:lnTo>
                  <a:pt x="139782" y="122629"/>
                </a:lnTo>
                <a:lnTo>
                  <a:pt x="156946" y="76593"/>
                </a:lnTo>
                <a:lnTo>
                  <a:pt x="156946" y="74894"/>
                </a:lnTo>
                <a:lnTo>
                  <a:pt x="143665" y="33564"/>
                </a:lnTo>
                <a:lnTo>
                  <a:pt x="142755" y="32281"/>
                </a:lnTo>
                <a:lnTo>
                  <a:pt x="139782" y="28858"/>
                </a:lnTo>
                <a:close/>
              </a:path>
              <a:path w="157479" h="151764">
                <a:moveTo>
                  <a:pt x="78473" y="38502"/>
                </a:moveTo>
                <a:lnTo>
                  <a:pt x="41553" y="61485"/>
                </a:lnTo>
                <a:lnTo>
                  <a:pt x="38615" y="74894"/>
                </a:lnTo>
                <a:lnTo>
                  <a:pt x="38615" y="76593"/>
                </a:lnTo>
                <a:lnTo>
                  <a:pt x="62671" y="109962"/>
                </a:lnTo>
                <a:lnTo>
                  <a:pt x="78473" y="112985"/>
                </a:lnTo>
                <a:lnTo>
                  <a:pt x="86694" y="112198"/>
                </a:lnTo>
                <a:lnTo>
                  <a:pt x="94274" y="109962"/>
                </a:lnTo>
                <a:lnTo>
                  <a:pt x="101093" y="106446"/>
                </a:lnTo>
                <a:lnTo>
                  <a:pt x="105054" y="103341"/>
                </a:lnTo>
                <a:lnTo>
                  <a:pt x="78473" y="103341"/>
                </a:lnTo>
                <a:lnTo>
                  <a:pt x="72083" y="102729"/>
                </a:lnTo>
                <a:lnTo>
                  <a:pt x="48269" y="74894"/>
                </a:lnTo>
                <a:lnTo>
                  <a:pt x="48749" y="70371"/>
                </a:lnTo>
                <a:lnTo>
                  <a:pt x="78473" y="48146"/>
                </a:lnTo>
                <a:lnTo>
                  <a:pt x="105054" y="48146"/>
                </a:lnTo>
                <a:lnTo>
                  <a:pt x="101093" y="45041"/>
                </a:lnTo>
                <a:lnTo>
                  <a:pt x="94274" y="41525"/>
                </a:lnTo>
                <a:lnTo>
                  <a:pt x="86694" y="39289"/>
                </a:lnTo>
                <a:lnTo>
                  <a:pt x="78473" y="38502"/>
                </a:lnTo>
                <a:close/>
              </a:path>
              <a:path w="157479" h="151764">
                <a:moveTo>
                  <a:pt x="105054" y="48146"/>
                </a:moveTo>
                <a:lnTo>
                  <a:pt x="78473" y="48146"/>
                </a:lnTo>
                <a:lnTo>
                  <a:pt x="84862" y="48758"/>
                </a:lnTo>
                <a:lnTo>
                  <a:pt x="90685" y="50475"/>
                </a:lnTo>
                <a:lnTo>
                  <a:pt x="108676" y="74894"/>
                </a:lnTo>
                <a:lnTo>
                  <a:pt x="108676" y="76593"/>
                </a:lnTo>
                <a:lnTo>
                  <a:pt x="78473" y="103341"/>
                </a:lnTo>
                <a:lnTo>
                  <a:pt x="105054" y="103341"/>
                </a:lnTo>
                <a:lnTo>
                  <a:pt x="118330" y="74894"/>
                </a:lnTo>
                <a:lnTo>
                  <a:pt x="117636" y="68352"/>
                </a:lnTo>
                <a:lnTo>
                  <a:pt x="115392" y="61485"/>
                </a:lnTo>
                <a:lnTo>
                  <a:pt x="111805" y="55206"/>
                </a:lnTo>
                <a:lnTo>
                  <a:pt x="106941" y="49624"/>
                </a:lnTo>
                <a:lnTo>
                  <a:pt x="105054" y="4814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55990" y="2138171"/>
            <a:ext cx="8161655" cy="373634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771525" indent="-320040">
              <a:lnSpc>
                <a:spcPct val="100000"/>
              </a:lnSpc>
              <a:spcBef>
                <a:spcPts val="7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771525" algn="l"/>
                <a:tab pos="772160" algn="l"/>
              </a:tabLst>
            </a:pPr>
            <a:r>
              <a:rPr dirty="0" sz="2000">
                <a:latin typeface="Calibri"/>
                <a:cs typeface="Calibri"/>
              </a:rPr>
              <a:t>Use </a:t>
            </a:r>
            <a:r>
              <a:rPr dirty="0" sz="2000" spc="-15" b="1">
                <a:latin typeface="Calibri"/>
                <a:cs typeface="Calibri"/>
              </a:rPr>
              <a:t>BFS </a:t>
            </a:r>
            <a:r>
              <a:rPr dirty="0" sz="2000" spc="-5" b="1">
                <a:latin typeface="Calibri"/>
                <a:cs typeface="Calibri"/>
              </a:rPr>
              <a:t>sampling </a:t>
            </a:r>
            <a:r>
              <a:rPr dirty="0" sz="2000" spc="-10">
                <a:latin typeface="Calibri"/>
                <a:cs typeface="Calibri"/>
              </a:rPr>
              <a:t>to get </a:t>
            </a:r>
            <a:r>
              <a:rPr dirty="0" sz="2000" spc="90">
                <a:latin typeface="Cambria Math"/>
                <a:cs typeface="Cambria Math"/>
              </a:rPr>
              <a:t>𝐺</a:t>
            </a:r>
            <a:r>
              <a:rPr dirty="0" baseline="-14814" sz="2250" spc="135">
                <a:latin typeface="Cambria Math"/>
                <a:cs typeface="Cambria Math"/>
              </a:rPr>
              <a:t>$</a:t>
            </a:r>
            <a:r>
              <a:rPr dirty="0" sz="2000" spc="90" b="1">
                <a:latin typeface="Calibri"/>
                <a:cs typeface="Calibri"/>
              </a:rPr>
              <a:t>. </a:t>
            </a:r>
            <a:r>
              <a:rPr dirty="0" sz="2000" spc="-5">
                <a:latin typeface="Calibri"/>
                <a:cs typeface="Calibri"/>
              </a:rPr>
              <a:t>Sample induced </a:t>
            </a:r>
            <a:r>
              <a:rPr dirty="0" sz="2000" spc="-10">
                <a:latin typeface="Calibri"/>
                <a:cs typeface="Calibri"/>
              </a:rPr>
              <a:t>subgraph </a:t>
            </a:r>
            <a:r>
              <a:rPr dirty="0" sz="2000" spc="-5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10">
                <a:latin typeface="Cambria Math"/>
                <a:cs typeface="Cambria Math"/>
              </a:rPr>
              <a:t>𝐺</a:t>
            </a:r>
            <a:r>
              <a:rPr dirty="0" baseline="-14814" sz="2250" spc="-165">
                <a:latin typeface="Cambria Math"/>
                <a:cs typeface="Cambria Math"/>
              </a:rPr>
              <a:t>%</a:t>
            </a:r>
            <a:r>
              <a:rPr dirty="0" sz="2000" spc="-110">
                <a:latin typeface="Cambria Math"/>
                <a:cs typeface="Cambria Math"/>
              </a:rPr>
              <a:t>:</a:t>
            </a:r>
            <a:endParaRPr sz="2000">
              <a:latin typeface="Cambria Math"/>
              <a:cs typeface="Cambria Math"/>
            </a:endParaRPr>
          </a:p>
          <a:p>
            <a:pPr lvl="1" marL="1064260" indent="-274320">
              <a:lnSpc>
                <a:spcPct val="100000"/>
              </a:lnSpc>
              <a:spcBef>
                <a:spcPts val="600"/>
              </a:spcBef>
              <a:buClr>
                <a:srgbClr val="60B5CC"/>
              </a:buClr>
              <a:buFont typeface="Malgun Gothic"/>
              <a:buChar char="▪"/>
              <a:tabLst>
                <a:tab pos="1064260" algn="l"/>
                <a:tab pos="1064895" algn="l"/>
                <a:tab pos="2552700" algn="l"/>
              </a:tabLst>
            </a:pPr>
            <a:r>
              <a:rPr dirty="0" sz="2000" spc="-10">
                <a:latin typeface="Calibri"/>
                <a:cs typeface="Calibri"/>
              </a:rPr>
              <a:t>Initialize</a:t>
            </a:r>
            <a:r>
              <a:rPr dirty="0" sz="2000" spc="0">
                <a:latin typeface="Calibri"/>
                <a:cs typeface="Calibri"/>
              </a:rPr>
              <a:t> </a:t>
            </a: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16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	𝑣  </a:t>
            </a:r>
            <a:r>
              <a:rPr dirty="0" sz="2000">
                <a:latin typeface="Calibri"/>
                <a:cs typeface="Calibri"/>
              </a:rPr>
              <a:t>,  </a:t>
            </a:r>
            <a:r>
              <a:rPr dirty="0" sz="2000">
                <a:latin typeface="Cambria Math"/>
                <a:cs typeface="Cambria Math"/>
              </a:rPr>
              <a:t>𝑉 =</a:t>
            </a:r>
            <a:r>
              <a:rPr dirty="0" sz="2000" spc="13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∅</a:t>
            </a:r>
            <a:endParaRPr sz="2000">
              <a:latin typeface="Cambria Math"/>
              <a:cs typeface="Cambria Math"/>
            </a:endParaRPr>
          </a:p>
          <a:p>
            <a:pPr lvl="1" marL="1064260" marR="5080" indent="-274320">
              <a:lnSpc>
                <a:spcPct val="100000"/>
              </a:lnSpc>
              <a:spcBef>
                <a:spcPts val="505"/>
              </a:spcBef>
              <a:buClr>
                <a:srgbClr val="60B5CC"/>
              </a:buClr>
              <a:buFont typeface="Malgun Gothic"/>
              <a:buChar char="▪"/>
              <a:tabLst>
                <a:tab pos="1064260" algn="l"/>
                <a:tab pos="1064895" algn="l"/>
                <a:tab pos="2616835" algn="l"/>
                <a:tab pos="3000375" algn="l"/>
              </a:tabLst>
            </a:pPr>
            <a:r>
              <a:rPr dirty="0" sz="2000" spc="-5">
                <a:latin typeface="Calibri"/>
                <a:cs typeface="Calibri"/>
              </a:rPr>
              <a:t>Let </a:t>
            </a:r>
            <a:r>
              <a:rPr dirty="0" sz="2000" spc="10">
                <a:latin typeface="Cambria Math"/>
                <a:cs typeface="Cambria Math"/>
              </a:rPr>
              <a:t>𝑁(𝑆) </a:t>
            </a:r>
            <a:r>
              <a:rPr dirty="0" sz="2000" spc="-5">
                <a:latin typeface="Calibri"/>
                <a:cs typeface="Calibri"/>
              </a:rPr>
              <a:t>be </a:t>
            </a:r>
            <a:r>
              <a:rPr dirty="0" sz="2000">
                <a:latin typeface="Calibri"/>
                <a:cs typeface="Calibri"/>
              </a:rPr>
              <a:t>all </a:t>
            </a:r>
            <a:r>
              <a:rPr dirty="0" sz="2000" spc="-10">
                <a:latin typeface="Calibri"/>
                <a:cs typeface="Calibri"/>
              </a:rPr>
              <a:t>neighbors </a:t>
            </a:r>
            <a:r>
              <a:rPr dirty="0" sz="2000" spc="-5">
                <a:latin typeface="Calibri"/>
                <a:cs typeface="Calibri"/>
              </a:rPr>
              <a:t>of nodes </a:t>
            </a:r>
            <a:r>
              <a:rPr dirty="0" sz="2000">
                <a:latin typeface="Calibri"/>
                <a:cs typeface="Calibri"/>
              </a:rPr>
              <a:t>in S. </a:t>
            </a:r>
            <a:r>
              <a:rPr dirty="0" sz="2000" spc="-25">
                <a:latin typeface="Calibri"/>
                <a:cs typeface="Calibri"/>
              </a:rPr>
              <a:t>At </a:t>
            </a:r>
            <a:r>
              <a:rPr dirty="0" sz="2000" spc="-10">
                <a:latin typeface="Calibri"/>
                <a:cs typeface="Calibri"/>
              </a:rPr>
              <a:t>every step, </a:t>
            </a:r>
            <a:r>
              <a:rPr dirty="0" sz="2000" spc="-5">
                <a:latin typeface="Calibri"/>
                <a:cs typeface="Calibri"/>
              </a:rPr>
              <a:t>sample 10% of  the nodes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mbria Math"/>
                <a:cs typeface="Cambria Math"/>
              </a:rPr>
              <a:t>𝑁  𝑆	∖ 𝑉 </a:t>
            </a:r>
            <a:r>
              <a:rPr dirty="0" sz="2000" spc="-5">
                <a:latin typeface="Calibri"/>
                <a:cs typeface="Calibri"/>
              </a:rPr>
              <a:t>and place them </a:t>
            </a:r>
            <a:r>
              <a:rPr dirty="0" sz="2000">
                <a:latin typeface="Calibri"/>
                <a:cs typeface="Calibri"/>
              </a:rPr>
              <a:t>in </a:t>
            </a:r>
            <a:r>
              <a:rPr dirty="0" sz="2000" spc="10">
                <a:latin typeface="Cambria Math"/>
                <a:cs typeface="Cambria Math"/>
              </a:rPr>
              <a:t>𝑆</a:t>
            </a:r>
            <a:r>
              <a:rPr dirty="0" sz="2000" spc="10">
                <a:latin typeface="Calibri"/>
                <a:cs typeface="Calibri"/>
              </a:rPr>
              <a:t>. </a:t>
            </a:r>
            <a:r>
              <a:rPr dirty="0" sz="2000">
                <a:latin typeface="Calibri"/>
                <a:cs typeface="Calibri"/>
              </a:rPr>
              <a:t>Place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the remaining  nodes of</a:t>
            </a:r>
            <a:r>
              <a:rPr dirty="0" sz="2000" spc="0">
                <a:latin typeface="Calibri"/>
                <a:cs typeface="Calibri"/>
              </a:rPr>
              <a:t> </a:t>
            </a:r>
            <a:r>
              <a:rPr dirty="0" sz="2000">
                <a:latin typeface="Cambria Math"/>
                <a:cs typeface="Cambria Math"/>
              </a:rPr>
              <a:t>𝑁</a:t>
            </a:r>
            <a:r>
              <a:rPr dirty="0" sz="2000" spc="43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𝑆	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 spc="25">
                <a:latin typeface="Cambria Math"/>
                <a:cs typeface="Cambria Math"/>
              </a:rPr>
              <a:t>𝑉</a:t>
            </a:r>
            <a:r>
              <a:rPr dirty="0" sz="2000" spc="25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lvl="1" marL="1064260" indent="-274320">
              <a:lnSpc>
                <a:spcPct val="100000"/>
              </a:lnSpc>
              <a:spcBef>
                <a:spcPts val="480"/>
              </a:spcBef>
              <a:buClr>
                <a:srgbClr val="60B5CC"/>
              </a:buClr>
              <a:buFont typeface="Malgun Gothic"/>
              <a:buChar char="▪"/>
              <a:tabLst>
                <a:tab pos="1064260" algn="l"/>
                <a:tab pos="1064895" algn="l"/>
              </a:tabLst>
            </a:pPr>
            <a:r>
              <a:rPr dirty="0" sz="2000" spc="-5">
                <a:latin typeface="Calibri"/>
                <a:cs typeface="Calibri"/>
              </a:rPr>
              <a:t>After </a:t>
            </a:r>
            <a:r>
              <a:rPr dirty="0" sz="2000">
                <a:latin typeface="Cambria Math"/>
                <a:cs typeface="Cambria Math"/>
              </a:rPr>
              <a:t>𝐾 </a:t>
            </a:r>
            <a:r>
              <a:rPr dirty="0" sz="2000" spc="-10">
                <a:latin typeface="Calibri"/>
                <a:cs typeface="Calibri"/>
              </a:rPr>
              <a:t>steps, </a:t>
            </a:r>
            <a:r>
              <a:rPr dirty="0" sz="2000" spc="-25">
                <a:latin typeface="Calibri"/>
                <a:cs typeface="Calibri"/>
              </a:rPr>
              <a:t>take </a:t>
            </a:r>
            <a:r>
              <a:rPr dirty="0" sz="2000" spc="-5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subgraph </a:t>
            </a:r>
            <a:r>
              <a:rPr dirty="0" sz="2000" spc="-5">
                <a:latin typeface="Calibri"/>
                <a:cs typeface="Calibri"/>
              </a:rPr>
              <a:t>of </a:t>
            </a:r>
            <a:r>
              <a:rPr dirty="0" sz="2000">
                <a:latin typeface="Cambria Math"/>
                <a:cs typeface="Cambria Math"/>
              </a:rPr>
              <a:t>𝐺 </a:t>
            </a:r>
            <a:r>
              <a:rPr dirty="0" sz="2000" spc="-5">
                <a:latin typeface="Calibri"/>
                <a:cs typeface="Calibri"/>
              </a:rPr>
              <a:t>induced </a:t>
            </a:r>
            <a:r>
              <a:rPr dirty="0" sz="2000" spc="-10">
                <a:latin typeface="Calibri"/>
                <a:cs typeface="Calibri"/>
              </a:rPr>
              <a:t>by </a:t>
            </a:r>
            <a:r>
              <a:rPr dirty="0" sz="2000">
                <a:latin typeface="Cambria Math"/>
                <a:cs typeface="Cambria Math"/>
              </a:rPr>
              <a:t>𝑆 </a:t>
            </a:r>
            <a:r>
              <a:rPr dirty="0" sz="2000" spc="-5">
                <a:latin typeface="Calibri"/>
                <a:cs typeface="Calibri"/>
              </a:rPr>
              <a:t>anchored </a:t>
            </a:r>
            <a:r>
              <a:rPr dirty="0" sz="2000" spc="-10">
                <a:latin typeface="Calibri"/>
                <a:cs typeface="Calibri"/>
              </a:rPr>
              <a:t>at</a:t>
            </a:r>
            <a:r>
              <a:rPr dirty="0" sz="2000" spc="275">
                <a:latin typeface="Calibri"/>
                <a:cs typeface="Calibri"/>
              </a:rPr>
              <a:t> </a:t>
            </a:r>
            <a:r>
              <a:rPr dirty="0" sz="2000">
                <a:latin typeface="Cambria Math"/>
                <a:cs typeface="Cambria Math"/>
              </a:rPr>
              <a:t>𝑞</a:t>
            </a:r>
            <a:endParaRPr sz="2000">
              <a:latin typeface="Cambria Math"/>
              <a:cs typeface="Cambria Math"/>
            </a:endParaRPr>
          </a:p>
          <a:p>
            <a:pPr marL="771525" indent="-320040">
              <a:lnSpc>
                <a:spcPct val="10000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771525" algn="l"/>
                <a:tab pos="772160" algn="l"/>
              </a:tabLst>
            </a:pPr>
            <a:r>
              <a:rPr dirty="0" sz="2000" spc="-10">
                <a:latin typeface="Calibri"/>
                <a:cs typeface="Calibri"/>
              </a:rPr>
              <a:t>For </a:t>
            </a:r>
            <a:r>
              <a:rPr dirty="0" sz="2000" spc="-15">
                <a:latin typeface="Calibri"/>
                <a:cs typeface="Calibri"/>
              </a:rPr>
              <a:t>negative </a:t>
            </a:r>
            <a:r>
              <a:rPr dirty="0" sz="2000" spc="-10">
                <a:latin typeface="Calibri"/>
                <a:cs typeface="Calibri"/>
              </a:rPr>
              <a:t>examples </a:t>
            </a:r>
            <a:r>
              <a:rPr dirty="0" sz="2000" spc="75">
                <a:latin typeface="Calibri"/>
                <a:cs typeface="Calibri"/>
              </a:rPr>
              <a:t>(</a:t>
            </a:r>
            <a:r>
              <a:rPr dirty="0" sz="2000" spc="75">
                <a:latin typeface="Cambria Math"/>
                <a:cs typeface="Cambria Math"/>
              </a:rPr>
              <a:t>𝐺</a:t>
            </a:r>
            <a:r>
              <a:rPr dirty="0" baseline="-14814" sz="2250" spc="112">
                <a:latin typeface="Cambria Math"/>
                <a:cs typeface="Cambria Math"/>
              </a:rPr>
              <a:t>$ </a:t>
            </a:r>
            <a:r>
              <a:rPr dirty="0" sz="2000" spc="-5">
                <a:latin typeface="Calibri"/>
                <a:cs typeface="Calibri"/>
              </a:rPr>
              <a:t>not </a:t>
            </a:r>
            <a:r>
              <a:rPr dirty="0" sz="2000" spc="-10">
                <a:latin typeface="Calibri"/>
                <a:cs typeface="Calibri"/>
              </a:rPr>
              <a:t>subgraph </a:t>
            </a:r>
            <a:r>
              <a:rPr dirty="0" sz="2000" spc="-5">
                <a:latin typeface="Calibri"/>
                <a:cs typeface="Calibri"/>
              </a:rPr>
              <a:t>of </a:t>
            </a:r>
            <a:r>
              <a:rPr dirty="0" sz="2000" spc="-85">
                <a:latin typeface="Cambria Math"/>
                <a:cs typeface="Cambria Math"/>
              </a:rPr>
              <a:t>𝐺</a:t>
            </a:r>
            <a:r>
              <a:rPr dirty="0" baseline="-14814" sz="2250" spc="-127">
                <a:latin typeface="Cambria Math"/>
                <a:cs typeface="Cambria Math"/>
              </a:rPr>
              <a:t>%</a:t>
            </a:r>
            <a:r>
              <a:rPr dirty="0" sz="2000" spc="-85">
                <a:latin typeface="Calibri"/>
                <a:cs typeface="Calibri"/>
              </a:rPr>
              <a:t>), </a:t>
            </a:r>
            <a:r>
              <a:rPr dirty="0" sz="2000" spc="-10">
                <a:latin typeface="Calibri"/>
                <a:cs typeface="Calibri"/>
              </a:rPr>
              <a:t>“corrupt” </a:t>
            </a:r>
            <a:r>
              <a:rPr dirty="0" sz="2000" spc="105">
                <a:latin typeface="Cambria Math"/>
                <a:cs typeface="Cambria Math"/>
              </a:rPr>
              <a:t>𝐺</a:t>
            </a:r>
            <a:r>
              <a:rPr dirty="0" baseline="-14814" sz="2250" spc="157">
                <a:latin typeface="Cambria Math"/>
                <a:cs typeface="Cambria Math"/>
              </a:rPr>
              <a:t>$</a:t>
            </a:r>
            <a:r>
              <a:rPr dirty="0" baseline="-14814" sz="2250" spc="345">
                <a:latin typeface="Cambria Math"/>
                <a:cs typeface="Cambria Math"/>
              </a:rPr>
              <a:t> </a:t>
            </a:r>
            <a:r>
              <a:rPr dirty="0" sz="2000" spc="-15">
                <a:latin typeface="Calibri"/>
                <a:cs typeface="Calibri"/>
              </a:rPr>
              <a:t>by</a:t>
            </a:r>
            <a:endParaRPr sz="2000">
              <a:latin typeface="Calibri"/>
              <a:cs typeface="Calibri"/>
            </a:endParaRPr>
          </a:p>
          <a:p>
            <a:pPr marL="771525">
              <a:lnSpc>
                <a:spcPct val="100000"/>
              </a:lnSpc>
              <a:spcBef>
                <a:spcPts val="120"/>
              </a:spcBef>
            </a:pPr>
            <a:r>
              <a:rPr dirty="0" sz="2000" spc="-5">
                <a:latin typeface="Calibri"/>
                <a:cs typeface="Calibri"/>
              </a:rPr>
              <a:t>adding/removing </a:t>
            </a:r>
            <a:r>
              <a:rPr dirty="0" sz="2000" spc="-10">
                <a:latin typeface="Calibri"/>
                <a:cs typeface="Calibri"/>
              </a:rPr>
              <a:t>nodes/edges </a:t>
            </a:r>
            <a:r>
              <a:rPr dirty="0" sz="2000">
                <a:latin typeface="Calibri"/>
                <a:cs typeface="Calibri"/>
              </a:rPr>
              <a:t>so </a:t>
            </a:r>
            <a:r>
              <a:rPr dirty="0" sz="2000" spc="-15">
                <a:latin typeface="Calibri"/>
                <a:cs typeface="Calibri"/>
              </a:rPr>
              <a:t>it’s </a:t>
            </a:r>
            <a:r>
              <a:rPr dirty="0" sz="2000" spc="-5">
                <a:latin typeface="Calibri"/>
                <a:cs typeface="Calibri"/>
              </a:rPr>
              <a:t>no </a:t>
            </a:r>
            <a:r>
              <a:rPr dirty="0" sz="2000" spc="-10">
                <a:latin typeface="Calibri"/>
                <a:cs typeface="Calibri"/>
              </a:rPr>
              <a:t>longer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subgraph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1800" spc="-5" b="1">
                <a:latin typeface="Corbel"/>
                <a:cs typeface="Corbel"/>
              </a:rPr>
              <a:t>BFS</a:t>
            </a:r>
            <a:r>
              <a:rPr dirty="0" sz="1800" spc="-65" b="1">
                <a:latin typeface="Corbel"/>
                <a:cs typeface="Corbel"/>
              </a:rPr>
              <a:t> </a:t>
            </a:r>
            <a:r>
              <a:rPr dirty="0" sz="1800" spc="-5" b="1">
                <a:latin typeface="Corbel"/>
                <a:cs typeface="Corbel"/>
              </a:rPr>
              <a:t>sampling</a:t>
            </a:r>
            <a:endParaRPr sz="18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>
              <a:latin typeface="Times New Roman"/>
              <a:cs typeface="Times New Roman"/>
            </a:endParaRPr>
          </a:p>
          <a:p>
            <a:pPr marL="100965">
              <a:lnSpc>
                <a:spcPct val="100000"/>
              </a:lnSpc>
            </a:pPr>
            <a:r>
              <a:rPr dirty="0" sz="1800">
                <a:latin typeface="Corbel"/>
                <a:cs typeface="Corbel"/>
              </a:rPr>
              <a:t>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1296" y="6016621"/>
            <a:ext cx="109220" cy="103505"/>
          </a:xfrm>
          <a:custGeom>
            <a:avLst/>
            <a:gdLst/>
            <a:ahLst/>
            <a:cxnLst/>
            <a:rect l="l" t="t" r="r" b="b"/>
            <a:pathLst>
              <a:path w="109220" h="103504">
                <a:moveTo>
                  <a:pt x="54428" y="0"/>
                </a:moveTo>
                <a:lnTo>
                  <a:pt x="33242" y="4063"/>
                </a:lnTo>
                <a:lnTo>
                  <a:pt x="15941" y="15144"/>
                </a:lnTo>
                <a:lnTo>
                  <a:pt x="4277" y="31580"/>
                </a:lnTo>
                <a:lnTo>
                  <a:pt x="0" y="51707"/>
                </a:lnTo>
                <a:lnTo>
                  <a:pt x="4277" y="71834"/>
                </a:lnTo>
                <a:lnTo>
                  <a:pt x="15941" y="88270"/>
                </a:lnTo>
                <a:lnTo>
                  <a:pt x="33242" y="99351"/>
                </a:lnTo>
                <a:lnTo>
                  <a:pt x="54428" y="103414"/>
                </a:lnTo>
                <a:lnTo>
                  <a:pt x="75614" y="99351"/>
                </a:lnTo>
                <a:lnTo>
                  <a:pt x="92915" y="88270"/>
                </a:lnTo>
                <a:lnTo>
                  <a:pt x="104579" y="71834"/>
                </a:lnTo>
                <a:lnTo>
                  <a:pt x="108856" y="51707"/>
                </a:lnTo>
                <a:lnTo>
                  <a:pt x="104579" y="31580"/>
                </a:lnTo>
                <a:lnTo>
                  <a:pt x="92915" y="15144"/>
                </a:lnTo>
                <a:lnTo>
                  <a:pt x="75614" y="4063"/>
                </a:lnTo>
                <a:lnTo>
                  <a:pt x="54428" y="0"/>
                </a:lnTo>
                <a:close/>
              </a:path>
            </a:pathLst>
          </a:custGeom>
          <a:solidFill>
            <a:srgbClr val="B48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77251" y="5992584"/>
            <a:ext cx="157480" cy="151765"/>
          </a:xfrm>
          <a:custGeom>
            <a:avLst/>
            <a:gdLst/>
            <a:ahLst/>
            <a:cxnLst/>
            <a:rect l="l" t="t" r="r" b="b"/>
            <a:pathLst>
              <a:path w="157479" h="151764">
                <a:moveTo>
                  <a:pt x="79238" y="0"/>
                </a:moveTo>
                <a:lnTo>
                  <a:pt x="77707" y="0"/>
                </a:lnTo>
                <a:lnTo>
                  <a:pt x="63691" y="1342"/>
                </a:lnTo>
                <a:lnTo>
                  <a:pt x="23977" y="21235"/>
                </a:lnTo>
                <a:lnTo>
                  <a:pt x="1814" y="59468"/>
                </a:lnTo>
                <a:lnTo>
                  <a:pt x="0" y="76593"/>
                </a:lnTo>
                <a:lnTo>
                  <a:pt x="1422" y="90002"/>
                </a:lnTo>
                <a:lnTo>
                  <a:pt x="22868" y="129198"/>
                </a:lnTo>
                <a:lnTo>
                  <a:pt x="62184" y="149854"/>
                </a:lnTo>
                <a:lnTo>
                  <a:pt x="77707" y="151487"/>
                </a:lnTo>
                <a:lnTo>
                  <a:pt x="79239" y="151487"/>
                </a:lnTo>
                <a:lnTo>
                  <a:pt x="121247" y="139259"/>
                </a:lnTo>
                <a:lnTo>
                  <a:pt x="139782" y="122629"/>
                </a:lnTo>
                <a:lnTo>
                  <a:pt x="78473" y="122629"/>
                </a:lnTo>
                <a:lnTo>
                  <a:pt x="68419" y="121666"/>
                </a:lnTo>
                <a:lnTo>
                  <a:pt x="32732" y="93914"/>
                </a:lnTo>
                <a:lnTo>
                  <a:pt x="28961" y="76593"/>
                </a:lnTo>
                <a:lnTo>
                  <a:pt x="28961" y="74894"/>
                </a:lnTo>
                <a:lnTo>
                  <a:pt x="50645" y="36925"/>
                </a:lnTo>
                <a:lnTo>
                  <a:pt x="78473" y="28858"/>
                </a:lnTo>
                <a:lnTo>
                  <a:pt x="139782" y="28858"/>
                </a:lnTo>
                <a:lnTo>
                  <a:pt x="134077" y="22289"/>
                </a:lnTo>
                <a:lnTo>
                  <a:pt x="94761" y="1633"/>
                </a:lnTo>
                <a:lnTo>
                  <a:pt x="93254" y="1342"/>
                </a:lnTo>
                <a:lnTo>
                  <a:pt x="79238" y="0"/>
                </a:lnTo>
                <a:close/>
              </a:path>
              <a:path w="157479" h="151764">
                <a:moveTo>
                  <a:pt x="139782" y="28858"/>
                </a:moveTo>
                <a:lnTo>
                  <a:pt x="78473" y="28858"/>
                </a:lnTo>
                <a:lnTo>
                  <a:pt x="88526" y="29821"/>
                </a:lnTo>
                <a:lnTo>
                  <a:pt x="97864" y="32574"/>
                </a:lnTo>
                <a:lnTo>
                  <a:pt x="127076" y="66332"/>
                </a:lnTo>
                <a:lnTo>
                  <a:pt x="127984" y="74894"/>
                </a:lnTo>
                <a:lnTo>
                  <a:pt x="127984" y="76593"/>
                </a:lnTo>
                <a:lnTo>
                  <a:pt x="106300" y="114562"/>
                </a:lnTo>
                <a:lnTo>
                  <a:pt x="78473" y="122629"/>
                </a:lnTo>
                <a:lnTo>
                  <a:pt x="139782" y="122629"/>
                </a:lnTo>
                <a:lnTo>
                  <a:pt x="156946" y="76593"/>
                </a:lnTo>
                <a:lnTo>
                  <a:pt x="156946" y="74894"/>
                </a:lnTo>
                <a:lnTo>
                  <a:pt x="143665" y="33564"/>
                </a:lnTo>
                <a:lnTo>
                  <a:pt x="142755" y="32281"/>
                </a:lnTo>
                <a:lnTo>
                  <a:pt x="139782" y="28858"/>
                </a:lnTo>
                <a:close/>
              </a:path>
              <a:path w="157479" h="151764">
                <a:moveTo>
                  <a:pt x="78473" y="38502"/>
                </a:moveTo>
                <a:lnTo>
                  <a:pt x="41553" y="61485"/>
                </a:lnTo>
                <a:lnTo>
                  <a:pt x="38615" y="74894"/>
                </a:lnTo>
                <a:lnTo>
                  <a:pt x="38615" y="76593"/>
                </a:lnTo>
                <a:lnTo>
                  <a:pt x="62671" y="109962"/>
                </a:lnTo>
                <a:lnTo>
                  <a:pt x="78473" y="112985"/>
                </a:lnTo>
                <a:lnTo>
                  <a:pt x="86694" y="112198"/>
                </a:lnTo>
                <a:lnTo>
                  <a:pt x="94274" y="109962"/>
                </a:lnTo>
                <a:lnTo>
                  <a:pt x="101093" y="106446"/>
                </a:lnTo>
                <a:lnTo>
                  <a:pt x="105054" y="103341"/>
                </a:lnTo>
                <a:lnTo>
                  <a:pt x="78473" y="103341"/>
                </a:lnTo>
                <a:lnTo>
                  <a:pt x="72083" y="102729"/>
                </a:lnTo>
                <a:lnTo>
                  <a:pt x="48269" y="74894"/>
                </a:lnTo>
                <a:lnTo>
                  <a:pt x="48749" y="70371"/>
                </a:lnTo>
                <a:lnTo>
                  <a:pt x="78473" y="48146"/>
                </a:lnTo>
                <a:lnTo>
                  <a:pt x="105055" y="48146"/>
                </a:lnTo>
                <a:lnTo>
                  <a:pt x="101093" y="45041"/>
                </a:lnTo>
                <a:lnTo>
                  <a:pt x="94274" y="41525"/>
                </a:lnTo>
                <a:lnTo>
                  <a:pt x="86694" y="39289"/>
                </a:lnTo>
                <a:lnTo>
                  <a:pt x="78473" y="38502"/>
                </a:lnTo>
                <a:close/>
              </a:path>
              <a:path w="157479" h="151764">
                <a:moveTo>
                  <a:pt x="105055" y="48146"/>
                </a:moveTo>
                <a:lnTo>
                  <a:pt x="78473" y="48146"/>
                </a:lnTo>
                <a:lnTo>
                  <a:pt x="84862" y="48758"/>
                </a:lnTo>
                <a:lnTo>
                  <a:pt x="90685" y="50475"/>
                </a:lnTo>
                <a:lnTo>
                  <a:pt x="108676" y="74894"/>
                </a:lnTo>
                <a:lnTo>
                  <a:pt x="108676" y="76593"/>
                </a:lnTo>
                <a:lnTo>
                  <a:pt x="78473" y="103341"/>
                </a:lnTo>
                <a:lnTo>
                  <a:pt x="105054" y="103341"/>
                </a:lnTo>
                <a:lnTo>
                  <a:pt x="118330" y="74894"/>
                </a:lnTo>
                <a:lnTo>
                  <a:pt x="117636" y="68352"/>
                </a:lnTo>
                <a:lnTo>
                  <a:pt x="115392" y="61485"/>
                </a:lnTo>
                <a:lnTo>
                  <a:pt x="111805" y="55207"/>
                </a:lnTo>
                <a:lnTo>
                  <a:pt x="106941" y="49624"/>
                </a:lnTo>
                <a:lnTo>
                  <a:pt x="105055" y="48146"/>
                </a:lnTo>
                <a:close/>
              </a:path>
            </a:pathLst>
          </a:custGeom>
          <a:solidFill>
            <a:srgbClr val="7857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285860" y="4968201"/>
            <a:ext cx="2288594" cy="15626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96471" y="6333609"/>
            <a:ext cx="109220" cy="103505"/>
          </a:xfrm>
          <a:custGeom>
            <a:avLst/>
            <a:gdLst/>
            <a:ahLst/>
            <a:cxnLst/>
            <a:rect l="l" t="t" r="r" b="b"/>
            <a:pathLst>
              <a:path w="109220" h="103504">
                <a:moveTo>
                  <a:pt x="54428" y="0"/>
                </a:moveTo>
                <a:lnTo>
                  <a:pt x="33242" y="4063"/>
                </a:lnTo>
                <a:lnTo>
                  <a:pt x="15941" y="15144"/>
                </a:lnTo>
                <a:lnTo>
                  <a:pt x="4277" y="31580"/>
                </a:lnTo>
                <a:lnTo>
                  <a:pt x="0" y="51707"/>
                </a:lnTo>
                <a:lnTo>
                  <a:pt x="4277" y="71834"/>
                </a:lnTo>
                <a:lnTo>
                  <a:pt x="15941" y="88270"/>
                </a:lnTo>
                <a:lnTo>
                  <a:pt x="33242" y="99351"/>
                </a:lnTo>
                <a:lnTo>
                  <a:pt x="54428" y="103415"/>
                </a:lnTo>
                <a:lnTo>
                  <a:pt x="75614" y="99351"/>
                </a:lnTo>
                <a:lnTo>
                  <a:pt x="92915" y="88270"/>
                </a:lnTo>
                <a:lnTo>
                  <a:pt x="104579" y="71834"/>
                </a:lnTo>
                <a:lnTo>
                  <a:pt x="108856" y="51707"/>
                </a:lnTo>
                <a:lnTo>
                  <a:pt x="104579" y="31580"/>
                </a:lnTo>
                <a:lnTo>
                  <a:pt x="92915" y="15144"/>
                </a:lnTo>
                <a:lnTo>
                  <a:pt x="75614" y="4063"/>
                </a:lnTo>
                <a:lnTo>
                  <a:pt x="54428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72426" y="6309572"/>
            <a:ext cx="157480" cy="151765"/>
          </a:xfrm>
          <a:custGeom>
            <a:avLst/>
            <a:gdLst/>
            <a:ahLst/>
            <a:cxnLst/>
            <a:rect l="l" t="t" r="r" b="b"/>
            <a:pathLst>
              <a:path w="157479" h="151764">
                <a:moveTo>
                  <a:pt x="79238" y="0"/>
                </a:moveTo>
                <a:lnTo>
                  <a:pt x="77707" y="0"/>
                </a:lnTo>
                <a:lnTo>
                  <a:pt x="63691" y="1342"/>
                </a:lnTo>
                <a:lnTo>
                  <a:pt x="23977" y="21235"/>
                </a:lnTo>
                <a:lnTo>
                  <a:pt x="1814" y="59468"/>
                </a:lnTo>
                <a:lnTo>
                  <a:pt x="0" y="76593"/>
                </a:lnTo>
                <a:lnTo>
                  <a:pt x="1422" y="90002"/>
                </a:lnTo>
                <a:lnTo>
                  <a:pt x="22868" y="129198"/>
                </a:lnTo>
                <a:lnTo>
                  <a:pt x="62183" y="149853"/>
                </a:lnTo>
                <a:lnTo>
                  <a:pt x="77707" y="151487"/>
                </a:lnTo>
                <a:lnTo>
                  <a:pt x="79239" y="151487"/>
                </a:lnTo>
                <a:lnTo>
                  <a:pt x="121247" y="139259"/>
                </a:lnTo>
                <a:lnTo>
                  <a:pt x="139782" y="122629"/>
                </a:lnTo>
                <a:lnTo>
                  <a:pt x="78473" y="122629"/>
                </a:lnTo>
                <a:lnTo>
                  <a:pt x="68419" y="121666"/>
                </a:lnTo>
                <a:lnTo>
                  <a:pt x="32732" y="93914"/>
                </a:lnTo>
                <a:lnTo>
                  <a:pt x="28961" y="76593"/>
                </a:lnTo>
                <a:lnTo>
                  <a:pt x="28961" y="74894"/>
                </a:lnTo>
                <a:lnTo>
                  <a:pt x="50645" y="36925"/>
                </a:lnTo>
                <a:lnTo>
                  <a:pt x="78473" y="28858"/>
                </a:lnTo>
                <a:lnTo>
                  <a:pt x="139782" y="28858"/>
                </a:lnTo>
                <a:lnTo>
                  <a:pt x="134077" y="22289"/>
                </a:lnTo>
                <a:lnTo>
                  <a:pt x="94761" y="1633"/>
                </a:lnTo>
                <a:lnTo>
                  <a:pt x="93254" y="1342"/>
                </a:lnTo>
                <a:lnTo>
                  <a:pt x="79238" y="0"/>
                </a:lnTo>
                <a:close/>
              </a:path>
              <a:path w="157479" h="151764">
                <a:moveTo>
                  <a:pt x="139782" y="28858"/>
                </a:moveTo>
                <a:lnTo>
                  <a:pt x="78473" y="28858"/>
                </a:lnTo>
                <a:lnTo>
                  <a:pt x="88526" y="29821"/>
                </a:lnTo>
                <a:lnTo>
                  <a:pt x="97864" y="32574"/>
                </a:lnTo>
                <a:lnTo>
                  <a:pt x="127076" y="66332"/>
                </a:lnTo>
                <a:lnTo>
                  <a:pt x="127984" y="74894"/>
                </a:lnTo>
                <a:lnTo>
                  <a:pt x="127984" y="76593"/>
                </a:lnTo>
                <a:lnTo>
                  <a:pt x="106300" y="114562"/>
                </a:lnTo>
                <a:lnTo>
                  <a:pt x="78473" y="122629"/>
                </a:lnTo>
                <a:lnTo>
                  <a:pt x="139782" y="122629"/>
                </a:lnTo>
                <a:lnTo>
                  <a:pt x="156946" y="76593"/>
                </a:lnTo>
                <a:lnTo>
                  <a:pt x="156946" y="74894"/>
                </a:lnTo>
                <a:lnTo>
                  <a:pt x="143665" y="33564"/>
                </a:lnTo>
                <a:lnTo>
                  <a:pt x="142755" y="32281"/>
                </a:lnTo>
                <a:lnTo>
                  <a:pt x="139782" y="28858"/>
                </a:lnTo>
                <a:close/>
              </a:path>
              <a:path w="157479" h="151764">
                <a:moveTo>
                  <a:pt x="78473" y="38502"/>
                </a:moveTo>
                <a:lnTo>
                  <a:pt x="41553" y="61485"/>
                </a:lnTo>
                <a:lnTo>
                  <a:pt x="38615" y="74894"/>
                </a:lnTo>
                <a:lnTo>
                  <a:pt x="38615" y="76593"/>
                </a:lnTo>
                <a:lnTo>
                  <a:pt x="62671" y="109962"/>
                </a:lnTo>
                <a:lnTo>
                  <a:pt x="78473" y="112985"/>
                </a:lnTo>
                <a:lnTo>
                  <a:pt x="86694" y="112198"/>
                </a:lnTo>
                <a:lnTo>
                  <a:pt x="94274" y="109962"/>
                </a:lnTo>
                <a:lnTo>
                  <a:pt x="101093" y="106446"/>
                </a:lnTo>
                <a:lnTo>
                  <a:pt x="105054" y="103341"/>
                </a:lnTo>
                <a:lnTo>
                  <a:pt x="78473" y="103341"/>
                </a:lnTo>
                <a:lnTo>
                  <a:pt x="72083" y="102729"/>
                </a:lnTo>
                <a:lnTo>
                  <a:pt x="48269" y="76593"/>
                </a:lnTo>
                <a:lnTo>
                  <a:pt x="48269" y="74894"/>
                </a:lnTo>
                <a:lnTo>
                  <a:pt x="78473" y="48146"/>
                </a:lnTo>
                <a:lnTo>
                  <a:pt x="105054" y="48146"/>
                </a:lnTo>
                <a:lnTo>
                  <a:pt x="101093" y="45041"/>
                </a:lnTo>
                <a:lnTo>
                  <a:pt x="94274" y="41525"/>
                </a:lnTo>
                <a:lnTo>
                  <a:pt x="86694" y="39289"/>
                </a:lnTo>
                <a:lnTo>
                  <a:pt x="78473" y="38502"/>
                </a:lnTo>
                <a:close/>
              </a:path>
              <a:path w="157479" h="151764">
                <a:moveTo>
                  <a:pt x="105054" y="48146"/>
                </a:moveTo>
                <a:lnTo>
                  <a:pt x="78473" y="48146"/>
                </a:lnTo>
                <a:lnTo>
                  <a:pt x="84862" y="48758"/>
                </a:lnTo>
                <a:lnTo>
                  <a:pt x="90685" y="50475"/>
                </a:lnTo>
                <a:lnTo>
                  <a:pt x="108676" y="74894"/>
                </a:lnTo>
                <a:lnTo>
                  <a:pt x="108676" y="76593"/>
                </a:lnTo>
                <a:lnTo>
                  <a:pt x="78473" y="103341"/>
                </a:lnTo>
                <a:lnTo>
                  <a:pt x="105054" y="103341"/>
                </a:lnTo>
                <a:lnTo>
                  <a:pt x="118330" y="74894"/>
                </a:lnTo>
                <a:lnTo>
                  <a:pt x="117636" y="68352"/>
                </a:lnTo>
                <a:lnTo>
                  <a:pt x="115392" y="61485"/>
                </a:lnTo>
                <a:lnTo>
                  <a:pt x="111805" y="55206"/>
                </a:lnTo>
                <a:lnTo>
                  <a:pt x="106941" y="49624"/>
                </a:lnTo>
                <a:lnTo>
                  <a:pt x="105054" y="48146"/>
                </a:lnTo>
                <a:close/>
              </a:path>
            </a:pathLst>
          </a:custGeom>
          <a:solidFill>
            <a:srgbClr val="6868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15232" y="5829009"/>
            <a:ext cx="1140460" cy="67818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830"/>
              </a:spcBef>
            </a:pPr>
            <a:r>
              <a:rPr dirty="0" sz="1800">
                <a:latin typeface="Corbel"/>
                <a:cs typeface="Corbel"/>
              </a:rPr>
              <a:t>V</a:t>
            </a:r>
            <a:endParaRPr sz="18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1400" spc="-5">
                <a:latin typeface="Arial"/>
                <a:cs typeface="Arial"/>
              </a:rPr>
              <a:t>Not yet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visited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680766" y="5246043"/>
            <a:ext cx="1228093" cy="7681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201272" y="6043676"/>
            <a:ext cx="278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𝐺</a:t>
            </a:r>
            <a:r>
              <a:rPr dirty="0" baseline="-14957" sz="1950" spc="-375">
                <a:latin typeface="Cambria Math"/>
                <a:cs typeface="Cambria Math"/>
              </a:rPr>
              <a:t>%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9413" y="6669413"/>
            <a:ext cx="40068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2/18/21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98800" y="6669413"/>
            <a:ext cx="4027804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844883" y="666941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50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384657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172959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latin typeface="Calibri"/>
                <a:cs typeface="Calibri"/>
              </a:rPr>
              <a:t>How </a:t>
            </a:r>
            <a:r>
              <a:rPr dirty="0" spc="-20" b="1">
                <a:latin typeface="Calibri"/>
                <a:cs typeface="Calibri"/>
              </a:rPr>
              <a:t>many </a:t>
            </a:r>
            <a:r>
              <a:rPr dirty="0" spc="-15" b="1">
                <a:latin typeface="Calibri"/>
                <a:cs typeface="Calibri"/>
              </a:rPr>
              <a:t>training </a:t>
            </a:r>
            <a:r>
              <a:rPr dirty="0" spc="-20" b="1">
                <a:latin typeface="Calibri"/>
                <a:cs typeface="Calibri"/>
              </a:rPr>
              <a:t>examples </a:t>
            </a:r>
            <a:r>
              <a:rPr dirty="0" spc="-15" b="1">
                <a:latin typeface="Calibri"/>
                <a:cs typeface="Calibri"/>
              </a:rPr>
              <a:t>to</a:t>
            </a:r>
            <a:r>
              <a:rPr dirty="0" spc="25" b="1">
                <a:latin typeface="Calibri"/>
                <a:cs typeface="Calibri"/>
              </a:rPr>
              <a:t> </a:t>
            </a:r>
            <a:r>
              <a:rPr dirty="0" spc="-5" b="1">
                <a:latin typeface="Calibri"/>
                <a:cs typeface="Calibri"/>
              </a:rPr>
              <a:t>sample?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51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826259"/>
            <a:ext cx="8253095" cy="478663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35">
                <a:latin typeface="Calibri"/>
                <a:cs typeface="Calibri"/>
              </a:rPr>
              <a:t>At </a:t>
            </a:r>
            <a:r>
              <a:rPr dirty="0" sz="2800" spc="-15">
                <a:latin typeface="Calibri"/>
                <a:cs typeface="Calibri"/>
              </a:rPr>
              <a:t>every </a:t>
            </a:r>
            <a:r>
              <a:rPr dirty="0" sz="2800" spc="-20">
                <a:latin typeface="Calibri"/>
                <a:cs typeface="Calibri"/>
              </a:rPr>
              <a:t>iteration,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sample </a:t>
            </a:r>
            <a:r>
              <a:rPr dirty="0" sz="2800" spc="-10">
                <a:latin typeface="Calibri"/>
                <a:cs typeface="Calibri"/>
              </a:rPr>
              <a:t>new </a:t>
            </a:r>
            <a:r>
              <a:rPr dirty="0" sz="2800" spc="-15">
                <a:latin typeface="Calibri"/>
                <a:cs typeface="Calibri"/>
              </a:rPr>
              <a:t>training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pairs</a:t>
            </a:r>
            <a:endParaRPr sz="2800">
              <a:latin typeface="Calibri"/>
              <a:cs typeface="Calibri"/>
            </a:endParaRPr>
          </a:p>
          <a:p>
            <a:pPr marL="625475" marR="588010" indent="-274320">
              <a:lnSpc>
                <a:spcPts val="3290"/>
              </a:lnSpc>
              <a:spcBef>
                <a:spcPts val="90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solidFill>
                  <a:srgbClr val="008000"/>
                </a:solidFill>
                <a:latin typeface="Calibri"/>
                <a:cs typeface="Calibri"/>
              </a:rPr>
              <a:t>Benefit</a:t>
            </a:r>
            <a:r>
              <a:rPr dirty="0" sz="2800" spc="-5">
                <a:latin typeface="Calibri"/>
                <a:cs typeface="Calibri"/>
              </a:rPr>
              <a:t>: </a:t>
            </a:r>
            <a:r>
              <a:rPr dirty="0" sz="2800" spc="-25">
                <a:latin typeface="Calibri"/>
                <a:cs typeface="Calibri"/>
              </a:rPr>
              <a:t>Every </a:t>
            </a:r>
            <a:r>
              <a:rPr dirty="0" sz="2800" spc="-20">
                <a:latin typeface="Calibri"/>
                <a:cs typeface="Calibri"/>
              </a:rPr>
              <a:t>iteration, </a:t>
            </a:r>
            <a:r>
              <a:rPr dirty="0" sz="2800" spc="-5">
                <a:latin typeface="Calibri"/>
                <a:cs typeface="Calibri"/>
              </a:rPr>
              <a:t>the model sees </a:t>
            </a:r>
            <a:r>
              <a:rPr dirty="0" sz="2800" spc="-90">
                <a:latin typeface="Calibri"/>
                <a:cs typeface="Calibri"/>
              </a:rPr>
              <a:t>different  </a:t>
            </a:r>
            <a:r>
              <a:rPr dirty="0" sz="2800" spc="-10">
                <a:latin typeface="Calibri"/>
                <a:cs typeface="Calibri"/>
              </a:rPr>
              <a:t>subgraph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examples</a:t>
            </a:r>
            <a:endParaRPr sz="2800">
              <a:latin typeface="Calibri"/>
              <a:cs typeface="Calibri"/>
            </a:endParaRPr>
          </a:p>
          <a:p>
            <a:pPr algn="just" marL="625475" marR="5080" indent="-274320">
              <a:lnSpc>
                <a:spcPct val="99600"/>
              </a:lnSpc>
              <a:spcBef>
                <a:spcPts val="6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Improves </a:t>
            </a:r>
            <a:r>
              <a:rPr dirty="0" sz="2800" spc="-10">
                <a:latin typeface="Calibri"/>
                <a:cs typeface="Calibri"/>
              </a:rPr>
              <a:t>performance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20">
                <a:latin typeface="Calibri"/>
                <a:cs typeface="Calibri"/>
              </a:rPr>
              <a:t>avoids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overfitting </a:t>
            </a:r>
            <a:r>
              <a:rPr dirty="0" sz="2800">
                <a:latin typeface="Calibri"/>
                <a:cs typeface="Calibri"/>
              </a:rPr>
              <a:t>–  </a:t>
            </a:r>
            <a:r>
              <a:rPr dirty="0" sz="2800" spc="-70">
                <a:latin typeface="Calibri"/>
                <a:cs typeface="Calibri"/>
              </a:rPr>
              <a:t>since </a:t>
            </a:r>
            <a:r>
              <a:rPr dirty="0" sz="2800" spc="-15">
                <a:latin typeface="Calibri"/>
                <a:cs typeface="Calibri"/>
              </a:rPr>
              <a:t>there are exponential </a:t>
            </a:r>
            <a:r>
              <a:rPr dirty="0" sz="2800" spc="-5">
                <a:latin typeface="Calibri"/>
                <a:cs typeface="Calibri"/>
              </a:rPr>
              <a:t>number of possible  </a:t>
            </a:r>
            <a:r>
              <a:rPr dirty="0" sz="2800" spc="-10">
                <a:latin typeface="Calibri"/>
                <a:cs typeface="Calibri"/>
              </a:rPr>
              <a:t>subgraphs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sample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from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7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How deep </a:t>
            </a:r>
            <a:r>
              <a:rPr dirty="0" sz="3200" b="1">
                <a:latin typeface="Calibri"/>
                <a:cs typeface="Calibri"/>
              </a:rPr>
              <a:t>is </a:t>
            </a:r>
            <a:r>
              <a:rPr dirty="0" sz="3200" spc="-5" b="1">
                <a:latin typeface="Calibri"/>
                <a:cs typeface="Calibri"/>
              </a:rPr>
              <a:t>the </a:t>
            </a:r>
            <a:r>
              <a:rPr dirty="0" sz="3200" spc="-15" b="1">
                <a:latin typeface="Calibri"/>
                <a:cs typeface="Calibri"/>
              </a:rPr>
              <a:t>BFS</a:t>
            </a:r>
            <a:r>
              <a:rPr dirty="0" sz="3200" spc="-45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sampling?</a:t>
            </a:r>
            <a:endParaRPr sz="3200">
              <a:latin typeface="Calibri"/>
              <a:cs typeface="Calibri"/>
            </a:endParaRPr>
          </a:p>
          <a:p>
            <a:pPr lvl="1" marL="625475" marR="841375" indent="-274320">
              <a:lnSpc>
                <a:spcPct val="101400"/>
              </a:lnSpc>
              <a:spcBef>
                <a:spcPts val="61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20">
                <a:latin typeface="Calibri"/>
                <a:cs typeface="Calibri"/>
              </a:rPr>
              <a:t>hyper-parameter </a:t>
            </a:r>
            <a:r>
              <a:rPr dirty="0" sz="2800" spc="-10">
                <a:latin typeface="Calibri"/>
                <a:cs typeface="Calibri"/>
              </a:rPr>
              <a:t>that </a:t>
            </a:r>
            <a:r>
              <a:rPr dirty="0" sz="2800" spc="-15">
                <a:latin typeface="Calibri"/>
                <a:cs typeface="Calibri"/>
              </a:rPr>
              <a:t>trades off </a:t>
            </a: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runtime </a:t>
            </a:r>
            <a:r>
              <a:rPr dirty="0" sz="2800" spc="-200" b="1">
                <a:solidFill>
                  <a:srgbClr val="008000"/>
                </a:solidFill>
                <a:latin typeface="Calibri"/>
                <a:cs typeface="Calibri"/>
              </a:rPr>
              <a:t>and  </a:t>
            </a: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performance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Usually </a:t>
            </a:r>
            <a:r>
              <a:rPr dirty="0" sz="2800">
                <a:latin typeface="Calibri"/>
                <a:cs typeface="Calibri"/>
              </a:rPr>
              <a:t>use </a:t>
            </a:r>
            <a:r>
              <a:rPr dirty="0" sz="2800" spc="-5">
                <a:latin typeface="Calibri"/>
                <a:cs typeface="Calibri"/>
              </a:rPr>
              <a:t>3-5, depending on </a:t>
            </a:r>
            <a:r>
              <a:rPr dirty="0" sz="2800" spc="-20">
                <a:latin typeface="Calibri"/>
                <a:cs typeface="Calibri"/>
              </a:rPr>
              <a:t>size </a:t>
            </a:r>
            <a:r>
              <a:rPr dirty="0" sz="2800" spc="-5">
                <a:latin typeface="Calibri"/>
                <a:cs typeface="Calibri"/>
              </a:rPr>
              <a:t>of the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dataset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65759"/>
            <a:ext cx="8321040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09116"/>
            <a:ext cx="7478395" cy="1848485"/>
          </a:xfrm>
          <a:prstGeom prst="rect"/>
        </p:spPr>
        <p:txBody>
          <a:bodyPr wrap="square" lIns="0" tIns="53340" rIns="0" bIns="0" rtlCol="0" vert="horz">
            <a:spAutoFit/>
          </a:bodyPr>
          <a:lstStyle/>
          <a:p>
            <a:pPr marL="332740" marR="5080" indent="-320040">
              <a:lnSpc>
                <a:spcPts val="3600"/>
              </a:lnSpc>
              <a:spcBef>
                <a:spcPts val="42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latin typeface="Calibri"/>
                <a:cs typeface="Calibri"/>
              </a:rPr>
              <a:t>Given</a:t>
            </a:r>
            <a:r>
              <a:rPr dirty="0" spc="-10"/>
              <a:t>: </a:t>
            </a:r>
            <a:r>
              <a:rPr dirty="0"/>
              <a:t>query </a:t>
            </a:r>
            <a:r>
              <a:rPr dirty="0" spc="-15"/>
              <a:t>graph </a:t>
            </a:r>
            <a:r>
              <a:rPr dirty="0" spc="350">
                <a:solidFill>
                  <a:srgbClr val="C00000"/>
                </a:solidFill>
                <a:latin typeface="Cambria Math"/>
                <a:cs typeface="Cambria Math"/>
              </a:rPr>
              <a:t>𝐺</a:t>
            </a:r>
            <a:r>
              <a:rPr dirty="0" baseline="-15700" sz="3450" spc="525">
                <a:solidFill>
                  <a:srgbClr val="C00000"/>
                </a:solidFill>
                <a:latin typeface="Cambria Math"/>
                <a:cs typeface="Cambria Math"/>
              </a:rPr>
              <a:t>. </a:t>
            </a:r>
            <a:r>
              <a:rPr dirty="0" sz="3200" spc="-10"/>
              <a:t>anchored </a:t>
            </a:r>
            <a:r>
              <a:rPr dirty="0" sz="3200" spc="-15"/>
              <a:t>at </a:t>
            </a:r>
            <a:r>
              <a:rPr dirty="0" sz="3200"/>
              <a:t>node </a:t>
            </a:r>
            <a:r>
              <a:rPr dirty="0" sz="3200" spc="40">
                <a:latin typeface="Cambria Math"/>
                <a:cs typeface="Cambria Math"/>
              </a:rPr>
              <a:t>𝑞</a:t>
            </a:r>
            <a:r>
              <a:rPr dirty="0" sz="3200" spc="40"/>
              <a:t>,  </a:t>
            </a:r>
            <a:r>
              <a:rPr dirty="0" sz="3200" spc="-25"/>
              <a:t>target </a:t>
            </a:r>
            <a:r>
              <a:rPr dirty="0" sz="3200" spc="-15"/>
              <a:t>graph </a:t>
            </a:r>
            <a:r>
              <a:rPr dirty="0" sz="3200" spc="-110">
                <a:solidFill>
                  <a:srgbClr val="0000FF"/>
                </a:solidFill>
                <a:latin typeface="Cambria Math"/>
                <a:cs typeface="Cambria Math"/>
              </a:rPr>
              <a:t>𝐺</a:t>
            </a:r>
            <a:r>
              <a:rPr dirty="0" baseline="-15700" sz="3450" spc="-165">
                <a:solidFill>
                  <a:srgbClr val="0000FF"/>
                </a:solidFill>
                <a:latin typeface="Cambria Math"/>
                <a:cs typeface="Cambria Math"/>
              </a:rPr>
              <a:t>/  </a:t>
            </a:r>
            <a:r>
              <a:rPr dirty="0" sz="3200" spc="-10"/>
              <a:t>anchored </a:t>
            </a:r>
            <a:r>
              <a:rPr dirty="0" sz="3200" spc="-15"/>
              <a:t>at </a:t>
            </a:r>
            <a:r>
              <a:rPr dirty="0" sz="3200"/>
              <a:t>node</a:t>
            </a:r>
            <a:r>
              <a:rPr dirty="0" sz="3200" spc="-80"/>
              <a:t> </a:t>
            </a:r>
            <a:r>
              <a:rPr dirty="0" sz="3200">
                <a:latin typeface="Cambria Math"/>
                <a:cs typeface="Cambria Math"/>
              </a:rPr>
              <a:t>𝑡</a:t>
            </a:r>
            <a:endParaRPr sz="3200">
              <a:latin typeface="Cambria Math"/>
              <a:cs typeface="Cambria Math"/>
            </a:endParaRPr>
          </a:p>
          <a:p>
            <a:pPr marL="332740" marR="149860" indent="-320040">
              <a:lnSpc>
                <a:spcPts val="3410"/>
              </a:lnSpc>
              <a:spcBef>
                <a:spcPts val="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latin typeface="Calibri"/>
                <a:cs typeface="Calibri"/>
              </a:rPr>
              <a:t>Goal</a:t>
            </a:r>
            <a:r>
              <a:rPr dirty="0" spc="-5"/>
              <a:t>: </a:t>
            </a:r>
            <a:r>
              <a:rPr dirty="0"/>
              <a:t>output </a:t>
            </a:r>
            <a:r>
              <a:rPr dirty="0" spc="-5"/>
              <a:t>whether </a:t>
            </a:r>
            <a:r>
              <a:rPr dirty="0"/>
              <a:t>the query is a </a:t>
            </a:r>
            <a:r>
              <a:rPr dirty="0" spc="-5"/>
              <a:t>node-  </a:t>
            </a:r>
            <a:r>
              <a:rPr dirty="0" spc="-10"/>
              <a:t>anchored subgraph </a:t>
            </a:r>
            <a:r>
              <a:rPr dirty="0"/>
              <a:t>of the</a:t>
            </a:r>
            <a:r>
              <a:rPr dirty="0" spc="-5"/>
              <a:t> </a:t>
            </a:r>
            <a:r>
              <a:rPr dirty="0" spc="-25"/>
              <a:t>target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3089148"/>
            <a:ext cx="218313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P</a:t>
            </a:r>
            <a:r>
              <a:rPr dirty="0" sz="3200" spc="-40" b="1">
                <a:latin typeface="Calibri"/>
                <a:cs typeface="Calibri"/>
              </a:rPr>
              <a:t>r</a:t>
            </a:r>
            <a:r>
              <a:rPr dirty="0" sz="3200" b="1">
                <a:latin typeface="Calibri"/>
                <a:cs typeface="Calibri"/>
              </a:rPr>
              <a:t>o</a:t>
            </a:r>
            <a:r>
              <a:rPr dirty="0" sz="3200" spc="-5" b="1">
                <a:latin typeface="Calibri"/>
                <a:cs typeface="Calibri"/>
              </a:rPr>
              <a:t>c</a:t>
            </a:r>
            <a:r>
              <a:rPr dirty="0" sz="3200" b="1">
                <a:latin typeface="Calibri"/>
                <a:cs typeface="Calibri"/>
              </a:rPr>
              <a:t>e</a:t>
            </a:r>
            <a:r>
              <a:rPr dirty="0" sz="3200" spc="-5" b="1">
                <a:latin typeface="Calibri"/>
                <a:cs typeface="Calibri"/>
              </a:rPr>
              <a:t>du</a:t>
            </a:r>
            <a:r>
              <a:rPr dirty="0" sz="3200" spc="-40" b="1">
                <a:latin typeface="Calibri"/>
                <a:cs typeface="Calibri"/>
              </a:rPr>
              <a:t>r</a:t>
            </a:r>
            <a:r>
              <a:rPr dirty="0" sz="3200" b="1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12619" y="3724780"/>
            <a:ext cx="1120140" cy="429895"/>
          </a:xfrm>
          <a:custGeom>
            <a:avLst/>
            <a:gdLst/>
            <a:ahLst/>
            <a:cxnLst/>
            <a:rect l="l" t="t" r="r" b="b"/>
            <a:pathLst>
              <a:path w="1120139" h="429895">
                <a:moveTo>
                  <a:pt x="1007041" y="0"/>
                </a:moveTo>
                <a:lnTo>
                  <a:pt x="1002700" y="14237"/>
                </a:lnTo>
                <a:lnTo>
                  <a:pt x="1022434" y="24471"/>
                </a:lnTo>
                <a:lnTo>
                  <a:pt x="1039618" y="39371"/>
                </a:lnTo>
                <a:lnTo>
                  <a:pt x="1066336" y="83171"/>
                </a:lnTo>
                <a:lnTo>
                  <a:pt x="1082549" y="142683"/>
                </a:lnTo>
                <a:lnTo>
                  <a:pt x="1087954" y="214957"/>
                </a:lnTo>
                <a:lnTo>
                  <a:pt x="1086603" y="252608"/>
                </a:lnTo>
                <a:lnTo>
                  <a:pt x="1075794" y="318372"/>
                </a:lnTo>
                <a:lnTo>
                  <a:pt x="1054252" y="370679"/>
                </a:lnTo>
                <a:lnTo>
                  <a:pt x="1022434" y="405102"/>
                </a:lnTo>
                <a:lnTo>
                  <a:pt x="1002700" y="415330"/>
                </a:lnTo>
                <a:lnTo>
                  <a:pt x="1007041" y="429567"/>
                </a:lnTo>
                <a:lnTo>
                  <a:pt x="1055007" y="404000"/>
                </a:lnTo>
                <a:lnTo>
                  <a:pt x="1090557" y="355773"/>
                </a:lnTo>
                <a:lnTo>
                  <a:pt x="1112566" y="290748"/>
                </a:lnTo>
                <a:lnTo>
                  <a:pt x="1119902" y="214783"/>
                </a:lnTo>
                <a:lnTo>
                  <a:pt x="1118068" y="175434"/>
                </a:lnTo>
                <a:lnTo>
                  <a:pt x="1103396" y="104939"/>
                </a:lnTo>
                <a:lnTo>
                  <a:pt x="1074334" y="46848"/>
                </a:lnTo>
                <a:lnTo>
                  <a:pt x="1032576" y="9951"/>
                </a:lnTo>
                <a:lnTo>
                  <a:pt x="1007041" y="0"/>
                </a:lnTo>
                <a:close/>
              </a:path>
              <a:path w="1120139" h="429895">
                <a:moveTo>
                  <a:pt x="112861" y="0"/>
                </a:moveTo>
                <a:lnTo>
                  <a:pt x="64895" y="25567"/>
                </a:lnTo>
                <a:lnTo>
                  <a:pt x="29344" y="73794"/>
                </a:lnTo>
                <a:lnTo>
                  <a:pt x="7336" y="138819"/>
                </a:lnTo>
                <a:lnTo>
                  <a:pt x="0" y="214783"/>
                </a:lnTo>
                <a:lnTo>
                  <a:pt x="1834" y="254133"/>
                </a:lnTo>
                <a:lnTo>
                  <a:pt x="16506" y="324628"/>
                </a:lnTo>
                <a:lnTo>
                  <a:pt x="45568" y="382719"/>
                </a:lnTo>
                <a:lnTo>
                  <a:pt x="87326" y="419616"/>
                </a:lnTo>
                <a:lnTo>
                  <a:pt x="112861" y="429567"/>
                </a:lnTo>
                <a:lnTo>
                  <a:pt x="117201" y="415330"/>
                </a:lnTo>
                <a:lnTo>
                  <a:pt x="97467" y="405102"/>
                </a:lnTo>
                <a:lnTo>
                  <a:pt x="80283" y="390218"/>
                </a:lnTo>
                <a:lnTo>
                  <a:pt x="53566" y="346485"/>
                </a:lnTo>
                <a:lnTo>
                  <a:pt x="37353" y="287080"/>
                </a:lnTo>
                <a:lnTo>
                  <a:pt x="31955" y="214783"/>
                </a:lnTo>
                <a:lnTo>
                  <a:pt x="33300" y="177225"/>
                </a:lnTo>
                <a:lnTo>
                  <a:pt x="44108" y="111331"/>
                </a:lnTo>
                <a:lnTo>
                  <a:pt x="65649" y="58938"/>
                </a:lnTo>
                <a:lnTo>
                  <a:pt x="97467" y="24471"/>
                </a:lnTo>
                <a:lnTo>
                  <a:pt x="117201" y="14237"/>
                </a:lnTo>
                <a:lnTo>
                  <a:pt x="1128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56563" y="3673347"/>
            <a:ext cx="18364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984250" algn="l"/>
              </a:tabLst>
            </a:pPr>
            <a:r>
              <a:rPr dirty="0" sz="2800">
                <a:latin typeface="Cambria Math"/>
                <a:cs typeface="Cambria Math"/>
              </a:rPr>
              <a:t>If</a:t>
            </a:r>
            <a:r>
              <a:rPr dirty="0" sz="2800" spc="-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𝐸	</a:t>
            </a:r>
            <a:r>
              <a:rPr dirty="0" sz="2800" spc="10">
                <a:latin typeface="Cambria Math"/>
                <a:cs typeface="Cambria Math"/>
              </a:rPr>
              <a:t>𝐺</a:t>
            </a:r>
            <a:r>
              <a:rPr dirty="0" baseline="-16666" sz="3000" spc="15">
                <a:latin typeface="Cambria Math"/>
                <a:cs typeface="Cambria Math"/>
              </a:rPr>
              <a:t>4</a:t>
            </a:r>
            <a:r>
              <a:rPr dirty="0" sz="2800" spc="10">
                <a:latin typeface="Cambria Math"/>
                <a:cs typeface="Cambria Math"/>
              </a:rPr>
              <a:t>,</a:t>
            </a:r>
            <a:r>
              <a:rPr dirty="0" sz="2800" spc="-225">
                <a:latin typeface="Cambria Math"/>
                <a:cs typeface="Cambria Math"/>
              </a:rPr>
              <a:t> </a:t>
            </a:r>
            <a:r>
              <a:rPr dirty="0" sz="2800" spc="-160">
                <a:latin typeface="Cambria Math"/>
                <a:cs typeface="Cambria Math"/>
              </a:rPr>
              <a:t>𝐺</a:t>
            </a:r>
            <a:r>
              <a:rPr dirty="0" baseline="-16666" sz="3000" spc="-240">
                <a:latin typeface="Cambria Math"/>
                <a:cs typeface="Cambria Math"/>
              </a:rPr>
              <a:t>5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52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3049904" y="3673347"/>
            <a:ext cx="464121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&lt; </a:t>
            </a:r>
            <a:r>
              <a:rPr dirty="0" sz="2800" spc="35">
                <a:latin typeface="Cambria Math"/>
                <a:cs typeface="Cambria Math"/>
              </a:rPr>
              <a:t>𝜖</a:t>
            </a:r>
            <a:r>
              <a:rPr dirty="0" sz="2800" spc="35">
                <a:latin typeface="Calibri"/>
                <a:cs typeface="Calibri"/>
              </a:rPr>
              <a:t>, </a:t>
            </a:r>
            <a:r>
              <a:rPr dirty="0" sz="2800" spc="-10">
                <a:latin typeface="Calibri"/>
                <a:cs typeface="Calibri"/>
              </a:rPr>
              <a:t>predict “True”; </a:t>
            </a:r>
            <a:r>
              <a:rPr dirty="0" sz="2800" spc="-5">
                <a:latin typeface="Calibri"/>
                <a:cs typeface="Calibri"/>
              </a:rPr>
              <a:t>else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“False”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108" y="4167123"/>
            <a:ext cx="7969250" cy="2303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185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latin typeface="Cambria Math"/>
                <a:cs typeface="Cambria Math"/>
              </a:rPr>
              <a:t>𝜖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hyper-parameter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59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45">
                <a:latin typeface="Calibri"/>
                <a:cs typeface="Calibri"/>
              </a:rPr>
              <a:t>To </a:t>
            </a:r>
            <a:r>
              <a:rPr dirty="0" sz="3200" spc="-5">
                <a:latin typeface="Calibri"/>
                <a:cs typeface="Calibri"/>
              </a:rPr>
              <a:t>check </a:t>
            </a:r>
            <a:r>
              <a:rPr dirty="0" sz="3200">
                <a:latin typeface="Calibri"/>
                <a:cs typeface="Calibri"/>
              </a:rPr>
              <a:t>if </a:t>
            </a:r>
            <a:r>
              <a:rPr dirty="0" sz="3200" spc="509">
                <a:solidFill>
                  <a:srgbClr val="C00000"/>
                </a:solidFill>
                <a:latin typeface="Cambria Math"/>
                <a:cs typeface="Cambria Math"/>
              </a:rPr>
              <a:t>𝐺</a:t>
            </a:r>
            <a:r>
              <a:rPr dirty="0" baseline="-15700" sz="3450" spc="765">
                <a:solidFill>
                  <a:srgbClr val="C00000"/>
                </a:solidFill>
                <a:latin typeface="Cambria Math"/>
                <a:cs typeface="Cambria Math"/>
              </a:rPr>
              <a:t>, </a:t>
            </a: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 spc="-5">
                <a:latin typeface="Calibri"/>
                <a:cs typeface="Calibri"/>
              </a:rPr>
              <a:t>isomorphic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10">
                <a:latin typeface="Calibri"/>
                <a:cs typeface="Calibri"/>
              </a:rPr>
              <a:t>subgraph</a:t>
            </a:r>
            <a:r>
              <a:rPr dirty="0" sz="3200" spc="-1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ts val="3695"/>
              </a:lnSpc>
            </a:pPr>
            <a:r>
              <a:rPr dirty="0" sz="3200" spc="-5">
                <a:solidFill>
                  <a:srgbClr val="0000FF"/>
                </a:solidFill>
                <a:latin typeface="Cambria Math"/>
                <a:cs typeface="Cambria Math"/>
              </a:rPr>
              <a:t>𝐺</a:t>
            </a:r>
            <a:r>
              <a:rPr dirty="0" baseline="-15700" sz="3450" spc="-7">
                <a:solidFill>
                  <a:srgbClr val="0000FF"/>
                </a:solidFill>
                <a:latin typeface="Cambria Math"/>
                <a:cs typeface="Cambria Math"/>
              </a:rPr>
              <a:t># </a:t>
            </a:r>
            <a:r>
              <a:rPr dirty="0" sz="3200">
                <a:latin typeface="Calibri"/>
                <a:cs typeface="Calibri"/>
              </a:rPr>
              <a:t>, </a:t>
            </a:r>
            <a:r>
              <a:rPr dirty="0" sz="3200" spc="-15">
                <a:latin typeface="Calibri"/>
                <a:cs typeface="Calibri"/>
              </a:rPr>
              <a:t>repeat </a:t>
            </a:r>
            <a:r>
              <a:rPr dirty="0" sz="3200">
                <a:latin typeface="Calibri"/>
                <a:cs typeface="Calibri"/>
              </a:rPr>
              <a:t>this </a:t>
            </a:r>
            <a:r>
              <a:rPr dirty="0" sz="3200" spc="-15">
                <a:latin typeface="Calibri"/>
                <a:cs typeface="Calibri"/>
              </a:rPr>
              <a:t>procedure </a:t>
            </a:r>
            <a:r>
              <a:rPr dirty="0" sz="3200" spc="-25">
                <a:latin typeface="Calibri"/>
                <a:cs typeface="Calibri"/>
              </a:rPr>
              <a:t>for </a:t>
            </a:r>
            <a:r>
              <a:rPr dirty="0" sz="3200">
                <a:latin typeface="Calibri"/>
                <a:cs typeface="Calibri"/>
              </a:rPr>
              <a:t>all </a:t>
            </a:r>
            <a:r>
              <a:rPr dirty="0" sz="3200">
                <a:latin typeface="Cambria Math"/>
                <a:cs typeface="Cambria Math"/>
              </a:rPr>
              <a:t>𝑞  ∈ </a:t>
            </a:r>
            <a:r>
              <a:rPr dirty="0" sz="3200" spc="385">
                <a:solidFill>
                  <a:srgbClr val="C00000"/>
                </a:solidFill>
                <a:latin typeface="Cambria Math"/>
                <a:cs typeface="Cambria Math"/>
              </a:rPr>
              <a:t>𝐺</a:t>
            </a:r>
            <a:r>
              <a:rPr dirty="0" baseline="-15700" sz="3450" spc="577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dirty="0" sz="3200" spc="385">
                <a:latin typeface="Calibri"/>
                <a:cs typeface="Calibri"/>
              </a:rPr>
              <a:t>, </a:t>
            </a:r>
            <a:r>
              <a:rPr dirty="0" sz="3200">
                <a:latin typeface="Cambria Math"/>
                <a:cs typeface="Cambria Math"/>
              </a:rPr>
              <a:t>𝑡</a:t>
            </a:r>
            <a:r>
              <a:rPr dirty="0" sz="3200" spc="-16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∈</a:t>
            </a:r>
            <a:endParaRPr sz="3200">
              <a:latin typeface="Cambria Math"/>
              <a:cs typeface="Cambria Math"/>
            </a:endParaRPr>
          </a:p>
          <a:p>
            <a:pPr marL="332740">
              <a:lnSpc>
                <a:spcPts val="3695"/>
              </a:lnSpc>
            </a:pPr>
            <a:r>
              <a:rPr dirty="0" sz="3200" spc="50">
                <a:solidFill>
                  <a:srgbClr val="0000FF"/>
                </a:solidFill>
                <a:latin typeface="Cambria Math"/>
                <a:cs typeface="Cambria Math"/>
              </a:rPr>
              <a:t>𝐺</a:t>
            </a:r>
            <a:r>
              <a:rPr dirty="0" baseline="-15700" sz="3450" spc="75">
                <a:solidFill>
                  <a:srgbClr val="0000FF"/>
                </a:solidFill>
                <a:latin typeface="Cambria Math"/>
                <a:cs typeface="Cambria Math"/>
              </a:rPr>
              <a:t>#</a:t>
            </a:r>
            <a:r>
              <a:rPr dirty="0" sz="3200" spc="50">
                <a:latin typeface="Calibri"/>
                <a:cs typeface="Calibri"/>
              </a:rPr>
              <a:t>. </a:t>
            </a:r>
            <a:r>
              <a:rPr dirty="0" sz="3200" spc="-15">
                <a:latin typeface="Calibri"/>
                <a:cs typeface="Calibri"/>
              </a:rPr>
              <a:t>Here </a:t>
            </a:r>
            <a:r>
              <a:rPr dirty="0" sz="3200" spc="350">
                <a:solidFill>
                  <a:srgbClr val="C00000"/>
                </a:solidFill>
                <a:latin typeface="Cambria Math"/>
                <a:cs typeface="Cambria Math"/>
              </a:rPr>
              <a:t>𝐺</a:t>
            </a:r>
            <a:r>
              <a:rPr dirty="0" baseline="-15700" sz="3450" spc="525">
                <a:solidFill>
                  <a:srgbClr val="C00000"/>
                </a:solidFill>
                <a:latin typeface="Cambria Math"/>
                <a:cs typeface="Cambria Math"/>
              </a:rPr>
              <a:t>. </a:t>
            </a:r>
            <a:r>
              <a:rPr dirty="0" sz="3200">
                <a:latin typeface="Calibri"/>
                <a:cs typeface="Calibri"/>
              </a:rPr>
              <a:t>is the </a:t>
            </a:r>
            <a:r>
              <a:rPr dirty="0" sz="3200" spc="-5">
                <a:latin typeface="Calibri"/>
                <a:cs typeface="Calibri"/>
              </a:rPr>
              <a:t>neighborhood </a:t>
            </a:r>
            <a:r>
              <a:rPr dirty="0" sz="3200" spc="-10">
                <a:latin typeface="Calibri"/>
                <a:cs typeface="Calibri"/>
              </a:rPr>
              <a:t>around</a:t>
            </a:r>
            <a:r>
              <a:rPr dirty="0" sz="3200" spc="-1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node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ts val="3770"/>
              </a:lnSpc>
            </a:pPr>
            <a:r>
              <a:rPr dirty="0" sz="3200">
                <a:latin typeface="Cambria Math"/>
                <a:cs typeface="Cambria Math"/>
              </a:rPr>
              <a:t>𝑞  ∈</a:t>
            </a:r>
            <a:r>
              <a:rPr dirty="0" sz="3200" spc="-320">
                <a:latin typeface="Cambria Math"/>
                <a:cs typeface="Cambria Math"/>
              </a:rPr>
              <a:t> </a:t>
            </a:r>
            <a:r>
              <a:rPr dirty="0" sz="3200" spc="385">
                <a:solidFill>
                  <a:srgbClr val="C00000"/>
                </a:solidFill>
                <a:latin typeface="Cambria Math"/>
                <a:cs typeface="Cambria Math"/>
              </a:rPr>
              <a:t>𝐺</a:t>
            </a:r>
            <a:r>
              <a:rPr dirty="0" baseline="-15700" sz="3450" spc="577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dirty="0" sz="3200" spc="385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65759"/>
            <a:ext cx="8430768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863205" cy="130302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32740" marR="5080" indent="-320040">
              <a:lnSpc>
                <a:spcPct val="99600"/>
              </a:lnSpc>
              <a:spcBef>
                <a:spcPts val="11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5"/>
              <a:t>Neural </a:t>
            </a:r>
            <a:r>
              <a:rPr dirty="0" sz="2800" spc="-10"/>
              <a:t>subgraph matching </a:t>
            </a:r>
            <a:r>
              <a:rPr dirty="0" sz="2800" spc="-5"/>
              <a:t>uses </a:t>
            </a:r>
            <a:r>
              <a:rPr dirty="0" sz="2800"/>
              <a:t>a </a:t>
            </a:r>
            <a:r>
              <a:rPr dirty="0" sz="2800" spc="-5" b="1">
                <a:solidFill>
                  <a:srgbClr val="008000"/>
                </a:solidFill>
                <a:latin typeface="Calibri"/>
                <a:cs typeface="Calibri"/>
              </a:rPr>
              <a:t>machine learning-  based </a:t>
            </a: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approach </a:t>
            </a:r>
            <a:r>
              <a:rPr dirty="0" sz="2800" spc="-15"/>
              <a:t>to </a:t>
            </a:r>
            <a:r>
              <a:rPr dirty="0" sz="2800" spc="-5"/>
              <a:t>learn </a:t>
            </a:r>
            <a:r>
              <a:rPr dirty="0" sz="2800"/>
              <a:t>the </a:t>
            </a:r>
            <a:r>
              <a:rPr dirty="0" sz="2800" spc="-20"/>
              <a:t>NP-hard </a:t>
            </a:r>
            <a:r>
              <a:rPr dirty="0" sz="2800" spc="-10"/>
              <a:t>problem </a:t>
            </a:r>
            <a:r>
              <a:rPr dirty="0" sz="2800" spc="-5"/>
              <a:t>of  </a:t>
            </a:r>
            <a:r>
              <a:rPr dirty="0" sz="2800" spc="-10"/>
              <a:t>subgraph</a:t>
            </a:r>
            <a:r>
              <a:rPr dirty="0" sz="2800" spc="-30"/>
              <a:t> </a:t>
            </a:r>
            <a:r>
              <a:rPr dirty="0" sz="2800" spc="-5"/>
              <a:t>isomorphism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18430" y="3604874"/>
            <a:ext cx="960119" cy="368300"/>
          </a:xfrm>
          <a:custGeom>
            <a:avLst/>
            <a:gdLst/>
            <a:ahLst/>
            <a:cxnLst/>
            <a:rect l="l" t="t" r="r" b="b"/>
            <a:pathLst>
              <a:path w="960120" h="368300">
                <a:moveTo>
                  <a:pt x="863349" y="0"/>
                </a:moveTo>
                <a:lnTo>
                  <a:pt x="859628" y="12204"/>
                </a:lnTo>
                <a:lnTo>
                  <a:pt x="876543" y="20976"/>
                </a:lnTo>
                <a:lnTo>
                  <a:pt x="891273" y="33747"/>
                </a:lnTo>
                <a:lnTo>
                  <a:pt x="914173" y="71288"/>
                </a:lnTo>
                <a:lnTo>
                  <a:pt x="928071" y="122299"/>
                </a:lnTo>
                <a:lnTo>
                  <a:pt x="932703" y="184250"/>
                </a:lnTo>
                <a:lnTo>
                  <a:pt x="931545" y="216522"/>
                </a:lnTo>
                <a:lnTo>
                  <a:pt x="922280" y="272890"/>
                </a:lnTo>
                <a:lnTo>
                  <a:pt x="903816" y="317725"/>
                </a:lnTo>
                <a:lnTo>
                  <a:pt x="876543" y="347230"/>
                </a:lnTo>
                <a:lnTo>
                  <a:pt x="859628" y="355997"/>
                </a:lnTo>
                <a:lnTo>
                  <a:pt x="863349" y="368200"/>
                </a:lnTo>
                <a:lnTo>
                  <a:pt x="904463" y="346286"/>
                </a:lnTo>
                <a:lnTo>
                  <a:pt x="934935" y="304949"/>
                </a:lnTo>
                <a:lnTo>
                  <a:pt x="953799" y="249213"/>
                </a:lnTo>
                <a:lnTo>
                  <a:pt x="960086" y="184100"/>
                </a:lnTo>
                <a:lnTo>
                  <a:pt x="958515" y="150372"/>
                </a:lnTo>
                <a:lnTo>
                  <a:pt x="945939" y="89948"/>
                </a:lnTo>
                <a:lnTo>
                  <a:pt x="921029" y="40156"/>
                </a:lnTo>
                <a:lnTo>
                  <a:pt x="885236" y="8530"/>
                </a:lnTo>
                <a:lnTo>
                  <a:pt x="863349" y="0"/>
                </a:lnTo>
                <a:close/>
              </a:path>
              <a:path w="960120" h="368300">
                <a:moveTo>
                  <a:pt x="96737" y="0"/>
                </a:moveTo>
                <a:lnTo>
                  <a:pt x="55623" y="21915"/>
                </a:lnTo>
                <a:lnTo>
                  <a:pt x="25151" y="63252"/>
                </a:lnTo>
                <a:lnTo>
                  <a:pt x="6287" y="118988"/>
                </a:lnTo>
                <a:lnTo>
                  <a:pt x="0" y="184100"/>
                </a:lnTo>
                <a:lnTo>
                  <a:pt x="1571" y="217828"/>
                </a:lnTo>
                <a:lnTo>
                  <a:pt x="14147" y="278253"/>
                </a:lnTo>
                <a:lnTo>
                  <a:pt x="39057" y="328045"/>
                </a:lnTo>
                <a:lnTo>
                  <a:pt x="74850" y="359671"/>
                </a:lnTo>
                <a:lnTo>
                  <a:pt x="96737" y="368200"/>
                </a:lnTo>
                <a:lnTo>
                  <a:pt x="100458" y="355997"/>
                </a:lnTo>
                <a:lnTo>
                  <a:pt x="83543" y="347230"/>
                </a:lnTo>
                <a:lnTo>
                  <a:pt x="68813" y="334473"/>
                </a:lnTo>
                <a:lnTo>
                  <a:pt x="45913" y="296986"/>
                </a:lnTo>
                <a:lnTo>
                  <a:pt x="32015" y="246069"/>
                </a:lnTo>
                <a:lnTo>
                  <a:pt x="27389" y="184100"/>
                </a:lnTo>
                <a:lnTo>
                  <a:pt x="28541" y="151907"/>
                </a:lnTo>
                <a:lnTo>
                  <a:pt x="37806" y="95426"/>
                </a:lnTo>
                <a:lnTo>
                  <a:pt x="56270" y="50518"/>
                </a:lnTo>
                <a:lnTo>
                  <a:pt x="83543" y="20976"/>
                </a:lnTo>
                <a:lnTo>
                  <a:pt x="100458" y="12204"/>
                </a:lnTo>
                <a:lnTo>
                  <a:pt x="967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108" y="2706116"/>
            <a:ext cx="8378190" cy="357568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625475" marR="278765" indent="-274320">
              <a:lnSpc>
                <a:spcPct val="100800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0">
                <a:latin typeface="Calibri"/>
                <a:cs typeface="Calibri"/>
              </a:rPr>
              <a:t>Given </a:t>
            </a:r>
            <a:r>
              <a:rPr dirty="0" sz="2400">
                <a:latin typeface="Calibri"/>
                <a:cs typeface="Calibri"/>
              </a:rPr>
              <a:t>query and </a:t>
            </a:r>
            <a:r>
              <a:rPr dirty="0" sz="2400" spc="-20">
                <a:latin typeface="Calibri"/>
                <a:cs typeface="Calibri"/>
              </a:rPr>
              <a:t>target </a:t>
            </a:r>
            <a:r>
              <a:rPr dirty="0" sz="2400" spc="-10">
                <a:latin typeface="Calibri"/>
                <a:cs typeface="Calibri"/>
              </a:rPr>
              <a:t>graph, </a:t>
            </a:r>
            <a:r>
              <a:rPr dirty="0" sz="2400" spc="-5">
                <a:latin typeface="Calibri"/>
                <a:cs typeface="Calibri"/>
              </a:rPr>
              <a:t>it embeds both </a:t>
            </a:r>
            <a:r>
              <a:rPr dirty="0" sz="2400" spc="-10">
                <a:latin typeface="Calibri"/>
                <a:cs typeface="Calibri"/>
              </a:rPr>
              <a:t>graphs </a:t>
            </a:r>
            <a:r>
              <a:rPr dirty="0" sz="2400" spc="-15">
                <a:latin typeface="Calibri"/>
                <a:cs typeface="Calibri"/>
              </a:rPr>
              <a:t>into </a:t>
            </a:r>
            <a:r>
              <a:rPr dirty="0" sz="2400" spc="-509">
                <a:latin typeface="Calibri"/>
                <a:cs typeface="Calibri"/>
              </a:rPr>
              <a:t>an  </a:t>
            </a:r>
            <a:r>
              <a:rPr dirty="0" sz="2400" spc="-10">
                <a:latin typeface="Calibri"/>
                <a:cs typeface="Calibri"/>
              </a:rPr>
              <a:t>order </a:t>
            </a:r>
            <a:r>
              <a:rPr dirty="0" sz="2400" spc="-5">
                <a:latin typeface="Calibri"/>
                <a:cs typeface="Calibri"/>
              </a:rPr>
              <a:t>embedding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space</a:t>
            </a:r>
            <a:endParaRPr sz="2400">
              <a:latin typeface="Calibri"/>
              <a:cs typeface="Calibri"/>
            </a:endParaRPr>
          </a:p>
          <a:p>
            <a:pPr marL="625475" marR="858519" indent="-274320">
              <a:lnSpc>
                <a:spcPct val="104200"/>
              </a:lnSpc>
              <a:spcBef>
                <a:spcPts val="81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  <a:tab pos="6309995" algn="l"/>
                <a:tab pos="7254875" algn="l"/>
              </a:tabLst>
            </a:pPr>
            <a:r>
              <a:rPr dirty="0" sz="2400" spc="-5">
                <a:latin typeface="Calibri"/>
                <a:cs typeface="Calibri"/>
              </a:rPr>
              <a:t>Usi</a:t>
            </a:r>
            <a:r>
              <a:rPr dirty="0" sz="2400">
                <a:latin typeface="Calibri"/>
                <a:cs typeface="Calibri"/>
              </a:rPr>
              <a:t>ng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t</a:t>
            </a:r>
            <a:r>
              <a:rPr dirty="0" sz="2400">
                <a:latin typeface="Calibri"/>
                <a:cs typeface="Calibri"/>
              </a:rPr>
              <a:t>h</a:t>
            </a:r>
            <a:r>
              <a:rPr dirty="0" sz="2400" spc="0">
                <a:latin typeface="Calibri"/>
                <a:cs typeface="Calibri"/>
              </a:rPr>
              <a:t>e</a:t>
            </a:r>
            <a:r>
              <a:rPr dirty="0" sz="2400" spc="-5">
                <a:latin typeface="Calibri"/>
                <a:cs typeface="Calibri"/>
              </a:rPr>
              <a:t>s</a:t>
            </a:r>
            <a:r>
              <a:rPr dirty="0" sz="2400">
                <a:latin typeface="Calibri"/>
                <a:cs typeface="Calibri"/>
              </a:rPr>
              <a:t>e </a:t>
            </a:r>
            <a:r>
              <a:rPr dirty="0" sz="2400" spc="0">
                <a:latin typeface="Calibri"/>
                <a:cs typeface="Calibri"/>
              </a:rPr>
              <a:t>e</a:t>
            </a:r>
            <a:r>
              <a:rPr dirty="0" sz="2400" spc="-5">
                <a:latin typeface="Calibri"/>
                <a:cs typeface="Calibri"/>
              </a:rPr>
              <a:t>m</a:t>
            </a:r>
            <a:r>
              <a:rPr dirty="0" sz="2400">
                <a:latin typeface="Calibri"/>
                <a:cs typeface="Calibri"/>
              </a:rPr>
              <a:t>b</a:t>
            </a:r>
            <a:r>
              <a:rPr dirty="0" sz="2400" spc="0">
                <a:latin typeface="Calibri"/>
                <a:cs typeface="Calibri"/>
              </a:rPr>
              <a:t>e</a:t>
            </a:r>
            <a:r>
              <a:rPr dirty="0" sz="2400">
                <a:latin typeface="Calibri"/>
                <a:cs typeface="Calibri"/>
              </a:rPr>
              <a:t>dd</a:t>
            </a:r>
            <a:r>
              <a:rPr dirty="0" sz="2400" spc="-5">
                <a:latin typeface="Calibri"/>
                <a:cs typeface="Calibri"/>
              </a:rPr>
              <a:t>i</a:t>
            </a:r>
            <a:r>
              <a:rPr dirty="0" sz="2400">
                <a:latin typeface="Calibri"/>
                <a:cs typeface="Calibri"/>
              </a:rPr>
              <a:t>n</a:t>
            </a:r>
            <a:r>
              <a:rPr dirty="0" sz="2400" spc="-5">
                <a:latin typeface="Calibri"/>
                <a:cs typeface="Calibri"/>
              </a:rPr>
              <a:t>gs</a:t>
            </a:r>
            <a:r>
              <a:rPr dirty="0" sz="2400">
                <a:latin typeface="Calibri"/>
                <a:cs typeface="Calibri"/>
              </a:rPr>
              <a:t>,</a:t>
            </a:r>
            <a:r>
              <a:rPr dirty="0" sz="2400" spc="-5">
                <a:latin typeface="Calibri"/>
                <a:cs typeface="Calibri"/>
              </a:rPr>
              <a:t> i</a:t>
            </a:r>
            <a:r>
              <a:rPr dirty="0" sz="2400">
                <a:latin typeface="Calibri"/>
                <a:cs typeface="Calibri"/>
              </a:rPr>
              <a:t>t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t</a:t>
            </a:r>
            <a:r>
              <a:rPr dirty="0" sz="2400">
                <a:latin typeface="Calibri"/>
                <a:cs typeface="Calibri"/>
              </a:rPr>
              <a:t>h</a:t>
            </a:r>
            <a:r>
              <a:rPr dirty="0" sz="2400" spc="0">
                <a:latin typeface="Calibri"/>
                <a:cs typeface="Calibri"/>
              </a:rPr>
              <a:t>e</a:t>
            </a:r>
            <a:r>
              <a:rPr dirty="0" sz="2400">
                <a:latin typeface="Calibri"/>
                <a:cs typeface="Calibri"/>
              </a:rPr>
              <a:t>n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c</a:t>
            </a:r>
            <a:r>
              <a:rPr dirty="0" sz="2400" spc="-5">
                <a:latin typeface="Calibri"/>
                <a:cs typeface="Calibri"/>
              </a:rPr>
              <a:t>om</a:t>
            </a:r>
            <a:r>
              <a:rPr dirty="0" sz="2400">
                <a:latin typeface="Calibri"/>
                <a:cs typeface="Calibri"/>
              </a:rPr>
              <a:t>pu</a:t>
            </a:r>
            <a:r>
              <a:rPr dirty="0" sz="2400" spc="-30">
                <a:latin typeface="Calibri"/>
                <a:cs typeface="Calibri"/>
              </a:rPr>
              <a:t>t</a:t>
            </a:r>
            <a:r>
              <a:rPr dirty="0" sz="2400" spc="0">
                <a:latin typeface="Calibri"/>
                <a:cs typeface="Calibri"/>
              </a:rPr>
              <a:t>e</a:t>
            </a:r>
            <a:r>
              <a:rPr dirty="0" sz="2400">
                <a:latin typeface="Calibri"/>
                <a:cs typeface="Calibri"/>
              </a:rPr>
              <a:t>s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mbria Math"/>
                <a:cs typeface="Cambria Math"/>
              </a:rPr>
              <a:t>𝐸	</a:t>
            </a:r>
            <a:r>
              <a:rPr dirty="0" sz="2400" spc="-140">
                <a:latin typeface="Cambria Math"/>
                <a:cs typeface="Cambria Math"/>
              </a:rPr>
              <a:t>𝐺</a:t>
            </a:r>
            <a:r>
              <a:rPr dirty="0" baseline="-15432" sz="2700" spc="1027">
                <a:latin typeface="Cambria Math"/>
                <a:cs typeface="Cambria Math"/>
              </a:rPr>
              <a:t>;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70">
                <a:latin typeface="Cambria Math"/>
                <a:cs typeface="Cambria Math"/>
              </a:rPr>
              <a:t>𝐺</a:t>
            </a:r>
            <a:r>
              <a:rPr dirty="0" baseline="-15432" sz="2700" spc="-839">
                <a:latin typeface="Cambria Math"/>
                <a:cs typeface="Cambria Math"/>
              </a:rPr>
              <a:t>&lt;</a:t>
            </a:r>
            <a:r>
              <a:rPr dirty="0" baseline="-15432" sz="2700">
                <a:latin typeface="Cambria Math"/>
                <a:cs typeface="Cambria Math"/>
              </a:rPr>
              <a:t>	</a:t>
            </a:r>
            <a:r>
              <a:rPr dirty="0" sz="2400" spc="-30">
                <a:latin typeface="Calibri"/>
                <a:cs typeface="Calibri"/>
              </a:rPr>
              <a:t>to  </a:t>
            </a:r>
            <a:r>
              <a:rPr dirty="0" sz="2400" spc="-10">
                <a:latin typeface="Calibri"/>
                <a:cs typeface="Calibri"/>
              </a:rPr>
              <a:t>determine </a:t>
            </a:r>
            <a:r>
              <a:rPr dirty="0" sz="2400" spc="-5">
                <a:latin typeface="Calibri"/>
                <a:cs typeface="Calibri"/>
              </a:rPr>
              <a:t>whether </a:t>
            </a:r>
            <a:r>
              <a:rPr dirty="0" sz="2400">
                <a:latin typeface="Calibri"/>
                <a:cs typeface="Calibri"/>
              </a:rPr>
              <a:t>query </a:t>
            </a:r>
            <a:r>
              <a:rPr dirty="0" sz="2400" spc="-5">
                <a:latin typeface="Calibri"/>
                <a:cs typeface="Calibri"/>
              </a:rPr>
              <a:t>is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10">
                <a:latin typeface="Calibri"/>
                <a:cs typeface="Calibri"/>
              </a:rPr>
              <a:t>subgraph </a:t>
            </a:r>
            <a:r>
              <a:rPr dirty="0" sz="2400" spc="-5">
                <a:latin typeface="Calibri"/>
                <a:cs typeface="Calibri"/>
              </a:rPr>
              <a:t>of the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target</a:t>
            </a:r>
            <a:endParaRPr sz="2400">
              <a:latin typeface="Calibri"/>
              <a:cs typeface="Calibri"/>
            </a:endParaRPr>
          </a:p>
          <a:p>
            <a:pPr marL="332740" marR="5080" indent="-320040">
              <a:lnSpc>
                <a:spcPct val="99800"/>
              </a:lnSpc>
              <a:spcBef>
                <a:spcPts val="2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Embedding </a:t>
            </a:r>
            <a:r>
              <a:rPr dirty="0" sz="3200" spc="-15">
                <a:latin typeface="Calibri"/>
                <a:cs typeface="Calibri"/>
              </a:rPr>
              <a:t>graphs </a:t>
            </a:r>
            <a:r>
              <a:rPr dirty="0" sz="3200" spc="-5">
                <a:latin typeface="Calibri"/>
                <a:cs typeface="Calibri"/>
              </a:rPr>
              <a:t>within </a:t>
            </a:r>
            <a:r>
              <a:rPr dirty="0" sz="3200">
                <a:latin typeface="Calibri"/>
                <a:cs typeface="Calibri"/>
              </a:rPr>
              <a:t>an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order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embedding  space </a:t>
            </a:r>
            <a:r>
              <a:rPr dirty="0" sz="3200" spc="-10">
                <a:latin typeface="Calibri"/>
                <a:cs typeface="Calibri"/>
              </a:rPr>
              <a:t>allows subgraph </a:t>
            </a:r>
            <a:r>
              <a:rPr dirty="0" sz="3200" spc="-5">
                <a:latin typeface="Calibri"/>
                <a:cs typeface="Calibri"/>
              </a:rPr>
              <a:t>isomorphism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be  </a:t>
            </a:r>
            <a:r>
              <a:rPr dirty="0" sz="3200" spc="-10">
                <a:latin typeface="Calibri"/>
                <a:cs typeface="Calibri"/>
              </a:rPr>
              <a:t>efficiently </a:t>
            </a:r>
            <a:r>
              <a:rPr dirty="0" sz="3200" spc="-20">
                <a:latin typeface="Calibri"/>
                <a:cs typeface="Calibri"/>
              </a:rPr>
              <a:t>represented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20">
                <a:latin typeface="Calibri"/>
                <a:cs typeface="Calibri"/>
              </a:rPr>
              <a:t>tested </a:t>
            </a:r>
            <a:r>
              <a:rPr dirty="0" sz="3200" spc="-5">
                <a:latin typeface="Calibri"/>
                <a:cs typeface="Calibri"/>
              </a:rPr>
              <a:t>by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relative  </a:t>
            </a:r>
            <a:r>
              <a:rPr dirty="0" sz="3200" spc="-5">
                <a:latin typeface="Calibri"/>
                <a:cs typeface="Calibri"/>
              </a:rPr>
              <a:t>positions of </a:t>
            </a:r>
            <a:r>
              <a:rPr dirty="0" sz="3200" spc="-15">
                <a:latin typeface="Calibri"/>
                <a:cs typeface="Calibri"/>
              </a:rPr>
              <a:t>graph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embeddings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52</a:t>
            </a:fld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4672" y="3477767"/>
            <a:ext cx="7226808" cy="12984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3477767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6963" y="1349755"/>
            <a:ext cx="45675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5" b="1">
                <a:solidFill>
                  <a:srgbClr val="F0AD00"/>
                </a:solidFill>
                <a:latin typeface="Calibri"/>
                <a:cs typeface="Calibri"/>
              </a:rPr>
              <a:t>1) </a:t>
            </a:r>
            <a:r>
              <a:rPr dirty="0" sz="3600" spc="-15" b="1">
                <a:solidFill>
                  <a:srgbClr val="A6A6A6"/>
                </a:solidFill>
                <a:latin typeface="Calibri"/>
                <a:cs typeface="Calibri"/>
              </a:rPr>
              <a:t>Subgraphs </a:t>
            </a:r>
            <a:r>
              <a:rPr dirty="0" sz="3600" spc="-5" b="1">
                <a:solidFill>
                  <a:srgbClr val="A6A6A6"/>
                </a:solidFill>
                <a:latin typeface="Calibri"/>
                <a:cs typeface="Calibri"/>
              </a:rPr>
              <a:t>and </a:t>
            </a:r>
            <a:r>
              <a:rPr dirty="0" sz="3600" spc="-10" b="1">
                <a:solidFill>
                  <a:srgbClr val="A6A6A6"/>
                </a:solidFill>
                <a:latin typeface="Calibri"/>
                <a:cs typeface="Calibri"/>
              </a:rPr>
              <a:t>Motifs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6963" y="1926844"/>
            <a:ext cx="6785609" cy="347472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762635" indent="-45720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762000" algn="l"/>
                <a:tab pos="762635" algn="l"/>
              </a:tabLst>
            </a:pPr>
            <a:r>
              <a:rPr dirty="0" sz="2800" spc="-10">
                <a:solidFill>
                  <a:srgbClr val="A6A6A6"/>
                </a:solidFill>
                <a:latin typeface="Calibri"/>
                <a:cs typeface="Calibri"/>
              </a:rPr>
              <a:t>Defining Subgraphs </a:t>
            </a:r>
            <a:r>
              <a:rPr dirty="0" sz="2800" spc="-5">
                <a:solidFill>
                  <a:srgbClr val="A6A6A6"/>
                </a:solidFill>
                <a:latin typeface="Calibri"/>
                <a:cs typeface="Calibri"/>
              </a:rPr>
              <a:t>and</a:t>
            </a:r>
            <a:r>
              <a:rPr dirty="0" sz="2800" spc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A6A6A6"/>
                </a:solidFill>
                <a:latin typeface="Calibri"/>
                <a:cs typeface="Calibri"/>
              </a:rPr>
              <a:t>Motifs</a:t>
            </a:r>
            <a:endParaRPr sz="2800">
              <a:latin typeface="Calibri"/>
              <a:cs typeface="Calibri"/>
            </a:endParaRPr>
          </a:p>
          <a:p>
            <a:pPr marL="762635" indent="-45720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762000" algn="l"/>
                <a:tab pos="762635" algn="l"/>
              </a:tabLst>
            </a:pPr>
            <a:r>
              <a:rPr dirty="0" sz="2800" spc="-10">
                <a:solidFill>
                  <a:srgbClr val="A6A6A6"/>
                </a:solidFill>
                <a:latin typeface="Calibri"/>
                <a:cs typeface="Calibri"/>
              </a:rPr>
              <a:t>Determining </a:t>
            </a:r>
            <a:r>
              <a:rPr dirty="0" sz="2800" spc="-5">
                <a:solidFill>
                  <a:srgbClr val="A6A6A6"/>
                </a:solidFill>
                <a:latin typeface="Calibri"/>
                <a:cs typeface="Calibri"/>
              </a:rPr>
              <a:t>Motif</a:t>
            </a:r>
            <a:r>
              <a:rPr dirty="0" sz="2800" spc="-4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A6A6A6"/>
                </a:solidFill>
                <a:latin typeface="Calibri"/>
                <a:cs typeface="Calibri"/>
              </a:rPr>
              <a:t>Significance</a:t>
            </a:r>
            <a:endParaRPr sz="2800">
              <a:latin typeface="Calibri"/>
              <a:cs typeface="Calibri"/>
            </a:endParaRPr>
          </a:p>
          <a:p>
            <a:pPr marL="412750" indent="-400050">
              <a:lnSpc>
                <a:spcPct val="100000"/>
              </a:lnSpc>
              <a:spcBef>
                <a:spcPts val="2030"/>
              </a:spcBef>
              <a:buClr>
                <a:srgbClr val="F0AD00"/>
              </a:buClr>
              <a:buSzPct val="80555"/>
              <a:buAutoNum type="arabicParenR" startAt="2"/>
              <a:tabLst>
                <a:tab pos="412750" algn="l"/>
              </a:tabLst>
            </a:pPr>
            <a:r>
              <a:rPr dirty="0" sz="3600" spc="-20" b="1">
                <a:solidFill>
                  <a:srgbClr val="A6A6A6"/>
                </a:solidFill>
                <a:latin typeface="Calibri"/>
                <a:cs typeface="Calibri"/>
              </a:rPr>
              <a:t>Neural </a:t>
            </a:r>
            <a:r>
              <a:rPr dirty="0" sz="3600" spc="-15" b="1">
                <a:solidFill>
                  <a:srgbClr val="A6A6A6"/>
                </a:solidFill>
                <a:latin typeface="Calibri"/>
                <a:cs typeface="Calibri"/>
              </a:rPr>
              <a:t>Subgraph</a:t>
            </a:r>
            <a:r>
              <a:rPr dirty="0" sz="3600" spc="0" b="1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3600" spc="-15" b="1">
                <a:solidFill>
                  <a:srgbClr val="A6A6A6"/>
                </a:solidFill>
                <a:latin typeface="Calibri"/>
                <a:cs typeface="Calibri"/>
              </a:rPr>
              <a:t>Representations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F0AD00"/>
              </a:buClr>
              <a:buFont typeface="Calibri"/>
              <a:buAutoNum type="arabicParenR" startAt="2"/>
            </a:pPr>
            <a:endParaRPr sz="4400">
              <a:latin typeface="Times New Roman"/>
              <a:cs typeface="Times New Roman"/>
            </a:endParaRPr>
          </a:p>
          <a:p>
            <a:pPr marL="412750" indent="-400050">
              <a:lnSpc>
                <a:spcPct val="100000"/>
              </a:lnSpc>
              <a:spcBef>
                <a:spcPts val="3410"/>
              </a:spcBef>
              <a:buClr>
                <a:srgbClr val="F0AD00"/>
              </a:buClr>
              <a:buSzPct val="80555"/>
              <a:buAutoNum type="arabicParenR" startAt="2"/>
              <a:tabLst>
                <a:tab pos="412750" algn="l"/>
              </a:tabLst>
            </a:pPr>
            <a:r>
              <a:rPr dirty="0" sz="3600" spc="-5" b="1">
                <a:latin typeface="Calibri"/>
                <a:cs typeface="Calibri"/>
              </a:rPr>
              <a:t>Mining </a:t>
            </a:r>
            <a:r>
              <a:rPr dirty="0" sz="3600" spc="-15" b="1">
                <a:latin typeface="Calibri"/>
                <a:cs typeface="Calibri"/>
              </a:rPr>
              <a:t>Frequent</a:t>
            </a:r>
            <a:r>
              <a:rPr dirty="0" sz="3600" spc="10" b="1">
                <a:latin typeface="Calibri"/>
                <a:cs typeface="Calibri"/>
              </a:rPr>
              <a:t> </a:t>
            </a:r>
            <a:r>
              <a:rPr dirty="0" sz="3600" spc="-15" b="1">
                <a:latin typeface="Calibri"/>
                <a:cs typeface="Calibri"/>
              </a:rPr>
              <a:t>Subgraphs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24600" y="4724400"/>
            <a:ext cx="1250660" cy="12506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55</a:t>
            </a:fld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78591" y="5374206"/>
            <a:ext cx="485140" cy="383540"/>
          </a:xfrm>
          <a:custGeom>
            <a:avLst/>
            <a:gdLst/>
            <a:ahLst/>
            <a:cxnLst/>
            <a:rect l="l" t="t" r="r" b="b"/>
            <a:pathLst>
              <a:path w="485139" h="383539">
                <a:moveTo>
                  <a:pt x="0" y="0"/>
                </a:moveTo>
                <a:lnTo>
                  <a:pt x="484960" y="383392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877747" y="4321050"/>
            <a:ext cx="95250" cy="1327785"/>
          </a:xfrm>
          <a:custGeom>
            <a:avLst/>
            <a:gdLst/>
            <a:ahLst/>
            <a:cxnLst/>
            <a:rect l="l" t="t" r="r" b="b"/>
            <a:pathLst>
              <a:path w="95250" h="1327785">
                <a:moveTo>
                  <a:pt x="0" y="0"/>
                </a:moveTo>
                <a:lnTo>
                  <a:pt x="94909" y="1327444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78591" y="4321049"/>
            <a:ext cx="345440" cy="899160"/>
          </a:xfrm>
          <a:custGeom>
            <a:avLst/>
            <a:gdLst/>
            <a:ahLst/>
            <a:cxnLst/>
            <a:rect l="l" t="t" r="r" b="b"/>
            <a:pathLst>
              <a:path w="345439" h="899160">
                <a:moveTo>
                  <a:pt x="0" y="898860"/>
                </a:moveTo>
                <a:lnTo>
                  <a:pt x="344859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394454" y="4040329"/>
            <a:ext cx="299720" cy="1099185"/>
          </a:xfrm>
          <a:custGeom>
            <a:avLst/>
            <a:gdLst/>
            <a:ahLst/>
            <a:cxnLst/>
            <a:rect l="l" t="t" r="r" b="b"/>
            <a:pathLst>
              <a:path w="299720" h="1099185">
                <a:moveTo>
                  <a:pt x="0" y="0"/>
                </a:moveTo>
                <a:lnTo>
                  <a:pt x="299427" y="1099184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471603" y="4008373"/>
            <a:ext cx="1635760" cy="1663700"/>
          </a:xfrm>
          <a:custGeom>
            <a:avLst/>
            <a:gdLst/>
            <a:ahLst/>
            <a:cxnLst/>
            <a:rect l="l" t="t" r="r" b="b"/>
            <a:pathLst>
              <a:path w="1635759" h="1663700">
                <a:moveTo>
                  <a:pt x="0" y="0"/>
                </a:moveTo>
                <a:lnTo>
                  <a:pt x="1635231" y="1663307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721768" y="3828739"/>
            <a:ext cx="1020444" cy="1301115"/>
          </a:xfrm>
          <a:custGeom>
            <a:avLst/>
            <a:gdLst/>
            <a:ahLst/>
            <a:cxnLst/>
            <a:rect l="l" t="t" r="r" b="b"/>
            <a:pathLst>
              <a:path w="1020445" h="1301114">
                <a:moveTo>
                  <a:pt x="1020252" y="0"/>
                </a:moveTo>
                <a:lnTo>
                  <a:pt x="0" y="1301019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02985" y="4952815"/>
            <a:ext cx="1311275" cy="295910"/>
          </a:xfrm>
          <a:custGeom>
            <a:avLst/>
            <a:gdLst/>
            <a:ahLst/>
            <a:cxnLst/>
            <a:rect l="l" t="t" r="r" b="b"/>
            <a:pathLst>
              <a:path w="1311275" h="295910">
                <a:moveTo>
                  <a:pt x="1311163" y="0"/>
                </a:moveTo>
                <a:lnTo>
                  <a:pt x="0" y="295803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896318" y="3828739"/>
            <a:ext cx="218440" cy="970280"/>
          </a:xfrm>
          <a:custGeom>
            <a:avLst/>
            <a:gdLst/>
            <a:ahLst/>
            <a:cxnLst/>
            <a:rect l="l" t="t" r="r" b="b"/>
            <a:pathLst>
              <a:path w="218440" h="970279">
                <a:moveTo>
                  <a:pt x="0" y="0"/>
                </a:moveTo>
                <a:lnTo>
                  <a:pt x="217831" y="969779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742021" y="3674442"/>
            <a:ext cx="983615" cy="583565"/>
          </a:xfrm>
          <a:custGeom>
            <a:avLst/>
            <a:gdLst/>
            <a:ahLst/>
            <a:cxnLst/>
            <a:rect l="l" t="t" r="r" b="b"/>
            <a:pathLst>
              <a:path w="983615" h="583564">
                <a:moveTo>
                  <a:pt x="0" y="0"/>
                </a:moveTo>
                <a:lnTo>
                  <a:pt x="983329" y="58313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5216" y="347472"/>
            <a:ext cx="690981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29754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/>
              <a:t>Finding the </a:t>
            </a:r>
            <a:r>
              <a:rPr dirty="0" spc="-10"/>
              <a:t>most </a:t>
            </a:r>
            <a:r>
              <a:rPr dirty="0" spc="-15"/>
              <a:t>frequent size-</a:t>
            </a:r>
            <a:r>
              <a:rPr dirty="0" spc="-15">
                <a:latin typeface="Cambria Math"/>
                <a:cs typeface="Cambria Math"/>
              </a:rPr>
              <a:t>𝑘 </a:t>
            </a:r>
            <a:r>
              <a:rPr dirty="0" spc="-10"/>
              <a:t>motifs </a:t>
            </a:r>
            <a:r>
              <a:rPr dirty="0" spc="-15"/>
              <a:t>requires  </a:t>
            </a:r>
            <a:r>
              <a:rPr dirty="0" spc="-5"/>
              <a:t>solving </a:t>
            </a:r>
            <a:r>
              <a:rPr dirty="0" spc="-10"/>
              <a:t>two</a:t>
            </a:r>
            <a:r>
              <a:rPr dirty="0" spc="-35"/>
              <a:t> </a:t>
            </a:r>
            <a:r>
              <a:rPr dirty="0" spc="-5"/>
              <a:t>challenges: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56563" y="2332227"/>
            <a:ext cx="7512684" cy="104394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b="1">
                <a:solidFill>
                  <a:srgbClr val="0000FF"/>
                </a:solidFill>
                <a:latin typeface="Calibri"/>
                <a:cs typeface="Calibri"/>
              </a:rPr>
              <a:t>1) </a:t>
            </a:r>
            <a:r>
              <a:rPr dirty="0" sz="2800" spc="-10" b="1">
                <a:solidFill>
                  <a:srgbClr val="0000FF"/>
                </a:solidFill>
                <a:latin typeface="Calibri"/>
                <a:cs typeface="Calibri"/>
              </a:rPr>
              <a:t>Enumerating </a:t>
            </a:r>
            <a:r>
              <a:rPr dirty="0" sz="2800" spc="-5">
                <a:latin typeface="Calibri"/>
                <a:cs typeface="Calibri"/>
              </a:rPr>
              <a:t>all </a:t>
            </a:r>
            <a:r>
              <a:rPr dirty="0" sz="2800" spc="-15">
                <a:latin typeface="Calibri"/>
                <a:cs typeface="Calibri"/>
              </a:rPr>
              <a:t>size-k </a:t>
            </a:r>
            <a:r>
              <a:rPr dirty="0" sz="2800" spc="-10">
                <a:latin typeface="Calibri"/>
                <a:cs typeface="Calibri"/>
              </a:rPr>
              <a:t>connected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subgraphs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b="1">
                <a:solidFill>
                  <a:srgbClr val="0000FF"/>
                </a:solidFill>
                <a:latin typeface="Calibri"/>
                <a:cs typeface="Calibri"/>
              </a:rPr>
              <a:t>2) </a:t>
            </a:r>
            <a:r>
              <a:rPr dirty="0" sz="2800" spc="-10" b="1">
                <a:solidFill>
                  <a:srgbClr val="0000FF"/>
                </a:solidFill>
                <a:latin typeface="Calibri"/>
                <a:cs typeface="Calibri"/>
              </a:rPr>
              <a:t>Counting </a:t>
            </a:r>
            <a:r>
              <a:rPr dirty="0" sz="2800" spc="-10">
                <a:latin typeface="Calibri"/>
                <a:cs typeface="Calibri"/>
              </a:rPr>
              <a:t>#(occurrences </a:t>
            </a:r>
            <a:r>
              <a:rPr dirty="0" sz="2800" spc="-5">
                <a:latin typeface="Calibri"/>
                <a:cs typeface="Calibri"/>
              </a:rPr>
              <a:t>of each </a:t>
            </a:r>
            <a:r>
              <a:rPr dirty="0" sz="2800" spc="-10">
                <a:latin typeface="Calibri"/>
                <a:cs typeface="Calibri"/>
              </a:rPr>
              <a:t>subgraph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 spc="-105">
                <a:latin typeface="Calibri"/>
                <a:cs typeface="Calibri"/>
              </a:rPr>
              <a:t>type)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42105" y="4649970"/>
            <a:ext cx="311785" cy="351155"/>
          </a:xfrm>
          <a:custGeom>
            <a:avLst/>
            <a:gdLst/>
            <a:ahLst/>
            <a:cxnLst/>
            <a:rect l="l" t="t" r="r" b="b"/>
            <a:pathLst>
              <a:path w="311785" h="351154">
                <a:moveTo>
                  <a:pt x="155649" y="0"/>
                </a:moveTo>
                <a:lnTo>
                  <a:pt x="114272" y="6271"/>
                </a:lnTo>
                <a:lnTo>
                  <a:pt x="77090" y="23969"/>
                </a:lnTo>
                <a:lnTo>
                  <a:pt x="45589" y="51421"/>
                </a:lnTo>
                <a:lnTo>
                  <a:pt x="21250" y="86953"/>
                </a:lnTo>
                <a:lnTo>
                  <a:pt x="5560" y="128891"/>
                </a:lnTo>
                <a:lnTo>
                  <a:pt x="0" y="175563"/>
                </a:lnTo>
                <a:lnTo>
                  <a:pt x="5560" y="222235"/>
                </a:lnTo>
                <a:lnTo>
                  <a:pt x="21250" y="264173"/>
                </a:lnTo>
                <a:lnTo>
                  <a:pt x="45589" y="299705"/>
                </a:lnTo>
                <a:lnTo>
                  <a:pt x="77090" y="327157"/>
                </a:lnTo>
                <a:lnTo>
                  <a:pt x="114272" y="344855"/>
                </a:lnTo>
                <a:lnTo>
                  <a:pt x="155649" y="351127"/>
                </a:lnTo>
                <a:lnTo>
                  <a:pt x="197027" y="344855"/>
                </a:lnTo>
                <a:lnTo>
                  <a:pt x="234208" y="327157"/>
                </a:lnTo>
                <a:lnTo>
                  <a:pt x="265710" y="299705"/>
                </a:lnTo>
                <a:lnTo>
                  <a:pt x="290048" y="264173"/>
                </a:lnTo>
                <a:lnTo>
                  <a:pt x="305738" y="222235"/>
                </a:lnTo>
                <a:lnTo>
                  <a:pt x="311298" y="175563"/>
                </a:lnTo>
                <a:lnTo>
                  <a:pt x="305738" y="128891"/>
                </a:lnTo>
                <a:lnTo>
                  <a:pt x="290048" y="86953"/>
                </a:lnTo>
                <a:lnTo>
                  <a:pt x="265710" y="51421"/>
                </a:lnTo>
                <a:lnTo>
                  <a:pt x="234208" y="23969"/>
                </a:lnTo>
                <a:lnTo>
                  <a:pt x="197027" y="6271"/>
                </a:lnTo>
                <a:lnTo>
                  <a:pt x="15564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742105" y="4649970"/>
            <a:ext cx="311785" cy="351155"/>
          </a:xfrm>
          <a:custGeom>
            <a:avLst/>
            <a:gdLst/>
            <a:ahLst/>
            <a:cxnLst/>
            <a:rect l="l" t="t" r="r" b="b"/>
            <a:pathLst>
              <a:path w="311785" h="351154">
                <a:moveTo>
                  <a:pt x="0" y="175563"/>
                </a:moveTo>
                <a:lnTo>
                  <a:pt x="5559" y="128891"/>
                </a:lnTo>
                <a:lnTo>
                  <a:pt x="21250" y="86952"/>
                </a:lnTo>
                <a:lnTo>
                  <a:pt x="45588" y="51421"/>
                </a:lnTo>
                <a:lnTo>
                  <a:pt x="77089" y="23969"/>
                </a:lnTo>
                <a:lnTo>
                  <a:pt x="114271" y="6271"/>
                </a:lnTo>
                <a:lnTo>
                  <a:pt x="155649" y="0"/>
                </a:lnTo>
                <a:lnTo>
                  <a:pt x="197026" y="6271"/>
                </a:lnTo>
                <a:lnTo>
                  <a:pt x="234208" y="23969"/>
                </a:lnTo>
                <a:lnTo>
                  <a:pt x="265709" y="51421"/>
                </a:lnTo>
                <a:lnTo>
                  <a:pt x="290047" y="86952"/>
                </a:lnTo>
                <a:lnTo>
                  <a:pt x="305738" y="128891"/>
                </a:lnTo>
                <a:lnTo>
                  <a:pt x="311298" y="175563"/>
                </a:lnTo>
                <a:lnTo>
                  <a:pt x="305738" y="222234"/>
                </a:lnTo>
                <a:lnTo>
                  <a:pt x="290047" y="264173"/>
                </a:lnTo>
                <a:lnTo>
                  <a:pt x="265709" y="299704"/>
                </a:lnTo>
                <a:lnTo>
                  <a:pt x="234208" y="327156"/>
                </a:lnTo>
                <a:lnTo>
                  <a:pt x="197026" y="344854"/>
                </a:lnTo>
                <a:lnTo>
                  <a:pt x="155649" y="351126"/>
                </a:lnTo>
                <a:lnTo>
                  <a:pt x="114271" y="344854"/>
                </a:lnTo>
                <a:lnTo>
                  <a:pt x="77089" y="327156"/>
                </a:lnTo>
                <a:lnTo>
                  <a:pt x="45588" y="299704"/>
                </a:lnTo>
                <a:lnTo>
                  <a:pt x="21250" y="264173"/>
                </a:lnTo>
                <a:lnTo>
                  <a:pt x="5559" y="222234"/>
                </a:lnTo>
                <a:lnTo>
                  <a:pt x="0" y="17556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085661" y="5258028"/>
            <a:ext cx="311785" cy="351155"/>
          </a:xfrm>
          <a:custGeom>
            <a:avLst/>
            <a:gdLst/>
            <a:ahLst/>
            <a:cxnLst/>
            <a:rect l="l" t="t" r="r" b="b"/>
            <a:pathLst>
              <a:path w="311785" h="351154">
                <a:moveTo>
                  <a:pt x="155648" y="0"/>
                </a:moveTo>
                <a:lnTo>
                  <a:pt x="114271" y="6271"/>
                </a:lnTo>
                <a:lnTo>
                  <a:pt x="77089" y="23969"/>
                </a:lnTo>
                <a:lnTo>
                  <a:pt x="45588" y="51421"/>
                </a:lnTo>
                <a:lnTo>
                  <a:pt x="21250" y="86953"/>
                </a:lnTo>
                <a:lnTo>
                  <a:pt x="5559" y="128891"/>
                </a:lnTo>
                <a:lnTo>
                  <a:pt x="0" y="175563"/>
                </a:lnTo>
                <a:lnTo>
                  <a:pt x="5559" y="222235"/>
                </a:lnTo>
                <a:lnTo>
                  <a:pt x="21250" y="264173"/>
                </a:lnTo>
                <a:lnTo>
                  <a:pt x="45588" y="299705"/>
                </a:lnTo>
                <a:lnTo>
                  <a:pt x="77089" y="327156"/>
                </a:lnTo>
                <a:lnTo>
                  <a:pt x="114271" y="344854"/>
                </a:lnTo>
                <a:lnTo>
                  <a:pt x="155648" y="351126"/>
                </a:lnTo>
                <a:lnTo>
                  <a:pt x="197026" y="344854"/>
                </a:lnTo>
                <a:lnTo>
                  <a:pt x="234207" y="327156"/>
                </a:lnTo>
                <a:lnTo>
                  <a:pt x="265708" y="299705"/>
                </a:lnTo>
                <a:lnTo>
                  <a:pt x="290046" y="264173"/>
                </a:lnTo>
                <a:lnTo>
                  <a:pt x="305737" y="222235"/>
                </a:lnTo>
                <a:lnTo>
                  <a:pt x="311297" y="175563"/>
                </a:lnTo>
                <a:lnTo>
                  <a:pt x="305737" y="128891"/>
                </a:lnTo>
                <a:lnTo>
                  <a:pt x="290046" y="86953"/>
                </a:lnTo>
                <a:lnTo>
                  <a:pt x="265708" y="51421"/>
                </a:lnTo>
                <a:lnTo>
                  <a:pt x="234207" y="23969"/>
                </a:lnTo>
                <a:lnTo>
                  <a:pt x="197026" y="6271"/>
                </a:lnTo>
                <a:lnTo>
                  <a:pt x="1556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085661" y="5258028"/>
            <a:ext cx="311785" cy="351155"/>
          </a:xfrm>
          <a:custGeom>
            <a:avLst/>
            <a:gdLst/>
            <a:ahLst/>
            <a:cxnLst/>
            <a:rect l="l" t="t" r="r" b="b"/>
            <a:pathLst>
              <a:path w="311785" h="351154">
                <a:moveTo>
                  <a:pt x="0" y="175563"/>
                </a:moveTo>
                <a:lnTo>
                  <a:pt x="5559" y="128891"/>
                </a:lnTo>
                <a:lnTo>
                  <a:pt x="21250" y="86952"/>
                </a:lnTo>
                <a:lnTo>
                  <a:pt x="45588" y="51421"/>
                </a:lnTo>
                <a:lnTo>
                  <a:pt x="77089" y="23969"/>
                </a:lnTo>
                <a:lnTo>
                  <a:pt x="114271" y="6271"/>
                </a:lnTo>
                <a:lnTo>
                  <a:pt x="155649" y="0"/>
                </a:lnTo>
                <a:lnTo>
                  <a:pt x="197026" y="6271"/>
                </a:lnTo>
                <a:lnTo>
                  <a:pt x="234208" y="23969"/>
                </a:lnTo>
                <a:lnTo>
                  <a:pt x="265709" y="51421"/>
                </a:lnTo>
                <a:lnTo>
                  <a:pt x="290047" y="86952"/>
                </a:lnTo>
                <a:lnTo>
                  <a:pt x="305738" y="128891"/>
                </a:lnTo>
                <a:lnTo>
                  <a:pt x="311298" y="175563"/>
                </a:lnTo>
                <a:lnTo>
                  <a:pt x="305738" y="222234"/>
                </a:lnTo>
                <a:lnTo>
                  <a:pt x="290047" y="264173"/>
                </a:lnTo>
                <a:lnTo>
                  <a:pt x="265709" y="299704"/>
                </a:lnTo>
                <a:lnTo>
                  <a:pt x="234208" y="327156"/>
                </a:lnTo>
                <a:lnTo>
                  <a:pt x="197026" y="344854"/>
                </a:lnTo>
                <a:lnTo>
                  <a:pt x="155649" y="351126"/>
                </a:lnTo>
                <a:lnTo>
                  <a:pt x="114271" y="344854"/>
                </a:lnTo>
                <a:lnTo>
                  <a:pt x="77089" y="327156"/>
                </a:lnTo>
                <a:lnTo>
                  <a:pt x="45588" y="299704"/>
                </a:lnTo>
                <a:lnTo>
                  <a:pt x="21250" y="264173"/>
                </a:lnTo>
                <a:lnTo>
                  <a:pt x="5559" y="222234"/>
                </a:lnTo>
                <a:lnTo>
                  <a:pt x="0" y="17556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211525" y="5425232"/>
            <a:ext cx="311785" cy="351155"/>
          </a:xfrm>
          <a:custGeom>
            <a:avLst/>
            <a:gdLst/>
            <a:ahLst/>
            <a:cxnLst/>
            <a:rect l="l" t="t" r="r" b="b"/>
            <a:pathLst>
              <a:path w="311785" h="351154">
                <a:moveTo>
                  <a:pt x="155648" y="0"/>
                </a:moveTo>
                <a:lnTo>
                  <a:pt x="114271" y="6271"/>
                </a:lnTo>
                <a:lnTo>
                  <a:pt x="77089" y="23969"/>
                </a:lnTo>
                <a:lnTo>
                  <a:pt x="45588" y="51421"/>
                </a:lnTo>
                <a:lnTo>
                  <a:pt x="21250" y="86953"/>
                </a:lnTo>
                <a:lnTo>
                  <a:pt x="5559" y="128891"/>
                </a:lnTo>
                <a:lnTo>
                  <a:pt x="0" y="175563"/>
                </a:lnTo>
                <a:lnTo>
                  <a:pt x="5559" y="222234"/>
                </a:lnTo>
                <a:lnTo>
                  <a:pt x="21250" y="264173"/>
                </a:lnTo>
                <a:lnTo>
                  <a:pt x="45588" y="299704"/>
                </a:lnTo>
                <a:lnTo>
                  <a:pt x="77089" y="327156"/>
                </a:lnTo>
                <a:lnTo>
                  <a:pt x="114271" y="344854"/>
                </a:lnTo>
                <a:lnTo>
                  <a:pt x="155648" y="351126"/>
                </a:lnTo>
                <a:lnTo>
                  <a:pt x="197026" y="344854"/>
                </a:lnTo>
                <a:lnTo>
                  <a:pt x="234207" y="327156"/>
                </a:lnTo>
                <a:lnTo>
                  <a:pt x="265708" y="299704"/>
                </a:lnTo>
                <a:lnTo>
                  <a:pt x="290046" y="264173"/>
                </a:lnTo>
                <a:lnTo>
                  <a:pt x="305737" y="222234"/>
                </a:lnTo>
                <a:lnTo>
                  <a:pt x="311297" y="175563"/>
                </a:lnTo>
                <a:lnTo>
                  <a:pt x="305737" y="128891"/>
                </a:lnTo>
                <a:lnTo>
                  <a:pt x="290046" y="86953"/>
                </a:lnTo>
                <a:lnTo>
                  <a:pt x="265708" y="51421"/>
                </a:lnTo>
                <a:lnTo>
                  <a:pt x="234207" y="23969"/>
                </a:lnTo>
                <a:lnTo>
                  <a:pt x="197026" y="6271"/>
                </a:lnTo>
                <a:lnTo>
                  <a:pt x="1556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211525" y="5425232"/>
            <a:ext cx="311785" cy="351155"/>
          </a:xfrm>
          <a:custGeom>
            <a:avLst/>
            <a:gdLst/>
            <a:ahLst/>
            <a:cxnLst/>
            <a:rect l="l" t="t" r="r" b="b"/>
            <a:pathLst>
              <a:path w="311785" h="351154">
                <a:moveTo>
                  <a:pt x="0" y="175563"/>
                </a:moveTo>
                <a:lnTo>
                  <a:pt x="5559" y="128891"/>
                </a:lnTo>
                <a:lnTo>
                  <a:pt x="21250" y="86952"/>
                </a:lnTo>
                <a:lnTo>
                  <a:pt x="45588" y="51421"/>
                </a:lnTo>
                <a:lnTo>
                  <a:pt x="77089" y="23969"/>
                </a:lnTo>
                <a:lnTo>
                  <a:pt x="114271" y="6271"/>
                </a:lnTo>
                <a:lnTo>
                  <a:pt x="155649" y="0"/>
                </a:lnTo>
                <a:lnTo>
                  <a:pt x="197026" y="6271"/>
                </a:lnTo>
                <a:lnTo>
                  <a:pt x="234208" y="23969"/>
                </a:lnTo>
                <a:lnTo>
                  <a:pt x="265709" y="51421"/>
                </a:lnTo>
                <a:lnTo>
                  <a:pt x="290047" y="86952"/>
                </a:lnTo>
                <a:lnTo>
                  <a:pt x="305738" y="128891"/>
                </a:lnTo>
                <a:lnTo>
                  <a:pt x="311298" y="175563"/>
                </a:lnTo>
                <a:lnTo>
                  <a:pt x="305738" y="222234"/>
                </a:lnTo>
                <a:lnTo>
                  <a:pt x="290047" y="264173"/>
                </a:lnTo>
                <a:lnTo>
                  <a:pt x="265709" y="299704"/>
                </a:lnTo>
                <a:lnTo>
                  <a:pt x="234208" y="327156"/>
                </a:lnTo>
                <a:lnTo>
                  <a:pt x="197026" y="344854"/>
                </a:lnTo>
                <a:lnTo>
                  <a:pt x="155649" y="351126"/>
                </a:lnTo>
                <a:lnTo>
                  <a:pt x="114271" y="344854"/>
                </a:lnTo>
                <a:lnTo>
                  <a:pt x="77089" y="327156"/>
                </a:lnTo>
                <a:lnTo>
                  <a:pt x="45588" y="299704"/>
                </a:lnTo>
                <a:lnTo>
                  <a:pt x="21250" y="264173"/>
                </a:lnTo>
                <a:lnTo>
                  <a:pt x="5559" y="222234"/>
                </a:lnTo>
                <a:lnTo>
                  <a:pt x="0" y="17556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351371" y="4949676"/>
            <a:ext cx="436880" cy="360045"/>
          </a:xfrm>
          <a:custGeom>
            <a:avLst/>
            <a:gdLst/>
            <a:ahLst/>
            <a:cxnLst/>
            <a:rect l="l" t="t" r="r" b="b"/>
            <a:pathLst>
              <a:path w="436880" h="360045">
                <a:moveTo>
                  <a:pt x="436323" y="0"/>
                </a:moveTo>
                <a:lnTo>
                  <a:pt x="0" y="35977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07814" y="4949676"/>
            <a:ext cx="249554" cy="527050"/>
          </a:xfrm>
          <a:custGeom>
            <a:avLst/>
            <a:gdLst/>
            <a:ahLst/>
            <a:cxnLst/>
            <a:rect l="l" t="t" r="r" b="b"/>
            <a:pathLst>
              <a:path w="249554" h="527050">
                <a:moveTo>
                  <a:pt x="0" y="0"/>
                </a:moveTo>
                <a:lnTo>
                  <a:pt x="249298" y="52697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047358" y="4891458"/>
            <a:ext cx="252095" cy="263525"/>
          </a:xfrm>
          <a:custGeom>
            <a:avLst/>
            <a:gdLst/>
            <a:ahLst/>
            <a:cxnLst/>
            <a:rect l="l" t="t" r="r" b="b"/>
            <a:pathLst>
              <a:path w="252094" h="263525">
                <a:moveTo>
                  <a:pt x="125834" y="0"/>
                </a:moveTo>
                <a:lnTo>
                  <a:pt x="76854" y="10333"/>
                </a:lnTo>
                <a:lnTo>
                  <a:pt x="36856" y="38515"/>
                </a:lnTo>
                <a:lnTo>
                  <a:pt x="9888" y="80313"/>
                </a:lnTo>
                <a:lnTo>
                  <a:pt x="0" y="131498"/>
                </a:lnTo>
                <a:lnTo>
                  <a:pt x="9888" y="182683"/>
                </a:lnTo>
                <a:lnTo>
                  <a:pt x="36856" y="224481"/>
                </a:lnTo>
                <a:lnTo>
                  <a:pt x="76854" y="252662"/>
                </a:lnTo>
                <a:lnTo>
                  <a:pt x="125834" y="262996"/>
                </a:lnTo>
                <a:lnTo>
                  <a:pt x="174815" y="252662"/>
                </a:lnTo>
                <a:lnTo>
                  <a:pt x="214813" y="224481"/>
                </a:lnTo>
                <a:lnTo>
                  <a:pt x="241780" y="182683"/>
                </a:lnTo>
                <a:lnTo>
                  <a:pt x="251669" y="131498"/>
                </a:lnTo>
                <a:lnTo>
                  <a:pt x="241780" y="80313"/>
                </a:lnTo>
                <a:lnTo>
                  <a:pt x="214813" y="38515"/>
                </a:lnTo>
                <a:lnTo>
                  <a:pt x="174815" y="10333"/>
                </a:lnTo>
                <a:lnTo>
                  <a:pt x="125834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047358" y="4891458"/>
            <a:ext cx="252095" cy="263525"/>
          </a:xfrm>
          <a:custGeom>
            <a:avLst/>
            <a:gdLst/>
            <a:ahLst/>
            <a:cxnLst/>
            <a:rect l="l" t="t" r="r" b="b"/>
            <a:pathLst>
              <a:path w="252094" h="263525">
                <a:moveTo>
                  <a:pt x="0" y="131498"/>
                </a:moveTo>
                <a:lnTo>
                  <a:pt x="9888" y="80313"/>
                </a:lnTo>
                <a:lnTo>
                  <a:pt x="36856" y="38514"/>
                </a:lnTo>
                <a:lnTo>
                  <a:pt x="76854" y="10333"/>
                </a:lnTo>
                <a:lnTo>
                  <a:pt x="125834" y="0"/>
                </a:lnTo>
                <a:lnTo>
                  <a:pt x="174814" y="10333"/>
                </a:lnTo>
                <a:lnTo>
                  <a:pt x="214812" y="38514"/>
                </a:lnTo>
                <a:lnTo>
                  <a:pt x="241780" y="80313"/>
                </a:lnTo>
                <a:lnTo>
                  <a:pt x="251669" y="131498"/>
                </a:lnTo>
                <a:lnTo>
                  <a:pt x="241780" y="182682"/>
                </a:lnTo>
                <a:lnTo>
                  <a:pt x="214812" y="224481"/>
                </a:lnTo>
                <a:lnTo>
                  <a:pt x="174814" y="252662"/>
                </a:lnTo>
                <a:lnTo>
                  <a:pt x="125834" y="262996"/>
                </a:lnTo>
                <a:lnTo>
                  <a:pt x="76854" y="252662"/>
                </a:lnTo>
                <a:lnTo>
                  <a:pt x="36856" y="224481"/>
                </a:lnTo>
                <a:lnTo>
                  <a:pt x="9888" y="182682"/>
                </a:lnTo>
                <a:lnTo>
                  <a:pt x="0" y="13149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84567" y="5292213"/>
            <a:ext cx="252095" cy="263525"/>
          </a:xfrm>
          <a:custGeom>
            <a:avLst/>
            <a:gdLst/>
            <a:ahLst/>
            <a:cxnLst/>
            <a:rect l="l" t="t" r="r" b="b"/>
            <a:pathLst>
              <a:path w="252094" h="263525">
                <a:moveTo>
                  <a:pt x="125834" y="0"/>
                </a:moveTo>
                <a:lnTo>
                  <a:pt x="76854" y="10333"/>
                </a:lnTo>
                <a:lnTo>
                  <a:pt x="36856" y="38514"/>
                </a:lnTo>
                <a:lnTo>
                  <a:pt x="9888" y="80313"/>
                </a:lnTo>
                <a:lnTo>
                  <a:pt x="0" y="131498"/>
                </a:lnTo>
                <a:lnTo>
                  <a:pt x="9888" y="182682"/>
                </a:lnTo>
                <a:lnTo>
                  <a:pt x="36856" y="224480"/>
                </a:lnTo>
                <a:lnTo>
                  <a:pt x="76854" y="252661"/>
                </a:lnTo>
                <a:lnTo>
                  <a:pt x="125834" y="262995"/>
                </a:lnTo>
                <a:lnTo>
                  <a:pt x="174814" y="252661"/>
                </a:lnTo>
                <a:lnTo>
                  <a:pt x="214812" y="224480"/>
                </a:lnTo>
                <a:lnTo>
                  <a:pt x="241780" y="182682"/>
                </a:lnTo>
                <a:lnTo>
                  <a:pt x="251668" y="131498"/>
                </a:lnTo>
                <a:lnTo>
                  <a:pt x="241780" y="80313"/>
                </a:lnTo>
                <a:lnTo>
                  <a:pt x="214812" y="38514"/>
                </a:lnTo>
                <a:lnTo>
                  <a:pt x="174814" y="10333"/>
                </a:lnTo>
                <a:lnTo>
                  <a:pt x="125834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84567" y="5292213"/>
            <a:ext cx="252095" cy="263525"/>
          </a:xfrm>
          <a:custGeom>
            <a:avLst/>
            <a:gdLst/>
            <a:ahLst/>
            <a:cxnLst/>
            <a:rect l="l" t="t" r="r" b="b"/>
            <a:pathLst>
              <a:path w="252094" h="263525">
                <a:moveTo>
                  <a:pt x="0" y="131498"/>
                </a:moveTo>
                <a:lnTo>
                  <a:pt x="9888" y="80313"/>
                </a:lnTo>
                <a:lnTo>
                  <a:pt x="36856" y="38514"/>
                </a:lnTo>
                <a:lnTo>
                  <a:pt x="76854" y="10333"/>
                </a:lnTo>
                <a:lnTo>
                  <a:pt x="125834" y="0"/>
                </a:lnTo>
                <a:lnTo>
                  <a:pt x="174814" y="10333"/>
                </a:lnTo>
                <a:lnTo>
                  <a:pt x="214812" y="38514"/>
                </a:lnTo>
                <a:lnTo>
                  <a:pt x="241780" y="80313"/>
                </a:lnTo>
                <a:lnTo>
                  <a:pt x="251669" y="131498"/>
                </a:lnTo>
                <a:lnTo>
                  <a:pt x="241780" y="182682"/>
                </a:lnTo>
                <a:lnTo>
                  <a:pt x="214812" y="224481"/>
                </a:lnTo>
                <a:lnTo>
                  <a:pt x="174814" y="252662"/>
                </a:lnTo>
                <a:lnTo>
                  <a:pt x="125834" y="262996"/>
                </a:lnTo>
                <a:lnTo>
                  <a:pt x="76854" y="252662"/>
                </a:lnTo>
                <a:lnTo>
                  <a:pt x="36856" y="224481"/>
                </a:lnTo>
                <a:lnTo>
                  <a:pt x="9888" y="182682"/>
                </a:lnTo>
                <a:lnTo>
                  <a:pt x="0" y="13149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494772" y="5417450"/>
            <a:ext cx="252095" cy="263525"/>
          </a:xfrm>
          <a:custGeom>
            <a:avLst/>
            <a:gdLst/>
            <a:ahLst/>
            <a:cxnLst/>
            <a:rect l="l" t="t" r="r" b="b"/>
            <a:pathLst>
              <a:path w="252094" h="263525">
                <a:moveTo>
                  <a:pt x="125834" y="0"/>
                </a:moveTo>
                <a:lnTo>
                  <a:pt x="76853" y="10333"/>
                </a:lnTo>
                <a:lnTo>
                  <a:pt x="36855" y="38514"/>
                </a:lnTo>
                <a:lnTo>
                  <a:pt x="9888" y="80312"/>
                </a:lnTo>
                <a:lnTo>
                  <a:pt x="0" y="131497"/>
                </a:lnTo>
                <a:lnTo>
                  <a:pt x="9888" y="182682"/>
                </a:lnTo>
                <a:lnTo>
                  <a:pt x="36855" y="224480"/>
                </a:lnTo>
                <a:lnTo>
                  <a:pt x="76853" y="252661"/>
                </a:lnTo>
                <a:lnTo>
                  <a:pt x="125834" y="262995"/>
                </a:lnTo>
                <a:lnTo>
                  <a:pt x="174814" y="252661"/>
                </a:lnTo>
                <a:lnTo>
                  <a:pt x="214812" y="224480"/>
                </a:lnTo>
                <a:lnTo>
                  <a:pt x="241779" y="182682"/>
                </a:lnTo>
                <a:lnTo>
                  <a:pt x="251668" y="131497"/>
                </a:lnTo>
                <a:lnTo>
                  <a:pt x="241779" y="80312"/>
                </a:lnTo>
                <a:lnTo>
                  <a:pt x="214812" y="38514"/>
                </a:lnTo>
                <a:lnTo>
                  <a:pt x="174814" y="10333"/>
                </a:lnTo>
                <a:lnTo>
                  <a:pt x="125834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494772" y="5417450"/>
            <a:ext cx="252095" cy="263525"/>
          </a:xfrm>
          <a:custGeom>
            <a:avLst/>
            <a:gdLst/>
            <a:ahLst/>
            <a:cxnLst/>
            <a:rect l="l" t="t" r="r" b="b"/>
            <a:pathLst>
              <a:path w="252094" h="263525">
                <a:moveTo>
                  <a:pt x="0" y="131498"/>
                </a:moveTo>
                <a:lnTo>
                  <a:pt x="9888" y="80313"/>
                </a:lnTo>
                <a:lnTo>
                  <a:pt x="36856" y="38514"/>
                </a:lnTo>
                <a:lnTo>
                  <a:pt x="76854" y="10333"/>
                </a:lnTo>
                <a:lnTo>
                  <a:pt x="125834" y="0"/>
                </a:lnTo>
                <a:lnTo>
                  <a:pt x="174814" y="10333"/>
                </a:lnTo>
                <a:lnTo>
                  <a:pt x="214812" y="38514"/>
                </a:lnTo>
                <a:lnTo>
                  <a:pt x="241780" y="80313"/>
                </a:lnTo>
                <a:lnTo>
                  <a:pt x="251669" y="131498"/>
                </a:lnTo>
                <a:lnTo>
                  <a:pt x="241780" y="182682"/>
                </a:lnTo>
                <a:lnTo>
                  <a:pt x="214812" y="224481"/>
                </a:lnTo>
                <a:lnTo>
                  <a:pt x="174814" y="252662"/>
                </a:lnTo>
                <a:lnTo>
                  <a:pt x="125834" y="262996"/>
                </a:lnTo>
                <a:lnTo>
                  <a:pt x="76854" y="252662"/>
                </a:lnTo>
                <a:lnTo>
                  <a:pt x="36856" y="224481"/>
                </a:lnTo>
                <a:lnTo>
                  <a:pt x="9888" y="182682"/>
                </a:lnTo>
                <a:lnTo>
                  <a:pt x="0" y="13149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99379" y="5115938"/>
            <a:ext cx="285115" cy="215265"/>
          </a:xfrm>
          <a:custGeom>
            <a:avLst/>
            <a:gdLst/>
            <a:ahLst/>
            <a:cxnLst/>
            <a:rect l="l" t="t" r="r" b="b"/>
            <a:pathLst>
              <a:path w="285115" h="215264">
                <a:moveTo>
                  <a:pt x="284835" y="0"/>
                </a:moveTo>
                <a:lnTo>
                  <a:pt x="0" y="21478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262171" y="5115938"/>
            <a:ext cx="269875" cy="340360"/>
          </a:xfrm>
          <a:custGeom>
            <a:avLst/>
            <a:gdLst/>
            <a:ahLst/>
            <a:cxnLst/>
            <a:rect l="l" t="t" r="r" b="b"/>
            <a:pathLst>
              <a:path w="269875" h="340360">
                <a:moveTo>
                  <a:pt x="0" y="0"/>
                </a:moveTo>
                <a:lnTo>
                  <a:pt x="269456" y="34002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396959" y="5433593"/>
            <a:ext cx="814705" cy="167640"/>
          </a:xfrm>
          <a:custGeom>
            <a:avLst/>
            <a:gdLst/>
            <a:ahLst/>
            <a:cxnLst/>
            <a:rect l="l" t="t" r="r" b="b"/>
            <a:pathLst>
              <a:path w="814705" h="167639">
                <a:moveTo>
                  <a:pt x="0" y="0"/>
                </a:moveTo>
                <a:lnTo>
                  <a:pt x="814565" y="16720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285350" y="3822120"/>
            <a:ext cx="218440" cy="218440"/>
          </a:xfrm>
          <a:custGeom>
            <a:avLst/>
            <a:gdLst/>
            <a:ahLst/>
            <a:cxnLst/>
            <a:rect l="l" t="t" r="r" b="b"/>
            <a:pathLst>
              <a:path w="218439" h="218439">
                <a:moveTo>
                  <a:pt x="109104" y="0"/>
                </a:moveTo>
                <a:lnTo>
                  <a:pt x="66636" y="8574"/>
                </a:lnTo>
                <a:lnTo>
                  <a:pt x="31956" y="31956"/>
                </a:lnTo>
                <a:lnTo>
                  <a:pt x="8574" y="66636"/>
                </a:lnTo>
                <a:lnTo>
                  <a:pt x="0" y="109104"/>
                </a:lnTo>
                <a:lnTo>
                  <a:pt x="8574" y="151572"/>
                </a:lnTo>
                <a:lnTo>
                  <a:pt x="31956" y="186252"/>
                </a:lnTo>
                <a:lnTo>
                  <a:pt x="66636" y="209634"/>
                </a:lnTo>
                <a:lnTo>
                  <a:pt x="109104" y="218208"/>
                </a:lnTo>
                <a:lnTo>
                  <a:pt x="151572" y="209634"/>
                </a:lnTo>
                <a:lnTo>
                  <a:pt x="186252" y="186252"/>
                </a:lnTo>
                <a:lnTo>
                  <a:pt x="209634" y="151572"/>
                </a:lnTo>
                <a:lnTo>
                  <a:pt x="218208" y="109104"/>
                </a:lnTo>
                <a:lnTo>
                  <a:pt x="209634" y="66636"/>
                </a:lnTo>
                <a:lnTo>
                  <a:pt x="186252" y="31956"/>
                </a:lnTo>
                <a:lnTo>
                  <a:pt x="151572" y="8574"/>
                </a:lnTo>
                <a:lnTo>
                  <a:pt x="10910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285350" y="3822120"/>
            <a:ext cx="218440" cy="218440"/>
          </a:xfrm>
          <a:custGeom>
            <a:avLst/>
            <a:gdLst/>
            <a:ahLst/>
            <a:cxnLst/>
            <a:rect l="l" t="t" r="r" b="b"/>
            <a:pathLst>
              <a:path w="218439" h="218439">
                <a:moveTo>
                  <a:pt x="0" y="109104"/>
                </a:moveTo>
                <a:lnTo>
                  <a:pt x="8573" y="66636"/>
                </a:lnTo>
                <a:lnTo>
                  <a:pt x="31955" y="31955"/>
                </a:lnTo>
                <a:lnTo>
                  <a:pt x="66636" y="8573"/>
                </a:lnTo>
                <a:lnTo>
                  <a:pt x="109104" y="0"/>
                </a:lnTo>
                <a:lnTo>
                  <a:pt x="151572" y="8573"/>
                </a:lnTo>
                <a:lnTo>
                  <a:pt x="186253" y="31955"/>
                </a:lnTo>
                <a:lnTo>
                  <a:pt x="209635" y="66636"/>
                </a:lnTo>
                <a:lnTo>
                  <a:pt x="218209" y="109104"/>
                </a:lnTo>
                <a:lnTo>
                  <a:pt x="209635" y="151572"/>
                </a:lnTo>
                <a:lnTo>
                  <a:pt x="186253" y="186253"/>
                </a:lnTo>
                <a:lnTo>
                  <a:pt x="151572" y="209635"/>
                </a:lnTo>
                <a:lnTo>
                  <a:pt x="109104" y="218209"/>
                </a:lnTo>
                <a:lnTo>
                  <a:pt x="66636" y="209635"/>
                </a:lnTo>
                <a:lnTo>
                  <a:pt x="31955" y="186253"/>
                </a:lnTo>
                <a:lnTo>
                  <a:pt x="8573" y="151572"/>
                </a:lnTo>
                <a:lnTo>
                  <a:pt x="0" y="10910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691494" y="4134797"/>
            <a:ext cx="218440" cy="218440"/>
          </a:xfrm>
          <a:custGeom>
            <a:avLst/>
            <a:gdLst/>
            <a:ahLst/>
            <a:cxnLst/>
            <a:rect l="l" t="t" r="r" b="b"/>
            <a:pathLst>
              <a:path w="218439" h="218439">
                <a:moveTo>
                  <a:pt x="109104" y="0"/>
                </a:moveTo>
                <a:lnTo>
                  <a:pt x="66636" y="8573"/>
                </a:lnTo>
                <a:lnTo>
                  <a:pt x="31956" y="31955"/>
                </a:lnTo>
                <a:lnTo>
                  <a:pt x="8574" y="66635"/>
                </a:lnTo>
                <a:lnTo>
                  <a:pt x="0" y="109104"/>
                </a:lnTo>
                <a:lnTo>
                  <a:pt x="8574" y="151572"/>
                </a:lnTo>
                <a:lnTo>
                  <a:pt x="31956" y="186252"/>
                </a:lnTo>
                <a:lnTo>
                  <a:pt x="66636" y="209634"/>
                </a:lnTo>
                <a:lnTo>
                  <a:pt x="109104" y="218208"/>
                </a:lnTo>
                <a:lnTo>
                  <a:pt x="151573" y="209634"/>
                </a:lnTo>
                <a:lnTo>
                  <a:pt x="186253" y="186252"/>
                </a:lnTo>
                <a:lnTo>
                  <a:pt x="209635" y="151572"/>
                </a:lnTo>
                <a:lnTo>
                  <a:pt x="218208" y="109104"/>
                </a:lnTo>
                <a:lnTo>
                  <a:pt x="209635" y="66635"/>
                </a:lnTo>
                <a:lnTo>
                  <a:pt x="186253" y="31955"/>
                </a:lnTo>
                <a:lnTo>
                  <a:pt x="151573" y="8573"/>
                </a:lnTo>
                <a:lnTo>
                  <a:pt x="10910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691494" y="4134797"/>
            <a:ext cx="218440" cy="218440"/>
          </a:xfrm>
          <a:custGeom>
            <a:avLst/>
            <a:gdLst/>
            <a:ahLst/>
            <a:cxnLst/>
            <a:rect l="l" t="t" r="r" b="b"/>
            <a:pathLst>
              <a:path w="218439" h="218439">
                <a:moveTo>
                  <a:pt x="0" y="109104"/>
                </a:moveTo>
                <a:lnTo>
                  <a:pt x="8573" y="66636"/>
                </a:lnTo>
                <a:lnTo>
                  <a:pt x="31955" y="31955"/>
                </a:lnTo>
                <a:lnTo>
                  <a:pt x="66636" y="8573"/>
                </a:lnTo>
                <a:lnTo>
                  <a:pt x="109104" y="0"/>
                </a:lnTo>
                <a:lnTo>
                  <a:pt x="151572" y="8573"/>
                </a:lnTo>
                <a:lnTo>
                  <a:pt x="186253" y="31955"/>
                </a:lnTo>
                <a:lnTo>
                  <a:pt x="209635" y="66636"/>
                </a:lnTo>
                <a:lnTo>
                  <a:pt x="218209" y="109104"/>
                </a:lnTo>
                <a:lnTo>
                  <a:pt x="209635" y="151572"/>
                </a:lnTo>
                <a:lnTo>
                  <a:pt x="186253" y="186253"/>
                </a:lnTo>
                <a:lnTo>
                  <a:pt x="151572" y="209635"/>
                </a:lnTo>
                <a:lnTo>
                  <a:pt x="109104" y="218209"/>
                </a:lnTo>
                <a:lnTo>
                  <a:pt x="66636" y="209635"/>
                </a:lnTo>
                <a:lnTo>
                  <a:pt x="31955" y="186253"/>
                </a:lnTo>
                <a:lnTo>
                  <a:pt x="8573" y="151572"/>
                </a:lnTo>
                <a:lnTo>
                  <a:pt x="0" y="10910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584776" y="5139513"/>
            <a:ext cx="218440" cy="218440"/>
          </a:xfrm>
          <a:custGeom>
            <a:avLst/>
            <a:gdLst/>
            <a:ahLst/>
            <a:cxnLst/>
            <a:rect l="l" t="t" r="r" b="b"/>
            <a:pathLst>
              <a:path w="218439" h="218439">
                <a:moveTo>
                  <a:pt x="109104" y="0"/>
                </a:moveTo>
                <a:lnTo>
                  <a:pt x="66636" y="8574"/>
                </a:lnTo>
                <a:lnTo>
                  <a:pt x="31956" y="31956"/>
                </a:lnTo>
                <a:lnTo>
                  <a:pt x="8574" y="66636"/>
                </a:lnTo>
                <a:lnTo>
                  <a:pt x="0" y="109104"/>
                </a:lnTo>
                <a:lnTo>
                  <a:pt x="8574" y="151573"/>
                </a:lnTo>
                <a:lnTo>
                  <a:pt x="31956" y="186253"/>
                </a:lnTo>
                <a:lnTo>
                  <a:pt x="66636" y="209635"/>
                </a:lnTo>
                <a:lnTo>
                  <a:pt x="109104" y="218208"/>
                </a:lnTo>
                <a:lnTo>
                  <a:pt x="151572" y="209635"/>
                </a:lnTo>
                <a:lnTo>
                  <a:pt x="186252" y="186253"/>
                </a:lnTo>
                <a:lnTo>
                  <a:pt x="209634" y="151573"/>
                </a:lnTo>
                <a:lnTo>
                  <a:pt x="218208" y="109104"/>
                </a:lnTo>
                <a:lnTo>
                  <a:pt x="209634" y="66636"/>
                </a:lnTo>
                <a:lnTo>
                  <a:pt x="186252" y="31956"/>
                </a:lnTo>
                <a:lnTo>
                  <a:pt x="151572" y="8574"/>
                </a:lnTo>
                <a:lnTo>
                  <a:pt x="10910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584776" y="5139513"/>
            <a:ext cx="218440" cy="218440"/>
          </a:xfrm>
          <a:custGeom>
            <a:avLst/>
            <a:gdLst/>
            <a:ahLst/>
            <a:cxnLst/>
            <a:rect l="l" t="t" r="r" b="b"/>
            <a:pathLst>
              <a:path w="218439" h="218439">
                <a:moveTo>
                  <a:pt x="0" y="109104"/>
                </a:moveTo>
                <a:lnTo>
                  <a:pt x="8573" y="66636"/>
                </a:lnTo>
                <a:lnTo>
                  <a:pt x="31955" y="31955"/>
                </a:lnTo>
                <a:lnTo>
                  <a:pt x="66636" y="8573"/>
                </a:lnTo>
                <a:lnTo>
                  <a:pt x="109104" y="0"/>
                </a:lnTo>
                <a:lnTo>
                  <a:pt x="151572" y="8573"/>
                </a:lnTo>
                <a:lnTo>
                  <a:pt x="186253" y="31955"/>
                </a:lnTo>
                <a:lnTo>
                  <a:pt x="209635" y="66636"/>
                </a:lnTo>
                <a:lnTo>
                  <a:pt x="218209" y="109104"/>
                </a:lnTo>
                <a:lnTo>
                  <a:pt x="209635" y="151572"/>
                </a:lnTo>
                <a:lnTo>
                  <a:pt x="186253" y="186253"/>
                </a:lnTo>
                <a:lnTo>
                  <a:pt x="151572" y="209635"/>
                </a:lnTo>
                <a:lnTo>
                  <a:pt x="109104" y="218209"/>
                </a:lnTo>
                <a:lnTo>
                  <a:pt x="66636" y="209635"/>
                </a:lnTo>
                <a:lnTo>
                  <a:pt x="31955" y="186253"/>
                </a:lnTo>
                <a:lnTo>
                  <a:pt x="8573" y="151572"/>
                </a:lnTo>
                <a:lnTo>
                  <a:pt x="0" y="10910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192338" y="5187953"/>
            <a:ext cx="218440" cy="218440"/>
          </a:xfrm>
          <a:custGeom>
            <a:avLst/>
            <a:gdLst/>
            <a:ahLst/>
            <a:cxnLst/>
            <a:rect l="l" t="t" r="r" b="b"/>
            <a:pathLst>
              <a:path w="218439" h="218439">
                <a:moveTo>
                  <a:pt x="109104" y="0"/>
                </a:moveTo>
                <a:lnTo>
                  <a:pt x="66636" y="8574"/>
                </a:lnTo>
                <a:lnTo>
                  <a:pt x="31956" y="31956"/>
                </a:lnTo>
                <a:lnTo>
                  <a:pt x="8574" y="66636"/>
                </a:lnTo>
                <a:lnTo>
                  <a:pt x="0" y="109104"/>
                </a:lnTo>
                <a:lnTo>
                  <a:pt x="8574" y="151572"/>
                </a:lnTo>
                <a:lnTo>
                  <a:pt x="31956" y="186252"/>
                </a:lnTo>
                <a:lnTo>
                  <a:pt x="66636" y="209634"/>
                </a:lnTo>
                <a:lnTo>
                  <a:pt x="109104" y="218208"/>
                </a:lnTo>
                <a:lnTo>
                  <a:pt x="151573" y="209634"/>
                </a:lnTo>
                <a:lnTo>
                  <a:pt x="186253" y="186252"/>
                </a:lnTo>
                <a:lnTo>
                  <a:pt x="209635" y="151572"/>
                </a:lnTo>
                <a:lnTo>
                  <a:pt x="218208" y="109104"/>
                </a:lnTo>
                <a:lnTo>
                  <a:pt x="209635" y="66636"/>
                </a:lnTo>
                <a:lnTo>
                  <a:pt x="186253" y="31956"/>
                </a:lnTo>
                <a:lnTo>
                  <a:pt x="151573" y="8574"/>
                </a:lnTo>
                <a:lnTo>
                  <a:pt x="10910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192338" y="5187953"/>
            <a:ext cx="218440" cy="218440"/>
          </a:xfrm>
          <a:custGeom>
            <a:avLst/>
            <a:gdLst/>
            <a:ahLst/>
            <a:cxnLst/>
            <a:rect l="l" t="t" r="r" b="b"/>
            <a:pathLst>
              <a:path w="218439" h="218439">
                <a:moveTo>
                  <a:pt x="0" y="109104"/>
                </a:moveTo>
                <a:lnTo>
                  <a:pt x="8573" y="66636"/>
                </a:lnTo>
                <a:lnTo>
                  <a:pt x="31955" y="31955"/>
                </a:lnTo>
                <a:lnTo>
                  <a:pt x="66636" y="8573"/>
                </a:lnTo>
                <a:lnTo>
                  <a:pt x="109104" y="0"/>
                </a:lnTo>
                <a:lnTo>
                  <a:pt x="151572" y="8573"/>
                </a:lnTo>
                <a:lnTo>
                  <a:pt x="186253" y="31955"/>
                </a:lnTo>
                <a:lnTo>
                  <a:pt x="209635" y="66636"/>
                </a:lnTo>
                <a:lnTo>
                  <a:pt x="218209" y="109104"/>
                </a:lnTo>
                <a:lnTo>
                  <a:pt x="209635" y="151572"/>
                </a:lnTo>
                <a:lnTo>
                  <a:pt x="186253" y="186253"/>
                </a:lnTo>
                <a:lnTo>
                  <a:pt x="151572" y="209635"/>
                </a:lnTo>
                <a:lnTo>
                  <a:pt x="109104" y="218209"/>
                </a:lnTo>
                <a:lnTo>
                  <a:pt x="66636" y="209635"/>
                </a:lnTo>
                <a:lnTo>
                  <a:pt x="31955" y="186253"/>
                </a:lnTo>
                <a:lnTo>
                  <a:pt x="8573" y="151572"/>
                </a:lnTo>
                <a:lnTo>
                  <a:pt x="0" y="10910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710065" y="3642486"/>
            <a:ext cx="218440" cy="218440"/>
          </a:xfrm>
          <a:custGeom>
            <a:avLst/>
            <a:gdLst/>
            <a:ahLst/>
            <a:cxnLst/>
            <a:rect l="l" t="t" r="r" b="b"/>
            <a:pathLst>
              <a:path w="218440" h="218439">
                <a:moveTo>
                  <a:pt x="109104" y="0"/>
                </a:moveTo>
                <a:lnTo>
                  <a:pt x="66635" y="8574"/>
                </a:lnTo>
                <a:lnTo>
                  <a:pt x="31955" y="31956"/>
                </a:lnTo>
                <a:lnTo>
                  <a:pt x="8573" y="66636"/>
                </a:lnTo>
                <a:lnTo>
                  <a:pt x="0" y="109104"/>
                </a:lnTo>
                <a:lnTo>
                  <a:pt x="8573" y="151572"/>
                </a:lnTo>
                <a:lnTo>
                  <a:pt x="31955" y="186252"/>
                </a:lnTo>
                <a:lnTo>
                  <a:pt x="66635" y="209634"/>
                </a:lnTo>
                <a:lnTo>
                  <a:pt x="109104" y="218208"/>
                </a:lnTo>
                <a:lnTo>
                  <a:pt x="151572" y="209634"/>
                </a:lnTo>
                <a:lnTo>
                  <a:pt x="186252" y="186252"/>
                </a:lnTo>
                <a:lnTo>
                  <a:pt x="209634" y="151572"/>
                </a:lnTo>
                <a:lnTo>
                  <a:pt x="218208" y="109104"/>
                </a:lnTo>
                <a:lnTo>
                  <a:pt x="209634" y="66636"/>
                </a:lnTo>
                <a:lnTo>
                  <a:pt x="186252" y="31956"/>
                </a:lnTo>
                <a:lnTo>
                  <a:pt x="151572" y="8574"/>
                </a:lnTo>
                <a:lnTo>
                  <a:pt x="10910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710065" y="3642486"/>
            <a:ext cx="218440" cy="218440"/>
          </a:xfrm>
          <a:custGeom>
            <a:avLst/>
            <a:gdLst/>
            <a:ahLst/>
            <a:cxnLst/>
            <a:rect l="l" t="t" r="r" b="b"/>
            <a:pathLst>
              <a:path w="218440" h="218439">
                <a:moveTo>
                  <a:pt x="0" y="109104"/>
                </a:moveTo>
                <a:lnTo>
                  <a:pt x="8573" y="66636"/>
                </a:lnTo>
                <a:lnTo>
                  <a:pt x="31955" y="31955"/>
                </a:lnTo>
                <a:lnTo>
                  <a:pt x="66636" y="8573"/>
                </a:lnTo>
                <a:lnTo>
                  <a:pt x="109104" y="0"/>
                </a:lnTo>
                <a:lnTo>
                  <a:pt x="151572" y="8573"/>
                </a:lnTo>
                <a:lnTo>
                  <a:pt x="186253" y="31955"/>
                </a:lnTo>
                <a:lnTo>
                  <a:pt x="209635" y="66636"/>
                </a:lnTo>
                <a:lnTo>
                  <a:pt x="218209" y="109104"/>
                </a:lnTo>
                <a:lnTo>
                  <a:pt x="209635" y="151572"/>
                </a:lnTo>
                <a:lnTo>
                  <a:pt x="186253" y="186253"/>
                </a:lnTo>
                <a:lnTo>
                  <a:pt x="151572" y="209635"/>
                </a:lnTo>
                <a:lnTo>
                  <a:pt x="109104" y="218209"/>
                </a:lnTo>
                <a:lnTo>
                  <a:pt x="66636" y="209635"/>
                </a:lnTo>
                <a:lnTo>
                  <a:pt x="31955" y="186253"/>
                </a:lnTo>
                <a:lnTo>
                  <a:pt x="8573" y="151572"/>
                </a:lnTo>
                <a:lnTo>
                  <a:pt x="0" y="10910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082193" y="4766562"/>
            <a:ext cx="218440" cy="218440"/>
          </a:xfrm>
          <a:custGeom>
            <a:avLst/>
            <a:gdLst/>
            <a:ahLst/>
            <a:cxnLst/>
            <a:rect l="l" t="t" r="r" b="b"/>
            <a:pathLst>
              <a:path w="218440" h="218439">
                <a:moveTo>
                  <a:pt x="109104" y="0"/>
                </a:moveTo>
                <a:lnTo>
                  <a:pt x="66636" y="8574"/>
                </a:lnTo>
                <a:lnTo>
                  <a:pt x="31956" y="31956"/>
                </a:lnTo>
                <a:lnTo>
                  <a:pt x="8574" y="66636"/>
                </a:lnTo>
                <a:lnTo>
                  <a:pt x="0" y="109104"/>
                </a:lnTo>
                <a:lnTo>
                  <a:pt x="8574" y="151572"/>
                </a:lnTo>
                <a:lnTo>
                  <a:pt x="31956" y="186252"/>
                </a:lnTo>
                <a:lnTo>
                  <a:pt x="66636" y="209634"/>
                </a:lnTo>
                <a:lnTo>
                  <a:pt x="109104" y="218208"/>
                </a:lnTo>
                <a:lnTo>
                  <a:pt x="151572" y="209634"/>
                </a:lnTo>
                <a:lnTo>
                  <a:pt x="186252" y="186252"/>
                </a:lnTo>
                <a:lnTo>
                  <a:pt x="209634" y="151572"/>
                </a:lnTo>
                <a:lnTo>
                  <a:pt x="218208" y="109104"/>
                </a:lnTo>
                <a:lnTo>
                  <a:pt x="209634" y="66636"/>
                </a:lnTo>
                <a:lnTo>
                  <a:pt x="186252" y="31956"/>
                </a:lnTo>
                <a:lnTo>
                  <a:pt x="151572" y="8574"/>
                </a:lnTo>
                <a:lnTo>
                  <a:pt x="10910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082193" y="4766562"/>
            <a:ext cx="218440" cy="218440"/>
          </a:xfrm>
          <a:custGeom>
            <a:avLst/>
            <a:gdLst/>
            <a:ahLst/>
            <a:cxnLst/>
            <a:rect l="l" t="t" r="r" b="b"/>
            <a:pathLst>
              <a:path w="218440" h="218439">
                <a:moveTo>
                  <a:pt x="0" y="109104"/>
                </a:moveTo>
                <a:lnTo>
                  <a:pt x="8573" y="66636"/>
                </a:lnTo>
                <a:lnTo>
                  <a:pt x="31955" y="31955"/>
                </a:lnTo>
                <a:lnTo>
                  <a:pt x="66636" y="8573"/>
                </a:lnTo>
                <a:lnTo>
                  <a:pt x="109104" y="0"/>
                </a:lnTo>
                <a:lnTo>
                  <a:pt x="151572" y="8573"/>
                </a:lnTo>
                <a:lnTo>
                  <a:pt x="186253" y="31955"/>
                </a:lnTo>
                <a:lnTo>
                  <a:pt x="209635" y="66636"/>
                </a:lnTo>
                <a:lnTo>
                  <a:pt x="218209" y="109104"/>
                </a:lnTo>
                <a:lnTo>
                  <a:pt x="209635" y="151572"/>
                </a:lnTo>
                <a:lnTo>
                  <a:pt x="186253" y="186253"/>
                </a:lnTo>
                <a:lnTo>
                  <a:pt x="151572" y="209635"/>
                </a:lnTo>
                <a:lnTo>
                  <a:pt x="109104" y="218209"/>
                </a:lnTo>
                <a:lnTo>
                  <a:pt x="66636" y="209635"/>
                </a:lnTo>
                <a:lnTo>
                  <a:pt x="31955" y="186253"/>
                </a:lnTo>
                <a:lnTo>
                  <a:pt x="8573" y="151572"/>
                </a:lnTo>
                <a:lnTo>
                  <a:pt x="0" y="10910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074878" y="5639724"/>
            <a:ext cx="218440" cy="218440"/>
          </a:xfrm>
          <a:custGeom>
            <a:avLst/>
            <a:gdLst/>
            <a:ahLst/>
            <a:cxnLst/>
            <a:rect l="l" t="t" r="r" b="b"/>
            <a:pathLst>
              <a:path w="218440" h="218439">
                <a:moveTo>
                  <a:pt x="109104" y="0"/>
                </a:moveTo>
                <a:lnTo>
                  <a:pt x="66636" y="8573"/>
                </a:lnTo>
                <a:lnTo>
                  <a:pt x="31956" y="31955"/>
                </a:lnTo>
                <a:lnTo>
                  <a:pt x="8574" y="66636"/>
                </a:lnTo>
                <a:lnTo>
                  <a:pt x="0" y="109104"/>
                </a:lnTo>
                <a:lnTo>
                  <a:pt x="8574" y="151572"/>
                </a:lnTo>
                <a:lnTo>
                  <a:pt x="31956" y="186253"/>
                </a:lnTo>
                <a:lnTo>
                  <a:pt x="66636" y="209635"/>
                </a:lnTo>
                <a:lnTo>
                  <a:pt x="109104" y="218208"/>
                </a:lnTo>
                <a:lnTo>
                  <a:pt x="151572" y="209635"/>
                </a:lnTo>
                <a:lnTo>
                  <a:pt x="186252" y="186253"/>
                </a:lnTo>
                <a:lnTo>
                  <a:pt x="209634" y="151572"/>
                </a:lnTo>
                <a:lnTo>
                  <a:pt x="218208" y="109104"/>
                </a:lnTo>
                <a:lnTo>
                  <a:pt x="209634" y="66636"/>
                </a:lnTo>
                <a:lnTo>
                  <a:pt x="186252" y="31955"/>
                </a:lnTo>
                <a:lnTo>
                  <a:pt x="151572" y="8573"/>
                </a:lnTo>
                <a:lnTo>
                  <a:pt x="10910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074878" y="5639724"/>
            <a:ext cx="218440" cy="218440"/>
          </a:xfrm>
          <a:custGeom>
            <a:avLst/>
            <a:gdLst/>
            <a:ahLst/>
            <a:cxnLst/>
            <a:rect l="l" t="t" r="r" b="b"/>
            <a:pathLst>
              <a:path w="218440" h="218439">
                <a:moveTo>
                  <a:pt x="0" y="109104"/>
                </a:moveTo>
                <a:lnTo>
                  <a:pt x="8573" y="66636"/>
                </a:lnTo>
                <a:lnTo>
                  <a:pt x="31955" y="31955"/>
                </a:lnTo>
                <a:lnTo>
                  <a:pt x="66636" y="8573"/>
                </a:lnTo>
                <a:lnTo>
                  <a:pt x="109104" y="0"/>
                </a:lnTo>
                <a:lnTo>
                  <a:pt x="151572" y="8573"/>
                </a:lnTo>
                <a:lnTo>
                  <a:pt x="186253" y="31955"/>
                </a:lnTo>
                <a:lnTo>
                  <a:pt x="209635" y="66636"/>
                </a:lnTo>
                <a:lnTo>
                  <a:pt x="218209" y="109104"/>
                </a:lnTo>
                <a:lnTo>
                  <a:pt x="209635" y="151572"/>
                </a:lnTo>
                <a:lnTo>
                  <a:pt x="186253" y="186253"/>
                </a:lnTo>
                <a:lnTo>
                  <a:pt x="151572" y="209635"/>
                </a:lnTo>
                <a:lnTo>
                  <a:pt x="109104" y="218209"/>
                </a:lnTo>
                <a:lnTo>
                  <a:pt x="66636" y="209635"/>
                </a:lnTo>
                <a:lnTo>
                  <a:pt x="31955" y="186253"/>
                </a:lnTo>
                <a:lnTo>
                  <a:pt x="8573" y="151572"/>
                </a:lnTo>
                <a:lnTo>
                  <a:pt x="0" y="10910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105830" y="4589922"/>
            <a:ext cx="218440" cy="218440"/>
          </a:xfrm>
          <a:custGeom>
            <a:avLst/>
            <a:gdLst/>
            <a:ahLst/>
            <a:cxnLst/>
            <a:rect l="l" t="t" r="r" b="b"/>
            <a:pathLst>
              <a:path w="218439" h="218439">
                <a:moveTo>
                  <a:pt x="109104" y="0"/>
                </a:moveTo>
                <a:lnTo>
                  <a:pt x="66636" y="8573"/>
                </a:lnTo>
                <a:lnTo>
                  <a:pt x="31956" y="31955"/>
                </a:lnTo>
                <a:lnTo>
                  <a:pt x="8574" y="66635"/>
                </a:lnTo>
                <a:lnTo>
                  <a:pt x="0" y="109104"/>
                </a:lnTo>
                <a:lnTo>
                  <a:pt x="8574" y="151572"/>
                </a:lnTo>
                <a:lnTo>
                  <a:pt x="31956" y="186252"/>
                </a:lnTo>
                <a:lnTo>
                  <a:pt x="66636" y="209634"/>
                </a:lnTo>
                <a:lnTo>
                  <a:pt x="109104" y="218208"/>
                </a:lnTo>
                <a:lnTo>
                  <a:pt x="151572" y="209634"/>
                </a:lnTo>
                <a:lnTo>
                  <a:pt x="186252" y="186252"/>
                </a:lnTo>
                <a:lnTo>
                  <a:pt x="209634" y="151572"/>
                </a:lnTo>
                <a:lnTo>
                  <a:pt x="218208" y="109104"/>
                </a:lnTo>
                <a:lnTo>
                  <a:pt x="209634" y="66635"/>
                </a:lnTo>
                <a:lnTo>
                  <a:pt x="186252" y="31955"/>
                </a:lnTo>
                <a:lnTo>
                  <a:pt x="151572" y="8573"/>
                </a:lnTo>
                <a:lnTo>
                  <a:pt x="10910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105830" y="4589922"/>
            <a:ext cx="218440" cy="218440"/>
          </a:xfrm>
          <a:custGeom>
            <a:avLst/>
            <a:gdLst/>
            <a:ahLst/>
            <a:cxnLst/>
            <a:rect l="l" t="t" r="r" b="b"/>
            <a:pathLst>
              <a:path w="218439" h="218439">
                <a:moveTo>
                  <a:pt x="0" y="109104"/>
                </a:moveTo>
                <a:lnTo>
                  <a:pt x="8573" y="66636"/>
                </a:lnTo>
                <a:lnTo>
                  <a:pt x="31955" y="31955"/>
                </a:lnTo>
                <a:lnTo>
                  <a:pt x="66636" y="8573"/>
                </a:lnTo>
                <a:lnTo>
                  <a:pt x="109104" y="0"/>
                </a:lnTo>
                <a:lnTo>
                  <a:pt x="151572" y="8573"/>
                </a:lnTo>
                <a:lnTo>
                  <a:pt x="186253" y="31955"/>
                </a:lnTo>
                <a:lnTo>
                  <a:pt x="209635" y="66636"/>
                </a:lnTo>
                <a:lnTo>
                  <a:pt x="218209" y="109104"/>
                </a:lnTo>
                <a:lnTo>
                  <a:pt x="209635" y="151572"/>
                </a:lnTo>
                <a:lnTo>
                  <a:pt x="186253" y="186253"/>
                </a:lnTo>
                <a:lnTo>
                  <a:pt x="151572" y="209635"/>
                </a:lnTo>
                <a:lnTo>
                  <a:pt x="109104" y="218209"/>
                </a:lnTo>
                <a:lnTo>
                  <a:pt x="66636" y="209635"/>
                </a:lnTo>
                <a:lnTo>
                  <a:pt x="31955" y="186253"/>
                </a:lnTo>
                <a:lnTo>
                  <a:pt x="8573" y="151572"/>
                </a:lnTo>
                <a:lnTo>
                  <a:pt x="0" y="10910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863551" y="5648493"/>
            <a:ext cx="218440" cy="218440"/>
          </a:xfrm>
          <a:custGeom>
            <a:avLst/>
            <a:gdLst/>
            <a:ahLst/>
            <a:cxnLst/>
            <a:rect l="l" t="t" r="r" b="b"/>
            <a:pathLst>
              <a:path w="218439" h="218439">
                <a:moveTo>
                  <a:pt x="109105" y="0"/>
                </a:moveTo>
                <a:lnTo>
                  <a:pt x="66636" y="8573"/>
                </a:lnTo>
                <a:lnTo>
                  <a:pt x="31956" y="31955"/>
                </a:lnTo>
                <a:lnTo>
                  <a:pt x="8574" y="66636"/>
                </a:lnTo>
                <a:lnTo>
                  <a:pt x="0" y="109104"/>
                </a:lnTo>
                <a:lnTo>
                  <a:pt x="8574" y="151572"/>
                </a:lnTo>
                <a:lnTo>
                  <a:pt x="31956" y="186253"/>
                </a:lnTo>
                <a:lnTo>
                  <a:pt x="66636" y="209635"/>
                </a:lnTo>
                <a:lnTo>
                  <a:pt x="109105" y="218208"/>
                </a:lnTo>
                <a:lnTo>
                  <a:pt x="151573" y="209635"/>
                </a:lnTo>
                <a:lnTo>
                  <a:pt x="186254" y="186253"/>
                </a:lnTo>
                <a:lnTo>
                  <a:pt x="209636" y="151572"/>
                </a:lnTo>
                <a:lnTo>
                  <a:pt x="218210" y="109104"/>
                </a:lnTo>
                <a:lnTo>
                  <a:pt x="209636" y="66636"/>
                </a:lnTo>
                <a:lnTo>
                  <a:pt x="186254" y="31955"/>
                </a:lnTo>
                <a:lnTo>
                  <a:pt x="151573" y="8573"/>
                </a:lnTo>
                <a:lnTo>
                  <a:pt x="10910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863551" y="5648493"/>
            <a:ext cx="218440" cy="218440"/>
          </a:xfrm>
          <a:custGeom>
            <a:avLst/>
            <a:gdLst/>
            <a:ahLst/>
            <a:cxnLst/>
            <a:rect l="l" t="t" r="r" b="b"/>
            <a:pathLst>
              <a:path w="218439" h="218439">
                <a:moveTo>
                  <a:pt x="0" y="109104"/>
                </a:moveTo>
                <a:lnTo>
                  <a:pt x="8573" y="66636"/>
                </a:lnTo>
                <a:lnTo>
                  <a:pt x="31955" y="31955"/>
                </a:lnTo>
                <a:lnTo>
                  <a:pt x="66636" y="8573"/>
                </a:lnTo>
                <a:lnTo>
                  <a:pt x="109104" y="0"/>
                </a:lnTo>
                <a:lnTo>
                  <a:pt x="151572" y="8573"/>
                </a:lnTo>
                <a:lnTo>
                  <a:pt x="186253" y="31955"/>
                </a:lnTo>
                <a:lnTo>
                  <a:pt x="209635" y="66636"/>
                </a:lnTo>
                <a:lnTo>
                  <a:pt x="218209" y="109104"/>
                </a:lnTo>
                <a:lnTo>
                  <a:pt x="209635" y="151572"/>
                </a:lnTo>
                <a:lnTo>
                  <a:pt x="186253" y="186253"/>
                </a:lnTo>
                <a:lnTo>
                  <a:pt x="151572" y="209635"/>
                </a:lnTo>
                <a:lnTo>
                  <a:pt x="109104" y="218209"/>
                </a:lnTo>
                <a:lnTo>
                  <a:pt x="66636" y="209635"/>
                </a:lnTo>
                <a:lnTo>
                  <a:pt x="31955" y="186253"/>
                </a:lnTo>
                <a:lnTo>
                  <a:pt x="8573" y="151572"/>
                </a:lnTo>
                <a:lnTo>
                  <a:pt x="0" y="10910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292082" y="4776175"/>
            <a:ext cx="1292860" cy="473075"/>
          </a:xfrm>
          <a:custGeom>
            <a:avLst/>
            <a:gdLst/>
            <a:ahLst/>
            <a:cxnLst/>
            <a:rect l="l" t="t" r="r" b="b"/>
            <a:pathLst>
              <a:path w="1292860" h="473075">
                <a:moveTo>
                  <a:pt x="0" y="0"/>
                </a:moveTo>
                <a:lnTo>
                  <a:pt x="1292694" y="47244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049805" y="5357722"/>
            <a:ext cx="644525" cy="323215"/>
          </a:xfrm>
          <a:custGeom>
            <a:avLst/>
            <a:gdLst/>
            <a:ahLst/>
            <a:cxnLst/>
            <a:rect l="l" t="t" r="r" b="b"/>
            <a:pathLst>
              <a:path w="644525" h="323214">
                <a:moveTo>
                  <a:pt x="644077" y="0"/>
                </a:moveTo>
                <a:lnTo>
                  <a:pt x="0" y="32272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771029" y="5325766"/>
            <a:ext cx="1336040" cy="346075"/>
          </a:xfrm>
          <a:custGeom>
            <a:avLst/>
            <a:gdLst/>
            <a:ahLst/>
            <a:cxnLst/>
            <a:rect l="l" t="t" r="r" b="b"/>
            <a:pathLst>
              <a:path w="1336040" h="346075">
                <a:moveTo>
                  <a:pt x="1335804" y="345914"/>
                </a:move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061682" y="3899776"/>
            <a:ext cx="1216025" cy="2306955"/>
          </a:xfrm>
          <a:custGeom>
            <a:avLst/>
            <a:gdLst/>
            <a:ahLst/>
            <a:cxnLst/>
            <a:rect l="l" t="t" r="r" b="b"/>
            <a:pathLst>
              <a:path w="1216025" h="2306954">
                <a:moveTo>
                  <a:pt x="924789" y="0"/>
                </a:moveTo>
                <a:lnTo>
                  <a:pt x="696189" y="20781"/>
                </a:lnTo>
                <a:lnTo>
                  <a:pt x="0" y="1496291"/>
                </a:lnTo>
                <a:lnTo>
                  <a:pt x="1215735" y="2306781"/>
                </a:lnTo>
                <a:lnTo>
                  <a:pt x="924789" y="0"/>
                </a:lnTo>
                <a:close/>
              </a:path>
            </a:pathLst>
          </a:custGeom>
          <a:solidFill>
            <a:srgbClr val="92D050">
              <a:alpha val="321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061682" y="3899776"/>
            <a:ext cx="1216025" cy="2306955"/>
          </a:xfrm>
          <a:custGeom>
            <a:avLst/>
            <a:gdLst/>
            <a:ahLst/>
            <a:cxnLst/>
            <a:rect l="l" t="t" r="r" b="b"/>
            <a:pathLst>
              <a:path w="1216025" h="2306954">
                <a:moveTo>
                  <a:pt x="696190" y="20781"/>
                </a:moveTo>
                <a:lnTo>
                  <a:pt x="0" y="1496291"/>
                </a:lnTo>
                <a:lnTo>
                  <a:pt x="1215736" y="2306781"/>
                </a:lnTo>
                <a:lnTo>
                  <a:pt x="924790" y="0"/>
                </a:lnTo>
                <a:lnTo>
                  <a:pt x="696190" y="20781"/>
                </a:lnTo>
                <a:close/>
              </a:path>
            </a:pathLst>
          </a:custGeom>
          <a:ln w="254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152240" y="3589850"/>
            <a:ext cx="2379345" cy="2426335"/>
          </a:xfrm>
          <a:custGeom>
            <a:avLst/>
            <a:gdLst/>
            <a:ahLst/>
            <a:cxnLst/>
            <a:rect l="l" t="t" r="r" b="b"/>
            <a:pathLst>
              <a:path w="2379345" h="2426335">
                <a:moveTo>
                  <a:pt x="539348" y="0"/>
                </a:moveTo>
                <a:lnTo>
                  <a:pt x="0" y="166287"/>
                </a:lnTo>
                <a:lnTo>
                  <a:pt x="414141" y="1926979"/>
                </a:lnTo>
                <a:lnTo>
                  <a:pt x="2378911" y="2425843"/>
                </a:lnTo>
                <a:lnTo>
                  <a:pt x="539348" y="0"/>
                </a:lnTo>
                <a:close/>
              </a:path>
            </a:pathLst>
          </a:custGeom>
          <a:solidFill>
            <a:srgbClr val="92D050">
              <a:alpha val="341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138347" y="3576142"/>
            <a:ext cx="2406650" cy="2453640"/>
          </a:xfrm>
          <a:custGeom>
            <a:avLst/>
            <a:gdLst/>
            <a:ahLst/>
            <a:cxnLst/>
            <a:rect l="l" t="t" r="r" b="b"/>
            <a:pathLst>
              <a:path w="2406650" h="2453640">
                <a:moveTo>
                  <a:pt x="554597" y="0"/>
                </a:moveTo>
                <a:lnTo>
                  <a:pt x="3768" y="169826"/>
                </a:lnTo>
                <a:lnTo>
                  <a:pt x="0" y="176401"/>
                </a:lnTo>
                <a:lnTo>
                  <a:pt x="416756" y="1948207"/>
                </a:lnTo>
                <a:lnTo>
                  <a:pt x="420317" y="1951832"/>
                </a:lnTo>
                <a:lnTo>
                  <a:pt x="2394908" y="2453189"/>
                </a:lnTo>
                <a:lnTo>
                  <a:pt x="2400409" y="2451066"/>
                </a:lnTo>
                <a:lnTo>
                  <a:pt x="2402617" y="2447734"/>
                </a:lnTo>
                <a:lnTo>
                  <a:pt x="2394066" y="2447734"/>
                </a:lnTo>
                <a:lnTo>
                  <a:pt x="2392062" y="2447225"/>
                </a:lnTo>
                <a:lnTo>
                  <a:pt x="2382685" y="2447225"/>
                </a:lnTo>
                <a:lnTo>
                  <a:pt x="2380449" y="2444276"/>
                </a:lnTo>
                <a:lnTo>
                  <a:pt x="423404" y="1947374"/>
                </a:lnTo>
                <a:lnTo>
                  <a:pt x="421267" y="1945200"/>
                </a:lnTo>
                <a:lnTo>
                  <a:pt x="5557" y="177839"/>
                </a:lnTo>
                <a:lnTo>
                  <a:pt x="7818" y="173894"/>
                </a:lnTo>
                <a:lnTo>
                  <a:pt x="554055" y="5483"/>
                </a:lnTo>
                <a:lnTo>
                  <a:pt x="562942" y="5483"/>
                </a:lnTo>
                <a:lnTo>
                  <a:pt x="560136" y="1783"/>
                </a:lnTo>
                <a:lnTo>
                  <a:pt x="554597" y="0"/>
                </a:lnTo>
                <a:close/>
              </a:path>
              <a:path w="2406650" h="2453640">
                <a:moveTo>
                  <a:pt x="562942" y="5483"/>
                </a:moveTo>
                <a:lnTo>
                  <a:pt x="554055" y="5483"/>
                </a:lnTo>
                <a:lnTo>
                  <a:pt x="557377" y="6553"/>
                </a:lnTo>
                <a:lnTo>
                  <a:pt x="2392341" y="2426330"/>
                </a:lnTo>
                <a:lnTo>
                  <a:pt x="2395929" y="2427242"/>
                </a:lnTo>
                <a:lnTo>
                  <a:pt x="2394578" y="2429280"/>
                </a:lnTo>
                <a:lnTo>
                  <a:pt x="2400832" y="2437527"/>
                </a:lnTo>
                <a:lnTo>
                  <a:pt x="2400945" y="2441062"/>
                </a:lnTo>
                <a:lnTo>
                  <a:pt x="2397366" y="2446460"/>
                </a:lnTo>
                <a:lnTo>
                  <a:pt x="2394066" y="2447734"/>
                </a:lnTo>
                <a:lnTo>
                  <a:pt x="2402617" y="2447734"/>
                </a:lnTo>
                <a:lnTo>
                  <a:pt x="2406371" y="2442069"/>
                </a:lnTo>
                <a:lnTo>
                  <a:pt x="2406185" y="2436178"/>
                </a:lnTo>
                <a:lnTo>
                  <a:pt x="562942" y="5483"/>
                </a:lnTo>
                <a:close/>
              </a:path>
              <a:path w="2406650" h="2453640">
                <a:moveTo>
                  <a:pt x="2380449" y="2444276"/>
                </a:moveTo>
                <a:lnTo>
                  <a:pt x="2382685" y="2447225"/>
                </a:lnTo>
                <a:lnTo>
                  <a:pt x="2384035" y="2445187"/>
                </a:lnTo>
                <a:lnTo>
                  <a:pt x="2380449" y="2444276"/>
                </a:lnTo>
                <a:close/>
              </a:path>
              <a:path w="2406650" h="2453640">
                <a:moveTo>
                  <a:pt x="2384035" y="2445187"/>
                </a:moveTo>
                <a:lnTo>
                  <a:pt x="2382685" y="2447225"/>
                </a:lnTo>
                <a:lnTo>
                  <a:pt x="2392062" y="2447225"/>
                </a:lnTo>
                <a:lnTo>
                  <a:pt x="2384035" y="2445187"/>
                </a:lnTo>
                <a:close/>
              </a:path>
              <a:path w="2406650" h="2453640">
                <a:moveTo>
                  <a:pt x="2375526" y="2437785"/>
                </a:moveTo>
                <a:lnTo>
                  <a:pt x="2380449" y="2444276"/>
                </a:lnTo>
                <a:lnTo>
                  <a:pt x="2384035" y="2445187"/>
                </a:lnTo>
                <a:lnTo>
                  <a:pt x="2387009" y="2440701"/>
                </a:lnTo>
                <a:lnTo>
                  <a:pt x="2375526" y="2437785"/>
                </a:lnTo>
                <a:close/>
              </a:path>
              <a:path w="2406650" h="2453640">
                <a:moveTo>
                  <a:pt x="2391605" y="2433766"/>
                </a:moveTo>
                <a:lnTo>
                  <a:pt x="2387009" y="2440701"/>
                </a:lnTo>
                <a:lnTo>
                  <a:pt x="2393224" y="2442279"/>
                </a:lnTo>
                <a:lnTo>
                  <a:pt x="2394324" y="2441854"/>
                </a:lnTo>
                <a:lnTo>
                  <a:pt x="2395517" y="2440054"/>
                </a:lnTo>
                <a:lnTo>
                  <a:pt x="2395480" y="2438876"/>
                </a:lnTo>
                <a:lnTo>
                  <a:pt x="2391605" y="2433766"/>
                </a:lnTo>
                <a:close/>
              </a:path>
              <a:path w="2406650" h="2453640">
                <a:moveTo>
                  <a:pt x="2360759" y="2418312"/>
                </a:moveTo>
                <a:lnTo>
                  <a:pt x="2375526" y="2437785"/>
                </a:lnTo>
                <a:lnTo>
                  <a:pt x="2387009" y="2440701"/>
                </a:lnTo>
                <a:lnTo>
                  <a:pt x="2391605" y="2433766"/>
                </a:lnTo>
                <a:lnTo>
                  <a:pt x="2384446" y="2424326"/>
                </a:lnTo>
                <a:lnTo>
                  <a:pt x="2360759" y="2418312"/>
                </a:lnTo>
                <a:close/>
              </a:path>
              <a:path w="2406650" h="2453640">
                <a:moveTo>
                  <a:pt x="553511" y="10966"/>
                </a:moveTo>
                <a:lnTo>
                  <a:pt x="11866" y="177962"/>
                </a:lnTo>
                <a:lnTo>
                  <a:pt x="11113" y="179277"/>
                </a:lnTo>
                <a:lnTo>
                  <a:pt x="425778" y="1942193"/>
                </a:lnTo>
                <a:lnTo>
                  <a:pt x="426491" y="1942917"/>
                </a:lnTo>
                <a:lnTo>
                  <a:pt x="2375526" y="2437785"/>
                </a:lnTo>
                <a:lnTo>
                  <a:pt x="2360759" y="2418312"/>
                </a:lnTo>
                <a:lnTo>
                  <a:pt x="438632" y="1930276"/>
                </a:lnTo>
                <a:lnTo>
                  <a:pt x="28971" y="188636"/>
                </a:lnTo>
                <a:lnTo>
                  <a:pt x="548490" y="28463"/>
                </a:lnTo>
                <a:lnTo>
                  <a:pt x="567616" y="28463"/>
                </a:lnTo>
                <a:lnTo>
                  <a:pt x="554619" y="11323"/>
                </a:lnTo>
                <a:lnTo>
                  <a:pt x="553511" y="10966"/>
                </a:lnTo>
                <a:close/>
              </a:path>
              <a:path w="2406650" h="2453640">
                <a:moveTo>
                  <a:pt x="2384446" y="2424326"/>
                </a:moveTo>
                <a:lnTo>
                  <a:pt x="2391605" y="2433766"/>
                </a:lnTo>
                <a:lnTo>
                  <a:pt x="2394578" y="2429280"/>
                </a:lnTo>
                <a:lnTo>
                  <a:pt x="2392341" y="2426330"/>
                </a:lnTo>
                <a:lnTo>
                  <a:pt x="2384446" y="2424326"/>
                </a:lnTo>
                <a:close/>
              </a:path>
              <a:path w="2406650" h="2453640">
                <a:moveTo>
                  <a:pt x="2392341" y="2426330"/>
                </a:moveTo>
                <a:lnTo>
                  <a:pt x="2394578" y="2429280"/>
                </a:lnTo>
                <a:lnTo>
                  <a:pt x="2395929" y="2427242"/>
                </a:lnTo>
                <a:lnTo>
                  <a:pt x="2392341" y="2426330"/>
                </a:lnTo>
                <a:close/>
              </a:path>
              <a:path w="2406650" h="2453640">
                <a:moveTo>
                  <a:pt x="567616" y="28463"/>
                </a:moveTo>
                <a:lnTo>
                  <a:pt x="548490" y="28463"/>
                </a:lnTo>
                <a:lnTo>
                  <a:pt x="2360759" y="2418312"/>
                </a:lnTo>
                <a:lnTo>
                  <a:pt x="2384446" y="2424326"/>
                </a:lnTo>
                <a:lnTo>
                  <a:pt x="567616" y="28463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928273" y="3700863"/>
            <a:ext cx="535305" cy="50800"/>
          </a:xfrm>
          <a:custGeom>
            <a:avLst/>
            <a:gdLst/>
            <a:ahLst/>
            <a:cxnLst/>
            <a:rect l="l" t="t" r="r" b="b"/>
            <a:pathLst>
              <a:path w="535304" h="50800">
                <a:moveTo>
                  <a:pt x="0" y="50728"/>
                </a:moveTo>
                <a:lnTo>
                  <a:pt x="53513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463404" y="3591759"/>
            <a:ext cx="218440" cy="218440"/>
          </a:xfrm>
          <a:custGeom>
            <a:avLst/>
            <a:gdLst/>
            <a:ahLst/>
            <a:cxnLst/>
            <a:rect l="l" t="t" r="r" b="b"/>
            <a:pathLst>
              <a:path w="218440" h="218439">
                <a:moveTo>
                  <a:pt x="109104" y="0"/>
                </a:moveTo>
                <a:lnTo>
                  <a:pt x="66636" y="8574"/>
                </a:lnTo>
                <a:lnTo>
                  <a:pt x="31956" y="31956"/>
                </a:lnTo>
                <a:lnTo>
                  <a:pt x="8574" y="66636"/>
                </a:lnTo>
                <a:lnTo>
                  <a:pt x="0" y="109104"/>
                </a:lnTo>
                <a:lnTo>
                  <a:pt x="8574" y="151572"/>
                </a:lnTo>
                <a:lnTo>
                  <a:pt x="31956" y="186252"/>
                </a:lnTo>
                <a:lnTo>
                  <a:pt x="66636" y="209634"/>
                </a:lnTo>
                <a:lnTo>
                  <a:pt x="109104" y="218208"/>
                </a:lnTo>
                <a:lnTo>
                  <a:pt x="151572" y="209634"/>
                </a:lnTo>
                <a:lnTo>
                  <a:pt x="186252" y="186252"/>
                </a:lnTo>
                <a:lnTo>
                  <a:pt x="209634" y="151572"/>
                </a:lnTo>
                <a:lnTo>
                  <a:pt x="218208" y="109104"/>
                </a:lnTo>
                <a:lnTo>
                  <a:pt x="209634" y="66636"/>
                </a:lnTo>
                <a:lnTo>
                  <a:pt x="186252" y="31956"/>
                </a:lnTo>
                <a:lnTo>
                  <a:pt x="151572" y="8574"/>
                </a:lnTo>
                <a:lnTo>
                  <a:pt x="10910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463404" y="3591759"/>
            <a:ext cx="218440" cy="218440"/>
          </a:xfrm>
          <a:custGeom>
            <a:avLst/>
            <a:gdLst/>
            <a:ahLst/>
            <a:cxnLst/>
            <a:rect l="l" t="t" r="r" b="b"/>
            <a:pathLst>
              <a:path w="218440" h="218439">
                <a:moveTo>
                  <a:pt x="0" y="109104"/>
                </a:moveTo>
                <a:lnTo>
                  <a:pt x="8573" y="66636"/>
                </a:lnTo>
                <a:lnTo>
                  <a:pt x="31955" y="31955"/>
                </a:lnTo>
                <a:lnTo>
                  <a:pt x="66636" y="8573"/>
                </a:lnTo>
                <a:lnTo>
                  <a:pt x="109104" y="0"/>
                </a:lnTo>
                <a:lnTo>
                  <a:pt x="151572" y="8573"/>
                </a:lnTo>
                <a:lnTo>
                  <a:pt x="186253" y="31955"/>
                </a:lnTo>
                <a:lnTo>
                  <a:pt x="209635" y="66636"/>
                </a:lnTo>
                <a:lnTo>
                  <a:pt x="218209" y="109104"/>
                </a:lnTo>
                <a:lnTo>
                  <a:pt x="209635" y="151572"/>
                </a:lnTo>
                <a:lnTo>
                  <a:pt x="186253" y="186253"/>
                </a:lnTo>
                <a:lnTo>
                  <a:pt x="151572" y="209635"/>
                </a:lnTo>
                <a:lnTo>
                  <a:pt x="109104" y="218209"/>
                </a:lnTo>
                <a:lnTo>
                  <a:pt x="66636" y="209635"/>
                </a:lnTo>
                <a:lnTo>
                  <a:pt x="31955" y="186253"/>
                </a:lnTo>
                <a:lnTo>
                  <a:pt x="8573" y="151572"/>
                </a:lnTo>
                <a:lnTo>
                  <a:pt x="0" y="10910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725350" y="4148475"/>
            <a:ext cx="218440" cy="218440"/>
          </a:xfrm>
          <a:custGeom>
            <a:avLst/>
            <a:gdLst/>
            <a:ahLst/>
            <a:cxnLst/>
            <a:rect l="l" t="t" r="r" b="b"/>
            <a:pathLst>
              <a:path w="218440" h="218439">
                <a:moveTo>
                  <a:pt x="109104" y="0"/>
                </a:moveTo>
                <a:lnTo>
                  <a:pt x="66636" y="8573"/>
                </a:lnTo>
                <a:lnTo>
                  <a:pt x="31956" y="31955"/>
                </a:lnTo>
                <a:lnTo>
                  <a:pt x="8574" y="66635"/>
                </a:lnTo>
                <a:lnTo>
                  <a:pt x="0" y="109104"/>
                </a:lnTo>
                <a:lnTo>
                  <a:pt x="8574" y="151572"/>
                </a:lnTo>
                <a:lnTo>
                  <a:pt x="31956" y="186252"/>
                </a:lnTo>
                <a:lnTo>
                  <a:pt x="66636" y="209634"/>
                </a:lnTo>
                <a:lnTo>
                  <a:pt x="109104" y="218208"/>
                </a:lnTo>
                <a:lnTo>
                  <a:pt x="151573" y="209634"/>
                </a:lnTo>
                <a:lnTo>
                  <a:pt x="186253" y="186252"/>
                </a:lnTo>
                <a:lnTo>
                  <a:pt x="209635" y="151572"/>
                </a:lnTo>
                <a:lnTo>
                  <a:pt x="218208" y="109104"/>
                </a:lnTo>
                <a:lnTo>
                  <a:pt x="209635" y="66635"/>
                </a:lnTo>
                <a:lnTo>
                  <a:pt x="186253" y="31955"/>
                </a:lnTo>
                <a:lnTo>
                  <a:pt x="151573" y="8573"/>
                </a:lnTo>
                <a:lnTo>
                  <a:pt x="10910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725350" y="4148475"/>
            <a:ext cx="218440" cy="218440"/>
          </a:xfrm>
          <a:custGeom>
            <a:avLst/>
            <a:gdLst/>
            <a:ahLst/>
            <a:cxnLst/>
            <a:rect l="l" t="t" r="r" b="b"/>
            <a:pathLst>
              <a:path w="218440" h="218439">
                <a:moveTo>
                  <a:pt x="0" y="109104"/>
                </a:moveTo>
                <a:lnTo>
                  <a:pt x="8573" y="66636"/>
                </a:lnTo>
                <a:lnTo>
                  <a:pt x="31955" y="31955"/>
                </a:lnTo>
                <a:lnTo>
                  <a:pt x="66636" y="8573"/>
                </a:lnTo>
                <a:lnTo>
                  <a:pt x="109104" y="0"/>
                </a:lnTo>
                <a:lnTo>
                  <a:pt x="151572" y="8573"/>
                </a:lnTo>
                <a:lnTo>
                  <a:pt x="186253" y="31955"/>
                </a:lnTo>
                <a:lnTo>
                  <a:pt x="209635" y="66636"/>
                </a:lnTo>
                <a:lnTo>
                  <a:pt x="218209" y="109104"/>
                </a:lnTo>
                <a:lnTo>
                  <a:pt x="209635" y="151572"/>
                </a:lnTo>
                <a:lnTo>
                  <a:pt x="186253" y="186253"/>
                </a:lnTo>
                <a:lnTo>
                  <a:pt x="151572" y="209635"/>
                </a:lnTo>
                <a:lnTo>
                  <a:pt x="109104" y="218209"/>
                </a:lnTo>
                <a:lnTo>
                  <a:pt x="66636" y="209635"/>
                </a:lnTo>
                <a:lnTo>
                  <a:pt x="31955" y="186253"/>
                </a:lnTo>
                <a:lnTo>
                  <a:pt x="8573" y="151572"/>
                </a:lnTo>
                <a:lnTo>
                  <a:pt x="0" y="10910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403273" y="3358202"/>
            <a:ext cx="2089150" cy="2118360"/>
          </a:xfrm>
          <a:custGeom>
            <a:avLst/>
            <a:gdLst/>
            <a:ahLst/>
            <a:cxnLst/>
            <a:rect l="l" t="t" r="r" b="b"/>
            <a:pathLst>
              <a:path w="2089150" h="2118360">
                <a:moveTo>
                  <a:pt x="1569026" y="0"/>
                </a:moveTo>
                <a:lnTo>
                  <a:pt x="0" y="1836870"/>
                </a:lnTo>
                <a:lnTo>
                  <a:pt x="124691" y="2117805"/>
                </a:lnTo>
                <a:lnTo>
                  <a:pt x="2088572" y="1761235"/>
                </a:lnTo>
                <a:lnTo>
                  <a:pt x="1569026" y="0"/>
                </a:lnTo>
                <a:close/>
              </a:path>
            </a:pathLst>
          </a:custGeom>
          <a:solidFill>
            <a:srgbClr val="92D050">
              <a:alpha val="490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389680" y="3344810"/>
            <a:ext cx="2115820" cy="2145030"/>
          </a:xfrm>
          <a:custGeom>
            <a:avLst/>
            <a:gdLst/>
            <a:ahLst/>
            <a:cxnLst/>
            <a:rect l="l" t="t" r="r" b="b"/>
            <a:pathLst>
              <a:path w="2115820" h="2145029">
                <a:moveTo>
                  <a:pt x="1580710" y="0"/>
                </a:moveTo>
                <a:lnTo>
                  <a:pt x="1575988" y="1601"/>
                </a:lnTo>
                <a:lnTo>
                  <a:pt x="759" y="1845732"/>
                </a:lnTo>
                <a:lnTo>
                  <a:pt x="0" y="1850946"/>
                </a:lnTo>
                <a:lnTo>
                  <a:pt x="129052" y="2141705"/>
                </a:lnTo>
                <a:lnTo>
                  <a:pt x="134786" y="2144739"/>
                </a:lnTo>
                <a:lnTo>
                  <a:pt x="225103" y="2128340"/>
                </a:lnTo>
                <a:lnTo>
                  <a:pt x="139795" y="2128340"/>
                </a:lnTo>
                <a:lnTo>
                  <a:pt x="16563" y="1850696"/>
                </a:lnTo>
                <a:lnTo>
                  <a:pt x="1581508" y="18604"/>
                </a:lnTo>
                <a:lnTo>
                  <a:pt x="1597398" y="18604"/>
                </a:lnTo>
                <a:lnTo>
                  <a:pt x="1593482" y="5330"/>
                </a:lnTo>
                <a:lnTo>
                  <a:pt x="1589824" y="1943"/>
                </a:lnTo>
                <a:lnTo>
                  <a:pt x="1580710" y="0"/>
                </a:lnTo>
                <a:close/>
              </a:path>
              <a:path w="2115820" h="2145029">
                <a:moveTo>
                  <a:pt x="1597398" y="18604"/>
                </a:moveTo>
                <a:lnTo>
                  <a:pt x="1581508" y="18604"/>
                </a:lnTo>
                <a:lnTo>
                  <a:pt x="2098927" y="1772634"/>
                </a:lnTo>
                <a:lnTo>
                  <a:pt x="139795" y="2128340"/>
                </a:lnTo>
                <a:lnTo>
                  <a:pt x="225103" y="2128340"/>
                </a:lnTo>
                <a:lnTo>
                  <a:pt x="2107980" y="1786479"/>
                </a:lnTo>
                <a:lnTo>
                  <a:pt x="2111086" y="1784358"/>
                </a:lnTo>
                <a:lnTo>
                  <a:pt x="2114867" y="1778220"/>
                </a:lnTo>
                <a:lnTo>
                  <a:pt x="2115365" y="1774492"/>
                </a:lnTo>
                <a:lnTo>
                  <a:pt x="1597398" y="18604"/>
                </a:lnTo>
                <a:close/>
              </a:path>
              <a:path w="2115820" h="2145029">
                <a:moveTo>
                  <a:pt x="1579286" y="29025"/>
                </a:moveTo>
                <a:lnTo>
                  <a:pt x="22505" y="1851560"/>
                </a:lnTo>
                <a:lnTo>
                  <a:pt x="142817" y="2122629"/>
                </a:lnTo>
                <a:lnTo>
                  <a:pt x="174280" y="2116917"/>
                </a:lnTo>
                <a:lnTo>
                  <a:pt x="145840" y="2116917"/>
                </a:lnTo>
                <a:lnTo>
                  <a:pt x="28446" y="1852427"/>
                </a:lnTo>
                <a:lnTo>
                  <a:pt x="1577064" y="39448"/>
                </a:lnTo>
                <a:lnTo>
                  <a:pt x="1582361" y="39448"/>
                </a:lnTo>
                <a:lnTo>
                  <a:pt x="1579286" y="29025"/>
                </a:lnTo>
                <a:close/>
              </a:path>
              <a:path w="2115820" h="2145029">
                <a:moveTo>
                  <a:pt x="1582361" y="39448"/>
                </a:moveTo>
                <a:lnTo>
                  <a:pt x="1577064" y="39448"/>
                </a:lnTo>
                <a:lnTo>
                  <a:pt x="2085982" y="1764658"/>
                </a:lnTo>
                <a:lnTo>
                  <a:pt x="145840" y="2116917"/>
                </a:lnTo>
                <a:lnTo>
                  <a:pt x="174280" y="2116917"/>
                </a:lnTo>
                <a:lnTo>
                  <a:pt x="2092455" y="1768646"/>
                </a:lnTo>
                <a:lnTo>
                  <a:pt x="1582361" y="39448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834878" y="6040628"/>
            <a:ext cx="2975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Possible </a:t>
            </a:r>
            <a:r>
              <a:rPr dirty="0" sz="2400">
                <a:latin typeface="Arial"/>
                <a:cs typeface="Arial"/>
              </a:rPr>
              <a:t>size-3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motifs</a:t>
            </a:r>
            <a:endParaRPr sz="24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391858" y="6019291"/>
            <a:ext cx="33464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count # of </a:t>
            </a:r>
            <a:r>
              <a:rPr dirty="0" sz="2400" spc="-5">
                <a:latin typeface="Arial"/>
                <a:cs typeface="Arial"/>
              </a:rPr>
              <a:t>triangle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motifs</a:t>
            </a:r>
            <a:endParaRPr sz="240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874085" y="4411008"/>
            <a:ext cx="1880235" cy="1617980"/>
          </a:xfrm>
          <a:custGeom>
            <a:avLst/>
            <a:gdLst/>
            <a:ahLst/>
            <a:cxnLst/>
            <a:rect l="l" t="t" r="r" b="b"/>
            <a:pathLst>
              <a:path w="1880235" h="1617979">
                <a:moveTo>
                  <a:pt x="939971" y="0"/>
                </a:moveTo>
                <a:lnTo>
                  <a:pt x="888397" y="1196"/>
                </a:lnTo>
                <a:lnTo>
                  <a:pt x="837551" y="4746"/>
                </a:lnTo>
                <a:lnTo>
                  <a:pt x="787503" y="10587"/>
                </a:lnTo>
                <a:lnTo>
                  <a:pt x="738325" y="18657"/>
                </a:lnTo>
                <a:lnTo>
                  <a:pt x="690089" y="28894"/>
                </a:lnTo>
                <a:lnTo>
                  <a:pt x="642867" y="41238"/>
                </a:lnTo>
                <a:lnTo>
                  <a:pt x="596731" y="55626"/>
                </a:lnTo>
                <a:lnTo>
                  <a:pt x="551751" y="71996"/>
                </a:lnTo>
                <a:lnTo>
                  <a:pt x="508000" y="90288"/>
                </a:lnTo>
                <a:lnTo>
                  <a:pt x="465550" y="110438"/>
                </a:lnTo>
                <a:lnTo>
                  <a:pt x="424471" y="132386"/>
                </a:lnTo>
                <a:lnTo>
                  <a:pt x="384836" y="156070"/>
                </a:lnTo>
                <a:lnTo>
                  <a:pt x="346717" y="181429"/>
                </a:lnTo>
                <a:lnTo>
                  <a:pt x="310184" y="208399"/>
                </a:lnTo>
                <a:lnTo>
                  <a:pt x="275311" y="236921"/>
                </a:lnTo>
                <a:lnTo>
                  <a:pt x="242168" y="266932"/>
                </a:lnTo>
                <a:lnTo>
                  <a:pt x="210827" y="298370"/>
                </a:lnTo>
                <a:lnTo>
                  <a:pt x="181360" y="331174"/>
                </a:lnTo>
                <a:lnTo>
                  <a:pt x="153838" y="365282"/>
                </a:lnTo>
                <a:lnTo>
                  <a:pt x="128333" y="400633"/>
                </a:lnTo>
                <a:lnTo>
                  <a:pt x="104917" y="437164"/>
                </a:lnTo>
                <a:lnTo>
                  <a:pt x="83662" y="474814"/>
                </a:lnTo>
                <a:lnTo>
                  <a:pt x="64639" y="513522"/>
                </a:lnTo>
                <a:lnTo>
                  <a:pt x="47920" y="553225"/>
                </a:lnTo>
                <a:lnTo>
                  <a:pt x="33576" y="593863"/>
                </a:lnTo>
                <a:lnTo>
                  <a:pt x="21680" y="635372"/>
                </a:lnTo>
                <a:lnTo>
                  <a:pt x="12302" y="677693"/>
                </a:lnTo>
                <a:lnTo>
                  <a:pt x="5515" y="720762"/>
                </a:lnTo>
                <a:lnTo>
                  <a:pt x="1390" y="764518"/>
                </a:lnTo>
                <a:lnTo>
                  <a:pt x="0" y="808901"/>
                </a:lnTo>
                <a:lnTo>
                  <a:pt x="1390" y="853283"/>
                </a:lnTo>
                <a:lnTo>
                  <a:pt x="5515" y="897039"/>
                </a:lnTo>
                <a:lnTo>
                  <a:pt x="12302" y="940108"/>
                </a:lnTo>
                <a:lnTo>
                  <a:pt x="21680" y="982429"/>
                </a:lnTo>
                <a:lnTo>
                  <a:pt x="33576" y="1023938"/>
                </a:lnTo>
                <a:lnTo>
                  <a:pt x="47920" y="1064576"/>
                </a:lnTo>
                <a:lnTo>
                  <a:pt x="64639" y="1104279"/>
                </a:lnTo>
                <a:lnTo>
                  <a:pt x="83662" y="1142986"/>
                </a:lnTo>
                <a:lnTo>
                  <a:pt x="104917" y="1180637"/>
                </a:lnTo>
                <a:lnTo>
                  <a:pt x="128333" y="1217168"/>
                </a:lnTo>
                <a:lnTo>
                  <a:pt x="153838" y="1252518"/>
                </a:lnTo>
                <a:lnTo>
                  <a:pt x="181360" y="1286626"/>
                </a:lnTo>
                <a:lnTo>
                  <a:pt x="210827" y="1319430"/>
                </a:lnTo>
                <a:lnTo>
                  <a:pt x="242168" y="1350869"/>
                </a:lnTo>
                <a:lnTo>
                  <a:pt x="275311" y="1380879"/>
                </a:lnTo>
                <a:lnTo>
                  <a:pt x="310184" y="1409401"/>
                </a:lnTo>
                <a:lnTo>
                  <a:pt x="346717" y="1436372"/>
                </a:lnTo>
                <a:lnTo>
                  <a:pt x="384836" y="1461730"/>
                </a:lnTo>
                <a:lnTo>
                  <a:pt x="424471" y="1485414"/>
                </a:lnTo>
                <a:lnTo>
                  <a:pt x="465550" y="1507362"/>
                </a:lnTo>
                <a:lnTo>
                  <a:pt x="508000" y="1527513"/>
                </a:lnTo>
                <a:lnTo>
                  <a:pt x="551751" y="1545804"/>
                </a:lnTo>
                <a:lnTo>
                  <a:pt x="596731" y="1562175"/>
                </a:lnTo>
                <a:lnTo>
                  <a:pt x="642867" y="1576563"/>
                </a:lnTo>
                <a:lnTo>
                  <a:pt x="690089" y="1588906"/>
                </a:lnTo>
                <a:lnTo>
                  <a:pt x="738325" y="1599144"/>
                </a:lnTo>
                <a:lnTo>
                  <a:pt x="787503" y="1607214"/>
                </a:lnTo>
                <a:lnTo>
                  <a:pt x="837551" y="1613054"/>
                </a:lnTo>
                <a:lnTo>
                  <a:pt x="888397" y="1616604"/>
                </a:lnTo>
                <a:lnTo>
                  <a:pt x="939971" y="1617801"/>
                </a:lnTo>
                <a:lnTo>
                  <a:pt x="991545" y="1616604"/>
                </a:lnTo>
                <a:lnTo>
                  <a:pt x="1042391" y="1613054"/>
                </a:lnTo>
                <a:lnTo>
                  <a:pt x="1092439" y="1607214"/>
                </a:lnTo>
                <a:lnTo>
                  <a:pt x="1141617" y="1599144"/>
                </a:lnTo>
                <a:lnTo>
                  <a:pt x="1189852" y="1588906"/>
                </a:lnTo>
                <a:lnTo>
                  <a:pt x="1237074" y="1576563"/>
                </a:lnTo>
                <a:lnTo>
                  <a:pt x="1283211" y="1562175"/>
                </a:lnTo>
                <a:lnTo>
                  <a:pt x="1328191" y="1545804"/>
                </a:lnTo>
                <a:lnTo>
                  <a:pt x="1371942" y="1527513"/>
                </a:lnTo>
                <a:lnTo>
                  <a:pt x="1414392" y="1507362"/>
                </a:lnTo>
                <a:lnTo>
                  <a:pt x="1455471" y="1485414"/>
                </a:lnTo>
                <a:lnTo>
                  <a:pt x="1495106" y="1461730"/>
                </a:lnTo>
                <a:lnTo>
                  <a:pt x="1533225" y="1436372"/>
                </a:lnTo>
                <a:lnTo>
                  <a:pt x="1569757" y="1409401"/>
                </a:lnTo>
                <a:lnTo>
                  <a:pt x="1604631" y="1380879"/>
                </a:lnTo>
                <a:lnTo>
                  <a:pt x="1637774" y="1350869"/>
                </a:lnTo>
                <a:lnTo>
                  <a:pt x="1669115" y="1319430"/>
                </a:lnTo>
                <a:lnTo>
                  <a:pt x="1698582" y="1286626"/>
                </a:lnTo>
                <a:lnTo>
                  <a:pt x="1726104" y="1252518"/>
                </a:lnTo>
                <a:lnTo>
                  <a:pt x="1751609" y="1217168"/>
                </a:lnTo>
                <a:lnTo>
                  <a:pt x="1775024" y="1180637"/>
                </a:lnTo>
                <a:lnTo>
                  <a:pt x="1796280" y="1142986"/>
                </a:lnTo>
                <a:lnTo>
                  <a:pt x="1815303" y="1104279"/>
                </a:lnTo>
                <a:lnTo>
                  <a:pt x="1832022" y="1064576"/>
                </a:lnTo>
                <a:lnTo>
                  <a:pt x="1846366" y="1023938"/>
                </a:lnTo>
                <a:lnTo>
                  <a:pt x="1858262" y="982429"/>
                </a:lnTo>
                <a:lnTo>
                  <a:pt x="1867640" y="940108"/>
                </a:lnTo>
                <a:lnTo>
                  <a:pt x="1874427" y="897039"/>
                </a:lnTo>
                <a:lnTo>
                  <a:pt x="1878552" y="853283"/>
                </a:lnTo>
                <a:lnTo>
                  <a:pt x="1879942" y="808901"/>
                </a:lnTo>
                <a:lnTo>
                  <a:pt x="1878552" y="764518"/>
                </a:lnTo>
                <a:lnTo>
                  <a:pt x="1874427" y="720762"/>
                </a:lnTo>
                <a:lnTo>
                  <a:pt x="1867640" y="677693"/>
                </a:lnTo>
                <a:lnTo>
                  <a:pt x="1858262" y="635372"/>
                </a:lnTo>
                <a:lnTo>
                  <a:pt x="1846366" y="593863"/>
                </a:lnTo>
                <a:lnTo>
                  <a:pt x="1832022" y="553225"/>
                </a:lnTo>
                <a:lnTo>
                  <a:pt x="1815303" y="513522"/>
                </a:lnTo>
                <a:lnTo>
                  <a:pt x="1796280" y="474814"/>
                </a:lnTo>
                <a:lnTo>
                  <a:pt x="1775024" y="437164"/>
                </a:lnTo>
                <a:lnTo>
                  <a:pt x="1751609" y="400633"/>
                </a:lnTo>
                <a:lnTo>
                  <a:pt x="1726104" y="365282"/>
                </a:lnTo>
                <a:lnTo>
                  <a:pt x="1698582" y="331174"/>
                </a:lnTo>
                <a:lnTo>
                  <a:pt x="1669115" y="298370"/>
                </a:lnTo>
                <a:lnTo>
                  <a:pt x="1637774" y="266932"/>
                </a:lnTo>
                <a:lnTo>
                  <a:pt x="1604631" y="236921"/>
                </a:lnTo>
                <a:lnTo>
                  <a:pt x="1569757" y="208399"/>
                </a:lnTo>
                <a:lnTo>
                  <a:pt x="1533225" y="181429"/>
                </a:lnTo>
                <a:lnTo>
                  <a:pt x="1495106" y="156070"/>
                </a:lnTo>
                <a:lnTo>
                  <a:pt x="1455471" y="132386"/>
                </a:lnTo>
                <a:lnTo>
                  <a:pt x="1414392" y="110438"/>
                </a:lnTo>
                <a:lnTo>
                  <a:pt x="1371942" y="90288"/>
                </a:lnTo>
                <a:lnTo>
                  <a:pt x="1328191" y="71996"/>
                </a:lnTo>
                <a:lnTo>
                  <a:pt x="1283211" y="55626"/>
                </a:lnTo>
                <a:lnTo>
                  <a:pt x="1237074" y="41238"/>
                </a:lnTo>
                <a:lnTo>
                  <a:pt x="1189852" y="28894"/>
                </a:lnTo>
                <a:lnTo>
                  <a:pt x="1141617" y="18657"/>
                </a:lnTo>
                <a:lnTo>
                  <a:pt x="1092439" y="10587"/>
                </a:lnTo>
                <a:lnTo>
                  <a:pt x="1042391" y="4746"/>
                </a:lnTo>
                <a:lnTo>
                  <a:pt x="991545" y="1196"/>
                </a:lnTo>
                <a:lnTo>
                  <a:pt x="939971" y="0"/>
                </a:lnTo>
                <a:close/>
              </a:path>
            </a:pathLst>
          </a:custGeom>
          <a:solidFill>
            <a:srgbClr val="D9253E">
              <a:alpha val="1607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861392" y="4403206"/>
            <a:ext cx="1905635" cy="1638300"/>
          </a:xfrm>
          <a:custGeom>
            <a:avLst/>
            <a:gdLst/>
            <a:ahLst/>
            <a:cxnLst/>
            <a:rect l="l" t="t" r="r" b="b"/>
            <a:pathLst>
              <a:path w="1905635" h="1638300">
                <a:moveTo>
                  <a:pt x="904460" y="12699"/>
                </a:moveTo>
                <a:lnTo>
                  <a:pt x="760754" y="12699"/>
                </a:lnTo>
                <a:lnTo>
                  <a:pt x="625391" y="50799"/>
                </a:lnTo>
                <a:lnTo>
                  <a:pt x="540026" y="76199"/>
                </a:lnTo>
                <a:lnTo>
                  <a:pt x="498986" y="101599"/>
                </a:lnTo>
                <a:lnTo>
                  <a:pt x="459121" y="114299"/>
                </a:lnTo>
                <a:lnTo>
                  <a:pt x="420489" y="139699"/>
                </a:lnTo>
                <a:lnTo>
                  <a:pt x="383151" y="165099"/>
                </a:lnTo>
                <a:lnTo>
                  <a:pt x="347165" y="190499"/>
                </a:lnTo>
                <a:lnTo>
                  <a:pt x="312593" y="215899"/>
                </a:lnTo>
                <a:lnTo>
                  <a:pt x="279495" y="241299"/>
                </a:lnTo>
                <a:lnTo>
                  <a:pt x="247930" y="266699"/>
                </a:lnTo>
                <a:lnTo>
                  <a:pt x="217959" y="304799"/>
                </a:lnTo>
                <a:lnTo>
                  <a:pt x="189642" y="330199"/>
                </a:lnTo>
                <a:lnTo>
                  <a:pt x="163041" y="368299"/>
                </a:lnTo>
                <a:lnTo>
                  <a:pt x="138216" y="393699"/>
                </a:lnTo>
                <a:lnTo>
                  <a:pt x="115229" y="431799"/>
                </a:lnTo>
                <a:lnTo>
                  <a:pt x="94142" y="469899"/>
                </a:lnTo>
                <a:lnTo>
                  <a:pt x="75016" y="507999"/>
                </a:lnTo>
                <a:lnTo>
                  <a:pt x="57911" y="546099"/>
                </a:lnTo>
                <a:lnTo>
                  <a:pt x="42892" y="584199"/>
                </a:lnTo>
                <a:lnTo>
                  <a:pt x="30020" y="622299"/>
                </a:lnTo>
                <a:lnTo>
                  <a:pt x="19356" y="660399"/>
                </a:lnTo>
                <a:lnTo>
                  <a:pt x="10961" y="698499"/>
                </a:lnTo>
                <a:lnTo>
                  <a:pt x="4895" y="736599"/>
                </a:lnTo>
                <a:lnTo>
                  <a:pt x="1223" y="787399"/>
                </a:lnTo>
                <a:lnTo>
                  <a:pt x="0" y="825499"/>
                </a:lnTo>
                <a:lnTo>
                  <a:pt x="1266" y="863599"/>
                </a:lnTo>
                <a:lnTo>
                  <a:pt x="4983" y="901699"/>
                </a:lnTo>
                <a:lnTo>
                  <a:pt x="11089" y="952499"/>
                </a:lnTo>
                <a:lnTo>
                  <a:pt x="19523" y="990599"/>
                </a:lnTo>
                <a:lnTo>
                  <a:pt x="30225" y="1028699"/>
                </a:lnTo>
                <a:lnTo>
                  <a:pt x="43134" y="1066799"/>
                </a:lnTo>
                <a:lnTo>
                  <a:pt x="58185" y="1104899"/>
                </a:lnTo>
                <a:lnTo>
                  <a:pt x="75318" y="1142999"/>
                </a:lnTo>
                <a:lnTo>
                  <a:pt x="94471" y="1181099"/>
                </a:lnTo>
                <a:lnTo>
                  <a:pt x="115583" y="1219199"/>
                </a:lnTo>
                <a:lnTo>
                  <a:pt x="138592" y="1244599"/>
                </a:lnTo>
                <a:lnTo>
                  <a:pt x="163436" y="1282699"/>
                </a:lnTo>
                <a:lnTo>
                  <a:pt x="190054" y="1320799"/>
                </a:lnTo>
                <a:lnTo>
                  <a:pt x="218386" y="1346199"/>
                </a:lnTo>
                <a:lnTo>
                  <a:pt x="248372" y="1371599"/>
                </a:lnTo>
                <a:lnTo>
                  <a:pt x="279949" y="1409699"/>
                </a:lnTo>
                <a:lnTo>
                  <a:pt x="313060" y="1435099"/>
                </a:lnTo>
                <a:lnTo>
                  <a:pt x="347642" y="1460499"/>
                </a:lnTo>
                <a:lnTo>
                  <a:pt x="383636" y="1485899"/>
                </a:lnTo>
                <a:lnTo>
                  <a:pt x="420983" y="1498599"/>
                </a:lnTo>
                <a:lnTo>
                  <a:pt x="459623" y="1523999"/>
                </a:lnTo>
                <a:lnTo>
                  <a:pt x="499497" y="1549399"/>
                </a:lnTo>
                <a:lnTo>
                  <a:pt x="582705" y="1574799"/>
                </a:lnTo>
                <a:lnTo>
                  <a:pt x="625920" y="1600199"/>
                </a:lnTo>
                <a:lnTo>
                  <a:pt x="670132" y="1612899"/>
                </a:lnTo>
                <a:lnTo>
                  <a:pt x="715277" y="1612899"/>
                </a:lnTo>
                <a:lnTo>
                  <a:pt x="808136" y="1638299"/>
                </a:lnTo>
                <a:lnTo>
                  <a:pt x="1097742" y="1638299"/>
                </a:lnTo>
                <a:lnTo>
                  <a:pt x="1144576" y="1625599"/>
                </a:lnTo>
                <a:lnTo>
                  <a:pt x="809792" y="1625599"/>
                </a:lnTo>
                <a:lnTo>
                  <a:pt x="673748" y="1587499"/>
                </a:lnTo>
                <a:lnTo>
                  <a:pt x="587602" y="1562099"/>
                </a:lnTo>
                <a:lnTo>
                  <a:pt x="505644" y="1536699"/>
                </a:lnTo>
                <a:lnTo>
                  <a:pt x="466382" y="1511299"/>
                </a:lnTo>
                <a:lnTo>
                  <a:pt x="428345" y="1485899"/>
                </a:lnTo>
                <a:lnTo>
                  <a:pt x="391591" y="1473199"/>
                </a:lnTo>
                <a:lnTo>
                  <a:pt x="356179" y="1447799"/>
                </a:lnTo>
                <a:lnTo>
                  <a:pt x="322167" y="1422399"/>
                </a:lnTo>
                <a:lnTo>
                  <a:pt x="289615" y="1396999"/>
                </a:lnTo>
                <a:lnTo>
                  <a:pt x="258583" y="1358899"/>
                </a:lnTo>
                <a:lnTo>
                  <a:pt x="229128" y="1333499"/>
                </a:lnTo>
                <a:lnTo>
                  <a:pt x="201308" y="1308099"/>
                </a:lnTo>
                <a:lnTo>
                  <a:pt x="175183" y="1269999"/>
                </a:lnTo>
                <a:lnTo>
                  <a:pt x="150813" y="1244599"/>
                </a:lnTo>
                <a:lnTo>
                  <a:pt x="128254" y="1206499"/>
                </a:lnTo>
                <a:lnTo>
                  <a:pt x="107567" y="1168399"/>
                </a:lnTo>
                <a:lnTo>
                  <a:pt x="88809" y="1142999"/>
                </a:lnTo>
                <a:lnTo>
                  <a:pt x="72040" y="1104899"/>
                </a:lnTo>
                <a:lnTo>
                  <a:pt x="57317" y="1066799"/>
                </a:lnTo>
                <a:lnTo>
                  <a:pt x="44698" y="1028699"/>
                </a:lnTo>
                <a:lnTo>
                  <a:pt x="34244" y="990599"/>
                </a:lnTo>
                <a:lnTo>
                  <a:pt x="26012" y="939799"/>
                </a:lnTo>
                <a:lnTo>
                  <a:pt x="20059" y="901699"/>
                </a:lnTo>
                <a:lnTo>
                  <a:pt x="16447" y="863599"/>
                </a:lnTo>
                <a:lnTo>
                  <a:pt x="15232" y="825499"/>
                </a:lnTo>
                <a:lnTo>
                  <a:pt x="16455" y="787399"/>
                </a:lnTo>
                <a:lnTo>
                  <a:pt x="20077" y="736599"/>
                </a:lnTo>
                <a:lnTo>
                  <a:pt x="26037" y="698499"/>
                </a:lnTo>
                <a:lnTo>
                  <a:pt x="34277" y="660399"/>
                </a:lnTo>
                <a:lnTo>
                  <a:pt x="44739" y="622299"/>
                </a:lnTo>
                <a:lnTo>
                  <a:pt x="57364" y="584199"/>
                </a:lnTo>
                <a:lnTo>
                  <a:pt x="72095" y="546099"/>
                </a:lnTo>
                <a:lnTo>
                  <a:pt x="88870" y="507999"/>
                </a:lnTo>
                <a:lnTo>
                  <a:pt x="107633" y="469899"/>
                </a:lnTo>
                <a:lnTo>
                  <a:pt x="128325" y="444499"/>
                </a:lnTo>
                <a:lnTo>
                  <a:pt x="150888" y="406399"/>
                </a:lnTo>
                <a:lnTo>
                  <a:pt x="175263" y="368299"/>
                </a:lnTo>
                <a:lnTo>
                  <a:pt x="201391" y="342899"/>
                </a:lnTo>
                <a:lnTo>
                  <a:pt x="229213" y="304799"/>
                </a:lnTo>
                <a:lnTo>
                  <a:pt x="258671" y="279399"/>
                </a:lnTo>
                <a:lnTo>
                  <a:pt x="289707" y="253999"/>
                </a:lnTo>
                <a:lnTo>
                  <a:pt x="322261" y="228599"/>
                </a:lnTo>
                <a:lnTo>
                  <a:pt x="356274" y="203199"/>
                </a:lnTo>
                <a:lnTo>
                  <a:pt x="391688" y="177799"/>
                </a:lnTo>
                <a:lnTo>
                  <a:pt x="428444" y="152399"/>
                </a:lnTo>
                <a:lnTo>
                  <a:pt x="466482" y="139699"/>
                </a:lnTo>
                <a:lnTo>
                  <a:pt x="505745" y="114299"/>
                </a:lnTo>
                <a:lnTo>
                  <a:pt x="546173" y="101599"/>
                </a:lnTo>
                <a:lnTo>
                  <a:pt x="587706" y="76199"/>
                </a:lnTo>
                <a:lnTo>
                  <a:pt x="718355" y="38099"/>
                </a:lnTo>
                <a:lnTo>
                  <a:pt x="763723" y="38099"/>
                </a:lnTo>
                <a:lnTo>
                  <a:pt x="809903" y="25399"/>
                </a:lnTo>
                <a:lnTo>
                  <a:pt x="856834" y="25399"/>
                </a:lnTo>
                <a:lnTo>
                  <a:pt x="904460" y="12699"/>
                </a:lnTo>
                <a:close/>
              </a:path>
              <a:path w="1905635" h="1638300">
                <a:moveTo>
                  <a:pt x="904571" y="1612899"/>
                </a:moveTo>
                <a:lnTo>
                  <a:pt x="810345" y="1612899"/>
                </a:lnTo>
                <a:lnTo>
                  <a:pt x="857056" y="1625599"/>
                </a:lnTo>
                <a:lnTo>
                  <a:pt x="952389" y="1625599"/>
                </a:lnTo>
                <a:lnTo>
                  <a:pt x="904571" y="1612899"/>
                </a:lnTo>
                <a:close/>
              </a:path>
              <a:path w="1905635" h="1638300">
                <a:moveTo>
                  <a:pt x="1094656" y="1612899"/>
                </a:moveTo>
                <a:lnTo>
                  <a:pt x="1000206" y="1612899"/>
                </a:lnTo>
                <a:lnTo>
                  <a:pt x="952389" y="1625599"/>
                </a:lnTo>
                <a:lnTo>
                  <a:pt x="1047944" y="1625599"/>
                </a:lnTo>
                <a:lnTo>
                  <a:pt x="1094656" y="1612899"/>
                </a:lnTo>
                <a:close/>
              </a:path>
              <a:path w="1905635" h="1638300">
                <a:moveTo>
                  <a:pt x="1144031" y="12699"/>
                </a:moveTo>
                <a:lnTo>
                  <a:pt x="1000980" y="12699"/>
                </a:lnTo>
                <a:lnTo>
                  <a:pt x="1048605" y="25399"/>
                </a:lnTo>
                <a:lnTo>
                  <a:pt x="1095537" y="25399"/>
                </a:lnTo>
                <a:lnTo>
                  <a:pt x="1141716" y="38099"/>
                </a:lnTo>
                <a:lnTo>
                  <a:pt x="1187084" y="38099"/>
                </a:lnTo>
                <a:lnTo>
                  <a:pt x="1317729" y="76199"/>
                </a:lnTo>
                <a:lnTo>
                  <a:pt x="1359260" y="101599"/>
                </a:lnTo>
                <a:lnTo>
                  <a:pt x="1399687" y="114299"/>
                </a:lnTo>
                <a:lnTo>
                  <a:pt x="1438948" y="139699"/>
                </a:lnTo>
                <a:lnTo>
                  <a:pt x="1476985" y="152399"/>
                </a:lnTo>
                <a:lnTo>
                  <a:pt x="1513739" y="177799"/>
                </a:lnTo>
                <a:lnTo>
                  <a:pt x="1549151" y="203199"/>
                </a:lnTo>
                <a:lnTo>
                  <a:pt x="1583162" y="228599"/>
                </a:lnTo>
                <a:lnTo>
                  <a:pt x="1615714" y="253999"/>
                </a:lnTo>
                <a:lnTo>
                  <a:pt x="1646746" y="279399"/>
                </a:lnTo>
                <a:lnTo>
                  <a:pt x="1676203" y="304799"/>
                </a:lnTo>
                <a:lnTo>
                  <a:pt x="1704022" y="342899"/>
                </a:lnTo>
                <a:lnTo>
                  <a:pt x="1730146" y="368299"/>
                </a:lnTo>
                <a:lnTo>
                  <a:pt x="1754517" y="406399"/>
                </a:lnTo>
                <a:lnTo>
                  <a:pt x="1777075" y="444499"/>
                </a:lnTo>
                <a:lnTo>
                  <a:pt x="1797762" y="469899"/>
                </a:lnTo>
                <a:lnTo>
                  <a:pt x="1816520" y="507999"/>
                </a:lnTo>
                <a:lnTo>
                  <a:pt x="1833290" y="546099"/>
                </a:lnTo>
                <a:lnTo>
                  <a:pt x="1848013" y="584199"/>
                </a:lnTo>
                <a:lnTo>
                  <a:pt x="1860632" y="622299"/>
                </a:lnTo>
                <a:lnTo>
                  <a:pt x="1871087" y="660399"/>
                </a:lnTo>
                <a:lnTo>
                  <a:pt x="1879319" y="698499"/>
                </a:lnTo>
                <a:lnTo>
                  <a:pt x="1885270" y="736599"/>
                </a:lnTo>
                <a:lnTo>
                  <a:pt x="1888883" y="787399"/>
                </a:lnTo>
                <a:lnTo>
                  <a:pt x="1890097" y="825499"/>
                </a:lnTo>
                <a:lnTo>
                  <a:pt x="1888874" y="863599"/>
                </a:lnTo>
                <a:lnTo>
                  <a:pt x="1885254" y="901699"/>
                </a:lnTo>
                <a:lnTo>
                  <a:pt x="1879293" y="939799"/>
                </a:lnTo>
                <a:lnTo>
                  <a:pt x="1871052" y="990599"/>
                </a:lnTo>
                <a:lnTo>
                  <a:pt x="1860590" y="1028699"/>
                </a:lnTo>
                <a:lnTo>
                  <a:pt x="1847965" y="1066799"/>
                </a:lnTo>
                <a:lnTo>
                  <a:pt x="1833236" y="1104899"/>
                </a:lnTo>
                <a:lnTo>
                  <a:pt x="1816460" y="1142999"/>
                </a:lnTo>
                <a:lnTo>
                  <a:pt x="1797696" y="1168399"/>
                </a:lnTo>
                <a:lnTo>
                  <a:pt x="1777004" y="1206499"/>
                </a:lnTo>
                <a:lnTo>
                  <a:pt x="1754441" y="1244599"/>
                </a:lnTo>
                <a:lnTo>
                  <a:pt x="1730067" y="1269999"/>
                </a:lnTo>
                <a:lnTo>
                  <a:pt x="1703939" y="1308099"/>
                </a:lnTo>
                <a:lnTo>
                  <a:pt x="1676118" y="1333499"/>
                </a:lnTo>
                <a:lnTo>
                  <a:pt x="1646659" y="1358899"/>
                </a:lnTo>
                <a:lnTo>
                  <a:pt x="1615624" y="1396999"/>
                </a:lnTo>
                <a:lnTo>
                  <a:pt x="1583070" y="1422399"/>
                </a:lnTo>
                <a:lnTo>
                  <a:pt x="1549057" y="1447799"/>
                </a:lnTo>
                <a:lnTo>
                  <a:pt x="1513641" y="1473199"/>
                </a:lnTo>
                <a:lnTo>
                  <a:pt x="1476886" y="1485899"/>
                </a:lnTo>
                <a:lnTo>
                  <a:pt x="1438847" y="1511299"/>
                </a:lnTo>
                <a:lnTo>
                  <a:pt x="1399585" y="1536699"/>
                </a:lnTo>
                <a:lnTo>
                  <a:pt x="1317623" y="1562099"/>
                </a:lnTo>
                <a:lnTo>
                  <a:pt x="1231474" y="1587499"/>
                </a:lnTo>
                <a:lnTo>
                  <a:pt x="1095428" y="1625599"/>
                </a:lnTo>
                <a:lnTo>
                  <a:pt x="1144576" y="1625599"/>
                </a:lnTo>
                <a:lnTo>
                  <a:pt x="1190593" y="1612899"/>
                </a:lnTo>
                <a:lnTo>
                  <a:pt x="1235734" y="1612899"/>
                </a:lnTo>
                <a:lnTo>
                  <a:pt x="1279940" y="1600199"/>
                </a:lnTo>
                <a:lnTo>
                  <a:pt x="1323149" y="1574799"/>
                </a:lnTo>
                <a:lnTo>
                  <a:pt x="1406343" y="1549399"/>
                </a:lnTo>
                <a:lnTo>
                  <a:pt x="1446209" y="1523999"/>
                </a:lnTo>
                <a:lnTo>
                  <a:pt x="1484842" y="1498599"/>
                </a:lnTo>
                <a:lnTo>
                  <a:pt x="1522180" y="1485899"/>
                </a:lnTo>
                <a:lnTo>
                  <a:pt x="1558164" y="1460499"/>
                </a:lnTo>
                <a:lnTo>
                  <a:pt x="1592736" y="1435099"/>
                </a:lnTo>
                <a:lnTo>
                  <a:pt x="1625834" y="1409699"/>
                </a:lnTo>
                <a:lnTo>
                  <a:pt x="1657399" y="1371599"/>
                </a:lnTo>
                <a:lnTo>
                  <a:pt x="1687371" y="1346199"/>
                </a:lnTo>
                <a:lnTo>
                  <a:pt x="1715687" y="1320799"/>
                </a:lnTo>
                <a:lnTo>
                  <a:pt x="1742288" y="1282699"/>
                </a:lnTo>
                <a:lnTo>
                  <a:pt x="1767113" y="1244599"/>
                </a:lnTo>
                <a:lnTo>
                  <a:pt x="1790100" y="1219199"/>
                </a:lnTo>
                <a:lnTo>
                  <a:pt x="1811188" y="1181099"/>
                </a:lnTo>
                <a:lnTo>
                  <a:pt x="1830315" y="1142999"/>
                </a:lnTo>
                <a:lnTo>
                  <a:pt x="1847419" y="1104899"/>
                </a:lnTo>
                <a:lnTo>
                  <a:pt x="1862438" y="1066799"/>
                </a:lnTo>
                <a:lnTo>
                  <a:pt x="1875311" y="1028699"/>
                </a:lnTo>
                <a:lnTo>
                  <a:pt x="1885975" y="990599"/>
                </a:lnTo>
                <a:lnTo>
                  <a:pt x="1894370" y="952499"/>
                </a:lnTo>
                <a:lnTo>
                  <a:pt x="1900434" y="901699"/>
                </a:lnTo>
                <a:lnTo>
                  <a:pt x="1904108" y="863599"/>
                </a:lnTo>
                <a:lnTo>
                  <a:pt x="1905331" y="825499"/>
                </a:lnTo>
                <a:lnTo>
                  <a:pt x="1904064" y="774699"/>
                </a:lnTo>
                <a:lnTo>
                  <a:pt x="1900347" y="736599"/>
                </a:lnTo>
                <a:lnTo>
                  <a:pt x="1894241" y="698499"/>
                </a:lnTo>
                <a:lnTo>
                  <a:pt x="1885806" y="660399"/>
                </a:lnTo>
                <a:lnTo>
                  <a:pt x="1875104" y="622299"/>
                </a:lnTo>
                <a:lnTo>
                  <a:pt x="1862197" y="584199"/>
                </a:lnTo>
                <a:lnTo>
                  <a:pt x="1847145" y="533399"/>
                </a:lnTo>
                <a:lnTo>
                  <a:pt x="1830012" y="507999"/>
                </a:lnTo>
                <a:lnTo>
                  <a:pt x="1810858" y="469899"/>
                </a:lnTo>
                <a:lnTo>
                  <a:pt x="1789747" y="431799"/>
                </a:lnTo>
                <a:lnTo>
                  <a:pt x="1766738" y="393699"/>
                </a:lnTo>
                <a:lnTo>
                  <a:pt x="1741893" y="368299"/>
                </a:lnTo>
                <a:lnTo>
                  <a:pt x="1715275" y="330199"/>
                </a:lnTo>
                <a:lnTo>
                  <a:pt x="1686943" y="304799"/>
                </a:lnTo>
                <a:lnTo>
                  <a:pt x="1656958" y="266699"/>
                </a:lnTo>
                <a:lnTo>
                  <a:pt x="1625381" y="241299"/>
                </a:lnTo>
                <a:lnTo>
                  <a:pt x="1592271" y="215899"/>
                </a:lnTo>
                <a:lnTo>
                  <a:pt x="1557689" y="190499"/>
                </a:lnTo>
                <a:lnTo>
                  <a:pt x="1521694" y="165099"/>
                </a:lnTo>
                <a:lnTo>
                  <a:pt x="1484346" y="139699"/>
                </a:lnTo>
                <a:lnTo>
                  <a:pt x="1445707" y="114299"/>
                </a:lnTo>
                <a:lnTo>
                  <a:pt x="1405834" y="101599"/>
                </a:lnTo>
                <a:lnTo>
                  <a:pt x="1364786" y="76199"/>
                </a:lnTo>
                <a:lnTo>
                  <a:pt x="1279409" y="50799"/>
                </a:lnTo>
                <a:lnTo>
                  <a:pt x="1144031" y="12699"/>
                </a:lnTo>
                <a:close/>
              </a:path>
              <a:path w="1905635" h="1638300">
                <a:moveTo>
                  <a:pt x="857939" y="25399"/>
                </a:moveTo>
                <a:lnTo>
                  <a:pt x="810674" y="25399"/>
                </a:lnTo>
                <a:lnTo>
                  <a:pt x="719560" y="50799"/>
                </a:lnTo>
                <a:lnTo>
                  <a:pt x="589549" y="88899"/>
                </a:lnTo>
                <a:lnTo>
                  <a:pt x="507998" y="114299"/>
                </a:lnTo>
                <a:lnTo>
                  <a:pt x="468937" y="139699"/>
                </a:lnTo>
                <a:lnTo>
                  <a:pt x="431096" y="165099"/>
                </a:lnTo>
                <a:lnTo>
                  <a:pt x="394534" y="177799"/>
                </a:lnTo>
                <a:lnTo>
                  <a:pt x="359310" y="203199"/>
                </a:lnTo>
                <a:lnTo>
                  <a:pt x="325483" y="228599"/>
                </a:lnTo>
                <a:lnTo>
                  <a:pt x="293110" y="253999"/>
                </a:lnTo>
                <a:lnTo>
                  <a:pt x="262252" y="279399"/>
                </a:lnTo>
                <a:lnTo>
                  <a:pt x="232964" y="317499"/>
                </a:lnTo>
                <a:lnTo>
                  <a:pt x="205306" y="342899"/>
                </a:lnTo>
                <a:lnTo>
                  <a:pt x="179336" y="380999"/>
                </a:lnTo>
                <a:lnTo>
                  <a:pt x="155112" y="406399"/>
                </a:lnTo>
                <a:lnTo>
                  <a:pt x="132690" y="444499"/>
                </a:lnTo>
                <a:lnTo>
                  <a:pt x="93488" y="507999"/>
                </a:lnTo>
                <a:lnTo>
                  <a:pt x="76822" y="546099"/>
                </a:lnTo>
                <a:lnTo>
                  <a:pt x="62189" y="584199"/>
                </a:lnTo>
                <a:lnTo>
                  <a:pt x="49646" y="622299"/>
                </a:lnTo>
                <a:lnTo>
                  <a:pt x="39251" y="660399"/>
                </a:lnTo>
                <a:lnTo>
                  <a:pt x="31062" y="698499"/>
                </a:lnTo>
                <a:lnTo>
                  <a:pt x="25137" y="736599"/>
                </a:lnTo>
                <a:lnTo>
                  <a:pt x="21534" y="787399"/>
                </a:lnTo>
                <a:lnTo>
                  <a:pt x="20311" y="825499"/>
                </a:lnTo>
                <a:lnTo>
                  <a:pt x="21507" y="863599"/>
                </a:lnTo>
                <a:lnTo>
                  <a:pt x="25085" y="901699"/>
                </a:lnTo>
                <a:lnTo>
                  <a:pt x="30985" y="939799"/>
                </a:lnTo>
                <a:lnTo>
                  <a:pt x="39150" y="977899"/>
                </a:lnTo>
                <a:lnTo>
                  <a:pt x="49522" y="1028699"/>
                </a:lnTo>
                <a:lnTo>
                  <a:pt x="62044" y="1066799"/>
                </a:lnTo>
                <a:lnTo>
                  <a:pt x="76658" y="1092199"/>
                </a:lnTo>
                <a:lnTo>
                  <a:pt x="93306" y="1130299"/>
                </a:lnTo>
                <a:lnTo>
                  <a:pt x="111933" y="1168399"/>
                </a:lnTo>
                <a:lnTo>
                  <a:pt x="132478" y="1206499"/>
                </a:lnTo>
                <a:lnTo>
                  <a:pt x="154887" y="1231899"/>
                </a:lnTo>
                <a:lnTo>
                  <a:pt x="179100" y="1269999"/>
                </a:lnTo>
                <a:lnTo>
                  <a:pt x="205059" y="1308099"/>
                </a:lnTo>
                <a:lnTo>
                  <a:pt x="261987" y="1358899"/>
                </a:lnTo>
                <a:lnTo>
                  <a:pt x="292839" y="1384299"/>
                </a:lnTo>
                <a:lnTo>
                  <a:pt x="325203" y="1409699"/>
                </a:lnTo>
                <a:lnTo>
                  <a:pt x="359025" y="1435099"/>
                </a:lnTo>
                <a:lnTo>
                  <a:pt x="394242" y="1460499"/>
                </a:lnTo>
                <a:lnTo>
                  <a:pt x="430799" y="1485899"/>
                </a:lnTo>
                <a:lnTo>
                  <a:pt x="468635" y="1511299"/>
                </a:lnTo>
                <a:lnTo>
                  <a:pt x="507692" y="1523999"/>
                </a:lnTo>
                <a:lnTo>
                  <a:pt x="547912" y="1549399"/>
                </a:lnTo>
                <a:lnTo>
                  <a:pt x="631601" y="1574799"/>
                </a:lnTo>
                <a:lnTo>
                  <a:pt x="764386" y="1612899"/>
                </a:lnTo>
                <a:lnTo>
                  <a:pt x="810897" y="1612899"/>
                </a:lnTo>
                <a:lnTo>
                  <a:pt x="765157" y="1600199"/>
                </a:lnTo>
                <a:lnTo>
                  <a:pt x="720225" y="1600199"/>
                </a:lnTo>
                <a:lnTo>
                  <a:pt x="590866" y="1562099"/>
                </a:lnTo>
                <a:lnTo>
                  <a:pt x="549753" y="1536699"/>
                </a:lnTo>
                <a:lnTo>
                  <a:pt x="509741" y="1523999"/>
                </a:lnTo>
                <a:lnTo>
                  <a:pt x="470888" y="1498599"/>
                </a:lnTo>
                <a:lnTo>
                  <a:pt x="433252" y="1485899"/>
                </a:lnTo>
                <a:lnTo>
                  <a:pt x="396894" y="1460499"/>
                </a:lnTo>
                <a:lnTo>
                  <a:pt x="361871" y="1435099"/>
                </a:lnTo>
                <a:lnTo>
                  <a:pt x="328240" y="1409699"/>
                </a:lnTo>
                <a:lnTo>
                  <a:pt x="296061" y="1384299"/>
                </a:lnTo>
                <a:lnTo>
                  <a:pt x="265390" y="1358899"/>
                </a:lnTo>
                <a:lnTo>
                  <a:pt x="236288" y="1333499"/>
                </a:lnTo>
                <a:lnTo>
                  <a:pt x="208810" y="1295399"/>
                </a:lnTo>
                <a:lnTo>
                  <a:pt x="183015" y="1269999"/>
                </a:lnTo>
                <a:lnTo>
                  <a:pt x="158960" y="1231899"/>
                </a:lnTo>
                <a:lnTo>
                  <a:pt x="136702" y="1206499"/>
                </a:lnTo>
                <a:lnTo>
                  <a:pt x="116298" y="1168399"/>
                </a:lnTo>
                <a:lnTo>
                  <a:pt x="97803" y="1130299"/>
                </a:lnTo>
                <a:lnTo>
                  <a:pt x="81277" y="1092199"/>
                </a:lnTo>
                <a:lnTo>
                  <a:pt x="66772" y="1054099"/>
                </a:lnTo>
                <a:lnTo>
                  <a:pt x="54347" y="1015999"/>
                </a:lnTo>
                <a:lnTo>
                  <a:pt x="44057" y="977899"/>
                </a:lnTo>
                <a:lnTo>
                  <a:pt x="35960" y="939799"/>
                </a:lnTo>
                <a:lnTo>
                  <a:pt x="30110" y="901699"/>
                </a:lnTo>
                <a:lnTo>
                  <a:pt x="26567" y="863599"/>
                </a:lnTo>
                <a:lnTo>
                  <a:pt x="25388" y="825499"/>
                </a:lnTo>
                <a:lnTo>
                  <a:pt x="26611" y="787399"/>
                </a:lnTo>
                <a:lnTo>
                  <a:pt x="30198" y="736599"/>
                </a:lnTo>
                <a:lnTo>
                  <a:pt x="36088" y="698499"/>
                </a:lnTo>
                <a:lnTo>
                  <a:pt x="44226" y="660399"/>
                </a:lnTo>
                <a:lnTo>
                  <a:pt x="54552" y="622299"/>
                </a:lnTo>
                <a:lnTo>
                  <a:pt x="67014" y="584199"/>
                </a:lnTo>
                <a:lnTo>
                  <a:pt x="81550" y="546099"/>
                </a:lnTo>
                <a:lnTo>
                  <a:pt x="98107" y="507999"/>
                </a:lnTo>
                <a:lnTo>
                  <a:pt x="116627" y="482599"/>
                </a:lnTo>
                <a:lnTo>
                  <a:pt x="137057" y="444499"/>
                </a:lnTo>
                <a:lnTo>
                  <a:pt x="159336" y="406399"/>
                </a:lnTo>
                <a:lnTo>
                  <a:pt x="183410" y="380999"/>
                </a:lnTo>
                <a:lnTo>
                  <a:pt x="209222" y="342899"/>
                </a:lnTo>
                <a:lnTo>
                  <a:pt x="236715" y="317499"/>
                </a:lnTo>
                <a:lnTo>
                  <a:pt x="265832" y="292099"/>
                </a:lnTo>
                <a:lnTo>
                  <a:pt x="296514" y="266699"/>
                </a:lnTo>
                <a:lnTo>
                  <a:pt x="328705" y="228599"/>
                </a:lnTo>
                <a:lnTo>
                  <a:pt x="362346" y="203199"/>
                </a:lnTo>
                <a:lnTo>
                  <a:pt x="397380" y="190499"/>
                </a:lnTo>
                <a:lnTo>
                  <a:pt x="433746" y="165099"/>
                </a:lnTo>
                <a:lnTo>
                  <a:pt x="471390" y="139699"/>
                </a:lnTo>
                <a:lnTo>
                  <a:pt x="510251" y="126999"/>
                </a:lnTo>
                <a:lnTo>
                  <a:pt x="550270" y="101599"/>
                </a:lnTo>
                <a:lnTo>
                  <a:pt x="633552" y="76199"/>
                </a:lnTo>
                <a:lnTo>
                  <a:pt x="765702" y="38099"/>
                </a:lnTo>
                <a:lnTo>
                  <a:pt x="811446" y="38099"/>
                </a:lnTo>
                <a:lnTo>
                  <a:pt x="857939" y="25399"/>
                </a:lnTo>
                <a:close/>
              </a:path>
              <a:path w="1905635" h="1638300">
                <a:moveTo>
                  <a:pt x="1094985" y="25399"/>
                </a:moveTo>
                <a:lnTo>
                  <a:pt x="1047943" y="25399"/>
                </a:lnTo>
                <a:lnTo>
                  <a:pt x="1094432" y="38099"/>
                </a:lnTo>
                <a:lnTo>
                  <a:pt x="1140172" y="38099"/>
                </a:lnTo>
                <a:lnTo>
                  <a:pt x="1272308" y="76199"/>
                </a:lnTo>
                <a:lnTo>
                  <a:pt x="1355577" y="101599"/>
                </a:lnTo>
                <a:lnTo>
                  <a:pt x="1395589" y="126999"/>
                </a:lnTo>
                <a:lnTo>
                  <a:pt x="1434442" y="139699"/>
                </a:lnTo>
                <a:lnTo>
                  <a:pt x="1472077" y="165099"/>
                </a:lnTo>
                <a:lnTo>
                  <a:pt x="1508436" y="190499"/>
                </a:lnTo>
                <a:lnTo>
                  <a:pt x="1543460" y="203199"/>
                </a:lnTo>
                <a:lnTo>
                  <a:pt x="1577091" y="228599"/>
                </a:lnTo>
                <a:lnTo>
                  <a:pt x="1609270" y="266699"/>
                </a:lnTo>
                <a:lnTo>
                  <a:pt x="1639939" y="292099"/>
                </a:lnTo>
                <a:lnTo>
                  <a:pt x="1669042" y="317499"/>
                </a:lnTo>
                <a:lnTo>
                  <a:pt x="1696519" y="342899"/>
                </a:lnTo>
                <a:lnTo>
                  <a:pt x="1722314" y="380999"/>
                </a:lnTo>
                <a:lnTo>
                  <a:pt x="1746369" y="406399"/>
                </a:lnTo>
                <a:lnTo>
                  <a:pt x="1768627" y="444499"/>
                </a:lnTo>
                <a:lnTo>
                  <a:pt x="1789032" y="482599"/>
                </a:lnTo>
                <a:lnTo>
                  <a:pt x="1807526" y="507999"/>
                </a:lnTo>
                <a:lnTo>
                  <a:pt x="1824054" y="546099"/>
                </a:lnTo>
                <a:lnTo>
                  <a:pt x="1838558" y="584199"/>
                </a:lnTo>
                <a:lnTo>
                  <a:pt x="1850984" y="622299"/>
                </a:lnTo>
                <a:lnTo>
                  <a:pt x="1861273" y="660399"/>
                </a:lnTo>
                <a:lnTo>
                  <a:pt x="1869371" y="698499"/>
                </a:lnTo>
                <a:lnTo>
                  <a:pt x="1875219" y="736599"/>
                </a:lnTo>
                <a:lnTo>
                  <a:pt x="1878763" y="787399"/>
                </a:lnTo>
                <a:lnTo>
                  <a:pt x="1879942" y="825499"/>
                </a:lnTo>
                <a:lnTo>
                  <a:pt x="1878718" y="863599"/>
                </a:lnTo>
                <a:lnTo>
                  <a:pt x="1875133" y="901699"/>
                </a:lnTo>
                <a:lnTo>
                  <a:pt x="1869241" y="939799"/>
                </a:lnTo>
                <a:lnTo>
                  <a:pt x="1861104" y="977899"/>
                </a:lnTo>
                <a:lnTo>
                  <a:pt x="1850777" y="1015999"/>
                </a:lnTo>
                <a:lnTo>
                  <a:pt x="1838317" y="1054099"/>
                </a:lnTo>
                <a:lnTo>
                  <a:pt x="1823780" y="1092199"/>
                </a:lnTo>
                <a:lnTo>
                  <a:pt x="1807223" y="1130299"/>
                </a:lnTo>
                <a:lnTo>
                  <a:pt x="1788702" y="1168399"/>
                </a:lnTo>
                <a:lnTo>
                  <a:pt x="1768274" y="1206499"/>
                </a:lnTo>
                <a:lnTo>
                  <a:pt x="1745994" y="1231899"/>
                </a:lnTo>
                <a:lnTo>
                  <a:pt x="1721920" y="1269999"/>
                </a:lnTo>
                <a:lnTo>
                  <a:pt x="1696107" y="1295399"/>
                </a:lnTo>
                <a:lnTo>
                  <a:pt x="1668614" y="1333499"/>
                </a:lnTo>
                <a:lnTo>
                  <a:pt x="1639498" y="1358899"/>
                </a:lnTo>
                <a:lnTo>
                  <a:pt x="1608815" y="1384299"/>
                </a:lnTo>
                <a:lnTo>
                  <a:pt x="1576624" y="1409699"/>
                </a:lnTo>
                <a:lnTo>
                  <a:pt x="1542983" y="1435099"/>
                </a:lnTo>
                <a:lnTo>
                  <a:pt x="1507951" y="1460499"/>
                </a:lnTo>
                <a:lnTo>
                  <a:pt x="1471583" y="1485899"/>
                </a:lnTo>
                <a:lnTo>
                  <a:pt x="1433940" y="1498599"/>
                </a:lnTo>
                <a:lnTo>
                  <a:pt x="1395079" y="1523999"/>
                </a:lnTo>
                <a:lnTo>
                  <a:pt x="1355059" y="1536699"/>
                </a:lnTo>
                <a:lnTo>
                  <a:pt x="1313939" y="1562099"/>
                </a:lnTo>
                <a:lnTo>
                  <a:pt x="1184564" y="1600199"/>
                </a:lnTo>
                <a:lnTo>
                  <a:pt x="1139628" y="1600199"/>
                </a:lnTo>
                <a:lnTo>
                  <a:pt x="1093884" y="1612899"/>
                </a:lnTo>
                <a:lnTo>
                  <a:pt x="1140617" y="1612899"/>
                </a:lnTo>
                <a:lnTo>
                  <a:pt x="1273411" y="1574799"/>
                </a:lnTo>
                <a:lnTo>
                  <a:pt x="1357108" y="1549399"/>
                </a:lnTo>
                <a:lnTo>
                  <a:pt x="1397332" y="1523999"/>
                </a:lnTo>
                <a:lnTo>
                  <a:pt x="1436394" y="1511299"/>
                </a:lnTo>
                <a:lnTo>
                  <a:pt x="1474235" y="1485899"/>
                </a:lnTo>
                <a:lnTo>
                  <a:pt x="1510797" y="1460499"/>
                </a:lnTo>
                <a:lnTo>
                  <a:pt x="1546020" y="1435099"/>
                </a:lnTo>
                <a:lnTo>
                  <a:pt x="1579848" y="1409699"/>
                </a:lnTo>
                <a:lnTo>
                  <a:pt x="1612220" y="1384299"/>
                </a:lnTo>
                <a:lnTo>
                  <a:pt x="1643079" y="1358899"/>
                </a:lnTo>
                <a:lnTo>
                  <a:pt x="1672366" y="1333499"/>
                </a:lnTo>
                <a:lnTo>
                  <a:pt x="1725993" y="1269999"/>
                </a:lnTo>
                <a:lnTo>
                  <a:pt x="1750218" y="1244599"/>
                </a:lnTo>
                <a:lnTo>
                  <a:pt x="1772639" y="1206499"/>
                </a:lnTo>
                <a:lnTo>
                  <a:pt x="1793199" y="1168399"/>
                </a:lnTo>
                <a:lnTo>
                  <a:pt x="1811841" y="1130299"/>
                </a:lnTo>
                <a:lnTo>
                  <a:pt x="1828507" y="1092199"/>
                </a:lnTo>
                <a:lnTo>
                  <a:pt x="1843140" y="1066799"/>
                </a:lnTo>
                <a:lnTo>
                  <a:pt x="1855684" y="1028699"/>
                </a:lnTo>
                <a:lnTo>
                  <a:pt x="1866079" y="990599"/>
                </a:lnTo>
                <a:lnTo>
                  <a:pt x="1874268" y="939799"/>
                </a:lnTo>
                <a:lnTo>
                  <a:pt x="1880193" y="901699"/>
                </a:lnTo>
                <a:lnTo>
                  <a:pt x="1883797" y="863599"/>
                </a:lnTo>
                <a:lnTo>
                  <a:pt x="1885020" y="825499"/>
                </a:lnTo>
                <a:lnTo>
                  <a:pt x="1883822" y="787399"/>
                </a:lnTo>
                <a:lnTo>
                  <a:pt x="1880245" y="736599"/>
                </a:lnTo>
                <a:lnTo>
                  <a:pt x="1874344" y="698499"/>
                </a:lnTo>
                <a:lnTo>
                  <a:pt x="1866179" y="660399"/>
                </a:lnTo>
                <a:lnTo>
                  <a:pt x="1855807" y="622299"/>
                </a:lnTo>
                <a:lnTo>
                  <a:pt x="1843285" y="584199"/>
                </a:lnTo>
                <a:lnTo>
                  <a:pt x="1828671" y="546099"/>
                </a:lnTo>
                <a:lnTo>
                  <a:pt x="1812023" y="507999"/>
                </a:lnTo>
                <a:lnTo>
                  <a:pt x="1793397" y="482599"/>
                </a:lnTo>
                <a:lnTo>
                  <a:pt x="1772851" y="444499"/>
                </a:lnTo>
                <a:lnTo>
                  <a:pt x="1750443" y="406399"/>
                </a:lnTo>
                <a:lnTo>
                  <a:pt x="1726230" y="380999"/>
                </a:lnTo>
                <a:lnTo>
                  <a:pt x="1700270" y="342899"/>
                </a:lnTo>
                <a:lnTo>
                  <a:pt x="1672623" y="317499"/>
                </a:lnTo>
                <a:lnTo>
                  <a:pt x="1643343" y="279399"/>
                </a:lnTo>
                <a:lnTo>
                  <a:pt x="1612492" y="253999"/>
                </a:lnTo>
                <a:lnTo>
                  <a:pt x="1580126" y="228599"/>
                </a:lnTo>
                <a:lnTo>
                  <a:pt x="1546306" y="203199"/>
                </a:lnTo>
                <a:lnTo>
                  <a:pt x="1511087" y="177799"/>
                </a:lnTo>
                <a:lnTo>
                  <a:pt x="1474530" y="165099"/>
                </a:lnTo>
                <a:lnTo>
                  <a:pt x="1436695" y="139699"/>
                </a:lnTo>
                <a:lnTo>
                  <a:pt x="1397638" y="114299"/>
                </a:lnTo>
                <a:lnTo>
                  <a:pt x="1316095" y="88899"/>
                </a:lnTo>
                <a:lnTo>
                  <a:pt x="1186094" y="50799"/>
                </a:lnTo>
                <a:lnTo>
                  <a:pt x="1094985" y="25399"/>
                </a:lnTo>
                <a:close/>
              </a:path>
              <a:path w="1905635" h="1638300">
                <a:moveTo>
                  <a:pt x="1049601" y="0"/>
                </a:moveTo>
                <a:lnTo>
                  <a:pt x="855178" y="0"/>
                </a:lnTo>
                <a:lnTo>
                  <a:pt x="807587" y="12699"/>
                </a:lnTo>
                <a:lnTo>
                  <a:pt x="1097193" y="12699"/>
                </a:lnTo>
                <a:lnTo>
                  <a:pt x="1049601" y="0"/>
                </a:lnTo>
                <a:close/>
              </a:path>
            </a:pathLst>
          </a:custGeom>
          <a:solidFill>
            <a:srgbClr val="9019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69" name="object 6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55</a:t>
            </a:fld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368198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830324"/>
            <a:ext cx="7804150" cy="1521460"/>
          </a:xfrm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32740" marR="5080" indent="-320040">
              <a:lnSpc>
                <a:spcPct val="101899"/>
              </a:lnSpc>
              <a:spcBef>
                <a:spcPts val="2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 b="1">
                <a:latin typeface="Calibri"/>
                <a:cs typeface="Calibri"/>
              </a:rPr>
              <a:t>Just </a:t>
            </a:r>
            <a:r>
              <a:rPr dirty="0" spc="-5" b="1">
                <a:latin typeface="Calibri"/>
                <a:cs typeface="Calibri"/>
              </a:rPr>
              <a:t>knowing </a:t>
            </a:r>
            <a:r>
              <a:rPr dirty="0" b="1">
                <a:latin typeface="Calibri"/>
                <a:cs typeface="Calibri"/>
              </a:rPr>
              <a:t>if a </a:t>
            </a:r>
            <a:r>
              <a:rPr dirty="0" spc="-10" b="1">
                <a:latin typeface="Calibri"/>
                <a:cs typeface="Calibri"/>
              </a:rPr>
              <a:t>certain </a:t>
            </a:r>
            <a:r>
              <a:rPr dirty="0" spc="-15" b="1">
                <a:latin typeface="Calibri"/>
                <a:cs typeface="Calibri"/>
              </a:rPr>
              <a:t>subgraph exists </a:t>
            </a:r>
            <a:r>
              <a:rPr dirty="0" b="1">
                <a:latin typeface="Calibri"/>
                <a:cs typeface="Calibri"/>
              </a:rPr>
              <a:t>in a  </a:t>
            </a:r>
            <a:r>
              <a:rPr dirty="0" spc="-20" b="1">
                <a:latin typeface="Calibri"/>
                <a:cs typeface="Calibri"/>
              </a:rPr>
              <a:t>graph </a:t>
            </a:r>
            <a:r>
              <a:rPr dirty="0" b="1">
                <a:latin typeface="Calibri"/>
                <a:cs typeface="Calibri"/>
              </a:rPr>
              <a:t>is a </a:t>
            </a:r>
            <a:r>
              <a:rPr dirty="0" spc="-15" b="1">
                <a:solidFill>
                  <a:srgbClr val="D9253E"/>
                </a:solidFill>
                <a:latin typeface="Calibri"/>
                <a:cs typeface="Calibri"/>
              </a:rPr>
              <a:t>hard </a:t>
            </a:r>
            <a:r>
              <a:rPr dirty="0" spc="-10" b="1">
                <a:solidFill>
                  <a:srgbClr val="D9253E"/>
                </a:solidFill>
                <a:latin typeface="Calibri"/>
                <a:cs typeface="Calibri"/>
              </a:rPr>
              <a:t>computational</a:t>
            </a:r>
            <a:r>
              <a:rPr dirty="0" spc="-15" b="1">
                <a:solidFill>
                  <a:srgbClr val="D9253E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D9253E"/>
                </a:solidFill>
                <a:latin typeface="Calibri"/>
                <a:cs typeface="Calibri"/>
              </a:rPr>
              <a:t>problem</a:t>
            </a:r>
            <a:r>
              <a:rPr dirty="0" spc="-10" b="1">
                <a:latin typeface="Calibri"/>
                <a:cs typeface="Calibri"/>
              </a:rPr>
              <a:t>!</a:t>
            </a: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Subgraph </a:t>
            </a:r>
            <a:r>
              <a:rPr dirty="0" sz="2800" spc="-5">
                <a:latin typeface="Calibri"/>
                <a:cs typeface="Calibri"/>
              </a:rPr>
              <a:t>isomorphism is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NP-complete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55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3811523"/>
            <a:ext cx="8416290" cy="193865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332740" marR="399415" indent="-320040">
              <a:lnSpc>
                <a:spcPts val="3820"/>
              </a:lnSpc>
              <a:spcBef>
                <a:spcPts val="2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Computation </a:t>
            </a:r>
            <a:r>
              <a:rPr dirty="0" sz="3200" spc="-5" b="1">
                <a:latin typeface="Calibri"/>
                <a:cs typeface="Calibri"/>
              </a:rPr>
              <a:t>time </a:t>
            </a:r>
            <a:r>
              <a:rPr dirty="0" sz="3200" spc="-15" b="1">
                <a:latin typeface="Calibri"/>
                <a:cs typeface="Calibri"/>
              </a:rPr>
              <a:t>grows </a:t>
            </a:r>
            <a:r>
              <a:rPr dirty="0" sz="3200" spc="-10" b="1">
                <a:latin typeface="Calibri"/>
                <a:cs typeface="Calibri"/>
              </a:rPr>
              <a:t>exponentially </a:t>
            </a:r>
            <a:r>
              <a:rPr dirty="0" sz="3200" spc="-5" b="1">
                <a:latin typeface="Calibri"/>
                <a:cs typeface="Calibri"/>
              </a:rPr>
              <a:t>as the  </a:t>
            </a:r>
            <a:r>
              <a:rPr dirty="0" sz="3200" spc="-20" b="1">
                <a:latin typeface="Calibri"/>
                <a:cs typeface="Calibri"/>
              </a:rPr>
              <a:t>size </a:t>
            </a:r>
            <a:r>
              <a:rPr dirty="0" sz="3200" b="1">
                <a:latin typeface="Calibri"/>
                <a:cs typeface="Calibri"/>
              </a:rPr>
              <a:t>of </a:t>
            </a:r>
            <a:r>
              <a:rPr dirty="0" sz="3200" spc="-5" b="1">
                <a:latin typeface="Calibri"/>
                <a:cs typeface="Calibri"/>
              </a:rPr>
              <a:t>the </a:t>
            </a:r>
            <a:r>
              <a:rPr dirty="0" sz="3200" spc="-15" b="1">
                <a:latin typeface="Calibri"/>
                <a:cs typeface="Calibri"/>
              </a:rPr>
              <a:t>subgraphs</a:t>
            </a:r>
            <a:r>
              <a:rPr dirty="0" sz="3200" spc="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increases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ts val="3290"/>
              </a:lnSpc>
              <a:spcBef>
                <a:spcPts val="8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Feasible </a:t>
            </a:r>
            <a:r>
              <a:rPr dirty="0" sz="2800" spc="-5">
                <a:latin typeface="Calibri"/>
                <a:cs typeface="Calibri"/>
              </a:rPr>
              <a:t>motif </a:t>
            </a:r>
            <a:r>
              <a:rPr dirty="0" sz="2800" spc="-20">
                <a:latin typeface="Calibri"/>
                <a:cs typeface="Calibri"/>
              </a:rPr>
              <a:t>size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10">
                <a:latin typeface="Calibri"/>
                <a:cs typeface="Calibri"/>
              </a:rPr>
              <a:t>traditional </a:t>
            </a:r>
            <a:r>
              <a:rPr dirty="0" sz="2800" spc="-5">
                <a:latin typeface="Calibri"/>
                <a:cs typeface="Calibri"/>
              </a:rPr>
              <a:t>methods is </a:t>
            </a:r>
            <a:r>
              <a:rPr dirty="0" sz="2800" spc="-75">
                <a:latin typeface="Calibri"/>
                <a:cs typeface="Calibri"/>
              </a:rPr>
              <a:t>relatively  </a:t>
            </a:r>
            <a:r>
              <a:rPr dirty="0" sz="2800" spc="-5">
                <a:latin typeface="Calibri"/>
                <a:cs typeface="Calibri"/>
              </a:rPr>
              <a:t>small </a:t>
            </a:r>
            <a:r>
              <a:rPr dirty="0" sz="2800">
                <a:latin typeface="Calibri"/>
                <a:cs typeface="Calibri"/>
              </a:rPr>
              <a:t>(3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7)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9288" y="326136"/>
            <a:ext cx="8653272" cy="5090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53351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/>
              <a:t>Finding </a:t>
            </a:r>
            <a:r>
              <a:rPr dirty="0" spc="-15"/>
              <a:t>frequent </a:t>
            </a:r>
            <a:r>
              <a:rPr dirty="0" spc="-10"/>
              <a:t>subgraph </a:t>
            </a:r>
            <a:r>
              <a:rPr dirty="0" spc="-20"/>
              <a:t>patterns</a:t>
            </a:r>
            <a:r>
              <a:rPr dirty="0" spc="5"/>
              <a:t> </a:t>
            </a:r>
            <a:r>
              <a:rPr dirty="0"/>
              <a:t>is</a:t>
            </a:r>
          </a:p>
          <a:p>
            <a:pPr marL="332740">
              <a:lnSpc>
                <a:spcPts val="3815"/>
              </a:lnSpc>
            </a:pP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computationally</a:t>
            </a:r>
            <a:r>
              <a:rPr dirty="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pc="-15" b="1">
                <a:solidFill>
                  <a:srgbClr val="C00000"/>
                </a:solidFill>
                <a:latin typeface="Calibri"/>
                <a:cs typeface="Calibri"/>
              </a:rPr>
              <a:t>hard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2344420"/>
            <a:ext cx="7141209" cy="2604135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555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200" spc="-10" b="1">
                <a:solidFill>
                  <a:srgbClr val="0070C0"/>
                </a:solidFill>
                <a:latin typeface="Calibri"/>
                <a:cs typeface="Calibri"/>
              </a:rPr>
              <a:t>Combinatorial explosion </a:t>
            </a:r>
            <a:r>
              <a:rPr dirty="0" sz="2200">
                <a:latin typeface="Calibri"/>
                <a:cs typeface="Calibri"/>
              </a:rPr>
              <a:t>of </a:t>
            </a:r>
            <a:r>
              <a:rPr dirty="0" sz="2200" spc="-5">
                <a:latin typeface="Calibri"/>
                <a:cs typeface="Calibri"/>
              </a:rPr>
              <a:t>number </a:t>
            </a:r>
            <a:r>
              <a:rPr dirty="0" sz="2200">
                <a:latin typeface="Calibri"/>
                <a:cs typeface="Calibri"/>
              </a:rPr>
              <a:t>of </a:t>
            </a:r>
            <a:r>
              <a:rPr dirty="0" sz="2200" spc="-5">
                <a:latin typeface="Calibri"/>
                <a:cs typeface="Calibri"/>
              </a:rPr>
              <a:t>possible</a:t>
            </a:r>
            <a:r>
              <a:rPr dirty="0" sz="2200" spc="50">
                <a:latin typeface="Calibri"/>
                <a:cs typeface="Calibri"/>
              </a:rPr>
              <a:t> </a:t>
            </a:r>
            <a:r>
              <a:rPr dirty="0" sz="2200" spc="-15">
                <a:latin typeface="Calibri"/>
                <a:cs typeface="Calibri"/>
              </a:rPr>
              <a:t>patterns</a:t>
            </a:r>
            <a:endParaRPr sz="2200">
              <a:latin typeface="Calibri"/>
              <a:cs typeface="Calibri"/>
            </a:endParaRPr>
          </a:p>
          <a:p>
            <a:pPr marL="625475" indent="-274320">
              <a:lnSpc>
                <a:spcPts val="2620"/>
              </a:lnSpc>
              <a:spcBef>
                <a:spcPts val="455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200" spc="-10">
                <a:latin typeface="Calibri"/>
                <a:cs typeface="Calibri"/>
              </a:rPr>
              <a:t>Counting </a:t>
            </a:r>
            <a:r>
              <a:rPr dirty="0" sz="2200" spc="-15" b="1">
                <a:solidFill>
                  <a:srgbClr val="0070C0"/>
                </a:solidFill>
                <a:latin typeface="Calibri"/>
                <a:cs typeface="Calibri"/>
              </a:rPr>
              <a:t>subgraph </a:t>
            </a:r>
            <a:r>
              <a:rPr dirty="0" sz="2200" spc="-10" b="1">
                <a:solidFill>
                  <a:srgbClr val="0070C0"/>
                </a:solidFill>
                <a:latin typeface="Calibri"/>
                <a:cs typeface="Calibri"/>
              </a:rPr>
              <a:t>frequency </a:t>
            </a:r>
            <a:r>
              <a:rPr dirty="0" sz="2200" spc="-5">
                <a:latin typeface="Calibri"/>
                <a:cs typeface="Calibri"/>
              </a:rPr>
              <a:t>is</a:t>
            </a:r>
            <a:r>
              <a:rPr dirty="0" sz="2200" spc="6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NP-hard</a:t>
            </a:r>
            <a:endParaRPr sz="2200">
              <a:latin typeface="Calibri"/>
              <a:cs typeface="Calibri"/>
            </a:endParaRPr>
          </a:p>
          <a:p>
            <a:pPr marL="332740" marR="5080" indent="-320040">
              <a:lnSpc>
                <a:spcPts val="3910"/>
              </a:lnSpc>
              <a:spcBef>
                <a:spcPts val="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Representation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learning </a:t>
            </a:r>
            <a:r>
              <a:rPr dirty="0" sz="3200" spc="-10">
                <a:latin typeface="Calibri"/>
                <a:cs typeface="Calibri"/>
              </a:rPr>
              <a:t>can tackle </a:t>
            </a:r>
            <a:r>
              <a:rPr dirty="0" sz="3200" spc="-5">
                <a:latin typeface="Calibri"/>
                <a:cs typeface="Calibri"/>
              </a:rPr>
              <a:t>these  challenges: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400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200" spc="-10" b="1">
                <a:solidFill>
                  <a:srgbClr val="0070C0"/>
                </a:solidFill>
                <a:latin typeface="Calibri"/>
                <a:cs typeface="Calibri"/>
              </a:rPr>
              <a:t>Combinatorial explosion </a:t>
            </a:r>
            <a:r>
              <a:rPr dirty="0" sz="2200" spc="925">
                <a:latin typeface="Arial"/>
                <a:cs typeface="Arial"/>
              </a:rPr>
              <a:t>à</a:t>
            </a:r>
            <a:r>
              <a:rPr dirty="0" sz="2200" spc="-40">
                <a:latin typeface="Arial"/>
                <a:cs typeface="Arial"/>
              </a:rPr>
              <a:t> </a:t>
            </a:r>
            <a:r>
              <a:rPr dirty="0" sz="2200" spc="-20">
                <a:latin typeface="Calibri"/>
                <a:cs typeface="Calibri"/>
              </a:rPr>
              <a:t>organize </a:t>
            </a:r>
            <a:r>
              <a:rPr dirty="0" sz="2200" spc="-5">
                <a:latin typeface="Calibri"/>
                <a:cs typeface="Calibri"/>
              </a:rPr>
              <a:t>the </a:t>
            </a:r>
            <a:r>
              <a:rPr dirty="0" sz="2200" spc="-10">
                <a:latin typeface="Calibri"/>
                <a:cs typeface="Calibri"/>
              </a:rPr>
              <a:t>search </a:t>
            </a:r>
            <a:r>
              <a:rPr dirty="0" sz="2200" spc="-5">
                <a:latin typeface="Calibri"/>
                <a:cs typeface="Calibri"/>
              </a:rPr>
              <a:t>space</a:t>
            </a:r>
            <a:endParaRPr sz="2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575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200" spc="-15" b="1">
                <a:solidFill>
                  <a:srgbClr val="0070C0"/>
                </a:solidFill>
                <a:latin typeface="Calibri"/>
                <a:cs typeface="Calibri"/>
              </a:rPr>
              <a:t>Subgraph </a:t>
            </a:r>
            <a:r>
              <a:rPr dirty="0" sz="2200" spc="-5" b="1">
                <a:solidFill>
                  <a:srgbClr val="0070C0"/>
                </a:solidFill>
                <a:latin typeface="Calibri"/>
                <a:cs typeface="Calibri"/>
              </a:rPr>
              <a:t>isomorphism </a:t>
            </a:r>
            <a:r>
              <a:rPr dirty="0" sz="2200" spc="925">
                <a:latin typeface="Arial"/>
                <a:cs typeface="Arial"/>
              </a:rPr>
              <a:t>à</a:t>
            </a:r>
            <a:r>
              <a:rPr dirty="0" sz="2200" spc="-110">
                <a:latin typeface="Arial"/>
                <a:cs typeface="Arial"/>
              </a:rPr>
              <a:t> </a:t>
            </a:r>
            <a:r>
              <a:rPr dirty="0" sz="2200" spc="-10">
                <a:latin typeface="Calibri"/>
                <a:cs typeface="Calibri"/>
              </a:rPr>
              <a:t>prediction </a:t>
            </a:r>
            <a:r>
              <a:rPr dirty="0" sz="2200" spc="-5">
                <a:latin typeface="Calibri"/>
                <a:cs typeface="Calibri"/>
              </a:rPr>
              <a:t>using GNN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15517" y="4817055"/>
            <a:ext cx="3669229" cy="15851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73615" y="6699893"/>
            <a:ext cx="4027804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</a:t>
            </a:r>
            <a:r>
              <a:rPr dirty="0" sz="900" spc="-80">
                <a:solidFill>
                  <a:srgbClr val="3F3F3F"/>
                </a:solidFill>
                <a:latin typeface="Calibri"/>
                <a:cs typeface="Calibri"/>
              </a:rPr>
              <a:t>LLeeskovec, 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58</a:t>
            </a:fld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968" y="362711"/>
            <a:ext cx="8366759" cy="502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6576059" cy="8851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5"/>
              <a:t>Target </a:t>
            </a:r>
            <a:r>
              <a:rPr dirty="0" sz="2800" spc="-15"/>
              <a:t>graph (dataset) </a:t>
            </a:r>
            <a:r>
              <a:rPr dirty="0" sz="2800" spc="-140">
                <a:solidFill>
                  <a:srgbClr val="0000FF"/>
                </a:solidFill>
                <a:latin typeface="Cambria Math"/>
                <a:cs typeface="Cambria Math"/>
              </a:rPr>
              <a:t>𝐺</a:t>
            </a:r>
            <a:r>
              <a:rPr dirty="0" baseline="-16666" sz="3000" spc="-209">
                <a:solidFill>
                  <a:srgbClr val="0000FF"/>
                </a:solidFill>
                <a:latin typeface="Cambria Math"/>
                <a:cs typeface="Cambria Math"/>
              </a:rPr>
              <a:t>%</a:t>
            </a:r>
            <a:r>
              <a:rPr dirty="0" sz="2800" spc="-140"/>
              <a:t>, </a:t>
            </a:r>
            <a:r>
              <a:rPr dirty="0" sz="2800" spc="-20"/>
              <a:t>size parameter</a:t>
            </a:r>
            <a:r>
              <a:rPr dirty="0" sz="2800" spc="260"/>
              <a:t> </a:t>
            </a:r>
            <a:r>
              <a:rPr dirty="0" sz="2800">
                <a:solidFill>
                  <a:srgbClr val="008000"/>
                </a:solidFill>
                <a:latin typeface="Cambria Math"/>
                <a:cs typeface="Cambria Math"/>
              </a:rPr>
              <a:t>𝑘</a:t>
            </a:r>
            <a:endParaRPr sz="28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4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/>
              <a:t>Desired </a:t>
            </a:r>
            <a:r>
              <a:rPr dirty="0" sz="2800" spc="-5"/>
              <a:t>number of </a:t>
            </a:r>
            <a:r>
              <a:rPr dirty="0" sz="2800" spc="-10"/>
              <a:t>results</a:t>
            </a:r>
            <a:r>
              <a:rPr dirty="0" sz="2800" spc="-20"/>
              <a:t> </a:t>
            </a:r>
            <a:r>
              <a:rPr dirty="0" sz="2800">
                <a:solidFill>
                  <a:srgbClr val="D60093"/>
                </a:solidFill>
                <a:latin typeface="Cambria Math"/>
                <a:cs typeface="Cambria Math"/>
              </a:rPr>
              <a:t>𝑟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198115"/>
            <a:ext cx="7895590" cy="216852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32740" marR="5080" indent="-320040">
              <a:lnSpc>
                <a:spcPct val="101400"/>
              </a:lnSpc>
              <a:spcBef>
                <a:spcPts val="5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Goal</a:t>
            </a:r>
            <a:r>
              <a:rPr dirty="0" sz="2800" spc="-5">
                <a:latin typeface="Calibri"/>
                <a:cs typeface="Calibri"/>
              </a:rPr>
              <a:t>: </a:t>
            </a:r>
            <a:r>
              <a:rPr dirty="0" sz="2800" spc="-30">
                <a:latin typeface="Calibri"/>
                <a:cs typeface="Calibri"/>
              </a:rPr>
              <a:t>Identify, </a:t>
            </a:r>
            <a:r>
              <a:rPr dirty="0" sz="2800" spc="-5">
                <a:latin typeface="Calibri"/>
                <a:cs typeface="Calibri"/>
              </a:rPr>
              <a:t>among </a:t>
            </a:r>
            <a:r>
              <a:rPr dirty="0" sz="2800" spc="-5" i="1">
                <a:latin typeface="Calibri"/>
                <a:cs typeface="Calibri"/>
              </a:rPr>
              <a:t>all </a:t>
            </a:r>
            <a:r>
              <a:rPr dirty="0" sz="2800" spc="-5">
                <a:latin typeface="Calibri"/>
                <a:cs typeface="Calibri"/>
              </a:rPr>
              <a:t>possible </a:t>
            </a:r>
            <a:r>
              <a:rPr dirty="0" sz="2800" spc="-15">
                <a:latin typeface="Calibri"/>
                <a:cs typeface="Calibri"/>
              </a:rPr>
              <a:t>graphs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>
                <a:solidFill>
                  <a:srgbClr val="008000"/>
                </a:solidFill>
                <a:latin typeface="Cambria Math"/>
                <a:cs typeface="Cambria Math"/>
              </a:rPr>
              <a:t>𝑘 </a:t>
            </a:r>
            <a:r>
              <a:rPr dirty="0" sz="2800" spc="-5">
                <a:latin typeface="Calibri"/>
                <a:cs typeface="Calibri"/>
              </a:rPr>
              <a:t>nodes,  the </a:t>
            </a:r>
            <a:r>
              <a:rPr dirty="0" sz="2800">
                <a:solidFill>
                  <a:srgbClr val="3792AA"/>
                </a:solidFill>
                <a:latin typeface="Cambria Math"/>
                <a:cs typeface="Cambria Math"/>
              </a:rPr>
              <a:t>𝑟 </a:t>
            </a:r>
            <a:r>
              <a:rPr dirty="0" sz="2800" spc="-15">
                <a:latin typeface="Calibri"/>
                <a:cs typeface="Calibri"/>
              </a:rPr>
              <a:t>graphs </a:t>
            </a:r>
            <a:r>
              <a:rPr dirty="0" sz="2800" spc="-5">
                <a:latin typeface="Calibri"/>
                <a:cs typeface="Calibri"/>
              </a:rPr>
              <a:t>with the </a:t>
            </a:r>
            <a:r>
              <a:rPr dirty="0" sz="2800" spc="-10">
                <a:latin typeface="Calibri"/>
                <a:cs typeface="Calibri"/>
              </a:rPr>
              <a:t>highest frequency </a:t>
            </a:r>
            <a:r>
              <a:rPr dirty="0" sz="2800" spc="-5">
                <a:latin typeface="Calibri"/>
                <a:cs typeface="Calibri"/>
              </a:rPr>
              <a:t>in</a:t>
            </a:r>
            <a:r>
              <a:rPr dirty="0" sz="2800" spc="150">
                <a:latin typeface="Calibri"/>
                <a:cs typeface="Calibri"/>
              </a:rPr>
              <a:t> </a:t>
            </a:r>
            <a:r>
              <a:rPr dirty="0" sz="2800" spc="-140">
                <a:solidFill>
                  <a:srgbClr val="0000FF"/>
                </a:solidFill>
                <a:latin typeface="Cambria Math"/>
                <a:cs typeface="Cambria Math"/>
              </a:rPr>
              <a:t>𝐺</a:t>
            </a:r>
            <a:r>
              <a:rPr dirty="0" baseline="-16666" sz="3000" spc="-209">
                <a:solidFill>
                  <a:srgbClr val="0000FF"/>
                </a:solidFill>
                <a:latin typeface="Cambria Math"/>
                <a:cs typeface="Cambria Math"/>
              </a:rPr>
              <a:t>%</a:t>
            </a:r>
            <a:r>
              <a:rPr dirty="0" sz="2800" spc="-14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325"/>
              </a:lnSpc>
              <a:spcBef>
                <a:spcPts val="4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5" b="1">
                <a:latin typeface="Calibri"/>
                <a:cs typeface="Calibri"/>
              </a:rPr>
              <a:t>We </a:t>
            </a:r>
            <a:r>
              <a:rPr dirty="0" sz="2800" spc="-5" b="1">
                <a:latin typeface="Calibri"/>
                <a:cs typeface="Calibri"/>
              </a:rPr>
              <a:t>use the </a:t>
            </a:r>
            <a:r>
              <a:rPr dirty="0" sz="2800" spc="-10" b="1">
                <a:latin typeface="Calibri"/>
                <a:cs typeface="Calibri"/>
              </a:rPr>
              <a:t>node-level</a:t>
            </a:r>
            <a:r>
              <a:rPr dirty="0" sz="2800" spc="10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definition:</a:t>
            </a:r>
            <a:endParaRPr sz="2800">
              <a:latin typeface="Calibri"/>
              <a:cs typeface="Calibri"/>
            </a:endParaRPr>
          </a:p>
          <a:p>
            <a:pPr marL="332740" marR="1012825">
              <a:lnSpc>
                <a:spcPts val="3410"/>
              </a:lnSpc>
              <a:spcBef>
                <a:spcPts val="35"/>
              </a:spcBef>
            </a:pPr>
            <a:r>
              <a:rPr dirty="0" sz="2800" spc="-5">
                <a:latin typeface="Calibri"/>
                <a:cs typeface="Calibri"/>
              </a:rPr>
              <a:t>The number of nodes </a:t>
            </a: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𝑢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-275">
                <a:solidFill>
                  <a:srgbClr val="0000FF"/>
                </a:solidFill>
                <a:latin typeface="Cambria Math"/>
                <a:cs typeface="Cambria Math"/>
              </a:rPr>
              <a:t>𝐺</a:t>
            </a:r>
            <a:r>
              <a:rPr dirty="0" baseline="-16666" sz="3000" spc="-412">
                <a:solidFill>
                  <a:srgbClr val="0000FF"/>
                </a:solidFill>
                <a:latin typeface="Cambria Math"/>
                <a:cs typeface="Cambria Math"/>
              </a:rPr>
              <a:t>% </a:t>
            </a:r>
            <a:r>
              <a:rPr dirty="0" sz="2800" spc="-5">
                <a:latin typeface="Calibri"/>
                <a:cs typeface="Calibri"/>
              </a:rPr>
              <a:t>for which some  </a:t>
            </a:r>
            <a:r>
              <a:rPr dirty="0" sz="2800" spc="-10">
                <a:latin typeface="Calibri"/>
                <a:cs typeface="Calibri"/>
              </a:rPr>
              <a:t>subgraph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275">
                <a:solidFill>
                  <a:srgbClr val="0000FF"/>
                </a:solidFill>
                <a:latin typeface="Cambria Math"/>
                <a:cs typeface="Cambria Math"/>
              </a:rPr>
              <a:t>𝐺</a:t>
            </a:r>
            <a:r>
              <a:rPr dirty="0" baseline="-16666" sz="3000" spc="-412">
                <a:solidFill>
                  <a:srgbClr val="0000FF"/>
                </a:solidFill>
                <a:latin typeface="Cambria Math"/>
                <a:cs typeface="Cambria Math"/>
              </a:rPr>
              <a:t>%    </a:t>
            </a:r>
            <a:r>
              <a:rPr dirty="0" sz="2800" spc="-5">
                <a:latin typeface="Calibri"/>
                <a:cs typeface="Calibri"/>
              </a:rPr>
              <a:t>is isomorphic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140">
                <a:solidFill>
                  <a:srgbClr val="C00000"/>
                </a:solidFill>
                <a:latin typeface="Cambria Math"/>
                <a:cs typeface="Cambria Math"/>
              </a:rPr>
              <a:t>𝐺</a:t>
            </a:r>
            <a:r>
              <a:rPr dirty="0" baseline="-16666" sz="3000" spc="209">
                <a:solidFill>
                  <a:srgbClr val="C00000"/>
                </a:solidFill>
                <a:latin typeface="Cambria Math"/>
                <a:cs typeface="Cambria Math"/>
              </a:rPr>
              <a:t>$ </a:t>
            </a:r>
            <a:r>
              <a:rPr dirty="0" sz="2800" spc="-5">
                <a:latin typeface="Calibri"/>
                <a:cs typeface="Calibri"/>
              </a:rPr>
              <a:t>and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8149" y="4371339"/>
            <a:ext cx="38042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Calibri"/>
                <a:cs typeface="Calibri"/>
              </a:rPr>
              <a:t>isomorphism maps </a:t>
            </a: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𝑢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30">
                <a:solidFill>
                  <a:srgbClr val="C00000"/>
                </a:solidFill>
                <a:latin typeface="Cambria Math"/>
                <a:cs typeface="Cambria Math"/>
              </a:rPr>
              <a:t>𝑣</a:t>
            </a:r>
            <a:r>
              <a:rPr dirty="0" sz="2800" spc="3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28324" y="4435803"/>
            <a:ext cx="4075169" cy="2260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738642" y="4684267"/>
            <a:ext cx="18961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">
                <a:solidFill>
                  <a:srgbClr val="C00000"/>
                </a:solidFill>
                <a:latin typeface="Cambria Math"/>
                <a:cs typeface="Cambria Math"/>
              </a:rPr>
              <a:t>𝑮</a:t>
            </a:r>
            <a:r>
              <a:rPr dirty="0" baseline="-14957" sz="1950" spc="15">
                <a:solidFill>
                  <a:srgbClr val="C00000"/>
                </a:solidFill>
                <a:latin typeface="Cambria Math"/>
                <a:cs typeface="Cambria Math"/>
              </a:rPr>
              <a:t>𝑸</a:t>
            </a:r>
            <a:r>
              <a:rPr dirty="0" sz="1800" spc="10">
                <a:solidFill>
                  <a:srgbClr val="C00000"/>
                </a:solidFill>
                <a:latin typeface="Cambria Math"/>
                <a:cs typeface="Cambria Math"/>
              </a:rPr>
              <a:t>: </a:t>
            </a:r>
            <a:r>
              <a:rPr dirty="0" sz="1800" spc="-5">
                <a:latin typeface="Arial"/>
                <a:cs typeface="Arial"/>
              </a:rPr>
              <a:t>Star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Subgraph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673615" y="6699893"/>
            <a:ext cx="4027804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</a:t>
            </a:r>
            <a:r>
              <a:rPr dirty="0" sz="900" spc="-80">
                <a:solidFill>
                  <a:srgbClr val="3F3F3F"/>
                </a:solidFill>
                <a:latin typeface="Calibri"/>
                <a:cs typeface="Calibri"/>
              </a:rPr>
              <a:t>LLeeskovec, 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58</a:t>
            </a:fld>
          </a:p>
        </p:txBody>
      </p:sp>
      <p:sp>
        <p:nvSpPr>
          <p:cNvPr id="8" name="object 8"/>
          <p:cNvSpPr txBox="1"/>
          <p:nvPr/>
        </p:nvSpPr>
        <p:spPr>
          <a:xfrm>
            <a:off x="5719814" y="5674867"/>
            <a:ext cx="523240" cy="3854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5"/>
              </a:spcBef>
            </a:pPr>
            <a:r>
              <a:rPr dirty="0" sz="1200" spc="-5">
                <a:latin typeface="Arial"/>
                <a:cs typeface="Arial"/>
              </a:rPr>
              <a:t>D</a:t>
            </a:r>
            <a:r>
              <a:rPr dirty="0" sz="1200" spc="-10">
                <a:latin typeface="Arial"/>
                <a:cs typeface="Arial"/>
              </a:rPr>
              <a:t>eg</a:t>
            </a:r>
            <a:r>
              <a:rPr dirty="0" sz="1200">
                <a:latin typeface="Arial"/>
                <a:cs typeface="Arial"/>
              </a:rPr>
              <a:t>r</a:t>
            </a:r>
            <a:r>
              <a:rPr dirty="0" sz="1200" spc="-10">
                <a:latin typeface="Arial"/>
                <a:cs typeface="Arial"/>
              </a:rPr>
              <a:t>e</a:t>
            </a:r>
            <a:r>
              <a:rPr dirty="0" sz="1200">
                <a:latin typeface="Arial"/>
                <a:cs typeface="Arial"/>
              </a:rPr>
              <a:t>e  </a:t>
            </a:r>
            <a:r>
              <a:rPr dirty="0" sz="1200" spc="-5">
                <a:latin typeface="Arial"/>
                <a:cs typeface="Arial"/>
              </a:rPr>
              <a:t>100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06168" y="4669028"/>
            <a:ext cx="2825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ambria Math"/>
                <a:cs typeface="Cambria Math"/>
              </a:rPr>
              <a:t>𝑮</a:t>
            </a:r>
            <a:r>
              <a:rPr dirty="0" baseline="-17094" sz="1950">
                <a:solidFill>
                  <a:srgbClr val="0000FF"/>
                </a:solidFill>
                <a:latin typeface="Cambria Math"/>
                <a:cs typeface="Cambria Math"/>
              </a:rPr>
              <a:t>𝑻</a:t>
            </a:r>
            <a:endParaRPr baseline="-17094" sz="19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53431" y="6218935"/>
            <a:ext cx="169672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solidFill>
                  <a:srgbClr val="00B050"/>
                </a:solidFill>
                <a:latin typeface="Arial"/>
                <a:cs typeface="Arial"/>
              </a:rPr>
              <a:t>Frequency:</a:t>
            </a:r>
            <a:r>
              <a:rPr dirty="0" sz="2100" spc="-9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00B050"/>
                </a:solidFill>
                <a:latin typeface="Cambria Math"/>
                <a:cs typeface="Cambria Math"/>
              </a:rPr>
              <a:t>𝟏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03361" y="5442203"/>
            <a:ext cx="7696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35">
                <a:latin typeface="Corbel"/>
                <a:cs typeface="Corbel"/>
              </a:rPr>
              <a:t>A</a:t>
            </a:r>
            <a:r>
              <a:rPr dirty="0" sz="2000" spc="-30">
                <a:latin typeface="Corbel"/>
                <a:cs typeface="Corbel"/>
              </a:rPr>
              <a:t>ncho</a:t>
            </a:r>
            <a:r>
              <a:rPr dirty="0" sz="2000">
                <a:latin typeface="Corbel"/>
                <a:cs typeface="Corbel"/>
              </a:rPr>
              <a:t>r</a:t>
            </a:r>
            <a:endParaRPr sz="20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4511040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55472" y="2351023"/>
            <a:ext cx="177673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spc="-5" b="1">
                <a:solidFill>
                  <a:srgbClr val="C00000"/>
                </a:solidFill>
                <a:latin typeface="Arial"/>
                <a:cs typeface="Arial"/>
              </a:rPr>
              <a:t>Encoder</a:t>
            </a:r>
            <a:r>
              <a:rPr dirty="0" sz="1500" spc="-5">
                <a:latin typeface="Arial"/>
                <a:cs typeface="Arial"/>
              </a:rPr>
              <a:t>: Embed  </a:t>
            </a:r>
            <a:r>
              <a:rPr dirty="0" sz="1500">
                <a:latin typeface="Arial"/>
                <a:cs typeface="Arial"/>
              </a:rPr>
              <a:t>subgraphs </a:t>
            </a:r>
            <a:r>
              <a:rPr dirty="0" sz="1500" spc="-5">
                <a:latin typeface="Arial"/>
                <a:cs typeface="Arial"/>
              </a:rPr>
              <a:t>into</a:t>
            </a:r>
            <a:r>
              <a:rPr dirty="0" sz="1500" spc="-90">
                <a:latin typeface="Arial"/>
                <a:cs typeface="Arial"/>
              </a:rPr>
              <a:t> </a:t>
            </a:r>
            <a:r>
              <a:rPr dirty="0" sz="1500" i="1">
                <a:latin typeface="Arial"/>
                <a:cs typeface="Arial"/>
              </a:rPr>
              <a:t>order  </a:t>
            </a:r>
            <a:r>
              <a:rPr dirty="0" sz="1500" i="1">
                <a:latin typeface="Arial"/>
                <a:cs typeface="Arial"/>
              </a:rPr>
              <a:t>embedding</a:t>
            </a:r>
            <a:r>
              <a:rPr dirty="0" sz="1500" spc="-105" i="1">
                <a:latin typeface="Arial"/>
                <a:cs typeface="Arial"/>
              </a:rPr>
              <a:t> </a:t>
            </a:r>
            <a:r>
              <a:rPr dirty="0" sz="1500" i="1">
                <a:latin typeface="Arial"/>
                <a:cs typeface="Arial"/>
              </a:rPr>
              <a:t>space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94111" y="3750499"/>
            <a:ext cx="32384" cy="984250"/>
          </a:xfrm>
          <a:custGeom>
            <a:avLst/>
            <a:gdLst/>
            <a:ahLst/>
            <a:cxnLst/>
            <a:rect l="l" t="t" r="r" b="b"/>
            <a:pathLst>
              <a:path w="32384" h="984250">
                <a:moveTo>
                  <a:pt x="24643" y="0"/>
                </a:moveTo>
                <a:lnTo>
                  <a:pt x="7108" y="0"/>
                </a:lnTo>
                <a:lnTo>
                  <a:pt x="0" y="7106"/>
                </a:lnTo>
                <a:lnTo>
                  <a:pt x="0" y="88141"/>
                </a:lnTo>
                <a:lnTo>
                  <a:pt x="7108" y="95250"/>
                </a:lnTo>
                <a:lnTo>
                  <a:pt x="24643" y="95250"/>
                </a:lnTo>
                <a:lnTo>
                  <a:pt x="31750" y="88141"/>
                </a:lnTo>
                <a:lnTo>
                  <a:pt x="31750" y="7106"/>
                </a:lnTo>
                <a:lnTo>
                  <a:pt x="24643" y="0"/>
                </a:lnTo>
                <a:close/>
              </a:path>
              <a:path w="32384" h="984250">
                <a:moveTo>
                  <a:pt x="24643" y="127000"/>
                </a:moveTo>
                <a:lnTo>
                  <a:pt x="7108" y="127000"/>
                </a:lnTo>
                <a:lnTo>
                  <a:pt x="0" y="134106"/>
                </a:lnTo>
                <a:lnTo>
                  <a:pt x="0" y="215141"/>
                </a:lnTo>
                <a:lnTo>
                  <a:pt x="7108" y="222250"/>
                </a:lnTo>
                <a:lnTo>
                  <a:pt x="24643" y="222250"/>
                </a:lnTo>
                <a:lnTo>
                  <a:pt x="31750" y="215141"/>
                </a:lnTo>
                <a:lnTo>
                  <a:pt x="31750" y="134106"/>
                </a:lnTo>
                <a:lnTo>
                  <a:pt x="24643" y="127000"/>
                </a:lnTo>
                <a:close/>
              </a:path>
              <a:path w="32384" h="984250">
                <a:moveTo>
                  <a:pt x="24643" y="254000"/>
                </a:moveTo>
                <a:lnTo>
                  <a:pt x="7108" y="254000"/>
                </a:lnTo>
                <a:lnTo>
                  <a:pt x="0" y="261106"/>
                </a:lnTo>
                <a:lnTo>
                  <a:pt x="0" y="342141"/>
                </a:lnTo>
                <a:lnTo>
                  <a:pt x="7108" y="349250"/>
                </a:lnTo>
                <a:lnTo>
                  <a:pt x="24643" y="349250"/>
                </a:lnTo>
                <a:lnTo>
                  <a:pt x="31750" y="342141"/>
                </a:lnTo>
                <a:lnTo>
                  <a:pt x="31750" y="261106"/>
                </a:lnTo>
                <a:lnTo>
                  <a:pt x="24643" y="254000"/>
                </a:lnTo>
                <a:close/>
              </a:path>
              <a:path w="32384" h="984250">
                <a:moveTo>
                  <a:pt x="24643" y="381000"/>
                </a:moveTo>
                <a:lnTo>
                  <a:pt x="7108" y="381000"/>
                </a:lnTo>
                <a:lnTo>
                  <a:pt x="1" y="388106"/>
                </a:lnTo>
                <a:lnTo>
                  <a:pt x="1" y="469141"/>
                </a:lnTo>
                <a:lnTo>
                  <a:pt x="7108" y="476250"/>
                </a:lnTo>
                <a:lnTo>
                  <a:pt x="24643" y="476250"/>
                </a:lnTo>
                <a:lnTo>
                  <a:pt x="31751" y="469141"/>
                </a:lnTo>
                <a:lnTo>
                  <a:pt x="31751" y="388106"/>
                </a:lnTo>
                <a:lnTo>
                  <a:pt x="24643" y="381000"/>
                </a:lnTo>
                <a:close/>
              </a:path>
              <a:path w="32384" h="984250">
                <a:moveTo>
                  <a:pt x="24643" y="508000"/>
                </a:moveTo>
                <a:lnTo>
                  <a:pt x="7108" y="508000"/>
                </a:lnTo>
                <a:lnTo>
                  <a:pt x="1" y="515106"/>
                </a:lnTo>
                <a:lnTo>
                  <a:pt x="1" y="596141"/>
                </a:lnTo>
                <a:lnTo>
                  <a:pt x="7108" y="603250"/>
                </a:lnTo>
                <a:lnTo>
                  <a:pt x="24643" y="603250"/>
                </a:lnTo>
                <a:lnTo>
                  <a:pt x="31751" y="596141"/>
                </a:lnTo>
                <a:lnTo>
                  <a:pt x="31751" y="515106"/>
                </a:lnTo>
                <a:lnTo>
                  <a:pt x="24643" y="508000"/>
                </a:lnTo>
                <a:close/>
              </a:path>
              <a:path w="32384" h="984250">
                <a:moveTo>
                  <a:pt x="24643" y="635000"/>
                </a:moveTo>
                <a:lnTo>
                  <a:pt x="7108" y="635000"/>
                </a:lnTo>
                <a:lnTo>
                  <a:pt x="1" y="642106"/>
                </a:lnTo>
                <a:lnTo>
                  <a:pt x="1" y="723141"/>
                </a:lnTo>
                <a:lnTo>
                  <a:pt x="7108" y="730250"/>
                </a:lnTo>
                <a:lnTo>
                  <a:pt x="24643" y="730250"/>
                </a:lnTo>
                <a:lnTo>
                  <a:pt x="31751" y="723141"/>
                </a:lnTo>
                <a:lnTo>
                  <a:pt x="31751" y="642106"/>
                </a:lnTo>
                <a:lnTo>
                  <a:pt x="24643" y="635000"/>
                </a:lnTo>
                <a:close/>
              </a:path>
              <a:path w="32384" h="984250">
                <a:moveTo>
                  <a:pt x="24643" y="762000"/>
                </a:moveTo>
                <a:lnTo>
                  <a:pt x="7108" y="762000"/>
                </a:lnTo>
                <a:lnTo>
                  <a:pt x="1" y="769106"/>
                </a:lnTo>
                <a:lnTo>
                  <a:pt x="1" y="850141"/>
                </a:lnTo>
                <a:lnTo>
                  <a:pt x="7108" y="857250"/>
                </a:lnTo>
                <a:lnTo>
                  <a:pt x="24643" y="857250"/>
                </a:lnTo>
                <a:lnTo>
                  <a:pt x="31751" y="850141"/>
                </a:lnTo>
                <a:lnTo>
                  <a:pt x="31751" y="769106"/>
                </a:lnTo>
                <a:lnTo>
                  <a:pt x="24643" y="762000"/>
                </a:lnTo>
                <a:close/>
              </a:path>
              <a:path w="32384" h="984250">
                <a:moveTo>
                  <a:pt x="24643" y="889000"/>
                </a:moveTo>
                <a:lnTo>
                  <a:pt x="7108" y="889000"/>
                </a:lnTo>
                <a:lnTo>
                  <a:pt x="1" y="896106"/>
                </a:lnTo>
                <a:lnTo>
                  <a:pt x="1" y="977141"/>
                </a:lnTo>
                <a:lnTo>
                  <a:pt x="7108" y="984250"/>
                </a:lnTo>
                <a:lnTo>
                  <a:pt x="24644" y="984250"/>
                </a:lnTo>
                <a:lnTo>
                  <a:pt x="31751" y="977141"/>
                </a:lnTo>
                <a:lnTo>
                  <a:pt x="31751" y="896106"/>
                </a:lnTo>
                <a:lnTo>
                  <a:pt x="24643" y="88900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144476" y="4052898"/>
            <a:ext cx="1975485" cy="32384"/>
          </a:xfrm>
          <a:custGeom>
            <a:avLst/>
            <a:gdLst/>
            <a:ahLst/>
            <a:cxnLst/>
            <a:rect l="l" t="t" r="r" b="b"/>
            <a:pathLst>
              <a:path w="1975484" h="32385">
                <a:moveTo>
                  <a:pt x="88143" y="0"/>
                </a:moveTo>
                <a:lnTo>
                  <a:pt x="7108" y="0"/>
                </a:lnTo>
                <a:lnTo>
                  <a:pt x="0" y="7108"/>
                </a:lnTo>
                <a:lnTo>
                  <a:pt x="0" y="24643"/>
                </a:lnTo>
                <a:lnTo>
                  <a:pt x="7108" y="31750"/>
                </a:lnTo>
                <a:lnTo>
                  <a:pt x="88143" y="31750"/>
                </a:lnTo>
                <a:lnTo>
                  <a:pt x="95250" y="24643"/>
                </a:lnTo>
                <a:lnTo>
                  <a:pt x="95250" y="7108"/>
                </a:lnTo>
                <a:lnTo>
                  <a:pt x="88143" y="0"/>
                </a:lnTo>
                <a:close/>
              </a:path>
              <a:path w="1975484" h="32385">
                <a:moveTo>
                  <a:pt x="215143" y="0"/>
                </a:moveTo>
                <a:lnTo>
                  <a:pt x="134108" y="0"/>
                </a:lnTo>
                <a:lnTo>
                  <a:pt x="127000" y="7108"/>
                </a:lnTo>
                <a:lnTo>
                  <a:pt x="127000" y="24643"/>
                </a:lnTo>
                <a:lnTo>
                  <a:pt x="134108" y="31750"/>
                </a:lnTo>
                <a:lnTo>
                  <a:pt x="215143" y="31750"/>
                </a:lnTo>
                <a:lnTo>
                  <a:pt x="222250" y="24643"/>
                </a:lnTo>
                <a:lnTo>
                  <a:pt x="222250" y="7108"/>
                </a:lnTo>
                <a:lnTo>
                  <a:pt x="215143" y="0"/>
                </a:lnTo>
                <a:close/>
              </a:path>
              <a:path w="1975484" h="32385">
                <a:moveTo>
                  <a:pt x="342143" y="0"/>
                </a:moveTo>
                <a:lnTo>
                  <a:pt x="261108" y="0"/>
                </a:lnTo>
                <a:lnTo>
                  <a:pt x="254000" y="7108"/>
                </a:lnTo>
                <a:lnTo>
                  <a:pt x="254000" y="24643"/>
                </a:lnTo>
                <a:lnTo>
                  <a:pt x="261108" y="31750"/>
                </a:lnTo>
                <a:lnTo>
                  <a:pt x="342143" y="31750"/>
                </a:lnTo>
                <a:lnTo>
                  <a:pt x="349250" y="24643"/>
                </a:lnTo>
                <a:lnTo>
                  <a:pt x="349250" y="7108"/>
                </a:lnTo>
                <a:lnTo>
                  <a:pt x="342143" y="0"/>
                </a:lnTo>
                <a:close/>
              </a:path>
              <a:path w="1975484" h="32385">
                <a:moveTo>
                  <a:pt x="469143" y="0"/>
                </a:moveTo>
                <a:lnTo>
                  <a:pt x="388108" y="0"/>
                </a:lnTo>
                <a:lnTo>
                  <a:pt x="381000" y="7108"/>
                </a:lnTo>
                <a:lnTo>
                  <a:pt x="381000" y="24643"/>
                </a:lnTo>
                <a:lnTo>
                  <a:pt x="388108" y="31750"/>
                </a:lnTo>
                <a:lnTo>
                  <a:pt x="469143" y="31750"/>
                </a:lnTo>
                <a:lnTo>
                  <a:pt x="476250" y="24643"/>
                </a:lnTo>
                <a:lnTo>
                  <a:pt x="476250" y="7108"/>
                </a:lnTo>
                <a:lnTo>
                  <a:pt x="469143" y="0"/>
                </a:lnTo>
                <a:close/>
              </a:path>
              <a:path w="1975484" h="32385">
                <a:moveTo>
                  <a:pt x="596143" y="0"/>
                </a:moveTo>
                <a:lnTo>
                  <a:pt x="515108" y="0"/>
                </a:lnTo>
                <a:lnTo>
                  <a:pt x="508000" y="7108"/>
                </a:lnTo>
                <a:lnTo>
                  <a:pt x="508000" y="24643"/>
                </a:lnTo>
                <a:lnTo>
                  <a:pt x="515108" y="31750"/>
                </a:lnTo>
                <a:lnTo>
                  <a:pt x="596143" y="31750"/>
                </a:lnTo>
                <a:lnTo>
                  <a:pt x="603250" y="24643"/>
                </a:lnTo>
                <a:lnTo>
                  <a:pt x="603250" y="7108"/>
                </a:lnTo>
                <a:lnTo>
                  <a:pt x="596143" y="0"/>
                </a:lnTo>
                <a:close/>
              </a:path>
              <a:path w="1975484" h="32385">
                <a:moveTo>
                  <a:pt x="723143" y="0"/>
                </a:moveTo>
                <a:lnTo>
                  <a:pt x="642108" y="0"/>
                </a:lnTo>
                <a:lnTo>
                  <a:pt x="635000" y="7108"/>
                </a:lnTo>
                <a:lnTo>
                  <a:pt x="635000" y="24643"/>
                </a:lnTo>
                <a:lnTo>
                  <a:pt x="642108" y="31750"/>
                </a:lnTo>
                <a:lnTo>
                  <a:pt x="723143" y="31750"/>
                </a:lnTo>
                <a:lnTo>
                  <a:pt x="730250" y="24643"/>
                </a:lnTo>
                <a:lnTo>
                  <a:pt x="730250" y="7108"/>
                </a:lnTo>
                <a:lnTo>
                  <a:pt x="723143" y="0"/>
                </a:lnTo>
                <a:close/>
              </a:path>
              <a:path w="1975484" h="32385">
                <a:moveTo>
                  <a:pt x="850143" y="0"/>
                </a:moveTo>
                <a:lnTo>
                  <a:pt x="769108" y="0"/>
                </a:lnTo>
                <a:lnTo>
                  <a:pt x="762000" y="7108"/>
                </a:lnTo>
                <a:lnTo>
                  <a:pt x="762000" y="24643"/>
                </a:lnTo>
                <a:lnTo>
                  <a:pt x="769108" y="31750"/>
                </a:lnTo>
                <a:lnTo>
                  <a:pt x="850143" y="31750"/>
                </a:lnTo>
                <a:lnTo>
                  <a:pt x="857250" y="24643"/>
                </a:lnTo>
                <a:lnTo>
                  <a:pt x="857250" y="7108"/>
                </a:lnTo>
                <a:lnTo>
                  <a:pt x="850143" y="0"/>
                </a:lnTo>
                <a:close/>
              </a:path>
              <a:path w="1975484" h="32385">
                <a:moveTo>
                  <a:pt x="977143" y="0"/>
                </a:moveTo>
                <a:lnTo>
                  <a:pt x="896108" y="0"/>
                </a:lnTo>
                <a:lnTo>
                  <a:pt x="889000" y="7108"/>
                </a:lnTo>
                <a:lnTo>
                  <a:pt x="889000" y="24643"/>
                </a:lnTo>
                <a:lnTo>
                  <a:pt x="896108" y="31750"/>
                </a:lnTo>
                <a:lnTo>
                  <a:pt x="977143" y="31750"/>
                </a:lnTo>
                <a:lnTo>
                  <a:pt x="984250" y="24643"/>
                </a:lnTo>
                <a:lnTo>
                  <a:pt x="984250" y="7108"/>
                </a:lnTo>
                <a:lnTo>
                  <a:pt x="977143" y="0"/>
                </a:lnTo>
                <a:close/>
              </a:path>
              <a:path w="1975484" h="32385">
                <a:moveTo>
                  <a:pt x="1104143" y="1"/>
                </a:moveTo>
                <a:lnTo>
                  <a:pt x="1023108" y="1"/>
                </a:lnTo>
                <a:lnTo>
                  <a:pt x="1016000" y="7108"/>
                </a:lnTo>
                <a:lnTo>
                  <a:pt x="1016000" y="24643"/>
                </a:lnTo>
                <a:lnTo>
                  <a:pt x="1023108" y="31751"/>
                </a:lnTo>
                <a:lnTo>
                  <a:pt x="1104143" y="31751"/>
                </a:lnTo>
                <a:lnTo>
                  <a:pt x="1111250" y="24643"/>
                </a:lnTo>
                <a:lnTo>
                  <a:pt x="1111250" y="7108"/>
                </a:lnTo>
                <a:lnTo>
                  <a:pt x="1104143" y="1"/>
                </a:lnTo>
                <a:close/>
              </a:path>
              <a:path w="1975484" h="32385">
                <a:moveTo>
                  <a:pt x="1231143" y="1"/>
                </a:moveTo>
                <a:lnTo>
                  <a:pt x="1150108" y="1"/>
                </a:lnTo>
                <a:lnTo>
                  <a:pt x="1143000" y="7108"/>
                </a:lnTo>
                <a:lnTo>
                  <a:pt x="1143000" y="24643"/>
                </a:lnTo>
                <a:lnTo>
                  <a:pt x="1150108" y="31751"/>
                </a:lnTo>
                <a:lnTo>
                  <a:pt x="1231143" y="31751"/>
                </a:lnTo>
                <a:lnTo>
                  <a:pt x="1238250" y="24643"/>
                </a:lnTo>
                <a:lnTo>
                  <a:pt x="1238250" y="7108"/>
                </a:lnTo>
                <a:lnTo>
                  <a:pt x="1231143" y="1"/>
                </a:lnTo>
                <a:close/>
              </a:path>
              <a:path w="1975484" h="32385">
                <a:moveTo>
                  <a:pt x="1358143" y="1"/>
                </a:moveTo>
                <a:lnTo>
                  <a:pt x="1277108" y="1"/>
                </a:lnTo>
                <a:lnTo>
                  <a:pt x="1270000" y="7108"/>
                </a:lnTo>
                <a:lnTo>
                  <a:pt x="1270000" y="24643"/>
                </a:lnTo>
                <a:lnTo>
                  <a:pt x="1277108" y="31751"/>
                </a:lnTo>
                <a:lnTo>
                  <a:pt x="1358143" y="31751"/>
                </a:lnTo>
                <a:lnTo>
                  <a:pt x="1365250" y="24643"/>
                </a:lnTo>
                <a:lnTo>
                  <a:pt x="1365250" y="7108"/>
                </a:lnTo>
                <a:lnTo>
                  <a:pt x="1358143" y="1"/>
                </a:lnTo>
                <a:close/>
              </a:path>
              <a:path w="1975484" h="32385">
                <a:moveTo>
                  <a:pt x="1485143" y="1"/>
                </a:moveTo>
                <a:lnTo>
                  <a:pt x="1404108" y="1"/>
                </a:lnTo>
                <a:lnTo>
                  <a:pt x="1397000" y="7108"/>
                </a:lnTo>
                <a:lnTo>
                  <a:pt x="1397000" y="24643"/>
                </a:lnTo>
                <a:lnTo>
                  <a:pt x="1404108" y="31751"/>
                </a:lnTo>
                <a:lnTo>
                  <a:pt x="1485143" y="31751"/>
                </a:lnTo>
                <a:lnTo>
                  <a:pt x="1492250" y="24643"/>
                </a:lnTo>
                <a:lnTo>
                  <a:pt x="1492250" y="7108"/>
                </a:lnTo>
                <a:lnTo>
                  <a:pt x="1485143" y="1"/>
                </a:lnTo>
                <a:close/>
              </a:path>
              <a:path w="1975484" h="32385">
                <a:moveTo>
                  <a:pt x="1612143" y="1"/>
                </a:moveTo>
                <a:lnTo>
                  <a:pt x="1531108" y="1"/>
                </a:lnTo>
                <a:lnTo>
                  <a:pt x="1524000" y="7108"/>
                </a:lnTo>
                <a:lnTo>
                  <a:pt x="1524000" y="24643"/>
                </a:lnTo>
                <a:lnTo>
                  <a:pt x="1531108" y="31751"/>
                </a:lnTo>
                <a:lnTo>
                  <a:pt x="1612143" y="31751"/>
                </a:lnTo>
                <a:lnTo>
                  <a:pt x="1619250" y="24643"/>
                </a:lnTo>
                <a:lnTo>
                  <a:pt x="1619250" y="7108"/>
                </a:lnTo>
                <a:lnTo>
                  <a:pt x="1612143" y="1"/>
                </a:lnTo>
                <a:close/>
              </a:path>
              <a:path w="1975484" h="32385">
                <a:moveTo>
                  <a:pt x="1739143" y="1"/>
                </a:moveTo>
                <a:lnTo>
                  <a:pt x="1658108" y="1"/>
                </a:lnTo>
                <a:lnTo>
                  <a:pt x="1651000" y="7108"/>
                </a:lnTo>
                <a:lnTo>
                  <a:pt x="1651000" y="24643"/>
                </a:lnTo>
                <a:lnTo>
                  <a:pt x="1658108" y="31751"/>
                </a:lnTo>
                <a:lnTo>
                  <a:pt x="1739143" y="31751"/>
                </a:lnTo>
                <a:lnTo>
                  <a:pt x="1746250" y="24643"/>
                </a:lnTo>
                <a:lnTo>
                  <a:pt x="1746250" y="7108"/>
                </a:lnTo>
                <a:lnTo>
                  <a:pt x="1739143" y="1"/>
                </a:lnTo>
                <a:close/>
              </a:path>
              <a:path w="1975484" h="32385">
                <a:moveTo>
                  <a:pt x="1866143" y="1"/>
                </a:moveTo>
                <a:lnTo>
                  <a:pt x="1785108" y="1"/>
                </a:lnTo>
                <a:lnTo>
                  <a:pt x="1778000" y="7108"/>
                </a:lnTo>
                <a:lnTo>
                  <a:pt x="1778000" y="24643"/>
                </a:lnTo>
                <a:lnTo>
                  <a:pt x="1785108" y="31751"/>
                </a:lnTo>
                <a:lnTo>
                  <a:pt x="1866143" y="31751"/>
                </a:lnTo>
                <a:lnTo>
                  <a:pt x="1873250" y="24643"/>
                </a:lnTo>
                <a:lnTo>
                  <a:pt x="1873250" y="7108"/>
                </a:lnTo>
                <a:lnTo>
                  <a:pt x="1866143" y="1"/>
                </a:lnTo>
                <a:close/>
              </a:path>
              <a:path w="1975484" h="32385">
                <a:moveTo>
                  <a:pt x="1967765" y="1"/>
                </a:moveTo>
                <a:lnTo>
                  <a:pt x="1912108" y="1"/>
                </a:lnTo>
                <a:lnTo>
                  <a:pt x="1905000" y="7108"/>
                </a:lnTo>
                <a:lnTo>
                  <a:pt x="1905000" y="24643"/>
                </a:lnTo>
                <a:lnTo>
                  <a:pt x="1912108" y="31751"/>
                </a:lnTo>
                <a:lnTo>
                  <a:pt x="1967765" y="31751"/>
                </a:lnTo>
                <a:lnTo>
                  <a:pt x="1974872" y="24643"/>
                </a:lnTo>
                <a:lnTo>
                  <a:pt x="1974872" y="7108"/>
                </a:lnTo>
                <a:lnTo>
                  <a:pt x="1967765" y="1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144022" y="3686499"/>
            <a:ext cx="730250" cy="32384"/>
          </a:xfrm>
          <a:custGeom>
            <a:avLst/>
            <a:gdLst/>
            <a:ahLst/>
            <a:cxnLst/>
            <a:rect l="l" t="t" r="r" b="b"/>
            <a:pathLst>
              <a:path w="730250" h="32385">
                <a:moveTo>
                  <a:pt x="88141" y="0"/>
                </a:moveTo>
                <a:lnTo>
                  <a:pt x="7106" y="0"/>
                </a:lnTo>
                <a:lnTo>
                  <a:pt x="0" y="7106"/>
                </a:lnTo>
                <a:lnTo>
                  <a:pt x="1" y="24643"/>
                </a:lnTo>
                <a:lnTo>
                  <a:pt x="7106" y="31750"/>
                </a:lnTo>
                <a:lnTo>
                  <a:pt x="88141" y="31750"/>
                </a:lnTo>
                <a:lnTo>
                  <a:pt x="95250" y="24643"/>
                </a:lnTo>
                <a:lnTo>
                  <a:pt x="95250" y="7106"/>
                </a:lnTo>
                <a:lnTo>
                  <a:pt x="88141" y="0"/>
                </a:lnTo>
                <a:close/>
              </a:path>
              <a:path w="730250" h="32385">
                <a:moveTo>
                  <a:pt x="215141" y="0"/>
                </a:moveTo>
                <a:lnTo>
                  <a:pt x="134106" y="0"/>
                </a:lnTo>
                <a:lnTo>
                  <a:pt x="127000" y="7106"/>
                </a:lnTo>
                <a:lnTo>
                  <a:pt x="127000" y="24643"/>
                </a:lnTo>
                <a:lnTo>
                  <a:pt x="134106" y="31750"/>
                </a:lnTo>
                <a:lnTo>
                  <a:pt x="215141" y="31750"/>
                </a:lnTo>
                <a:lnTo>
                  <a:pt x="222250" y="24643"/>
                </a:lnTo>
                <a:lnTo>
                  <a:pt x="222248" y="7106"/>
                </a:lnTo>
                <a:lnTo>
                  <a:pt x="215141" y="0"/>
                </a:lnTo>
                <a:close/>
              </a:path>
              <a:path w="730250" h="32385">
                <a:moveTo>
                  <a:pt x="342141" y="0"/>
                </a:moveTo>
                <a:lnTo>
                  <a:pt x="261106" y="0"/>
                </a:lnTo>
                <a:lnTo>
                  <a:pt x="254000" y="7108"/>
                </a:lnTo>
                <a:lnTo>
                  <a:pt x="254000" y="24643"/>
                </a:lnTo>
                <a:lnTo>
                  <a:pt x="261106" y="31750"/>
                </a:lnTo>
                <a:lnTo>
                  <a:pt x="342141" y="31750"/>
                </a:lnTo>
                <a:lnTo>
                  <a:pt x="349250" y="24643"/>
                </a:lnTo>
                <a:lnTo>
                  <a:pt x="349250" y="7108"/>
                </a:lnTo>
                <a:lnTo>
                  <a:pt x="342141" y="0"/>
                </a:lnTo>
                <a:close/>
              </a:path>
              <a:path w="730250" h="32385">
                <a:moveTo>
                  <a:pt x="469141" y="0"/>
                </a:moveTo>
                <a:lnTo>
                  <a:pt x="388106" y="0"/>
                </a:lnTo>
                <a:lnTo>
                  <a:pt x="381000" y="7108"/>
                </a:lnTo>
                <a:lnTo>
                  <a:pt x="381000" y="24643"/>
                </a:lnTo>
                <a:lnTo>
                  <a:pt x="388106" y="31750"/>
                </a:lnTo>
                <a:lnTo>
                  <a:pt x="469141" y="31750"/>
                </a:lnTo>
                <a:lnTo>
                  <a:pt x="476250" y="24643"/>
                </a:lnTo>
                <a:lnTo>
                  <a:pt x="476250" y="7108"/>
                </a:lnTo>
                <a:lnTo>
                  <a:pt x="469141" y="0"/>
                </a:lnTo>
                <a:close/>
              </a:path>
              <a:path w="730250" h="32385">
                <a:moveTo>
                  <a:pt x="523875" y="0"/>
                </a:moveTo>
                <a:lnTo>
                  <a:pt x="515105" y="1"/>
                </a:lnTo>
                <a:lnTo>
                  <a:pt x="508000" y="7108"/>
                </a:lnTo>
                <a:lnTo>
                  <a:pt x="508000" y="24643"/>
                </a:lnTo>
                <a:lnTo>
                  <a:pt x="515106" y="31750"/>
                </a:lnTo>
                <a:lnTo>
                  <a:pt x="596143" y="31750"/>
                </a:lnTo>
                <a:lnTo>
                  <a:pt x="603250" y="24643"/>
                </a:lnTo>
                <a:lnTo>
                  <a:pt x="603250" y="7108"/>
                </a:lnTo>
                <a:lnTo>
                  <a:pt x="596141" y="1"/>
                </a:lnTo>
                <a:lnTo>
                  <a:pt x="523875" y="0"/>
                </a:lnTo>
                <a:close/>
              </a:path>
              <a:path w="730250" h="32385">
                <a:moveTo>
                  <a:pt x="723141" y="1"/>
                </a:moveTo>
                <a:lnTo>
                  <a:pt x="642106" y="1"/>
                </a:lnTo>
                <a:lnTo>
                  <a:pt x="635000" y="7108"/>
                </a:lnTo>
                <a:lnTo>
                  <a:pt x="635000" y="24643"/>
                </a:lnTo>
                <a:lnTo>
                  <a:pt x="642106" y="31751"/>
                </a:lnTo>
                <a:lnTo>
                  <a:pt x="723141" y="31751"/>
                </a:lnTo>
                <a:lnTo>
                  <a:pt x="730250" y="24643"/>
                </a:lnTo>
                <a:lnTo>
                  <a:pt x="730250" y="7108"/>
                </a:lnTo>
                <a:lnTo>
                  <a:pt x="723141" y="1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101734" y="3231769"/>
            <a:ext cx="158750" cy="1570355"/>
          </a:xfrm>
          <a:custGeom>
            <a:avLst/>
            <a:gdLst/>
            <a:ahLst/>
            <a:cxnLst/>
            <a:rect l="l" t="t" r="r" b="b"/>
            <a:pathLst>
              <a:path w="158750" h="1570354">
                <a:moveTo>
                  <a:pt x="79729" y="95248"/>
                </a:moveTo>
                <a:lnTo>
                  <a:pt x="63783" y="107859"/>
                </a:lnTo>
                <a:lnTo>
                  <a:pt x="55655" y="1562547"/>
                </a:lnTo>
                <a:lnTo>
                  <a:pt x="62722" y="1569694"/>
                </a:lnTo>
                <a:lnTo>
                  <a:pt x="80257" y="1569792"/>
                </a:lnTo>
                <a:lnTo>
                  <a:pt x="87403" y="1562724"/>
                </a:lnTo>
                <a:lnTo>
                  <a:pt x="95532" y="108036"/>
                </a:lnTo>
                <a:lnTo>
                  <a:pt x="79729" y="95248"/>
                </a:lnTo>
                <a:close/>
              </a:path>
              <a:path w="158750" h="1570354">
                <a:moveTo>
                  <a:pt x="119372" y="79325"/>
                </a:moveTo>
                <a:lnTo>
                  <a:pt x="71050" y="79325"/>
                </a:lnTo>
                <a:lnTo>
                  <a:pt x="88585" y="79423"/>
                </a:lnTo>
                <a:lnTo>
                  <a:pt x="95476" y="86393"/>
                </a:lnTo>
                <a:lnTo>
                  <a:pt x="95532" y="108036"/>
                </a:lnTo>
                <a:lnTo>
                  <a:pt x="158748" y="159190"/>
                </a:lnTo>
                <a:lnTo>
                  <a:pt x="119372" y="79325"/>
                </a:lnTo>
                <a:close/>
              </a:path>
              <a:path w="158750" h="1570354">
                <a:moveTo>
                  <a:pt x="80261" y="0"/>
                </a:moveTo>
                <a:lnTo>
                  <a:pt x="0" y="158304"/>
                </a:lnTo>
                <a:lnTo>
                  <a:pt x="63783" y="107859"/>
                </a:lnTo>
                <a:lnTo>
                  <a:pt x="63903" y="86393"/>
                </a:lnTo>
                <a:lnTo>
                  <a:pt x="71050" y="79325"/>
                </a:lnTo>
                <a:lnTo>
                  <a:pt x="119372" y="79325"/>
                </a:lnTo>
                <a:lnTo>
                  <a:pt x="80261" y="0"/>
                </a:lnTo>
                <a:close/>
              </a:path>
              <a:path w="158750" h="1570354">
                <a:moveTo>
                  <a:pt x="95604" y="95248"/>
                </a:moveTo>
                <a:lnTo>
                  <a:pt x="79729" y="95248"/>
                </a:lnTo>
                <a:lnTo>
                  <a:pt x="95532" y="108036"/>
                </a:lnTo>
                <a:lnTo>
                  <a:pt x="95604" y="95248"/>
                </a:lnTo>
                <a:close/>
              </a:path>
              <a:path w="158750" h="1570354">
                <a:moveTo>
                  <a:pt x="71050" y="79325"/>
                </a:moveTo>
                <a:lnTo>
                  <a:pt x="63903" y="86393"/>
                </a:lnTo>
                <a:lnTo>
                  <a:pt x="63783" y="107859"/>
                </a:lnTo>
                <a:lnTo>
                  <a:pt x="79729" y="95248"/>
                </a:lnTo>
                <a:lnTo>
                  <a:pt x="95604" y="95248"/>
                </a:lnTo>
                <a:lnTo>
                  <a:pt x="95652" y="86570"/>
                </a:lnTo>
                <a:lnTo>
                  <a:pt x="88585" y="79423"/>
                </a:lnTo>
                <a:lnTo>
                  <a:pt x="71050" y="793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166120" y="4785637"/>
            <a:ext cx="1978025" cy="0"/>
          </a:xfrm>
          <a:custGeom>
            <a:avLst/>
            <a:gdLst/>
            <a:ahLst/>
            <a:cxnLst/>
            <a:rect l="l" t="t" r="r" b="b"/>
            <a:pathLst>
              <a:path w="1978025" h="0">
                <a:moveTo>
                  <a:pt x="0" y="0"/>
                </a:moveTo>
                <a:lnTo>
                  <a:pt x="1977878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950505" y="4762500"/>
            <a:ext cx="156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orbel"/>
                <a:cs typeface="Corbel"/>
              </a:rPr>
              <a:t>O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23736" y="4008704"/>
            <a:ext cx="0" cy="120650"/>
          </a:xfrm>
          <a:custGeom>
            <a:avLst/>
            <a:gdLst/>
            <a:ahLst/>
            <a:cxnLst/>
            <a:rect l="l" t="t" r="r" b="b"/>
            <a:pathLst>
              <a:path w="0" h="120650">
                <a:moveTo>
                  <a:pt x="0" y="0"/>
                </a:moveTo>
                <a:lnTo>
                  <a:pt x="0" y="120140"/>
                </a:lnTo>
              </a:path>
            </a:pathLst>
          </a:custGeom>
          <a:ln w="4052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900233" y="3638373"/>
            <a:ext cx="219710" cy="128270"/>
          </a:xfrm>
          <a:custGeom>
            <a:avLst/>
            <a:gdLst/>
            <a:ahLst/>
            <a:cxnLst/>
            <a:rect l="l" t="t" r="r" b="b"/>
            <a:pathLst>
              <a:path w="219709" h="128270">
                <a:moveTo>
                  <a:pt x="0" y="0"/>
                </a:moveTo>
                <a:lnTo>
                  <a:pt x="219506" y="0"/>
                </a:lnTo>
                <a:lnTo>
                  <a:pt x="219506" y="128000"/>
                </a:lnTo>
                <a:lnTo>
                  <a:pt x="0" y="128000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777689" y="3713100"/>
            <a:ext cx="936625" cy="502920"/>
          </a:xfrm>
          <a:custGeom>
            <a:avLst/>
            <a:gdLst/>
            <a:ahLst/>
            <a:cxnLst/>
            <a:rect l="l" t="t" r="r" b="b"/>
            <a:pathLst>
              <a:path w="936625" h="502920">
                <a:moveTo>
                  <a:pt x="98651" y="426177"/>
                </a:moveTo>
                <a:lnTo>
                  <a:pt x="8399" y="472481"/>
                </a:lnTo>
                <a:lnTo>
                  <a:pt x="0" y="487889"/>
                </a:lnTo>
                <a:lnTo>
                  <a:pt x="1785" y="493936"/>
                </a:lnTo>
                <a:lnTo>
                  <a:pt x="5775" y="498815"/>
                </a:lnTo>
                <a:lnTo>
                  <a:pt x="11141" y="501686"/>
                </a:lnTo>
                <a:lnTo>
                  <a:pt x="17193" y="502335"/>
                </a:lnTo>
                <a:lnTo>
                  <a:pt x="23239" y="500550"/>
                </a:lnTo>
                <a:lnTo>
                  <a:pt x="107444" y="456031"/>
                </a:lnTo>
                <a:lnTo>
                  <a:pt x="112324" y="452040"/>
                </a:lnTo>
                <a:lnTo>
                  <a:pt x="115195" y="446674"/>
                </a:lnTo>
                <a:lnTo>
                  <a:pt x="115844" y="440623"/>
                </a:lnTo>
                <a:lnTo>
                  <a:pt x="114059" y="434577"/>
                </a:lnTo>
                <a:lnTo>
                  <a:pt x="110068" y="429697"/>
                </a:lnTo>
                <a:lnTo>
                  <a:pt x="104702" y="426826"/>
                </a:lnTo>
                <a:lnTo>
                  <a:pt x="98651" y="426177"/>
                </a:lnTo>
                <a:close/>
              </a:path>
              <a:path w="936625" h="502920">
                <a:moveTo>
                  <a:pt x="295131" y="322299"/>
                </a:moveTo>
                <a:lnTo>
                  <a:pt x="204880" y="368603"/>
                </a:lnTo>
                <a:lnTo>
                  <a:pt x="196479" y="384011"/>
                </a:lnTo>
                <a:lnTo>
                  <a:pt x="198264" y="390057"/>
                </a:lnTo>
                <a:lnTo>
                  <a:pt x="202255" y="394937"/>
                </a:lnTo>
                <a:lnTo>
                  <a:pt x="207621" y="397808"/>
                </a:lnTo>
                <a:lnTo>
                  <a:pt x="213672" y="398457"/>
                </a:lnTo>
                <a:lnTo>
                  <a:pt x="219718" y="396673"/>
                </a:lnTo>
                <a:lnTo>
                  <a:pt x="303924" y="352153"/>
                </a:lnTo>
                <a:lnTo>
                  <a:pt x="308804" y="348162"/>
                </a:lnTo>
                <a:lnTo>
                  <a:pt x="311675" y="342796"/>
                </a:lnTo>
                <a:lnTo>
                  <a:pt x="312324" y="336745"/>
                </a:lnTo>
                <a:lnTo>
                  <a:pt x="310540" y="330699"/>
                </a:lnTo>
                <a:lnTo>
                  <a:pt x="306549" y="325819"/>
                </a:lnTo>
                <a:lnTo>
                  <a:pt x="301182" y="322948"/>
                </a:lnTo>
                <a:lnTo>
                  <a:pt x="295131" y="322299"/>
                </a:lnTo>
                <a:close/>
              </a:path>
              <a:path w="936625" h="502920">
                <a:moveTo>
                  <a:pt x="491612" y="218422"/>
                </a:moveTo>
                <a:lnTo>
                  <a:pt x="401360" y="264726"/>
                </a:lnTo>
                <a:lnTo>
                  <a:pt x="392960" y="280134"/>
                </a:lnTo>
                <a:lnTo>
                  <a:pt x="394745" y="286180"/>
                </a:lnTo>
                <a:lnTo>
                  <a:pt x="398736" y="291060"/>
                </a:lnTo>
                <a:lnTo>
                  <a:pt x="404102" y="293931"/>
                </a:lnTo>
                <a:lnTo>
                  <a:pt x="410153" y="294580"/>
                </a:lnTo>
                <a:lnTo>
                  <a:pt x="416199" y="292794"/>
                </a:lnTo>
                <a:lnTo>
                  <a:pt x="500405" y="248276"/>
                </a:lnTo>
                <a:lnTo>
                  <a:pt x="505284" y="244284"/>
                </a:lnTo>
                <a:lnTo>
                  <a:pt x="508155" y="238918"/>
                </a:lnTo>
                <a:lnTo>
                  <a:pt x="508805" y="232867"/>
                </a:lnTo>
                <a:lnTo>
                  <a:pt x="507020" y="226822"/>
                </a:lnTo>
                <a:lnTo>
                  <a:pt x="503029" y="221942"/>
                </a:lnTo>
                <a:lnTo>
                  <a:pt x="497663" y="219071"/>
                </a:lnTo>
                <a:lnTo>
                  <a:pt x="491612" y="218422"/>
                </a:lnTo>
                <a:close/>
              </a:path>
              <a:path w="936625" h="502920">
                <a:moveTo>
                  <a:pt x="688092" y="114544"/>
                </a:moveTo>
                <a:lnTo>
                  <a:pt x="597840" y="160849"/>
                </a:lnTo>
                <a:lnTo>
                  <a:pt x="589440" y="176257"/>
                </a:lnTo>
                <a:lnTo>
                  <a:pt x="591225" y="182303"/>
                </a:lnTo>
                <a:lnTo>
                  <a:pt x="595216" y="187183"/>
                </a:lnTo>
                <a:lnTo>
                  <a:pt x="600582" y="190053"/>
                </a:lnTo>
                <a:lnTo>
                  <a:pt x="606633" y="190703"/>
                </a:lnTo>
                <a:lnTo>
                  <a:pt x="612679" y="188917"/>
                </a:lnTo>
                <a:lnTo>
                  <a:pt x="696885" y="144399"/>
                </a:lnTo>
                <a:lnTo>
                  <a:pt x="701765" y="140407"/>
                </a:lnTo>
                <a:lnTo>
                  <a:pt x="704636" y="135041"/>
                </a:lnTo>
                <a:lnTo>
                  <a:pt x="705285" y="128990"/>
                </a:lnTo>
                <a:lnTo>
                  <a:pt x="703499" y="122944"/>
                </a:lnTo>
                <a:lnTo>
                  <a:pt x="699509" y="118065"/>
                </a:lnTo>
                <a:lnTo>
                  <a:pt x="694143" y="115194"/>
                </a:lnTo>
                <a:lnTo>
                  <a:pt x="688092" y="114544"/>
                </a:lnTo>
                <a:close/>
              </a:path>
              <a:path w="936625" h="502920">
                <a:moveTo>
                  <a:pt x="884306" y="50958"/>
                </a:moveTo>
                <a:lnTo>
                  <a:pt x="808363" y="50958"/>
                </a:lnTo>
                <a:lnTo>
                  <a:pt x="814414" y="51607"/>
                </a:lnTo>
                <a:lnTo>
                  <a:pt x="819780" y="54478"/>
                </a:lnTo>
                <a:lnTo>
                  <a:pt x="823771" y="59358"/>
                </a:lnTo>
                <a:lnTo>
                  <a:pt x="825556" y="65404"/>
                </a:lnTo>
                <a:lnTo>
                  <a:pt x="824907" y="71455"/>
                </a:lnTo>
                <a:lnTo>
                  <a:pt x="822036" y="76821"/>
                </a:lnTo>
                <a:lnTo>
                  <a:pt x="817157" y="80812"/>
                </a:lnTo>
                <a:lnTo>
                  <a:pt x="809160" y="85040"/>
                </a:lnTo>
                <a:lnTo>
                  <a:pt x="803114" y="86825"/>
                </a:lnTo>
                <a:lnTo>
                  <a:pt x="802379" y="86825"/>
                </a:lnTo>
                <a:lnTo>
                  <a:pt x="817962" y="116300"/>
                </a:lnTo>
                <a:lnTo>
                  <a:pt x="847889" y="86825"/>
                </a:lnTo>
                <a:lnTo>
                  <a:pt x="803114" y="86825"/>
                </a:lnTo>
                <a:lnTo>
                  <a:pt x="802335" y="86741"/>
                </a:lnTo>
                <a:lnTo>
                  <a:pt x="847974" y="86741"/>
                </a:lnTo>
                <a:lnTo>
                  <a:pt x="884306" y="50958"/>
                </a:lnTo>
                <a:close/>
              </a:path>
              <a:path w="936625" h="502920">
                <a:moveTo>
                  <a:pt x="808363" y="50958"/>
                </a:moveTo>
                <a:lnTo>
                  <a:pt x="802317" y="52743"/>
                </a:lnTo>
                <a:lnTo>
                  <a:pt x="794321" y="56972"/>
                </a:lnTo>
                <a:lnTo>
                  <a:pt x="789441" y="60962"/>
                </a:lnTo>
                <a:lnTo>
                  <a:pt x="789071" y="61654"/>
                </a:lnTo>
                <a:lnTo>
                  <a:pt x="802335" y="86741"/>
                </a:lnTo>
                <a:lnTo>
                  <a:pt x="803114" y="86825"/>
                </a:lnTo>
                <a:lnTo>
                  <a:pt x="809160" y="85040"/>
                </a:lnTo>
                <a:lnTo>
                  <a:pt x="817157" y="80812"/>
                </a:lnTo>
                <a:lnTo>
                  <a:pt x="822036" y="76821"/>
                </a:lnTo>
                <a:lnTo>
                  <a:pt x="824907" y="71455"/>
                </a:lnTo>
                <a:lnTo>
                  <a:pt x="825556" y="65404"/>
                </a:lnTo>
                <a:lnTo>
                  <a:pt x="823771" y="59358"/>
                </a:lnTo>
                <a:lnTo>
                  <a:pt x="819780" y="54478"/>
                </a:lnTo>
                <a:lnTo>
                  <a:pt x="814414" y="51607"/>
                </a:lnTo>
                <a:lnTo>
                  <a:pt x="808363" y="50958"/>
                </a:lnTo>
                <a:close/>
              </a:path>
              <a:path w="936625" h="502920">
                <a:moveTo>
                  <a:pt x="789071" y="61654"/>
                </a:moveTo>
                <a:lnTo>
                  <a:pt x="786570" y="66328"/>
                </a:lnTo>
                <a:lnTo>
                  <a:pt x="785921" y="72379"/>
                </a:lnTo>
                <a:lnTo>
                  <a:pt x="787705" y="78426"/>
                </a:lnTo>
                <a:lnTo>
                  <a:pt x="791697" y="83305"/>
                </a:lnTo>
                <a:lnTo>
                  <a:pt x="797063" y="86176"/>
                </a:lnTo>
                <a:lnTo>
                  <a:pt x="802335" y="86741"/>
                </a:lnTo>
                <a:lnTo>
                  <a:pt x="789071" y="61654"/>
                </a:lnTo>
                <a:close/>
              </a:path>
              <a:path w="936625" h="502920">
                <a:moveTo>
                  <a:pt x="936045" y="0"/>
                </a:moveTo>
                <a:lnTo>
                  <a:pt x="773443" y="32095"/>
                </a:lnTo>
                <a:lnTo>
                  <a:pt x="789071" y="61654"/>
                </a:lnTo>
                <a:lnTo>
                  <a:pt x="789441" y="60962"/>
                </a:lnTo>
                <a:lnTo>
                  <a:pt x="794321" y="56972"/>
                </a:lnTo>
                <a:lnTo>
                  <a:pt x="802317" y="52743"/>
                </a:lnTo>
                <a:lnTo>
                  <a:pt x="808363" y="50958"/>
                </a:lnTo>
                <a:lnTo>
                  <a:pt x="884306" y="50958"/>
                </a:lnTo>
                <a:lnTo>
                  <a:pt x="9360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766296" y="3561807"/>
            <a:ext cx="133350" cy="208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10"/>
              </a:lnSpc>
            </a:pPr>
            <a:r>
              <a:rPr dirty="0" sz="1400">
                <a:latin typeface="Cambria Math"/>
                <a:cs typeface="Cambria Math"/>
              </a:rPr>
              <a:t>=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29809" y="3540252"/>
            <a:ext cx="21717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Cambria Math"/>
                <a:cs typeface="Cambria Math"/>
              </a:rPr>
              <a:t>𝐶𝑆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688849" y="3606435"/>
            <a:ext cx="188595" cy="109855"/>
          </a:xfrm>
          <a:custGeom>
            <a:avLst/>
            <a:gdLst/>
            <a:ahLst/>
            <a:cxnLst/>
            <a:rect l="l" t="t" r="r" b="b"/>
            <a:pathLst>
              <a:path w="188595" h="109854">
                <a:moveTo>
                  <a:pt x="0" y="0"/>
                </a:moveTo>
                <a:lnTo>
                  <a:pt x="188003" y="0"/>
                </a:lnTo>
                <a:lnTo>
                  <a:pt x="188003" y="109630"/>
                </a:lnTo>
                <a:lnTo>
                  <a:pt x="0" y="109630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634516" y="4128844"/>
            <a:ext cx="219710" cy="128270"/>
          </a:xfrm>
          <a:custGeom>
            <a:avLst/>
            <a:gdLst/>
            <a:ahLst/>
            <a:cxnLst/>
            <a:rect l="l" t="t" r="r" b="b"/>
            <a:pathLst>
              <a:path w="219709" h="128270">
                <a:moveTo>
                  <a:pt x="0" y="0"/>
                </a:moveTo>
                <a:lnTo>
                  <a:pt x="219506" y="0"/>
                </a:lnTo>
                <a:lnTo>
                  <a:pt x="219506" y="127999"/>
                </a:lnTo>
                <a:lnTo>
                  <a:pt x="0" y="127999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483917" y="2351023"/>
            <a:ext cx="262953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 b="1">
                <a:solidFill>
                  <a:srgbClr val="C00000"/>
                </a:solidFill>
                <a:latin typeface="Arial"/>
                <a:cs typeface="Arial"/>
              </a:rPr>
              <a:t>Decompose</a:t>
            </a:r>
            <a:r>
              <a:rPr dirty="0" sz="1500" spc="-5">
                <a:latin typeface="Arial"/>
                <a:cs typeface="Arial"/>
              </a:rPr>
              <a:t>:</a:t>
            </a:r>
            <a:r>
              <a:rPr dirty="0" sz="1500" spc="-7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overlapping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500" i="1">
                <a:latin typeface="Arial"/>
                <a:cs typeface="Arial"/>
              </a:rPr>
              <a:t>node-anchored</a:t>
            </a:r>
            <a:r>
              <a:rPr dirty="0" sz="1500" spc="-105" i="1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neighborhoods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12075" y="4301799"/>
            <a:ext cx="1064260" cy="570865"/>
          </a:xfrm>
          <a:custGeom>
            <a:avLst/>
            <a:gdLst/>
            <a:ahLst/>
            <a:cxnLst/>
            <a:rect l="l" t="t" r="r" b="b"/>
            <a:pathLst>
              <a:path w="1064260" h="570864">
                <a:moveTo>
                  <a:pt x="1002874" y="0"/>
                </a:moveTo>
                <a:lnTo>
                  <a:pt x="61314" y="0"/>
                </a:lnTo>
                <a:lnTo>
                  <a:pt x="37447" y="4818"/>
                </a:lnTo>
                <a:lnTo>
                  <a:pt x="17958" y="17958"/>
                </a:lnTo>
                <a:lnTo>
                  <a:pt x="4818" y="37447"/>
                </a:lnTo>
                <a:lnTo>
                  <a:pt x="0" y="61314"/>
                </a:lnTo>
                <a:lnTo>
                  <a:pt x="0" y="509426"/>
                </a:lnTo>
                <a:lnTo>
                  <a:pt x="4818" y="533292"/>
                </a:lnTo>
                <a:lnTo>
                  <a:pt x="17958" y="552781"/>
                </a:lnTo>
                <a:lnTo>
                  <a:pt x="37447" y="565922"/>
                </a:lnTo>
                <a:lnTo>
                  <a:pt x="61314" y="570740"/>
                </a:lnTo>
                <a:lnTo>
                  <a:pt x="1002874" y="570740"/>
                </a:lnTo>
                <a:lnTo>
                  <a:pt x="1026740" y="565922"/>
                </a:lnTo>
                <a:lnTo>
                  <a:pt x="1046229" y="552781"/>
                </a:lnTo>
                <a:lnTo>
                  <a:pt x="1059370" y="533292"/>
                </a:lnTo>
                <a:lnTo>
                  <a:pt x="1064188" y="509426"/>
                </a:lnTo>
                <a:lnTo>
                  <a:pt x="1064188" y="61314"/>
                </a:lnTo>
                <a:lnTo>
                  <a:pt x="1059370" y="37447"/>
                </a:lnTo>
                <a:lnTo>
                  <a:pt x="1046229" y="17958"/>
                </a:lnTo>
                <a:lnTo>
                  <a:pt x="1026740" y="4818"/>
                </a:lnTo>
                <a:lnTo>
                  <a:pt x="1002874" y="0"/>
                </a:lnTo>
                <a:close/>
              </a:path>
            </a:pathLst>
          </a:custGeom>
          <a:solidFill>
            <a:srgbClr val="F4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316422" y="3384629"/>
            <a:ext cx="1064260" cy="856615"/>
          </a:xfrm>
          <a:custGeom>
            <a:avLst/>
            <a:gdLst/>
            <a:ahLst/>
            <a:cxnLst/>
            <a:rect l="l" t="t" r="r" b="b"/>
            <a:pathLst>
              <a:path w="1064260" h="856614">
                <a:moveTo>
                  <a:pt x="1003183" y="0"/>
                </a:moveTo>
                <a:lnTo>
                  <a:pt x="61004" y="0"/>
                </a:lnTo>
                <a:lnTo>
                  <a:pt x="37258" y="4794"/>
                </a:lnTo>
                <a:lnTo>
                  <a:pt x="17867" y="17867"/>
                </a:lnTo>
                <a:lnTo>
                  <a:pt x="4794" y="37258"/>
                </a:lnTo>
                <a:lnTo>
                  <a:pt x="0" y="61004"/>
                </a:lnTo>
                <a:lnTo>
                  <a:pt x="0" y="795079"/>
                </a:lnTo>
                <a:lnTo>
                  <a:pt x="4794" y="818825"/>
                </a:lnTo>
                <a:lnTo>
                  <a:pt x="17867" y="838216"/>
                </a:lnTo>
                <a:lnTo>
                  <a:pt x="37258" y="851291"/>
                </a:lnTo>
                <a:lnTo>
                  <a:pt x="61004" y="856085"/>
                </a:lnTo>
                <a:lnTo>
                  <a:pt x="1003183" y="856085"/>
                </a:lnTo>
                <a:lnTo>
                  <a:pt x="1026928" y="851291"/>
                </a:lnTo>
                <a:lnTo>
                  <a:pt x="1046319" y="838216"/>
                </a:lnTo>
                <a:lnTo>
                  <a:pt x="1059393" y="818825"/>
                </a:lnTo>
                <a:lnTo>
                  <a:pt x="1064187" y="795079"/>
                </a:lnTo>
                <a:lnTo>
                  <a:pt x="1064187" y="61004"/>
                </a:lnTo>
                <a:lnTo>
                  <a:pt x="1059393" y="37258"/>
                </a:lnTo>
                <a:lnTo>
                  <a:pt x="1046319" y="17867"/>
                </a:lnTo>
                <a:lnTo>
                  <a:pt x="1026928" y="4794"/>
                </a:lnTo>
                <a:lnTo>
                  <a:pt x="1003183" y="0"/>
                </a:lnTo>
                <a:close/>
              </a:path>
            </a:pathLst>
          </a:custGeom>
          <a:solidFill>
            <a:srgbClr val="F4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319102" y="2977492"/>
            <a:ext cx="1064260" cy="341630"/>
          </a:xfrm>
          <a:custGeom>
            <a:avLst/>
            <a:gdLst/>
            <a:ahLst/>
            <a:cxnLst/>
            <a:rect l="l" t="t" r="r" b="b"/>
            <a:pathLst>
              <a:path w="1064260" h="341629">
                <a:moveTo>
                  <a:pt x="1007327" y="0"/>
                </a:moveTo>
                <a:lnTo>
                  <a:pt x="56859" y="0"/>
                </a:lnTo>
                <a:lnTo>
                  <a:pt x="34727" y="4468"/>
                </a:lnTo>
                <a:lnTo>
                  <a:pt x="16653" y="16653"/>
                </a:lnTo>
                <a:lnTo>
                  <a:pt x="4468" y="34727"/>
                </a:lnTo>
                <a:lnTo>
                  <a:pt x="0" y="56860"/>
                </a:lnTo>
                <a:lnTo>
                  <a:pt x="0" y="284298"/>
                </a:lnTo>
                <a:lnTo>
                  <a:pt x="4468" y="306431"/>
                </a:lnTo>
                <a:lnTo>
                  <a:pt x="16653" y="324504"/>
                </a:lnTo>
                <a:lnTo>
                  <a:pt x="34727" y="336690"/>
                </a:lnTo>
                <a:lnTo>
                  <a:pt x="56859" y="341158"/>
                </a:lnTo>
                <a:lnTo>
                  <a:pt x="1007327" y="341158"/>
                </a:lnTo>
                <a:lnTo>
                  <a:pt x="1029459" y="336690"/>
                </a:lnTo>
                <a:lnTo>
                  <a:pt x="1047533" y="324504"/>
                </a:lnTo>
                <a:lnTo>
                  <a:pt x="1059719" y="306431"/>
                </a:lnTo>
                <a:lnTo>
                  <a:pt x="1064187" y="284298"/>
                </a:lnTo>
                <a:lnTo>
                  <a:pt x="1064187" y="56860"/>
                </a:lnTo>
                <a:lnTo>
                  <a:pt x="1059719" y="34727"/>
                </a:lnTo>
                <a:lnTo>
                  <a:pt x="1047533" y="16653"/>
                </a:lnTo>
                <a:lnTo>
                  <a:pt x="1029459" y="4468"/>
                </a:lnTo>
                <a:lnTo>
                  <a:pt x="1007327" y="0"/>
                </a:lnTo>
                <a:close/>
              </a:path>
            </a:pathLst>
          </a:custGeom>
          <a:solidFill>
            <a:srgbClr val="F4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566765" y="3127115"/>
            <a:ext cx="215900" cy="31750"/>
          </a:xfrm>
          <a:custGeom>
            <a:avLst/>
            <a:gdLst/>
            <a:ahLst/>
            <a:cxnLst/>
            <a:rect l="l" t="t" r="r" b="b"/>
            <a:pathLst>
              <a:path w="215900" h="31750">
                <a:moveTo>
                  <a:pt x="0" y="31751"/>
                </a:moveTo>
                <a:lnTo>
                  <a:pt x="215726" y="31751"/>
                </a:lnTo>
                <a:lnTo>
                  <a:pt x="215726" y="0"/>
                </a:lnTo>
                <a:lnTo>
                  <a:pt x="0" y="0"/>
                </a:lnTo>
                <a:lnTo>
                  <a:pt x="0" y="31751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37013" y="3142099"/>
            <a:ext cx="215900" cy="0"/>
          </a:xfrm>
          <a:custGeom>
            <a:avLst/>
            <a:gdLst/>
            <a:ahLst/>
            <a:cxnLst/>
            <a:rect l="l" t="t" r="r" b="b"/>
            <a:pathLst>
              <a:path w="215900" h="0">
                <a:moveTo>
                  <a:pt x="0" y="0"/>
                </a:moveTo>
                <a:lnTo>
                  <a:pt x="215722" y="0"/>
                </a:lnTo>
              </a:path>
            </a:pathLst>
          </a:custGeom>
          <a:ln w="33531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566767" y="3125333"/>
            <a:ext cx="215900" cy="33655"/>
          </a:xfrm>
          <a:custGeom>
            <a:avLst/>
            <a:gdLst/>
            <a:ahLst/>
            <a:cxnLst/>
            <a:rect l="l" t="t" r="r" b="b"/>
            <a:pathLst>
              <a:path w="215900" h="33655">
                <a:moveTo>
                  <a:pt x="0" y="33531"/>
                </a:moveTo>
                <a:lnTo>
                  <a:pt x="215723" y="33531"/>
                </a:lnTo>
                <a:lnTo>
                  <a:pt x="215723" y="0"/>
                </a:lnTo>
                <a:lnTo>
                  <a:pt x="0" y="0"/>
                </a:lnTo>
                <a:lnTo>
                  <a:pt x="0" y="33531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152735" y="3063947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39" h="154939">
                <a:moveTo>
                  <a:pt x="0" y="0"/>
                </a:moveTo>
                <a:lnTo>
                  <a:pt x="154522" y="0"/>
                </a:lnTo>
                <a:lnTo>
                  <a:pt x="154522" y="154522"/>
                </a:lnTo>
                <a:lnTo>
                  <a:pt x="0" y="154522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569216" y="3529177"/>
            <a:ext cx="245745" cy="296545"/>
          </a:xfrm>
          <a:custGeom>
            <a:avLst/>
            <a:gdLst/>
            <a:ahLst/>
            <a:cxnLst/>
            <a:rect l="l" t="t" r="r" b="b"/>
            <a:pathLst>
              <a:path w="245744" h="296545">
                <a:moveTo>
                  <a:pt x="0" y="296516"/>
                </a:moveTo>
                <a:lnTo>
                  <a:pt x="245206" y="0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852779" y="3800287"/>
            <a:ext cx="384810" cy="328295"/>
          </a:xfrm>
          <a:custGeom>
            <a:avLst/>
            <a:gdLst/>
            <a:ahLst/>
            <a:cxnLst/>
            <a:rect l="l" t="t" r="r" b="b"/>
            <a:pathLst>
              <a:path w="384810" h="328295">
                <a:moveTo>
                  <a:pt x="0" y="0"/>
                </a:moveTo>
                <a:lnTo>
                  <a:pt x="384314" y="327992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149828" y="4032470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39" h="154939">
                <a:moveTo>
                  <a:pt x="0" y="0"/>
                </a:moveTo>
                <a:lnTo>
                  <a:pt x="154522" y="0"/>
                </a:lnTo>
                <a:lnTo>
                  <a:pt x="154522" y="154522"/>
                </a:lnTo>
                <a:lnTo>
                  <a:pt x="0" y="154522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570095" y="4462523"/>
            <a:ext cx="215900" cy="267335"/>
          </a:xfrm>
          <a:custGeom>
            <a:avLst/>
            <a:gdLst/>
            <a:ahLst/>
            <a:cxnLst/>
            <a:rect l="l" t="t" r="r" b="b"/>
            <a:pathLst>
              <a:path w="215900" h="267335">
                <a:moveTo>
                  <a:pt x="0" y="267320"/>
                </a:moveTo>
                <a:lnTo>
                  <a:pt x="215537" y="0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940153" y="4462523"/>
            <a:ext cx="210185" cy="261620"/>
          </a:xfrm>
          <a:custGeom>
            <a:avLst/>
            <a:gdLst/>
            <a:ahLst/>
            <a:cxnLst/>
            <a:rect l="l" t="t" r="r" b="b"/>
            <a:pathLst>
              <a:path w="210185" h="261620">
                <a:moveTo>
                  <a:pt x="209675" y="261146"/>
                </a:moveTo>
                <a:lnTo>
                  <a:pt x="0" y="0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785631" y="4385261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39" h="154939">
                <a:moveTo>
                  <a:pt x="0" y="0"/>
                </a:moveTo>
                <a:lnTo>
                  <a:pt x="154522" y="0"/>
                </a:lnTo>
                <a:lnTo>
                  <a:pt x="154522" y="154522"/>
                </a:lnTo>
                <a:lnTo>
                  <a:pt x="0" y="154522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412245" y="3065729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39" h="154939">
                <a:moveTo>
                  <a:pt x="0" y="0"/>
                </a:moveTo>
                <a:lnTo>
                  <a:pt x="154522" y="0"/>
                </a:lnTo>
                <a:lnTo>
                  <a:pt x="154522" y="154522"/>
                </a:lnTo>
                <a:lnTo>
                  <a:pt x="0" y="154522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782491" y="3065477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39" h="154939">
                <a:moveTo>
                  <a:pt x="0" y="0"/>
                </a:moveTo>
                <a:lnTo>
                  <a:pt x="154522" y="0"/>
                </a:lnTo>
                <a:lnTo>
                  <a:pt x="154522" y="154522"/>
                </a:lnTo>
                <a:lnTo>
                  <a:pt x="0" y="154522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936057" y="3521069"/>
            <a:ext cx="217170" cy="0"/>
          </a:xfrm>
          <a:custGeom>
            <a:avLst/>
            <a:gdLst/>
            <a:ahLst/>
            <a:cxnLst/>
            <a:rect l="l" t="t" r="r" b="b"/>
            <a:pathLst>
              <a:path w="217169" h="0">
                <a:moveTo>
                  <a:pt x="0" y="0"/>
                </a:moveTo>
                <a:lnTo>
                  <a:pt x="216677" y="0"/>
                </a:lnTo>
              </a:path>
            </a:pathLst>
          </a:custGeom>
          <a:ln w="34007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781534" y="3444935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39" h="154939">
                <a:moveTo>
                  <a:pt x="0" y="0"/>
                </a:moveTo>
                <a:lnTo>
                  <a:pt x="154522" y="0"/>
                </a:lnTo>
                <a:lnTo>
                  <a:pt x="154522" y="154522"/>
                </a:lnTo>
                <a:lnTo>
                  <a:pt x="0" y="154522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152734" y="3442680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39" h="154939">
                <a:moveTo>
                  <a:pt x="0" y="0"/>
                </a:moveTo>
                <a:lnTo>
                  <a:pt x="154522" y="0"/>
                </a:lnTo>
                <a:lnTo>
                  <a:pt x="154522" y="154520"/>
                </a:lnTo>
                <a:lnTo>
                  <a:pt x="0" y="154520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2774340" y="4751832"/>
            <a:ext cx="24511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5">
                <a:latin typeface="Corbel"/>
                <a:cs typeface="Corbel"/>
              </a:rPr>
              <a:t>….</a:t>
            </a:r>
            <a:endParaRPr sz="1700">
              <a:latin typeface="Corbel"/>
              <a:cs typeface="Corbe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91416" y="3576688"/>
            <a:ext cx="1064260" cy="1113790"/>
          </a:xfrm>
          <a:custGeom>
            <a:avLst/>
            <a:gdLst/>
            <a:ahLst/>
            <a:cxnLst/>
            <a:rect l="l" t="t" r="r" b="b"/>
            <a:pathLst>
              <a:path w="1064260" h="1113789">
                <a:moveTo>
                  <a:pt x="988353" y="0"/>
                </a:moveTo>
                <a:lnTo>
                  <a:pt x="75834" y="0"/>
                </a:lnTo>
                <a:lnTo>
                  <a:pt x="46316" y="5959"/>
                </a:lnTo>
                <a:lnTo>
                  <a:pt x="22211" y="22211"/>
                </a:lnTo>
                <a:lnTo>
                  <a:pt x="5959" y="46316"/>
                </a:lnTo>
                <a:lnTo>
                  <a:pt x="0" y="75834"/>
                </a:lnTo>
                <a:lnTo>
                  <a:pt x="0" y="1037480"/>
                </a:lnTo>
                <a:lnTo>
                  <a:pt x="5959" y="1066998"/>
                </a:lnTo>
                <a:lnTo>
                  <a:pt x="22211" y="1091103"/>
                </a:lnTo>
                <a:lnTo>
                  <a:pt x="46316" y="1107355"/>
                </a:lnTo>
                <a:lnTo>
                  <a:pt x="75834" y="1113315"/>
                </a:lnTo>
                <a:lnTo>
                  <a:pt x="988353" y="1113315"/>
                </a:lnTo>
                <a:lnTo>
                  <a:pt x="1017871" y="1107355"/>
                </a:lnTo>
                <a:lnTo>
                  <a:pt x="1041976" y="1091103"/>
                </a:lnTo>
                <a:lnTo>
                  <a:pt x="1058228" y="1066998"/>
                </a:lnTo>
                <a:lnTo>
                  <a:pt x="1064188" y="1037480"/>
                </a:lnTo>
                <a:lnTo>
                  <a:pt x="1064188" y="75834"/>
                </a:lnTo>
                <a:lnTo>
                  <a:pt x="1058228" y="46316"/>
                </a:lnTo>
                <a:lnTo>
                  <a:pt x="1041976" y="22211"/>
                </a:lnTo>
                <a:lnTo>
                  <a:pt x="1017871" y="5959"/>
                </a:lnTo>
                <a:lnTo>
                  <a:pt x="988353" y="0"/>
                </a:lnTo>
                <a:close/>
              </a:path>
            </a:pathLst>
          </a:custGeom>
          <a:solidFill>
            <a:srgbClr val="FAE7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960914" y="3819931"/>
            <a:ext cx="330200" cy="307975"/>
          </a:xfrm>
          <a:custGeom>
            <a:avLst/>
            <a:gdLst/>
            <a:ahLst/>
            <a:cxnLst/>
            <a:rect l="l" t="t" r="r" b="b"/>
            <a:pathLst>
              <a:path w="330200" h="307975">
                <a:moveTo>
                  <a:pt x="0" y="0"/>
                </a:moveTo>
                <a:lnTo>
                  <a:pt x="330200" y="307975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12512" y="3818580"/>
            <a:ext cx="164465" cy="0"/>
          </a:xfrm>
          <a:custGeom>
            <a:avLst/>
            <a:gdLst/>
            <a:ahLst/>
            <a:cxnLst/>
            <a:rect l="l" t="t" r="r" b="b"/>
            <a:pathLst>
              <a:path w="164465" h="0">
                <a:moveTo>
                  <a:pt x="0" y="0"/>
                </a:moveTo>
                <a:lnTo>
                  <a:pt x="164251" y="1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35250" y="4192187"/>
            <a:ext cx="635" cy="164465"/>
          </a:xfrm>
          <a:custGeom>
            <a:avLst/>
            <a:gdLst/>
            <a:ahLst/>
            <a:cxnLst/>
            <a:rect l="l" t="t" r="r" b="b"/>
            <a:pathLst>
              <a:path w="634" h="164464">
                <a:moveTo>
                  <a:pt x="0" y="164432"/>
                </a:moveTo>
                <a:lnTo>
                  <a:pt x="2" y="0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954024" y="4198427"/>
            <a:ext cx="0" cy="159385"/>
          </a:xfrm>
          <a:custGeom>
            <a:avLst/>
            <a:gdLst/>
            <a:ahLst/>
            <a:cxnLst/>
            <a:rect l="l" t="t" r="r" b="b"/>
            <a:pathLst>
              <a:path w="0" h="159385">
                <a:moveTo>
                  <a:pt x="1" y="0"/>
                </a:moveTo>
                <a:lnTo>
                  <a:pt x="0" y="159267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968853" y="4118381"/>
            <a:ext cx="307975" cy="316865"/>
          </a:xfrm>
          <a:custGeom>
            <a:avLst/>
            <a:gdLst/>
            <a:ahLst/>
            <a:cxnLst/>
            <a:rect l="l" t="t" r="r" b="b"/>
            <a:pathLst>
              <a:path w="307975" h="316864">
                <a:moveTo>
                  <a:pt x="0" y="316573"/>
                </a:moveTo>
                <a:lnTo>
                  <a:pt x="307974" y="0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14061" y="4043905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40" h="154939">
                <a:moveTo>
                  <a:pt x="0" y="0"/>
                </a:moveTo>
                <a:lnTo>
                  <a:pt x="154521" y="0"/>
                </a:lnTo>
                <a:lnTo>
                  <a:pt x="154521" y="154522"/>
                </a:lnTo>
                <a:lnTo>
                  <a:pt x="0" y="154522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35250" y="3895841"/>
            <a:ext cx="0" cy="142240"/>
          </a:xfrm>
          <a:custGeom>
            <a:avLst/>
            <a:gdLst/>
            <a:ahLst/>
            <a:cxnLst/>
            <a:rect l="l" t="t" r="r" b="b"/>
            <a:pathLst>
              <a:path w="0" h="142239">
                <a:moveTo>
                  <a:pt x="1" y="141825"/>
                </a:moveTo>
                <a:lnTo>
                  <a:pt x="0" y="0"/>
                </a:lnTo>
              </a:path>
            </a:pathLst>
          </a:custGeom>
          <a:ln w="3175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76763" y="4357693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40" h="154939">
                <a:moveTo>
                  <a:pt x="0" y="0"/>
                </a:moveTo>
                <a:lnTo>
                  <a:pt x="154521" y="0"/>
                </a:lnTo>
                <a:lnTo>
                  <a:pt x="154521" y="154522"/>
                </a:lnTo>
                <a:lnTo>
                  <a:pt x="0" y="154522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954023" y="3895840"/>
            <a:ext cx="0" cy="148590"/>
          </a:xfrm>
          <a:custGeom>
            <a:avLst/>
            <a:gdLst/>
            <a:ahLst/>
            <a:cxnLst/>
            <a:rect l="l" t="t" r="r" b="b"/>
            <a:pathLst>
              <a:path w="0" h="148589">
                <a:moveTo>
                  <a:pt x="0" y="0"/>
                </a:moveTo>
                <a:lnTo>
                  <a:pt x="0" y="148065"/>
                </a:lnTo>
              </a:path>
            </a:pathLst>
          </a:custGeom>
          <a:ln w="31751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76761" y="3741319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40" h="154939">
                <a:moveTo>
                  <a:pt x="0" y="0"/>
                </a:moveTo>
                <a:lnTo>
                  <a:pt x="154521" y="0"/>
                </a:lnTo>
                <a:lnTo>
                  <a:pt x="154521" y="154522"/>
                </a:lnTo>
                <a:lnTo>
                  <a:pt x="0" y="154522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76763" y="4043905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40" h="154939">
                <a:moveTo>
                  <a:pt x="0" y="0"/>
                </a:moveTo>
                <a:lnTo>
                  <a:pt x="154522" y="0"/>
                </a:lnTo>
                <a:lnTo>
                  <a:pt x="154522" y="154522"/>
                </a:lnTo>
                <a:lnTo>
                  <a:pt x="0" y="154522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57990" y="4037666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40" h="154939">
                <a:moveTo>
                  <a:pt x="0" y="0"/>
                </a:moveTo>
                <a:lnTo>
                  <a:pt x="154522" y="0"/>
                </a:lnTo>
                <a:lnTo>
                  <a:pt x="154522" y="154520"/>
                </a:lnTo>
                <a:lnTo>
                  <a:pt x="0" y="154520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57989" y="3741319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40" h="154939">
                <a:moveTo>
                  <a:pt x="0" y="0"/>
                </a:moveTo>
                <a:lnTo>
                  <a:pt x="154521" y="0"/>
                </a:lnTo>
                <a:lnTo>
                  <a:pt x="154521" y="154520"/>
                </a:lnTo>
                <a:lnTo>
                  <a:pt x="0" y="154520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57988" y="4356619"/>
            <a:ext cx="154940" cy="154940"/>
          </a:xfrm>
          <a:custGeom>
            <a:avLst/>
            <a:gdLst/>
            <a:ahLst/>
            <a:cxnLst/>
            <a:rect l="l" t="t" r="r" b="b"/>
            <a:pathLst>
              <a:path w="154940" h="154939">
                <a:moveTo>
                  <a:pt x="0" y="0"/>
                </a:moveTo>
                <a:lnTo>
                  <a:pt x="154522" y="0"/>
                </a:lnTo>
                <a:lnTo>
                  <a:pt x="154522" y="154522"/>
                </a:lnTo>
                <a:lnTo>
                  <a:pt x="0" y="154522"/>
                </a:lnTo>
                <a:lnTo>
                  <a:pt x="0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583453" y="4019574"/>
            <a:ext cx="516255" cy="198120"/>
          </a:xfrm>
          <a:custGeom>
            <a:avLst/>
            <a:gdLst/>
            <a:ahLst/>
            <a:cxnLst/>
            <a:rect l="l" t="t" r="r" b="b"/>
            <a:pathLst>
              <a:path w="516255" h="198120">
                <a:moveTo>
                  <a:pt x="417139" y="0"/>
                </a:moveTo>
                <a:lnTo>
                  <a:pt x="417139" y="49404"/>
                </a:lnTo>
                <a:lnTo>
                  <a:pt x="0" y="49404"/>
                </a:lnTo>
                <a:lnTo>
                  <a:pt x="0" y="148211"/>
                </a:lnTo>
                <a:lnTo>
                  <a:pt x="417139" y="148211"/>
                </a:lnTo>
                <a:lnTo>
                  <a:pt x="417139" y="197614"/>
                </a:lnTo>
                <a:lnTo>
                  <a:pt x="515947" y="98807"/>
                </a:lnTo>
                <a:lnTo>
                  <a:pt x="417139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426795" y="3315715"/>
            <a:ext cx="8477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rbel"/>
                <a:cs typeface="Corbel"/>
              </a:rPr>
              <a:t>Input</a:t>
            </a:r>
            <a:r>
              <a:rPr dirty="0" sz="1800" spc="-80" b="1">
                <a:latin typeface="Corbel"/>
                <a:cs typeface="Corbel"/>
              </a:rPr>
              <a:t> </a:t>
            </a:r>
            <a:r>
              <a:rPr dirty="0" sz="1800" spc="-45">
                <a:solidFill>
                  <a:srgbClr val="0000FF"/>
                </a:solidFill>
                <a:latin typeface="Cambria Math"/>
                <a:cs typeface="Cambria Math"/>
              </a:rPr>
              <a:t>𝐺</a:t>
            </a:r>
            <a:r>
              <a:rPr dirty="0" baseline="-14957" sz="1950" spc="-67">
                <a:solidFill>
                  <a:srgbClr val="0000FF"/>
                </a:solidFill>
                <a:latin typeface="Cambria Math"/>
                <a:cs typeface="Cambria Math"/>
              </a:rPr>
              <a:t>&amp;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763407" y="3994571"/>
            <a:ext cx="516255" cy="198120"/>
          </a:xfrm>
          <a:custGeom>
            <a:avLst/>
            <a:gdLst/>
            <a:ahLst/>
            <a:cxnLst/>
            <a:rect l="l" t="t" r="r" b="b"/>
            <a:pathLst>
              <a:path w="516254" h="198120">
                <a:moveTo>
                  <a:pt x="417140" y="0"/>
                </a:moveTo>
                <a:lnTo>
                  <a:pt x="417140" y="49404"/>
                </a:lnTo>
                <a:lnTo>
                  <a:pt x="0" y="49404"/>
                </a:lnTo>
                <a:lnTo>
                  <a:pt x="0" y="148211"/>
                </a:lnTo>
                <a:lnTo>
                  <a:pt x="417140" y="148211"/>
                </a:lnTo>
                <a:lnTo>
                  <a:pt x="417140" y="197615"/>
                </a:lnTo>
                <a:lnTo>
                  <a:pt x="515947" y="98808"/>
                </a:lnTo>
                <a:lnTo>
                  <a:pt x="417140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6736715" y="2393695"/>
            <a:ext cx="207010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spc="-5" b="1">
                <a:solidFill>
                  <a:srgbClr val="C00000"/>
                </a:solidFill>
                <a:latin typeface="Arial"/>
                <a:cs typeface="Arial"/>
              </a:rPr>
              <a:t>Search Procedure</a:t>
            </a:r>
            <a:r>
              <a:rPr dirty="0" sz="1500" spc="-5">
                <a:latin typeface="Arial"/>
                <a:cs typeface="Arial"/>
              </a:rPr>
              <a:t>: find  frequent </a:t>
            </a:r>
            <a:r>
              <a:rPr dirty="0" sz="1500">
                <a:latin typeface="Arial"/>
                <a:cs typeface="Arial"/>
              </a:rPr>
              <a:t>subgraphs by  </a:t>
            </a:r>
            <a:r>
              <a:rPr dirty="0" sz="1500" i="1">
                <a:latin typeface="Arial"/>
                <a:cs typeface="Arial"/>
              </a:rPr>
              <a:t>growing</a:t>
            </a:r>
            <a:r>
              <a:rPr dirty="0" sz="1500" spc="-75" i="1">
                <a:latin typeface="Arial"/>
                <a:cs typeface="Arial"/>
              </a:rPr>
              <a:t> </a:t>
            </a:r>
            <a:r>
              <a:rPr dirty="0" sz="1500" spc="-5">
                <a:latin typeface="Arial"/>
                <a:cs typeface="Arial"/>
              </a:rPr>
              <a:t>patterns</a:t>
            </a:r>
            <a:endParaRPr sz="15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635495" y="4108703"/>
            <a:ext cx="801624" cy="725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706391" y="4153118"/>
            <a:ext cx="661035" cy="584200"/>
          </a:xfrm>
          <a:custGeom>
            <a:avLst/>
            <a:gdLst/>
            <a:ahLst/>
            <a:cxnLst/>
            <a:rect l="l" t="t" r="r" b="b"/>
            <a:pathLst>
              <a:path w="661034" h="584200">
                <a:moveTo>
                  <a:pt x="563097" y="0"/>
                </a:moveTo>
                <a:lnTo>
                  <a:pt x="97353" y="0"/>
                </a:lnTo>
                <a:lnTo>
                  <a:pt x="59458" y="7650"/>
                </a:lnTo>
                <a:lnTo>
                  <a:pt x="28514" y="28514"/>
                </a:lnTo>
                <a:lnTo>
                  <a:pt x="7650" y="59458"/>
                </a:lnTo>
                <a:lnTo>
                  <a:pt x="0" y="97353"/>
                </a:lnTo>
                <a:lnTo>
                  <a:pt x="0" y="486755"/>
                </a:lnTo>
                <a:lnTo>
                  <a:pt x="7650" y="524649"/>
                </a:lnTo>
                <a:lnTo>
                  <a:pt x="28514" y="555595"/>
                </a:lnTo>
                <a:lnTo>
                  <a:pt x="59458" y="576459"/>
                </a:lnTo>
                <a:lnTo>
                  <a:pt x="97353" y="584109"/>
                </a:lnTo>
                <a:lnTo>
                  <a:pt x="563097" y="584109"/>
                </a:lnTo>
                <a:lnTo>
                  <a:pt x="600992" y="576459"/>
                </a:lnTo>
                <a:lnTo>
                  <a:pt x="631937" y="555595"/>
                </a:lnTo>
                <a:lnTo>
                  <a:pt x="652801" y="524649"/>
                </a:lnTo>
                <a:lnTo>
                  <a:pt x="660452" y="486755"/>
                </a:lnTo>
                <a:lnTo>
                  <a:pt x="660452" y="97353"/>
                </a:lnTo>
                <a:lnTo>
                  <a:pt x="652801" y="59458"/>
                </a:lnTo>
                <a:lnTo>
                  <a:pt x="631937" y="28514"/>
                </a:lnTo>
                <a:lnTo>
                  <a:pt x="600992" y="7650"/>
                </a:lnTo>
                <a:lnTo>
                  <a:pt x="563097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682263" y="4128867"/>
            <a:ext cx="709295" cy="633095"/>
          </a:xfrm>
          <a:custGeom>
            <a:avLst/>
            <a:gdLst/>
            <a:ahLst/>
            <a:cxnLst/>
            <a:rect l="l" t="t" r="r" b="b"/>
            <a:pathLst>
              <a:path w="709295" h="633095">
                <a:moveTo>
                  <a:pt x="587225" y="0"/>
                </a:moveTo>
                <a:lnTo>
                  <a:pt x="119048" y="121"/>
                </a:lnTo>
                <a:lnTo>
                  <a:pt x="74880" y="9211"/>
                </a:lnTo>
                <a:lnTo>
                  <a:pt x="36015" y="35043"/>
                </a:lnTo>
                <a:lnTo>
                  <a:pt x="9706" y="73536"/>
                </a:lnTo>
                <a:lnTo>
                  <a:pt x="109" y="119171"/>
                </a:lnTo>
                <a:lnTo>
                  <a:pt x="0" y="513438"/>
                </a:lnTo>
                <a:lnTo>
                  <a:pt x="2139" y="534672"/>
                </a:lnTo>
                <a:lnTo>
                  <a:pt x="20184" y="578375"/>
                </a:lnTo>
                <a:lnTo>
                  <a:pt x="52818" y="611430"/>
                </a:lnTo>
                <a:lnTo>
                  <a:pt x="96221" y="630022"/>
                </a:lnTo>
                <a:lnTo>
                  <a:pt x="121480" y="632609"/>
                </a:lnTo>
                <a:lnTo>
                  <a:pt x="589657" y="632487"/>
                </a:lnTo>
                <a:lnTo>
                  <a:pt x="633825" y="623398"/>
                </a:lnTo>
                <a:lnTo>
                  <a:pt x="665457" y="603534"/>
                </a:lnTo>
                <a:lnTo>
                  <a:pt x="121480" y="603510"/>
                </a:lnTo>
                <a:lnTo>
                  <a:pt x="102833" y="601605"/>
                </a:lnTo>
                <a:lnTo>
                  <a:pt x="56087" y="576400"/>
                </a:lnTo>
                <a:lnTo>
                  <a:pt x="30881" y="529654"/>
                </a:lnTo>
                <a:lnTo>
                  <a:pt x="28977" y="121603"/>
                </a:lnTo>
                <a:lnTo>
                  <a:pt x="30881" y="102955"/>
                </a:lnTo>
                <a:lnTo>
                  <a:pt x="56087" y="56210"/>
                </a:lnTo>
                <a:lnTo>
                  <a:pt x="102833" y="31004"/>
                </a:lnTo>
                <a:lnTo>
                  <a:pt x="121966" y="29075"/>
                </a:lnTo>
                <a:lnTo>
                  <a:pt x="665457" y="29075"/>
                </a:lnTo>
                <a:lnTo>
                  <a:pt x="655887" y="21179"/>
                </a:lnTo>
                <a:lnTo>
                  <a:pt x="612485" y="2586"/>
                </a:lnTo>
                <a:lnTo>
                  <a:pt x="610891" y="2263"/>
                </a:lnTo>
                <a:lnTo>
                  <a:pt x="587225" y="0"/>
                </a:lnTo>
                <a:close/>
              </a:path>
              <a:path w="709295" h="633095">
                <a:moveTo>
                  <a:pt x="665457" y="29075"/>
                </a:moveTo>
                <a:lnTo>
                  <a:pt x="121966" y="29075"/>
                </a:lnTo>
                <a:lnTo>
                  <a:pt x="587225" y="29100"/>
                </a:lnTo>
                <a:lnTo>
                  <a:pt x="605873" y="31004"/>
                </a:lnTo>
                <a:lnTo>
                  <a:pt x="652619" y="56210"/>
                </a:lnTo>
                <a:lnTo>
                  <a:pt x="677824" y="102955"/>
                </a:lnTo>
                <a:lnTo>
                  <a:pt x="679729" y="511006"/>
                </a:lnTo>
                <a:lnTo>
                  <a:pt x="677824" y="529654"/>
                </a:lnTo>
                <a:lnTo>
                  <a:pt x="652619" y="576400"/>
                </a:lnTo>
                <a:lnTo>
                  <a:pt x="605873" y="601605"/>
                </a:lnTo>
                <a:lnTo>
                  <a:pt x="586738" y="603534"/>
                </a:lnTo>
                <a:lnTo>
                  <a:pt x="665457" y="603534"/>
                </a:lnTo>
                <a:lnTo>
                  <a:pt x="698999" y="559073"/>
                </a:lnTo>
                <a:lnTo>
                  <a:pt x="708828" y="511006"/>
                </a:lnTo>
                <a:lnTo>
                  <a:pt x="708706" y="119171"/>
                </a:lnTo>
                <a:lnTo>
                  <a:pt x="699617" y="75003"/>
                </a:lnTo>
                <a:lnTo>
                  <a:pt x="673787" y="36139"/>
                </a:lnTo>
                <a:lnTo>
                  <a:pt x="672689" y="35041"/>
                </a:lnTo>
                <a:lnTo>
                  <a:pt x="665457" y="29075"/>
                </a:lnTo>
                <a:close/>
              </a:path>
              <a:path w="709295" h="633095">
                <a:moveTo>
                  <a:pt x="122939" y="38727"/>
                </a:moveTo>
                <a:lnTo>
                  <a:pt x="75225" y="52994"/>
                </a:lnTo>
                <a:lnTo>
                  <a:pt x="45248" y="89391"/>
                </a:lnTo>
                <a:lnTo>
                  <a:pt x="38676" y="121603"/>
                </a:lnTo>
                <a:lnTo>
                  <a:pt x="38702" y="510519"/>
                </a:lnTo>
                <a:lnTo>
                  <a:pt x="52871" y="557262"/>
                </a:lnTo>
                <a:lnTo>
                  <a:pt x="89268" y="587237"/>
                </a:lnTo>
                <a:lnTo>
                  <a:pt x="585765" y="593883"/>
                </a:lnTo>
                <a:lnTo>
                  <a:pt x="603929" y="592052"/>
                </a:lnTo>
                <a:lnTo>
                  <a:pt x="619437" y="587237"/>
                </a:lnTo>
                <a:lnTo>
                  <a:pt x="624974" y="584233"/>
                </a:lnTo>
                <a:lnTo>
                  <a:pt x="121480" y="584109"/>
                </a:lnTo>
                <a:lnTo>
                  <a:pt x="106720" y="582499"/>
                </a:lnTo>
                <a:lnTo>
                  <a:pt x="69867" y="562620"/>
                </a:lnTo>
                <a:lnTo>
                  <a:pt x="49988" y="525767"/>
                </a:lnTo>
                <a:lnTo>
                  <a:pt x="48353" y="509546"/>
                </a:lnTo>
                <a:lnTo>
                  <a:pt x="48376" y="121603"/>
                </a:lnTo>
                <a:lnTo>
                  <a:pt x="60949" y="80798"/>
                </a:lnTo>
                <a:lnTo>
                  <a:pt x="93056" y="54352"/>
                </a:lnTo>
                <a:lnTo>
                  <a:pt x="123912" y="48378"/>
                </a:lnTo>
                <a:lnTo>
                  <a:pt x="624975" y="48378"/>
                </a:lnTo>
                <a:lnTo>
                  <a:pt x="619437" y="45372"/>
                </a:lnTo>
                <a:lnTo>
                  <a:pt x="603929" y="40557"/>
                </a:lnTo>
                <a:lnTo>
                  <a:pt x="587225" y="38799"/>
                </a:lnTo>
                <a:lnTo>
                  <a:pt x="122939" y="38727"/>
                </a:lnTo>
                <a:close/>
              </a:path>
              <a:path w="709295" h="633095">
                <a:moveTo>
                  <a:pt x="624975" y="48378"/>
                </a:moveTo>
                <a:lnTo>
                  <a:pt x="123912" y="48378"/>
                </a:lnTo>
                <a:lnTo>
                  <a:pt x="587225" y="48500"/>
                </a:lnTo>
                <a:lnTo>
                  <a:pt x="601986" y="50111"/>
                </a:lnTo>
                <a:lnTo>
                  <a:pt x="638839" y="69990"/>
                </a:lnTo>
                <a:lnTo>
                  <a:pt x="658718" y="106843"/>
                </a:lnTo>
                <a:lnTo>
                  <a:pt x="660328" y="511006"/>
                </a:lnTo>
                <a:lnTo>
                  <a:pt x="658718" y="525767"/>
                </a:lnTo>
                <a:lnTo>
                  <a:pt x="638839" y="562620"/>
                </a:lnTo>
                <a:lnTo>
                  <a:pt x="601986" y="582499"/>
                </a:lnTo>
                <a:lnTo>
                  <a:pt x="584793" y="584233"/>
                </a:lnTo>
                <a:lnTo>
                  <a:pt x="624974" y="584233"/>
                </a:lnTo>
                <a:lnTo>
                  <a:pt x="655835" y="557262"/>
                </a:lnTo>
                <a:lnTo>
                  <a:pt x="670029" y="511006"/>
                </a:lnTo>
                <a:lnTo>
                  <a:pt x="669955" y="121603"/>
                </a:lnTo>
                <a:lnTo>
                  <a:pt x="655835" y="75349"/>
                </a:lnTo>
                <a:lnTo>
                  <a:pt x="633481" y="52994"/>
                </a:lnTo>
                <a:lnTo>
                  <a:pt x="624975" y="483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348728" y="4105655"/>
            <a:ext cx="801624" cy="7254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417985" y="4151283"/>
            <a:ext cx="661035" cy="584200"/>
          </a:xfrm>
          <a:custGeom>
            <a:avLst/>
            <a:gdLst/>
            <a:ahLst/>
            <a:cxnLst/>
            <a:rect l="l" t="t" r="r" b="b"/>
            <a:pathLst>
              <a:path w="661034" h="584200">
                <a:moveTo>
                  <a:pt x="563097" y="0"/>
                </a:moveTo>
                <a:lnTo>
                  <a:pt x="97353" y="0"/>
                </a:lnTo>
                <a:lnTo>
                  <a:pt x="59458" y="7650"/>
                </a:lnTo>
                <a:lnTo>
                  <a:pt x="28514" y="28514"/>
                </a:lnTo>
                <a:lnTo>
                  <a:pt x="7650" y="59458"/>
                </a:lnTo>
                <a:lnTo>
                  <a:pt x="0" y="97353"/>
                </a:lnTo>
                <a:lnTo>
                  <a:pt x="0" y="486755"/>
                </a:lnTo>
                <a:lnTo>
                  <a:pt x="7650" y="524650"/>
                </a:lnTo>
                <a:lnTo>
                  <a:pt x="28514" y="555595"/>
                </a:lnTo>
                <a:lnTo>
                  <a:pt x="59458" y="576459"/>
                </a:lnTo>
                <a:lnTo>
                  <a:pt x="97353" y="584109"/>
                </a:lnTo>
                <a:lnTo>
                  <a:pt x="563097" y="584109"/>
                </a:lnTo>
                <a:lnTo>
                  <a:pt x="600992" y="576459"/>
                </a:lnTo>
                <a:lnTo>
                  <a:pt x="631937" y="555595"/>
                </a:lnTo>
                <a:lnTo>
                  <a:pt x="652801" y="524650"/>
                </a:lnTo>
                <a:lnTo>
                  <a:pt x="660452" y="486755"/>
                </a:lnTo>
                <a:lnTo>
                  <a:pt x="660452" y="97353"/>
                </a:lnTo>
                <a:lnTo>
                  <a:pt x="652801" y="59458"/>
                </a:lnTo>
                <a:lnTo>
                  <a:pt x="631937" y="28514"/>
                </a:lnTo>
                <a:lnTo>
                  <a:pt x="600992" y="7650"/>
                </a:lnTo>
                <a:lnTo>
                  <a:pt x="563097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7393857" y="4127032"/>
            <a:ext cx="709295" cy="633095"/>
          </a:xfrm>
          <a:custGeom>
            <a:avLst/>
            <a:gdLst/>
            <a:ahLst/>
            <a:cxnLst/>
            <a:rect l="l" t="t" r="r" b="b"/>
            <a:pathLst>
              <a:path w="709295" h="633095">
                <a:moveTo>
                  <a:pt x="587226" y="0"/>
                </a:moveTo>
                <a:lnTo>
                  <a:pt x="119049" y="121"/>
                </a:lnTo>
                <a:lnTo>
                  <a:pt x="74881" y="9211"/>
                </a:lnTo>
                <a:lnTo>
                  <a:pt x="36017" y="35043"/>
                </a:lnTo>
                <a:lnTo>
                  <a:pt x="9707" y="73538"/>
                </a:lnTo>
                <a:lnTo>
                  <a:pt x="110" y="119171"/>
                </a:lnTo>
                <a:lnTo>
                  <a:pt x="0" y="513438"/>
                </a:lnTo>
                <a:lnTo>
                  <a:pt x="2141" y="534673"/>
                </a:lnTo>
                <a:lnTo>
                  <a:pt x="20186" y="578375"/>
                </a:lnTo>
                <a:lnTo>
                  <a:pt x="52819" y="611430"/>
                </a:lnTo>
                <a:lnTo>
                  <a:pt x="96222" y="630022"/>
                </a:lnTo>
                <a:lnTo>
                  <a:pt x="121481" y="632609"/>
                </a:lnTo>
                <a:lnTo>
                  <a:pt x="589658" y="632487"/>
                </a:lnTo>
                <a:lnTo>
                  <a:pt x="633826" y="623398"/>
                </a:lnTo>
                <a:lnTo>
                  <a:pt x="665458" y="603534"/>
                </a:lnTo>
                <a:lnTo>
                  <a:pt x="121481" y="603510"/>
                </a:lnTo>
                <a:lnTo>
                  <a:pt x="102834" y="601605"/>
                </a:lnTo>
                <a:lnTo>
                  <a:pt x="56088" y="576400"/>
                </a:lnTo>
                <a:lnTo>
                  <a:pt x="30882" y="529654"/>
                </a:lnTo>
                <a:lnTo>
                  <a:pt x="28978" y="121603"/>
                </a:lnTo>
                <a:lnTo>
                  <a:pt x="30882" y="102956"/>
                </a:lnTo>
                <a:lnTo>
                  <a:pt x="56088" y="56210"/>
                </a:lnTo>
                <a:lnTo>
                  <a:pt x="102834" y="31004"/>
                </a:lnTo>
                <a:lnTo>
                  <a:pt x="121968" y="29075"/>
                </a:lnTo>
                <a:lnTo>
                  <a:pt x="665458" y="29075"/>
                </a:lnTo>
                <a:lnTo>
                  <a:pt x="655888" y="21179"/>
                </a:lnTo>
                <a:lnTo>
                  <a:pt x="612486" y="2586"/>
                </a:lnTo>
                <a:lnTo>
                  <a:pt x="610892" y="2263"/>
                </a:lnTo>
                <a:lnTo>
                  <a:pt x="587226" y="0"/>
                </a:lnTo>
                <a:close/>
              </a:path>
              <a:path w="709295" h="633095">
                <a:moveTo>
                  <a:pt x="665458" y="29075"/>
                </a:moveTo>
                <a:lnTo>
                  <a:pt x="121968" y="29075"/>
                </a:lnTo>
                <a:lnTo>
                  <a:pt x="587226" y="29100"/>
                </a:lnTo>
                <a:lnTo>
                  <a:pt x="605875" y="31004"/>
                </a:lnTo>
                <a:lnTo>
                  <a:pt x="652621" y="56210"/>
                </a:lnTo>
                <a:lnTo>
                  <a:pt x="677825" y="102956"/>
                </a:lnTo>
                <a:lnTo>
                  <a:pt x="679730" y="511006"/>
                </a:lnTo>
                <a:lnTo>
                  <a:pt x="677825" y="529654"/>
                </a:lnTo>
                <a:lnTo>
                  <a:pt x="652621" y="576400"/>
                </a:lnTo>
                <a:lnTo>
                  <a:pt x="605875" y="601605"/>
                </a:lnTo>
                <a:lnTo>
                  <a:pt x="586740" y="603534"/>
                </a:lnTo>
                <a:lnTo>
                  <a:pt x="665458" y="603534"/>
                </a:lnTo>
                <a:lnTo>
                  <a:pt x="699000" y="559073"/>
                </a:lnTo>
                <a:lnTo>
                  <a:pt x="708830" y="511006"/>
                </a:lnTo>
                <a:lnTo>
                  <a:pt x="708708" y="119171"/>
                </a:lnTo>
                <a:lnTo>
                  <a:pt x="699618" y="75003"/>
                </a:lnTo>
                <a:lnTo>
                  <a:pt x="673787" y="36139"/>
                </a:lnTo>
                <a:lnTo>
                  <a:pt x="672691" y="35043"/>
                </a:lnTo>
                <a:lnTo>
                  <a:pt x="665458" y="29075"/>
                </a:lnTo>
                <a:close/>
              </a:path>
              <a:path w="709295" h="633095">
                <a:moveTo>
                  <a:pt x="122941" y="38727"/>
                </a:moveTo>
                <a:lnTo>
                  <a:pt x="75227" y="52994"/>
                </a:lnTo>
                <a:lnTo>
                  <a:pt x="45250" y="89391"/>
                </a:lnTo>
                <a:lnTo>
                  <a:pt x="38677" y="121603"/>
                </a:lnTo>
                <a:lnTo>
                  <a:pt x="38703" y="510519"/>
                </a:lnTo>
                <a:lnTo>
                  <a:pt x="52872" y="557262"/>
                </a:lnTo>
                <a:lnTo>
                  <a:pt x="89269" y="587239"/>
                </a:lnTo>
                <a:lnTo>
                  <a:pt x="585767" y="593883"/>
                </a:lnTo>
                <a:lnTo>
                  <a:pt x="603930" y="592052"/>
                </a:lnTo>
                <a:lnTo>
                  <a:pt x="619438" y="587239"/>
                </a:lnTo>
                <a:lnTo>
                  <a:pt x="624977" y="584233"/>
                </a:lnTo>
                <a:lnTo>
                  <a:pt x="121481" y="584109"/>
                </a:lnTo>
                <a:lnTo>
                  <a:pt x="106721" y="582499"/>
                </a:lnTo>
                <a:lnTo>
                  <a:pt x="69869" y="562620"/>
                </a:lnTo>
                <a:lnTo>
                  <a:pt x="49989" y="525767"/>
                </a:lnTo>
                <a:lnTo>
                  <a:pt x="48354" y="509546"/>
                </a:lnTo>
                <a:lnTo>
                  <a:pt x="48378" y="121603"/>
                </a:lnTo>
                <a:lnTo>
                  <a:pt x="60949" y="80798"/>
                </a:lnTo>
                <a:lnTo>
                  <a:pt x="93056" y="54352"/>
                </a:lnTo>
                <a:lnTo>
                  <a:pt x="123913" y="48378"/>
                </a:lnTo>
                <a:lnTo>
                  <a:pt x="624977" y="48378"/>
                </a:lnTo>
                <a:lnTo>
                  <a:pt x="619438" y="45372"/>
                </a:lnTo>
                <a:lnTo>
                  <a:pt x="603930" y="40557"/>
                </a:lnTo>
                <a:lnTo>
                  <a:pt x="587226" y="38799"/>
                </a:lnTo>
                <a:lnTo>
                  <a:pt x="122941" y="38727"/>
                </a:lnTo>
                <a:close/>
              </a:path>
              <a:path w="709295" h="633095">
                <a:moveTo>
                  <a:pt x="624977" y="48378"/>
                </a:moveTo>
                <a:lnTo>
                  <a:pt x="123913" y="48378"/>
                </a:lnTo>
                <a:lnTo>
                  <a:pt x="587226" y="48500"/>
                </a:lnTo>
                <a:lnTo>
                  <a:pt x="601987" y="50111"/>
                </a:lnTo>
                <a:lnTo>
                  <a:pt x="638840" y="69990"/>
                </a:lnTo>
                <a:lnTo>
                  <a:pt x="658719" y="106843"/>
                </a:lnTo>
                <a:lnTo>
                  <a:pt x="660330" y="511006"/>
                </a:lnTo>
                <a:lnTo>
                  <a:pt x="658719" y="525767"/>
                </a:lnTo>
                <a:lnTo>
                  <a:pt x="638840" y="562620"/>
                </a:lnTo>
                <a:lnTo>
                  <a:pt x="601987" y="582499"/>
                </a:lnTo>
                <a:lnTo>
                  <a:pt x="584794" y="584233"/>
                </a:lnTo>
                <a:lnTo>
                  <a:pt x="624977" y="584233"/>
                </a:lnTo>
                <a:lnTo>
                  <a:pt x="655836" y="557262"/>
                </a:lnTo>
                <a:lnTo>
                  <a:pt x="670030" y="511006"/>
                </a:lnTo>
                <a:lnTo>
                  <a:pt x="669956" y="121603"/>
                </a:lnTo>
                <a:lnTo>
                  <a:pt x="655836" y="75349"/>
                </a:lnTo>
                <a:lnTo>
                  <a:pt x="633482" y="52994"/>
                </a:lnTo>
                <a:lnTo>
                  <a:pt x="624977" y="483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345680" y="3459479"/>
            <a:ext cx="804672" cy="72542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7417627" y="3506542"/>
            <a:ext cx="661035" cy="584200"/>
          </a:xfrm>
          <a:custGeom>
            <a:avLst/>
            <a:gdLst/>
            <a:ahLst/>
            <a:cxnLst/>
            <a:rect l="l" t="t" r="r" b="b"/>
            <a:pathLst>
              <a:path w="661034" h="584200">
                <a:moveTo>
                  <a:pt x="563454" y="0"/>
                </a:moveTo>
                <a:lnTo>
                  <a:pt x="97353" y="0"/>
                </a:lnTo>
                <a:lnTo>
                  <a:pt x="59458" y="7650"/>
                </a:lnTo>
                <a:lnTo>
                  <a:pt x="28514" y="28514"/>
                </a:lnTo>
                <a:lnTo>
                  <a:pt x="7650" y="59458"/>
                </a:lnTo>
                <a:lnTo>
                  <a:pt x="0" y="97353"/>
                </a:lnTo>
                <a:lnTo>
                  <a:pt x="0" y="486755"/>
                </a:lnTo>
                <a:lnTo>
                  <a:pt x="7650" y="524650"/>
                </a:lnTo>
                <a:lnTo>
                  <a:pt x="28514" y="555595"/>
                </a:lnTo>
                <a:lnTo>
                  <a:pt x="59458" y="576459"/>
                </a:lnTo>
                <a:lnTo>
                  <a:pt x="97353" y="584109"/>
                </a:lnTo>
                <a:lnTo>
                  <a:pt x="563454" y="584109"/>
                </a:lnTo>
                <a:lnTo>
                  <a:pt x="601349" y="576459"/>
                </a:lnTo>
                <a:lnTo>
                  <a:pt x="632294" y="555595"/>
                </a:lnTo>
                <a:lnTo>
                  <a:pt x="653158" y="524650"/>
                </a:lnTo>
                <a:lnTo>
                  <a:pt x="660808" y="486755"/>
                </a:lnTo>
                <a:lnTo>
                  <a:pt x="660808" y="97353"/>
                </a:lnTo>
                <a:lnTo>
                  <a:pt x="653158" y="59458"/>
                </a:lnTo>
                <a:lnTo>
                  <a:pt x="632294" y="28514"/>
                </a:lnTo>
                <a:lnTo>
                  <a:pt x="601349" y="7650"/>
                </a:lnTo>
                <a:lnTo>
                  <a:pt x="56345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7393500" y="3482291"/>
            <a:ext cx="709295" cy="633095"/>
          </a:xfrm>
          <a:custGeom>
            <a:avLst/>
            <a:gdLst/>
            <a:ahLst/>
            <a:cxnLst/>
            <a:rect l="l" t="t" r="r" b="b"/>
            <a:pathLst>
              <a:path w="709295" h="633095">
                <a:moveTo>
                  <a:pt x="587582" y="0"/>
                </a:moveTo>
                <a:lnTo>
                  <a:pt x="119048" y="121"/>
                </a:lnTo>
                <a:lnTo>
                  <a:pt x="74879" y="9212"/>
                </a:lnTo>
                <a:lnTo>
                  <a:pt x="36015" y="35043"/>
                </a:lnTo>
                <a:lnTo>
                  <a:pt x="9707" y="73536"/>
                </a:lnTo>
                <a:lnTo>
                  <a:pt x="109" y="119171"/>
                </a:lnTo>
                <a:lnTo>
                  <a:pt x="0" y="513439"/>
                </a:lnTo>
                <a:lnTo>
                  <a:pt x="2139" y="534673"/>
                </a:lnTo>
                <a:lnTo>
                  <a:pt x="20184" y="578375"/>
                </a:lnTo>
                <a:lnTo>
                  <a:pt x="52818" y="611430"/>
                </a:lnTo>
                <a:lnTo>
                  <a:pt x="96221" y="630022"/>
                </a:lnTo>
                <a:lnTo>
                  <a:pt x="121480" y="632609"/>
                </a:lnTo>
                <a:lnTo>
                  <a:pt x="590015" y="632487"/>
                </a:lnTo>
                <a:lnTo>
                  <a:pt x="634182" y="623398"/>
                </a:lnTo>
                <a:lnTo>
                  <a:pt x="665815" y="603534"/>
                </a:lnTo>
                <a:lnTo>
                  <a:pt x="121480" y="603510"/>
                </a:lnTo>
                <a:lnTo>
                  <a:pt x="102833" y="601605"/>
                </a:lnTo>
                <a:lnTo>
                  <a:pt x="56087" y="576400"/>
                </a:lnTo>
                <a:lnTo>
                  <a:pt x="30881" y="529654"/>
                </a:lnTo>
                <a:lnTo>
                  <a:pt x="28977" y="121603"/>
                </a:lnTo>
                <a:lnTo>
                  <a:pt x="30881" y="102955"/>
                </a:lnTo>
                <a:lnTo>
                  <a:pt x="56087" y="56210"/>
                </a:lnTo>
                <a:lnTo>
                  <a:pt x="102833" y="31004"/>
                </a:lnTo>
                <a:lnTo>
                  <a:pt x="121966" y="29075"/>
                </a:lnTo>
                <a:lnTo>
                  <a:pt x="665814" y="29075"/>
                </a:lnTo>
                <a:lnTo>
                  <a:pt x="656245" y="21179"/>
                </a:lnTo>
                <a:lnTo>
                  <a:pt x="612842" y="2586"/>
                </a:lnTo>
                <a:lnTo>
                  <a:pt x="611248" y="2263"/>
                </a:lnTo>
                <a:lnTo>
                  <a:pt x="587582" y="0"/>
                </a:lnTo>
                <a:close/>
              </a:path>
              <a:path w="709295" h="633095">
                <a:moveTo>
                  <a:pt x="665814" y="29075"/>
                </a:moveTo>
                <a:lnTo>
                  <a:pt x="121966" y="29075"/>
                </a:lnTo>
                <a:lnTo>
                  <a:pt x="587582" y="29100"/>
                </a:lnTo>
                <a:lnTo>
                  <a:pt x="606230" y="31004"/>
                </a:lnTo>
                <a:lnTo>
                  <a:pt x="652976" y="56210"/>
                </a:lnTo>
                <a:lnTo>
                  <a:pt x="678181" y="102955"/>
                </a:lnTo>
                <a:lnTo>
                  <a:pt x="680086" y="511006"/>
                </a:lnTo>
                <a:lnTo>
                  <a:pt x="678181" y="529654"/>
                </a:lnTo>
                <a:lnTo>
                  <a:pt x="652976" y="576400"/>
                </a:lnTo>
                <a:lnTo>
                  <a:pt x="606230" y="601605"/>
                </a:lnTo>
                <a:lnTo>
                  <a:pt x="587095" y="603534"/>
                </a:lnTo>
                <a:lnTo>
                  <a:pt x="665815" y="603534"/>
                </a:lnTo>
                <a:lnTo>
                  <a:pt x="699355" y="559073"/>
                </a:lnTo>
                <a:lnTo>
                  <a:pt x="709185" y="511006"/>
                </a:lnTo>
                <a:lnTo>
                  <a:pt x="709063" y="119171"/>
                </a:lnTo>
                <a:lnTo>
                  <a:pt x="699974" y="75003"/>
                </a:lnTo>
                <a:lnTo>
                  <a:pt x="674143" y="36139"/>
                </a:lnTo>
                <a:lnTo>
                  <a:pt x="673046" y="35043"/>
                </a:lnTo>
                <a:lnTo>
                  <a:pt x="665814" y="29075"/>
                </a:lnTo>
                <a:close/>
              </a:path>
              <a:path w="709295" h="633095">
                <a:moveTo>
                  <a:pt x="122939" y="38727"/>
                </a:moveTo>
                <a:lnTo>
                  <a:pt x="75225" y="52994"/>
                </a:lnTo>
                <a:lnTo>
                  <a:pt x="45248" y="89391"/>
                </a:lnTo>
                <a:lnTo>
                  <a:pt x="38677" y="121603"/>
                </a:lnTo>
                <a:lnTo>
                  <a:pt x="38702" y="510519"/>
                </a:lnTo>
                <a:lnTo>
                  <a:pt x="52871" y="557262"/>
                </a:lnTo>
                <a:lnTo>
                  <a:pt x="89268" y="587237"/>
                </a:lnTo>
                <a:lnTo>
                  <a:pt x="586122" y="593883"/>
                </a:lnTo>
                <a:lnTo>
                  <a:pt x="604287" y="592052"/>
                </a:lnTo>
                <a:lnTo>
                  <a:pt x="619795" y="587237"/>
                </a:lnTo>
                <a:lnTo>
                  <a:pt x="625332" y="584233"/>
                </a:lnTo>
                <a:lnTo>
                  <a:pt x="121480" y="584109"/>
                </a:lnTo>
                <a:lnTo>
                  <a:pt x="106720" y="582499"/>
                </a:lnTo>
                <a:lnTo>
                  <a:pt x="69867" y="562620"/>
                </a:lnTo>
                <a:lnTo>
                  <a:pt x="49988" y="525767"/>
                </a:lnTo>
                <a:lnTo>
                  <a:pt x="48353" y="509546"/>
                </a:lnTo>
                <a:lnTo>
                  <a:pt x="48376" y="121603"/>
                </a:lnTo>
                <a:lnTo>
                  <a:pt x="60949" y="80798"/>
                </a:lnTo>
                <a:lnTo>
                  <a:pt x="93056" y="54352"/>
                </a:lnTo>
                <a:lnTo>
                  <a:pt x="123912" y="48378"/>
                </a:lnTo>
                <a:lnTo>
                  <a:pt x="625333" y="48378"/>
                </a:lnTo>
                <a:lnTo>
                  <a:pt x="619795" y="45372"/>
                </a:lnTo>
                <a:lnTo>
                  <a:pt x="604287" y="40557"/>
                </a:lnTo>
                <a:lnTo>
                  <a:pt x="587582" y="38799"/>
                </a:lnTo>
                <a:lnTo>
                  <a:pt x="122939" y="38727"/>
                </a:lnTo>
                <a:close/>
              </a:path>
              <a:path w="709295" h="633095">
                <a:moveTo>
                  <a:pt x="625333" y="48378"/>
                </a:moveTo>
                <a:lnTo>
                  <a:pt x="123912" y="48378"/>
                </a:lnTo>
                <a:lnTo>
                  <a:pt x="587582" y="48500"/>
                </a:lnTo>
                <a:lnTo>
                  <a:pt x="602343" y="50111"/>
                </a:lnTo>
                <a:lnTo>
                  <a:pt x="639196" y="69990"/>
                </a:lnTo>
                <a:lnTo>
                  <a:pt x="659075" y="106843"/>
                </a:lnTo>
                <a:lnTo>
                  <a:pt x="660685" y="511006"/>
                </a:lnTo>
                <a:lnTo>
                  <a:pt x="659075" y="525767"/>
                </a:lnTo>
                <a:lnTo>
                  <a:pt x="639196" y="562620"/>
                </a:lnTo>
                <a:lnTo>
                  <a:pt x="602343" y="582499"/>
                </a:lnTo>
                <a:lnTo>
                  <a:pt x="585149" y="584233"/>
                </a:lnTo>
                <a:lnTo>
                  <a:pt x="625332" y="584233"/>
                </a:lnTo>
                <a:lnTo>
                  <a:pt x="656192" y="557262"/>
                </a:lnTo>
                <a:lnTo>
                  <a:pt x="670386" y="511006"/>
                </a:lnTo>
                <a:lnTo>
                  <a:pt x="670312" y="121603"/>
                </a:lnTo>
                <a:lnTo>
                  <a:pt x="656192" y="75349"/>
                </a:lnTo>
                <a:lnTo>
                  <a:pt x="633837" y="52994"/>
                </a:lnTo>
                <a:lnTo>
                  <a:pt x="625333" y="483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641592" y="3459479"/>
            <a:ext cx="789431" cy="7254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711444" y="3506542"/>
            <a:ext cx="650875" cy="584200"/>
          </a:xfrm>
          <a:custGeom>
            <a:avLst/>
            <a:gdLst/>
            <a:ahLst/>
            <a:cxnLst/>
            <a:rect l="l" t="t" r="r" b="b"/>
            <a:pathLst>
              <a:path w="650875" h="584200">
                <a:moveTo>
                  <a:pt x="552971" y="0"/>
                </a:moveTo>
                <a:lnTo>
                  <a:pt x="97354" y="0"/>
                </a:lnTo>
                <a:lnTo>
                  <a:pt x="59459" y="7650"/>
                </a:lnTo>
                <a:lnTo>
                  <a:pt x="28514" y="28514"/>
                </a:lnTo>
                <a:lnTo>
                  <a:pt x="7650" y="59458"/>
                </a:lnTo>
                <a:lnTo>
                  <a:pt x="0" y="97353"/>
                </a:lnTo>
                <a:lnTo>
                  <a:pt x="0" y="486755"/>
                </a:lnTo>
                <a:lnTo>
                  <a:pt x="7650" y="524649"/>
                </a:lnTo>
                <a:lnTo>
                  <a:pt x="28514" y="555595"/>
                </a:lnTo>
                <a:lnTo>
                  <a:pt x="59459" y="576459"/>
                </a:lnTo>
                <a:lnTo>
                  <a:pt x="97354" y="584109"/>
                </a:lnTo>
                <a:lnTo>
                  <a:pt x="552971" y="584109"/>
                </a:lnTo>
                <a:lnTo>
                  <a:pt x="590866" y="576459"/>
                </a:lnTo>
                <a:lnTo>
                  <a:pt x="621811" y="555595"/>
                </a:lnTo>
                <a:lnTo>
                  <a:pt x="642674" y="524649"/>
                </a:lnTo>
                <a:lnTo>
                  <a:pt x="650325" y="486755"/>
                </a:lnTo>
                <a:lnTo>
                  <a:pt x="650325" y="97353"/>
                </a:lnTo>
                <a:lnTo>
                  <a:pt x="642674" y="59458"/>
                </a:lnTo>
                <a:lnTo>
                  <a:pt x="621811" y="28514"/>
                </a:lnTo>
                <a:lnTo>
                  <a:pt x="590866" y="7650"/>
                </a:lnTo>
                <a:lnTo>
                  <a:pt x="552971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687317" y="3482291"/>
            <a:ext cx="699135" cy="633095"/>
          </a:xfrm>
          <a:custGeom>
            <a:avLst/>
            <a:gdLst/>
            <a:ahLst/>
            <a:cxnLst/>
            <a:rect l="l" t="t" r="r" b="b"/>
            <a:pathLst>
              <a:path w="699134" h="633095">
                <a:moveTo>
                  <a:pt x="577099" y="0"/>
                </a:moveTo>
                <a:lnTo>
                  <a:pt x="119049" y="121"/>
                </a:lnTo>
                <a:lnTo>
                  <a:pt x="74880" y="9211"/>
                </a:lnTo>
                <a:lnTo>
                  <a:pt x="36017" y="35043"/>
                </a:lnTo>
                <a:lnTo>
                  <a:pt x="9707" y="73538"/>
                </a:lnTo>
                <a:lnTo>
                  <a:pt x="110" y="119171"/>
                </a:lnTo>
                <a:lnTo>
                  <a:pt x="0" y="513438"/>
                </a:lnTo>
                <a:lnTo>
                  <a:pt x="2141" y="534672"/>
                </a:lnTo>
                <a:lnTo>
                  <a:pt x="20185" y="578375"/>
                </a:lnTo>
                <a:lnTo>
                  <a:pt x="52818" y="611430"/>
                </a:lnTo>
                <a:lnTo>
                  <a:pt x="96222" y="630022"/>
                </a:lnTo>
                <a:lnTo>
                  <a:pt x="121481" y="632609"/>
                </a:lnTo>
                <a:lnTo>
                  <a:pt x="579531" y="632487"/>
                </a:lnTo>
                <a:lnTo>
                  <a:pt x="623700" y="623398"/>
                </a:lnTo>
                <a:lnTo>
                  <a:pt x="655331" y="603534"/>
                </a:lnTo>
                <a:lnTo>
                  <a:pt x="121481" y="603510"/>
                </a:lnTo>
                <a:lnTo>
                  <a:pt x="102833" y="601605"/>
                </a:lnTo>
                <a:lnTo>
                  <a:pt x="56087" y="576400"/>
                </a:lnTo>
                <a:lnTo>
                  <a:pt x="30882" y="529654"/>
                </a:lnTo>
                <a:lnTo>
                  <a:pt x="28977" y="121603"/>
                </a:lnTo>
                <a:lnTo>
                  <a:pt x="30882" y="102956"/>
                </a:lnTo>
                <a:lnTo>
                  <a:pt x="56087" y="56210"/>
                </a:lnTo>
                <a:lnTo>
                  <a:pt x="102833" y="31004"/>
                </a:lnTo>
                <a:lnTo>
                  <a:pt x="121968" y="29075"/>
                </a:lnTo>
                <a:lnTo>
                  <a:pt x="655332" y="29075"/>
                </a:lnTo>
                <a:lnTo>
                  <a:pt x="645761" y="21179"/>
                </a:lnTo>
                <a:lnTo>
                  <a:pt x="602359" y="2586"/>
                </a:lnTo>
                <a:lnTo>
                  <a:pt x="600765" y="2263"/>
                </a:lnTo>
                <a:lnTo>
                  <a:pt x="577099" y="0"/>
                </a:lnTo>
                <a:close/>
              </a:path>
              <a:path w="699134" h="633095">
                <a:moveTo>
                  <a:pt x="655332" y="29075"/>
                </a:moveTo>
                <a:lnTo>
                  <a:pt x="121968" y="29075"/>
                </a:lnTo>
                <a:lnTo>
                  <a:pt x="577099" y="29100"/>
                </a:lnTo>
                <a:lnTo>
                  <a:pt x="595746" y="31004"/>
                </a:lnTo>
                <a:lnTo>
                  <a:pt x="642493" y="56210"/>
                </a:lnTo>
                <a:lnTo>
                  <a:pt x="667698" y="102956"/>
                </a:lnTo>
                <a:lnTo>
                  <a:pt x="669602" y="511006"/>
                </a:lnTo>
                <a:lnTo>
                  <a:pt x="667698" y="529654"/>
                </a:lnTo>
                <a:lnTo>
                  <a:pt x="642493" y="576400"/>
                </a:lnTo>
                <a:lnTo>
                  <a:pt x="595746" y="601605"/>
                </a:lnTo>
                <a:lnTo>
                  <a:pt x="576613" y="603534"/>
                </a:lnTo>
                <a:lnTo>
                  <a:pt x="655331" y="603534"/>
                </a:lnTo>
                <a:lnTo>
                  <a:pt x="688873" y="559073"/>
                </a:lnTo>
                <a:lnTo>
                  <a:pt x="698703" y="511006"/>
                </a:lnTo>
                <a:lnTo>
                  <a:pt x="698581" y="119171"/>
                </a:lnTo>
                <a:lnTo>
                  <a:pt x="689490" y="75003"/>
                </a:lnTo>
                <a:lnTo>
                  <a:pt x="663660" y="36137"/>
                </a:lnTo>
                <a:lnTo>
                  <a:pt x="662565" y="35043"/>
                </a:lnTo>
                <a:lnTo>
                  <a:pt x="655332" y="29075"/>
                </a:lnTo>
                <a:close/>
              </a:path>
              <a:path w="699134" h="633095">
                <a:moveTo>
                  <a:pt x="122941" y="38727"/>
                </a:moveTo>
                <a:lnTo>
                  <a:pt x="75225" y="52994"/>
                </a:lnTo>
                <a:lnTo>
                  <a:pt x="45250" y="89391"/>
                </a:lnTo>
                <a:lnTo>
                  <a:pt x="38677" y="121603"/>
                </a:lnTo>
                <a:lnTo>
                  <a:pt x="38702" y="510519"/>
                </a:lnTo>
                <a:lnTo>
                  <a:pt x="52871" y="557262"/>
                </a:lnTo>
                <a:lnTo>
                  <a:pt x="89269" y="587237"/>
                </a:lnTo>
                <a:lnTo>
                  <a:pt x="575640" y="593883"/>
                </a:lnTo>
                <a:lnTo>
                  <a:pt x="593803" y="592052"/>
                </a:lnTo>
                <a:lnTo>
                  <a:pt x="609311" y="587237"/>
                </a:lnTo>
                <a:lnTo>
                  <a:pt x="614848" y="584233"/>
                </a:lnTo>
                <a:lnTo>
                  <a:pt x="121481" y="584109"/>
                </a:lnTo>
                <a:lnTo>
                  <a:pt x="106720" y="582499"/>
                </a:lnTo>
                <a:lnTo>
                  <a:pt x="69867" y="562620"/>
                </a:lnTo>
                <a:lnTo>
                  <a:pt x="49988" y="525767"/>
                </a:lnTo>
                <a:lnTo>
                  <a:pt x="48354" y="509546"/>
                </a:lnTo>
                <a:lnTo>
                  <a:pt x="48378" y="121603"/>
                </a:lnTo>
                <a:lnTo>
                  <a:pt x="60949" y="80798"/>
                </a:lnTo>
                <a:lnTo>
                  <a:pt x="93056" y="54352"/>
                </a:lnTo>
                <a:lnTo>
                  <a:pt x="123913" y="48378"/>
                </a:lnTo>
                <a:lnTo>
                  <a:pt x="614849" y="48378"/>
                </a:lnTo>
                <a:lnTo>
                  <a:pt x="609311" y="45372"/>
                </a:lnTo>
                <a:lnTo>
                  <a:pt x="593803" y="40557"/>
                </a:lnTo>
                <a:lnTo>
                  <a:pt x="577099" y="38799"/>
                </a:lnTo>
                <a:lnTo>
                  <a:pt x="122941" y="38727"/>
                </a:lnTo>
                <a:close/>
              </a:path>
              <a:path w="699134" h="633095">
                <a:moveTo>
                  <a:pt x="614849" y="48378"/>
                </a:moveTo>
                <a:lnTo>
                  <a:pt x="123913" y="48378"/>
                </a:lnTo>
                <a:lnTo>
                  <a:pt x="577099" y="48500"/>
                </a:lnTo>
                <a:lnTo>
                  <a:pt x="591859" y="50111"/>
                </a:lnTo>
                <a:lnTo>
                  <a:pt x="628712" y="69990"/>
                </a:lnTo>
                <a:lnTo>
                  <a:pt x="648591" y="106843"/>
                </a:lnTo>
                <a:lnTo>
                  <a:pt x="650203" y="511006"/>
                </a:lnTo>
                <a:lnTo>
                  <a:pt x="648591" y="525767"/>
                </a:lnTo>
                <a:lnTo>
                  <a:pt x="628712" y="562620"/>
                </a:lnTo>
                <a:lnTo>
                  <a:pt x="591859" y="582499"/>
                </a:lnTo>
                <a:lnTo>
                  <a:pt x="574667" y="584233"/>
                </a:lnTo>
                <a:lnTo>
                  <a:pt x="614848" y="584233"/>
                </a:lnTo>
                <a:lnTo>
                  <a:pt x="645708" y="557262"/>
                </a:lnTo>
                <a:lnTo>
                  <a:pt x="659903" y="511006"/>
                </a:lnTo>
                <a:lnTo>
                  <a:pt x="659828" y="121603"/>
                </a:lnTo>
                <a:lnTo>
                  <a:pt x="645708" y="75349"/>
                </a:lnTo>
                <a:lnTo>
                  <a:pt x="623354" y="52994"/>
                </a:lnTo>
                <a:lnTo>
                  <a:pt x="614849" y="483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924413" y="3850670"/>
            <a:ext cx="233045" cy="0"/>
          </a:xfrm>
          <a:custGeom>
            <a:avLst/>
            <a:gdLst/>
            <a:ahLst/>
            <a:cxnLst/>
            <a:rect l="l" t="t" r="r" b="b"/>
            <a:pathLst>
              <a:path w="233045" h="0">
                <a:moveTo>
                  <a:pt x="0" y="0"/>
                </a:moveTo>
                <a:lnTo>
                  <a:pt x="232761" y="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150905" y="3832026"/>
            <a:ext cx="41910" cy="39370"/>
          </a:xfrm>
          <a:custGeom>
            <a:avLst/>
            <a:gdLst/>
            <a:ahLst/>
            <a:cxnLst/>
            <a:rect l="l" t="t" r="r" b="b"/>
            <a:pathLst>
              <a:path w="41909" h="39370">
                <a:moveTo>
                  <a:pt x="20683" y="0"/>
                </a:moveTo>
                <a:lnTo>
                  <a:pt x="12632" y="1528"/>
                </a:lnTo>
                <a:lnTo>
                  <a:pt x="6057" y="5698"/>
                </a:lnTo>
                <a:lnTo>
                  <a:pt x="1625" y="11883"/>
                </a:lnTo>
                <a:lnTo>
                  <a:pt x="0" y="19456"/>
                </a:lnTo>
                <a:lnTo>
                  <a:pt x="1625" y="27028"/>
                </a:lnTo>
                <a:lnTo>
                  <a:pt x="6057" y="33213"/>
                </a:lnTo>
                <a:lnTo>
                  <a:pt x="12632" y="37382"/>
                </a:lnTo>
                <a:lnTo>
                  <a:pt x="20683" y="38911"/>
                </a:lnTo>
                <a:lnTo>
                  <a:pt x="28733" y="37382"/>
                </a:lnTo>
                <a:lnTo>
                  <a:pt x="35307" y="33213"/>
                </a:lnTo>
                <a:lnTo>
                  <a:pt x="39739" y="27028"/>
                </a:lnTo>
                <a:lnTo>
                  <a:pt x="41365" y="19456"/>
                </a:lnTo>
                <a:lnTo>
                  <a:pt x="39739" y="11883"/>
                </a:lnTo>
                <a:lnTo>
                  <a:pt x="35307" y="5698"/>
                </a:lnTo>
                <a:lnTo>
                  <a:pt x="28733" y="1528"/>
                </a:lnTo>
                <a:lnTo>
                  <a:pt x="206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144508" y="3825640"/>
            <a:ext cx="54610" cy="52069"/>
          </a:xfrm>
          <a:custGeom>
            <a:avLst/>
            <a:gdLst/>
            <a:ahLst/>
            <a:cxnLst/>
            <a:rect l="l" t="t" r="r" b="b"/>
            <a:pathLst>
              <a:path w="54609" h="52070">
                <a:moveTo>
                  <a:pt x="27481" y="0"/>
                </a:moveTo>
                <a:lnTo>
                  <a:pt x="26677" y="0"/>
                </a:lnTo>
                <a:lnTo>
                  <a:pt x="17057" y="1826"/>
                </a:lnTo>
                <a:lnTo>
                  <a:pt x="0" y="25388"/>
                </a:lnTo>
                <a:lnTo>
                  <a:pt x="0" y="26296"/>
                </a:lnTo>
                <a:lnTo>
                  <a:pt x="26677" y="51686"/>
                </a:lnTo>
                <a:lnTo>
                  <a:pt x="27481" y="51686"/>
                </a:lnTo>
                <a:lnTo>
                  <a:pt x="37103" y="49858"/>
                </a:lnTo>
                <a:lnTo>
                  <a:pt x="37854" y="49561"/>
                </a:lnTo>
                <a:lnTo>
                  <a:pt x="45793" y="44526"/>
                </a:lnTo>
                <a:lnTo>
                  <a:pt x="46343" y="44005"/>
                </a:lnTo>
                <a:lnTo>
                  <a:pt x="27080" y="44005"/>
                </a:lnTo>
                <a:lnTo>
                  <a:pt x="19504" y="42567"/>
                </a:lnTo>
                <a:lnTo>
                  <a:pt x="13343" y="38660"/>
                </a:lnTo>
                <a:lnTo>
                  <a:pt x="9208" y="32890"/>
                </a:lnTo>
                <a:lnTo>
                  <a:pt x="7793" y="26296"/>
                </a:lnTo>
                <a:lnTo>
                  <a:pt x="7793" y="25388"/>
                </a:lnTo>
                <a:lnTo>
                  <a:pt x="9208" y="18794"/>
                </a:lnTo>
                <a:lnTo>
                  <a:pt x="13343" y="13025"/>
                </a:lnTo>
                <a:lnTo>
                  <a:pt x="19504" y="9118"/>
                </a:lnTo>
                <a:lnTo>
                  <a:pt x="27080" y="7679"/>
                </a:lnTo>
                <a:lnTo>
                  <a:pt x="46343" y="7679"/>
                </a:lnTo>
                <a:lnTo>
                  <a:pt x="45793" y="7158"/>
                </a:lnTo>
                <a:lnTo>
                  <a:pt x="37854" y="2123"/>
                </a:lnTo>
                <a:lnTo>
                  <a:pt x="37103" y="1826"/>
                </a:lnTo>
                <a:lnTo>
                  <a:pt x="27481" y="0"/>
                </a:lnTo>
                <a:close/>
              </a:path>
              <a:path w="54609" h="52070">
                <a:moveTo>
                  <a:pt x="46343" y="7679"/>
                </a:moveTo>
                <a:lnTo>
                  <a:pt x="27080" y="7679"/>
                </a:lnTo>
                <a:lnTo>
                  <a:pt x="34654" y="9118"/>
                </a:lnTo>
                <a:lnTo>
                  <a:pt x="40816" y="13025"/>
                </a:lnTo>
                <a:lnTo>
                  <a:pt x="44950" y="18794"/>
                </a:lnTo>
                <a:lnTo>
                  <a:pt x="46365" y="25388"/>
                </a:lnTo>
                <a:lnTo>
                  <a:pt x="46365" y="26296"/>
                </a:lnTo>
                <a:lnTo>
                  <a:pt x="44950" y="32890"/>
                </a:lnTo>
                <a:lnTo>
                  <a:pt x="40816" y="38660"/>
                </a:lnTo>
                <a:lnTo>
                  <a:pt x="34654" y="42567"/>
                </a:lnTo>
                <a:lnTo>
                  <a:pt x="27080" y="44005"/>
                </a:lnTo>
                <a:lnTo>
                  <a:pt x="46343" y="44005"/>
                </a:lnTo>
                <a:lnTo>
                  <a:pt x="51805" y="36407"/>
                </a:lnTo>
                <a:lnTo>
                  <a:pt x="52162" y="35600"/>
                </a:lnTo>
                <a:lnTo>
                  <a:pt x="54159" y="26296"/>
                </a:lnTo>
                <a:lnTo>
                  <a:pt x="54159" y="25388"/>
                </a:lnTo>
                <a:lnTo>
                  <a:pt x="52162" y="16084"/>
                </a:lnTo>
                <a:lnTo>
                  <a:pt x="51805" y="15279"/>
                </a:lnTo>
                <a:lnTo>
                  <a:pt x="46343" y="7679"/>
                </a:lnTo>
                <a:close/>
              </a:path>
              <a:path w="54609" h="52070">
                <a:moveTo>
                  <a:pt x="27080" y="10265"/>
                </a:moveTo>
                <a:lnTo>
                  <a:pt x="10391" y="26296"/>
                </a:lnTo>
                <a:lnTo>
                  <a:pt x="11581" y="31841"/>
                </a:lnTo>
                <a:lnTo>
                  <a:pt x="15120" y="36779"/>
                </a:lnTo>
                <a:lnTo>
                  <a:pt x="20454" y="40162"/>
                </a:lnTo>
                <a:lnTo>
                  <a:pt x="27080" y="41421"/>
                </a:lnTo>
                <a:lnTo>
                  <a:pt x="33704" y="40162"/>
                </a:lnTo>
                <a:lnTo>
                  <a:pt x="35796" y="38835"/>
                </a:lnTo>
                <a:lnTo>
                  <a:pt x="27080" y="38835"/>
                </a:lnTo>
                <a:lnTo>
                  <a:pt x="21405" y="37757"/>
                </a:lnTo>
                <a:lnTo>
                  <a:pt x="16897" y="34898"/>
                </a:lnTo>
                <a:lnTo>
                  <a:pt x="13953" y="30791"/>
                </a:lnTo>
                <a:lnTo>
                  <a:pt x="12989" y="26296"/>
                </a:lnTo>
                <a:lnTo>
                  <a:pt x="12989" y="25388"/>
                </a:lnTo>
                <a:lnTo>
                  <a:pt x="13953" y="20894"/>
                </a:lnTo>
                <a:lnTo>
                  <a:pt x="16897" y="16786"/>
                </a:lnTo>
                <a:lnTo>
                  <a:pt x="21405" y="13928"/>
                </a:lnTo>
                <a:lnTo>
                  <a:pt x="27080" y="12849"/>
                </a:lnTo>
                <a:lnTo>
                  <a:pt x="35796" y="12849"/>
                </a:lnTo>
                <a:lnTo>
                  <a:pt x="33704" y="11522"/>
                </a:lnTo>
                <a:lnTo>
                  <a:pt x="27080" y="10265"/>
                </a:lnTo>
                <a:close/>
              </a:path>
              <a:path w="54609" h="52070">
                <a:moveTo>
                  <a:pt x="35796" y="12849"/>
                </a:moveTo>
                <a:lnTo>
                  <a:pt x="27080" y="12849"/>
                </a:lnTo>
                <a:lnTo>
                  <a:pt x="32753" y="13928"/>
                </a:lnTo>
                <a:lnTo>
                  <a:pt x="37261" y="16786"/>
                </a:lnTo>
                <a:lnTo>
                  <a:pt x="40205" y="20894"/>
                </a:lnTo>
                <a:lnTo>
                  <a:pt x="41169" y="25388"/>
                </a:lnTo>
                <a:lnTo>
                  <a:pt x="41170" y="26296"/>
                </a:lnTo>
                <a:lnTo>
                  <a:pt x="40205" y="30791"/>
                </a:lnTo>
                <a:lnTo>
                  <a:pt x="37261" y="34898"/>
                </a:lnTo>
                <a:lnTo>
                  <a:pt x="32753" y="37757"/>
                </a:lnTo>
                <a:lnTo>
                  <a:pt x="27080" y="38835"/>
                </a:lnTo>
                <a:lnTo>
                  <a:pt x="35796" y="38835"/>
                </a:lnTo>
                <a:lnTo>
                  <a:pt x="39038" y="36779"/>
                </a:lnTo>
                <a:lnTo>
                  <a:pt x="42578" y="31841"/>
                </a:lnTo>
                <a:lnTo>
                  <a:pt x="43768" y="26296"/>
                </a:lnTo>
                <a:lnTo>
                  <a:pt x="43768" y="25388"/>
                </a:lnTo>
                <a:lnTo>
                  <a:pt x="42578" y="19845"/>
                </a:lnTo>
                <a:lnTo>
                  <a:pt x="39038" y="14905"/>
                </a:lnTo>
                <a:lnTo>
                  <a:pt x="35796" y="1284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882284" y="3830095"/>
            <a:ext cx="41910" cy="39370"/>
          </a:xfrm>
          <a:custGeom>
            <a:avLst/>
            <a:gdLst/>
            <a:ahLst/>
            <a:cxnLst/>
            <a:rect l="l" t="t" r="r" b="b"/>
            <a:pathLst>
              <a:path w="41909" h="39370">
                <a:moveTo>
                  <a:pt x="20681" y="0"/>
                </a:moveTo>
                <a:lnTo>
                  <a:pt x="12631" y="1528"/>
                </a:lnTo>
                <a:lnTo>
                  <a:pt x="6057" y="5698"/>
                </a:lnTo>
                <a:lnTo>
                  <a:pt x="1625" y="11883"/>
                </a:lnTo>
                <a:lnTo>
                  <a:pt x="0" y="19456"/>
                </a:lnTo>
                <a:lnTo>
                  <a:pt x="1625" y="27028"/>
                </a:lnTo>
                <a:lnTo>
                  <a:pt x="6057" y="33213"/>
                </a:lnTo>
                <a:lnTo>
                  <a:pt x="12631" y="37382"/>
                </a:lnTo>
                <a:lnTo>
                  <a:pt x="20681" y="38911"/>
                </a:lnTo>
                <a:lnTo>
                  <a:pt x="28733" y="37382"/>
                </a:lnTo>
                <a:lnTo>
                  <a:pt x="35307" y="33213"/>
                </a:lnTo>
                <a:lnTo>
                  <a:pt x="39739" y="27028"/>
                </a:lnTo>
                <a:lnTo>
                  <a:pt x="41365" y="19456"/>
                </a:lnTo>
                <a:lnTo>
                  <a:pt x="39739" y="11883"/>
                </a:lnTo>
                <a:lnTo>
                  <a:pt x="35307" y="5698"/>
                </a:lnTo>
                <a:lnTo>
                  <a:pt x="28733" y="1528"/>
                </a:lnTo>
                <a:lnTo>
                  <a:pt x="2068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875888" y="3823708"/>
            <a:ext cx="54610" cy="52069"/>
          </a:xfrm>
          <a:custGeom>
            <a:avLst/>
            <a:gdLst/>
            <a:ahLst/>
            <a:cxnLst/>
            <a:rect l="l" t="t" r="r" b="b"/>
            <a:pathLst>
              <a:path w="54609" h="52070">
                <a:moveTo>
                  <a:pt x="27481" y="0"/>
                </a:moveTo>
                <a:lnTo>
                  <a:pt x="26677" y="0"/>
                </a:lnTo>
                <a:lnTo>
                  <a:pt x="17056" y="1826"/>
                </a:lnTo>
                <a:lnTo>
                  <a:pt x="0" y="25388"/>
                </a:lnTo>
                <a:lnTo>
                  <a:pt x="0" y="26296"/>
                </a:lnTo>
                <a:lnTo>
                  <a:pt x="26677" y="51686"/>
                </a:lnTo>
                <a:lnTo>
                  <a:pt x="27481" y="51686"/>
                </a:lnTo>
                <a:lnTo>
                  <a:pt x="37101" y="49858"/>
                </a:lnTo>
                <a:lnTo>
                  <a:pt x="37853" y="49561"/>
                </a:lnTo>
                <a:lnTo>
                  <a:pt x="45793" y="44526"/>
                </a:lnTo>
                <a:lnTo>
                  <a:pt x="46343" y="44005"/>
                </a:lnTo>
                <a:lnTo>
                  <a:pt x="27078" y="44005"/>
                </a:lnTo>
                <a:lnTo>
                  <a:pt x="19504" y="42567"/>
                </a:lnTo>
                <a:lnTo>
                  <a:pt x="13342" y="38660"/>
                </a:lnTo>
                <a:lnTo>
                  <a:pt x="9208" y="32890"/>
                </a:lnTo>
                <a:lnTo>
                  <a:pt x="7793" y="26296"/>
                </a:lnTo>
                <a:lnTo>
                  <a:pt x="7793" y="25388"/>
                </a:lnTo>
                <a:lnTo>
                  <a:pt x="9208" y="18794"/>
                </a:lnTo>
                <a:lnTo>
                  <a:pt x="13342" y="13025"/>
                </a:lnTo>
                <a:lnTo>
                  <a:pt x="19504" y="9118"/>
                </a:lnTo>
                <a:lnTo>
                  <a:pt x="27078" y="7679"/>
                </a:lnTo>
                <a:lnTo>
                  <a:pt x="46343" y="7679"/>
                </a:lnTo>
                <a:lnTo>
                  <a:pt x="45793" y="7158"/>
                </a:lnTo>
                <a:lnTo>
                  <a:pt x="37853" y="2123"/>
                </a:lnTo>
                <a:lnTo>
                  <a:pt x="37101" y="1826"/>
                </a:lnTo>
                <a:lnTo>
                  <a:pt x="27481" y="0"/>
                </a:lnTo>
                <a:close/>
              </a:path>
              <a:path w="54609" h="52070">
                <a:moveTo>
                  <a:pt x="46343" y="7679"/>
                </a:moveTo>
                <a:lnTo>
                  <a:pt x="27078" y="7679"/>
                </a:lnTo>
                <a:lnTo>
                  <a:pt x="34654" y="9118"/>
                </a:lnTo>
                <a:lnTo>
                  <a:pt x="40815" y="13025"/>
                </a:lnTo>
                <a:lnTo>
                  <a:pt x="44950" y="18794"/>
                </a:lnTo>
                <a:lnTo>
                  <a:pt x="46365" y="25388"/>
                </a:lnTo>
                <a:lnTo>
                  <a:pt x="46365" y="26296"/>
                </a:lnTo>
                <a:lnTo>
                  <a:pt x="44950" y="32890"/>
                </a:lnTo>
                <a:lnTo>
                  <a:pt x="40815" y="38660"/>
                </a:lnTo>
                <a:lnTo>
                  <a:pt x="34654" y="42567"/>
                </a:lnTo>
                <a:lnTo>
                  <a:pt x="27078" y="44005"/>
                </a:lnTo>
                <a:lnTo>
                  <a:pt x="46343" y="44005"/>
                </a:lnTo>
                <a:lnTo>
                  <a:pt x="51805" y="36405"/>
                </a:lnTo>
                <a:lnTo>
                  <a:pt x="52162" y="35600"/>
                </a:lnTo>
                <a:lnTo>
                  <a:pt x="54159" y="26296"/>
                </a:lnTo>
                <a:lnTo>
                  <a:pt x="54159" y="25388"/>
                </a:lnTo>
                <a:lnTo>
                  <a:pt x="52162" y="16084"/>
                </a:lnTo>
                <a:lnTo>
                  <a:pt x="51805" y="15279"/>
                </a:lnTo>
                <a:lnTo>
                  <a:pt x="46343" y="7679"/>
                </a:lnTo>
                <a:close/>
              </a:path>
              <a:path w="54609" h="52070">
                <a:moveTo>
                  <a:pt x="27078" y="10265"/>
                </a:moveTo>
                <a:lnTo>
                  <a:pt x="10390" y="26296"/>
                </a:lnTo>
                <a:lnTo>
                  <a:pt x="11581" y="31841"/>
                </a:lnTo>
                <a:lnTo>
                  <a:pt x="15120" y="36779"/>
                </a:lnTo>
                <a:lnTo>
                  <a:pt x="20454" y="40162"/>
                </a:lnTo>
                <a:lnTo>
                  <a:pt x="27078" y="41421"/>
                </a:lnTo>
                <a:lnTo>
                  <a:pt x="33704" y="40162"/>
                </a:lnTo>
                <a:lnTo>
                  <a:pt x="35796" y="38835"/>
                </a:lnTo>
                <a:lnTo>
                  <a:pt x="27078" y="38835"/>
                </a:lnTo>
                <a:lnTo>
                  <a:pt x="21405" y="37757"/>
                </a:lnTo>
                <a:lnTo>
                  <a:pt x="16897" y="34898"/>
                </a:lnTo>
                <a:lnTo>
                  <a:pt x="13953" y="30791"/>
                </a:lnTo>
                <a:lnTo>
                  <a:pt x="12989" y="26296"/>
                </a:lnTo>
                <a:lnTo>
                  <a:pt x="12989" y="25388"/>
                </a:lnTo>
                <a:lnTo>
                  <a:pt x="13953" y="20894"/>
                </a:lnTo>
                <a:lnTo>
                  <a:pt x="16897" y="16786"/>
                </a:lnTo>
                <a:lnTo>
                  <a:pt x="21405" y="13928"/>
                </a:lnTo>
                <a:lnTo>
                  <a:pt x="27078" y="12849"/>
                </a:lnTo>
                <a:lnTo>
                  <a:pt x="35796" y="12849"/>
                </a:lnTo>
                <a:lnTo>
                  <a:pt x="33704" y="11522"/>
                </a:lnTo>
                <a:lnTo>
                  <a:pt x="27078" y="10265"/>
                </a:lnTo>
                <a:close/>
              </a:path>
              <a:path w="54609" h="52070">
                <a:moveTo>
                  <a:pt x="35796" y="12849"/>
                </a:moveTo>
                <a:lnTo>
                  <a:pt x="27078" y="12849"/>
                </a:lnTo>
                <a:lnTo>
                  <a:pt x="32753" y="13928"/>
                </a:lnTo>
                <a:lnTo>
                  <a:pt x="37261" y="16786"/>
                </a:lnTo>
                <a:lnTo>
                  <a:pt x="40205" y="20894"/>
                </a:lnTo>
                <a:lnTo>
                  <a:pt x="41169" y="25388"/>
                </a:lnTo>
                <a:lnTo>
                  <a:pt x="41170" y="26296"/>
                </a:lnTo>
                <a:lnTo>
                  <a:pt x="40205" y="30791"/>
                </a:lnTo>
                <a:lnTo>
                  <a:pt x="37261" y="34898"/>
                </a:lnTo>
                <a:lnTo>
                  <a:pt x="32753" y="37757"/>
                </a:lnTo>
                <a:lnTo>
                  <a:pt x="27078" y="38835"/>
                </a:lnTo>
                <a:lnTo>
                  <a:pt x="35796" y="38835"/>
                </a:lnTo>
                <a:lnTo>
                  <a:pt x="39038" y="36779"/>
                </a:lnTo>
                <a:lnTo>
                  <a:pt x="42578" y="31841"/>
                </a:lnTo>
                <a:lnTo>
                  <a:pt x="43768" y="26296"/>
                </a:lnTo>
                <a:lnTo>
                  <a:pt x="43768" y="25388"/>
                </a:lnTo>
                <a:lnTo>
                  <a:pt x="42578" y="19845"/>
                </a:lnTo>
                <a:lnTo>
                  <a:pt x="39038" y="14905"/>
                </a:lnTo>
                <a:lnTo>
                  <a:pt x="35796" y="12849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604555" y="3735560"/>
            <a:ext cx="151765" cy="229235"/>
          </a:xfrm>
          <a:custGeom>
            <a:avLst/>
            <a:gdLst/>
            <a:ahLst/>
            <a:cxnLst/>
            <a:rect l="l" t="t" r="r" b="b"/>
            <a:pathLst>
              <a:path w="151765" h="229235">
                <a:moveTo>
                  <a:pt x="0" y="228943"/>
                </a:moveTo>
                <a:lnTo>
                  <a:pt x="1512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755755" y="3735560"/>
            <a:ext cx="115570" cy="229235"/>
          </a:xfrm>
          <a:custGeom>
            <a:avLst/>
            <a:gdLst/>
            <a:ahLst/>
            <a:cxnLst/>
            <a:rect l="l" t="t" r="r" b="b"/>
            <a:pathLst>
              <a:path w="115570" h="229235">
                <a:moveTo>
                  <a:pt x="0" y="0"/>
                </a:moveTo>
                <a:lnTo>
                  <a:pt x="115069" y="22878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604555" y="3964345"/>
            <a:ext cx="266700" cy="635"/>
          </a:xfrm>
          <a:custGeom>
            <a:avLst/>
            <a:gdLst/>
            <a:ahLst/>
            <a:cxnLst/>
            <a:rect l="l" t="t" r="r" b="b"/>
            <a:pathLst>
              <a:path w="266700" h="635">
                <a:moveTo>
                  <a:pt x="0" y="157"/>
                </a:moveTo>
                <a:lnTo>
                  <a:pt x="26627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734209" y="3723017"/>
            <a:ext cx="41275" cy="39370"/>
          </a:xfrm>
          <a:custGeom>
            <a:avLst/>
            <a:gdLst/>
            <a:ahLst/>
            <a:cxnLst/>
            <a:rect l="l" t="t" r="r" b="b"/>
            <a:pathLst>
              <a:path w="41275" h="39370">
                <a:moveTo>
                  <a:pt x="22284" y="0"/>
                </a:moveTo>
                <a:lnTo>
                  <a:pt x="14173" y="1164"/>
                </a:lnTo>
                <a:lnTo>
                  <a:pt x="7053" y="5221"/>
                </a:lnTo>
                <a:lnTo>
                  <a:pt x="2187" y="11298"/>
                </a:lnTo>
                <a:lnTo>
                  <a:pt x="0" y="18586"/>
                </a:lnTo>
                <a:lnTo>
                  <a:pt x="918" y="26277"/>
                </a:lnTo>
                <a:lnTo>
                  <a:pt x="4912" y="32913"/>
                </a:lnTo>
                <a:lnTo>
                  <a:pt x="11110" y="37325"/>
                </a:lnTo>
                <a:lnTo>
                  <a:pt x="18682" y="39137"/>
                </a:lnTo>
                <a:lnTo>
                  <a:pt x="26793" y="37972"/>
                </a:lnTo>
                <a:lnTo>
                  <a:pt x="33913" y="33915"/>
                </a:lnTo>
                <a:lnTo>
                  <a:pt x="38779" y="27839"/>
                </a:lnTo>
                <a:lnTo>
                  <a:pt x="40967" y="20552"/>
                </a:lnTo>
                <a:lnTo>
                  <a:pt x="40048" y="12861"/>
                </a:lnTo>
                <a:lnTo>
                  <a:pt x="36054" y="6224"/>
                </a:lnTo>
                <a:lnTo>
                  <a:pt x="29856" y="1812"/>
                </a:lnTo>
                <a:lnTo>
                  <a:pt x="2228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7727877" y="3716618"/>
            <a:ext cx="53975" cy="52069"/>
          </a:xfrm>
          <a:custGeom>
            <a:avLst/>
            <a:gdLst/>
            <a:ahLst/>
            <a:cxnLst/>
            <a:rect l="l" t="t" r="r" b="b"/>
            <a:pathLst>
              <a:path w="53975" h="52070">
                <a:moveTo>
                  <a:pt x="28507" y="0"/>
                </a:moveTo>
                <a:lnTo>
                  <a:pt x="0" y="23995"/>
                </a:lnTo>
                <a:lnTo>
                  <a:pt x="4" y="25544"/>
                </a:lnTo>
                <a:lnTo>
                  <a:pt x="25123" y="51936"/>
                </a:lnTo>
                <a:lnTo>
                  <a:pt x="34817" y="50545"/>
                </a:lnTo>
                <a:lnTo>
                  <a:pt x="35576" y="50284"/>
                </a:lnTo>
                <a:lnTo>
                  <a:pt x="44085" y="45435"/>
                </a:lnTo>
                <a:lnTo>
                  <a:pt x="44700" y="44911"/>
                </a:lnTo>
                <a:lnTo>
                  <a:pt x="45233" y="44245"/>
                </a:lnTo>
                <a:lnTo>
                  <a:pt x="25073" y="44245"/>
                </a:lnTo>
                <a:lnTo>
                  <a:pt x="17978" y="42547"/>
                </a:lnTo>
                <a:lnTo>
                  <a:pt x="12195" y="38431"/>
                </a:lnTo>
                <a:lnTo>
                  <a:pt x="8479" y="32255"/>
                </a:lnTo>
                <a:lnTo>
                  <a:pt x="7678" y="25544"/>
                </a:lnTo>
                <a:lnTo>
                  <a:pt x="7692" y="24872"/>
                </a:lnTo>
                <a:lnTo>
                  <a:pt x="9664" y="18299"/>
                </a:lnTo>
                <a:lnTo>
                  <a:pt x="14225" y="12604"/>
                </a:lnTo>
                <a:lnTo>
                  <a:pt x="20924" y="8787"/>
                </a:lnTo>
                <a:lnTo>
                  <a:pt x="28557" y="7691"/>
                </a:lnTo>
                <a:lnTo>
                  <a:pt x="46406" y="7691"/>
                </a:lnTo>
                <a:lnTo>
                  <a:pt x="39206" y="2566"/>
                </a:lnTo>
                <a:lnTo>
                  <a:pt x="38458" y="2226"/>
                </a:lnTo>
                <a:lnTo>
                  <a:pt x="29315" y="38"/>
                </a:lnTo>
                <a:lnTo>
                  <a:pt x="28507" y="0"/>
                </a:lnTo>
                <a:close/>
              </a:path>
              <a:path w="53975" h="52070">
                <a:moveTo>
                  <a:pt x="46406" y="7691"/>
                </a:moveTo>
                <a:lnTo>
                  <a:pt x="28557" y="7691"/>
                </a:lnTo>
                <a:lnTo>
                  <a:pt x="35652" y="9389"/>
                </a:lnTo>
                <a:lnTo>
                  <a:pt x="41435" y="13505"/>
                </a:lnTo>
                <a:lnTo>
                  <a:pt x="45151" y="19682"/>
                </a:lnTo>
                <a:lnTo>
                  <a:pt x="45824" y="25321"/>
                </a:lnTo>
                <a:lnTo>
                  <a:pt x="45938" y="27064"/>
                </a:lnTo>
                <a:lnTo>
                  <a:pt x="43966" y="33638"/>
                </a:lnTo>
                <a:lnTo>
                  <a:pt x="39405" y="39333"/>
                </a:lnTo>
                <a:lnTo>
                  <a:pt x="32706" y="43150"/>
                </a:lnTo>
                <a:lnTo>
                  <a:pt x="25073" y="44245"/>
                </a:lnTo>
                <a:lnTo>
                  <a:pt x="45233" y="44245"/>
                </a:lnTo>
                <a:lnTo>
                  <a:pt x="50577" y="37572"/>
                </a:lnTo>
                <a:lnTo>
                  <a:pt x="50958" y="36845"/>
                </a:lnTo>
                <a:lnTo>
                  <a:pt x="53630" y="27942"/>
                </a:lnTo>
                <a:lnTo>
                  <a:pt x="53525" y="25544"/>
                </a:lnTo>
                <a:lnTo>
                  <a:pt x="52578" y="17616"/>
                </a:lnTo>
                <a:lnTo>
                  <a:pt x="52284" y="16756"/>
                </a:lnTo>
                <a:lnTo>
                  <a:pt x="47377" y="8602"/>
                </a:lnTo>
                <a:lnTo>
                  <a:pt x="46779" y="7956"/>
                </a:lnTo>
                <a:lnTo>
                  <a:pt x="46406" y="7691"/>
                </a:lnTo>
                <a:close/>
              </a:path>
              <a:path w="53975" h="52070">
                <a:moveTo>
                  <a:pt x="28437" y="10274"/>
                </a:moveTo>
                <a:lnTo>
                  <a:pt x="10236" y="25544"/>
                </a:lnTo>
                <a:lnTo>
                  <a:pt x="10937" y="31412"/>
                </a:lnTo>
                <a:lnTo>
                  <a:pt x="14099" y="36668"/>
                </a:lnTo>
                <a:lnTo>
                  <a:pt x="19050" y="40192"/>
                </a:lnTo>
                <a:lnTo>
                  <a:pt x="25192" y="41662"/>
                </a:lnTo>
                <a:lnTo>
                  <a:pt x="31868" y="40704"/>
                </a:lnTo>
                <a:lnTo>
                  <a:pt x="34720" y="39079"/>
                </a:lnTo>
                <a:lnTo>
                  <a:pt x="25312" y="39079"/>
                </a:lnTo>
                <a:lnTo>
                  <a:pt x="20120" y="37837"/>
                </a:lnTo>
                <a:lnTo>
                  <a:pt x="16003" y="34907"/>
                </a:lnTo>
                <a:lnTo>
                  <a:pt x="13394" y="30570"/>
                </a:lnTo>
                <a:lnTo>
                  <a:pt x="12895" y="26393"/>
                </a:lnTo>
                <a:lnTo>
                  <a:pt x="12995" y="24872"/>
                </a:lnTo>
                <a:lnTo>
                  <a:pt x="14246" y="20704"/>
                </a:lnTo>
                <a:lnTo>
                  <a:pt x="17584" y="16537"/>
                </a:lnTo>
                <a:lnTo>
                  <a:pt x="22602" y="13677"/>
                </a:lnTo>
                <a:lnTo>
                  <a:pt x="28318" y="12857"/>
                </a:lnTo>
                <a:lnTo>
                  <a:pt x="36144" y="12857"/>
                </a:lnTo>
                <a:lnTo>
                  <a:pt x="34580" y="11744"/>
                </a:lnTo>
                <a:lnTo>
                  <a:pt x="28437" y="10274"/>
                </a:lnTo>
                <a:close/>
              </a:path>
              <a:path w="53975" h="52070">
                <a:moveTo>
                  <a:pt x="36144" y="12857"/>
                </a:moveTo>
                <a:lnTo>
                  <a:pt x="28318" y="12857"/>
                </a:lnTo>
                <a:lnTo>
                  <a:pt x="33510" y="14100"/>
                </a:lnTo>
                <a:lnTo>
                  <a:pt x="37627" y="17030"/>
                </a:lnTo>
                <a:lnTo>
                  <a:pt x="40236" y="21367"/>
                </a:lnTo>
                <a:lnTo>
                  <a:pt x="40655" y="24872"/>
                </a:lnTo>
                <a:lnTo>
                  <a:pt x="40769" y="26616"/>
                </a:lnTo>
                <a:lnTo>
                  <a:pt x="39383" y="31233"/>
                </a:lnTo>
                <a:lnTo>
                  <a:pt x="36046" y="35399"/>
                </a:lnTo>
                <a:lnTo>
                  <a:pt x="31028" y="38258"/>
                </a:lnTo>
                <a:lnTo>
                  <a:pt x="25312" y="39079"/>
                </a:lnTo>
                <a:lnTo>
                  <a:pt x="34720" y="39079"/>
                </a:lnTo>
                <a:lnTo>
                  <a:pt x="37726" y="37365"/>
                </a:lnTo>
                <a:lnTo>
                  <a:pt x="41675" y="32435"/>
                </a:lnTo>
                <a:lnTo>
                  <a:pt x="43354" y="26840"/>
                </a:lnTo>
                <a:lnTo>
                  <a:pt x="43213" y="24872"/>
                </a:lnTo>
                <a:lnTo>
                  <a:pt x="42693" y="20524"/>
                </a:lnTo>
                <a:lnTo>
                  <a:pt x="39531" y="15267"/>
                </a:lnTo>
                <a:lnTo>
                  <a:pt x="36144" y="12857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7851405" y="3937749"/>
            <a:ext cx="41275" cy="39370"/>
          </a:xfrm>
          <a:custGeom>
            <a:avLst/>
            <a:gdLst/>
            <a:ahLst/>
            <a:cxnLst/>
            <a:rect l="l" t="t" r="r" b="b"/>
            <a:pathLst>
              <a:path w="41275" h="39370">
                <a:moveTo>
                  <a:pt x="22284" y="0"/>
                </a:moveTo>
                <a:lnTo>
                  <a:pt x="14173" y="1164"/>
                </a:lnTo>
                <a:lnTo>
                  <a:pt x="7053" y="5221"/>
                </a:lnTo>
                <a:lnTo>
                  <a:pt x="2187" y="11298"/>
                </a:lnTo>
                <a:lnTo>
                  <a:pt x="0" y="18586"/>
                </a:lnTo>
                <a:lnTo>
                  <a:pt x="918" y="26277"/>
                </a:lnTo>
                <a:lnTo>
                  <a:pt x="4912" y="32913"/>
                </a:lnTo>
                <a:lnTo>
                  <a:pt x="11110" y="37326"/>
                </a:lnTo>
                <a:lnTo>
                  <a:pt x="18682" y="39138"/>
                </a:lnTo>
                <a:lnTo>
                  <a:pt x="26793" y="37974"/>
                </a:lnTo>
                <a:lnTo>
                  <a:pt x="33913" y="33916"/>
                </a:lnTo>
                <a:lnTo>
                  <a:pt x="38779" y="27840"/>
                </a:lnTo>
                <a:lnTo>
                  <a:pt x="40967" y="20552"/>
                </a:lnTo>
                <a:lnTo>
                  <a:pt x="40048" y="12861"/>
                </a:lnTo>
                <a:lnTo>
                  <a:pt x="36054" y="6224"/>
                </a:lnTo>
                <a:lnTo>
                  <a:pt x="29856" y="1812"/>
                </a:lnTo>
                <a:lnTo>
                  <a:pt x="222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845073" y="3931349"/>
            <a:ext cx="53975" cy="52069"/>
          </a:xfrm>
          <a:custGeom>
            <a:avLst/>
            <a:gdLst/>
            <a:ahLst/>
            <a:cxnLst/>
            <a:rect l="l" t="t" r="r" b="b"/>
            <a:pathLst>
              <a:path w="53975" h="52070">
                <a:moveTo>
                  <a:pt x="28507" y="0"/>
                </a:moveTo>
                <a:lnTo>
                  <a:pt x="0" y="23995"/>
                </a:lnTo>
                <a:lnTo>
                  <a:pt x="3" y="25544"/>
                </a:lnTo>
                <a:lnTo>
                  <a:pt x="25123" y="51937"/>
                </a:lnTo>
                <a:lnTo>
                  <a:pt x="34817" y="50545"/>
                </a:lnTo>
                <a:lnTo>
                  <a:pt x="35576" y="50284"/>
                </a:lnTo>
                <a:lnTo>
                  <a:pt x="44085" y="45436"/>
                </a:lnTo>
                <a:lnTo>
                  <a:pt x="44700" y="44911"/>
                </a:lnTo>
                <a:lnTo>
                  <a:pt x="45232" y="44246"/>
                </a:lnTo>
                <a:lnTo>
                  <a:pt x="25073" y="44246"/>
                </a:lnTo>
                <a:lnTo>
                  <a:pt x="17978" y="42548"/>
                </a:lnTo>
                <a:lnTo>
                  <a:pt x="12195" y="38431"/>
                </a:lnTo>
                <a:lnTo>
                  <a:pt x="8479" y="32255"/>
                </a:lnTo>
                <a:lnTo>
                  <a:pt x="7678" y="25544"/>
                </a:lnTo>
                <a:lnTo>
                  <a:pt x="7692" y="24872"/>
                </a:lnTo>
                <a:lnTo>
                  <a:pt x="9664" y="18299"/>
                </a:lnTo>
                <a:lnTo>
                  <a:pt x="14225" y="12604"/>
                </a:lnTo>
                <a:lnTo>
                  <a:pt x="20924" y="8787"/>
                </a:lnTo>
                <a:lnTo>
                  <a:pt x="28557" y="7691"/>
                </a:lnTo>
                <a:lnTo>
                  <a:pt x="46406" y="7691"/>
                </a:lnTo>
                <a:lnTo>
                  <a:pt x="39206" y="2566"/>
                </a:lnTo>
                <a:lnTo>
                  <a:pt x="38458" y="2226"/>
                </a:lnTo>
                <a:lnTo>
                  <a:pt x="29315" y="38"/>
                </a:lnTo>
                <a:lnTo>
                  <a:pt x="28507" y="0"/>
                </a:lnTo>
                <a:close/>
              </a:path>
              <a:path w="53975" h="52070">
                <a:moveTo>
                  <a:pt x="46406" y="7691"/>
                </a:moveTo>
                <a:lnTo>
                  <a:pt x="28557" y="7691"/>
                </a:lnTo>
                <a:lnTo>
                  <a:pt x="35652" y="9389"/>
                </a:lnTo>
                <a:lnTo>
                  <a:pt x="41433" y="13506"/>
                </a:lnTo>
                <a:lnTo>
                  <a:pt x="45151" y="19682"/>
                </a:lnTo>
                <a:lnTo>
                  <a:pt x="45824" y="25321"/>
                </a:lnTo>
                <a:lnTo>
                  <a:pt x="45938" y="27064"/>
                </a:lnTo>
                <a:lnTo>
                  <a:pt x="43966" y="33638"/>
                </a:lnTo>
                <a:lnTo>
                  <a:pt x="39405" y="39333"/>
                </a:lnTo>
                <a:lnTo>
                  <a:pt x="32706" y="43150"/>
                </a:lnTo>
                <a:lnTo>
                  <a:pt x="25073" y="44246"/>
                </a:lnTo>
                <a:lnTo>
                  <a:pt x="45232" y="44246"/>
                </a:lnTo>
                <a:lnTo>
                  <a:pt x="50576" y="37572"/>
                </a:lnTo>
                <a:lnTo>
                  <a:pt x="50958" y="36845"/>
                </a:lnTo>
                <a:lnTo>
                  <a:pt x="53630" y="27942"/>
                </a:lnTo>
                <a:lnTo>
                  <a:pt x="53525" y="25544"/>
                </a:lnTo>
                <a:lnTo>
                  <a:pt x="52577" y="17616"/>
                </a:lnTo>
                <a:lnTo>
                  <a:pt x="52283" y="16756"/>
                </a:lnTo>
                <a:lnTo>
                  <a:pt x="47377" y="8602"/>
                </a:lnTo>
                <a:lnTo>
                  <a:pt x="46779" y="7956"/>
                </a:lnTo>
                <a:lnTo>
                  <a:pt x="46406" y="7691"/>
                </a:lnTo>
                <a:close/>
              </a:path>
              <a:path w="53975" h="52070">
                <a:moveTo>
                  <a:pt x="28437" y="10274"/>
                </a:moveTo>
                <a:lnTo>
                  <a:pt x="10236" y="25544"/>
                </a:lnTo>
                <a:lnTo>
                  <a:pt x="10937" y="31413"/>
                </a:lnTo>
                <a:lnTo>
                  <a:pt x="14099" y="36669"/>
                </a:lnTo>
                <a:lnTo>
                  <a:pt x="19050" y="40192"/>
                </a:lnTo>
                <a:lnTo>
                  <a:pt x="25192" y="41663"/>
                </a:lnTo>
                <a:lnTo>
                  <a:pt x="31868" y="40704"/>
                </a:lnTo>
                <a:lnTo>
                  <a:pt x="34717" y="39080"/>
                </a:lnTo>
                <a:lnTo>
                  <a:pt x="25312" y="39080"/>
                </a:lnTo>
                <a:lnTo>
                  <a:pt x="20120" y="37837"/>
                </a:lnTo>
                <a:lnTo>
                  <a:pt x="16003" y="34907"/>
                </a:lnTo>
                <a:lnTo>
                  <a:pt x="13394" y="30570"/>
                </a:lnTo>
                <a:lnTo>
                  <a:pt x="12895" y="26393"/>
                </a:lnTo>
                <a:lnTo>
                  <a:pt x="12995" y="24872"/>
                </a:lnTo>
                <a:lnTo>
                  <a:pt x="14246" y="20704"/>
                </a:lnTo>
                <a:lnTo>
                  <a:pt x="17583" y="16537"/>
                </a:lnTo>
                <a:lnTo>
                  <a:pt x="22600" y="13679"/>
                </a:lnTo>
                <a:lnTo>
                  <a:pt x="28318" y="12857"/>
                </a:lnTo>
                <a:lnTo>
                  <a:pt x="36143" y="12857"/>
                </a:lnTo>
                <a:lnTo>
                  <a:pt x="34580" y="11744"/>
                </a:lnTo>
                <a:lnTo>
                  <a:pt x="28437" y="10274"/>
                </a:lnTo>
                <a:close/>
              </a:path>
              <a:path w="53975" h="52070">
                <a:moveTo>
                  <a:pt x="36143" y="12857"/>
                </a:moveTo>
                <a:lnTo>
                  <a:pt x="28318" y="12857"/>
                </a:lnTo>
                <a:lnTo>
                  <a:pt x="33510" y="14100"/>
                </a:lnTo>
                <a:lnTo>
                  <a:pt x="37626" y="17030"/>
                </a:lnTo>
                <a:lnTo>
                  <a:pt x="40236" y="21367"/>
                </a:lnTo>
                <a:lnTo>
                  <a:pt x="40655" y="24872"/>
                </a:lnTo>
                <a:lnTo>
                  <a:pt x="40769" y="26616"/>
                </a:lnTo>
                <a:lnTo>
                  <a:pt x="39383" y="31233"/>
                </a:lnTo>
                <a:lnTo>
                  <a:pt x="36046" y="35399"/>
                </a:lnTo>
                <a:lnTo>
                  <a:pt x="31028" y="38258"/>
                </a:lnTo>
                <a:lnTo>
                  <a:pt x="25312" y="39080"/>
                </a:lnTo>
                <a:lnTo>
                  <a:pt x="34717" y="39080"/>
                </a:lnTo>
                <a:lnTo>
                  <a:pt x="37725" y="37365"/>
                </a:lnTo>
                <a:lnTo>
                  <a:pt x="41675" y="32435"/>
                </a:lnTo>
                <a:lnTo>
                  <a:pt x="43354" y="26840"/>
                </a:lnTo>
                <a:lnTo>
                  <a:pt x="43213" y="24872"/>
                </a:lnTo>
                <a:lnTo>
                  <a:pt x="42693" y="20524"/>
                </a:lnTo>
                <a:lnTo>
                  <a:pt x="39530" y="15267"/>
                </a:lnTo>
                <a:lnTo>
                  <a:pt x="36143" y="12857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593550" y="3937750"/>
            <a:ext cx="41275" cy="39370"/>
          </a:xfrm>
          <a:custGeom>
            <a:avLst/>
            <a:gdLst/>
            <a:ahLst/>
            <a:cxnLst/>
            <a:rect l="l" t="t" r="r" b="b"/>
            <a:pathLst>
              <a:path w="41275" h="39370">
                <a:moveTo>
                  <a:pt x="22283" y="0"/>
                </a:moveTo>
                <a:lnTo>
                  <a:pt x="14172" y="1164"/>
                </a:lnTo>
                <a:lnTo>
                  <a:pt x="7053" y="5221"/>
                </a:lnTo>
                <a:lnTo>
                  <a:pt x="2186" y="11298"/>
                </a:lnTo>
                <a:lnTo>
                  <a:pt x="0" y="18586"/>
                </a:lnTo>
                <a:lnTo>
                  <a:pt x="918" y="26277"/>
                </a:lnTo>
                <a:lnTo>
                  <a:pt x="4912" y="32913"/>
                </a:lnTo>
                <a:lnTo>
                  <a:pt x="11110" y="37325"/>
                </a:lnTo>
                <a:lnTo>
                  <a:pt x="18681" y="39137"/>
                </a:lnTo>
                <a:lnTo>
                  <a:pt x="26792" y="37972"/>
                </a:lnTo>
                <a:lnTo>
                  <a:pt x="33912" y="33915"/>
                </a:lnTo>
                <a:lnTo>
                  <a:pt x="38778" y="27839"/>
                </a:lnTo>
                <a:lnTo>
                  <a:pt x="40966" y="20552"/>
                </a:lnTo>
                <a:lnTo>
                  <a:pt x="40047" y="12861"/>
                </a:lnTo>
                <a:lnTo>
                  <a:pt x="36053" y="6224"/>
                </a:lnTo>
                <a:lnTo>
                  <a:pt x="29855" y="1812"/>
                </a:lnTo>
                <a:lnTo>
                  <a:pt x="2228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587217" y="3931351"/>
            <a:ext cx="53975" cy="52069"/>
          </a:xfrm>
          <a:custGeom>
            <a:avLst/>
            <a:gdLst/>
            <a:ahLst/>
            <a:cxnLst/>
            <a:rect l="l" t="t" r="r" b="b"/>
            <a:pathLst>
              <a:path w="53975" h="52070">
                <a:moveTo>
                  <a:pt x="28507" y="0"/>
                </a:moveTo>
                <a:lnTo>
                  <a:pt x="0" y="23995"/>
                </a:lnTo>
                <a:lnTo>
                  <a:pt x="4" y="25544"/>
                </a:lnTo>
                <a:lnTo>
                  <a:pt x="25123" y="51936"/>
                </a:lnTo>
                <a:lnTo>
                  <a:pt x="34817" y="50545"/>
                </a:lnTo>
                <a:lnTo>
                  <a:pt x="35577" y="50284"/>
                </a:lnTo>
                <a:lnTo>
                  <a:pt x="44085" y="45435"/>
                </a:lnTo>
                <a:lnTo>
                  <a:pt x="44700" y="44911"/>
                </a:lnTo>
                <a:lnTo>
                  <a:pt x="45232" y="44246"/>
                </a:lnTo>
                <a:lnTo>
                  <a:pt x="25073" y="44246"/>
                </a:lnTo>
                <a:lnTo>
                  <a:pt x="17979" y="42547"/>
                </a:lnTo>
                <a:lnTo>
                  <a:pt x="12197" y="38431"/>
                </a:lnTo>
                <a:lnTo>
                  <a:pt x="8479" y="32255"/>
                </a:lnTo>
                <a:lnTo>
                  <a:pt x="7678" y="25544"/>
                </a:lnTo>
                <a:lnTo>
                  <a:pt x="7692" y="24872"/>
                </a:lnTo>
                <a:lnTo>
                  <a:pt x="9664" y="18299"/>
                </a:lnTo>
                <a:lnTo>
                  <a:pt x="14226" y="12604"/>
                </a:lnTo>
                <a:lnTo>
                  <a:pt x="20924" y="8787"/>
                </a:lnTo>
                <a:lnTo>
                  <a:pt x="28557" y="7691"/>
                </a:lnTo>
                <a:lnTo>
                  <a:pt x="46406" y="7691"/>
                </a:lnTo>
                <a:lnTo>
                  <a:pt x="39207" y="2566"/>
                </a:lnTo>
                <a:lnTo>
                  <a:pt x="38458" y="2226"/>
                </a:lnTo>
                <a:lnTo>
                  <a:pt x="29315" y="38"/>
                </a:lnTo>
                <a:lnTo>
                  <a:pt x="28507" y="0"/>
                </a:lnTo>
                <a:close/>
              </a:path>
              <a:path w="53975" h="52070">
                <a:moveTo>
                  <a:pt x="46406" y="7691"/>
                </a:moveTo>
                <a:lnTo>
                  <a:pt x="28557" y="7691"/>
                </a:lnTo>
                <a:lnTo>
                  <a:pt x="35652" y="9389"/>
                </a:lnTo>
                <a:lnTo>
                  <a:pt x="41435" y="13505"/>
                </a:lnTo>
                <a:lnTo>
                  <a:pt x="45152" y="19682"/>
                </a:lnTo>
                <a:lnTo>
                  <a:pt x="45825" y="25321"/>
                </a:lnTo>
                <a:lnTo>
                  <a:pt x="45939" y="27064"/>
                </a:lnTo>
                <a:lnTo>
                  <a:pt x="43966" y="33638"/>
                </a:lnTo>
                <a:lnTo>
                  <a:pt x="39405" y="39333"/>
                </a:lnTo>
                <a:lnTo>
                  <a:pt x="32706" y="43150"/>
                </a:lnTo>
                <a:lnTo>
                  <a:pt x="25073" y="44246"/>
                </a:lnTo>
                <a:lnTo>
                  <a:pt x="45232" y="44246"/>
                </a:lnTo>
                <a:lnTo>
                  <a:pt x="50577" y="37572"/>
                </a:lnTo>
                <a:lnTo>
                  <a:pt x="50960" y="36845"/>
                </a:lnTo>
                <a:lnTo>
                  <a:pt x="53632" y="27942"/>
                </a:lnTo>
                <a:lnTo>
                  <a:pt x="53525" y="25544"/>
                </a:lnTo>
                <a:lnTo>
                  <a:pt x="52579" y="17616"/>
                </a:lnTo>
                <a:lnTo>
                  <a:pt x="52284" y="16756"/>
                </a:lnTo>
                <a:lnTo>
                  <a:pt x="47378" y="8602"/>
                </a:lnTo>
                <a:lnTo>
                  <a:pt x="46779" y="7956"/>
                </a:lnTo>
                <a:lnTo>
                  <a:pt x="46406" y="7691"/>
                </a:lnTo>
                <a:close/>
              </a:path>
              <a:path w="53975" h="52070">
                <a:moveTo>
                  <a:pt x="28437" y="10274"/>
                </a:moveTo>
                <a:lnTo>
                  <a:pt x="10236" y="25544"/>
                </a:lnTo>
                <a:lnTo>
                  <a:pt x="10937" y="31412"/>
                </a:lnTo>
                <a:lnTo>
                  <a:pt x="14100" y="36668"/>
                </a:lnTo>
                <a:lnTo>
                  <a:pt x="19050" y="40192"/>
                </a:lnTo>
                <a:lnTo>
                  <a:pt x="25192" y="41663"/>
                </a:lnTo>
                <a:lnTo>
                  <a:pt x="31868" y="40704"/>
                </a:lnTo>
                <a:lnTo>
                  <a:pt x="34718" y="39080"/>
                </a:lnTo>
                <a:lnTo>
                  <a:pt x="25312" y="39080"/>
                </a:lnTo>
                <a:lnTo>
                  <a:pt x="20120" y="37837"/>
                </a:lnTo>
                <a:lnTo>
                  <a:pt x="16004" y="34907"/>
                </a:lnTo>
                <a:lnTo>
                  <a:pt x="13394" y="30570"/>
                </a:lnTo>
                <a:lnTo>
                  <a:pt x="12895" y="26393"/>
                </a:lnTo>
                <a:lnTo>
                  <a:pt x="12995" y="24872"/>
                </a:lnTo>
                <a:lnTo>
                  <a:pt x="14246" y="20704"/>
                </a:lnTo>
                <a:lnTo>
                  <a:pt x="17584" y="16537"/>
                </a:lnTo>
                <a:lnTo>
                  <a:pt x="22602" y="13679"/>
                </a:lnTo>
                <a:lnTo>
                  <a:pt x="28318" y="12857"/>
                </a:lnTo>
                <a:lnTo>
                  <a:pt x="36145" y="12857"/>
                </a:lnTo>
                <a:lnTo>
                  <a:pt x="34582" y="11744"/>
                </a:lnTo>
                <a:lnTo>
                  <a:pt x="28437" y="10274"/>
                </a:lnTo>
                <a:close/>
              </a:path>
              <a:path w="53975" h="52070">
                <a:moveTo>
                  <a:pt x="36145" y="12857"/>
                </a:moveTo>
                <a:lnTo>
                  <a:pt x="28318" y="12857"/>
                </a:lnTo>
                <a:lnTo>
                  <a:pt x="33510" y="14100"/>
                </a:lnTo>
                <a:lnTo>
                  <a:pt x="37627" y="17030"/>
                </a:lnTo>
                <a:lnTo>
                  <a:pt x="40237" y="21367"/>
                </a:lnTo>
                <a:lnTo>
                  <a:pt x="40655" y="24872"/>
                </a:lnTo>
                <a:lnTo>
                  <a:pt x="40769" y="26616"/>
                </a:lnTo>
                <a:lnTo>
                  <a:pt x="39383" y="31233"/>
                </a:lnTo>
                <a:lnTo>
                  <a:pt x="36047" y="35399"/>
                </a:lnTo>
                <a:lnTo>
                  <a:pt x="31029" y="38258"/>
                </a:lnTo>
                <a:lnTo>
                  <a:pt x="25312" y="39080"/>
                </a:lnTo>
                <a:lnTo>
                  <a:pt x="34718" y="39080"/>
                </a:lnTo>
                <a:lnTo>
                  <a:pt x="37726" y="37365"/>
                </a:lnTo>
                <a:lnTo>
                  <a:pt x="41675" y="32435"/>
                </a:lnTo>
                <a:lnTo>
                  <a:pt x="43354" y="26840"/>
                </a:lnTo>
                <a:lnTo>
                  <a:pt x="43213" y="24872"/>
                </a:lnTo>
                <a:lnTo>
                  <a:pt x="42694" y="20524"/>
                </a:lnTo>
                <a:lnTo>
                  <a:pt x="39531" y="15267"/>
                </a:lnTo>
                <a:lnTo>
                  <a:pt x="36145" y="12857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7458751" y="4340976"/>
            <a:ext cx="575924" cy="33334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6757677" y="4357527"/>
            <a:ext cx="575924" cy="35690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6863496" y="3484879"/>
            <a:ext cx="50673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latin typeface="Times New Roman"/>
                <a:cs typeface="Times New Roman"/>
              </a:rPr>
              <a:t>Step</a:t>
            </a:r>
            <a:r>
              <a:rPr dirty="0" sz="1500" spc="-9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857391" y="4076191"/>
            <a:ext cx="6019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latin typeface="Times New Roman"/>
                <a:cs typeface="Times New Roman"/>
              </a:rPr>
              <a:t>Step</a:t>
            </a:r>
            <a:r>
              <a:rPr dirty="0" sz="1500" spc="-9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10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8384335" y="3745064"/>
            <a:ext cx="407293" cy="86741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7587453" y="3469640"/>
            <a:ext cx="824865" cy="1201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85"/>
              </a:lnSpc>
              <a:spcBef>
                <a:spcPts val="100"/>
              </a:spcBef>
            </a:pPr>
            <a:r>
              <a:rPr dirty="0" sz="1500" spc="-5">
                <a:latin typeface="Times New Roman"/>
                <a:cs typeface="Times New Roman"/>
              </a:rPr>
              <a:t>Step</a:t>
            </a:r>
            <a:r>
              <a:rPr dirty="0" sz="1500" spc="-9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2</a:t>
            </a:r>
            <a:endParaRPr sz="1500">
              <a:latin typeface="Times New Roman"/>
              <a:cs typeface="Times New Roman"/>
            </a:endParaRPr>
          </a:p>
          <a:p>
            <a:pPr marL="595630">
              <a:lnSpc>
                <a:spcPts val="1725"/>
              </a:lnSpc>
            </a:pPr>
            <a:r>
              <a:rPr dirty="0" sz="1700">
                <a:latin typeface="Times New Roman"/>
                <a:cs typeface="Times New Roman"/>
              </a:rPr>
              <a:t>…</a:t>
            </a:r>
            <a:endParaRPr sz="1700">
              <a:latin typeface="Times New Roman"/>
              <a:cs typeface="Times New Roman"/>
            </a:endParaRPr>
          </a:p>
          <a:p>
            <a:pPr marL="24130">
              <a:lnSpc>
                <a:spcPct val="100000"/>
              </a:lnSpc>
              <a:spcBef>
                <a:spcPts val="1640"/>
              </a:spcBef>
            </a:pPr>
            <a:r>
              <a:rPr dirty="0" sz="1500" spc="-5">
                <a:latin typeface="Times New Roman"/>
                <a:cs typeface="Times New Roman"/>
              </a:rPr>
              <a:t>Step</a:t>
            </a:r>
            <a:r>
              <a:rPr dirty="0" sz="1500" spc="-9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9</a:t>
            </a:r>
            <a:endParaRPr sz="1500">
              <a:latin typeface="Times New Roman"/>
              <a:cs typeface="Times New Roman"/>
            </a:endParaRPr>
          </a:p>
          <a:p>
            <a:pPr algn="r" marR="6350">
              <a:lnSpc>
                <a:spcPct val="100000"/>
              </a:lnSpc>
              <a:spcBef>
                <a:spcPts val="565"/>
              </a:spcBef>
            </a:pPr>
            <a:r>
              <a:rPr dirty="0" sz="1700">
                <a:latin typeface="Times New Roman"/>
                <a:cs typeface="Times New Roman"/>
              </a:rPr>
              <a:t>…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>
            <a:spLocks noGrp="1"/>
          </p:cNvSpPr>
          <p:nvPr>
            <p:ph type="title"/>
          </p:nvPr>
        </p:nvSpPr>
        <p:spPr>
          <a:xfrm>
            <a:off x="650776" y="1445767"/>
            <a:ext cx="7245350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" b="1">
                <a:latin typeface="Calibri"/>
                <a:cs typeface="Calibri"/>
              </a:rPr>
              <a:t>SPMiner</a:t>
            </a:r>
            <a:r>
              <a:rPr dirty="0" sz="2700" spc="-5"/>
              <a:t>: </a:t>
            </a:r>
            <a:r>
              <a:rPr dirty="0" sz="2700"/>
              <a:t>a </a:t>
            </a:r>
            <a:r>
              <a:rPr dirty="0" sz="2700" spc="-20"/>
              <a:t>neural </a:t>
            </a:r>
            <a:r>
              <a:rPr dirty="0" sz="2700" spc="-5"/>
              <a:t>model </a:t>
            </a:r>
            <a:r>
              <a:rPr dirty="0" sz="2700" spc="-20"/>
              <a:t>to </a:t>
            </a:r>
            <a:r>
              <a:rPr dirty="0" sz="2700" spc="-10"/>
              <a:t>identify </a:t>
            </a:r>
            <a:r>
              <a:rPr dirty="0" sz="2700" spc="-15"/>
              <a:t>frequent</a:t>
            </a:r>
            <a:r>
              <a:rPr dirty="0" sz="2700" spc="90"/>
              <a:t> </a:t>
            </a:r>
            <a:r>
              <a:rPr dirty="0" sz="2700" spc="-10"/>
              <a:t>motifs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2873907" y="5150144"/>
            <a:ext cx="2616200" cy="377190"/>
          </a:xfrm>
          <a:custGeom>
            <a:avLst/>
            <a:gdLst/>
            <a:ahLst/>
            <a:cxnLst/>
            <a:rect l="l" t="t" r="r" b="b"/>
            <a:pathLst>
              <a:path w="2616200" h="377189">
                <a:moveTo>
                  <a:pt x="2615966" y="0"/>
                </a:moveTo>
                <a:lnTo>
                  <a:pt x="2609995" y="59525"/>
                </a:lnTo>
                <a:lnTo>
                  <a:pt x="2593370" y="111221"/>
                </a:lnTo>
                <a:lnTo>
                  <a:pt x="2568018" y="151988"/>
                </a:lnTo>
                <a:lnTo>
                  <a:pt x="2535870" y="178723"/>
                </a:lnTo>
                <a:lnTo>
                  <a:pt x="2498854" y="188324"/>
                </a:lnTo>
                <a:lnTo>
                  <a:pt x="1433257" y="188324"/>
                </a:lnTo>
                <a:lnTo>
                  <a:pt x="1396240" y="197925"/>
                </a:lnTo>
                <a:lnTo>
                  <a:pt x="1364092" y="224660"/>
                </a:lnTo>
                <a:lnTo>
                  <a:pt x="1338740" y="265427"/>
                </a:lnTo>
                <a:lnTo>
                  <a:pt x="1322115" y="317123"/>
                </a:lnTo>
                <a:lnTo>
                  <a:pt x="1316145" y="376649"/>
                </a:lnTo>
                <a:lnTo>
                  <a:pt x="1310174" y="317123"/>
                </a:lnTo>
                <a:lnTo>
                  <a:pt x="1293549" y="265427"/>
                </a:lnTo>
                <a:lnTo>
                  <a:pt x="1268197" y="224660"/>
                </a:lnTo>
                <a:lnTo>
                  <a:pt x="1236049" y="197925"/>
                </a:lnTo>
                <a:lnTo>
                  <a:pt x="1199033" y="188324"/>
                </a:lnTo>
                <a:lnTo>
                  <a:pt x="117112" y="188324"/>
                </a:lnTo>
                <a:lnTo>
                  <a:pt x="80095" y="178723"/>
                </a:lnTo>
                <a:lnTo>
                  <a:pt x="47947" y="151988"/>
                </a:lnTo>
                <a:lnTo>
                  <a:pt x="22595" y="111221"/>
                </a:lnTo>
                <a:lnTo>
                  <a:pt x="5970" y="59525"/>
                </a:ln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2140910" y="5697220"/>
            <a:ext cx="444182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">
                <a:latin typeface="Arial"/>
                <a:cs typeface="Arial"/>
              </a:rPr>
              <a:t>Same </a:t>
            </a:r>
            <a:r>
              <a:rPr dirty="0" sz="2200">
                <a:latin typeface="Arial"/>
                <a:cs typeface="Arial"/>
              </a:rPr>
              <a:t>as neural subgraph</a:t>
            </a:r>
            <a:r>
              <a:rPr dirty="0" sz="2200" spc="-45">
                <a:latin typeface="Arial"/>
                <a:cs typeface="Arial"/>
              </a:rPr>
              <a:t> </a:t>
            </a:r>
            <a:r>
              <a:rPr dirty="0" sz="2200" spc="-5">
                <a:latin typeface="Arial"/>
                <a:cs typeface="Arial"/>
              </a:rPr>
              <a:t>matching</a:t>
            </a:r>
            <a:endParaRPr sz="2200">
              <a:latin typeface="Arial"/>
              <a:cs typeface="Arial"/>
            </a:endParaRPr>
          </a:p>
        </p:txBody>
      </p:sp>
      <p:sp>
        <p:nvSpPr>
          <p:cNvPr id="91" name="object 9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92" name="object 92"/>
          <p:cNvSpPr txBox="1"/>
          <p:nvPr/>
        </p:nvSpPr>
        <p:spPr>
          <a:xfrm>
            <a:off x="2673615" y="6699893"/>
            <a:ext cx="4027804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</a:t>
            </a:r>
            <a:r>
              <a:rPr dirty="0" sz="900" spc="-80">
                <a:solidFill>
                  <a:srgbClr val="3F3F3F"/>
                </a:solidFill>
                <a:latin typeface="Calibri"/>
                <a:cs typeface="Calibri"/>
              </a:rPr>
              <a:t>LLeeskovec, 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60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444398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1978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/>
              <a:t>Decompose </a:t>
            </a:r>
            <a:r>
              <a:rPr dirty="0"/>
              <a:t>input </a:t>
            </a:r>
            <a:r>
              <a:rPr dirty="0" spc="-15"/>
              <a:t>graph </a:t>
            </a:r>
            <a:r>
              <a:rPr dirty="0" spc="-5">
                <a:solidFill>
                  <a:srgbClr val="0000FF"/>
                </a:solidFill>
                <a:latin typeface="Cambria Math"/>
                <a:cs typeface="Cambria Math"/>
              </a:rPr>
              <a:t>𝐺</a:t>
            </a:r>
            <a:r>
              <a:rPr dirty="0" baseline="-15700" sz="3450" spc="-7">
                <a:solidFill>
                  <a:srgbClr val="0000FF"/>
                </a:solidFill>
                <a:latin typeface="Cambria Math"/>
                <a:cs typeface="Cambria Math"/>
              </a:rPr>
              <a:t>#  </a:t>
            </a:r>
            <a:r>
              <a:rPr dirty="0" sz="3200" spc="-15"/>
              <a:t>into</a:t>
            </a:r>
            <a:r>
              <a:rPr dirty="0" sz="3200" spc="-220"/>
              <a:t> </a:t>
            </a:r>
            <a:r>
              <a:rPr dirty="0" sz="3200" spc="-5"/>
              <a:t>neighborhoods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162556"/>
            <a:ext cx="8299450" cy="279908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32740" marR="5080" indent="-320040">
              <a:lnSpc>
                <a:spcPct val="101299"/>
              </a:lnSpc>
              <a:spcBef>
                <a:spcPts val="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Embed neighborhoods </a:t>
            </a:r>
            <a:r>
              <a:rPr dirty="0" sz="3200" spc="-15">
                <a:latin typeface="Calibri"/>
                <a:cs typeface="Calibri"/>
              </a:rPr>
              <a:t>into </a:t>
            </a:r>
            <a:r>
              <a:rPr dirty="0" sz="3200">
                <a:latin typeface="Calibri"/>
                <a:cs typeface="Calibri"/>
              </a:rPr>
              <a:t>an </a:t>
            </a:r>
            <a:r>
              <a:rPr dirty="0" sz="3200" spc="-15">
                <a:latin typeface="Calibri"/>
                <a:cs typeface="Calibri"/>
              </a:rPr>
              <a:t>order </a:t>
            </a:r>
            <a:r>
              <a:rPr dirty="0" sz="3200" spc="-5">
                <a:latin typeface="Calibri"/>
                <a:cs typeface="Calibri"/>
              </a:rPr>
              <a:t>embedding  space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spcBef>
                <a:spcPts val="25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30" b="1">
                <a:latin typeface="Calibri"/>
                <a:cs typeface="Calibri"/>
              </a:rPr>
              <a:t>Key </a:t>
            </a:r>
            <a:r>
              <a:rPr dirty="0" sz="3200" spc="-10" b="1">
                <a:latin typeface="Calibri"/>
                <a:cs typeface="Calibri"/>
              </a:rPr>
              <a:t>benefit </a:t>
            </a:r>
            <a:r>
              <a:rPr dirty="0" sz="3200" b="1">
                <a:latin typeface="Calibri"/>
                <a:cs typeface="Calibri"/>
              </a:rPr>
              <a:t>of </a:t>
            </a:r>
            <a:r>
              <a:rPr dirty="0" sz="3200" spc="-10" b="1">
                <a:latin typeface="Calibri"/>
                <a:cs typeface="Calibri"/>
              </a:rPr>
              <a:t>order</a:t>
            </a:r>
            <a:r>
              <a:rPr dirty="0" sz="3200" spc="-35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embedding:</a:t>
            </a:r>
            <a:endParaRPr sz="3200">
              <a:latin typeface="Calibri"/>
              <a:cs typeface="Calibri"/>
            </a:endParaRPr>
          </a:p>
          <a:p>
            <a:pPr marL="332740" marR="6985">
              <a:lnSpc>
                <a:spcPts val="3910"/>
              </a:lnSpc>
              <a:spcBef>
                <a:spcPts val="45"/>
              </a:spcBef>
            </a:pPr>
            <a:r>
              <a:rPr dirty="0" sz="3200" spc="-60">
                <a:latin typeface="Calibri"/>
                <a:cs typeface="Calibri"/>
              </a:rPr>
              <a:t>We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5">
                <a:latin typeface="Calibri"/>
                <a:cs typeface="Calibri"/>
              </a:rPr>
              <a:t>quickly find out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frequency </a:t>
            </a:r>
            <a:r>
              <a:rPr dirty="0" sz="3200" spc="-5">
                <a:latin typeface="Calibri"/>
                <a:cs typeface="Calibri"/>
              </a:rPr>
              <a:t>of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10">
                <a:latin typeface="Calibri"/>
                <a:cs typeface="Calibri"/>
              </a:rPr>
              <a:t>given  subgraph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 spc="509">
                <a:solidFill>
                  <a:srgbClr val="C00000"/>
                </a:solidFill>
                <a:latin typeface="Cambria Math"/>
                <a:cs typeface="Cambria Math"/>
              </a:rPr>
              <a:t>𝐺</a:t>
            </a:r>
            <a:r>
              <a:rPr dirty="0" baseline="-15700" sz="3450" spc="765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endParaRPr baseline="-15700" sz="345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27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2/18/21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3615" y="6694423"/>
            <a:ext cx="402780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61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6775704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11147"/>
            <a:ext cx="8042275" cy="1684020"/>
          </a:xfrm>
          <a:prstGeom prst="rect"/>
        </p:spPr>
        <p:txBody>
          <a:bodyPr wrap="square" lIns="0" tIns="53340" rIns="0" bIns="0" rtlCol="0" vert="horz">
            <a:spAutoFit/>
          </a:bodyPr>
          <a:lstStyle/>
          <a:p>
            <a:pPr marL="332740" marR="821690" indent="-320040">
              <a:lnSpc>
                <a:spcPts val="3100"/>
              </a:lnSpc>
              <a:spcBef>
                <a:spcPts val="42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latin typeface="Calibri"/>
                <a:cs typeface="Calibri"/>
              </a:rPr>
              <a:t>Given: </a:t>
            </a:r>
            <a:r>
              <a:rPr dirty="0" sz="2800" spc="-10"/>
              <a:t>Set </a:t>
            </a:r>
            <a:r>
              <a:rPr dirty="0" sz="2800" spc="-5"/>
              <a:t>of </a:t>
            </a:r>
            <a:r>
              <a:rPr dirty="0" sz="2800" spc="-10"/>
              <a:t>subgraphs </a:t>
            </a:r>
            <a:r>
              <a:rPr dirty="0" sz="2800" spc="-5"/>
              <a:t>(“node-anchored  neighborhoods”) </a:t>
            </a:r>
            <a:r>
              <a:rPr dirty="0" sz="2800" spc="-40">
                <a:solidFill>
                  <a:srgbClr val="B48200"/>
                </a:solidFill>
                <a:latin typeface="Cambria Math"/>
                <a:cs typeface="Cambria Math"/>
              </a:rPr>
              <a:t>𝐺</a:t>
            </a:r>
            <a:r>
              <a:rPr dirty="0" baseline="-16666" sz="3000" spc="-60">
                <a:solidFill>
                  <a:srgbClr val="B48200"/>
                </a:solidFill>
                <a:latin typeface="Cambria Math"/>
                <a:cs typeface="Cambria Math"/>
              </a:rPr>
              <a:t>E</a:t>
            </a:r>
            <a:r>
              <a:rPr dirty="0" baseline="-32679" sz="2550" spc="-60">
                <a:solidFill>
                  <a:srgbClr val="B48200"/>
                </a:solidFill>
                <a:latin typeface="Cambria Math"/>
                <a:cs typeface="Cambria Math"/>
              </a:rPr>
              <a:t>#  </a:t>
            </a:r>
            <a:r>
              <a:rPr dirty="0" sz="2800" spc="-5"/>
              <a:t>of </a:t>
            </a:r>
            <a:r>
              <a:rPr dirty="0" sz="2800" spc="-275">
                <a:solidFill>
                  <a:srgbClr val="0000FF"/>
                </a:solidFill>
                <a:latin typeface="Cambria Math"/>
                <a:cs typeface="Cambria Math"/>
              </a:rPr>
              <a:t>𝐺</a:t>
            </a:r>
            <a:r>
              <a:rPr dirty="0" baseline="-16666" sz="3000" spc="-412">
                <a:solidFill>
                  <a:srgbClr val="0000FF"/>
                </a:solidFill>
                <a:latin typeface="Cambria Math"/>
                <a:cs typeface="Cambria Math"/>
              </a:rPr>
              <a:t>%    </a:t>
            </a:r>
            <a:r>
              <a:rPr dirty="0" sz="2800" spc="-5"/>
              <a:t>(sampled</a:t>
            </a:r>
            <a:r>
              <a:rPr dirty="0" sz="2800" spc="-200"/>
              <a:t> </a:t>
            </a:r>
            <a:r>
              <a:rPr dirty="0" sz="2800" spc="-15"/>
              <a:t>randomly)</a:t>
            </a:r>
            <a:endParaRPr sz="2800">
              <a:latin typeface="Cambria Math"/>
              <a:cs typeface="Cambria Math"/>
            </a:endParaRPr>
          </a:p>
          <a:p>
            <a:pPr marL="332740" marR="5080" indent="-320040">
              <a:lnSpc>
                <a:spcPts val="3290"/>
              </a:lnSpc>
              <a:spcBef>
                <a:spcPts val="6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25" b="1">
                <a:latin typeface="Calibri"/>
                <a:cs typeface="Calibri"/>
              </a:rPr>
              <a:t>Key </a:t>
            </a:r>
            <a:r>
              <a:rPr dirty="0" sz="2800" spc="-5" b="1">
                <a:latin typeface="Calibri"/>
                <a:cs typeface="Calibri"/>
              </a:rPr>
              <a:t>idea: </a:t>
            </a:r>
            <a:r>
              <a:rPr dirty="0" sz="2800" spc="-15"/>
              <a:t>Estimate </a:t>
            </a:r>
            <a:r>
              <a:rPr dirty="0" sz="2800" spc="-10"/>
              <a:t>frequency </a:t>
            </a:r>
            <a:r>
              <a:rPr dirty="0" sz="2800" spc="-5"/>
              <a:t>of </a:t>
            </a:r>
            <a:r>
              <a:rPr dirty="0" sz="2800" spc="140">
                <a:solidFill>
                  <a:srgbClr val="C00000"/>
                </a:solidFill>
                <a:latin typeface="Cambria Math"/>
                <a:cs typeface="Cambria Math"/>
              </a:rPr>
              <a:t>𝐺</a:t>
            </a:r>
            <a:r>
              <a:rPr dirty="0" baseline="-15277" sz="3000" spc="209">
                <a:solidFill>
                  <a:srgbClr val="C00000"/>
                </a:solidFill>
                <a:latin typeface="Cambria Math"/>
                <a:cs typeface="Cambria Math"/>
              </a:rPr>
              <a:t>$ </a:t>
            </a:r>
            <a:r>
              <a:rPr dirty="0" sz="2800" spc="-5"/>
              <a:t>by </a:t>
            </a:r>
            <a:r>
              <a:rPr dirty="0" sz="2800" spc="-10"/>
              <a:t>counting </a:t>
            </a:r>
            <a:r>
              <a:rPr dirty="0" sz="2800"/>
              <a:t>the  </a:t>
            </a:r>
            <a:r>
              <a:rPr dirty="0" sz="2800" spc="-5"/>
              <a:t>number of </a:t>
            </a:r>
            <a:r>
              <a:rPr dirty="0" sz="2800" spc="-40">
                <a:solidFill>
                  <a:srgbClr val="B48200"/>
                </a:solidFill>
                <a:latin typeface="Cambria Math"/>
                <a:cs typeface="Cambria Math"/>
              </a:rPr>
              <a:t>𝐺</a:t>
            </a:r>
            <a:r>
              <a:rPr dirty="0" baseline="-16666" sz="3000" spc="-60">
                <a:solidFill>
                  <a:srgbClr val="B48200"/>
                </a:solidFill>
                <a:latin typeface="Cambria Math"/>
                <a:cs typeface="Cambria Math"/>
              </a:rPr>
              <a:t>E</a:t>
            </a:r>
            <a:r>
              <a:rPr dirty="0" baseline="-32679" sz="2550" spc="-60">
                <a:solidFill>
                  <a:srgbClr val="B48200"/>
                </a:solidFill>
                <a:latin typeface="Cambria Math"/>
                <a:cs typeface="Cambria Math"/>
              </a:rPr>
              <a:t>#  </a:t>
            </a:r>
            <a:r>
              <a:rPr dirty="0" sz="2800"/>
              <a:t>such </a:t>
            </a:r>
            <a:r>
              <a:rPr dirty="0" sz="2800" spc="-10"/>
              <a:t>that </a:t>
            </a:r>
            <a:r>
              <a:rPr dirty="0" sz="2800" spc="-5"/>
              <a:t>their embeddings </a:t>
            </a:r>
            <a:r>
              <a:rPr dirty="0" sz="2800" spc="-35">
                <a:solidFill>
                  <a:srgbClr val="B48200"/>
                </a:solidFill>
                <a:latin typeface="Cambria Math"/>
                <a:cs typeface="Cambria Math"/>
              </a:rPr>
              <a:t>𝑧</a:t>
            </a:r>
            <a:r>
              <a:rPr dirty="0" baseline="-16666" sz="3000" spc="-52">
                <a:solidFill>
                  <a:srgbClr val="B48200"/>
                </a:solidFill>
                <a:latin typeface="Cambria Math"/>
                <a:cs typeface="Cambria Math"/>
              </a:rPr>
              <a:t>E</a:t>
            </a:r>
            <a:r>
              <a:rPr dirty="0" baseline="-32679" sz="2550" spc="-52">
                <a:solidFill>
                  <a:srgbClr val="B48200"/>
                </a:solidFill>
                <a:latin typeface="Cambria Math"/>
                <a:cs typeface="Cambria Math"/>
              </a:rPr>
              <a:t>#</a:t>
            </a:r>
            <a:r>
              <a:rPr dirty="0" baseline="-32679" sz="2550" spc="-22">
                <a:solidFill>
                  <a:srgbClr val="B48200"/>
                </a:solidFill>
                <a:latin typeface="Cambria Math"/>
                <a:cs typeface="Cambria Math"/>
              </a:rPr>
              <a:t> </a:t>
            </a:r>
            <a:r>
              <a:rPr dirty="0" sz="2800" spc="-10"/>
              <a:t>satisfy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963163"/>
            <a:ext cx="8159115" cy="857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>
              <a:lnSpc>
                <a:spcPts val="3275"/>
              </a:lnSpc>
              <a:spcBef>
                <a:spcPts val="100"/>
              </a:spcBef>
            </a:pPr>
            <a:r>
              <a:rPr dirty="0" sz="2800" spc="150">
                <a:solidFill>
                  <a:srgbClr val="C00000"/>
                </a:solidFill>
                <a:latin typeface="Cambria Math"/>
                <a:cs typeface="Cambria Math"/>
              </a:rPr>
              <a:t>𝑧</a:t>
            </a:r>
            <a:r>
              <a:rPr dirty="0" baseline="-15277" sz="3000" spc="225">
                <a:solidFill>
                  <a:srgbClr val="C00000"/>
                </a:solidFill>
                <a:latin typeface="Cambria Math"/>
                <a:cs typeface="Cambria Math"/>
              </a:rPr>
              <a:t>$ </a:t>
            </a:r>
            <a:r>
              <a:rPr dirty="0" sz="2800">
                <a:latin typeface="Cambria Math"/>
                <a:cs typeface="Cambria Math"/>
              </a:rPr>
              <a:t>≤</a:t>
            </a:r>
            <a:r>
              <a:rPr dirty="0" sz="2800" spc="180">
                <a:latin typeface="Cambria Math"/>
                <a:cs typeface="Cambria Math"/>
              </a:rPr>
              <a:t> </a:t>
            </a:r>
            <a:r>
              <a:rPr dirty="0" sz="2800" spc="-35">
                <a:solidFill>
                  <a:srgbClr val="B48200"/>
                </a:solidFill>
                <a:latin typeface="Cambria Math"/>
                <a:cs typeface="Cambria Math"/>
              </a:rPr>
              <a:t>𝑧</a:t>
            </a:r>
            <a:r>
              <a:rPr dirty="0" baseline="-15277" sz="3000" spc="-52">
                <a:solidFill>
                  <a:srgbClr val="B48200"/>
                </a:solidFill>
                <a:latin typeface="Cambria Math"/>
                <a:cs typeface="Cambria Math"/>
              </a:rPr>
              <a:t>E</a:t>
            </a:r>
            <a:r>
              <a:rPr dirty="0" baseline="-32679" sz="2550" spc="-52">
                <a:solidFill>
                  <a:srgbClr val="B48200"/>
                </a:solidFill>
                <a:latin typeface="Cambria Math"/>
                <a:cs typeface="Cambria Math"/>
              </a:rPr>
              <a:t>#</a:t>
            </a:r>
            <a:endParaRPr baseline="-32679" sz="2550">
              <a:latin typeface="Cambria Math"/>
              <a:cs typeface="Cambria Math"/>
            </a:endParaRPr>
          </a:p>
          <a:p>
            <a:pPr marL="332740" indent="-320040">
              <a:lnSpc>
                <a:spcPts val="3275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latin typeface="Calibri"/>
                <a:cs typeface="Calibri"/>
              </a:rPr>
              <a:t>Consequence of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order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embedding space</a:t>
            </a:r>
            <a:r>
              <a:rPr dirty="0" sz="2800" spc="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property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73615" y="6694423"/>
            <a:ext cx="402780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62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41776" y="4134611"/>
            <a:ext cx="3862070" cy="1220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350"/>
              </a:lnSpc>
              <a:spcBef>
                <a:spcPts val="100"/>
              </a:spcBef>
            </a:pPr>
            <a:r>
              <a:rPr dirty="0" sz="2000" spc="-30" b="1">
                <a:solidFill>
                  <a:srgbClr val="008000"/>
                </a:solidFill>
                <a:latin typeface="Arial"/>
                <a:cs typeface="Arial"/>
              </a:rPr>
              <a:t>“Super-graph”</a:t>
            </a:r>
            <a:r>
              <a:rPr dirty="0" sz="20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000" spc="-30" b="1">
                <a:solidFill>
                  <a:srgbClr val="008000"/>
                </a:solidFill>
                <a:latin typeface="Arial"/>
                <a:cs typeface="Arial"/>
              </a:rPr>
              <a:t>region: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98000"/>
              </a:lnSpc>
            </a:pPr>
            <a:r>
              <a:rPr dirty="0" sz="2000" spc="-15">
                <a:latin typeface="Arial"/>
                <a:cs typeface="Arial"/>
              </a:rPr>
              <a:t>All </a:t>
            </a:r>
            <a:r>
              <a:rPr dirty="0" sz="2000" spc="-20">
                <a:latin typeface="Arial"/>
                <a:cs typeface="Arial"/>
              </a:rPr>
              <a:t>points </a:t>
            </a:r>
            <a:r>
              <a:rPr dirty="0" sz="2000" spc="-5">
                <a:latin typeface="Arial"/>
                <a:cs typeface="Arial"/>
              </a:rPr>
              <a:t>in </a:t>
            </a:r>
            <a:r>
              <a:rPr dirty="0" sz="2000" spc="-15">
                <a:latin typeface="Arial"/>
                <a:cs typeface="Arial"/>
              </a:rPr>
              <a:t>the red </a:t>
            </a:r>
            <a:r>
              <a:rPr dirty="0" sz="2000" spc="-25">
                <a:latin typeface="Arial"/>
                <a:cs typeface="Arial"/>
              </a:rPr>
              <a:t>shaded </a:t>
            </a:r>
            <a:r>
              <a:rPr dirty="0" sz="2000" spc="-20">
                <a:latin typeface="Arial"/>
                <a:cs typeface="Arial"/>
              </a:rPr>
              <a:t>region  </a:t>
            </a:r>
            <a:r>
              <a:rPr dirty="0" sz="2000" spc="-25">
                <a:latin typeface="Arial"/>
                <a:cs typeface="Arial"/>
              </a:rPr>
              <a:t>correspond </a:t>
            </a:r>
            <a:r>
              <a:rPr dirty="0" sz="2000" spc="-10">
                <a:latin typeface="Arial"/>
                <a:cs typeface="Arial"/>
              </a:rPr>
              <a:t>to </a:t>
            </a:r>
            <a:r>
              <a:rPr dirty="0" sz="2000" spc="-30">
                <a:latin typeface="Arial"/>
                <a:cs typeface="Arial"/>
              </a:rPr>
              <a:t>neighborhoods </a:t>
            </a:r>
            <a:r>
              <a:rPr dirty="0" sz="2000" spc="-5">
                <a:latin typeface="Arial"/>
                <a:cs typeface="Arial"/>
              </a:rPr>
              <a:t>in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204">
                <a:solidFill>
                  <a:srgbClr val="0000FF"/>
                </a:solidFill>
                <a:latin typeface="Cambria Math"/>
                <a:cs typeface="Cambria Math"/>
              </a:rPr>
              <a:t>𝐺</a:t>
            </a:r>
            <a:r>
              <a:rPr dirty="0" baseline="-14814" sz="2250" spc="-307">
                <a:solidFill>
                  <a:srgbClr val="0000FF"/>
                </a:solidFill>
                <a:latin typeface="Cambria Math"/>
                <a:cs typeface="Cambria Math"/>
              </a:rPr>
              <a:t>%  </a:t>
            </a:r>
            <a:r>
              <a:rPr dirty="0" sz="2000" spc="-20">
                <a:latin typeface="Arial"/>
                <a:cs typeface="Arial"/>
              </a:rPr>
              <a:t>that contain</a:t>
            </a:r>
            <a:r>
              <a:rPr dirty="0" sz="2000" spc="-145">
                <a:latin typeface="Arial"/>
                <a:cs typeface="Arial"/>
              </a:rPr>
              <a:t> </a:t>
            </a:r>
            <a:r>
              <a:rPr dirty="0" sz="2000" spc="105">
                <a:solidFill>
                  <a:srgbClr val="C00000"/>
                </a:solidFill>
                <a:latin typeface="Cambria Math"/>
                <a:cs typeface="Cambria Math"/>
              </a:rPr>
              <a:t>𝐺</a:t>
            </a:r>
            <a:r>
              <a:rPr dirty="0" baseline="-14814" sz="2250" spc="157">
                <a:solidFill>
                  <a:srgbClr val="C00000"/>
                </a:solidFill>
                <a:latin typeface="Cambria Math"/>
                <a:cs typeface="Cambria Math"/>
              </a:rPr>
              <a:t>$</a:t>
            </a:r>
            <a:endParaRPr baseline="-14814" sz="225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93364" y="4409042"/>
            <a:ext cx="1542415" cy="1402715"/>
          </a:xfrm>
          <a:custGeom>
            <a:avLst/>
            <a:gdLst/>
            <a:ahLst/>
            <a:cxnLst/>
            <a:rect l="l" t="t" r="r" b="b"/>
            <a:pathLst>
              <a:path w="1542414" h="1402714">
                <a:moveTo>
                  <a:pt x="0" y="0"/>
                </a:moveTo>
                <a:lnTo>
                  <a:pt x="1542003" y="0"/>
                </a:lnTo>
                <a:lnTo>
                  <a:pt x="1542003" y="1402484"/>
                </a:lnTo>
                <a:lnTo>
                  <a:pt x="0" y="1402484"/>
                </a:lnTo>
                <a:lnTo>
                  <a:pt x="0" y="0"/>
                </a:lnTo>
                <a:close/>
              </a:path>
            </a:pathLst>
          </a:custGeom>
          <a:solidFill>
            <a:srgbClr val="DD9191">
              <a:alpha val="301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682793" y="4410566"/>
            <a:ext cx="19685" cy="1409700"/>
          </a:xfrm>
          <a:custGeom>
            <a:avLst/>
            <a:gdLst/>
            <a:ahLst/>
            <a:cxnLst/>
            <a:rect l="l" t="t" r="r" b="b"/>
            <a:pathLst>
              <a:path w="19685" h="1409700">
                <a:moveTo>
                  <a:pt x="14786" y="1333500"/>
                </a:moveTo>
                <a:lnTo>
                  <a:pt x="4264" y="1333500"/>
                </a:lnTo>
                <a:lnTo>
                  <a:pt x="1" y="1337764"/>
                </a:lnTo>
                <a:lnTo>
                  <a:pt x="1" y="1405435"/>
                </a:lnTo>
                <a:lnTo>
                  <a:pt x="4265" y="1409700"/>
                </a:lnTo>
                <a:lnTo>
                  <a:pt x="14786" y="1409700"/>
                </a:lnTo>
                <a:lnTo>
                  <a:pt x="19051" y="1405435"/>
                </a:lnTo>
                <a:lnTo>
                  <a:pt x="19051" y="1337764"/>
                </a:lnTo>
                <a:lnTo>
                  <a:pt x="14786" y="1333500"/>
                </a:lnTo>
                <a:close/>
              </a:path>
              <a:path w="19685" h="1409700">
                <a:moveTo>
                  <a:pt x="14786" y="1200150"/>
                </a:moveTo>
                <a:lnTo>
                  <a:pt x="4264" y="1200150"/>
                </a:lnTo>
                <a:lnTo>
                  <a:pt x="1" y="1204414"/>
                </a:lnTo>
                <a:lnTo>
                  <a:pt x="1" y="1272085"/>
                </a:lnTo>
                <a:lnTo>
                  <a:pt x="4264" y="1276350"/>
                </a:lnTo>
                <a:lnTo>
                  <a:pt x="14786" y="1276350"/>
                </a:lnTo>
                <a:lnTo>
                  <a:pt x="19051" y="1272085"/>
                </a:lnTo>
                <a:lnTo>
                  <a:pt x="19051" y="1204414"/>
                </a:lnTo>
                <a:lnTo>
                  <a:pt x="14786" y="1200150"/>
                </a:lnTo>
                <a:close/>
              </a:path>
              <a:path w="19685" h="1409700">
                <a:moveTo>
                  <a:pt x="14786" y="1066800"/>
                </a:moveTo>
                <a:lnTo>
                  <a:pt x="4264" y="1066800"/>
                </a:lnTo>
                <a:lnTo>
                  <a:pt x="0" y="1071064"/>
                </a:lnTo>
                <a:lnTo>
                  <a:pt x="0" y="1138735"/>
                </a:lnTo>
                <a:lnTo>
                  <a:pt x="4264" y="1143000"/>
                </a:lnTo>
                <a:lnTo>
                  <a:pt x="14786" y="1143000"/>
                </a:lnTo>
                <a:lnTo>
                  <a:pt x="19050" y="1138735"/>
                </a:lnTo>
                <a:lnTo>
                  <a:pt x="19050" y="1071064"/>
                </a:lnTo>
                <a:lnTo>
                  <a:pt x="14786" y="1066800"/>
                </a:lnTo>
                <a:close/>
              </a:path>
              <a:path w="19685" h="1409700">
                <a:moveTo>
                  <a:pt x="14786" y="933450"/>
                </a:moveTo>
                <a:lnTo>
                  <a:pt x="4264" y="933450"/>
                </a:lnTo>
                <a:lnTo>
                  <a:pt x="0" y="937714"/>
                </a:lnTo>
                <a:lnTo>
                  <a:pt x="0" y="1005385"/>
                </a:lnTo>
                <a:lnTo>
                  <a:pt x="4264" y="1009650"/>
                </a:lnTo>
                <a:lnTo>
                  <a:pt x="14786" y="1009650"/>
                </a:lnTo>
                <a:lnTo>
                  <a:pt x="19050" y="1005385"/>
                </a:lnTo>
                <a:lnTo>
                  <a:pt x="19050" y="937714"/>
                </a:lnTo>
                <a:lnTo>
                  <a:pt x="14786" y="933450"/>
                </a:lnTo>
                <a:close/>
              </a:path>
              <a:path w="19685" h="1409700">
                <a:moveTo>
                  <a:pt x="14785" y="800100"/>
                </a:moveTo>
                <a:lnTo>
                  <a:pt x="4264" y="800100"/>
                </a:lnTo>
                <a:lnTo>
                  <a:pt x="0" y="804364"/>
                </a:lnTo>
                <a:lnTo>
                  <a:pt x="0" y="872035"/>
                </a:lnTo>
                <a:lnTo>
                  <a:pt x="4264" y="876300"/>
                </a:lnTo>
                <a:lnTo>
                  <a:pt x="14785" y="876300"/>
                </a:lnTo>
                <a:lnTo>
                  <a:pt x="19050" y="872035"/>
                </a:lnTo>
                <a:lnTo>
                  <a:pt x="19050" y="804364"/>
                </a:lnTo>
                <a:lnTo>
                  <a:pt x="14785" y="800100"/>
                </a:lnTo>
                <a:close/>
              </a:path>
              <a:path w="19685" h="1409700">
                <a:moveTo>
                  <a:pt x="14785" y="666750"/>
                </a:moveTo>
                <a:lnTo>
                  <a:pt x="4264" y="666750"/>
                </a:lnTo>
                <a:lnTo>
                  <a:pt x="0" y="671014"/>
                </a:lnTo>
                <a:lnTo>
                  <a:pt x="0" y="738685"/>
                </a:lnTo>
                <a:lnTo>
                  <a:pt x="4264" y="742950"/>
                </a:lnTo>
                <a:lnTo>
                  <a:pt x="14785" y="742950"/>
                </a:lnTo>
                <a:lnTo>
                  <a:pt x="19050" y="738685"/>
                </a:lnTo>
                <a:lnTo>
                  <a:pt x="19050" y="671014"/>
                </a:lnTo>
                <a:lnTo>
                  <a:pt x="14785" y="666750"/>
                </a:lnTo>
                <a:close/>
              </a:path>
              <a:path w="19685" h="1409700">
                <a:moveTo>
                  <a:pt x="14785" y="533400"/>
                </a:moveTo>
                <a:lnTo>
                  <a:pt x="4264" y="533400"/>
                </a:lnTo>
                <a:lnTo>
                  <a:pt x="0" y="537664"/>
                </a:lnTo>
                <a:lnTo>
                  <a:pt x="0" y="605335"/>
                </a:lnTo>
                <a:lnTo>
                  <a:pt x="4264" y="609600"/>
                </a:lnTo>
                <a:lnTo>
                  <a:pt x="14785" y="609600"/>
                </a:lnTo>
                <a:lnTo>
                  <a:pt x="19050" y="605335"/>
                </a:lnTo>
                <a:lnTo>
                  <a:pt x="19050" y="537664"/>
                </a:lnTo>
                <a:lnTo>
                  <a:pt x="14785" y="533400"/>
                </a:lnTo>
                <a:close/>
              </a:path>
              <a:path w="19685" h="1409700">
                <a:moveTo>
                  <a:pt x="14785" y="400050"/>
                </a:moveTo>
                <a:lnTo>
                  <a:pt x="4264" y="400050"/>
                </a:lnTo>
                <a:lnTo>
                  <a:pt x="0" y="404314"/>
                </a:lnTo>
                <a:lnTo>
                  <a:pt x="0" y="471985"/>
                </a:lnTo>
                <a:lnTo>
                  <a:pt x="4264" y="476250"/>
                </a:lnTo>
                <a:lnTo>
                  <a:pt x="14785" y="476250"/>
                </a:lnTo>
                <a:lnTo>
                  <a:pt x="19050" y="471985"/>
                </a:lnTo>
                <a:lnTo>
                  <a:pt x="19050" y="404314"/>
                </a:lnTo>
                <a:lnTo>
                  <a:pt x="14785" y="400050"/>
                </a:lnTo>
                <a:close/>
              </a:path>
              <a:path w="19685" h="1409700">
                <a:moveTo>
                  <a:pt x="14785" y="266700"/>
                </a:moveTo>
                <a:lnTo>
                  <a:pt x="4264" y="266700"/>
                </a:lnTo>
                <a:lnTo>
                  <a:pt x="0" y="270964"/>
                </a:lnTo>
                <a:lnTo>
                  <a:pt x="0" y="338635"/>
                </a:lnTo>
                <a:lnTo>
                  <a:pt x="4264" y="342900"/>
                </a:lnTo>
                <a:lnTo>
                  <a:pt x="14785" y="342900"/>
                </a:lnTo>
                <a:lnTo>
                  <a:pt x="19050" y="338635"/>
                </a:lnTo>
                <a:lnTo>
                  <a:pt x="19050" y="270964"/>
                </a:lnTo>
                <a:lnTo>
                  <a:pt x="14785" y="266700"/>
                </a:lnTo>
                <a:close/>
              </a:path>
              <a:path w="19685" h="1409700">
                <a:moveTo>
                  <a:pt x="14785" y="133350"/>
                </a:moveTo>
                <a:lnTo>
                  <a:pt x="4264" y="133350"/>
                </a:lnTo>
                <a:lnTo>
                  <a:pt x="0" y="137614"/>
                </a:lnTo>
                <a:lnTo>
                  <a:pt x="0" y="205285"/>
                </a:lnTo>
                <a:lnTo>
                  <a:pt x="4264" y="209550"/>
                </a:lnTo>
                <a:lnTo>
                  <a:pt x="14785" y="209550"/>
                </a:lnTo>
                <a:lnTo>
                  <a:pt x="19050" y="205285"/>
                </a:lnTo>
                <a:lnTo>
                  <a:pt x="19050" y="137614"/>
                </a:lnTo>
                <a:lnTo>
                  <a:pt x="14785" y="133350"/>
                </a:lnTo>
                <a:close/>
              </a:path>
              <a:path w="19685" h="1409700">
                <a:moveTo>
                  <a:pt x="14785" y="0"/>
                </a:moveTo>
                <a:lnTo>
                  <a:pt x="4264" y="0"/>
                </a:lnTo>
                <a:lnTo>
                  <a:pt x="0" y="4264"/>
                </a:lnTo>
                <a:lnTo>
                  <a:pt x="0" y="71935"/>
                </a:lnTo>
                <a:lnTo>
                  <a:pt x="4264" y="76200"/>
                </a:lnTo>
                <a:lnTo>
                  <a:pt x="14785" y="76200"/>
                </a:lnTo>
                <a:lnTo>
                  <a:pt x="19050" y="71935"/>
                </a:lnTo>
                <a:lnTo>
                  <a:pt x="19050" y="4264"/>
                </a:lnTo>
                <a:lnTo>
                  <a:pt x="14785" y="0"/>
                </a:lnTo>
                <a:close/>
              </a:path>
            </a:pathLst>
          </a:custGeom>
          <a:solidFill>
            <a:srgbClr val="64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56340" y="5707411"/>
            <a:ext cx="1522730" cy="849630"/>
          </a:xfrm>
          <a:custGeom>
            <a:avLst/>
            <a:gdLst/>
            <a:ahLst/>
            <a:cxnLst/>
            <a:rect l="l" t="t" r="r" b="b"/>
            <a:pathLst>
              <a:path w="1522729" h="849629">
                <a:moveTo>
                  <a:pt x="0" y="0"/>
                </a:moveTo>
                <a:lnTo>
                  <a:pt x="1522308" y="0"/>
                </a:lnTo>
                <a:lnTo>
                  <a:pt x="1522308" y="849572"/>
                </a:lnTo>
                <a:lnTo>
                  <a:pt x="0" y="84957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32340" y="5683412"/>
            <a:ext cx="1570355" cy="897890"/>
          </a:xfrm>
          <a:custGeom>
            <a:avLst/>
            <a:gdLst/>
            <a:ahLst/>
            <a:cxnLst/>
            <a:rect l="l" t="t" r="r" b="b"/>
            <a:pathLst>
              <a:path w="1570354" h="897890">
                <a:moveTo>
                  <a:pt x="1546307" y="0"/>
                </a:moveTo>
                <a:lnTo>
                  <a:pt x="23999" y="0"/>
                </a:lnTo>
                <a:lnTo>
                  <a:pt x="14657" y="1886"/>
                </a:lnTo>
                <a:lnTo>
                  <a:pt x="7029" y="7029"/>
                </a:lnTo>
                <a:lnTo>
                  <a:pt x="1886" y="14658"/>
                </a:lnTo>
                <a:lnTo>
                  <a:pt x="0" y="23999"/>
                </a:lnTo>
                <a:lnTo>
                  <a:pt x="0" y="873572"/>
                </a:lnTo>
                <a:lnTo>
                  <a:pt x="1886" y="882914"/>
                </a:lnTo>
                <a:lnTo>
                  <a:pt x="7029" y="890543"/>
                </a:lnTo>
                <a:lnTo>
                  <a:pt x="14657" y="895686"/>
                </a:lnTo>
                <a:lnTo>
                  <a:pt x="23999" y="897572"/>
                </a:lnTo>
                <a:lnTo>
                  <a:pt x="1546307" y="897572"/>
                </a:lnTo>
                <a:lnTo>
                  <a:pt x="1555649" y="895686"/>
                </a:lnTo>
                <a:lnTo>
                  <a:pt x="1563278" y="890543"/>
                </a:lnTo>
                <a:lnTo>
                  <a:pt x="1568421" y="882914"/>
                </a:lnTo>
                <a:lnTo>
                  <a:pt x="1570308" y="873572"/>
                </a:lnTo>
                <a:lnTo>
                  <a:pt x="1570308" y="868772"/>
                </a:lnTo>
                <a:lnTo>
                  <a:pt x="28799" y="868772"/>
                </a:lnTo>
                <a:lnTo>
                  <a:pt x="28799" y="28799"/>
                </a:lnTo>
                <a:lnTo>
                  <a:pt x="1570308" y="28799"/>
                </a:lnTo>
                <a:lnTo>
                  <a:pt x="1570308" y="23999"/>
                </a:lnTo>
                <a:lnTo>
                  <a:pt x="1568421" y="14658"/>
                </a:lnTo>
                <a:lnTo>
                  <a:pt x="1563278" y="7029"/>
                </a:lnTo>
                <a:lnTo>
                  <a:pt x="1555649" y="1886"/>
                </a:lnTo>
                <a:lnTo>
                  <a:pt x="1546307" y="0"/>
                </a:lnTo>
                <a:close/>
              </a:path>
              <a:path w="1570354" h="897890">
                <a:moveTo>
                  <a:pt x="1570308" y="28799"/>
                </a:moveTo>
                <a:lnTo>
                  <a:pt x="1541508" y="28799"/>
                </a:lnTo>
                <a:lnTo>
                  <a:pt x="1541508" y="868772"/>
                </a:lnTo>
                <a:lnTo>
                  <a:pt x="1570308" y="868772"/>
                </a:lnTo>
                <a:lnTo>
                  <a:pt x="1570308" y="28799"/>
                </a:lnTo>
                <a:close/>
              </a:path>
              <a:path w="1570354" h="897890">
                <a:moveTo>
                  <a:pt x="1531908" y="38399"/>
                </a:moveTo>
                <a:lnTo>
                  <a:pt x="38399" y="38399"/>
                </a:lnTo>
                <a:lnTo>
                  <a:pt x="38399" y="859172"/>
                </a:lnTo>
                <a:lnTo>
                  <a:pt x="1531908" y="859172"/>
                </a:lnTo>
                <a:lnTo>
                  <a:pt x="1531908" y="849572"/>
                </a:lnTo>
                <a:lnTo>
                  <a:pt x="47999" y="849572"/>
                </a:lnTo>
                <a:lnTo>
                  <a:pt x="47999" y="47999"/>
                </a:lnTo>
                <a:lnTo>
                  <a:pt x="1531908" y="47999"/>
                </a:lnTo>
                <a:lnTo>
                  <a:pt x="1531908" y="38399"/>
                </a:lnTo>
                <a:close/>
              </a:path>
              <a:path w="1570354" h="897890">
                <a:moveTo>
                  <a:pt x="1531908" y="47999"/>
                </a:moveTo>
                <a:lnTo>
                  <a:pt x="1522308" y="47999"/>
                </a:lnTo>
                <a:lnTo>
                  <a:pt x="1522308" y="849572"/>
                </a:lnTo>
                <a:lnTo>
                  <a:pt x="1531908" y="849572"/>
                </a:lnTo>
                <a:lnTo>
                  <a:pt x="1531908" y="47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556340" y="5756147"/>
            <a:ext cx="1522730" cy="77216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274955" marR="57785">
              <a:lnSpc>
                <a:spcPts val="1610"/>
              </a:lnSpc>
              <a:spcBef>
                <a:spcPts val="210"/>
              </a:spcBef>
            </a:pPr>
            <a:r>
              <a:rPr dirty="0" sz="1400" spc="-40">
                <a:latin typeface="Arial"/>
                <a:cs typeface="Arial"/>
              </a:rPr>
              <a:t>N</a:t>
            </a:r>
            <a:r>
              <a:rPr dirty="0" sz="1400" spc="-30">
                <a:latin typeface="Arial"/>
                <a:cs typeface="Arial"/>
              </a:rPr>
              <a:t>ode</a:t>
            </a:r>
            <a:r>
              <a:rPr dirty="0" sz="1400" spc="-20">
                <a:latin typeface="Arial"/>
                <a:cs typeface="Arial"/>
              </a:rPr>
              <a:t>-</a:t>
            </a:r>
            <a:r>
              <a:rPr dirty="0" sz="1400" spc="-30">
                <a:latin typeface="Arial"/>
                <a:cs typeface="Arial"/>
              </a:rPr>
              <a:t>ancho</a:t>
            </a:r>
            <a:r>
              <a:rPr dirty="0" sz="1400" spc="-20">
                <a:latin typeface="Arial"/>
                <a:cs typeface="Arial"/>
              </a:rPr>
              <a:t>r</a:t>
            </a:r>
            <a:r>
              <a:rPr dirty="0" sz="1400" spc="-30">
                <a:latin typeface="Arial"/>
                <a:cs typeface="Arial"/>
              </a:rPr>
              <a:t>ed  neighborhood</a:t>
            </a:r>
            <a:endParaRPr sz="1400">
              <a:latin typeface="Arial"/>
              <a:cs typeface="Arial"/>
            </a:endParaRPr>
          </a:p>
          <a:p>
            <a:pPr marL="274955">
              <a:lnSpc>
                <a:spcPct val="100000"/>
              </a:lnSpc>
              <a:spcBef>
                <a:spcPts val="865"/>
              </a:spcBef>
            </a:pPr>
            <a:r>
              <a:rPr dirty="0" sz="1400" spc="-25">
                <a:latin typeface="Arial"/>
                <a:cs typeface="Arial"/>
              </a:rPr>
              <a:t>Motif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27894" y="6306361"/>
            <a:ext cx="139700" cy="151130"/>
          </a:xfrm>
          <a:custGeom>
            <a:avLst/>
            <a:gdLst/>
            <a:ahLst/>
            <a:cxnLst/>
            <a:rect l="l" t="t" r="r" b="b"/>
            <a:pathLst>
              <a:path w="139700" h="151129">
                <a:moveTo>
                  <a:pt x="69603" y="0"/>
                </a:moveTo>
                <a:lnTo>
                  <a:pt x="42511" y="5928"/>
                </a:lnTo>
                <a:lnTo>
                  <a:pt x="20386" y="22097"/>
                </a:lnTo>
                <a:lnTo>
                  <a:pt x="5469" y="46079"/>
                </a:lnTo>
                <a:lnTo>
                  <a:pt x="0" y="75446"/>
                </a:lnTo>
                <a:lnTo>
                  <a:pt x="5469" y="104812"/>
                </a:lnTo>
                <a:lnTo>
                  <a:pt x="20386" y="128794"/>
                </a:lnTo>
                <a:lnTo>
                  <a:pt x="42511" y="144963"/>
                </a:lnTo>
                <a:lnTo>
                  <a:pt x="69603" y="150892"/>
                </a:lnTo>
                <a:lnTo>
                  <a:pt x="96696" y="144963"/>
                </a:lnTo>
                <a:lnTo>
                  <a:pt x="118821" y="128794"/>
                </a:lnTo>
                <a:lnTo>
                  <a:pt x="133737" y="104812"/>
                </a:lnTo>
                <a:lnTo>
                  <a:pt x="139207" y="75446"/>
                </a:lnTo>
                <a:lnTo>
                  <a:pt x="133737" y="46079"/>
                </a:lnTo>
                <a:lnTo>
                  <a:pt x="118821" y="22097"/>
                </a:lnTo>
                <a:lnTo>
                  <a:pt x="96696" y="5928"/>
                </a:lnTo>
                <a:lnTo>
                  <a:pt x="6960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613586" y="6292045"/>
            <a:ext cx="168275" cy="179705"/>
          </a:xfrm>
          <a:custGeom>
            <a:avLst/>
            <a:gdLst/>
            <a:ahLst/>
            <a:cxnLst/>
            <a:rect l="l" t="t" r="r" b="b"/>
            <a:pathLst>
              <a:path w="168275" h="179704">
                <a:moveTo>
                  <a:pt x="84432" y="0"/>
                </a:moveTo>
                <a:lnTo>
                  <a:pt x="83390" y="0"/>
                </a:lnTo>
                <a:lnTo>
                  <a:pt x="67310" y="1757"/>
                </a:lnTo>
                <a:lnTo>
                  <a:pt x="24492" y="26369"/>
                </a:lnTo>
                <a:lnTo>
                  <a:pt x="1742" y="71476"/>
                </a:lnTo>
                <a:lnTo>
                  <a:pt x="0" y="89318"/>
                </a:lnTo>
                <a:lnTo>
                  <a:pt x="82" y="91084"/>
                </a:lnTo>
                <a:lnTo>
                  <a:pt x="13817" y="139135"/>
                </a:lnTo>
                <a:lnTo>
                  <a:pt x="50425" y="172094"/>
                </a:lnTo>
                <a:lnTo>
                  <a:pt x="83390" y="179523"/>
                </a:lnTo>
                <a:lnTo>
                  <a:pt x="84432" y="179523"/>
                </a:lnTo>
                <a:lnTo>
                  <a:pt x="130885" y="164158"/>
                </a:lnTo>
                <a:lnTo>
                  <a:pt x="133066" y="162333"/>
                </a:lnTo>
                <a:lnTo>
                  <a:pt x="83911" y="162333"/>
                </a:lnTo>
                <a:lnTo>
                  <a:pt x="70501" y="160867"/>
                </a:lnTo>
                <a:lnTo>
                  <a:pt x="36803" y="141162"/>
                </a:lnTo>
                <a:lnTo>
                  <a:pt x="18543" y="104436"/>
                </a:lnTo>
                <a:lnTo>
                  <a:pt x="17219" y="89318"/>
                </a:lnTo>
                <a:lnTo>
                  <a:pt x="18543" y="75086"/>
                </a:lnTo>
                <a:lnTo>
                  <a:pt x="36803" y="38361"/>
                </a:lnTo>
                <a:lnTo>
                  <a:pt x="70501" y="18655"/>
                </a:lnTo>
                <a:lnTo>
                  <a:pt x="83911" y="17190"/>
                </a:lnTo>
                <a:lnTo>
                  <a:pt x="133067" y="17190"/>
                </a:lnTo>
                <a:lnTo>
                  <a:pt x="131649" y="15921"/>
                </a:lnTo>
                <a:lnTo>
                  <a:pt x="100514" y="1757"/>
                </a:lnTo>
                <a:lnTo>
                  <a:pt x="84432" y="0"/>
                </a:lnTo>
                <a:close/>
              </a:path>
              <a:path w="168275" h="179704">
                <a:moveTo>
                  <a:pt x="133067" y="17190"/>
                </a:moveTo>
                <a:lnTo>
                  <a:pt x="83911" y="17190"/>
                </a:lnTo>
                <a:lnTo>
                  <a:pt x="97321" y="18655"/>
                </a:lnTo>
                <a:lnTo>
                  <a:pt x="109811" y="22858"/>
                </a:lnTo>
                <a:lnTo>
                  <a:pt x="139191" y="49097"/>
                </a:lnTo>
                <a:lnTo>
                  <a:pt x="150603" y="89318"/>
                </a:lnTo>
                <a:lnTo>
                  <a:pt x="150521" y="91084"/>
                </a:lnTo>
                <a:lnTo>
                  <a:pt x="139191" y="130425"/>
                </a:lnTo>
                <a:lnTo>
                  <a:pt x="109811" y="156665"/>
                </a:lnTo>
                <a:lnTo>
                  <a:pt x="83911" y="162333"/>
                </a:lnTo>
                <a:lnTo>
                  <a:pt x="133066" y="162333"/>
                </a:lnTo>
                <a:lnTo>
                  <a:pt x="161216" y="124735"/>
                </a:lnTo>
                <a:lnTo>
                  <a:pt x="167822" y="89318"/>
                </a:lnTo>
                <a:lnTo>
                  <a:pt x="166244" y="72349"/>
                </a:lnTo>
                <a:lnTo>
                  <a:pt x="143946" y="27036"/>
                </a:lnTo>
                <a:lnTo>
                  <a:pt x="143329" y="26368"/>
                </a:lnTo>
                <a:lnTo>
                  <a:pt x="133067" y="17190"/>
                </a:lnTo>
                <a:close/>
              </a:path>
              <a:path w="168275" h="179704">
                <a:moveTo>
                  <a:pt x="83911" y="22939"/>
                </a:moveTo>
                <a:lnTo>
                  <a:pt x="41019" y="42257"/>
                </a:lnTo>
                <a:lnTo>
                  <a:pt x="22958" y="89318"/>
                </a:lnTo>
                <a:lnTo>
                  <a:pt x="23040" y="91084"/>
                </a:lnTo>
                <a:lnTo>
                  <a:pt x="41019" y="137266"/>
                </a:lnTo>
                <a:lnTo>
                  <a:pt x="83911" y="156584"/>
                </a:lnTo>
                <a:lnTo>
                  <a:pt x="96085" y="155253"/>
                </a:lnTo>
                <a:lnTo>
                  <a:pt x="107425" y="151438"/>
                </a:lnTo>
                <a:lnTo>
                  <a:pt x="108450" y="150835"/>
                </a:lnTo>
                <a:lnTo>
                  <a:pt x="83911" y="150835"/>
                </a:lnTo>
                <a:lnTo>
                  <a:pt x="72974" y="149639"/>
                </a:lnTo>
                <a:lnTo>
                  <a:pt x="38373" y="124353"/>
                </a:lnTo>
                <a:lnTo>
                  <a:pt x="28698" y="89318"/>
                </a:lnTo>
                <a:lnTo>
                  <a:pt x="29824" y="77207"/>
                </a:lnTo>
                <a:lnTo>
                  <a:pt x="53463" y="38795"/>
                </a:lnTo>
                <a:lnTo>
                  <a:pt x="83911" y="28688"/>
                </a:lnTo>
                <a:lnTo>
                  <a:pt x="108450" y="28688"/>
                </a:lnTo>
                <a:lnTo>
                  <a:pt x="107425" y="28085"/>
                </a:lnTo>
                <a:lnTo>
                  <a:pt x="96085" y="24269"/>
                </a:lnTo>
                <a:lnTo>
                  <a:pt x="83911" y="22939"/>
                </a:lnTo>
                <a:close/>
              </a:path>
              <a:path w="168275" h="179704">
                <a:moveTo>
                  <a:pt x="108450" y="28688"/>
                </a:moveTo>
                <a:lnTo>
                  <a:pt x="83911" y="28688"/>
                </a:lnTo>
                <a:lnTo>
                  <a:pt x="94848" y="29883"/>
                </a:lnTo>
                <a:lnTo>
                  <a:pt x="105040" y="33312"/>
                </a:lnTo>
                <a:lnTo>
                  <a:pt x="134675" y="65604"/>
                </a:lnTo>
                <a:lnTo>
                  <a:pt x="139124" y="89318"/>
                </a:lnTo>
                <a:lnTo>
                  <a:pt x="139042" y="91084"/>
                </a:lnTo>
                <a:lnTo>
                  <a:pt x="122586" y="133370"/>
                </a:lnTo>
                <a:lnTo>
                  <a:pt x="83911" y="150835"/>
                </a:lnTo>
                <a:lnTo>
                  <a:pt x="108450" y="150835"/>
                </a:lnTo>
                <a:lnTo>
                  <a:pt x="140023" y="116002"/>
                </a:lnTo>
                <a:lnTo>
                  <a:pt x="144864" y="89318"/>
                </a:lnTo>
                <a:lnTo>
                  <a:pt x="143639" y="76147"/>
                </a:lnTo>
                <a:lnTo>
                  <a:pt x="140023" y="63520"/>
                </a:lnTo>
                <a:lnTo>
                  <a:pt x="134321" y="52133"/>
                </a:lnTo>
                <a:lnTo>
                  <a:pt x="126803" y="42257"/>
                </a:lnTo>
                <a:lnTo>
                  <a:pt x="117746" y="34157"/>
                </a:lnTo>
                <a:lnTo>
                  <a:pt x="108450" y="28688"/>
                </a:lnTo>
                <a:close/>
              </a:path>
            </a:pathLst>
          </a:custGeom>
          <a:solidFill>
            <a:srgbClr val="64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21504" y="5858998"/>
            <a:ext cx="160655" cy="164465"/>
          </a:xfrm>
          <a:custGeom>
            <a:avLst/>
            <a:gdLst/>
            <a:ahLst/>
            <a:cxnLst/>
            <a:rect l="l" t="t" r="r" b="b"/>
            <a:pathLst>
              <a:path w="160654" h="164464">
                <a:moveTo>
                  <a:pt x="80040" y="0"/>
                </a:moveTo>
                <a:lnTo>
                  <a:pt x="48885" y="6455"/>
                </a:lnTo>
                <a:lnTo>
                  <a:pt x="23443" y="24058"/>
                </a:lnTo>
                <a:lnTo>
                  <a:pt x="6290" y="50168"/>
                </a:lnTo>
                <a:lnTo>
                  <a:pt x="0" y="82141"/>
                </a:lnTo>
                <a:lnTo>
                  <a:pt x="6290" y="114114"/>
                </a:lnTo>
                <a:lnTo>
                  <a:pt x="23443" y="140224"/>
                </a:lnTo>
                <a:lnTo>
                  <a:pt x="48885" y="157827"/>
                </a:lnTo>
                <a:lnTo>
                  <a:pt x="80040" y="164282"/>
                </a:lnTo>
                <a:lnTo>
                  <a:pt x="111196" y="157827"/>
                </a:lnTo>
                <a:lnTo>
                  <a:pt x="136638" y="140224"/>
                </a:lnTo>
                <a:lnTo>
                  <a:pt x="153792" y="114114"/>
                </a:lnTo>
                <a:lnTo>
                  <a:pt x="160082" y="82141"/>
                </a:lnTo>
                <a:lnTo>
                  <a:pt x="153792" y="50168"/>
                </a:lnTo>
                <a:lnTo>
                  <a:pt x="136638" y="24058"/>
                </a:lnTo>
                <a:lnTo>
                  <a:pt x="111196" y="6455"/>
                </a:lnTo>
                <a:lnTo>
                  <a:pt x="8004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682793" y="5802001"/>
            <a:ext cx="1543050" cy="19050"/>
          </a:xfrm>
          <a:custGeom>
            <a:avLst/>
            <a:gdLst/>
            <a:ahLst/>
            <a:cxnLst/>
            <a:rect l="l" t="t" r="r" b="b"/>
            <a:pathLst>
              <a:path w="1543050" h="19050">
                <a:moveTo>
                  <a:pt x="71935" y="0"/>
                </a:moveTo>
                <a:lnTo>
                  <a:pt x="4264" y="0"/>
                </a:lnTo>
                <a:lnTo>
                  <a:pt x="0" y="4264"/>
                </a:lnTo>
                <a:lnTo>
                  <a:pt x="0" y="14785"/>
                </a:lnTo>
                <a:lnTo>
                  <a:pt x="4264" y="19049"/>
                </a:lnTo>
                <a:lnTo>
                  <a:pt x="71935" y="19049"/>
                </a:lnTo>
                <a:lnTo>
                  <a:pt x="76200" y="14785"/>
                </a:lnTo>
                <a:lnTo>
                  <a:pt x="76199" y="4264"/>
                </a:lnTo>
                <a:lnTo>
                  <a:pt x="71935" y="0"/>
                </a:lnTo>
                <a:close/>
              </a:path>
              <a:path w="1543050" h="19050">
                <a:moveTo>
                  <a:pt x="142875" y="0"/>
                </a:moveTo>
                <a:lnTo>
                  <a:pt x="137614" y="0"/>
                </a:lnTo>
                <a:lnTo>
                  <a:pt x="133350" y="4264"/>
                </a:lnTo>
                <a:lnTo>
                  <a:pt x="133350" y="14785"/>
                </a:lnTo>
                <a:lnTo>
                  <a:pt x="137614" y="19049"/>
                </a:lnTo>
                <a:lnTo>
                  <a:pt x="205285" y="19049"/>
                </a:lnTo>
                <a:lnTo>
                  <a:pt x="209550" y="14785"/>
                </a:lnTo>
                <a:lnTo>
                  <a:pt x="209550" y="4264"/>
                </a:lnTo>
                <a:lnTo>
                  <a:pt x="205285" y="0"/>
                </a:lnTo>
                <a:lnTo>
                  <a:pt x="142875" y="0"/>
                </a:lnTo>
                <a:close/>
              </a:path>
              <a:path w="1543050" h="19050">
                <a:moveTo>
                  <a:pt x="338635" y="0"/>
                </a:moveTo>
                <a:lnTo>
                  <a:pt x="270964" y="0"/>
                </a:lnTo>
                <a:lnTo>
                  <a:pt x="266700" y="4264"/>
                </a:lnTo>
                <a:lnTo>
                  <a:pt x="266700" y="14785"/>
                </a:lnTo>
                <a:lnTo>
                  <a:pt x="270964" y="19050"/>
                </a:lnTo>
                <a:lnTo>
                  <a:pt x="338635" y="19050"/>
                </a:lnTo>
                <a:lnTo>
                  <a:pt x="342900" y="14785"/>
                </a:lnTo>
                <a:lnTo>
                  <a:pt x="342900" y="4264"/>
                </a:lnTo>
                <a:lnTo>
                  <a:pt x="338635" y="0"/>
                </a:lnTo>
                <a:close/>
              </a:path>
              <a:path w="1543050" h="19050">
                <a:moveTo>
                  <a:pt x="471985" y="0"/>
                </a:moveTo>
                <a:lnTo>
                  <a:pt x="404314" y="0"/>
                </a:lnTo>
                <a:lnTo>
                  <a:pt x="400050" y="4264"/>
                </a:lnTo>
                <a:lnTo>
                  <a:pt x="400050" y="14785"/>
                </a:lnTo>
                <a:lnTo>
                  <a:pt x="404314" y="19050"/>
                </a:lnTo>
                <a:lnTo>
                  <a:pt x="471985" y="19050"/>
                </a:lnTo>
                <a:lnTo>
                  <a:pt x="476250" y="14785"/>
                </a:lnTo>
                <a:lnTo>
                  <a:pt x="476249" y="4264"/>
                </a:lnTo>
                <a:lnTo>
                  <a:pt x="471985" y="0"/>
                </a:lnTo>
                <a:close/>
              </a:path>
              <a:path w="1543050" h="19050">
                <a:moveTo>
                  <a:pt x="542925" y="0"/>
                </a:moveTo>
                <a:lnTo>
                  <a:pt x="537664" y="0"/>
                </a:lnTo>
                <a:lnTo>
                  <a:pt x="533400" y="4264"/>
                </a:lnTo>
                <a:lnTo>
                  <a:pt x="533400" y="14785"/>
                </a:lnTo>
                <a:lnTo>
                  <a:pt x="537664" y="19050"/>
                </a:lnTo>
                <a:lnTo>
                  <a:pt x="605335" y="19050"/>
                </a:lnTo>
                <a:lnTo>
                  <a:pt x="609600" y="14785"/>
                </a:lnTo>
                <a:lnTo>
                  <a:pt x="609600" y="4264"/>
                </a:lnTo>
                <a:lnTo>
                  <a:pt x="605335" y="0"/>
                </a:lnTo>
                <a:lnTo>
                  <a:pt x="542925" y="0"/>
                </a:lnTo>
                <a:close/>
              </a:path>
              <a:path w="1543050" h="19050">
                <a:moveTo>
                  <a:pt x="738685" y="0"/>
                </a:moveTo>
                <a:lnTo>
                  <a:pt x="671014" y="0"/>
                </a:lnTo>
                <a:lnTo>
                  <a:pt x="666750" y="4264"/>
                </a:lnTo>
                <a:lnTo>
                  <a:pt x="666750" y="14785"/>
                </a:lnTo>
                <a:lnTo>
                  <a:pt x="671014" y="19050"/>
                </a:lnTo>
                <a:lnTo>
                  <a:pt x="738685" y="19050"/>
                </a:lnTo>
                <a:lnTo>
                  <a:pt x="742950" y="14785"/>
                </a:lnTo>
                <a:lnTo>
                  <a:pt x="742950" y="4264"/>
                </a:lnTo>
                <a:lnTo>
                  <a:pt x="738685" y="0"/>
                </a:lnTo>
                <a:close/>
              </a:path>
              <a:path w="1543050" h="19050">
                <a:moveTo>
                  <a:pt x="872035" y="0"/>
                </a:moveTo>
                <a:lnTo>
                  <a:pt x="804364" y="0"/>
                </a:lnTo>
                <a:lnTo>
                  <a:pt x="800100" y="4264"/>
                </a:lnTo>
                <a:lnTo>
                  <a:pt x="800100" y="14785"/>
                </a:lnTo>
                <a:lnTo>
                  <a:pt x="804364" y="19050"/>
                </a:lnTo>
                <a:lnTo>
                  <a:pt x="872035" y="19050"/>
                </a:lnTo>
                <a:lnTo>
                  <a:pt x="876300" y="14785"/>
                </a:lnTo>
                <a:lnTo>
                  <a:pt x="876299" y="4264"/>
                </a:lnTo>
                <a:lnTo>
                  <a:pt x="872035" y="0"/>
                </a:lnTo>
                <a:close/>
              </a:path>
              <a:path w="1543050" h="19050">
                <a:moveTo>
                  <a:pt x="942975" y="0"/>
                </a:moveTo>
                <a:lnTo>
                  <a:pt x="937714" y="0"/>
                </a:lnTo>
                <a:lnTo>
                  <a:pt x="933450" y="4265"/>
                </a:lnTo>
                <a:lnTo>
                  <a:pt x="933450" y="14786"/>
                </a:lnTo>
                <a:lnTo>
                  <a:pt x="937714" y="19050"/>
                </a:lnTo>
                <a:lnTo>
                  <a:pt x="1005385" y="19050"/>
                </a:lnTo>
                <a:lnTo>
                  <a:pt x="1009650" y="14786"/>
                </a:lnTo>
                <a:lnTo>
                  <a:pt x="1009650" y="4265"/>
                </a:lnTo>
                <a:lnTo>
                  <a:pt x="1005385" y="0"/>
                </a:lnTo>
                <a:lnTo>
                  <a:pt x="942975" y="0"/>
                </a:lnTo>
                <a:close/>
              </a:path>
              <a:path w="1543050" h="19050">
                <a:moveTo>
                  <a:pt x="1138735" y="0"/>
                </a:moveTo>
                <a:lnTo>
                  <a:pt x="1071064" y="0"/>
                </a:lnTo>
                <a:lnTo>
                  <a:pt x="1066800" y="4265"/>
                </a:lnTo>
                <a:lnTo>
                  <a:pt x="1066800" y="14786"/>
                </a:lnTo>
                <a:lnTo>
                  <a:pt x="1071064" y="19050"/>
                </a:lnTo>
                <a:lnTo>
                  <a:pt x="1138735" y="19050"/>
                </a:lnTo>
                <a:lnTo>
                  <a:pt x="1143000" y="14786"/>
                </a:lnTo>
                <a:lnTo>
                  <a:pt x="1143000" y="4265"/>
                </a:lnTo>
                <a:lnTo>
                  <a:pt x="1138735" y="0"/>
                </a:lnTo>
                <a:close/>
              </a:path>
              <a:path w="1543050" h="19050">
                <a:moveTo>
                  <a:pt x="1272085" y="0"/>
                </a:moveTo>
                <a:lnTo>
                  <a:pt x="1204414" y="0"/>
                </a:lnTo>
                <a:lnTo>
                  <a:pt x="1200150" y="4265"/>
                </a:lnTo>
                <a:lnTo>
                  <a:pt x="1200150" y="14786"/>
                </a:lnTo>
                <a:lnTo>
                  <a:pt x="1204414" y="19050"/>
                </a:lnTo>
                <a:lnTo>
                  <a:pt x="1272085" y="19050"/>
                </a:lnTo>
                <a:lnTo>
                  <a:pt x="1276350" y="14786"/>
                </a:lnTo>
                <a:lnTo>
                  <a:pt x="1276349" y="4265"/>
                </a:lnTo>
                <a:lnTo>
                  <a:pt x="1272085" y="0"/>
                </a:lnTo>
                <a:close/>
              </a:path>
              <a:path w="1543050" h="19050">
                <a:moveTo>
                  <a:pt x="1343025" y="0"/>
                </a:moveTo>
                <a:lnTo>
                  <a:pt x="1337764" y="0"/>
                </a:lnTo>
                <a:lnTo>
                  <a:pt x="1333500" y="4265"/>
                </a:lnTo>
                <a:lnTo>
                  <a:pt x="1333500" y="14786"/>
                </a:lnTo>
                <a:lnTo>
                  <a:pt x="1337764" y="19050"/>
                </a:lnTo>
                <a:lnTo>
                  <a:pt x="1405435" y="19050"/>
                </a:lnTo>
                <a:lnTo>
                  <a:pt x="1409700" y="14786"/>
                </a:lnTo>
                <a:lnTo>
                  <a:pt x="1409700" y="4265"/>
                </a:lnTo>
                <a:lnTo>
                  <a:pt x="1405435" y="0"/>
                </a:lnTo>
                <a:lnTo>
                  <a:pt x="1343025" y="0"/>
                </a:lnTo>
                <a:close/>
              </a:path>
              <a:path w="1543050" h="19050">
                <a:moveTo>
                  <a:pt x="1538785" y="0"/>
                </a:moveTo>
                <a:lnTo>
                  <a:pt x="1471114" y="0"/>
                </a:lnTo>
                <a:lnTo>
                  <a:pt x="1466850" y="4265"/>
                </a:lnTo>
                <a:lnTo>
                  <a:pt x="1466850" y="14786"/>
                </a:lnTo>
                <a:lnTo>
                  <a:pt x="1471114" y="19050"/>
                </a:lnTo>
                <a:lnTo>
                  <a:pt x="1538785" y="19050"/>
                </a:lnTo>
                <a:lnTo>
                  <a:pt x="1543050" y="14786"/>
                </a:lnTo>
                <a:lnTo>
                  <a:pt x="1543050" y="4265"/>
                </a:lnTo>
                <a:lnTo>
                  <a:pt x="1538785" y="0"/>
                </a:lnTo>
                <a:close/>
              </a:path>
            </a:pathLst>
          </a:custGeom>
          <a:solidFill>
            <a:srgbClr val="64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15981" y="4055364"/>
            <a:ext cx="217424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30" b="1">
                <a:latin typeface="Arial"/>
                <a:cs typeface="Arial"/>
              </a:rPr>
              <a:t>Embedding</a:t>
            </a:r>
            <a:r>
              <a:rPr dirty="0" sz="2000" spc="-140" b="1">
                <a:latin typeface="Arial"/>
                <a:cs typeface="Arial"/>
              </a:rPr>
              <a:t> </a:t>
            </a:r>
            <a:r>
              <a:rPr dirty="0" sz="2000" spc="-25" b="1">
                <a:latin typeface="Arial"/>
                <a:cs typeface="Arial"/>
              </a:rPr>
              <a:t>Space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54965" y="4570550"/>
            <a:ext cx="160655" cy="164465"/>
          </a:xfrm>
          <a:custGeom>
            <a:avLst/>
            <a:gdLst/>
            <a:ahLst/>
            <a:cxnLst/>
            <a:rect l="l" t="t" r="r" b="b"/>
            <a:pathLst>
              <a:path w="160655" h="164464">
                <a:moveTo>
                  <a:pt x="80041" y="0"/>
                </a:moveTo>
                <a:lnTo>
                  <a:pt x="48885" y="6455"/>
                </a:lnTo>
                <a:lnTo>
                  <a:pt x="23443" y="24058"/>
                </a:lnTo>
                <a:lnTo>
                  <a:pt x="6290" y="50168"/>
                </a:lnTo>
                <a:lnTo>
                  <a:pt x="0" y="82141"/>
                </a:lnTo>
                <a:lnTo>
                  <a:pt x="6290" y="114114"/>
                </a:lnTo>
                <a:lnTo>
                  <a:pt x="23443" y="140224"/>
                </a:lnTo>
                <a:lnTo>
                  <a:pt x="48885" y="157828"/>
                </a:lnTo>
                <a:lnTo>
                  <a:pt x="80041" y="164283"/>
                </a:lnTo>
                <a:lnTo>
                  <a:pt x="111197" y="157828"/>
                </a:lnTo>
                <a:lnTo>
                  <a:pt x="136638" y="140224"/>
                </a:lnTo>
                <a:lnTo>
                  <a:pt x="153792" y="114114"/>
                </a:lnTo>
                <a:lnTo>
                  <a:pt x="160082" y="82141"/>
                </a:lnTo>
                <a:lnTo>
                  <a:pt x="153792" y="50168"/>
                </a:lnTo>
                <a:lnTo>
                  <a:pt x="136638" y="24058"/>
                </a:lnTo>
                <a:lnTo>
                  <a:pt x="111197" y="6455"/>
                </a:lnTo>
                <a:lnTo>
                  <a:pt x="8004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240263" y="4808970"/>
            <a:ext cx="160655" cy="164465"/>
          </a:xfrm>
          <a:custGeom>
            <a:avLst/>
            <a:gdLst/>
            <a:ahLst/>
            <a:cxnLst/>
            <a:rect l="l" t="t" r="r" b="b"/>
            <a:pathLst>
              <a:path w="160655" h="164464">
                <a:moveTo>
                  <a:pt x="80041" y="0"/>
                </a:moveTo>
                <a:lnTo>
                  <a:pt x="48885" y="6454"/>
                </a:lnTo>
                <a:lnTo>
                  <a:pt x="23443" y="24058"/>
                </a:lnTo>
                <a:lnTo>
                  <a:pt x="6290" y="50167"/>
                </a:lnTo>
                <a:lnTo>
                  <a:pt x="0" y="82141"/>
                </a:lnTo>
                <a:lnTo>
                  <a:pt x="6290" y="114114"/>
                </a:lnTo>
                <a:lnTo>
                  <a:pt x="23443" y="140223"/>
                </a:lnTo>
                <a:lnTo>
                  <a:pt x="48885" y="157827"/>
                </a:lnTo>
                <a:lnTo>
                  <a:pt x="80041" y="164282"/>
                </a:lnTo>
                <a:lnTo>
                  <a:pt x="111197" y="157827"/>
                </a:lnTo>
                <a:lnTo>
                  <a:pt x="136638" y="140223"/>
                </a:lnTo>
                <a:lnTo>
                  <a:pt x="153792" y="114114"/>
                </a:lnTo>
                <a:lnTo>
                  <a:pt x="160082" y="82141"/>
                </a:lnTo>
                <a:lnTo>
                  <a:pt x="153792" y="50167"/>
                </a:lnTo>
                <a:lnTo>
                  <a:pt x="136638" y="24058"/>
                </a:lnTo>
                <a:lnTo>
                  <a:pt x="111197" y="6454"/>
                </a:lnTo>
                <a:lnTo>
                  <a:pt x="8004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609917" y="4644687"/>
            <a:ext cx="160655" cy="164465"/>
          </a:xfrm>
          <a:custGeom>
            <a:avLst/>
            <a:gdLst/>
            <a:ahLst/>
            <a:cxnLst/>
            <a:rect l="l" t="t" r="r" b="b"/>
            <a:pathLst>
              <a:path w="160655" h="164464">
                <a:moveTo>
                  <a:pt x="80040" y="0"/>
                </a:moveTo>
                <a:lnTo>
                  <a:pt x="48885" y="6454"/>
                </a:lnTo>
                <a:lnTo>
                  <a:pt x="23443" y="24058"/>
                </a:lnTo>
                <a:lnTo>
                  <a:pt x="6290" y="50167"/>
                </a:lnTo>
                <a:lnTo>
                  <a:pt x="0" y="82141"/>
                </a:lnTo>
                <a:lnTo>
                  <a:pt x="6290" y="114114"/>
                </a:lnTo>
                <a:lnTo>
                  <a:pt x="23443" y="140223"/>
                </a:lnTo>
                <a:lnTo>
                  <a:pt x="48885" y="157827"/>
                </a:lnTo>
                <a:lnTo>
                  <a:pt x="80040" y="164282"/>
                </a:lnTo>
                <a:lnTo>
                  <a:pt x="111196" y="157827"/>
                </a:lnTo>
                <a:lnTo>
                  <a:pt x="136638" y="140223"/>
                </a:lnTo>
                <a:lnTo>
                  <a:pt x="153791" y="114114"/>
                </a:lnTo>
                <a:lnTo>
                  <a:pt x="160080" y="82141"/>
                </a:lnTo>
                <a:lnTo>
                  <a:pt x="153791" y="50167"/>
                </a:lnTo>
                <a:lnTo>
                  <a:pt x="136638" y="24058"/>
                </a:lnTo>
                <a:lnTo>
                  <a:pt x="111196" y="6454"/>
                </a:lnTo>
                <a:lnTo>
                  <a:pt x="8004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950596" y="4891110"/>
            <a:ext cx="160655" cy="164465"/>
          </a:xfrm>
          <a:custGeom>
            <a:avLst/>
            <a:gdLst/>
            <a:ahLst/>
            <a:cxnLst/>
            <a:rect l="l" t="t" r="r" b="b"/>
            <a:pathLst>
              <a:path w="160655" h="164464">
                <a:moveTo>
                  <a:pt x="80040" y="0"/>
                </a:moveTo>
                <a:lnTo>
                  <a:pt x="48885" y="6455"/>
                </a:lnTo>
                <a:lnTo>
                  <a:pt x="23443" y="24059"/>
                </a:lnTo>
                <a:lnTo>
                  <a:pt x="6290" y="50168"/>
                </a:lnTo>
                <a:lnTo>
                  <a:pt x="0" y="82142"/>
                </a:lnTo>
                <a:lnTo>
                  <a:pt x="6290" y="114115"/>
                </a:lnTo>
                <a:lnTo>
                  <a:pt x="23443" y="140224"/>
                </a:lnTo>
                <a:lnTo>
                  <a:pt x="48885" y="157828"/>
                </a:lnTo>
                <a:lnTo>
                  <a:pt x="80040" y="164283"/>
                </a:lnTo>
                <a:lnTo>
                  <a:pt x="111196" y="157828"/>
                </a:lnTo>
                <a:lnTo>
                  <a:pt x="136638" y="140224"/>
                </a:lnTo>
                <a:lnTo>
                  <a:pt x="153792" y="114115"/>
                </a:lnTo>
                <a:lnTo>
                  <a:pt x="160082" y="82142"/>
                </a:lnTo>
                <a:lnTo>
                  <a:pt x="153792" y="50168"/>
                </a:lnTo>
                <a:lnTo>
                  <a:pt x="136638" y="24059"/>
                </a:lnTo>
                <a:lnTo>
                  <a:pt x="111196" y="6455"/>
                </a:lnTo>
                <a:lnTo>
                  <a:pt x="8004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689957" y="5167499"/>
            <a:ext cx="160655" cy="164465"/>
          </a:xfrm>
          <a:custGeom>
            <a:avLst/>
            <a:gdLst/>
            <a:ahLst/>
            <a:cxnLst/>
            <a:rect l="l" t="t" r="r" b="b"/>
            <a:pathLst>
              <a:path w="160655" h="164464">
                <a:moveTo>
                  <a:pt x="80041" y="0"/>
                </a:moveTo>
                <a:lnTo>
                  <a:pt x="48885" y="6454"/>
                </a:lnTo>
                <a:lnTo>
                  <a:pt x="23443" y="24058"/>
                </a:lnTo>
                <a:lnTo>
                  <a:pt x="6290" y="50167"/>
                </a:lnTo>
                <a:lnTo>
                  <a:pt x="0" y="82141"/>
                </a:lnTo>
                <a:lnTo>
                  <a:pt x="6290" y="114114"/>
                </a:lnTo>
                <a:lnTo>
                  <a:pt x="23443" y="140223"/>
                </a:lnTo>
                <a:lnTo>
                  <a:pt x="48885" y="157827"/>
                </a:lnTo>
                <a:lnTo>
                  <a:pt x="80041" y="164282"/>
                </a:lnTo>
                <a:lnTo>
                  <a:pt x="111197" y="157827"/>
                </a:lnTo>
                <a:lnTo>
                  <a:pt x="136638" y="140223"/>
                </a:lnTo>
                <a:lnTo>
                  <a:pt x="153792" y="114114"/>
                </a:lnTo>
                <a:lnTo>
                  <a:pt x="160082" y="82141"/>
                </a:lnTo>
                <a:lnTo>
                  <a:pt x="153792" y="50167"/>
                </a:lnTo>
                <a:lnTo>
                  <a:pt x="136638" y="24058"/>
                </a:lnTo>
                <a:lnTo>
                  <a:pt x="111197" y="6454"/>
                </a:lnTo>
                <a:lnTo>
                  <a:pt x="8004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157582" y="5228106"/>
            <a:ext cx="160655" cy="164465"/>
          </a:xfrm>
          <a:custGeom>
            <a:avLst/>
            <a:gdLst/>
            <a:ahLst/>
            <a:cxnLst/>
            <a:rect l="l" t="t" r="r" b="b"/>
            <a:pathLst>
              <a:path w="160655" h="164464">
                <a:moveTo>
                  <a:pt x="80041" y="0"/>
                </a:moveTo>
                <a:lnTo>
                  <a:pt x="48885" y="6454"/>
                </a:lnTo>
                <a:lnTo>
                  <a:pt x="23443" y="24058"/>
                </a:lnTo>
                <a:lnTo>
                  <a:pt x="6290" y="50167"/>
                </a:lnTo>
                <a:lnTo>
                  <a:pt x="0" y="82141"/>
                </a:lnTo>
                <a:lnTo>
                  <a:pt x="6290" y="114114"/>
                </a:lnTo>
                <a:lnTo>
                  <a:pt x="23443" y="140224"/>
                </a:lnTo>
                <a:lnTo>
                  <a:pt x="48885" y="157828"/>
                </a:lnTo>
                <a:lnTo>
                  <a:pt x="80041" y="164283"/>
                </a:lnTo>
                <a:lnTo>
                  <a:pt x="111197" y="157828"/>
                </a:lnTo>
                <a:lnTo>
                  <a:pt x="136638" y="140224"/>
                </a:lnTo>
                <a:lnTo>
                  <a:pt x="153792" y="114114"/>
                </a:lnTo>
                <a:lnTo>
                  <a:pt x="160082" y="82141"/>
                </a:lnTo>
                <a:lnTo>
                  <a:pt x="153792" y="50167"/>
                </a:lnTo>
                <a:lnTo>
                  <a:pt x="136638" y="24058"/>
                </a:lnTo>
                <a:lnTo>
                  <a:pt x="111197" y="6454"/>
                </a:lnTo>
                <a:lnTo>
                  <a:pt x="8004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874925" y="5449279"/>
            <a:ext cx="160655" cy="164465"/>
          </a:xfrm>
          <a:custGeom>
            <a:avLst/>
            <a:gdLst/>
            <a:ahLst/>
            <a:cxnLst/>
            <a:rect l="l" t="t" r="r" b="b"/>
            <a:pathLst>
              <a:path w="160655" h="164464">
                <a:moveTo>
                  <a:pt x="80040" y="0"/>
                </a:moveTo>
                <a:lnTo>
                  <a:pt x="48885" y="6454"/>
                </a:lnTo>
                <a:lnTo>
                  <a:pt x="23443" y="24058"/>
                </a:lnTo>
                <a:lnTo>
                  <a:pt x="6290" y="50167"/>
                </a:lnTo>
                <a:lnTo>
                  <a:pt x="0" y="82141"/>
                </a:lnTo>
                <a:lnTo>
                  <a:pt x="6290" y="114114"/>
                </a:lnTo>
                <a:lnTo>
                  <a:pt x="23443" y="140223"/>
                </a:lnTo>
                <a:lnTo>
                  <a:pt x="48885" y="157827"/>
                </a:lnTo>
                <a:lnTo>
                  <a:pt x="80040" y="164282"/>
                </a:lnTo>
                <a:lnTo>
                  <a:pt x="111196" y="157827"/>
                </a:lnTo>
                <a:lnTo>
                  <a:pt x="136638" y="140223"/>
                </a:lnTo>
                <a:lnTo>
                  <a:pt x="153792" y="114114"/>
                </a:lnTo>
                <a:lnTo>
                  <a:pt x="160082" y="82141"/>
                </a:lnTo>
                <a:lnTo>
                  <a:pt x="153792" y="50167"/>
                </a:lnTo>
                <a:lnTo>
                  <a:pt x="136638" y="24058"/>
                </a:lnTo>
                <a:lnTo>
                  <a:pt x="111196" y="6454"/>
                </a:lnTo>
                <a:lnTo>
                  <a:pt x="8004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412667" y="5563524"/>
            <a:ext cx="160655" cy="164465"/>
          </a:xfrm>
          <a:custGeom>
            <a:avLst/>
            <a:gdLst/>
            <a:ahLst/>
            <a:cxnLst/>
            <a:rect l="l" t="t" r="r" b="b"/>
            <a:pathLst>
              <a:path w="160655" h="164464">
                <a:moveTo>
                  <a:pt x="80040" y="0"/>
                </a:moveTo>
                <a:lnTo>
                  <a:pt x="48885" y="6455"/>
                </a:lnTo>
                <a:lnTo>
                  <a:pt x="23443" y="24058"/>
                </a:lnTo>
                <a:lnTo>
                  <a:pt x="6290" y="50168"/>
                </a:lnTo>
                <a:lnTo>
                  <a:pt x="0" y="82141"/>
                </a:lnTo>
                <a:lnTo>
                  <a:pt x="6290" y="114114"/>
                </a:lnTo>
                <a:lnTo>
                  <a:pt x="23443" y="140224"/>
                </a:lnTo>
                <a:lnTo>
                  <a:pt x="48885" y="157828"/>
                </a:lnTo>
                <a:lnTo>
                  <a:pt x="80040" y="164283"/>
                </a:lnTo>
                <a:lnTo>
                  <a:pt x="111196" y="157828"/>
                </a:lnTo>
                <a:lnTo>
                  <a:pt x="136638" y="140224"/>
                </a:lnTo>
                <a:lnTo>
                  <a:pt x="153792" y="114114"/>
                </a:lnTo>
                <a:lnTo>
                  <a:pt x="160082" y="82141"/>
                </a:lnTo>
                <a:lnTo>
                  <a:pt x="153792" y="50168"/>
                </a:lnTo>
                <a:lnTo>
                  <a:pt x="136638" y="24058"/>
                </a:lnTo>
                <a:lnTo>
                  <a:pt x="111196" y="6455"/>
                </a:lnTo>
                <a:lnTo>
                  <a:pt x="8004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969922" y="5391852"/>
            <a:ext cx="160655" cy="164465"/>
          </a:xfrm>
          <a:custGeom>
            <a:avLst/>
            <a:gdLst/>
            <a:ahLst/>
            <a:cxnLst/>
            <a:rect l="l" t="t" r="r" b="b"/>
            <a:pathLst>
              <a:path w="160655" h="164464">
                <a:moveTo>
                  <a:pt x="80040" y="0"/>
                </a:moveTo>
                <a:lnTo>
                  <a:pt x="48885" y="6454"/>
                </a:lnTo>
                <a:lnTo>
                  <a:pt x="23443" y="24058"/>
                </a:lnTo>
                <a:lnTo>
                  <a:pt x="6290" y="50167"/>
                </a:lnTo>
                <a:lnTo>
                  <a:pt x="0" y="82141"/>
                </a:lnTo>
                <a:lnTo>
                  <a:pt x="6290" y="114114"/>
                </a:lnTo>
                <a:lnTo>
                  <a:pt x="23443" y="140223"/>
                </a:lnTo>
                <a:lnTo>
                  <a:pt x="48885" y="157827"/>
                </a:lnTo>
                <a:lnTo>
                  <a:pt x="80040" y="164282"/>
                </a:lnTo>
                <a:lnTo>
                  <a:pt x="111196" y="157827"/>
                </a:lnTo>
                <a:lnTo>
                  <a:pt x="136638" y="140223"/>
                </a:lnTo>
                <a:lnTo>
                  <a:pt x="153792" y="114114"/>
                </a:lnTo>
                <a:lnTo>
                  <a:pt x="160082" y="82141"/>
                </a:lnTo>
                <a:lnTo>
                  <a:pt x="153792" y="50167"/>
                </a:lnTo>
                <a:lnTo>
                  <a:pt x="136638" y="24058"/>
                </a:lnTo>
                <a:lnTo>
                  <a:pt x="111196" y="6454"/>
                </a:lnTo>
                <a:lnTo>
                  <a:pt x="8004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622713" y="5727808"/>
            <a:ext cx="139700" cy="151130"/>
          </a:xfrm>
          <a:custGeom>
            <a:avLst/>
            <a:gdLst/>
            <a:ahLst/>
            <a:cxnLst/>
            <a:rect l="l" t="t" r="r" b="b"/>
            <a:pathLst>
              <a:path w="139700" h="151129">
                <a:moveTo>
                  <a:pt x="69603" y="0"/>
                </a:moveTo>
                <a:lnTo>
                  <a:pt x="42510" y="5928"/>
                </a:lnTo>
                <a:lnTo>
                  <a:pt x="20386" y="22097"/>
                </a:lnTo>
                <a:lnTo>
                  <a:pt x="5469" y="46079"/>
                </a:lnTo>
                <a:lnTo>
                  <a:pt x="0" y="75446"/>
                </a:lnTo>
                <a:lnTo>
                  <a:pt x="5469" y="104812"/>
                </a:lnTo>
                <a:lnTo>
                  <a:pt x="20386" y="128794"/>
                </a:lnTo>
                <a:lnTo>
                  <a:pt x="42510" y="144963"/>
                </a:lnTo>
                <a:lnTo>
                  <a:pt x="69603" y="150892"/>
                </a:lnTo>
                <a:lnTo>
                  <a:pt x="96696" y="144963"/>
                </a:lnTo>
                <a:lnTo>
                  <a:pt x="118820" y="128794"/>
                </a:lnTo>
                <a:lnTo>
                  <a:pt x="133737" y="104812"/>
                </a:lnTo>
                <a:lnTo>
                  <a:pt x="139207" y="75446"/>
                </a:lnTo>
                <a:lnTo>
                  <a:pt x="133737" y="46079"/>
                </a:lnTo>
                <a:lnTo>
                  <a:pt x="118820" y="22097"/>
                </a:lnTo>
                <a:lnTo>
                  <a:pt x="96696" y="5928"/>
                </a:lnTo>
                <a:lnTo>
                  <a:pt x="6960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608405" y="5713492"/>
            <a:ext cx="168275" cy="179705"/>
          </a:xfrm>
          <a:custGeom>
            <a:avLst/>
            <a:gdLst/>
            <a:ahLst/>
            <a:cxnLst/>
            <a:rect l="l" t="t" r="r" b="b"/>
            <a:pathLst>
              <a:path w="168275" h="179704">
                <a:moveTo>
                  <a:pt x="84430" y="0"/>
                </a:moveTo>
                <a:lnTo>
                  <a:pt x="83390" y="0"/>
                </a:lnTo>
                <a:lnTo>
                  <a:pt x="67308" y="1757"/>
                </a:lnTo>
                <a:lnTo>
                  <a:pt x="24492" y="26369"/>
                </a:lnTo>
                <a:lnTo>
                  <a:pt x="1742" y="71476"/>
                </a:lnTo>
                <a:lnTo>
                  <a:pt x="0" y="89318"/>
                </a:lnTo>
                <a:lnTo>
                  <a:pt x="81" y="91084"/>
                </a:lnTo>
                <a:lnTo>
                  <a:pt x="13817" y="139135"/>
                </a:lnTo>
                <a:lnTo>
                  <a:pt x="50425" y="172094"/>
                </a:lnTo>
                <a:lnTo>
                  <a:pt x="83390" y="179523"/>
                </a:lnTo>
                <a:lnTo>
                  <a:pt x="84432" y="179523"/>
                </a:lnTo>
                <a:lnTo>
                  <a:pt x="130885" y="164158"/>
                </a:lnTo>
                <a:lnTo>
                  <a:pt x="133065" y="162333"/>
                </a:lnTo>
                <a:lnTo>
                  <a:pt x="83911" y="162333"/>
                </a:lnTo>
                <a:lnTo>
                  <a:pt x="70501" y="160867"/>
                </a:lnTo>
                <a:lnTo>
                  <a:pt x="36802" y="141162"/>
                </a:lnTo>
                <a:lnTo>
                  <a:pt x="18541" y="104436"/>
                </a:lnTo>
                <a:lnTo>
                  <a:pt x="17217" y="89318"/>
                </a:lnTo>
                <a:lnTo>
                  <a:pt x="18541" y="75086"/>
                </a:lnTo>
                <a:lnTo>
                  <a:pt x="36802" y="38361"/>
                </a:lnTo>
                <a:lnTo>
                  <a:pt x="70501" y="18655"/>
                </a:lnTo>
                <a:lnTo>
                  <a:pt x="83911" y="17190"/>
                </a:lnTo>
                <a:lnTo>
                  <a:pt x="133066" y="17190"/>
                </a:lnTo>
                <a:lnTo>
                  <a:pt x="131648" y="15921"/>
                </a:lnTo>
                <a:lnTo>
                  <a:pt x="100512" y="1757"/>
                </a:lnTo>
                <a:lnTo>
                  <a:pt x="84430" y="0"/>
                </a:lnTo>
                <a:close/>
              </a:path>
              <a:path w="168275" h="179704">
                <a:moveTo>
                  <a:pt x="133066" y="17190"/>
                </a:moveTo>
                <a:lnTo>
                  <a:pt x="83911" y="17190"/>
                </a:lnTo>
                <a:lnTo>
                  <a:pt x="97320" y="18655"/>
                </a:lnTo>
                <a:lnTo>
                  <a:pt x="109810" y="22858"/>
                </a:lnTo>
                <a:lnTo>
                  <a:pt x="139191" y="49097"/>
                </a:lnTo>
                <a:lnTo>
                  <a:pt x="150603" y="89318"/>
                </a:lnTo>
                <a:lnTo>
                  <a:pt x="150521" y="91084"/>
                </a:lnTo>
                <a:lnTo>
                  <a:pt x="139191" y="130425"/>
                </a:lnTo>
                <a:lnTo>
                  <a:pt x="109810" y="156665"/>
                </a:lnTo>
                <a:lnTo>
                  <a:pt x="83911" y="162333"/>
                </a:lnTo>
                <a:lnTo>
                  <a:pt x="133065" y="162333"/>
                </a:lnTo>
                <a:lnTo>
                  <a:pt x="161215" y="124735"/>
                </a:lnTo>
                <a:lnTo>
                  <a:pt x="167822" y="89318"/>
                </a:lnTo>
                <a:lnTo>
                  <a:pt x="166244" y="72349"/>
                </a:lnTo>
                <a:lnTo>
                  <a:pt x="143946" y="27036"/>
                </a:lnTo>
                <a:lnTo>
                  <a:pt x="143329" y="26368"/>
                </a:lnTo>
                <a:lnTo>
                  <a:pt x="133066" y="17190"/>
                </a:lnTo>
                <a:close/>
              </a:path>
              <a:path w="168275" h="179704">
                <a:moveTo>
                  <a:pt x="83911" y="22939"/>
                </a:moveTo>
                <a:lnTo>
                  <a:pt x="41018" y="42257"/>
                </a:lnTo>
                <a:lnTo>
                  <a:pt x="22958" y="89318"/>
                </a:lnTo>
                <a:lnTo>
                  <a:pt x="23040" y="91084"/>
                </a:lnTo>
                <a:lnTo>
                  <a:pt x="41018" y="137266"/>
                </a:lnTo>
                <a:lnTo>
                  <a:pt x="83911" y="156584"/>
                </a:lnTo>
                <a:lnTo>
                  <a:pt x="96084" y="155253"/>
                </a:lnTo>
                <a:lnTo>
                  <a:pt x="107425" y="151438"/>
                </a:lnTo>
                <a:lnTo>
                  <a:pt x="108450" y="150835"/>
                </a:lnTo>
                <a:lnTo>
                  <a:pt x="83911" y="150835"/>
                </a:lnTo>
                <a:lnTo>
                  <a:pt x="72972" y="149639"/>
                </a:lnTo>
                <a:lnTo>
                  <a:pt x="38371" y="124353"/>
                </a:lnTo>
                <a:lnTo>
                  <a:pt x="28697" y="89318"/>
                </a:lnTo>
                <a:lnTo>
                  <a:pt x="29824" y="77207"/>
                </a:lnTo>
                <a:lnTo>
                  <a:pt x="53461" y="38795"/>
                </a:lnTo>
                <a:lnTo>
                  <a:pt x="83911" y="28688"/>
                </a:lnTo>
                <a:lnTo>
                  <a:pt x="108450" y="28688"/>
                </a:lnTo>
                <a:lnTo>
                  <a:pt x="107425" y="28085"/>
                </a:lnTo>
                <a:lnTo>
                  <a:pt x="96084" y="24269"/>
                </a:lnTo>
                <a:lnTo>
                  <a:pt x="83911" y="22939"/>
                </a:lnTo>
                <a:close/>
              </a:path>
              <a:path w="168275" h="179704">
                <a:moveTo>
                  <a:pt x="108450" y="28688"/>
                </a:moveTo>
                <a:lnTo>
                  <a:pt x="83911" y="28688"/>
                </a:lnTo>
                <a:lnTo>
                  <a:pt x="94848" y="29883"/>
                </a:lnTo>
                <a:lnTo>
                  <a:pt x="105039" y="33312"/>
                </a:lnTo>
                <a:lnTo>
                  <a:pt x="134674" y="65604"/>
                </a:lnTo>
                <a:lnTo>
                  <a:pt x="139124" y="89318"/>
                </a:lnTo>
                <a:lnTo>
                  <a:pt x="139042" y="91084"/>
                </a:lnTo>
                <a:lnTo>
                  <a:pt x="122586" y="133370"/>
                </a:lnTo>
                <a:lnTo>
                  <a:pt x="83911" y="150835"/>
                </a:lnTo>
                <a:lnTo>
                  <a:pt x="108450" y="150835"/>
                </a:lnTo>
                <a:lnTo>
                  <a:pt x="140022" y="116002"/>
                </a:lnTo>
                <a:lnTo>
                  <a:pt x="144863" y="89318"/>
                </a:lnTo>
                <a:lnTo>
                  <a:pt x="143638" y="76147"/>
                </a:lnTo>
                <a:lnTo>
                  <a:pt x="140022" y="63520"/>
                </a:lnTo>
                <a:lnTo>
                  <a:pt x="134320" y="52133"/>
                </a:lnTo>
                <a:lnTo>
                  <a:pt x="126803" y="42257"/>
                </a:lnTo>
                <a:lnTo>
                  <a:pt x="117746" y="34157"/>
                </a:lnTo>
                <a:lnTo>
                  <a:pt x="108450" y="28688"/>
                </a:lnTo>
                <a:close/>
              </a:path>
            </a:pathLst>
          </a:custGeom>
          <a:solidFill>
            <a:srgbClr val="64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55213" y="4452610"/>
            <a:ext cx="158750" cy="2228850"/>
          </a:xfrm>
          <a:custGeom>
            <a:avLst/>
            <a:gdLst/>
            <a:ahLst/>
            <a:cxnLst/>
            <a:rect l="l" t="t" r="r" b="b"/>
            <a:pathLst>
              <a:path w="158750" h="2228850">
                <a:moveTo>
                  <a:pt x="79375" y="95250"/>
                </a:moveTo>
                <a:lnTo>
                  <a:pt x="63500" y="107949"/>
                </a:lnTo>
                <a:lnTo>
                  <a:pt x="63499" y="2221425"/>
                </a:lnTo>
                <a:lnTo>
                  <a:pt x="70606" y="2228533"/>
                </a:lnTo>
                <a:lnTo>
                  <a:pt x="88141" y="2228533"/>
                </a:lnTo>
                <a:lnTo>
                  <a:pt x="95249" y="2221425"/>
                </a:lnTo>
                <a:lnTo>
                  <a:pt x="95250" y="107949"/>
                </a:lnTo>
                <a:lnTo>
                  <a:pt x="79375" y="95250"/>
                </a:lnTo>
                <a:close/>
              </a:path>
              <a:path w="158750" h="2228850">
                <a:moveTo>
                  <a:pt x="79375" y="0"/>
                </a:moveTo>
                <a:lnTo>
                  <a:pt x="0" y="158750"/>
                </a:lnTo>
                <a:lnTo>
                  <a:pt x="63500" y="107950"/>
                </a:lnTo>
                <a:lnTo>
                  <a:pt x="63500" y="86479"/>
                </a:lnTo>
                <a:lnTo>
                  <a:pt x="70607" y="79371"/>
                </a:lnTo>
                <a:lnTo>
                  <a:pt x="119060" y="79371"/>
                </a:lnTo>
                <a:lnTo>
                  <a:pt x="79375" y="0"/>
                </a:lnTo>
                <a:close/>
              </a:path>
              <a:path w="158750" h="2228850">
                <a:moveTo>
                  <a:pt x="119060" y="79371"/>
                </a:moveTo>
                <a:lnTo>
                  <a:pt x="88142" y="79371"/>
                </a:lnTo>
                <a:lnTo>
                  <a:pt x="95250" y="86479"/>
                </a:lnTo>
                <a:lnTo>
                  <a:pt x="95250" y="107950"/>
                </a:lnTo>
                <a:lnTo>
                  <a:pt x="158749" y="158750"/>
                </a:lnTo>
                <a:lnTo>
                  <a:pt x="119060" y="79371"/>
                </a:lnTo>
                <a:close/>
              </a:path>
              <a:path w="158750" h="2228850">
                <a:moveTo>
                  <a:pt x="95250" y="95250"/>
                </a:moveTo>
                <a:lnTo>
                  <a:pt x="79375" y="95250"/>
                </a:lnTo>
                <a:lnTo>
                  <a:pt x="95250" y="107950"/>
                </a:lnTo>
                <a:lnTo>
                  <a:pt x="95250" y="95250"/>
                </a:lnTo>
                <a:close/>
              </a:path>
              <a:path w="158750" h="2228850">
                <a:moveTo>
                  <a:pt x="88142" y="79371"/>
                </a:moveTo>
                <a:lnTo>
                  <a:pt x="70607" y="79371"/>
                </a:lnTo>
                <a:lnTo>
                  <a:pt x="63500" y="86479"/>
                </a:lnTo>
                <a:lnTo>
                  <a:pt x="63500" y="107949"/>
                </a:lnTo>
                <a:lnTo>
                  <a:pt x="79375" y="95250"/>
                </a:lnTo>
                <a:lnTo>
                  <a:pt x="95250" y="95250"/>
                </a:lnTo>
                <a:lnTo>
                  <a:pt x="95250" y="86479"/>
                </a:lnTo>
                <a:lnTo>
                  <a:pt x="88142" y="79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223591" y="6585891"/>
            <a:ext cx="3438525" cy="158750"/>
          </a:xfrm>
          <a:custGeom>
            <a:avLst/>
            <a:gdLst/>
            <a:ahLst/>
            <a:cxnLst/>
            <a:rect l="l" t="t" r="r" b="b"/>
            <a:pathLst>
              <a:path w="3438525" h="158750">
                <a:moveTo>
                  <a:pt x="3406384" y="63499"/>
                </a:moveTo>
                <a:lnTo>
                  <a:pt x="3351652" y="63499"/>
                </a:lnTo>
                <a:lnTo>
                  <a:pt x="3358760" y="70607"/>
                </a:lnTo>
                <a:lnTo>
                  <a:pt x="3358758" y="88144"/>
                </a:lnTo>
                <a:lnTo>
                  <a:pt x="3351652" y="95249"/>
                </a:lnTo>
                <a:lnTo>
                  <a:pt x="3330182" y="95251"/>
                </a:lnTo>
                <a:lnTo>
                  <a:pt x="3279384" y="158749"/>
                </a:lnTo>
                <a:lnTo>
                  <a:pt x="3438134" y="79374"/>
                </a:lnTo>
                <a:lnTo>
                  <a:pt x="3406384" y="63499"/>
                </a:lnTo>
                <a:close/>
              </a:path>
              <a:path w="3438525" h="158750">
                <a:moveTo>
                  <a:pt x="3330184" y="63499"/>
                </a:moveTo>
                <a:lnTo>
                  <a:pt x="15875" y="63501"/>
                </a:lnTo>
                <a:lnTo>
                  <a:pt x="7107" y="63501"/>
                </a:lnTo>
                <a:lnTo>
                  <a:pt x="1" y="70607"/>
                </a:lnTo>
                <a:lnTo>
                  <a:pt x="0" y="88144"/>
                </a:lnTo>
                <a:lnTo>
                  <a:pt x="7107" y="95251"/>
                </a:lnTo>
                <a:lnTo>
                  <a:pt x="3330184" y="95249"/>
                </a:lnTo>
                <a:lnTo>
                  <a:pt x="3342884" y="79374"/>
                </a:lnTo>
                <a:lnTo>
                  <a:pt x="3330184" y="63499"/>
                </a:lnTo>
                <a:close/>
              </a:path>
              <a:path w="3438525" h="158750">
                <a:moveTo>
                  <a:pt x="3351652" y="63499"/>
                </a:moveTo>
                <a:lnTo>
                  <a:pt x="3330184" y="63499"/>
                </a:lnTo>
                <a:lnTo>
                  <a:pt x="3342884" y="79374"/>
                </a:lnTo>
                <a:lnTo>
                  <a:pt x="3330184" y="95249"/>
                </a:lnTo>
                <a:lnTo>
                  <a:pt x="3351652" y="95249"/>
                </a:lnTo>
                <a:lnTo>
                  <a:pt x="3358758" y="88144"/>
                </a:lnTo>
                <a:lnTo>
                  <a:pt x="3358760" y="70607"/>
                </a:lnTo>
                <a:lnTo>
                  <a:pt x="3351652" y="63499"/>
                </a:lnTo>
                <a:close/>
              </a:path>
              <a:path w="3438525" h="158750">
                <a:moveTo>
                  <a:pt x="3279384" y="0"/>
                </a:moveTo>
                <a:lnTo>
                  <a:pt x="3330184" y="63499"/>
                </a:lnTo>
                <a:lnTo>
                  <a:pt x="3406384" y="63499"/>
                </a:lnTo>
                <a:lnTo>
                  <a:pt x="32793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143910" y="6643116"/>
            <a:ext cx="156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orbel"/>
                <a:cs typeface="Corbel"/>
              </a:rPr>
              <a:t>O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4227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2/18/21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566661" y="5600700"/>
            <a:ext cx="3427729" cy="62293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260"/>
              </a:spcBef>
            </a:pPr>
            <a:r>
              <a:rPr dirty="0" sz="2000" spc="-25" b="1">
                <a:solidFill>
                  <a:srgbClr val="D60093"/>
                </a:solidFill>
                <a:latin typeface="Arial"/>
                <a:cs typeface="Arial"/>
              </a:rPr>
              <a:t>Benefit: </a:t>
            </a:r>
            <a:r>
              <a:rPr dirty="0" sz="2000" spc="-30" b="1">
                <a:solidFill>
                  <a:srgbClr val="D60093"/>
                </a:solidFill>
                <a:latin typeface="Arial"/>
                <a:cs typeface="Arial"/>
              </a:rPr>
              <a:t>Super </a:t>
            </a:r>
            <a:r>
              <a:rPr dirty="0" sz="2000" spc="-20" b="1">
                <a:solidFill>
                  <a:srgbClr val="D60093"/>
                </a:solidFill>
                <a:latin typeface="Arial"/>
                <a:cs typeface="Arial"/>
              </a:rPr>
              <a:t>fast</a:t>
            </a:r>
            <a:r>
              <a:rPr dirty="0" sz="2000" spc="-105" b="1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2000" spc="-30" b="1">
                <a:solidFill>
                  <a:srgbClr val="D60093"/>
                </a:solidFill>
                <a:latin typeface="Arial"/>
                <a:cs typeface="Arial"/>
              </a:rPr>
              <a:t>subgraph  </a:t>
            </a:r>
            <a:r>
              <a:rPr dirty="0" sz="2000" spc="-25" b="1">
                <a:solidFill>
                  <a:srgbClr val="D60093"/>
                </a:solidFill>
                <a:latin typeface="Arial"/>
                <a:cs typeface="Arial"/>
              </a:rPr>
              <a:t>frequency</a:t>
            </a:r>
            <a:r>
              <a:rPr dirty="0" sz="2000" spc="-110" b="1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2000" spc="-30" b="1">
                <a:solidFill>
                  <a:srgbClr val="D60093"/>
                </a:solidFill>
                <a:latin typeface="Arial"/>
                <a:cs typeface="Arial"/>
              </a:rPr>
              <a:t>counting!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7242048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0842" y="1384299"/>
            <a:ext cx="7960995" cy="8851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Initial </a:t>
            </a:r>
            <a:r>
              <a:rPr dirty="0" sz="2800" spc="-20" b="1">
                <a:solidFill>
                  <a:srgbClr val="C00000"/>
                </a:solidFill>
                <a:latin typeface="Calibri"/>
                <a:cs typeface="Calibri"/>
              </a:rPr>
              <a:t>step</a:t>
            </a:r>
            <a:r>
              <a:rPr dirty="0" sz="2800" spc="-20"/>
              <a:t>: </a:t>
            </a:r>
            <a:r>
              <a:rPr dirty="0" sz="2800" spc="-10"/>
              <a:t>Start </a:t>
            </a:r>
            <a:r>
              <a:rPr dirty="0" sz="2800" spc="-5"/>
              <a:t>by </a:t>
            </a:r>
            <a:r>
              <a:rPr dirty="0" sz="2800" spc="-10"/>
              <a:t>randomly </a:t>
            </a:r>
            <a:r>
              <a:rPr dirty="0" sz="2800" spc="-5"/>
              <a:t>picking </a:t>
            </a:r>
            <a:r>
              <a:rPr dirty="0" sz="2800"/>
              <a:t>a </a:t>
            </a:r>
            <a:r>
              <a:rPr dirty="0" sz="2800" spc="-15"/>
              <a:t>starting </a:t>
            </a:r>
            <a:r>
              <a:rPr dirty="0" sz="2800" spc="-5"/>
              <a:t>node</a:t>
            </a:r>
            <a:r>
              <a:rPr dirty="0" sz="2800" spc="90"/>
              <a:t> </a:t>
            </a:r>
            <a:r>
              <a:rPr dirty="0" sz="2800">
                <a:latin typeface="Cambria Math"/>
                <a:cs typeface="Cambria Math"/>
              </a:rPr>
              <a:t>𝑢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2800" spc="-5"/>
              <a:t>in the </a:t>
            </a:r>
            <a:r>
              <a:rPr dirty="0" sz="2800" spc="-25"/>
              <a:t>target </a:t>
            </a:r>
            <a:r>
              <a:rPr dirty="0" sz="2800" spc="-15"/>
              <a:t>graph. </a:t>
            </a:r>
            <a:r>
              <a:rPr dirty="0" sz="2800" spc="-10"/>
              <a:t>Set </a:t>
            </a:r>
            <a:r>
              <a:rPr dirty="0" sz="2800">
                <a:latin typeface="Cambria Math"/>
                <a:cs typeface="Cambria Math"/>
              </a:rPr>
              <a:t>𝑆  =</a:t>
            </a:r>
            <a:r>
              <a:rPr dirty="0" sz="2800" spc="-229">
                <a:latin typeface="Cambria Math"/>
                <a:cs typeface="Cambria Math"/>
              </a:rPr>
              <a:t> </a:t>
            </a:r>
            <a:r>
              <a:rPr dirty="0" sz="2800" spc="25">
                <a:latin typeface="Cambria Math"/>
                <a:cs typeface="Cambria Math"/>
              </a:rPr>
              <a:t>{𝑢}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76142" y="3158539"/>
            <a:ext cx="3560846" cy="34453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40121" y="3349943"/>
            <a:ext cx="400050" cy="93345"/>
          </a:xfrm>
          <a:custGeom>
            <a:avLst/>
            <a:gdLst/>
            <a:ahLst/>
            <a:cxnLst/>
            <a:rect l="l" t="t" r="r" b="b"/>
            <a:pathLst>
              <a:path w="400050" h="93345">
                <a:moveTo>
                  <a:pt x="0" y="93323"/>
                </a:moveTo>
                <a:lnTo>
                  <a:pt x="399482" y="93323"/>
                </a:lnTo>
                <a:lnTo>
                  <a:pt x="399482" y="0"/>
                </a:lnTo>
                <a:lnTo>
                  <a:pt x="0" y="0"/>
                </a:lnTo>
                <a:lnTo>
                  <a:pt x="0" y="933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24827" y="5677548"/>
            <a:ext cx="48260" cy="34290"/>
          </a:xfrm>
          <a:custGeom>
            <a:avLst/>
            <a:gdLst/>
            <a:ahLst/>
            <a:cxnLst/>
            <a:rect l="l" t="t" r="r" b="b"/>
            <a:pathLst>
              <a:path w="48260" h="34289">
                <a:moveTo>
                  <a:pt x="48043" y="0"/>
                </a:moveTo>
                <a:lnTo>
                  <a:pt x="0" y="34100"/>
                </a:lnTo>
              </a:path>
            </a:pathLst>
          </a:custGeom>
          <a:ln w="57150">
            <a:solidFill>
              <a:srgbClr val="64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942229" y="5610642"/>
            <a:ext cx="198120" cy="12700"/>
          </a:xfrm>
          <a:custGeom>
            <a:avLst/>
            <a:gdLst/>
            <a:ahLst/>
            <a:cxnLst/>
            <a:rect l="l" t="t" r="r" b="b"/>
            <a:pathLst>
              <a:path w="198119" h="12700">
                <a:moveTo>
                  <a:pt x="197586" y="0"/>
                </a:moveTo>
                <a:lnTo>
                  <a:pt x="0" y="12545"/>
                </a:lnTo>
              </a:path>
            </a:pathLst>
          </a:custGeom>
          <a:ln w="57150">
            <a:solidFill>
              <a:srgbClr val="64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43418" y="5476826"/>
            <a:ext cx="5715" cy="40005"/>
          </a:xfrm>
          <a:custGeom>
            <a:avLst/>
            <a:gdLst/>
            <a:ahLst/>
            <a:cxnLst/>
            <a:rect l="l" t="t" r="r" b="b"/>
            <a:pathLst>
              <a:path w="5714" h="40004">
                <a:moveTo>
                  <a:pt x="5697" y="0"/>
                </a:moveTo>
                <a:lnTo>
                  <a:pt x="0" y="39438"/>
                </a:lnTo>
              </a:path>
            </a:pathLst>
          </a:custGeom>
          <a:ln w="57150">
            <a:solidFill>
              <a:srgbClr val="64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559380" y="5106746"/>
            <a:ext cx="13335" cy="27940"/>
          </a:xfrm>
          <a:custGeom>
            <a:avLst/>
            <a:gdLst/>
            <a:ahLst/>
            <a:cxnLst/>
            <a:rect l="l" t="t" r="r" b="b"/>
            <a:pathLst>
              <a:path w="13335" h="27939">
                <a:moveTo>
                  <a:pt x="13242" y="0"/>
                </a:moveTo>
                <a:lnTo>
                  <a:pt x="0" y="27529"/>
                </a:lnTo>
              </a:path>
            </a:pathLst>
          </a:custGeom>
          <a:ln w="57150">
            <a:solidFill>
              <a:srgbClr val="64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83785" y="4861071"/>
            <a:ext cx="121285" cy="53340"/>
          </a:xfrm>
          <a:custGeom>
            <a:avLst/>
            <a:gdLst/>
            <a:ahLst/>
            <a:cxnLst/>
            <a:rect l="l" t="t" r="r" b="b"/>
            <a:pathLst>
              <a:path w="121285" h="53339">
                <a:moveTo>
                  <a:pt x="120922" y="0"/>
                </a:moveTo>
                <a:lnTo>
                  <a:pt x="0" y="53122"/>
                </a:lnTo>
              </a:path>
            </a:pathLst>
          </a:custGeom>
          <a:ln w="57150">
            <a:solidFill>
              <a:srgbClr val="64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121531" y="6435344"/>
            <a:ext cx="50673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latin typeface="Times New Roman"/>
                <a:cs typeface="Times New Roman"/>
              </a:rPr>
              <a:t>Step</a:t>
            </a:r>
            <a:r>
              <a:rPr dirty="0" sz="1500" spc="-9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89295" y="6272184"/>
            <a:ext cx="422909" cy="257810"/>
          </a:xfrm>
          <a:custGeom>
            <a:avLst/>
            <a:gdLst/>
            <a:ahLst/>
            <a:cxnLst/>
            <a:rect l="l" t="t" r="r" b="b"/>
            <a:pathLst>
              <a:path w="422910" h="257809">
                <a:moveTo>
                  <a:pt x="113830" y="57116"/>
                </a:moveTo>
                <a:lnTo>
                  <a:pt x="104037" y="73456"/>
                </a:lnTo>
                <a:lnTo>
                  <a:pt x="411603" y="257785"/>
                </a:lnTo>
                <a:lnTo>
                  <a:pt x="417452" y="256319"/>
                </a:lnTo>
                <a:lnTo>
                  <a:pt x="422861" y="247295"/>
                </a:lnTo>
                <a:lnTo>
                  <a:pt x="421396" y="241445"/>
                </a:lnTo>
                <a:lnTo>
                  <a:pt x="113830" y="57116"/>
                </a:lnTo>
                <a:close/>
              </a:path>
              <a:path w="422910" h="257809">
                <a:moveTo>
                  <a:pt x="0" y="0"/>
                </a:moveTo>
                <a:lnTo>
                  <a:pt x="76291" y="119753"/>
                </a:lnTo>
                <a:lnTo>
                  <a:pt x="104037" y="73456"/>
                </a:lnTo>
                <a:lnTo>
                  <a:pt x="88632" y="64223"/>
                </a:lnTo>
                <a:lnTo>
                  <a:pt x="87166" y="58373"/>
                </a:lnTo>
                <a:lnTo>
                  <a:pt x="92574" y="49348"/>
                </a:lnTo>
                <a:lnTo>
                  <a:pt x="98425" y="47883"/>
                </a:lnTo>
                <a:lnTo>
                  <a:pt x="119364" y="47883"/>
                </a:lnTo>
                <a:lnTo>
                  <a:pt x="141577" y="10818"/>
                </a:lnTo>
                <a:lnTo>
                  <a:pt x="0" y="0"/>
                </a:lnTo>
                <a:close/>
              </a:path>
              <a:path w="422910" h="257809">
                <a:moveTo>
                  <a:pt x="98425" y="47883"/>
                </a:moveTo>
                <a:lnTo>
                  <a:pt x="92574" y="49348"/>
                </a:lnTo>
                <a:lnTo>
                  <a:pt x="87166" y="58373"/>
                </a:lnTo>
                <a:lnTo>
                  <a:pt x="88632" y="64223"/>
                </a:lnTo>
                <a:lnTo>
                  <a:pt x="104037" y="73456"/>
                </a:lnTo>
                <a:lnTo>
                  <a:pt x="113830" y="57116"/>
                </a:lnTo>
                <a:lnTo>
                  <a:pt x="98425" y="47883"/>
                </a:lnTo>
                <a:close/>
              </a:path>
              <a:path w="422910" h="257809">
                <a:moveTo>
                  <a:pt x="119364" y="47883"/>
                </a:moveTo>
                <a:lnTo>
                  <a:pt x="98425" y="47883"/>
                </a:lnTo>
                <a:lnTo>
                  <a:pt x="113830" y="57116"/>
                </a:lnTo>
                <a:lnTo>
                  <a:pt x="119364" y="478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44089" y="4026586"/>
            <a:ext cx="1202690" cy="479425"/>
          </a:xfrm>
          <a:custGeom>
            <a:avLst/>
            <a:gdLst/>
            <a:ahLst/>
            <a:cxnLst/>
            <a:rect l="l" t="t" r="r" b="b"/>
            <a:pathLst>
              <a:path w="1202689" h="479425">
                <a:moveTo>
                  <a:pt x="196684" y="239559"/>
                </a:moveTo>
                <a:lnTo>
                  <a:pt x="0" y="444401"/>
                </a:lnTo>
                <a:lnTo>
                  <a:pt x="281884" y="478844"/>
                </a:lnTo>
                <a:lnTo>
                  <a:pt x="184574" y="418646"/>
                </a:lnTo>
                <a:lnTo>
                  <a:pt x="142105" y="418646"/>
                </a:lnTo>
                <a:lnTo>
                  <a:pt x="132673" y="416226"/>
                </a:lnTo>
                <a:lnTo>
                  <a:pt x="124837" y="410446"/>
                </a:lnTo>
                <a:lnTo>
                  <a:pt x="119640" y="401802"/>
                </a:lnTo>
                <a:lnTo>
                  <a:pt x="118204" y="391818"/>
                </a:lnTo>
                <a:lnTo>
                  <a:pt x="120624" y="382386"/>
                </a:lnTo>
                <a:lnTo>
                  <a:pt x="126404" y="374550"/>
                </a:lnTo>
                <a:lnTo>
                  <a:pt x="135049" y="369353"/>
                </a:lnTo>
                <a:lnTo>
                  <a:pt x="154193" y="362537"/>
                </a:lnTo>
                <a:lnTo>
                  <a:pt x="196684" y="239559"/>
                </a:lnTo>
                <a:close/>
              </a:path>
              <a:path w="1202689" h="479425">
                <a:moveTo>
                  <a:pt x="154193" y="362537"/>
                </a:moveTo>
                <a:lnTo>
                  <a:pt x="135049" y="369353"/>
                </a:lnTo>
                <a:lnTo>
                  <a:pt x="126404" y="374550"/>
                </a:lnTo>
                <a:lnTo>
                  <a:pt x="120624" y="382386"/>
                </a:lnTo>
                <a:lnTo>
                  <a:pt x="118204" y="391818"/>
                </a:lnTo>
                <a:lnTo>
                  <a:pt x="119640" y="401802"/>
                </a:lnTo>
                <a:lnTo>
                  <a:pt x="124837" y="410446"/>
                </a:lnTo>
                <a:lnTo>
                  <a:pt x="132673" y="416226"/>
                </a:lnTo>
                <a:lnTo>
                  <a:pt x="142105" y="418646"/>
                </a:lnTo>
                <a:lnTo>
                  <a:pt x="152088" y="417211"/>
                </a:lnTo>
                <a:lnTo>
                  <a:pt x="171233" y="410394"/>
                </a:lnTo>
                <a:lnTo>
                  <a:pt x="143570" y="393281"/>
                </a:lnTo>
                <a:lnTo>
                  <a:pt x="154193" y="362537"/>
                </a:lnTo>
                <a:close/>
              </a:path>
              <a:path w="1202689" h="479425">
                <a:moveTo>
                  <a:pt x="171233" y="410394"/>
                </a:moveTo>
                <a:lnTo>
                  <a:pt x="152088" y="417211"/>
                </a:lnTo>
                <a:lnTo>
                  <a:pt x="142105" y="418646"/>
                </a:lnTo>
                <a:lnTo>
                  <a:pt x="184574" y="418646"/>
                </a:lnTo>
                <a:lnTo>
                  <a:pt x="171233" y="410394"/>
                </a:lnTo>
                <a:close/>
              </a:path>
              <a:path w="1202689" h="479425">
                <a:moveTo>
                  <a:pt x="1178341" y="0"/>
                </a:moveTo>
                <a:lnTo>
                  <a:pt x="1168358" y="1435"/>
                </a:lnTo>
                <a:lnTo>
                  <a:pt x="154193" y="362537"/>
                </a:lnTo>
                <a:lnTo>
                  <a:pt x="143570" y="393281"/>
                </a:lnTo>
                <a:lnTo>
                  <a:pt x="171233" y="410394"/>
                </a:lnTo>
                <a:lnTo>
                  <a:pt x="1185397" y="49293"/>
                </a:lnTo>
                <a:lnTo>
                  <a:pt x="1194042" y="44096"/>
                </a:lnTo>
                <a:lnTo>
                  <a:pt x="1199822" y="36260"/>
                </a:lnTo>
                <a:lnTo>
                  <a:pt x="1202242" y="26828"/>
                </a:lnTo>
                <a:lnTo>
                  <a:pt x="1200806" y="16844"/>
                </a:lnTo>
                <a:lnTo>
                  <a:pt x="1195609" y="8200"/>
                </a:lnTo>
                <a:lnTo>
                  <a:pt x="1187772" y="2419"/>
                </a:lnTo>
                <a:lnTo>
                  <a:pt x="1178341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959601" y="5522490"/>
            <a:ext cx="158750" cy="163830"/>
          </a:xfrm>
          <a:custGeom>
            <a:avLst/>
            <a:gdLst/>
            <a:ahLst/>
            <a:cxnLst/>
            <a:rect l="l" t="t" r="r" b="b"/>
            <a:pathLst>
              <a:path w="158750" h="163829">
                <a:moveTo>
                  <a:pt x="79100" y="0"/>
                </a:moveTo>
                <a:lnTo>
                  <a:pt x="48310" y="6422"/>
                </a:lnTo>
                <a:lnTo>
                  <a:pt x="23167" y="23937"/>
                </a:lnTo>
                <a:lnTo>
                  <a:pt x="6216" y="49916"/>
                </a:lnTo>
                <a:lnTo>
                  <a:pt x="0" y="81728"/>
                </a:lnTo>
                <a:lnTo>
                  <a:pt x="6216" y="113541"/>
                </a:lnTo>
                <a:lnTo>
                  <a:pt x="23167" y="139519"/>
                </a:lnTo>
                <a:lnTo>
                  <a:pt x="48310" y="157035"/>
                </a:lnTo>
                <a:lnTo>
                  <a:pt x="79100" y="163457"/>
                </a:lnTo>
                <a:lnTo>
                  <a:pt x="109889" y="157035"/>
                </a:lnTo>
                <a:lnTo>
                  <a:pt x="135033" y="139519"/>
                </a:lnTo>
                <a:lnTo>
                  <a:pt x="151985" y="113541"/>
                </a:lnTo>
                <a:lnTo>
                  <a:pt x="158201" y="81728"/>
                </a:lnTo>
                <a:lnTo>
                  <a:pt x="151985" y="49916"/>
                </a:lnTo>
                <a:lnTo>
                  <a:pt x="135033" y="23937"/>
                </a:lnTo>
                <a:lnTo>
                  <a:pt x="109889" y="6422"/>
                </a:lnTo>
                <a:lnTo>
                  <a:pt x="79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950060" y="5512947"/>
            <a:ext cx="177800" cy="182880"/>
          </a:xfrm>
          <a:custGeom>
            <a:avLst/>
            <a:gdLst/>
            <a:ahLst/>
            <a:cxnLst/>
            <a:rect l="l" t="t" r="r" b="b"/>
            <a:pathLst>
              <a:path w="177800" h="182879">
                <a:moveTo>
                  <a:pt x="88971" y="0"/>
                </a:moveTo>
                <a:lnTo>
                  <a:pt x="88309" y="0"/>
                </a:lnTo>
                <a:lnTo>
                  <a:pt x="71059" y="1797"/>
                </a:lnTo>
                <a:lnTo>
                  <a:pt x="26066" y="26625"/>
                </a:lnTo>
                <a:lnTo>
                  <a:pt x="1846" y="72651"/>
                </a:lnTo>
                <a:lnTo>
                  <a:pt x="0" y="90961"/>
                </a:lnTo>
                <a:lnTo>
                  <a:pt x="59" y="92196"/>
                </a:lnTo>
                <a:lnTo>
                  <a:pt x="14898" y="141931"/>
                </a:lnTo>
                <a:lnTo>
                  <a:pt x="53748" y="175197"/>
                </a:lnTo>
                <a:lnTo>
                  <a:pt x="88309" y="182542"/>
                </a:lnTo>
                <a:lnTo>
                  <a:pt x="88971" y="182542"/>
                </a:lnTo>
                <a:lnTo>
                  <a:pt x="130865" y="171085"/>
                </a:lnTo>
                <a:lnTo>
                  <a:pt x="88640" y="171085"/>
                </a:lnTo>
                <a:lnTo>
                  <a:pt x="73092" y="169465"/>
                </a:lnTo>
                <a:lnTo>
                  <a:pt x="34082" y="147731"/>
                </a:lnTo>
                <a:lnTo>
                  <a:pt x="13025" y="107372"/>
                </a:lnTo>
                <a:lnTo>
                  <a:pt x="11484" y="90961"/>
                </a:lnTo>
                <a:lnTo>
                  <a:pt x="13025" y="75170"/>
                </a:lnTo>
                <a:lnTo>
                  <a:pt x="34082" y="34811"/>
                </a:lnTo>
                <a:lnTo>
                  <a:pt x="73092" y="13077"/>
                </a:lnTo>
                <a:lnTo>
                  <a:pt x="88640" y="11457"/>
                </a:lnTo>
                <a:lnTo>
                  <a:pt x="130865" y="11457"/>
                </a:lnTo>
                <a:lnTo>
                  <a:pt x="123532" y="7345"/>
                </a:lnTo>
                <a:lnTo>
                  <a:pt x="122946" y="7090"/>
                </a:lnTo>
                <a:lnTo>
                  <a:pt x="106865" y="1932"/>
                </a:lnTo>
                <a:lnTo>
                  <a:pt x="106221" y="1797"/>
                </a:lnTo>
                <a:lnTo>
                  <a:pt x="88971" y="0"/>
                </a:lnTo>
                <a:close/>
              </a:path>
              <a:path w="177800" h="182879">
                <a:moveTo>
                  <a:pt x="130865" y="11457"/>
                </a:moveTo>
                <a:lnTo>
                  <a:pt x="88640" y="11457"/>
                </a:lnTo>
                <a:lnTo>
                  <a:pt x="104188" y="13077"/>
                </a:lnTo>
                <a:lnTo>
                  <a:pt x="118664" y="17720"/>
                </a:lnTo>
                <a:lnTo>
                  <a:pt x="152629" y="46622"/>
                </a:lnTo>
                <a:lnTo>
                  <a:pt x="165796" y="90961"/>
                </a:lnTo>
                <a:lnTo>
                  <a:pt x="165736" y="92196"/>
                </a:lnTo>
                <a:lnTo>
                  <a:pt x="152629" y="135920"/>
                </a:lnTo>
                <a:lnTo>
                  <a:pt x="118664" y="164822"/>
                </a:lnTo>
                <a:lnTo>
                  <a:pt x="88640" y="171085"/>
                </a:lnTo>
                <a:lnTo>
                  <a:pt x="130865" y="171085"/>
                </a:lnTo>
                <a:lnTo>
                  <a:pt x="162073" y="142406"/>
                </a:lnTo>
                <a:lnTo>
                  <a:pt x="177220" y="92196"/>
                </a:lnTo>
                <a:lnTo>
                  <a:pt x="177280" y="90961"/>
                </a:lnTo>
                <a:lnTo>
                  <a:pt x="175553" y="73259"/>
                </a:lnTo>
                <a:lnTo>
                  <a:pt x="151637" y="27062"/>
                </a:lnTo>
                <a:lnTo>
                  <a:pt x="138065" y="15495"/>
                </a:lnTo>
                <a:lnTo>
                  <a:pt x="130865" y="11457"/>
                </a:lnTo>
                <a:close/>
              </a:path>
              <a:path w="177800" h="182879">
                <a:moveTo>
                  <a:pt x="88640" y="15288"/>
                </a:moveTo>
                <a:lnTo>
                  <a:pt x="47697" y="28211"/>
                </a:lnTo>
                <a:lnTo>
                  <a:pt x="21071" y="61630"/>
                </a:lnTo>
                <a:lnTo>
                  <a:pt x="15312" y="90961"/>
                </a:lnTo>
                <a:lnTo>
                  <a:pt x="15372" y="92196"/>
                </a:lnTo>
                <a:lnTo>
                  <a:pt x="27854" y="133826"/>
                </a:lnTo>
                <a:lnTo>
                  <a:pt x="60144" y="161311"/>
                </a:lnTo>
                <a:lnTo>
                  <a:pt x="88640" y="167254"/>
                </a:lnTo>
                <a:lnTo>
                  <a:pt x="103400" y="165717"/>
                </a:lnTo>
                <a:lnTo>
                  <a:pt x="110550" y="163424"/>
                </a:lnTo>
                <a:lnTo>
                  <a:pt x="88640" y="163424"/>
                </a:lnTo>
                <a:lnTo>
                  <a:pt x="74668" y="161968"/>
                </a:lnTo>
                <a:lnTo>
                  <a:pt x="39582" y="142406"/>
                </a:lnTo>
                <a:lnTo>
                  <a:pt x="20537" y="105892"/>
                </a:lnTo>
                <a:lnTo>
                  <a:pt x="19139" y="90961"/>
                </a:lnTo>
                <a:lnTo>
                  <a:pt x="20537" y="76650"/>
                </a:lnTo>
                <a:lnTo>
                  <a:pt x="39620" y="40104"/>
                </a:lnTo>
                <a:lnTo>
                  <a:pt x="74668" y="20574"/>
                </a:lnTo>
                <a:lnTo>
                  <a:pt x="88640" y="19118"/>
                </a:lnTo>
                <a:lnTo>
                  <a:pt x="110548" y="19118"/>
                </a:lnTo>
                <a:lnTo>
                  <a:pt x="103400" y="16826"/>
                </a:lnTo>
                <a:lnTo>
                  <a:pt x="88640" y="15288"/>
                </a:lnTo>
                <a:close/>
              </a:path>
              <a:path w="177800" h="182879">
                <a:moveTo>
                  <a:pt x="110548" y="19118"/>
                </a:moveTo>
                <a:lnTo>
                  <a:pt x="88640" y="19118"/>
                </a:lnTo>
                <a:lnTo>
                  <a:pt x="102613" y="20574"/>
                </a:lnTo>
                <a:lnTo>
                  <a:pt x="115608" y="24742"/>
                </a:lnTo>
                <a:lnTo>
                  <a:pt x="146221" y="50810"/>
                </a:lnTo>
                <a:lnTo>
                  <a:pt x="158140" y="90961"/>
                </a:lnTo>
                <a:lnTo>
                  <a:pt x="158080" y="92196"/>
                </a:lnTo>
                <a:lnTo>
                  <a:pt x="146221" y="131733"/>
                </a:lnTo>
                <a:lnTo>
                  <a:pt x="115608" y="157801"/>
                </a:lnTo>
                <a:lnTo>
                  <a:pt x="88640" y="163424"/>
                </a:lnTo>
                <a:lnTo>
                  <a:pt x="110550" y="163424"/>
                </a:lnTo>
                <a:lnTo>
                  <a:pt x="149425" y="133826"/>
                </a:lnTo>
                <a:lnTo>
                  <a:pt x="161908" y="92196"/>
                </a:lnTo>
                <a:lnTo>
                  <a:pt x="161968" y="90961"/>
                </a:lnTo>
                <a:lnTo>
                  <a:pt x="160500" y="75910"/>
                </a:lnTo>
                <a:lnTo>
                  <a:pt x="140449" y="37473"/>
                </a:lnTo>
                <a:lnTo>
                  <a:pt x="117137" y="21231"/>
                </a:lnTo>
                <a:lnTo>
                  <a:pt x="110548" y="19118"/>
                </a:lnTo>
                <a:close/>
              </a:path>
            </a:pathLst>
          </a:custGeom>
          <a:solidFill>
            <a:srgbClr val="64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461356" y="5089985"/>
            <a:ext cx="158750" cy="163830"/>
          </a:xfrm>
          <a:custGeom>
            <a:avLst/>
            <a:gdLst/>
            <a:ahLst/>
            <a:cxnLst/>
            <a:rect l="l" t="t" r="r" b="b"/>
            <a:pathLst>
              <a:path w="158750" h="163829">
                <a:moveTo>
                  <a:pt x="79100" y="0"/>
                </a:moveTo>
                <a:lnTo>
                  <a:pt x="48311" y="6422"/>
                </a:lnTo>
                <a:lnTo>
                  <a:pt x="23168" y="23937"/>
                </a:lnTo>
                <a:lnTo>
                  <a:pt x="6216" y="49916"/>
                </a:lnTo>
                <a:lnTo>
                  <a:pt x="0" y="81728"/>
                </a:lnTo>
                <a:lnTo>
                  <a:pt x="6216" y="113541"/>
                </a:lnTo>
                <a:lnTo>
                  <a:pt x="23168" y="139519"/>
                </a:lnTo>
                <a:lnTo>
                  <a:pt x="48311" y="157035"/>
                </a:lnTo>
                <a:lnTo>
                  <a:pt x="79100" y="163457"/>
                </a:lnTo>
                <a:lnTo>
                  <a:pt x="109890" y="157035"/>
                </a:lnTo>
                <a:lnTo>
                  <a:pt x="135033" y="139519"/>
                </a:lnTo>
                <a:lnTo>
                  <a:pt x="151985" y="113541"/>
                </a:lnTo>
                <a:lnTo>
                  <a:pt x="158201" y="81728"/>
                </a:lnTo>
                <a:lnTo>
                  <a:pt x="151985" y="49916"/>
                </a:lnTo>
                <a:lnTo>
                  <a:pt x="135033" y="23937"/>
                </a:lnTo>
                <a:lnTo>
                  <a:pt x="109890" y="6422"/>
                </a:lnTo>
                <a:lnTo>
                  <a:pt x="79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451816" y="5080443"/>
            <a:ext cx="177800" cy="182880"/>
          </a:xfrm>
          <a:custGeom>
            <a:avLst/>
            <a:gdLst/>
            <a:ahLst/>
            <a:cxnLst/>
            <a:rect l="l" t="t" r="r" b="b"/>
            <a:pathLst>
              <a:path w="177800" h="182879">
                <a:moveTo>
                  <a:pt x="88972" y="0"/>
                </a:moveTo>
                <a:lnTo>
                  <a:pt x="88310" y="0"/>
                </a:lnTo>
                <a:lnTo>
                  <a:pt x="71060" y="1797"/>
                </a:lnTo>
                <a:lnTo>
                  <a:pt x="26068" y="26625"/>
                </a:lnTo>
                <a:lnTo>
                  <a:pt x="1847" y="72651"/>
                </a:lnTo>
                <a:lnTo>
                  <a:pt x="0" y="90961"/>
                </a:lnTo>
                <a:lnTo>
                  <a:pt x="60" y="92196"/>
                </a:lnTo>
                <a:lnTo>
                  <a:pt x="14898" y="141931"/>
                </a:lnTo>
                <a:lnTo>
                  <a:pt x="53748" y="175197"/>
                </a:lnTo>
                <a:lnTo>
                  <a:pt x="88310" y="182542"/>
                </a:lnTo>
                <a:lnTo>
                  <a:pt x="88972" y="182542"/>
                </a:lnTo>
                <a:lnTo>
                  <a:pt x="130864" y="171085"/>
                </a:lnTo>
                <a:lnTo>
                  <a:pt x="88640" y="171085"/>
                </a:lnTo>
                <a:lnTo>
                  <a:pt x="73093" y="169466"/>
                </a:lnTo>
                <a:lnTo>
                  <a:pt x="34082" y="147731"/>
                </a:lnTo>
                <a:lnTo>
                  <a:pt x="13025" y="107372"/>
                </a:lnTo>
                <a:lnTo>
                  <a:pt x="11484" y="90961"/>
                </a:lnTo>
                <a:lnTo>
                  <a:pt x="13025" y="75170"/>
                </a:lnTo>
                <a:lnTo>
                  <a:pt x="34082" y="34811"/>
                </a:lnTo>
                <a:lnTo>
                  <a:pt x="73093" y="13077"/>
                </a:lnTo>
                <a:lnTo>
                  <a:pt x="88640" y="11457"/>
                </a:lnTo>
                <a:lnTo>
                  <a:pt x="130866" y="11457"/>
                </a:lnTo>
                <a:lnTo>
                  <a:pt x="123532" y="7345"/>
                </a:lnTo>
                <a:lnTo>
                  <a:pt x="122947" y="7090"/>
                </a:lnTo>
                <a:lnTo>
                  <a:pt x="106866" y="1932"/>
                </a:lnTo>
                <a:lnTo>
                  <a:pt x="106222" y="1797"/>
                </a:lnTo>
                <a:lnTo>
                  <a:pt x="88972" y="0"/>
                </a:lnTo>
                <a:close/>
              </a:path>
              <a:path w="177800" h="182879">
                <a:moveTo>
                  <a:pt x="130866" y="11457"/>
                </a:moveTo>
                <a:lnTo>
                  <a:pt x="88640" y="11457"/>
                </a:lnTo>
                <a:lnTo>
                  <a:pt x="104188" y="13077"/>
                </a:lnTo>
                <a:lnTo>
                  <a:pt x="118666" y="17720"/>
                </a:lnTo>
                <a:lnTo>
                  <a:pt x="152629" y="46622"/>
                </a:lnTo>
                <a:lnTo>
                  <a:pt x="165797" y="90961"/>
                </a:lnTo>
                <a:lnTo>
                  <a:pt x="165737" y="92196"/>
                </a:lnTo>
                <a:lnTo>
                  <a:pt x="152629" y="135920"/>
                </a:lnTo>
                <a:lnTo>
                  <a:pt x="118666" y="164821"/>
                </a:lnTo>
                <a:lnTo>
                  <a:pt x="88640" y="171085"/>
                </a:lnTo>
                <a:lnTo>
                  <a:pt x="130864" y="171085"/>
                </a:lnTo>
                <a:lnTo>
                  <a:pt x="162072" y="142406"/>
                </a:lnTo>
                <a:lnTo>
                  <a:pt x="177221" y="92196"/>
                </a:lnTo>
                <a:lnTo>
                  <a:pt x="177281" y="90961"/>
                </a:lnTo>
                <a:lnTo>
                  <a:pt x="175554" y="73259"/>
                </a:lnTo>
                <a:lnTo>
                  <a:pt x="151637" y="27062"/>
                </a:lnTo>
                <a:lnTo>
                  <a:pt x="138065" y="15495"/>
                </a:lnTo>
                <a:lnTo>
                  <a:pt x="130866" y="11457"/>
                </a:lnTo>
                <a:close/>
              </a:path>
              <a:path w="177800" h="182879">
                <a:moveTo>
                  <a:pt x="88640" y="15288"/>
                </a:moveTo>
                <a:lnTo>
                  <a:pt x="47697" y="28211"/>
                </a:lnTo>
                <a:lnTo>
                  <a:pt x="21071" y="61629"/>
                </a:lnTo>
                <a:lnTo>
                  <a:pt x="15313" y="90961"/>
                </a:lnTo>
                <a:lnTo>
                  <a:pt x="15373" y="92196"/>
                </a:lnTo>
                <a:lnTo>
                  <a:pt x="27856" y="133826"/>
                </a:lnTo>
                <a:lnTo>
                  <a:pt x="60144" y="161311"/>
                </a:lnTo>
                <a:lnTo>
                  <a:pt x="88640" y="167255"/>
                </a:lnTo>
                <a:lnTo>
                  <a:pt x="103400" y="165717"/>
                </a:lnTo>
                <a:lnTo>
                  <a:pt x="110552" y="163423"/>
                </a:lnTo>
                <a:lnTo>
                  <a:pt x="88640" y="163423"/>
                </a:lnTo>
                <a:lnTo>
                  <a:pt x="74668" y="161968"/>
                </a:lnTo>
                <a:lnTo>
                  <a:pt x="39582" y="142406"/>
                </a:lnTo>
                <a:lnTo>
                  <a:pt x="20537" y="105892"/>
                </a:lnTo>
                <a:lnTo>
                  <a:pt x="19141" y="90961"/>
                </a:lnTo>
                <a:lnTo>
                  <a:pt x="20537" y="76650"/>
                </a:lnTo>
                <a:lnTo>
                  <a:pt x="39620" y="40104"/>
                </a:lnTo>
                <a:lnTo>
                  <a:pt x="74668" y="20574"/>
                </a:lnTo>
                <a:lnTo>
                  <a:pt x="88640" y="19118"/>
                </a:lnTo>
                <a:lnTo>
                  <a:pt x="110548" y="19118"/>
                </a:lnTo>
                <a:lnTo>
                  <a:pt x="103400" y="16826"/>
                </a:lnTo>
                <a:lnTo>
                  <a:pt x="88640" y="15288"/>
                </a:lnTo>
                <a:close/>
              </a:path>
              <a:path w="177800" h="182879">
                <a:moveTo>
                  <a:pt x="110548" y="19118"/>
                </a:moveTo>
                <a:lnTo>
                  <a:pt x="88640" y="19118"/>
                </a:lnTo>
                <a:lnTo>
                  <a:pt x="102613" y="20574"/>
                </a:lnTo>
                <a:lnTo>
                  <a:pt x="115608" y="24742"/>
                </a:lnTo>
                <a:lnTo>
                  <a:pt x="146222" y="50810"/>
                </a:lnTo>
                <a:lnTo>
                  <a:pt x="158140" y="90961"/>
                </a:lnTo>
                <a:lnTo>
                  <a:pt x="158080" y="92196"/>
                </a:lnTo>
                <a:lnTo>
                  <a:pt x="146222" y="131733"/>
                </a:lnTo>
                <a:lnTo>
                  <a:pt x="115608" y="157801"/>
                </a:lnTo>
                <a:lnTo>
                  <a:pt x="88640" y="163423"/>
                </a:lnTo>
                <a:lnTo>
                  <a:pt x="110552" y="163423"/>
                </a:lnTo>
                <a:lnTo>
                  <a:pt x="149426" y="133826"/>
                </a:lnTo>
                <a:lnTo>
                  <a:pt x="161909" y="92196"/>
                </a:lnTo>
                <a:lnTo>
                  <a:pt x="161969" y="90961"/>
                </a:lnTo>
                <a:lnTo>
                  <a:pt x="160501" y="75910"/>
                </a:lnTo>
                <a:lnTo>
                  <a:pt x="140449" y="37473"/>
                </a:lnTo>
                <a:lnTo>
                  <a:pt x="117137" y="21231"/>
                </a:lnTo>
                <a:lnTo>
                  <a:pt x="110548" y="19118"/>
                </a:lnTo>
                <a:close/>
              </a:path>
            </a:pathLst>
          </a:custGeom>
          <a:solidFill>
            <a:srgbClr val="64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900757" y="2750820"/>
            <a:ext cx="3877310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D60093"/>
                </a:solidFill>
                <a:latin typeface="Arial"/>
                <a:cs typeface="Arial"/>
              </a:rPr>
              <a:t>Each point in the shaded region  represents </a:t>
            </a:r>
            <a:r>
              <a:rPr dirty="0" sz="2000" b="1">
                <a:solidFill>
                  <a:srgbClr val="D60093"/>
                </a:solidFill>
                <a:latin typeface="Arial"/>
                <a:cs typeface="Arial"/>
              </a:rPr>
              <a:t>a </a:t>
            </a:r>
            <a:r>
              <a:rPr dirty="0" sz="2000" spc="-5" b="1">
                <a:solidFill>
                  <a:srgbClr val="D60093"/>
                </a:solidFill>
                <a:latin typeface="Arial"/>
                <a:cs typeface="Arial"/>
              </a:rPr>
              <a:t>neighborhood in  target graph that contains the  motif</a:t>
            </a:r>
            <a:r>
              <a:rPr dirty="0" sz="2000" spc="-90" b="1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D60093"/>
                </a:solidFill>
                <a:latin typeface="Arial"/>
                <a:cs typeface="Arial"/>
              </a:rPr>
              <a:t>pattern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148071" y="4575047"/>
            <a:ext cx="728472" cy="2773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343144" y="4879847"/>
            <a:ext cx="594360" cy="4023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229029" y="4541011"/>
            <a:ext cx="492759" cy="69215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algn="r" marR="31115">
              <a:lnSpc>
                <a:spcPct val="100000"/>
              </a:lnSpc>
              <a:spcBef>
                <a:spcPts val="625"/>
              </a:spcBef>
            </a:pPr>
            <a:r>
              <a:rPr dirty="0" sz="1200" spc="-5">
                <a:latin typeface="Arial"/>
                <a:cs typeface="Arial"/>
              </a:rPr>
              <a:t>Step</a:t>
            </a:r>
            <a:r>
              <a:rPr dirty="0" sz="1200" spc="-10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875"/>
              </a:spcBef>
            </a:pPr>
            <a:r>
              <a:rPr dirty="0" sz="2000">
                <a:latin typeface="Cambria Math"/>
                <a:cs typeface="Cambria Math"/>
              </a:rPr>
              <a:t>𝑢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358591" y="4924963"/>
            <a:ext cx="133985" cy="133985"/>
          </a:xfrm>
          <a:custGeom>
            <a:avLst/>
            <a:gdLst/>
            <a:ahLst/>
            <a:cxnLst/>
            <a:rect l="l" t="t" r="r" b="b"/>
            <a:pathLst>
              <a:path w="133985" h="133985">
                <a:moveTo>
                  <a:pt x="66878" y="0"/>
                </a:moveTo>
                <a:lnTo>
                  <a:pt x="40846" y="5255"/>
                </a:lnTo>
                <a:lnTo>
                  <a:pt x="19588" y="19588"/>
                </a:lnTo>
                <a:lnTo>
                  <a:pt x="5255" y="40846"/>
                </a:lnTo>
                <a:lnTo>
                  <a:pt x="0" y="66879"/>
                </a:lnTo>
                <a:lnTo>
                  <a:pt x="5255" y="92912"/>
                </a:lnTo>
                <a:lnTo>
                  <a:pt x="19588" y="114170"/>
                </a:lnTo>
                <a:lnTo>
                  <a:pt x="40846" y="128503"/>
                </a:lnTo>
                <a:lnTo>
                  <a:pt x="66878" y="133758"/>
                </a:lnTo>
                <a:lnTo>
                  <a:pt x="92910" y="128503"/>
                </a:lnTo>
                <a:lnTo>
                  <a:pt x="114169" y="114170"/>
                </a:lnTo>
                <a:lnTo>
                  <a:pt x="128501" y="92912"/>
                </a:lnTo>
                <a:lnTo>
                  <a:pt x="133757" y="66879"/>
                </a:lnTo>
                <a:lnTo>
                  <a:pt x="128501" y="40846"/>
                </a:lnTo>
                <a:lnTo>
                  <a:pt x="114169" y="19588"/>
                </a:lnTo>
                <a:lnTo>
                  <a:pt x="92910" y="5255"/>
                </a:lnTo>
                <a:lnTo>
                  <a:pt x="6687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522184" y="5089985"/>
            <a:ext cx="230504" cy="217170"/>
          </a:xfrm>
          <a:custGeom>
            <a:avLst/>
            <a:gdLst/>
            <a:ahLst/>
            <a:cxnLst/>
            <a:rect l="l" t="t" r="r" b="b"/>
            <a:pathLst>
              <a:path w="230505" h="217170">
                <a:moveTo>
                  <a:pt x="115210" y="0"/>
                </a:moveTo>
                <a:lnTo>
                  <a:pt x="70365" y="8530"/>
                </a:lnTo>
                <a:lnTo>
                  <a:pt x="33744" y="31793"/>
                </a:lnTo>
                <a:lnTo>
                  <a:pt x="9053" y="66296"/>
                </a:lnTo>
                <a:lnTo>
                  <a:pt x="0" y="108548"/>
                </a:lnTo>
                <a:lnTo>
                  <a:pt x="9053" y="150800"/>
                </a:lnTo>
                <a:lnTo>
                  <a:pt x="33744" y="185303"/>
                </a:lnTo>
                <a:lnTo>
                  <a:pt x="70365" y="208566"/>
                </a:lnTo>
                <a:lnTo>
                  <a:pt x="115210" y="217096"/>
                </a:lnTo>
                <a:lnTo>
                  <a:pt x="160056" y="208566"/>
                </a:lnTo>
                <a:lnTo>
                  <a:pt x="196677" y="185303"/>
                </a:lnTo>
                <a:lnTo>
                  <a:pt x="221368" y="150800"/>
                </a:lnTo>
                <a:lnTo>
                  <a:pt x="230422" y="108548"/>
                </a:lnTo>
                <a:lnTo>
                  <a:pt x="221368" y="66296"/>
                </a:lnTo>
                <a:lnTo>
                  <a:pt x="196677" y="31793"/>
                </a:lnTo>
                <a:lnTo>
                  <a:pt x="160056" y="8530"/>
                </a:lnTo>
                <a:lnTo>
                  <a:pt x="115210" y="0"/>
                </a:lnTo>
                <a:close/>
              </a:path>
            </a:pathLst>
          </a:custGeom>
          <a:solidFill>
            <a:srgbClr val="1F77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497212" y="4839609"/>
            <a:ext cx="230504" cy="254000"/>
          </a:xfrm>
          <a:custGeom>
            <a:avLst/>
            <a:gdLst/>
            <a:ahLst/>
            <a:cxnLst/>
            <a:rect l="l" t="t" r="r" b="b"/>
            <a:pathLst>
              <a:path w="230505" h="254000">
                <a:moveTo>
                  <a:pt x="115211" y="0"/>
                </a:moveTo>
                <a:lnTo>
                  <a:pt x="70366" y="9963"/>
                </a:lnTo>
                <a:lnTo>
                  <a:pt x="33744" y="37135"/>
                </a:lnTo>
                <a:lnTo>
                  <a:pt x="9053" y="77437"/>
                </a:lnTo>
                <a:lnTo>
                  <a:pt x="0" y="126790"/>
                </a:lnTo>
                <a:lnTo>
                  <a:pt x="9053" y="176143"/>
                </a:lnTo>
                <a:lnTo>
                  <a:pt x="33744" y="216445"/>
                </a:lnTo>
                <a:lnTo>
                  <a:pt x="70366" y="243618"/>
                </a:lnTo>
                <a:lnTo>
                  <a:pt x="115211" y="253582"/>
                </a:lnTo>
                <a:lnTo>
                  <a:pt x="160057" y="243618"/>
                </a:lnTo>
                <a:lnTo>
                  <a:pt x="196678" y="216445"/>
                </a:lnTo>
                <a:lnTo>
                  <a:pt x="221369" y="176143"/>
                </a:lnTo>
                <a:lnTo>
                  <a:pt x="230423" y="126790"/>
                </a:lnTo>
                <a:lnTo>
                  <a:pt x="221369" y="77437"/>
                </a:lnTo>
                <a:lnTo>
                  <a:pt x="196678" y="37135"/>
                </a:lnTo>
                <a:lnTo>
                  <a:pt x="160057" y="9963"/>
                </a:lnTo>
                <a:lnTo>
                  <a:pt x="115211" y="0"/>
                </a:lnTo>
                <a:close/>
              </a:path>
            </a:pathLst>
          </a:custGeom>
          <a:solidFill>
            <a:srgbClr val="1F77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494358" y="4969933"/>
            <a:ext cx="230504" cy="217170"/>
          </a:xfrm>
          <a:custGeom>
            <a:avLst/>
            <a:gdLst/>
            <a:ahLst/>
            <a:cxnLst/>
            <a:rect l="l" t="t" r="r" b="b"/>
            <a:pathLst>
              <a:path w="230505" h="217170">
                <a:moveTo>
                  <a:pt x="115211" y="0"/>
                </a:moveTo>
                <a:lnTo>
                  <a:pt x="70366" y="8530"/>
                </a:lnTo>
                <a:lnTo>
                  <a:pt x="33744" y="31793"/>
                </a:lnTo>
                <a:lnTo>
                  <a:pt x="9053" y="66296"/>
                </a:lnTo>
                <a:lnTo>
                  <a:pt x="0" y="108548"/>
                </a:lnTo>
                <a:lnTo>
                  <a:pt x="9053" y="150800"/>
                </a:lnTo>
                <a:lnTo>
                  <a:pt x="33744" y="185303"/>
                </a:lnTo>
                <a:lnTo>
                  <a:pt x="70366" y="208566"/>
                </a:lnTo>
                <a:lnTo>
                  <a:pt x="115211" y="217096"/>
                </a:lnTo>
                <a:lnTo>
                  <a:pt x="160057" y="208566"/>
                </a:lnTo>
                <a:lnTo>
                  <a:pt x="196678" y="185303"/>
                </a:lnTo>
                <a:lnTo>
                  <a:pt x="221369" y="150800"/>
                </a:lnTo>
                <a:lnTo>
                  <a:pt x="230423" y="108548"/>
                </a:lnTo>
                <a:lnTo>
                  <a:pt x="221369" y="66296"/>
                </a:lnTo>
                <a:lnTo>
                  <a:pt x="196678" y="31793"/>
                </a:lnTo>
                <a:lnTo>
                  <a:pt x="160057" y="8530"/>
                </a:lnTo>
                <a:lnTo>
                  <a:pt x="115211" y="0"/>
                </a:lnTo>
                <a:close/>
              </a:path>
            </a:pathLst>
          </a:custGeom>
          <a:solidFill>
            <a:srgbClr val="1F77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421662" y="5079734"/>
            <a:ext cx="226695" cy="260350"/>
          </a:xfrm>
          <a:custGeom>
            <a:avLst/>
            <a:gdLst/>
            <a:ahLst/>
            <a:cxnLst/>
            <a:rect l="l" t="t" r="r" b="b"/>
            <a:pathLst>
              <a:path w="226694" h="260350">
                <a:moveTo>
                  <a:pt x="113248" y="0"/>
                </a:moveTo>
                <a:lnTo>
                  <a:pt x="69167" y="10216"/>
                </a:lnTo>
                <a:lnTo>
                  <a:pt x="33169" y="38077"/>
                </a:lnTo>
                <a:lnTo>
                  <a:pt x="8899" y="79401"/>
                </a:lnTo>
                <a:lnTo>
                  <a:pt x="0" y="130004"/>
                </a:lnTo>
                <a:lnTo>
                  <a:pt x="8899" y="180607"/>
                </a:lnTo>
                <a:lnTo>
                  <a:pt x="33169" y="221930"/>
                </a:lnTo>
                <a:lnTo>
                  <a:pt x="69167" y="249791"/>
                </a:lnTo>
                <a:lnTo>
                  <a:pt x="113248" y="260008"/>
                </a:lnTo>
                <a:lnTo>
                  <a:pt x="157329" y="249791"/>
                </a:lnTo>
                <a:lnTo>
                  <a:pt x="193326" y="221930"/>
                </a:lnTo>
                <a:lnTo>
                  <a:pt x="217596" y="180607"/>
                </a:lnTo>
                <a:lnTo>
                  <a:pt x="226495" y="130004"/>
                </a:lnTo>
                <a:lnTo>
                  <a:pt x="217596" y="79401"/>
                </a:lnTo>
                <a:lnTo>
                  <a:pt x="193326" y="38077"/>
                </a:lnTo>
                <a:lnTo>
                  <a:pt x="157329" y="10216"/>
                </a:lnTo>
                <a:lnTo>
                  <a:pt x="113248" y="0"/>
                </a:lnTo>
                <a:close/>
              </a:path>
            </a:pathLst>
          </a:custGeom>
          <a:solidFill>
            <a:srgbClr val="1F77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338536" y="5232316"/>
            <a:ext cx="230504" cy="217170"/>
          </a:xfrm>
          <a:custGeom>
            <a:avLst/>
            <a:gdLst/>
            <a:ahLst/>
            <a:cxnLst/>
            <a:rect l="l" t="t" r="r" b="b"/>
            <a:pathLst>
              <a:path w="230505" h="217170">
                <a:moveTo>
                  <a:pt x="115211" y="0"/>
                </a:moveTo>
                <a:lnTo>
                  <a:pt x="70366" y="8530"/>
                </a:lnTo>
                <a:lnTo>
                  <a:pt x="33744" y="31793"/>
                </a:lnTo>
                <a:lnTo>
                  <a:pt x="9053" y="66297"/>
                </a:lnTo>
                <a:lnTo>
                  <a:pt x="0" y="108549"/>
                </a:lnTo>
                <a:lnTo>
                  <a:pt x="9053" y="150801"/>
                </a:lnTo>
                <a:lnTo>
                  <a:pt x="33744" y="185304"/>
                </a:lnTo>
                <a:lnTo>
                  <a:pt x="70366" y="208567"/>
                </a:lnTo>
                <a:lnTo>
                  <a:pt x="115211" y="217097"/>
                </a:lnTo>
                <a:lnTo>
                  <a:pt x="160057" y="208567"/>
                </a:lnTo>
                <a:lnTo>
                  <a:pt x="196678" y="185304"/>
                </a:lnTo>
                <a:lnTo>
                  <a:pt x="221368" y="150801"/>
                </a:lnTo>
                <a:lnTo>
                  <a:pt x="230422" y="108549"/>
                </a:lnTo>
                <a:lnTo>
                  <a:pt x="221368" y="66297"/>
                </a:lnTo>
                <a:lnTo>
                  <a:pt x="196678" y="31793"/>
                </a:lnTo>
                <a:lnTo>
                  <a:pt x="160057" y="8530"/>
                </a:lnTo>
                <a:lnTo>
                  <a:pt x="115211" y="0"/>
                </a:lnTo>
                <a:close/>
              </a:path>
            </a:pathLst>
          </a:custGeom>
          <a:solidFill>
            <a:srgbClr val="1F77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234087" y="5282168"/>
            <a:ext cx="230504" cy="217170"/>
          </a:xfrm>
          <a:custGeom>
            <a:avLst/>
            <a:gdLst/>
            <a:ahLst/>
            <a:cxnLst/>
            <a:rect l="l" t="t" r="r" b="b"/>
            <a:pathLst>
              <a:path w="230505" h="217170">
                <a:moveTo>
                  <a:pt x="115210" y="0"/>
                </a:moveTo>
                <a:lnTo>
                  <a:pt x="70365" y="8530"/>
                </a:lnTo>
                <a:lnTo>
                  <a:pt x="33744" y="31793"/>
                </a:lnTo>
                <a:lnTo>
                  <a:pt x="9053" y="66296"/>
                </a:lnTo>
                <a:lnTo>
                  <a:pt x="0" y="108548"/>
                </a:lnTo>
                <a:lnTo>
                  <a:pt x="9053" y="150800"/>
                </a:lnTo>
                <a:lnTo>
                  <a:pt x="33744" y="185304"/>
                </a:lnTo>
                <a:lnTo>
                  <a:pt x="70365" y="208567"/>
                </a:lnTo>
                <a:lnTo>
                  <a:pt x="115210" y="217097"/>
                </a:lnTo>
                <a:lnTo>
                  <a:pt x="160056" y="208567"/>
                </a:lnTo>
                <a:lnTo>
                  <a:pt x="196677" y="185304"/>
                </a:lnTo>
                <a:lnTo>
                  <a:pt x="221368" y="150800"/>
                </a:lnTo>
                <a:lnTo>
                  <a:pt x="230422" y="108548"/>
                </a:lnTo>
                <a:lnTo>
                  <a:pt x="221368" y="66296"/>
                </a:lnTo>
                <a:lnTo>
                  <a:pt x="196677" y="31793"/>
                </a:lnTo>
                <a:lnTo>
                  <a:pt x="160056" y="8530"/>
                </a:lnTo>
                <a:lnTo>
                  <a:pt x="115210" y="0"/>
                </a:lnTo>
                <a:close/>
              </a:path>
            </a:pathLst>
          </a:custGeom>
          <a:solidFill>
            <a:srgbClr val="1F77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149058" y="5296832"/>
            <a:ext cx="230504" cy="217170"/>
          </a:xfrm>
          <a:custGeom>
            <a:avLst/>
            <a:gdLst/>
            <a:ahLst/>
            <a:cxnLst/>
            <a:rect l="l" t="t" r="r" b="b"/>
            <a:pathLst>
              <a:path w="230505" h="217170">
                <a:moveTo>
                  <a:pt x="115211" y="0"/>
                </a:moveTo>
                <a:lnTo>
                  <a:pt x="70366" y="8530"/>
                </a:lnTo>
                <a:lnTo>
                  <a:pt x="33744" y="31793"/>
                </a:lnTo>
                <a:lnTo>
                  <a:pt x="9053" y="66296"/>
                </a:lnTo>
                <a:lnTo>
                  <a:pt x="0" y="108548"/>
                </a:lnTo>
                <a:lnTo>
                  <a:pt x="9053" y="150800"/>
                </a:lnTo>
                <a:lnTo>
                  <a:pt x="33744" y="185303"/>
                </a:lnTo>
                <a:lnTo>
                  <a:pt x="70366" y="208566"/>
                </a:lnTo>
                <a:lnTo>
                  <a:pt x="115211" y="217096"/>
                </a:lnTo>
                <a:lnTo>
                  <a:pt x="160057" y="208566"/>
                </a:lnTo>
                <a:lnTo>
                  <a:pt x="196678" y="185303"/>
                </a:lnTo>
                <a:lnTo>
                  <a:pt x="221369" y="150800"/>
                </a:lnTo>
                <a:lnTo>
                  <a:pt x="230423" y="108548"/>
                </a:lnTo>
                <a:lnTo>
                  <a:pt x="221369" y="66296"/>
                </a:lnTo>
                <a:lnTo>
                  <a:pt x="196678" y="31793"/>
                </a:lnTo>
                <a:lnTo>
                  <a:pt x="160057" y="8530"/>
                </a:lnTo>
                <a:lnTo>
                  <a:pt x="115211" y="0"/>
                </a:lnTo>
                <a:close/>
              </a:path>
            </a:pathLst>
          </a:custGeom>
          <a:solidFill>
            <a:srgbClr val="1F77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117802" y="5499825"/>
            <a:ext cx="230504" cy="217170"/>
          </a:xfrm>
          <a:custGeom>
            <a:avLst/>
            <a:gdLst/>
            <a:ahLst/>
            <a:cxnLst/>
            <a:rect l="l" t="t" r="r" b="b"/>
            <a:pathLst>
              <a:path w="230505" h="217170">
                <a:moveTo>
                  <a:pt x="115210" y="0"/>
                </a:moveTo>
                <a:lnTo>
                  <a:pt x="70365" y="8530"/>
                </a:lnTo>
                <a:lnTo>
                  <a:pt x="33744" y="31793"/>
                </a:lnTo>
                <a:lnTo>
                  <a:pt x="9053" y="66296"/>
                </a:lnTo>
                <a:lnTo>
                  <a:pt x="0" y="108548"/>
                </a:lnTo>
                <a:lnTo>
                  <a:pt x="9053" y="150800"/>
                </a:lnTo>
                <a:lnTo>
                  <a:pt x="33744" y="185303"/>
                </a:lnTo>
                <a:lnTo>
                  <a:pt x="70365" y="208566"/>
                </a:lnTo>
                <a:lnTo>
                  <a:pt x="115210" y="217096"/>
                </a:lnTo>
                <a:lnTo>
                  <a:pt x="160056" y="208566"/>
                </a:lnTo>
                <a:lnTo>
                  <a:pt x="196677" y="185303"/>
                </a:lnTo>
                <a:lnTo>
                  <a:pt x="221368" y="150800"/>
                </a:lnTo>
                <a:lnTo>
                  <a:pt x="230422" y="108548"/>
                </a:lnTo>
                <a:lnTo>
                  <a:pt x="221368" y="66296"/>
                </a:lnTo>
                <a:lnTo>
                  <a:pt x="196677" y="31793"/>
                </a:lnTo>
                <a:lnTo>
                  <a:pt x="160056" y="8530"/>
                </a:lnTo>
                <a:lnTo>
                  <a:pt x="115210" y="0"/>
                </a:lnTo>
                <a:close/>
              </a:path>
            </a:pathLst>
          </a:custGeom>
          <a:solidFill>
            <a:srgbClr val="1F77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920593" y="5502803"/>
            <a:ext cx="230504" cy="217170"/>
          </a:xfrm>
          <a:custGeom>
            <a:avLst/>
            <a:gdLst/>
            <a:ahLst/>
            <a:cxnLst/>
            <a:rect l="l" t="t" r="r" b="b"/>
            <a:pathLst>
              <a:path w="230505" h="217170">
                <a:moveTo>
                  <a:pt x="115211" y="0"/>
                </a:moveTo>
                <a:lnTo>
                  <a:pt x="70366" y="8530"/>
                </a:lnTo>
                <a:lnTo>
                  <a:pt x="33744" y="31793"/>
                </a:lnTo>
                <a:lnTo>
                  <a:pt x="9053" y="66296"/>
                </a:lnTo>
                <a:lnTo>
                  <a:pt x="0" y="108548"/>
                </a:lnTo>
                <a:lnTo>
                  <a:pt x="9053" y="150800"/>
                </a:lnTo>
                <a:lnTo>
                  <a:pt x="33744" y="185303"/>
                </a:lnTo>
                <a:lnTo>
                  <a:pt x="70366" y="208566"/>
                </a:lnTo>
                <a:lnTo>
                  <a:pt x="115211" y="217096"/>
                </a:lnTo>
                <a:lnTo>
                  <a:pt x="160057" y="208566"/>
                </a:lnTo>
                <a:lnTo>
                  <a:pt x="196678" y="185303"/>
                </a:lnTo>
                <a:lnTo>
                  <a:pt x="221368" y="150800"/>
                </a:lnTo>
                <a:lnTo>
                  <a:pt x="230422" y="108548"/>
                </a:lnTo>
                <a:lnTo>
                  <a:pt x="221368" y="66296"/>
                </a:lnTo>
                <a:lnTo>
                  <a:pt x="196678" y="31793"/>
                </a:lnTo>
                <a:lnTo>
                  <a:pt x="160057" y="8530"/>
                </a:lnTo>
                <a:lnTo>
                  <a:pt x="115211" y="0"/>
                </a:lnTo>
                <a:close/>
              </a:path>
            </a:pathLst>
          </a:custGeom>
          <a:solidFill>
            <a:srgbClr val="1F77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741989" y="5533115"/>
            <a:ext cx="230504" cy="217170"/>
          </a:xfrm>
          <a:custGeom>
            <a:avLst/>
            <a:gdLst/>
            <a:ahLst/>
            <a:cxnLst/>
            <a:rect l="l" t="t" r="r" b="b"/>
            <a:pathLst>
              <a:path w="230505" h="217170">
                <a:moveTo>
                  <a:pt x="115211" y="0"/>
                </a:moveTo>
                <a:lnTo>
                  <a:pt x="70365" y="8530"/>
                </a:lnTo>
                <a:lnTo>
                  <a:pt x="33744" y="31793"/>
                </a:lnTo>
                <a:lnTo>
                  <a:pt x="9053" y="66296"/>
                </a:lnTo>
                <a:lnTo>
                  <a:pt x="0" y="108548"/>
                </a:lnTo>
                <a:lnTo>
                  <a:pt x="9053" y="150800"/>
                </a:lnTo>
                <a:lnTo>
                  <a:pt x="33744" y="185304"/>
                </a:lnTo>
                <a:lnTo>
                  <a:pt x="70365" y="208566"/>
                </a:lnTo>
                <a:lnTo>
                  <a:pt x="115211" y="217097"/>
                </a:lnTo>
                <a:lnTo>
                  <a:pt x="160057" y="208566"/>
                </a:lnTo>
                <a:lnTo>
                  <a:pt x="196678" y="185304"/>
                </a:lnTo>
                <a:lnTo>
                  <a:pt x="221368" y="150800"/>
                </a:lnTo>
                <a:lnTo>
                  <a:pt x="230422" y="108548"/>
                </a:lnTo>
                <a:lnTo>
                  <a:pt x="221368" y="66296"/>
                </a:lnTo>
                <a:lnTo>
                  <a:pt x="196678" y="31793"/>
                </a:lnTo>
                <a:lnTo>
                  <a:pt x="160057" y="8530"/>
                </a:lnTo>
                <a:lnTo>
                  <a:pt x="115211" y="0"/>
                </a:lnTo>
                <a:close/>
              </a:path>
            </a:pathLst>
          </a:custGeom>
          <a:solidFill>
            <a:srgbClr val="1F77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684440" y="5641663"/>
            <a:ext cx="235585" cy="217170"/>
          </a:xfrm>
          <a:custGeom>
            <a:avLst/>
            <a:gdLst/>
            <a:ahLst/>
            <a:cxnLst/>
            <a:rect l="l" t="t" r="r" b="b"/>
            <a:pathLst>
              <a:path w="235585" h="217170">
                <a:moveTo>
                  <a:pt x="117571" y="0"/>
                </a:moveTo>
                <a:lnTo>
                  <a:pt x="71807" y="8530"/>
                </a:lnTo>
                <a:lnTo>
                  <a:pt x="34436" y="31793"/>
                </a:lnTo>
                <a:lnTo>
                  <a:pt x="9239" y="66296"/>
                </a:lnTo>
                <a:lnTo>
                  <a:pt x="0" y="108548"/>
                </a:lnTo>
                <a:lnTo>
                  <a:pt x="9239" y="150800"/>
                </a:lnTo>
                <a:lnTo>
                  <a:pt x="34436" y="185303"/>
                </a:lnTo>
                <a:lnTo>
                  <a:pt x="71807" y="208566"/>
                </a:lnTo>
                <a:lnTo>
                  <a:pt x="117571" y="217096"/>
                </a:lnTo>
                <a:lnTo>
                  <a:pt x="163336" y="208566"/>
                </a:lnTo>
                <a:lnTo>
                  <a:pt x="200707" y="185303"/>
                </a:lnTo>
                <a:lnTo>
                  <a:pt x="225903" y="150800"/>
                </a:lnTo>
                <a:lnTo>
                  <a:pt x="235143" y="108548"/>
                </a:lnTo>
                <a:lnTo>
                  <a:pt x="225903" y="66296"/>
                </a:lnTo>
                <a:lnTo>
                  <a:pt x="200707" y="31793"/>
                </a:lnTo>
                <a:lnTo>
                  <a:pt x="163336" y="8530"/>
                </a:lnTo>
                <a:lnTo>
                  <a:pt x="117571" y="0"/>
                </a:lnTo>
                <a:close/>
              </a:path>
            </a:pathLst>
          </a:custGeom>
          <a:solidFill>
            <a:srgbClr val="1F77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669316" y="4818466"/>
            <a:ext cx="182880" cy="118745"/>
          </a:xfrm>
          <a:custGeom>
            <a:avLst/>
            <a:gdLst/>
            <a:ahLst/>
            <a:cxnLst/>
            <a:rect l="l" t="t" r="r" b="b"/>
            <a:pathLst>
              <a:path w="182880" h="118745">
                <a:moveTo>
                  <a:pt x="91316" y="0"/>
                </a:moveTo>
                <a:lnTo>
                  <a:pt x="55772" y="4643"/>
                </a:lnTo>
                <a:lnTo>
                  <a:pt x="26746" y="17307"/>
                </a:lnTo>
                <a:lnTo>
                  <a:pt x="7176" y="36091"/>
                </a:lnTo>
                <a:lnTo>
                  <a:pt x="0" y="59093"/>
                </a:lnTo>
                <a:lnTo>
                  <a:pt x="7176" y="82094"/>
                </a:lnTo>
                <a:lnTo>
                  <a:pt x="26746" y="100878"/>
                </a:lnTo>
                <a:lnTo>
                  <a:pt x="55772" y="113542"/>
                </a:lnTo>
                <a:lnTo>
                  <a:pt x="91316" y="118186"/>
                </a:lnTo>
                <a:lnTo>
                  <a:pt x="126860" y="113542"/>
                </a:lnTo>
                <a:lnTo>
                  <a:pt x="155886" y="100878"/>
                </a:lnTo>
                <a:lnTo>
                  <a:pt x="175456" y="82094"/>
                </a:lnTo>
                <a:lnTo>
                  <a:pt x="182632" y="59093"/>
                </a:lnTo>
                <a:lnTo>
                  <a:pt x="175456" y="36091"/>
                </a:lnTo>
                <a:lnTo>
                  <a:pt x="155886" y="17307"/>
                </a:lnTo>
                <a:lnTo>
                  <a:pt x="126860" y="4643"/>
                </a:lnTo>
                <a:lnTo>
                  <a:pt x="91316" y="0"/>
                </a:lnTo>
                <a:close/>
              </a:path>
            </a:pathLst>
          </a:custGeom>
          <a:solidFill>
            <a:srgbClr val="1F77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776479" y="4860611"/>
            <a:ext cx="345440" cy="118745"/>
          </a:xfrm>
          <a:custGeom>
            <a:avLst/>
            <a:gdLst/>
            <a:ahLst/>
            <a:cxnLst/>
            <a:rect l="l" t="t" r="r" b="b"/>
            <a:pathLst>
              <a:path w="345439" h="118745">
                <a:moveTo>
                  <a:pt x="172674" y="0"/>
                </a:moveTo>
                <a:lnTo>
                  <a:pt x="105461" y="4643"/>
                </a:lnTo>
                <a:lnTo>
                  <a:pt x="50575" y="17307"/>
                </a:lnTo>
                <a:lnTo>
                  <a:pt x="13569" y="36090"/>
                </a:lnTo>
                <a:lnTo>
                  <a:pt x="0" y="59091"/>
                </a:lnTo>
                <a:lnTo>
                  <a:pt x="13569" y="82093"/>
                </a:lnTo>
                <a:lnTo>
                  <a:pt x="50575" y="100877"/>
                </a:lnTo>
                <a:lnTo>
                  <a:pt x="105461" y="113541"/>
                </a:lnTo>
                <a:lnTo>
                  <a:pt x="172674" y="118184"/>
                </a:lnTo>
                <a:lnTo>
                  <a:pt x="239886" y="113541"/>
                </a:lnTo>
                <a:lnTo>
                  <a:pt x="294773" y="100877"/>
                </a:lnTo>
                <a:lnTo>
                  <a:pt x="331778" y="82093"/>
                </a:lnTo>
                <a:lnTo>
                  <a:pt x="345348" y="59091"/>
                </a:lnTo>
                <a:lnTo>
                  <a:pt x="331778" y="36090"/>
                </a:lnTo>
                <a:lnTo>
                  <a:pt x="294773" y="17307"/>
                </a:lnTo>
                <a:lnTo>
                  <a:pt x="239886" y="4643"/>
                </a:lnTo>
                <a:lnTo>
                  <a:pt x="172674" y="0"/>
                </a:lnTo>
                <a:close/>
              </a:path>
            </a:pathLst>
          </a:custGeom>
          <a:solidFill>
            <a:srgbClr val="1F77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679274" y="4913522"/>
            <a:ext cx="345440" cy="118745"/>
          </a:xfrm>
          <a:custGeom>
            <a:avLst/>
            <a:gdLst/>
            <a:ahLst/>
            <a:cxnLst/>
            <a:rect l="l" t="t" r="r" b="b"/>
            <a:pathLst>
              <a:path w="345439" h="118745">
                <a:moveTo>
                  <a:pt x="172674" y="0"/>
                </a:moveTo>
                <a:lnTo>
                  <a:pt x="105461" y="4643"/>
                </a:lnTo>
                <a:lnTo>
                  <a:pt x="50575" y="17307"/>
                </a:lnTo>
                <a:lnTo>
                  <a:pt x="13569" y="36091"/>
                </a:lnTo>
                <a:lnTo>
                  <a:pt x="0" y="59093"/>
                </a:lnTo>
                <a:lnTo>
                  <a:pt x="13569" y="82094"/>
                </a:lnTo>
                <a:lnTo>
                  <a:pt x="50575" y="100877"/>
                </a:lnTo>
                <a:lnTo>
                  <a:pt x="105461" y="113542"/>
                </a:lnTo>
                <a:lnTo>
                  <a:pt x="172674" y="118186"/>
                </a:lnTo>
                <a:lnTo>
                  <a:pt x="239886" y="113542"/>
                </a:lnTo>
                <a:lnTo>
                  <a:pt x="294773" y="100877"/>
                </a:lnTo>
                <a:lnTo>
                  <a:pt x="331778" y="82094"/>
                </a:lnTo>
                <a:lnTo>
                  <a:pt x="345348" y="59093"/>
                </a:lnTo>
                <a:lnTo>
                  <a:pt x="331778" y="36091"/>
                </a:lnTo>
                <a:lnTo>
                  <a:pt x="294773" y="17307"/>
                </a:lnTo>
                <a:lnTo>
                  <a:pt x="239886" y="4643"/>
                </a:lnTo>
                <a:lnTo>
                  <a:pt x="172674" y="0"/>
                </a:lnTo>
                <a:close/>
              </a:path>
            </a:pathLst>
          </a:custGeom>
          <a:solidFill>
            <a:srgbClr val="1F77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699897" y="6160730"/>
            <a:ext cx="2609850" cy="19050"/>
          </a:xfrm>
          <a:custGeom>
            <a:avLst/>
            <a:gdLst/>
            <a:ahLst/>
            <a:cxnLst/>
            <a:rect l="l" t="t" r="r" b="b"/>
            <a:pathLst>
              <a:path w="2609850" h="19050">
                <a:moveTo>
                  <a:pt x="71935" y="0"/>
                </a:moveTo>
                <a:lnTo>
                  <a:pt x="4264" y="0"/>
                </a:lnTo>
                <a:lnTo>
                  <a:pt x="0" y="4264"/>
                </a:lnTo>
                <a:lnTo>
                  <a:pt x="0" y="14785"/>
                </a:lnTo>
                <a:lnTo>
                  <a:pt x="4264" y="19050"/>
                </a:lnTo>
                <a:lnTo>
                  <a:pt x="71935" y="19050"/>
                </a:lnTo>
                <a:lnTo>
                  <a:pt x="76200" y="14785"/>
                </a:lnTo>
                <a:lnTo>
                  <a:pt x="76200" y="4264"/>
                </a:lnTo>
                <a:lnTo>
                  <a:pt x="71935" y="0"/>
                </a:lnTo>
                <a:close/>
              </a:path>
              <a:path w="2609850" h="19050">
                <a:moveTo>
                  <a:pt x="205285" y="0"/>
                </a:moveTo>
                <a:lnTo>
                  <a:pt x="137614" y="0"/>
                </a:lnTo>
                <a:lnTo>
                  <a:pt x="133350" y="4264"/>
                </a:lnTo>
                <a:lnTo>
                  <a:pt x="133350" y="14785"/>
                </a:lnTo>
                <a:lnTo>
                  <a:pt x="137614" y="19050"/>
                </a:lnTo>
                <a:lnTo>
                  <a:pt x="205285" y="19050"/>
                </a:lnTo>
                <a:lnTo>
                  <a:pt x="209550" y="14785"/>
                </a:lnTo>
                <a:lnTo>
                  <a:pt x="209549" y="4264"/>
                </a:lnTo>
                <a:lnTo>
                  <a:pt x="205285" y="0"/>
                </a:lnTo>
                <a:close/>
              </a:path>
              <a:path w="2609850" h="19050">
                <a:moveTo>
                  <a:pt x="338635" y="0"/>
                </a:moveTo>
                <a:lnTo>
                  <a:pt x="270964" y="0"/>
                </a:lnTo>
                <a:lnTo>
                  <a:pt x="266700" y="4264"/>
                </a:lnTo>
                <a:lnTo>
                  <a:pt x="266700" y="14785"/>
                </a:lnTo>
                <a:lnTo>
                  <a:pt x="270964" y="19050"/>
                </a:lnTo>
                <a:lnTo>
                  <a:pt x="338635" y="19050"/>
                </a:lnTo>
                <a:lnTo>
                  <a:pt x="342900" y="14785"/>
                </a:lnTo>
                <a:lnTo>
                  <a:pt x="342900" y="4264"/>
                </a:lnTo>
                <a:lnTo>
                  <a:pt x="338635" y="0"/>
                </a:lnTo>
                <a:close/>
              </a:path>
              <a:path w="2609850" h="19050">
                <a:moveTo>
                  <a:pt x="409575" y="0"/>
                </a:moveTo>
                <a:lnTo>
                  <a:pt x="404314" y="0"/>
                </a:lnTo>
                <a:lnTo>
                  <a:pt x="400050" y="4264"/>
                </a:lnTo>
                <a:lnTo>
                  <a:pt x="400050" y="14785"/>
                </a:lnTo>
                <a:lnTo>
                  <a:pt x="404314" y="19050"/>
                </a:lnTo>
                <a:lnTo>
                  <a:pt x="471985" y="19050"/>
                </a:lnTo>
                <a:lnTo>
                  <a:pt x="476250" y="14785"/>
                </a:lnTo>
                <a:lnTo>
                  <a:pt x="476250" y="4264"/>
                </a:lnTo>
                <a:lnTo>
                  <a:pt x="471985" y="0"/>
                </a:lnTo>
                <a:lnTo>
                  <a:pt x="409575" y="0"/>
                </a:lnTo>
                <a:close/>
              </a:path>
              <a:path w="2609850" h="19050">
                <a:moveTo>
                  <a:pt x="605335" y="0"/>
                </a:moveTo>
                <a:lnTo>
                  <a:pt x="537664" y="0"/>
                </a:lnTo>
                <a:lnTo>
                  <a:pt x="533400" y="4264"/>
                </a:lnTo>
                <a:lnTo>
                  <a:pt x="533400" y="14785"/>
                </a:lnTo>
                <a:lnTo>
                  <a:pt x="537664" y="19050"/>
                </a:lnTo>
                <a:lnTo>
                  <a:pt x="605335" y="19050"/>
                </a:lnTo>
                <a:lnTo>
                  <a:pt x="609600" y="14785"/>
                </a:lnTo>
                <a:lnTo>
                  <a:pt x="609599" y="4264"/>
                </a:lnTo>
                <a:lnTo>
                  <a:pt x="605335" y="0"/>
                </a:lnTo>
                <a:close/>
              </a:path>
              <a:path w="2609850" h="19050">
                <a:moveTo>
                  <a:pt x="738685" y="0"/>
                </a:moveTo>
                <a:lnTo>
                  <a:pt x="671014" y="0"/>
                </a:lnTo>
                <a:lnTo>
                  <a:pt x="666750" y="4264"/>
                </a:lnTo>
                <a:lnTo>
                  <a:pt x="666750" y="14785"/>
                </a:lnTo>
                <a:lnTo>
                  <a:pt x="671014" y="19050"/>
                </a:lnTo>
                <a:lnTo>
                  <a:pt x="738685" y="19050"/>
                </a:lnTo>
                <a:lnTo>
                  <a:pt x="742950" y="14785"/>
                </a:lnTo>
                <a:lnTo>
                  <a:pt x="742950" y="4264"/>
                </a:lnTo>
                <a:lnTo>
                  <a:pt x="738685" y="0"/>
                </a:lnTo>
                <a:close/>
              </a:path>
              <a:path w="2609850" h="19050">
                <a:moveTo>
                  <a:pt x="872035" y="0"/>
                </a:moveTo>
                <a:lnTo>
                  <a:pt x="804364" y="0"/>
                </a:lnTo>
                <a:lnTo>
                  <a:pt x="800100" y="4264"/>
                </a:lnTo>
                <a:lnTo>
                  <a:pt x="800100" y="14785"/>
                </a:lnTo>
                <a:lnTo>
                  <a:pt x="804364" y="19050"/>
                </a:lnTo>
                <a:lnTo>
                  <a:pt x="872035" y="19050"/>
                </a:lnTo>
                <a:lnTo>
                  <a:pt x="876300" y="14785"/>
                </a:lnTo>
                <a:lnTo>
                  <a:pt x="876299" y="4264"/>
                </a:lnTo>
                <a:lnTo>
                  <a:pt x="872035" y="0"/>
                </a:lnTo>
                <a:close/>
              </a:path>
              <a:path w="2609850" h="19050">
                <a:moveTo>
                  <a:pt x="1005385" y="0"/>
                </a:moveTo>
                <a:lnTo>
                  <a:pt x="937714" y="0"/>
                </a:lnTo>
                <a:lnTo>
                  <a:pt x="933450" y="4264"/>
                </a:lnTo>
                <a:lnTo>
                  <a:pt x="933450" y="14785"/>
                </a:lnTo>
                <a:lnTo>
                  <a:pt x="937714" y="19050"/>
                </a:lnTo>
                <a:lnTo>
                  <a:pt x="1005385" y="19050"/>
                </a:lnTo>
                <a:lnTo>
                  <a:pt x="1009650" y="14785"/>
                </a:lnTo>
                <a:lnTo>
                  <a:pt x="1009650" y="4264"/>
                </a:lnTo>
                <a:lnTo>
                  <a:pt x="1005385" y="0"/>
                </a:lnTo>
                <a:close/>
              </a:path>
              <a:path w="2609850" h="19050">
                <a:moveTo>
                  <a:pt x="1076325" y="0"/>
                </a:moveTo>
                <a:lnTo>
                  <a:pt x="1071064" y="0"/>
                </a:lnTo>
                <a:lnTo>
                  <a:pt x="1066800" y="4264"/>
                </a:lnTo>
                <a:lnTo>
                  <a:pt x="1066800" y="14785"/>
                </a:lnTo>
                <a:lnTo>
                  <a:pt x="1071064" y="19050"/>
                </a:lnTo>
                <a:lnTo>
                  <a:pt x="1138735" y="19050"/>
                </a:lnTo>
                <a:lnTo>
                  <a:pt x="1143000" y="14785"/>
                </a:lnTo>
                <a:lnTo>
                  <a:pt x="1143000" y="4264"/>
                </a:lnTo>
                <a:lnTo>
                  <a:pt x="1138735" y="0"/>
                </a:lnTo>
                <a:lnTo>
                  <a:pt x="1076325" y="0"/>
                </a:lnTo>
                <a:close/>
              </a:path>
              <a:path w="2609850" h="19050">
                <a:moveTo>
                  <a:pt x="1272085" y="0"/>
                </a:moveTo>
                <a:lnTo>
                  <a:pt x="1204414" y="0"/>
                </a:lnTo>
                <a:lnTo>
                  <a:pt x="1200150" y="4264"/>
                </a:lnTo>
                <a:lnTo>
                  <a:pt x="1200150" y="14785"/>
                </a:lnTo>
                <a:lnTo>
                  <a:pt x="1204414" y="19050"/>
                </a:lnTo>
                <a:lnTo>
                  <a:pt x="1272085" y="19050"/>
                </a:lnTo>
                <a:lnTo>
                  <a:pt x="1276350" y="14785"/>
                </a:lnTo>
                <a:lnTo>
                  <a:pt x="1276349" y="4264"/>
                </a:lnTo>
                <a:lnTo>
                  <a:pt x="1272085" y="0"/>
                </a:lnTo>
                <a:close/>
              </a:path>
              <a:path w="2609850" h="19050">
                <a:moveTo>
                  <a:pt x="1405435" y="0"/>
                </a:moveTo>
                <a:lnTo>
                  <a:pt x="1337764" y="0"/>
                </a:lnTo>
                <a:lnTo>
                  <a:pt x="1333500" y="4265"/>
                </a:lnTo>
                <a:lnTo>
                  <a:pt x="1333500" y="14786"/>
                </a:lnTo>
                <a:lnTo>
                  <a:pt x="1337764" y="19050"/>
                </a:lnTo>
                <a:lnTo>
                  <a:pt x="1405435" y="19050"/>
                </a:lnTo>
                <a:lnTo>
                  <a:pt x="1409700" y="14786"/>
                </a:lnTo>
                <a:lnTo>
                  <a:pt x="1409700" y="4265"/>
                </a:lnTo>
                <a:lnTo>
                  <a:pt x="1405435" y="0"/>
                </a:lnTo>
                <a:close/>
              </a:path>
              <a:path w="2609850" h="19050">
                <a:moveTo>
                  <a:pt x="1538785" y="0"/>
                </a:moveTo>
                <a:lnTo>
                  <a:pt x="1471114" y="0"/>
                </a:lnTo>
                <a:lnTo>
                  <a:pt x="1466850" y="4265"/>
                </a:lnTo>
                <a:lnTo>
                  <a:pt x="1466850" y="14786"/>
                </a:lnTo>
                <a:lnTo>
                  <a:pt x="1471114" y="19050"/>
                </a:lnTo>
                <a:lnTo>
                  <a:pt x="1538785" y="19050"/>
                </a:lnTo>
                <a:lnTo>
                  <a:pt x="1543050" y="14786"/>
                </a:lnTo>
                <a:lnTo>
                  <a:pt x="1543050" y="4265"/>
                </a:lnTo>
                <a:lnTo>
                  <a:pt x="1538785" y="0"/>
                </a:lnTo>
                <a:close/>
              </a:path>
              <a:path w="2609850" h="19050">
                <a:moveTo>
                  <a:pt x="1672135" y="0"/>
                </a:moveTo>
                <a:lnTo>
                  <a:pt x="1604464" y="0"/>
                </a:lnTo>
                <a:lnTo>
                  <a:pt x="1600199" y="4265"/>
                </a:lnTo>
                <a:lnTo>
                  <a:pt x="1600200" y="14786"/>
                </a:lnTo>
                <a:lnTo>
                  <a:pt x="1604464" y="19050"/>
                </a:lnTo>
                <a:lnTo>
                  <a:pt x="1672135" y="19050"/>
                </a:lnTo>
                <a:lnTo>
                  <a:pt x="1676399" y="14786"/>
                </a:lnTo>
                <a:lnTo>
                  <a:pt x="1676399" y="4265"/>
                </a:lnTo>
                <a:lnTo>
                  <a:pt x="1672135" y="0"/>
                </a:lnTo>
                <a:close/>
              </a:path>
              <a:path w="2609850" h="19050">
                <a:moveTo>
                  <a:pt x="1743074" y="0"/>
                </a:moveTo>
                <a:lnTo>
                  <a:pt x="1737814" y="0"/>
                </a:lnTo>
                <a:lnTo>
                  <a:pt x="1733549" y="4265"/>
                </a:lnTo>
                <a:lnTo>
                  <a:pt x="1733549" y="14786"/>
                </a:lnTo>
                <a:lnTo>
                  <a:pt x="1737814" y="19050"/>
                </a:lnTo>
                <a:lnTo>
                  <a:pt x="1805485" y="19050"/>
                </a:lnTo>
                <a:lnTo>
                  <a:pt x="1809749" y="14786"/>
                </a:lnTo>
                <a:lnTo>
                  <a:pt x="1809749" y="4265"/>
                </a:lnTo>
                <a:lnTo>
                  <a:pt x="1805485" y="0"/>
                </a:lnTo>
                <a:lnTo>
                  <a:pt x="1743074" y="0"/>
                </a:lnTo>
                <a:close/>
              </a:path>
              <a:path w="2609850" h="19050">
                <a:moveTo>
                  <a:pt x="1938835" y="0"/>
                </a:moveTo>
                <a:lnTo>
                  <a:pt x="1871164" y="0"/>
                </a:lnTo>
                <a:lnTo>
                  <a:pt x="1866899" y="4265"/>
                </a:lnTo>
                <a:lnTo>
                  <a:pt x="1866899" y="14786"/>
                </a:lnTo>
                <a:lnTo>
                  <a:pt x="1871164" y="19050"/>
                </a:lnTo>
                <a:lnTo>
                  <a:pt x="1938835" y="19050"/>
                </a:lnTo>
                <a:lnTo>
                  <a:pt x="1943099" y="14786"/>
                </a:lnTo>
                <a:lnTo>
                  <a:pt x="1943099" y="4265"/>
                </a:lnTo>
                <a:lnTo>
                  <a:pt x="1938835" y="0"/>
                </a:lnTo>
                <a:close/>
              </a:path>
              <a:path w="2609850" h="19050">
                <a:moveTo>
                  <a:pt x="2072185" y="0"/>
                </a:moveTo>
                <a:lnTo>
                  <a:pt x="2004514" y="0"/>
                </a:lnTo>
                <a:lnTo>
                  <a:pt x="2000249" y="4265"/>
                </a:lnTo>
                <a:lnTo>
                  <a:pt x="2000249" y="14786"/>
                </a:lnTo>
                <a:lnTo>
                  <a:pt x="2004514" y="19050"/>
                </a:lnTo>
                <a:lnTo>
                  <a:pt x="2072185" y="19050"/>
                </a:lnTo>
                <a:lnTo>
                  <a:pt x="2076449" y="14786"/>
                </a:lnTo>
                <a:lnTo>
                  <a:pt x="2076449" y="4265"/>
                </a:lnTo>
                <a:lnTo>
                  <a:pt x="2072185" y="0"/>
                </a:lnTo>
                <a:close/>
              </a:path>
              <a:path w="2609850" h="19050">
                <a:moveTo>
                  <a:pt x="2205535" y="0"/>
                </a:moveTo>
                <a:lnTo>
                  <a:pt x="2137864" y="0"/>
                </a:lnTo>
                <a:lnTo>
                  <a:pt x="2133599" y="4265"/>
                </a:lnTo>
                <a:lnTo>
                  <a:pt x="2133599" y="14786"/>
                </a:lnTo>
                <a:lnTo>
                  <a:pt x="2137864" y="19050"/>
                </a:lnTo>
                <a:lnTo>
                  <a:pt x="2205535" y="19050"/>
                </a:lnTo>
                <a:lnTo>
                  <a:pt x="2209799" y="14786"/>
                </a:lnTo>
                <a:lnTo>
                  <a:pt x="2209799" y="4265"/>
                </a:lnTo>
                <a:lnTo>
                  <a:pt x="2205535" y="0"/>
                </a:lnTo>
                <a:close/>
              </a:path>
              <a:path w="2609850" h="19050">
                <a:moveTo>
                  <a:pt x="2338885" y="0"/>
                </a:moveTo>
                <a:lnTo>
                  <a:pt x="2271214" y="0"/>
                </a:lnTo>
                <a:lnTo>
                  <a:pt x="2266949" y="4265"/>
                </a:lnTo>
                <a:lnTo>
                  <a:pt x="2266950" y="14786"/>
                </a:lnTo>
                <a:lnTo>
                  <a:pt x="2271214" y="19050"/>
                </a:lnTo>
                <a:lnTo>
                  <a:pt x="2338885" y="19050"/>
                </a:lnTo>
                <a:lnTo>
                  <a:pt x="2343149" y="14786"/>
                </a:lnTo>
                <a:lnTo>
                  <a:pt x="2343149" y="4265"/>
                </a:lnTo>
                <a:lnTo>
                  <a:pt x="2338885" y="0"/>
                </a:lnTo>
                <a:close/>
              </a:path>
              <a:path w="2609850" h="19050">
                <a:moveTo>
                  <a:pt x="2409824" y="0"/>
                </a:moveTo>
                <a:lnTo>
                  <a:pt x="2404564" y="1"/>
                </a:lnTo>
                <a:lnTo>
                  <a:pt x="2400299" y="4265"/>
                </a:lnTo>
                <a:lnTo>
                  <a:pt x="2400299" y="14786"/>
                </a:lnTo>
                <a:lnTo>
                  <a:pt x="2404564" y="19050"/>
                </a:lnTo>
                <a:lnTo>
                  <a:pt x="2472235" y="19050"/>
                </a:lnTo>
                <a:lnTo>
                  <a:pt x="2476499" y="14786"/>
                </a:lnTo>
                <a:lnTo>
                  <a:pt x="2476499" y="4265"/>
                </a:lnTo>
                <a:lnTo>
                  <a:pt x="2472235" y="1"/>
                </a:lnTo>
                <a:lnTo>
                  <a:pt x="2409824" y="0"/>
                </a:lnTo>
                <a:close/>
              </a:path>
              <a:path w="2609850" h="19050">
                <a:moveTo>
                  <a:pt x="2605585" y="1"/>
                </a:moveTo>
                <a:lnTo>
                  <a:pt x="2537914" y="1"/>
                </a:lnTo>
                <a:lnTo>
                  <a:pt x="2533649" y="4265"/>
                </a:lnTo>
                <a:lnTo>
                  <a:pt x="2533649" y="14786"/>
                </a:lnTo>
                <a:lnTo>
                  <a:pt x="2537914" y="19051"/>
                </a:lnTo>
                <a:lnTo>
                  <a:pt x="2605585" y="19051"/>
                </a:lnTo>
                <a:lnTo>
                  <a:pt x="2609849" y="14786"/>
                </a:lnTo>
                <a:lnTo>
                  <a:pt x="2609849" y="4265"/>
                </a:lnTo>
                <a:lnTo>
                  <a:pt x="2605585" y="1"/>
                </a:lnTo>
                <a:close/>
              </a:path>
            </a:pathLst>
          </a:custGeom>
          <a:solidFill>
            <a:srgbClr val="64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843292" y="4708905"/>
            <a:ext cx="169545" cy="169545"/>
          </a:xfrm>
          <a:custGeom>
            <a:avLst/>
            <a:gdLst/>
            <a:ahLst/>
            <a:cxnLst/>
            <a:rect l="l" t="t" r="r" b="b"/>
            <a:pathLst>
              <a:path w="169544" h="169545">
                <a:moveTo>
                  <a:pt x="84493" y="0"/>
                </a:moveTo>
                <a:lnTo>
                  <a:pt x="51604" y="6639"/>
                </a:lnTo>
                <a:lnTo>
                  <a:pt x="24747" y="24747"/>
                </a:lnTo>
                <a:lnTo>
                  <a:pt x="6639" y="51603"/>
                </a:lnTo>
                <a:lnTo>
                  <a:pt x="0" y="84491"/>
                </a:lnTo>
                <a:lnTo>
                  <a:pt x="6639" y="117380"/>
                </a:lnTo>
                <a:lnTo>
                  <a:pt x="24747" y="144237"/>
                </a:lnTo>
                <a:lnTo>
                  <a:pt x="51604" y="162345"/>
                </a:lnTo>
                <a:lnTo>
                  <a:pt x="84493" y="168984"/>
                </a:lnTo>
                <a:lnTo>
                  <a:pt x="117381" y="162345"/>
                </a:lnTo>
                <a:lnTo>
                  <a:pt x="144237" y="144237"/>
                </a:lnTo>
                <a:lnTo>
                  <a:pt x="162345" y="117380"/>
                </a:lnTo>
                <a:lnTo>
                  <a:pt x="168984" y="84491"/>
                </a:lnTo>
                <a:lnTo>
                  <a:pt x="162345" y="51603"/>
                </a:lnTo>
                <a:lnTo>
                  <a:pt x="144237" y="24747"/>
                </a:lnTo>
                <a:lnTo>
                  <a:pt x="117381" y="6639"/>
                </a:lnTo>
                <a:lnTo>
                  <a:pt x="84493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545040" y="5643157"/>
            <a:ext cx="169545" cy="169545"/>
          </a:xfrm>
          <a:custGeom>
            <a:avLst/>
            <a:gdLst/>
            <a:ahLst/>
            <a:cxnLst/>
            <a:rect l="l" t="t" r="r" b="b"/>
            <a:pathLst>
              <a:path w="169544" h="169545">
                <a:moveTo>
                  <a:pt x="84491" y="0"/>
                </a:moveTo>
                <a:lnTo>
                  <a:pt x="51603" y="6639"/>
                </a:lnTo>
                <a:lnTo>
                  <a:pt x="24747" y="24747"/>
                </a:lnTo>
                <a:lnTo>
                  <a:pt x="6639" y="51604"/>
                </a:lnTo>
                <a:lnTo>
                  <a:pt x="0" y="84492"/>
                </a:lnTo>
                <a:lnTo>
                  <a:pt x="6639" y="117380"/>
                </a:lnTo>
                <a:lnTo>
                  <a:pt x="24747" y="144237"/>
                </a:lnTo>
                <a:lnTo>
                  <a:pt x="51603" y="162345"/>
                </a:lnTo>
                <a:lnTo>
                  <a:pt x="84491" y="168985"/>
                </a:lnTo>
                <a:lnTo>
                  <a:pt x="117380" y="162345"/>
                </a:lnTo>
                <a:lnTo>
                  <a:pt x="144237" y="144237"/>
                </a:lnTo>
                <a:lnTo>
                  <a:pt x="162345" y="117380"/>
                </a:lnTo>
                <a:lnTo>
                  <a:pt x="168984" y="84492"/>
                </a:lnTo>
                <a:lnTo>
                  <a:pt x="162345" y="51604"/>
                </a:lnTo>
                <a:lnTo>
                  <a:pt x="144237" y="24747"/>
                </a:lnTo>
                <a:lnTo>
                  <a:pt x="117380" y="6639"/>
                </a:lnTo>
                <a:lnTo>
                  <a:pt x="84491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637758" y="5720585"/>
            <a:ext cx="169545" cy="169545"/>
          </a:xfrm>
          <a:custGeom>
            <a:avLst/>
            <a:gdLst/>
            <a:ahLst/>
            <a:cxnLst/>
            <a:rect l="l" t="t" r="r" b="b"/>
            <a:pathLst>
              <a:path w="169544" h="169545">
                <a:moveTo>
                  <a:pt x="84493" y="0"/>
                </a:moveTo>
                <a:lnTo>
                  <a:pt x="51604" y="6639"/>
                </a:lnTo>
                <a:lnTo>
                  <a:pt x="24747" y="24747"/>
                </a:lnTo>
                <a:lnTo>
                  <a:pt x="6639" y="51604"/>
                </a:lnTo>
                <a:lnTo>
                  <a:pt x="0" y="84492"/>
                </a:lnTo>
                <a:lnTo>
                  <a:pt x="6639" y="117380"/>
                </a:lnTo>
                <a:lnTo>
                  <a:pt x="24747" y="144237"/>
                </a:lnTo>
                <a:lnTo>
                  <a:pt x="51604" y="162345"/>
                </a:lnTo>
                <a:lnTo>
                  <a:pt x="84493" y="168985"/>
                </a:lnTo>
                <a:lnTo>
                  <a:pt x="117381" y="162345"/>
                </a:lnTo>
                <a:lnTo>
                  <a:pt x="144237" y="144237"/>
                </a:lnTo>
                <a:lnTo>
                  <a:pt x="162345" y="117380"/>
                </a:lnTo>
                <a:lnTo>
                  <a:pt x="168984" y="84492"/>
                </a:lnTo>
                <a:lnTo>
                  <a:pt x="162345" y="51604"/>
                </a:lnTo>
                <a:lnTo>
                  <a:pt x="144237" y="24747"/>
                </a:lnTo>
                <a:lnTo>
                  <a:pt x="117381" y="6639"/>
                </a:lnTo>
                <a:lnTo>
                  <a:pt x="84493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537663" y="6073166"/>
            <a:ext cx="158750" cy="163830"/>
          </a:xfrm>
          <a:custGeom>
            <a:avLst/>
            <a:gdLst/>
            <a:ahLst/>
            <a:cxnLst/>
            <a:rect l="l" t="t" r="r" b="b"/>
            <a:pathLst>
              <a:path w="158750" h="163829">
                <a:moveTo>
                  <a:pt x="79100" y="0"/>
                </a:moveTo>
                <a:lnTo>
                  <a:pt x="48310" y="6422"/>
                </a:lnTo>
                <a:lnTo>
                  <a:pt x="23167" y="23937"/>
                </a:lnTo>
                <a:lnTo>
                  <a:pt x="6216" y="49916"/>
                </a:lnTo>
                <a:lnTo>
                  <a:pt x="0" y="81728"/>
                </a:lnTo>
                <a:lnTo>
                  <a:pt x="6216" y="113541"/>
                </a:lnTo>
                <a:lnTo>
                  <a:pt x="23167" y="139520"/>
                </a:lnTo>
                <a:lnTo>
                  <a:pt x="48310" y="157035"/>
                </a:lnTo>
                <a:lnTo>
                  <a:pt x="79100" y="163458"/>
                </a:lnTo>
                <a:lnTo>
                  <a:pt x="109889" y="157035"/>
                </a:lnTo>
                <a:lnTo>
                  <a:pt x="135033" y="139520"/>
                </a:lnTo>
                <a:lnTo>
                  <a:pt x="151985" y="113541"/>
                </a:lnTo>
                <a:lnTo>
                  <a:pt x="158201" y="81728"/>
                </a:lnTo>
                <a:lnTo>
                  <a:pt x="151985" y="49916"/>
                </a:lnTo>
                <a:lnTo>
                  <a:pt x="135033" y="23937"/>
                </a:lnTo>
                <a:lnTo>
                  <a:pt x="109889" y="6422"/>
                </a:lnTo>
                <a:lnTo>
                  <a:pt x="79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528123" y="6063624"/>
            <a:ext cx="177800" cy="182880"/>
          </a:xfrm>
          <a:custGeom>
            <a:avLst/>
            <a:gdLst/>
            <a:ahLst/>
            <a:cxnLst/>
            <a:rect l="l" t="t" r="r" b="b"/>
            <a:pathLst>
              <a:path w="177800" h="182879">
                <a:moveTo>
                  <a:pt x="88971" y="0"/>
                </a:moveTo>
                <a:lnTo>
                  <a:pt x="88309" y="0"/>
                </a:lnTo>
                <a:lnTo>
                  <a:pt x="71059" y="1796"/>
                </a:lnTo>
                <a:lnTo>
                  <a:pt x="26066" y="26625"/>
                </a:lnTo>
                <a:lnTo>
                  <a:pt x="1846" y="72651"/>
                </a:lnTo>
                <a:lnTo>
                  <a:pt x="0" y="90960"/>
                </a:lnTo>
                <a:lnTo>
                  <a:pt x="59" y="92196"/>
                </a:lnTo>
                <a:lnTo>
                  <a:pt x="14898" y="141931"/>
                </a:lnTo>
                <a:lnTo>
                  <a:pt x="53748" y="175197"/>
                </a:lnTo>
                <a:lnTo>
                  <a:pt x="88309" y="182542"/>
                </a:lnTo>
                <a:lnTo>
                  <a:pt x="88971" y="182542"/>
                </a:lnTo>
                <a:lnTo>
                  <a:pt x="130865" y="171084"/>
                </a:lnTo>
                <a:lnTo>
                  <a:pt x="88640" y="171084"/>
                </a:lnTo>
                <a:lnTo>
                  <a:pt x="73093" y="169465"/>
                </a:lnTo>
                <a:lnTo>
                  <a:pt x="34082" y="147730"/>
                </a:lnTo>
                <a:lnTo>
                  <a:pt x="13025" y="107372"/>
                </a:lnTo>
                <a:lnTo>
                  <a:pt x="11484" y="90960"/>
                </a:lnTo>
                <a:lnTo>
                  <a:pt x="13025" y="75169"/>
                </a:lnTo>
                <a:lnTo>
                  <a:pt x="34082" y="34811"/>
                </a:lnTo>
                <a:lnTo>
                  <a:pt x="73093" y="13076"/>
                </a:lnTo>
                <a:lnTo>
                  <a:pt x="88640" y="11457"/>
                </a:lnTo>
                <a:lnTo>
                  <a:pt x="130865" y="11457"/>
                </a:lnTo>
                <a:lnTo>
                  <a:pt x="123532" y="7344"/>
                </a:lnTo>
                <a:lnTo>
                  <a:pt x="122947" y="7089"/>
                </a:lnTo>
                <a:lnTo>
                  <a:pt x="106865" y="1932"/>
                </a:lnTo>
                <a:lnTo>
                  <a:pt x="106221" y="1796"/>
                </a:lnTo>
                <a:lnTo>
                  <a:pt x="88971" y="0"/>
                </a:lnTo>
                <a:close/>
              </a:path>
              <a:path w="177800" h="182879">
                <a:moveTo>
                  <a:pt x="130865" y="11457"/>
                </a:moveTo>
                <a:lnTo>
                  <a:pt x="88640" y="11457"/>
                </a:lnTo>
                <a:lnTo>
                  <a:pt x="104188" y="13076"/>
                </a:lnTo>
                <a:lnTo>
                  <a:pt x="118666" y="17720"/>
                </a:lnTo>
                <a:lnTo>
                  <a:pt x="152629" y="46622"/>
                </a:lnTo>
                <a:lnTo>
                  <a:pt x="165797" y="90960"/>
                </a:lnTo>
                <a:lnTo>
                  <a:pt x="165737" y="92196"/>
                </a:lnTo>
                <a:lnTo>
                  <a:pt x="152629" y="135919"/>
                </a:lnTo>
                <a:lnTo>
                  <a:pt x="118666" y="164821"/>
                </a:lnTo>
                <a:lnTo>
                  <a:pt x="88640" y="171084"/>
                </a:lnTo>
                <a:lnTo>
                  <a:pt x="130865" y="171084"/>
                </a:lnTo>
                <a:lnTo>
                  <a:pt x="162073" y="142405"/>
                </a:lnTo>
                <a:lnTo>
                  <a:pt x="177221" y="92196"/>
                </a:lnTo>
                <a:lnTo>
                  <a:pt x="177281" y="90960"/>
                </a:lnTo>
                <a:lnTo>
                  <a:pt x="175554" y="73259"/>
                </a:lnTo>
                <a:lnTo>
                  <a:pt x="151637" y="27062"/>
                </a:lnTo>
                <a:lnTo>
                  <a:pt x="138065" y="15495"/>
                </a:lnTo>
                <a:lnTo>
                  <a:pt x="130865" y="11457"/>
                </a:lnTo>
                <a:close/>
              </a:path>
              <a:path w="177800" h="182879">
                <a:moveTo>
                  <a:pt x="88640" y="15288"/>
                </a:moveTo>
                <a:lnTo>
                  <a:pt x="47697" y="28211"/>
                </a:lnTo>
                <a:lnTo>
                  <a:pt x="21071" y="61629"/>
                </a:lnTo>
                <a:lnTo>
                  <a:pt x="15312" y="90960"/>
                </a:lnTo>
                <a:lnTo>
                  <a:pt x="15372" y="92196"/>
                </a:lnTo>
                <a:lnTo>
                  <a:pt x="27854" y="133826"/>
                </a:lnTo>
                <a:lnTo>
                  <a:pt x="60144" y="161311"/>
                </a:lnTo>
                <a:lnTo>
                  <a:pt x="88640" y="167254"/>
                </a:lnTo>
                <a:lnTo>
                  <a:pt x="103400" y="165716"/>
                </a:lnTo>
                <a:lnTo>
                  <a:pt x="110550" y="163423"/>
                </a:lnTo>
                <a:lnTo>
                  <a:pt x="88640" y="163423"/>
                </a:lnTo>
                <a:lnTo>
                  <a:pt x="74668" y="161968"/>
                </a:lnTo>
                <a:lnTo>
                  <a:pt x="39582" y="142405"/>
                </a:lnTo>
                <a:lnTo>
                  <a:pt x="20537" y="105892"/>
                </a:lnTo>
                <a:lnTo>
                  <a:pt x="19141" y="90960"/>
                </a:lnTo>
                <a:lnTo>
                  <a:pt x="20537" y="76650"/>
                </a:lnTo>
                <a:lnTo>
                  <a:pt x="39620" y="40104"/>
                </a:lnTo>
                <a:lnTo>
                  <a:pt x="74668" y="20573"/>
                </a:lnTo>
                <a:lnTo>
                  <a:pt x="88640" y="19118"/>
                </a:lnTo>
                <a:lnTo>
                  <a:pt x="110551" y="19118"/>
                </a:lnTo>
                <a:lnTo>
                  <a:pt x="103400" y="16825"/>
                </a:lnTo>
                <a:lnTo>
                  <a:pt x="88640" y="15288"/>
                </a:lnTo>
                <a:close/>
              </a:path>
              <a:path w="177800" h="182879">
                <a:moveTo>
                  <a:pt x="110551" y="19118"/>
                </a:moveTo>
                <a:lnTo>
                  <a:pt x="88640" y="19118"/>
                </a:lnTo>
                <a:lnTo>
                  <a:pt x="102613" y="20573"/>
                </a:lnTo>
                <a:lnTo>
                  <a:pt x="115608" y="24741"/>
                </a:lnTo>
                <a:lnTo>
                  <a:pt x="146222" y="50809"/>
                </a:lnTo>
                <a:lnTo>
                  <a:pt x="158140" y="90960"/>
                </a:lnTo>
                <a:lnTo>
                  <a:pt x="158080" y="92196"/>
                </a:lnTo>
                <a:lnTo>
                  <a:pt x="146222" y="131732"/>
                </a:lnTo>
                <a:lnTo>
                  <a:pt x="115608" y="157800"/>
                </a:lnTo>
                <a:lnTo>
                  <a:pt x="88640" y="163423"/>
                </a:lnTo>
                <a:lnTo>
                  <a:pt x="110550" y="163423"/>
                </a:lnTo>
                <a:lnTo>
                  <a:pt x="149425" y="133826"/>
                </a:lnTo>
                <a:lnTo>
                  <a:pt x="161908" y="92196"/>
                </a:lnTo>
                <a:lnTo>
                  <a:pt x="161968" y="90960"/>
                </a:lnTo>
                <a:lnTo>
                  <a:pt x="160500" y="75910"/>
                </a:lnTo>
                <a:lnTo>
                  <a:pt x="140449" y="37473"/>
                </a:lnTo>
                <a:lnTo>
                  <a:pt x="117137" y="21230"/>
                </a:lnTo>
                <a:lnTo>
                  <a:pt x="110551" y="19118"/>
                </a:lnTo>
                <a:close/>
              </a:path>
            </a:pathLst>
          </a:custGeom>
          <a:solidFill>
            <a:srgbClr val="64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540437" y="5778503"/>
            <a:ext cx="169545" cy="169545"/>
          </a:xfrm>
          <a:custGeom>
            <a:avLst/>
            <a:gdLst/>
            <a:ahLst/>
            <a:cxnLst/>
            <a:rect l="l" t="t" r="r" b="b"/>
            <a:pathLst>
              <a:path w="169544" h="169545">
                <a:moveTo>
                  <a:pt x="84493" y="0"/>
                </a:moveTo>
                <a:lnTo>
                  <a:pt x="51604" y="6639"/>
                </a:lnTo>
                <a:lnTo>
                  <a:pt x="24747" y="24747"/>
                </a:lnTo>
                <a:lnTo>
                  <a:pt x="6639" y="51604"/>
                </a:lnTo>
                <a:lnTo>
                  <a:pt x="0" y="84492"/>
                </a:lnTo>
                <a:lnTo>
                  <a:pt x="6639" y="117380"/>
                </a:lnTo>
                <a:lnTo>
                  <a:pt x="24747" y="144237"/>
                </a:lnTo>
                <a:lnTo>
                  <a:pt x="51604" y="162345"/>
                </a:lnTo>
                <a:lnTo>
                  <a:pt x="84493" y="168985"/>
                </a:lnTo>
                <a:lnTo>
                  <a:pt x="117381" y="162345"/>
                </a:lnTo>
                <a:lnTo>
                  <a:pt x="144237" y="144237"/>
                </a:lnTo>
                <a:lnTo>
                  <a:pt x="162345" y="117380"/>
                </a:lnTo>
                <a:lnTo>
                  <a:pt x="168984" y="84492"/>
                </a:lnTo>
                <a:lnTo>
                  <a:pt x="162345" y="51604"/>
                </a:lnTo>
                <a:lnTo>
                  <a:pt x="144237" y="24747"/>
                </a:lnTo>
                <a:lnTo>
                  <a:pt x="117381" y="6639"/>
                </a:lnTo>
                <a:lnTo>
                  <a:pt x="84493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607238" y="3580316"/>
            <a:ext cx="19685" cy="2476500"/>
          </a:xfrm>
          <a:custGeom>
            <a:avLst/>
            <a:gdLst/>
            <a:ahLst/>
            <a:cxnLst/>
            <a:rect l="l" t="t" r="r" b="b"/>
            <a:pathLst>
              <a:path w="19685" h="2476500">
                <a:moveTo>
                  <a:pt x="14786" y="2400299"/>
                </a:moveTo>
                <a:lnTo>
                  <a:pt x="4264" y="2400299"/>
                </a:lnTo>
                <a:lnTo>
                  <a:pt x="1" y="2404563"/>
                </a:lnTo>
                <a:lnTo>
                  <a:pt x="0" y="2472234"/>
                </a:lnTo>
                <a:lnTo>
                  <a:pt x="4264" y="2476499"/>
                </a:lnTo>
                <a:lnTo>
                  <a:pt x="14786" y="2476499"/>
                </a:lnTo>
                <a:lnTo>
                  <a:pt x="19050" y="2472234"/>
                </a:lnTo>
                <a:lnTo>
                  <a:pt x="19051" y="2404563"/>
                </a:lnTo>
                <a:lnTo>
                  <a:pt x="14786" y="2400299"/>
                </a:lnTo>
                <a:close/>
              </a:path>
              <a:path w="19685" h="2476500">
                <a:moveTo>
                  <a:pt x="14786" y="2266949"/>
                </a:moveTo>
                <a:lnTo>
                  <a:pt x="4264" y="2266949"/>
                </a:lnTo>
                <a:lnTo>
                  <a:pt x="1" y="2271213"/>
                </a:lnTo>
                <a:lnTo>
                  <a:pt x="1" y="2338884"/>
                </a:lnTo>
                <a:lnTo>
                  <a:pt x="4264" y="2343149"/>
                </a:lnTo>
                <a:lnTo>
                  <a:pt x="14786" y="2343149"/>
                </a:lnTo>
                <a:lnTo>
                  <a:pt x="19051" y="2338884"/>
                </a:lnTo>
                <a:lnTo>
                  <a:pt x="19051" y="2271213"/>
                </a:lnTo>
                <a:lnTo>
                  <a:pt x="14786" y="2266949"/>
                </a:lnTo>
                <a:close/>
              </a:path>
              <a:path w="19685" h="2476500">
                <a:moveTo>
                  <a:pt x="14786" y="2133599"/>
                </a:moveTo>
                <a:lnTo>
                  <a:pt x="4264" y="2133599"/>
                </a:lnTo>
                <a:lnTo>
                  <a:pt x="1" y="2137863"/>
                </a:lnTo>
                <a:lnTo>
                  <a:pt x="1" y="2205534"/>
                </a:lnTo>
                <a:lnTo>
                  <a:pt x="4264" y="2209799"/>
                </a:lnTo>
                <a:lnTo>
                  <a:pt x="14786" y="2209799"/>
                </a:lnTo>
                <a:lnTo>
                  <a:pt x="19051" y="2205534"/>
                </a:lnTo>
                <a:lnTo>
                  <a:pt x="19051" y="2137863"/>
                </a:lnTo>
                <a:lnTo>
                  <a:pt x="14786" y="2133599"/>
                </a:lnTo>
                <a:close/>
              </a:path>
              <a:path w="19685" h="2476500">
                <a:moveTo>
                  <a:pt x="14786" y="2000248"/>
                </a:moveTo>
                <a:lnTo>
                  <a:pt x="4265" y="2000248"/>
                </a:lnTo>
                <a:lnTo>
                  <a:pt x="1" y="2004513"/>
                </a:lnTo>
                <a:lnTo>
                  <a:pt x="1" y="2072184"/>
                </a:lnTo>
                <a:lnTo>
                  <a:pt x="4264" y="2076449"/>
                </a:lnTo>
                <a:lnTo>
                  <a:pt x="14786" y="2076449"/>
                </a:lnTo>
                <a:lnTo>
                  <a:pt x="19051" y="2072184"/>
                </a:lnTo>
                <a:lnTo>
                  <a:pt x="19051" y="2004513"/>
                </a:lnTo>
                <a:lnTo>
                  <a:pt x="14786" y="2000248"/>
                </a:lnTo>
                <a:close/>
              </a:path>
              <a:path w="19685" h="2476500">
                <a:moveTo>
                  <a:pt x="14786" y="1866898"/>
                </a:moveTo>
                <a:lnTo>
                  <a:pt x="4265" y="1866898"/>
                </a:lnTo>
                <a:lnTo>
                  <a:pt x="1" y="1871163"/>
                </a:lnTo>
                <a:lnTo>
                  <a:pt x="1" y="1938835"/>
                </a:lnTo>
                <a:lnTo>
                  <a:pt x="4265" y="1943098"/>
                </a:lnTo>
                <a:lnTo>
                  <a:pt x="14786" y="1943098"/>
                </a:lnTo>
                <a:lnTo>
                  <a:pt x="19051" y="1938835"/>
                </a:lnTo>
                <a:lnTo>
                  <a:pt x="19051" y="1871163"/>
                </a:lnTo>
                <a:lnTo>
                  <a:pt x="14786" y="1866898"/>
                </a:lnTo>
                <a:close/>
              </a:path>
              <a:path w="19685" h="2476500">
                <a:moveTo>
                  <a:pt x="14786" y="1733548"/>
                </a:moveTo>
                <a:lnTo>
                  <a:pt x="4265" y="1733548"/>
                </a:lnTo>
                <a:lnTo>
                  <a:pt x="1" y="1737813"/>
                </a:lnTo>
                <a:lnTo>
                  <a:pt x="1" y="1805485"/>
                </a:lnTo>
                <a:lnTo>
                  <a:pt x="4265" y="1809748"/>
                </a:lnTo>
                <a:lnTo>
                  <a:pt x="14786" y="1809748"/>
                </a:lnTo>
                <a:lnTo>
                  <a:pt x="19051" y="1805485"/>
                </a:lnTo>
                <a:lnTo>
                  <a:pt x="19051" y="1737813"/>
                </a:lnTo>
                <a:lnTo>
                  <a:pt x="14786" y="1733548"/>
                </a:lnTo>
                <a:close/>
              </a:path>
              <a:path w="19685" h="2476500">
                <a:moveTo>
                  <a:pt x="14786" y="1600198"/>
                </a:moveTo>
                <a:lnTo>
                  <a:pt x="4265" y="1600198"/>
                </a:lnTo>
                <a:lnTo>
                  <a:pt x="1" y="1604463"/>
                </a:lnTo>
                <a:lnTo>
                  <a:pt x="1" y="1672135"/>
                </a:lnTo>
                <a:lnTo>
                  <a:pt x="4265" y="1676398"/>
                </a:lnTo>
                <a:lnTo>
                  <a:pt x="14786" y="1676398"/>
                </a:lnTo>
                <a:lnTo>
                  <a:pt x="19051" y="1672135"/>
                </a:lnTo>
                <a:lnTo>
                  <a:pt x="19051" y="1604463"/>
                </a:lnTo>
                <a:lnTo>
                  <a:pt x="14786" y="1600198"/>
                </a:lnTo>
                <a:close/>
              </a:path>
              <a:path w="19685" h="2476500">
                <a:moveTo>
                  <a:pt x="14786" y="1466848"/>
                </a:moveTo>
                <a:lnTo>
                  <a:pt x="4265" y="1466848"/>
                </a:lnTo>
                <a:lnTo>
                  <a:pt x="1" y="1471113"/>
                </a:lnTo>
                <a:lnTo>
                  <a:pt x="1" y="1538785"/>
                </a:lnTo>
                <a:lnTo>
                  <a:pt x="4265" y="1543048"/>
                </a:lnTo>
                <a:lnTo>
                  <a:pt x="14786" y="1543048"/>
                </a:lnTo>
                <a:lnTo>
                  <a:pt x="19051" y="1538785"/>
                </a:lnTo>
                <a:lnTo>
                  <a:pt x="19051" y="1471113"/>
                </a:lnTo>
                <a:lnTo>
                  <a:pt x="14786" y="1466848"/>
                </a:lnTo>
                <a:close/>
              </a:path>
              <a:path w="19685" h="2476500">
                <a:moveTo>
                  <a:pt x="14786" y="1333498"/>
                </a:moveTo>
                <a:lnTo>
                  <a:pt x="4265" y="1333498"/>
                </a:lnTo>
                <a:lnTo>
                  <a:pt x="1" y="1337763"/>
                </a:lnTo>
                <a:lnTo>
                  <a:pt x="1" y="1405435"/>
                </a:lnTo>
                <a:lnTo>
                  <a:pt x="4265" y="1409698"/>
                </a:lnTo>
                <a:lnTo>
                  <a:pt x="14786" y="1409698"/>
                </a:lnTo>
                <a:lnTo>
                  <a:pt x="19051" y="1405435"/>
                </a:lnTo>
                <a:lnTo>
                  <a:pt x="19051" y="1337763"/>
                </a:lnTo>
                <a:lnTo>
                  <a:pt x="14786" y="1333498"/>
                </a:lnTo>
                <a:close/>
              </a:path>
              <a:path w="19685" h="2476500">
                <a:moveTo>
                  <a:pt x="14786" y="1200150"/>
                </a:moveTo>
                <a:lnTo>
                  <a:pt x="4265" y="1200150"/>
                </a:lnTo>
                <a:lnTo>
                  <a:pt x="1" y="1204413"/>
                </a:lnTo>
                <a:lnTo>
                  <a:pt x="1" y="1272085"/>
                </a:lnTo>
                <a:lnTo>
                  <a:pt x="4265" y="1276350"/>
                </a:lnTo>
                <a:lnTo>
                  <a:pt x="14786" y="1276350"/>
                </a:lnTo>
                <a:lnTo>
                  <a:pt x="19051" y="1272085"/>
                </a:lnTo>
                <a:lnTo>
                  <a:pt x="19051" y="1204413"/>
                </a:lnTo>
                <a:lnTo>
                  <a:pt x="14786" y="1200150"/>
                </a:lnTo>
                <a:close/>
              </a:path>
              <a:path w="19685" h="2476500">
                <a:moveTo>
                  <a:pt x="14786" y="1066800"/>
                </a:moveTo>
                <a:lnTo>
                  <a:pt x="4265" y="1066800"/>
                </a:lnTo>
                <a:lnTo>
                  <a:pt x="1" y="1071063"/>
                </a:lnTo>
                <a:lnTo>
                  <a:pt x="1" y="1138735"/>
                </a:lnTo>
                <a:lnTo>
                  <a:pt x="4265" y="1143000"/>
                </a:lnTo>
                <a:lnTo>
                  <a:pt x="14786" y="1143000"/>
                </a:lnTo>
                <a:lnTo>
                  <a:pt x="19051" y="1138735"/>
                </a:lnTo>
                <a:lnTo>
                  <a:pt x="19051" y="1071063"/>
                </a:lnTo>
                <a:lnTo>
                  <a:pt x="14786" y="1066800"/>
                </a:lnTo>
                <a:close/>
              </a:path>
              <a:path w="19685" h="2476500">
                <a:moveTo>
                  <a:pt x="14786" y="933450"/>
                </a:moveTo>
                <a:lnTo>
                  <a:pt x="4265" y="933450"/>
                </a:lnTo>
                <a:lnTo>
                  <a:pt x="1" y="937713"/>
                </a:lnTo>
                <a:lnTo>
                  <a:pt x="1" y="1005385"/>
                </a:lnTo>
                <a:lnTo>
                  <a:pt x="4265" y="1009650"/>
                </a:lnTo>
                <a:lnTo>
                  <a:pt x="14786" y="1009650"/>
                </a:lnTo>
                <a:lnTo>
                  <a:pt x="19051" y="1005385"/>
                </a:lnTo>
                <a:lnTo>
                  <a:pt x="19051" y="937713"/>
                </a:lnTo>
                <a:lnTo>
                  <a:pt x="14786" y="933450"/>
                </a:lnTo>
                <a:close/>
              </a:path>
              <a:path w="19685" h="2476500">
                <a:moveTo>
                  <a:pt x="14786" y="800100"/>
                </a:moveTo>
                <a:lnTo>
                  <a:pt x="4265" y="800100"/>
                </a:lnTo>
                <a:lnTo>
                  <a:pt x="1" y="804363"/>
                </a:lnTo>
                <a:lnTo>
                  <a:pt x="1" y="872035"/>
                </a:lnTo>
                <a:lnTo>
                  <a:pt x="4265" y="876300"/>
                </a:lnTo>
                <a:lnTo>
                  <a:pt x="14786" y="876300"/>
                </a:lnTo>
                <a:lnTo>
                  <a:pt x="19051" y="872035"/>
                </a:lnTo>
                <a:lnTo>
                  <a:pt x="19051" y="804363"/>
                </a:lnTo>
                <a:lnTo>
                  <a:pt x="14786" y="800100"/>
                </a:lnTo>
                <a:close/>
              </a:path>
              <a:path w="19685" h="2476500">
                <a:moveTo>
                  <a:pt x="14786" y="666750"/>
                </a:moveTo>
                <a:lnTo>
                  <a:pt x="4265" y="666750"/>
                </a:lnTo>
                <a:lnTo>
                  <a:pt x="1" y="671013"/>
                </a:lnTo>
                <a:lnTo>
                  <a:pt x="1" y="738685"/>
                </a:lnTo>
                <a:lnTo>
                  <a:pt x="4265" y="742950"/>
                </a:lnTo>
                <a:lnTo>
                  <a:pt x="14786" y="742950"/>
                </a:lnTo>
                <a:lnTo>
                  <a:pt x="19051" y="738685"/>
                </a:lnTo>
                <a:lnTo>
                  <a:pt x="19051" y="671013"/>
                </a:lnTo>
                <a:lnTo>
                  <a:pt x="14786" y="666750"/>
                </a:lnTo>
                <a:close/>
              </a:path>
              <a:path w="19685" h="2476500">
                <a:moveTo>
                  <a:pt x="14786" y="533400"/>
                </a:moveTo>
                <a:lnTo>
                  <a:pt x="4265" y="533400"/>
                </a:lnTo>
                <a:lnTo>
                  <a:pt x="1" y="537663"/>
                </a:lnTo>
                <a:lnTo>
                  <a:pt x="1" y="605335"/>
                </a:lnTo>
                <a:lnTo>
                  <a:pt x="4265" y="609600"/>
                </a:lnTo>
                <a:lnTo>
                  <a:pt x="14786" y="609600"/>
                </a:lnTo>
                <a:lnTo>
                  <a:pt x="19051" y="605335"/>
                </a:lnTo>
                <a:lnTo>
                  <a:pt x="19051" y="537663"/>
                </a:lnTo>
                <a:lnTo>
                  <a:pt x="14786" y="533400"/>
                </a:lnTo>
                <a:close/>
              </a:path>
              <a:path w="19685" h="2476500">
                <a:moveTo>
                  <a:pt x="14786" y="400050"/>
                </a:moveTo>
                <a:lnTo>
                  <a:pt x="4265" y="400050"/>
                </a:lnTo>
                <a:lnTo>
                  <a:pt x="1" y="404313"/>
                </a:lnTo>
                <a:lnTo>
                  <a:pt x="1" y="471985"/>
                </a:lnTo>
                <a:lnTo>
                  <a:pt x="4265" y="476250"/>
                </a:lnTo>
                <a:lnTo>
                  <a:pt x="14786" y="476250"/>
                </a:lnTo>
                <a:lnTo>
                  <a:pt x="19051" y="471985"/>
                </a:lnTo>
                <a:lnTo>
                  <a:pt x="19051" y="404313"/>
                </a:lnTo>
                <a:lnTo>
                  <a:pt x="14786" y="400050"/>
                </a:lnTo>
                <a:close/>
              </a:path>
              <a:path w="19685" h="2476500">
                <a:moveTo>
                  <a:pt x="14786" y="266700"/>
                </a:moveTo>
                <a:lnTo>
                  <a:pt x="4265" y="266700"/>
                </a:lnTo>
                <a:lnTo>
                  <a:pt x="1" y="270963"/>
                </a:lnTo>
                <a:lnTo>
                  <a:pt x="1" y="338635"/>
                </a:lnTo>
                <a:lnTo>
                  <a:pt x="4265" y="342900"/>
                </a:lnTo>
                <a:lnTo>
                  <a:pt x="14786" y="342900"/>
                </a:lnTo>
                <a:lnTo>
                  <a:pt x="19051" y="338635"/>
                </a:lnTo>
                <a:lnTo>
                  <a:pt x="19051" y="270963"/>
                </a:lnTo>
                <a:lnTo>
                  <a:pt x="14786" y="266700"/>
                </a:lnTo>
                <a:close/>
              </a:path>
              <a:path w="19685" h="2476500">
                <a:moveTo>
                  <a:pt x="14786" y="133350"/>
                </a:moveTo>
                <a:lnTo>
                  <a:pt x="4265" y="133350"/>
                </a:lnTo>
                <a:lnTo>
                  <a:pt x="1" y="137613"/>
                </a:lnTo>
                <a:lnTo>
                  <a:pt x="1" y="205285"/>
                </a:lnTo>
                <a:lnTo>
                  <a:pt x="4265" y="209550"/>
                </a:lnTo>
                <a:lnTo>
                  <a:pt x="14786" y="209550"/>
                </a:lnTo>
                <a:lnTo>
                  <a:pt x="19051" y="205285"/>
                </a:lnTo>
                <a:lnTo>
                  <a:pt x="19051" y="137613"/>
                </a:lnTo>
                <a:lnTo>
                  <a:pt x="14786" y="133350"/>
                </a:lnTo>
                <a:close/>
              </a:path>
              <a:path w="19685" h="2476500">
                <a:moveTo>
                  <a:pt x="14786" y="0"/>
                </a:moveTo>
                <a:lnTo>
                  <a:pt x="4265" y="0"/>
                </a:lnTo>
                <a:lnTo>
                  <a:pt x="1" y="4263"/>
                </a:lnTo>
                <a:lnTo>
                  <a:pt x="1" y="71935"/>
                </a:lnTo>
                <a:lnTo>
                  <a:pt x="4265" y="76200"/>
                </a:lnTo>
                <a:lnTo>
                  <a:pt x="14786" y="76200"/>
                </a:lnTo>
                <a:lnTo>
                  <a:pt x="19051" y="71935"/>
                </a:lnTo>
                <a:lnTo>
                  <a:pt x="19051" y="4263"/>
                </a:lnTo>
                <a:lnTo>
                  <a:pt x="14786" y="0"/>
                </a:lnTo>
                <a:close/>
              </a:path>
            </a:pathLst>
          </a:custGeom>
          <a:solidFill>
            <a:srgbClr val="64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616764" y="3443267"/>
            <a:ext cx="2802890" cy="2712085"/>
          </a:xfrm>
          <a:custGeom>
            <a:avLst/>
            <a:gdLst/>
            <a:ahLst/>
            <a:cxnLst/>
            <a:rect l="l" t="t" r="r" b="b"/>
            <a:pathLst>
              <a:path w="2802890" h="2712085">
                <a:moveTo>
                  <a:pt x="0" y="0"/>
                </a:moveTo>
                <a:lnTo>
                  <a:pt x="2802641" y="0"/>
                </a:lnTo>
                <a:lnTo>
                  <a:pt x="2802641" y="2711629"/>
                </a:lnTo>
                <a:lnTo>
                  <a:pt x="0" y="2711629"/>
                </a:lnTo>
                <a:lnTo>
                  <a:pt x="0" y="0"/>
                </a:lnTo>
                <a:close/>
              </a:path>
            </a:pathLst>
          </a:custGeom>
          <a:solidFill>
            <a:srgbClr val="640000">
              <a:alpha val="301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4938767" y="5558028"/>
            <a:ext cx="335216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008000"/>
                </a:solidFill>
                <a:latin typeface="Arial"/>
                <a:cs typeface="Arial"/>
              </a:rPr>
              <a:t>Initially, </a:t>
            </a:r>
            <a:r>
              <a:rPr dirty="0" sz="2000" spc="-5" b="1">
                <a:solidFill>
                  <a:srgbClr val="008000"/>
                </a:solidFill>
                <a:latin typeface="Arial"/>
                <a:cs typeface="Arial"/>
              </a:rPr>
              <a:t>all neighborhoods  contain the trivial</a:t>
            </a:r>
            <a:r>
              <a:rPr dirty="0" sz="2000" spc="-5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008000"/>
                </a:solidFill>
                <a:latin typeface="Arial"/>
                <a:cs typeface="Arial"/>
              </a:rPr>
              <a:t>subgraph</a:t>
            </a:r>
            <a:endParaRPr sz="20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406004" y="3551862"/>
            <a:ext cx="1522730" cy="849630"/>
          </a:xfrm>
          <a:custGeom>
            <a:avLst/>
            <a:gdLst/>
            <a:ahLst/>
            <a:cxnLst/>
            <a:rect l="l" t="t" r="r" b="b"/>
            <a:pathLst>
              <a:path w="1522730" h="849629">
                <a:moveTo>
                  <a:pt x="0" y="0"/>
                </a:moveTo>
                <a:lnTo>
                  <a:pt x="1522307" y="0"/>
                </a:lnTo>
                <a:lnTo>
                  <a:pt x="1522307" y="849572"/>
                </a:lnTo>
                <a:lnTo>
                  <a:pt x="0" y="84957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382003" y="3527861"/>
            <a:ext cx="1570355" cy="897890"/>
          </a:xfrm>
          <a:custGeom>
            <a:avLst/>
            <a:gdLst/>
            <a:ahLst/>
            <a:cxnLst/>
            <a:rect l="l" t="t" r="r" b="b"/>
            <a:pathLst>
              <a:path w="1570355" h="897889">
                <a:moveTo>
                  <a:pt x="1546307" y="0"/>
                </a:moveTo>
                <a:lnTo>
                  <a:pt x="24000" y="0"/>
                </a:lnTo>
                <a:lnTo>
                  <a:pt x="14658" y="1886"/>
                </a:lnTo>
                <a:lnTo>
                  <a:pt x="7029" y="7029"/>
                </a:lnTo>
                <a:lnTo>
                  <a:pt x="1886" y="14658"/>
                </a:lnTo>
                <a:lnTo>
                  <a:pt x="0" y="24000"/>
                </a:lnTo>
                <a:lnTo>
                  <a:pt x="0" y="873573"/>
                </a:lnTo>
                <a:lnTo>
                  <a:pt x="1886" y="882915"/>
                </a:lnTo>
                <a:lnTo>
                  <a:pt x="7029" y="890543"/>
                </a:lnTo>
                <a:lnTo>
                  <a:pt x="14658" y="895686"/>
                </a:lnTo>
                <a:lnTo>
                  <a:pt x="24000" y="897572"/>
                </a:lnTo>
                <a:lnTo>
                  <a:pt x="1546307" y="897572"/>
                </a:lnTo>
                <a:lnTo>
                  <a:pt x="1555649" y="895686"/>
                </a:lnTo>
                <a:lnTo>
                  <a:pt x="1563278" y="890543"/>
                </a:lnTo>
                <a:lnTo>
                  <a:pt x="1568421" y="882915"/>
                </a:lnTo>
                <a:lnTo>
                  <a:pt x="1570308" y="873573"/>
                </a:lnTo>
                <a:lnTo>
                  <a:pt x="1570308" y="868772"/>
                </a:lnTo>
                <a:lnTo>
                  <a:pt x="28799" y="868772"/>
                </a:lnTo>
                <a:lnTo>
                  <a:pt x="28799" y="28799"/>
                </a:lnTo>
                <a:lnTo>
                  <a:pt x="1570308" y="28799"/>
                </a:lnTo>
                <a:lnTo>
                  <a:pt x="1570308" y="24000"/>
                </a:lnTo>
                <a:lnTo>
                  <a:pt x="1568421" y="14658"/>
                </a:lnTo>
                <a:lnTo>
                  <a:pt x="1563278" y="7029"/>
                </a:lnTo>
                <a:lnTo>
                  <a:pt x="1555649" y="1886"/>
                </a:lnTo>
                <a:lnTo>
                  <a:pt x="1546307" y="0"/>
                </a:lnTo>
                <a:close/>
              </a:path>
              <a:path w="1570355" h="897889">
                <a:moveTo>
                  <a:pt x="1570308" y="28799"/>
                </a:moveTo>
                <a:lnTo>
                  <a:pt x="1541508" y="28799"/>
                </a:lnTo>
                <a:lnTo>
                  <a:pt x="1541508" y="868772"/>
                </a:lnTo>
                <a:lnTo>
                  <a:pt x="1570308" y="868772"/>
                </a:lnTo>
                <a:lnTo>
                  <a:pt x="1570308" y="28799"/>
                </a:lnTo>
                <a:close/>
              </a:path>
              <a:path w="1570355" h="897889">
                <a:moveTo>
                  <a:pt x="1531908" y="38399"/>
                </a:moveTo>
                <a:lnTo>
                  <a:pt x="38399" y="38399"/>
                </a:lnTo>
                <a:lnTo>
                  <a:pt x="38399" y="859172"/>
                </a:lnTo>
                <a:lnTo>
                  <a:pt x="1531908" y="859172"/>
                </a:lnTo>
                <a:lnTo>
                  <a:pt x="1531908" y="849572"/>
                </a:lnTo>
                <a:lnTo>
                  <a:pt x="47999" y="849572"/>
                </a:lnTo>
                <a:lnTo>
                  <a:pt x="47999" y="47999"/>
                </a:lnTo>
                <a:lnTo>
                  <a:pt x="1531908" y="47999"/>
                </a:lnTo>
                <a:lnTo>
                  <a:pt x="1531908" y="38399"/>
                </a:lnTo>
                <a:close/>
              </a:path>
              <a:path w="1570355" h="897889">
                <a:moveTo>
                  <a:pt x="1531908" y="47999"/>
                </a:moveTo>
                <a:lnTo>
                  <a:pt x="1522308" y="47999"/>
                </a:lnTo>
                <a:lnTo>
                  <a:pt x="1522308" y="849572"/>
                </a:lnTo>
                <a:lnTo>
                  <a:pt x="1531908" y="849572"/>
                </a:lnTo>
                <a:lnTo>
                  <a:pt x="1531908" y="47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1287844" y="2900172"/>
            <a:ext cx="3096895" cy="1473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45" b="1">
                <a:latin typeface="Arial"/>
                <a:cs typeface="Arial"/>
              </a:rPr>
              <a:t>Walk </a:t>
            </a:r>
            <a:r>
              <a:rPr dirty="0" sz="2000" spc="-10" b="1">
                <a:latin typeface="Arial"/>
                <a:cs typeface="Arial"/>
              </a:rPr>
              <a:t>in </a:t>
            </a:r>
            <a:r>
              <a:rPr dirty="0" sz="2000" spc="-30" b="1">
                <a:latin typeface="Arial"/>
                <a:cs typeface="Arial"/>
              </a:rPr>
              <a:t>Embedding</a:t>
            </a:r>
            <a:r>
              <a:rPr dirty="0" sz="2000" spc="-170" b="1">
                <a:latin typeface="Arial"/>
                <a:cs typeface="Arial"/>
              </a:rPr>
              <a:t> </a:t>
            </a:r>
            <a:r>
              <a:rPr dirty="0" sz="2000" spc="-30" b="1">
                <a:latin typeface="Arial"/>
                <a:cs typeface="Arial"/>
              </a:rPr>
              <a:t>Space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00">
              <a:latin typeface="Times New Roman"/>
              <a:cs typeface="Times New Roman"/>
            </a:endParaRPr>
          </a:p>
          <a:p>
            <a:pPr marL="393065" marR="1615440">
              <a:lnSpc>
                <a:spcPts val="1580"/>
              </a:lnSpc>
            </a:pPr>
            <a:r>
              <a:rPr dirty="0" sz="1400" spc="-40">
                <a:latin typeface="Arial"/>
                <a:cs typeface="Arial"/>
              </a:rPr>
              <a:t>N</a:t>
            </a:r>
            <a:r>
              <a:rPr dirty="0" sz="1400" spc="-30">
                <a:latin typeface="Arial"/>
                <a:cs typeface="Arial"/>
              </a:rPr>
              <a:t>e</a:t>
            </a:r>
            <a:r>
              <a:rPr dirty="0" sz="1400" spc="-15">
                <a:latin typeface="Arial"/>
                <a:cs typeface="Arial"/>
              </a:rPr>
              <a:t>i</a:t>
            </a:r>
            <a:r>
              <a:rPr dirty="0" sz="1400" spc="-30">
                <a:latin typeface="Arial"/>
                <a:cs typeface="Arial"/>
              </a:rPr>
              <a:t>ghbo</a:t>
            </a:r>
            <a:r>
              <a:rPr dirty="0" sz="1400" spc="-20">
                <a:latin typeface="Arial"/>
                <a:cs typeface="Arial"/>
              </a:rPr>
              <a:t>r</a:t>
            </a:r>
            <a:r>
              <a:rPr dirty="0" sz="1400" spc="-30">
                <a:latin typeface="Arial"/>
                <a:cs typeface="Arial"/>
              </a:rPr>
              <a:t>hoo</a:t>
            </a:r>
            <a:r>
              <a:rPr dirty="0" sz="1400">
                <a:latin typeface="Arial"/>
                <a:cs typeface="Arial"/>
              </a:rPr>
              <a:t>d  </a:t>
            </a:r>
            <a:r>
              <a:rPr dirty="0" sz="1400" spc="-30">
                <a:latin typeface="Arial"/>
                <a:cs typeface="Arial"/>
              </a:rPr>
              <a:t>embeddings</a:t>
            </a:r>
            <a:endParaRPr sz="1400">
              <a:latin typeface="Arial"/>
              <a:cs typeface="Arial"/>
            </a:endParaRPr>
          </a:p>
          <a:p>
            <a:pPr marL="393065">
              <a:lnSpc>
                <a:spcPct val="100000"/>
              </a:lnSpc>
              <a:spcBef>
                <a:spcPts val="894"/>
              </a:spcBef>
            </a:pPr>
            <a:r>
              <a:rPr dirty="0" sz="1400" spc="-25">
                <a:latin typeface="Arial"/>
                <a:cs typeface="Arial"/>
              </a:rPr>
              <a:t>Motif</a:t>
            </a:r>
            <a:r>
              <a:rPr dirty="0" sz="1400" spc="-9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walk</a:t>
            </a:r>
            <a:endParaRPr sz="14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477557" y="4150810"/>
            <a:ext cx="139700" cy="151130"/>
          </a:xfrm>
          <a:custGeom>
            <a:avLst/>
            <a:gdLst/>
            <a:ahLst/>
            <a:cxnLst/>
            <a:rect l="l" t="t" r="r" b="b"/>
            <a:pathLst>
              <a:path w="139700" h="151129">
                <a:moveTo>
                  <a:pt x="69603" y="0"/>
                </a:moveTo>
                <a:lnTo>
                  <a:pt x="42511" y="5928"/>
                </a:lnTo>
                <a:lnTo>
                  <a:pt x="20386" y="22097"/>
                </a:lnTo>
                <a:lnTo>
                  <a:pt x="5469" y="46078"/>
                </a:lnTo>
                <a:lnTo>
                  <a:pt x="0" y="75445"/>
                </a:lnTo>
                <a:lnTo>
                  <a:pt x="5469" y="104812"/>
                </a:lnTo>
                <a:lnTo>
                  <a:pt x="20386" y="128794"/>
                </a:lnTo>
                <a:lnTo>
                  <a:pt x="42511" y="144963"/>
                </a:lnTo>
                <a:lnTo>
                  <a:pt x="69603" y="150892"/>
                </a:lnTo>
                <a:lnTo>
                  <a:pt x="96696" y="144963"/>
                </a:lnTo>
                <a:lnTo>
                  <a:pt x="118821" y="128794"/>
                </a:lnTo>
                <a:lnTo>
                  <a:pt x="133737" y="104812"/>
                </a:lnTo>
                <a:lnTo>
                  <a:pt x="139207" y="75445"/>
                </a:lnTo>
                <a:lnTo>
                  <a:pt x="133737" y="46078"/>
                </a:lnTo>
                <a:lnTo>
                  <a:pt x="118821" y="22097"/>
                </a:lnTo>
                <a:lnTo>
                  <a:pt x="96696" y="5928"/>
                </a:lnTo>
                <a:lnTo>
                  <a:pt x="6960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463249" y="4136495"/>
            <a:ext cx="168275" cy="179705"/>
          </a:xfrm>
          <a:custGeom>
            <a:avLst/>
            <a:gdLst/>
            <a:ahLst/>
            <a:cxnLst/>
            <a:rect l="l" t="t" r="r" b="b"/>
            <a:pathLst>
              <a:path w="168275" h="179704">
                <a:moveTo>
                  <a:pt x="84432" y="0"/>
                </a:moveTo>
                <a:lnTo>
                  <a:pt x="83392" y="0"/>
                </a:lnTo>
                <a:lnTo>
                  <a:pt x="67309" y="1756"/>
                </a:lnTo>
                <a:lnTo>
                  <a:pt x="24493" y="26369"/>
                </a:lnTo>
                <a:lnTo>
                  <a:pt x="1742" y="71475"/>
                </a:lnTo>
                <a:lnTo>
                  <a:pt x="0" y="89317"/>
                </a:lnTo>
                <a:lnTo>
                  <a:pt x="82" y="91084"/>
                </a:lnTo>
                <a:lnTo>
                  <a:pt x="13817" y="139136"/>
                </a:lnTo>
                <a:lnTo>
                  <a:pt x="50425" y="172093"/>
                </a:lnTo>
                <a:lnTo>
                  <a:pt x="83390" y="179523"/>
                </a:lnTo>
                <a:lnTo>
                  <a:pt x="84432" y="179523"/>
                </a:lnTo>
                <a:lnTo>
                  <a:pt x="130884" y="164158"/>
                </a:lnTo>
                <a:lnTo>
                  <a:pt x="133066" y="162332"/>
                </a:lnTo>
                <a:lnTo>
                  <a:pt x="83911" y="162332"/>
                </a:lnTo>
                <a:lnTo>
                  <a:pt x="70502" y="160867"/>
                </a:lnTo>
                <a:lnTo>
                  <a:pt x="36803" y="141161"/>
                </a:lnTo>
                <a:lnTo>
                  <a:pt x="18543" y="104435"/>
                </a:lnTo>
                <a:lnTo>
                  <a:pt x="17219" y="89317"/>
                </a:lnTo>
                <a:lnTo>
                  <a:pt x="18543" y="75086"/>
                </a:lnTo>
                <a:lnTo>
                  <a:pt x="36803" y="38360"/>
                </a:lnTo>
                <a:lnTo>
                  <a:pt x="70502" y="18655"/>
                </a:lnTo>
                <a:lnTo>
                  <a:pt x="83911" y="17189"/>
                </a:lnTo>
                <a:lnTo>
                  <a:pt x="133066" y="17189"/>
                </a:lnTo>
                <a:lnTo>
                  <a:pt x="131649" y="15921"/>
                </a:lnTo>
                <a:lnTo>
                  <a:pt x="100514" y="1756"/>
                </a:lnTo>
                <a:lnTo>
                  <a:pt x="84432" y="0"/>
                </a:lnTo>
                <a:close/>
              </a:path>
              <a:path w="168275" h="179704">
                <a:moveTo>
                  <a:pt x="133066" y="17189"/>
                </a:moveTo>
                <a:lnTo>
                  <a:pt x="83911" y="17189"/>
                </a:lnTo>
                <a:lnTo>
                  <a:pt x="97321" y="18655"/>
                </a:lnTo>
                <a:lnTo>
                  <a:pt x="109811" y="22857"/>
                </a:lnTo>
                <a:lnTo>
                  <a:pt x="139193" y="49096"/>
                </a:lnTo>
                <a:lnTo>
                  <a:pt x="150604" y="89317"/>
                </a:lnTo>
                <a:lnTo>
                  <a:pt x="150523" y="91084"/>
                </a:lnTo>
                <a:lnTo>
                  <a:pt x="139193" y="130425"/>
                </a:lnTo>
                <a:lnTo>
                  <a:pt x="109811" y="156664"/>
                </a:lnTo>
                <a:lnTo>
                  <a:pt x="83911" y="162332"/>
                </a:lnTo>
                <a:lnTo>
                  <a:pt x="133066" y="162332"/>
                </a:lnTo>
                <a:lnTo>
                  <a:pt x="161216" y="124735"/>
                </a:lnTo>
                <a:lnTo>
                  <a:pt x="167822" y="89317"/>
                </a:lnTo>
                <a:lnTo>
                  <a:pt x="166245" y="72349"/>
                </a:lnTo>
                <a:lnTo>
                  <a:pt x="143948" y="27037"/>
                </a:lnTo>
                <a:lnTo>
                  <a:pt x="143330" y="26369"/>
                </a:lnTo>
                <a:lnTo>
                  <a:pt x="133066" y="17189"/>
                </a:lnTo>
                <a:close/>
              </a:path>
              <a:path w="168275" h="179704">
                <a:moveTo>
                  <a:pt x="83911" y="22938"/>
                </a:moveTo>
                <a:lnTo>
                  <a:pt x="41019" y="42256"/>
                </a:lnTo>
                <a:lnTo>
                  <a:pt x="22959" y="89317"/>
                </a:lnTo>
                <a:lnTo>
                  <a:pt x="23041" y="91084"/>
                </a:lnTo>
                <a:lnTo>
                  <a:pt x="41019" y="137265"/>
                </a:lnTo>
                <a:lnTo>
                  <a:pt x="83911" y="156583"/>
                </a:lnTo>
                <a:lnTo>
                  <a:pt x="96085" y="155253"/>
                </a:lnTo>
                <a:lnTo>
                  <a:pt x="107425" y="151437"/>
                </a:lnTo>
                <a:lnTo>
                  <a:pt x="108448" y="150835"/>
                </a:lnTo>
                <a:lnTo>
                  <a:pt x="83911" y="150835"/>
                </a:lnTo>
                <a:lnTo>
                  <a:pt x="72974" y="149639"/>
                </a:lnTo>
                <a:lnTo>
                  <a:pt x="38373" y="124353"/>
                </a:lnTo>
                <a:lnTo>
                  <a:pt x="28698" y="89317"/>
                </a:lnTo>
                <a:lnTo>
                  <a:pt x="29824" y="77207"/>
                </a:lnTo>
                <a:lnTo>
                  <a:pt x="53463" y="38795"/>
                </a:lnTo>
                <a:lnTo>
                  <a:pt x="83911" y="28688"/>
                </a:lnTo>
                <a:lnTo>
                  <a:pt x="108450" y="28688"/>
                </a:lnTo>
                <a:lnTo>
                  <a:pt x="107425" y="28084"/>
                </a:lnTo>
                <a:lnTo>
                  <a:pt x="96085" y="24268"/>
                </a:lnTo>
                <a:lnTo>
                  <a:pt x="83911" y="22938"/>
                </a:lnTo>
                <a:close/>
              </a:path>
              <a:path w="168275" h="179704">
                <a:moveTo>
                  <a:pt x="108450" y="28688"/>
                </a:moveTo>
                <a:lnTo>
                  <a:pt x="83911" y="28688"/>
                </a:lnTo>
                <a:lnTo>
                  <a:pt x="94849" y="29883"/>
                </a:lnTo>
                <a:lnTo>
                  <a:pt x="105040" y="33312"/>
                </a:lnTo>
                <a:lnTo>
                  <a:pt x="134675" y="65604"/>
                </a:lnTo>
                <a:lnTo>
                  <a:pt x="139125" y="89317"/>
                </a:lnTo>
                <a:lnTo>
                  <a:pt x="139043" y="91084"/>
                </a:lnTo>
                <a:lnTo>
                  <a:pt x="122586" y="133370"/>
                </a:lnTo>
                <a:lnTo>
                  <a:pt x="83911" y="150835"/>
                </a:lnTo>
                <a:lnTo>
                  <a:pt x="108448" y="150835"/>
                </a:lnTo>
                <a:lnTo>
                  <a:pt x="140023" y="116001"/>
                </a:lnTo>
                <a:lnTo>
                  <a:pt x="144864" y="89317"/>
                </a:lnTo>
                <a:lnTo>
                  <a:pt x="143639" y="76146"/>
                </a:lnTo>
                <a:lnTo>
                  <a:pt x="140023" y="63520"/>
                </a:lnTo>
                <a:lnTo>
                  <a:pt x="134321" y="52133"/>
                </a:lnTo>
                <a:lnTo>
                  <a:pt x="126804" y="42256"/>
                </a:lnTo>
                <a:lnTo>
                  <a:pt x="117748" y="34157"/>
                </a:lnTo>
                <a:lnTo>
                  <a:pt x="108450" y="28688"/>
                </a:lnTo>
                <a:close/>
              </a:path>
            </a:pathLst>
          </a:custGeom>
          <a:solidFill>
            <a:srgbClr val="64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471166" y="3703449"/>
            <a:ext cx="160655" cy="164465"/>
          </a:xfrm>
          <a:custGeom>
            <a:avLst/>
            <a:gdLst/>
            <a:ahLst/>
            <a:cxnLst/>
            <a:rect l="l" t="t" r="r" b="b"/>
            <a:pathLst>
              <a:path w="160655" h="164464">
                <a:moveTo>
                  <a:pt x="80041" y="0"/>
                </a:moveTo>
                <a:lnTo>
                  <a:pt x="48885" y="6454"/>
                </a:lnTo>
                <a:lnTo>
                  <a:pt x="23443" y="24058"/>
                </a:lnTo>
                <a:lnTo>
                  <a:pt x="6290" y="50167"/>
                </a:lnTo>
                <a:lnTo>
                  <a:pt x="0" y="82141"/>
                </a:lnTo>
                <a:lnTo>
                  <a:pt x="6290" y="114114"/>
                </a:lnTo>
                <a:lnTo>
                  <a:pt x="23443" y="140223"/>
                </a:lnTo>
                <a:lnTo>
                  <a:pt x="48885" y="157827"/>
                </a:lnTo>
                <a:lnTo>
                  <a:pt x="80041" y="164282"/>
                </a:lnTo>
                <a:lnTo>
                  <a:pt x="111197" y="157827"/>
                </a:lnTo>
                <a:lnTo>
                  <a:pt x="136638" y="140223"/>
                </a:lnTo>
                <a:lnTo>
                  <a:pt x="153792" y="114114"/>
                </a:lnTo>
                <a:lnTo>
                  <a:pt x="160082" y="82141"/>
                </a:lnTo>
                <a:lnTo>
                  <a:pt x="153792" y="50167"/>
                </a:lnTo>
                <a:lnTo>
                  <a:pt x="136638" y="24058"/>
                </a:lnTo>
                <a:lnTo>
                  <a:pt x="111197" y="6454"/>
                </a:lnTo>
                <a:lnTo>
                  <a:pt x="80041" y="0"/>
                </a:lnTo>
                <a:close/>
              </a:path>
            </a:pathLst>
          </a:custGeom>
          <a:solidFill>
            <a:srgbClr val="1F77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63</a:t>
            </a:fld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7245096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363" y="1347723"/>
            <a:ext cx="7315200" cy="130302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600"/>
              </a:lnSpc>
              <a:spcBef>
                <a:spcPts val="110"/>
              </a:spcBef>
            </a:pP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Iteratively</a:t>
            </a:r>
            <a:r>
              <a:rPr dirty="0" sz="2800" spc="-15"/>
              <a:t>: </a:t>
            </a:r>
            <a:r>
              <a:rPr dirty="0" sz="2800" spc="-20"/>
              <a:t>Grow </a:t>
            </a:r>
            <a:r>
              <a:rPr dirty="0" sz="2800"/>
              <a:t>a </a:t>
            </a:r>
            <a:r>
              <a:rPr dirty="0" sz="2800" spc="-5"/>
              <a:t>motif by </a:t>
            </a:r>
            <a:r>
              <a:rPr dirty="0" sz="2800" spc="-20"/>
              <a:t>iteratively </a:t>
            </a:r>
            <a:r>
              <a:rPr dirty="0" sz="2800" spc="-5"/>
              <a:t>choosing </a:t>
            </a:r>
            <a:r>
              <a:rPr dirty="0" sz="2800"/>
              <a:t>a  </a:t>
            </a:r>
            <a:r>
              <a:rPr dirty="0" sz="2800" spc="-5"/>
              <a:t>neighbor of </a:t>
            </a:r>
            <a:r>
              <a:rPr dirty="0" sz="2800"/>
              <a:t>a </a:t>
            </a:r>
            <a:r>
              <a:rPr dirty="0" sz="2800" spc="-5"/>
              <a:t>node in </a:t>
            </a:r>
            <a:r>
              <a:rPr dirty="0" sz="2800" spc="25">
                <a:latin typeface="Cambria Math"/>
                <a:cs typeface="Cambria Math"/>
              </a:rPr>
              <a:t>𝑆</a:t>
            </a:r>
            <a:r>
              <a:rPr dirty="0" sz="2800" spc="25"/>
              <a:t>, </a:t>
            </a:r>
            <a:r>
              <a:rPr dirty="0" sz="2800" spc="-5"/>
              <a:t>and adding </a:t>
            </a:r>
            <a:r>
              <a:rPr dirty="0" sz="2800" spc="-10"/>
              <a:t>that </a:t>
            </a:r>
            <a:r>
              <a:rPr dirty="0" sz="2800" spc="-5"/>
              <a:t>node </a:t>
            </a:r>
            <a:r>
              <a:rPr dirty="0" sz="2800" spc="-15"/>
              <a:t>to </a:t>
            </a:r>
            <a:r>
              <a:rPr dirty="0" sz="2800">
                <a:latin typeface="Cambria Math"/>
                <a:cs typeface="Cambria Math"/>
              </a:rPr>
              <a:t>𝑆  </a:t>
            </a:r>
            <a:r>
              <a:rPr dirty="0" sz="2800" spc="-55"/>
              <a:t>We </a:t>
            </a:r>
            <a:r>
              <a:rPr dirty="0" sz="2800" spc="-20"/>
              <a:t>want </a:t>
            </a:r>
            <a:r>
              <a:rPr dirty="0" sz="2800" spc="-15"/>
              <a:t>to </a:t>
            </a:r>
            <a:r>
              <a:rPr dirty="0" sz="2800" spc="-20"/>
              <a:t>grow </a:t>
            </a:r>
            <a:r>
              <a:rPr dirty="0" sz="2800" spc="-15"/>
              <a:t>motifs to </a:t>
            </a:r>
            <a:r>
              <a:rPr dirty="0" sz="2800" spc="-5"/>
              <a:t>find </a:t>
            </a:r>
            <a:r>
              <a:rPr dirty="0" sz="2800" spc="-15" b="1">
                <a:latin typeface="Calibri"/>
                <a:cs typeface="Calibri"/>
              </a:rPr>
              <a:t>larger</a:t>
            </a:r>
            <a:r>
              <a:rPr dirty="0" sz="2800" spc="150" b="1">
                <a:latin typeface="Calibri"/>
                <a:cs typeface="Calibri"/>
              </a:rPr>
              <a:t> </a:t>
            </a:r>
            <a:r>
              <a:rPr dirty="0" sz="2800" spc="-10"/>
              <a:t>motifs!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16678" y="6243201"/>
            <a:ext cx="304609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35"/>
              </a:lnSpc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Frequent Subgraph 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Mining by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Walking 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in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Order Embedding</a:t>
            </a:r>
            <a:r>
              <a:rPr dirty="0" sz="900" spc="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Space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36959" y="5505232"/>
            <a:ext cx="3561079" cy="1108075"/>
          </a:xfrm>
          <a:custGeom>
            <a:avLst/>
            <a:gdLst/>
            <a:ahLst/>
            <a:cxnLst/>
            <a:rect l="l" t="t" r="r" b="b"/>
            <a:pathLst>
              <a:path w="3561079" h="1108075">
                <a:moveTo>
                  <a:pt x="0" y="0"/>
                </a:moveTo>
                <a:lnTo>
                  <a:pt x="3560846" y="0"/>
                </a:lnTo>
                <a:lnTo>
                  <a:pt x="3560846" y="1107996"/>
                </a:lnTo>
                <a:lnTo>
                  <a:pt x="0" y="1107996"/>
                </a:lnTo>
                <a:lnTo>
                  <a:pt x="0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136959" y="5505232"/>
            <a:ext cx="3561079" cy="1108075"/>
          </a:xfrm>
          <a:prstGeom prst="rect">
            <a:avLst/>
          </a:prstGeom>
          <a:ln w="9525">
            <a:solidFill>
              <a:srgbClr val="F0AD00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 marL="86360" marR="106045">
              <a:lnSpc>
                <a:spcPts val="2590"/>
              </a:lnSpc>
              <a:spcBef>
                <a:spcPts val="355"/>
              </a:spcBef>
            </a:pPr>
            <a:r>
              <a:rPr dirty="0" sz="2200" spc="-5" b="1">
                <a:solidFill>
                  <a:srgbClr val="FFFFFF"/>
                </a:solidFill>
                <a:latin typeface="Corbel"/>
                <a:cs typeface="Corbel"/>
              </a:rPr>
              <a:t>Goal</a:t>
            </a:r>
            <a:r>
              <a:rPr dirty="0" sz="2200" spc="-5">
                <a:solidFill>
                  <a:srgbClr val="FFFFFF"/>
                </a:solidFill>
                <a:latin typeface="Corbel"/>
                <a:cs typeface="Corbel"/>
              </a:rPr>
              <a:t>: maximize number </a:t>
            </a:r>
            <a:r>
              <a:rPr dirty="0" sz="2200">
                <a:solidFill>
                  <a:srgbClr val="FFFFFF"/>
                </a:solidFill>
                <a:latin typeface="Corbel"/>
                <a:cs typeface="Corbel"/>
              </a:rPr>
              <a:t>of  </a:t>
            </a:r>
            <a:r>
              <a:rPr dirty="0" sz="2200" spc="-5">
                <a:solidFill>
                  <a:srgbClr val="FFFFFF"/>
                </a:solidFill>
                <a:latin typeface="Corbel"/>
                <a:cs typeface="Corbel"/>
              </a:rPr>
              <a:t>neighborhoods </a:t>
            </a:r>
            <a:r>
              <a:rPr dirty="0" sz="2200">
                <a:solidFill>
                  <a:srgbClr val="FFFFFF"/>
                </a:solidFill>
                <a:latin typeface="Corbel"/>
                <a:cs typeface="Corbel"/>
              </a:rPr>
              <a:t>in red </a:t>
            </a:r>
            <a:r>
              <a:rPr dirty="0" sz="2200" spc="-5">
                <a:solidFill>
                  <a:srgbClr val="FFFFFF"/>
                </a:solidFill>
                <a:latin typeface="Corbel"/>
                <a:cs typeface="Corbel"/>
              </a:rPr>
              <a:t>shaded  area after </a:t>
            </a:r>
            <a:r>
              <a:rPr dirty="0" sz="2200">
                <a:solidFill>
                  <a:srgbClr val="FFFFFF"/>
                </a:solidFill>
                <a:latin typeface="Cambria Math"/>
                <a:cs typeface="Cambria Math"/>
              </a:rPr>
              <a:t>𝑘</a:t>
            </a:r>
            <a:r>
              <a:rPr dirty="0" sz="2200" spc="-5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dirty="0" sz="2200" spc="-5">
                <a:solidFill>
                  <a:srgbClr val="FFFFFF"/>
                </a:solidFill>
                <a:latin typeface="Corbel"/>
                <a:cs typeface="Corbel"/>
              </a:rPr>
              <a:t>step!</a:t>
            </a:r>
            <a:endParaRPr sz="2200">
              <a:latin typeface="Corbel"/>
              <a:cs typeface="Corbe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42759" y="4541520"/>
            <a:ext cx="810768" cy="280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184647" y="4541520"/>
            <a:ext cx="1639824" cy="2834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933509" y="4179497"/>
            <a:ext cx="869315" cy="5956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00"/>
              </a:lnSpc>
            </a:pPr>
            <a:r>
              <a:rPr dirty="0" sz="1800">
                <a:latin typeface="Corbel"/>
                <a:cs typeface="Corbel"/>
              </a:rPr>
              <a:t>…</a:t>
            </a:r>
            <a:endParaRPr sz="1800">
              <a:latin typeface="Corbel"/>
              <a:cs typeface="Corbel"/>
            </a:endParaRPr>
          </a:p>
          <a:p>
            <a:pPr marL="344170">
              <a:lnSpc>
                <a:spcPct val="100000"/>
              </a:lnSpc>
              <a:spcBef>
                <a:spcPts val="1535"/>
              </a:spcBef>
            </a:pPr>
            <a:r>
              <a:rPr dirty="0" sz="1200" spc="-5">
                <a:latin typeface="Arial"/>
                <a:cs typeface="Arial"/>
              </a:rPr>
              <a:t>Step</a:t>
            </a:r>
            <a:r>
              <a:rPr dirty="0" sz="1200" spc="-100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12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93736" y="3820523"/>
            <a:ext cx="298450" cy="163830"/>
          </a:xfrm>
          <a:custGeom>
            <a:avLst/>
            <a:gdLst/>
            <a:ahLst/>
            <a:cxnLst/>
            <a:rect l="l" t="t" r="r" b="b"/>
            <a:pathLst>
              <a:path w="298450" h="163829">
                <a:moveTo>
                  <a:pt x="93480" y="34156"/>
                </a:moveTo>
                <a:lnTo>
                  <a:pt x="0" y="163685"/>
                </a:lnTo>
                <a:lnTo>
                  <a:pt x="159712" y="160752"/>
                </a:lnTo>
                <a:lnTo>
                  <a:pt x="138598" y="120394"/>
                </a:lnTo>
                <a:lnTo>
                  <a:pt x="113568" y="120394"/>
                </a:lnTo>
                <a:lnTo>
                  <a:pt x="104935" y="117692"/>
                </a:lnTo>
                <a:lnTo>
                  <a:pt x="97619" y="103709"/>
                </a:lnTo>
                <a:lnTo>
                  <a:pt x="100322" y="95076"/>
                </a:lnTo>
                <a:lnTo>
                  <a:pt x="119973" y="84795"/>
                </a:lnTo>
                <a:lnTo>
                  <a:pt x="93480" y="34156"/>
                </a:lnTo>
                <a:close/>
              </a:path>
              <a:path w="298450" h="163829">
                <a:moveTo>
                  <a:pt x="119973" y="84795"/>
                </a:moveTo>
                <a:lnTo>
                  <a:pt x="100322" y="95076"/>
                </a:lnTo>
                <a:lnTo>
                  <a:pt x="97619" y="103709"/>
                </a:lnTo>
                <a:lnTo>
                  <a:pt x="104935" y="117692"/>
                </a:lnTo>
                <a:lnTo>
                  <a:pt x="113568" y="120394"/>
                </a:lnTo>
                <a:lnTo>
                  <a:pt x="133219" y="110113"/>
                </a:lnTo>
                <a:lnTo>
                  <a:pt x="119973" y="84795"/>
                </a:lnTo>
                <a:close/>
              </a:path>
              <a:path w="298450" h="163829">
                <a:moveTo>
                  <a:pt x="133219" y="110113"/>
                </a:moveTo>
                <a:lnTo>
                  <a:pt x="113568" y="120394"/>
                </a:lnTo>
                <a:lnTo>
                  <a:pt x="138598" y="120394"/>
                </a:lnTo>
                <a:lnTo>
                  <a:pt x="133219" y="110113"/>
                </a:lnTo>
                <a:close/>
              </a:path>
              <a:path w="298450" h="163829">
                <a:moveTo>
                  <a:pt x="282053" y="0"/>
                </a:moveTo>
                <a:lnTo>
                  <a:pt x="119973" y="84795"/>
                </a:lnTo>
                <a:lnTo>
                  <a:pt x="133219" y="110113"/>
                </a:lnTo>
                <a:lnTo>
                  <a:pt x="295299" y="25319"/>
                </a:lnTo>
                <a:lnTo>
                  <a:pt x="298001" y="16686"/>
                </a:lnTo>
                <a:lnTo>
                  <a:pt x="290686" y="2702"/>
                </a:lnTo>
                <a:lnTo>
                  <a:pt x="2820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76142" y="3158539"/>
            <a:ext cx="3560846" cy="344538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89571" y="3349943"/>
            <a:ext cx="4560432" cy="234554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73130" y="3023194"/>
            <a:ext cx="1272540" cy="241935"/>
          </a:xfrm>
          <a:custGeom>
            <a:avLst/>
            <a:gdLst/>
            <a:ahLst/>
            <a:cxnLst/>
            <a:rect l="l" t="t" r="r" b="b"/>
            <a:pathLst>
              <a:path w="1272539" h="241935">
                <a:moveTo>
                  <a:pt x="0" y="241360"/>
                </a:moveTo>
                <a:lnTo>
                  <a:pt x="1272518" y="241360"/>
                </a:lnTo>
                <a:lnTo>
                  <a:pt x="1272518" y="0"/>
                </a:lnTo>
                <a:lnTo>
                  <a:pt x="0" y="0"/>
                </a:lnTo>
                <a:lnTo>
                  <a:pt x="0" y="2413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724827" y="5677548"/>
            <a:ext cx="48260" cy="34290"/>
          </a:xfrm>
          <a:custGeom>
            <a:avLst/>
            <a:gdLst/>
            <a:ahLst/>
            <a:cxnLst/>
            <a:rect l="l" t="t" r="r" b="b"/>
            <a:pathLst>
              <a:path w="48260" h="34289">
                <a:moveTo>
                  <a:pt x="48043" y="0"/>
                </a:moveTo>
                <a:lnTo>
                  <a:pt x="0" y="34100"/>
                </a:lnTo>
              </a:path>
            </a:pathLst>
          </a:custGeom>
          <a:ln w="57150">
            <a:solidFill>
              <a:srgbClr val="64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243418" y="5476826"/>
            <a:ext cx="5715" cy="40005"/>
          </a:xfrm>
          <a:custGeom>
            <a:avLst/>
            <a:gdLst/>
            <a:ahLst/>
            <a:cxnLst/>
            <a:rect l="l" t="t" r="r" b="b"/>
            <a:pathLst>
              <a:path w="5714" h="40004">
                <a:moveTo>
                  <a:pt x="5697" y="0"/>
                </a:moveTo>
                <a:lnTo>
                  <a:pt x="0" y="39438"/>
                </a:lnTo>
              </a:path>
            </a:pathLst>
          </a:custGeom>
          <a:ln w="57150">
            <a:solidFill>
              <a:srgbClr val="64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260313" y="6029959"/>
            <a:ext cx="50673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latin typeface="Times New Roman"/>
                <a:cs typeface="Times New Roman"/>
              </a:rPr>
              <a:t>Step</a:t>
            </a:r>
            <a:r>
              <a:rPr dirty="0" sz="1500" spc="-9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3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61404" y="5514847"/>
            <a:ext cx="6019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latin typeface="Times New Roman"/>
                <a:cs typeface="Times New Roman"/>
              </a:rPr>
              <a:t>Step</a:t>
            </a:r>
            <a:r>
              <a:rPr dirty="0" sz="1500" spc="-9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12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06361" y="5763985"/>
            <a:ext cx="314325" cy="347345"/>
          </a:xfrm>
          <a:custGeom>
            <a:avLst/>
            <a:gdLst/>
            <a:ahLst/>
            <a:cxnLst/>
            <a:rect l="l" t="t" r="r" b="b"/>
            <a:pathLst>
              <a:path w="314325" h="347345">
                <a:moveTo>
                  <a:pt x="92132" y="87926"/>
                </a:moveTo>
                <a:lnTo>
                  <a:pt x="77986" y="100686"/>
                </a:lnTo>
                <a:lnTo>
                  <a:pt x="300013" y="346848"/>
                </a:lnTo>
                <a:lnTo>
                  <a:pt x="306035" y="347159"/>
                </a:lnTo>
                <a:lnTo>
                  <a:pt x="313848" y="340112"/>
                </a:lnTo>
                <a:lnTo>
                  <a:pt x="314158" y="334089"/>
                </a:lnTo>
                <a:lnTo>
                  <a:pt x="92132" y="87926"/>
                </a:lnTo>
                <a:close/>
              </a:path>
              <a:path w="314325" h="347345">
                <a:moveTo>
                  <a:pt x="0" y="0"/>
                </a:moveTo>
                <a:lnTo>
                  <a:pt x="37905" y="136836"/>
                </a:lnTo>
                <a:lnTo>
                  <a:pt x="77986" y="100686"/>
                </a:lnTo>
                <a:lnTo>
                  <a:pt x="65957" y="87349"/>
                </a:lnTo>
                <a:lnTo>
                  <a:pt x="66267" y="81326"/>
                </a:lnTo>
                <a:lnTo>
                  <a:pt x="74080" y="74279"/>
                </a:lnTo>
                <a:lnTo>
                  <a:pt x="107263" y="74279"/>
                </a:lnTo>
                <a:lnTo>
                  <a:pt x="132213" y="51776"/>
                </a:lnTo>
                <a:lnTo>
                  <a:pt x="0" y="0"/>
                </a:lnTo>
                <a:close/>
              </a:path>
              <a:path w="314325" h="347345">
                <a:moveTo>
                  <a:pt x="74080" y="74279"/>
                </a:moveTo>
                <a:lnTo>
                  <a:pt x="66267" y="81326"/>
                </a:lnTo>
                <a:lnTo>
                  <a:pt x="65957" y="87349"/>
                </a:lnTo>
                <a:lnTo>
                  <a:pt x="77986" y="100686"/>
                </a:lnTo>
                <a:lnTo>
                  <a:pt x="92132" y="87926"/>
                </a:lnTo>
                <a:lnTo>
                  <a:pt x="80103" y="74590"/>
                </a:lnTo>
                <a:lnTo>
                  <a:pt x="74080" y="74279"/>
                </a:lnTo>
                <a:close/>
              </a:path>
              <a:path w="314325" h="347345">
                <a:moveTo>
                  <a:pt x="107263" y="74279"/>
                </a:moveTo>
                <a:lnTo>
                  <a:pt x="74080" y="74279"/>
                </a:lnTo>
                <a:lnTo>
                  <a:pt x="80103" y="74590"/>
                </a:lnTo>
                <a:lnTo>
                  <a:pt x="92132" y="87926"/>
                </a:lnTo>
                <a:lnTo>
                  <a:pt x="107263" y="74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 rot="20100000">
            <a:off x="2741065" y="5759233"/>
            <a:ext cx="32509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0"/>
              </a:lnSpc>
            </a:pPr>
            <a:r>
              <a:rPr dirty="0" sz="1800">
                <a:latin typeface="Times New Roman"/>
                <a:cs typeface="Times New Roman"/>
              </a:rPr>
              <a:t>…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87844" y="2900172"/>
            <a:ext cx="3096895" cy="1449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45" b="1">
                <a:latin typeface="Arial"/>
                <a:cs typeface="Arial"/>
              </a:rPr>
              <a:t>Walk </a:t>
            </a:r>
            <a:r>
              <a:rPr dirty="0" sz="2000" spc="-10" b="1">
                <a:latin typeface="Arial"/>
                <a:cs typeface="Arial"/>
              </a:rPr>
              <a:t>in </a:t>
            </a:r>
            <a:r>
              <a:rPr dirty="0" sz="2000" spc="-30" b="1">
                <a:latin typeface="Arial"/>
                <a:cs typeface="Arial"/>
              </a:rPr>
              <a:t>Embedding</a:t>
            </a:r>
            <a:r>
              <a:rPr dirty="0" sz="2000" spc="-170" b="1">
                <a:latin typeface="Arial"/>
                <a:cs typeface="Arial"/>
              </a:rPr>
              <a:t> </a:t>
            </a:r>
            <a:r>
              <a:rPr dirty="0" sz="2000" spc="-30" b="1">
                <a:latin typeface="Arial"/>
                <a:cs typeface="Arial"/>
              </a:rPr>
              <a:t>Space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00">
              <a:latin typeface="Times New Roman"/>
              <a:cs typeface="Times New Roman"/>
            </a:endParaRPr>
          </a:p>
          <a:p>
            <a:pPr marL="400685" marR="1607820">
              <a:lnSpc>
                <a:spcPts val="1610"/>
              </a:lnSpc>
            </a:pPr>
            <a:r>
              <a:rPr dirty="0" sz="1400" spc="-40">
                <a:latin typeface="Arial"/>
                <a:cs typeface="Arial"/>
              </a:rPr>
              <a:t>N</a:t>
            </a:r>
            <a:r>
              <a:rPr dirty="0" sz="1400" spc="-30">
                <a:latin typeface="Arial"/>
                <a:cs typeface="Arial"/>
              </a:rPr>
              <a:t>e</a:t>
            </a:r>
            <a:r>
              <a:rPr dirty="0" sz="1400" spc="-15">
                <a:latin typeface="Arial"/>
                <a:cs typeface="Arial"/>
              </a:rPr>
              <a:t>i</a:t>
            </a:r>
            <a:r>
              <a:rPr dirty="0" sz="1400" spc="-30">
                <a:latin typeface="Arial"/>
                <a:cs typeface="Arial"/>
              </a:rPr>
              <a:t>ghbo</a:t>
            </a:r>
            <a:r>
              <a:rPr dirty="0" sz="1400" spc="-20">
                <a:latin typeface="Arial"/>
                <a:cs typeface="Arial"/>
              </a:rPr>
              <a:t>r</a:t>
            </a:r>
            <a:r>
              <a:rPr dirty="0" sz="1400" spc="-30">
                <a:latin typeface="Arial"/>
                <a:cs typeface="Arial"/>
              </a:rPr>
              <a:t>hoo</a:t>
            </a:r>
            <a:r>
              <a:rPr dirty="0" sz="1400">
                <a:latin typeface="Arial"/>
                <a:cs typeface="Arial"/>
              </a:rPr>
              <a:t>d  </a:t>
            </a:r>
            <a:r>
              <a:rPr dirty="0" sz="1400" spc="-30">
                <a:latin typeface="Arial"/>
                <a:cs typeface="Arial"/>
              </a:rPr>
              <a:t>embeddings</a:t>
            </a:r>
            <a:endParaRPr sz="1400">
              <a:latin typeface="Arial"/>
              <a:cs typeface="Arial"/>
            </a:endParaRPr>
          </a:p>
          <a:p>
            <a:pPr marL="400685">
              <a:lnSpc>
                <a:spcPct val="100000"/>
              </a:lnSpc>
              <a:spcBef>
                <a:spcPts val="870"/>
              </a:spcBef>
            </a:pPr>
            <a:r>
              <a:rPr dirty="0" sz="1400" spc="-25">
                <a:latin typeface="Arial"/>
                <a:cs typeface="Arial"/>
              </a:rPr>
              <a:t>Motif</a:t>
            </a:r>
            <a:r>
              <a:rPr dirty="0" sz="1400" spc="-9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walk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163311" y="4602479"/>
            <a:ext cx="661415" cy="2804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255640" y="4601676"/>
            <a:ext cx="2206625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25"/>
              </a:lnSpc>
              <a:tabLst>
                <a:tab pos="851535" algn="l"/>
                <a:tab pos="1681480" algn="l"/>
              </a:tabLst>
            </a:pPr>
            <a:r>
              <a:rPr dirty="0" baseline="-18518" sz="1800" spc="-15">
                <a:latin typeface="Calibri"/>
                <a:cs typeface="Calibri"/>
              </a:rPr>
              <a:t>Step</a:t>
            </a:r>
            <a:r>
              <a:rPr dirty="0" baseline="-18518" sz="1800" spc="-7">
                <a:latin typeface="Calibri"/>
                <a:cs typeface="Calibri"/>
              </a:rPr>
              <a:t> </a:t>
            </a:r>
            <a:r>
              <a:rPr dirty="0" baseline="-18518" sz="1800">
                <a:latin typeface="Calibri"/>
                <a:cs typeface="Calibri"/>
              </a:rPr>
              <a:t>12	</a:t>
            </a:r>
            <a:r>
              <a:rPr dirty="0" sz="1200" spc="-5">
                <a:latin typeface="Arial"/>
                <a:cs typeface="Arial"/>
              </a:rPr>
              <a:t>Step </a:t>
            </a:r>
            <a:r>
              <a:rPr dirty="0" sz="1200" spc="-50">
                <a:latin typeface="Arial"/>
                <a:cs typeface="Arial"/>
              </a:rPr>
              <a:t>11	</a:t>
            </a:r>
            <a:r>
              <a:rPr dirty="0" sz="1200" spc="-5">
                <a:latin typeface="Arial"/>
                <a:cs typeface="Arial"/>
              </a:rPr>
              <a:t>Step</a:t>
            </a:r>
            <a:r>
              <a:rPr dirty="0" sz="1200" spc="-100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10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616764" y="5853636"/>
            <a:ext cx="22225" cy="219710"/>
          </a:xfrm>
          <a:custGeom>
            <a:avLst/>
            <a:gdLst/>
            <a:ahLst/>
            <a:cxnLst/>
            <a:rect l="l" t="t" r="r" b="b"/>
            <a:pathLst>
              <a:path w="22225" h="219710">
                <a:moveTo>
                  <a:pt x="22052" y="0"/>
                </a:moveTo>
                <a:lnTo>
                  <a:pt x="0" y="219530"/>
                </a:lnTo>
              </a:path>
            </a:pathLst>
          </a:custGeom>
          <a:ln w="57150">
            <a:solidFill>
              <a:srgbClr val="64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537663" y="6073166"/>
            <a:ext cx="158750" cy="163830"/>
          </a:xfrm>
          <a:custGeom>
            <a:avLst/>
            <a:gdLst/>
            <a:ahLst/>
            <a:cxnLst/>
            <a:rect l="l" t="t" r="r" b="b"/>
            <a:pathLst>
              <a:path w="158750" h="163829">
                <a:moveTo>
                  <a:pt x="79100" y="0"/>
                </a:moveTo>
                <a:lnTo>
                  <a:pt x="48310" y="6422"/>
                </a:lnTo>
                <a:lnTo>
                  <a:pt x="23167" y="23937"/>
                </a:lnTo>
                <a:lnTo>
                  <a:pt x="6216" y="49916"/>
                </a:lnTo>
                <a:lnTo>
                  <a:pt x="0" y="81728"/>
                </a:lnTo>
                <a:lnTo>
                  <a:pt x="6216" y="113541"/>
                </a:lnTo>
                <a:lnTo>
                  <a:pt x="23167" y="139520"/>
                </a:lnTo>
                <a:lnTo>
                  <a:pt x="48310" y="157035"/>
                </a:lnTo>
                <a:lnTo>
                  <a:pt x="79100" y="163458"/>
                </a:lnTo>
                <a:lnTo>
                  <a:pt x="109889" y="157035"/>
                </a:lnTo>
                <a:lnTo>
                  <a:pt x="135033" y="139520"/>
                </a:lnTo>
                <a:lnTo>
                  <a:pt x="151985" y="113541"/>
                </a:lnTo>
                <a:lnTo>
                  <a:pt x="158201" y="81728"/>
                </a:lnTo>
                <a:lnTo>
                  <a:pt x="151985" y="49916"/>
                </a:lnTo>
                <a:lnTo>
                  <a:pt x="135033" y="23937"/>
                </a:lnTo>
                <a:lnTo>
                  <a:pt x="109889" y="6422"/>
                </a:lnTo>
                <a:lnTo>
                  <a:pt x="79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528123" y="6063624"/>
            <a:ext cx="177800" cy="182880"/>
          </a:xfrm>
          <a:custGeom>
            <a:avLst/>
            <a:gdLst/>
            <a:ahLst/>
            <a:cxnLst/>
            <a:rect l="l" t="t" r="r" b="b"/>
            <a:pathLst>
              <a:path w="177800" h="182879">
                <a:moveTo>
                  <a:pt x="88971" y="0"/>
                </a:moveTo>
                <a:lnTo>
                  <a:pt x="88309" y="0"/>
                </a:lnTo>
                <a:lnTo>
                  <a:pt x="71059" y="1796"/>
                </a:lnTo>
                <a:lnTo>
                  <a:pt x="26066" y="26625"/>
                </a:lnTo>
                <a:lnTo>
                  <a:pt x="1846" y="72651"/>
                </a:lnTo>
                <a:lnTo>
                  <a:pt x="0" y="90960"/>
                </a:lnTo>
                <a:lnTo>
                  <a:pt x="59" y="92196"/>
                </a:lnTo>
                <a:lnTo>
                  <a:pt x="14898" y="141931"/>
                </a:lnTo>
                <a:lnTo>
                  <a:pt x="53748" y="175197"/>
                </a:lnTo>
                <a:lnTo>
                  <a:pt x="88309" y="182542"/>
                </a:lnTo>
                <a:lnTo>
                  <a:pt x="88971" y="182542"/>
                </a:lnTo>
                <a:lnTo>
                  <a:pt x="130865" y="171084"/>
                </a:lnTo>
                <a:lnTo>
                  <a:pt x="88640" y="171084"/>
                </a:lnTo>
                <a:lnTo>
                  <a:pt x="73093" y="169465"/>
                </a:lnTo>
                <a:lnTo>
                  <a:pt x="34082" y="147730"/>
                </a:lnTo>
                <a:lnTo>
                  <a:pt x="13025" y="107372"/>
                </a:lnTo>
                <a:lnTo>
                  <a:pt x="11484" y="90960"/>
                </a:lnTo>
                <a:lnTo>
                  <a:pt x="13025" y="75169"/>
                </a:lnTo>
                <a:lnTo>
                  <a:pt x="34082" y="34811"/>
                </a:lnTo>
                <a:lnTo>
                  <a:pt x="73093" y="13076"/>
                </a:lnTo>
                <a:lnTo>
                  <a:pt x="88640" y="11457"/>
                </a:lnTo>
                <a:lnTo>
                  <a:pt x="130865" y="11457"/>
                </a:lnTo>
                <a:lnTo>
                  <a:pt x="123532" y="7344"/>
                </a:lnTo>
                <a:lnTo>
                  <a:pt x="122947" y="7089"/>
                </a:lnTo>
                <a:lnTo>
                  <a:pt x="106865" y="1932"/>
                </a:lnTo>
                <a:lnTo>
                  <a:pt x="106221" y="1796"/>
                </a:lnTo>
                <a:lnTo>
                  <a:pt x="88971" y="0"/>
                </a:lnTo>
                <a:close/>
              </a:path>
              <a:path w="177800" h="182879">
                <a:moveTo>
                  <a:pt x="130865" y="11457"/>
                </a:moveTo>
                <a:lnTo>
                  <a:pt x="88640" y="11457"/>
                </a:lnTo>
                <a:lnTo>
                  <a:pt x="104188" y="13076"/>
                </a:lnTo>
                <a:lnTo>
                  <a:pt x="118666" y="17720"/>
                </a:lnTo>
                <a:lnTo>
                  <a:pt x="152629" y="46622"/>
                </a:lnTo>
                <a:lnTo>
                  <a:pt x="165797" y="90960"/>
                </a:lnTo>
                <a:lnTo>
                  <a:pt x="165737" y="92196"/>
                </a:lnTo>
                <a:lnTo>
                  <a:pt x="152629" y="135919"/>
                </a:lnTo>
                <a:lnTo>
                  <a:pt x="118666" y="164821"/>
                </a:lnTo>
                <a:lnTo>
                  <a:pt x="88640" y="171084"/>
                </a:lnTo>
                <a:lnTo>
                  <a:pt x="130865" y="171084"/>
                </a:lnTo>
                <a:lnTo>
                  <a:pt x="162073" y="142405"/>
                </a:lnTo>
                <a:lnTo>
                  <a:pt x="177221" y="92196"/>
                </a:lnTo>
                <a:lnTo>
                  <a:pt x="177281" y="90960"/>
                </a:lnTo>
                <a:lnTo>
                  <a:pt x="175554" y="73259"/>
                </a:lnTo>
                <a:lnTo>
                  <a:pt x="151637" y="27062"/>
                </a:lnTo>
                <a:lnTo>
                  <a:pt x="138065" y="15495"/>
                </a:lnTo>
                <a:lnTo>
                  <a:pt x="130865" y="11457"/>
                </a:lnTo>
                <a:close/>
              </a:path>
              <a:path w="177800" h="182879">
                <a:moveTo>
                  <a:pt x="88640" y="15288"/>
                </a:moveTo>
                <a:lnTo>
                  <a:pt x="47697" y="28211"/>
                </a:lnTo>
                <a:lnTo>
                  <a:pt x="21071" y="61629"/>
                </a:lnTo>
                <a:lnTo>
                  <a:pt x="15312" y="90960"/>
                </a:lnTo>
                <a:lnTo>
                  <a:pt x="15372" y="92196"/>
                </a:lnTo>
                <a:lnTo>
                  <a:pt x="27854" y="133826"/>
                </a:lnTo>
                <a:lnTo>
                  <a:pt x="60144" y="161311"/>
                </a:lnTo>
                <a:lnTo>
                  <a:pt x="88640" y="167254"/>
                </a:lnTo>
                <a:lnTo>
                  <a:pt x="103400" y="165716"/>
                </a:lnTo>
                <a:lnTo>
                  <a:pt x="110550" y="163423"/>
                </a:lnTo>
                <a:lnTo>
                  <a:pt x="88640" y="163423"/>
                </a:lnTo>
                <a:lnTo>
                  <a:pt x="74668" y="161968"/>
                </a:lnTo>
                <a:lnTo>
                  <a:pt x="39582" y="142405"/>
                </a:lnTo>
                <a:lnTo>
                  <a:pt x="20537" y="105892"/>
                </a:lnTo>
                <a:lnTo>
                  <a:pt x="19141" y="90960"/>
                </a:lnTo>
                <a:lnTo>
                  <a:pt x="20537" y="76650"/>
                </a:lnTo>
                <a:lnTo>
                  <a:pt x="39620" y="40104"/>
                </a:lnTo>
                <a:lnTo>
                  <a:pt x="74668" y="20573"/>
                </a:lnTo>
                <a:lnTo>
                  <a:pt x="88640" y="19118"/>
                </a:lnTo>
                <a:lnTo>
                  <a:pt x="110551" y="19118"/>
                </a:lnTo>
                <a:lnTo>
                  <a:pt x="103400" y="16825"/>
                </a:lnTo>
                <a:lnTo>
                  <a:pt x="88640" y="15288"/>
                </a:lnTo>
                <a:close/>
              </a:path>
              <a:path w="177800" h="182879">
                <a:moveTo>
                  <a:pt x="110551" y="19118"/>
                </a:moveTo>
                <a:lnTo>
                  <a:pt x="88640" y="19118"/>
                </a:lnTo>
                <a:lnTo>
                  <a:pt x="102613" y="20573"/>
                </a:lnTo>
                <a:lnTo>
                  <a:pt x="115608" y="24741"/>
                </a:lnTo>
                <a:lnTo>
                  <a:pt x="146222" y="50809"/>
                </a:lnTo>
                <a:lnTo>
                  <a:pt x="158140" y="90960"/>
                </a:lnTo>
                <a:lnTo>
                  <a:pt x="158080" y="92196"/>
                </a:lnTo>
                <a:lnTo>
                  <a:pt x="146222" y="131732"/>
                </a:lnTo>
                <a:lnTo>
                  <a:pt x="115608" y="157800"/>
                </a:lnTo>
                <a:lnTo>
                  <a:pt x="88640" y="163423"/>
                </a:lnTo>
                <a:lnTo>
                  <a:pt x="110550" y="163423"/>
                </a:lnTo>
                <a:lnTo>
                  <a:pt x="149425" y="133826"/>
                </a:lnTo>
                <a:lnTo>
                  <a:pt x="161908" y="92196"/>
                </a:lnTo>
                <a:lnTo>
                  <a:pt x="161968" y="90960"/>
                </a:lnTo>
                <a:lnTo>
                  <a:pt x="160500" y="75910"/>
                </a:lnTo>
                <a:lnTo>
                  <a:pt x="140449" y="37473"/>
                </a:lnTo>
                <a:lnTo>
                  <a:pt x="117137" y="21230"/>
                </a:lnTo>
                <a:lnTo>
                  <a:pt x="110551" y="19118"/>
                </a:lnTo>
                <a:close/>
              </a:path>
            </a:pathLst>
          </a:custGeom>
          <a:solidFill>
            <a:srgbClr val="64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651870" y="3023107"/>
            <a:ext cx="423608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indent="-285750">
              <a:lnSpc>
                <a:spcPts val="2135"/>
              </a:lnSpc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dirty="0" sz="1800" spc="-5">
                <a:latin typeface="Arial"/>
                <a:cs typeface="Arial"/>
              </a:rPr>
              <a:t>Small motifs grow by adding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neighbors</a:t>
            </a:r>
            <a:endParaRPr sz="1800">
              <a:latin typeface="Arial"/>
              <a:cs typeface="Arial"/>
            </a:endParaRPr>
          </a:p>
          <a:p>
            <a:pPr marL="298450" marR="245745" indent="-285750">
              <a:lnSpc>
                <a:spcPts val="2210"/>
              </a:lnSpc>
              <a:spcBef>
                <a:spcPts val="5"/>
              </a:spcBef>
              <a:buChar char="•"/>
              <a:tabLst>
                <a:tab pos="297815" algn="l"/>
                <a:tab pos="298450" algn="l"/>
              </a:tabLst>
            </a:pPr>
            <a:r>
              <a:rPr dirty="0" sz="1800" spc="-5">
                <a:latin typeface="Arial"/>
                <a:cs typeface="Arial"/>
              </a:rPr>
              <a:t>Their embeddings correspond to red  points on the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082579" y="3829222"/>
            <a:ext cx="3297031" cy="149705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227320" y="3861815"/>
            <a:ext cx="697991" cy="28041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065520" y="3861815"/>
            <a:ext cx="691896" cy="28041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897623" y="3855720"/>
            <a:ext cx="691896" cy="28041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307155" y="3897884"/>
            <a:ext cx="21367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1535" algn="l"/>
                <a:tab pos="1682750" algn="l"/>
              </a:tabLst>
            </a:pPr>
            <a:r>
              <a:rPr dirty="0" sz="1200" spc="-5">
                <a:latin typeface="Arial"/>
                <a:cs typeface="Arial"/>
              </a:rPr>
              <a:t>Step </a:t>
            </a:r>
            <a:r>
              <a:rPr dirty="0" sz="1200">
                <a:latin typeface="Arial"/>
                <a:cs typeface="Arial"/>
              </a:rPr>
              <a:t>3	</a:t>
            </a:r>
            <a:r>
              <a:rPr dirty="0" sz="1200" spc="-5">
                <a:latin typeface="Arial"/>
                <a:cs typeface="Arial"/>
              </a:rPr>
              <a:t>Step </a:t>
            </a:r>
            <a:r>
              <a:rPr dirty="0" sz="1200">
                <a:latin typeface="Arial"/>
                <a:cs typeface="Arial"/>
              </a:rPr>
              <a:t>4	</a:t>
            </a:r>
            <a:r>
              <a:rPr dirty="0" baseline="2314" sz="1800" spc="-7">
                <a:latin typeface="Arial"/>
                <a:cs typeface="Arial"/>
              </a:rPr>
              <a:t>Step</a:t>
            </a:r>
            <a:r>
              <a:rPr dirty="0" baseline="2314" sz="1800" spc="-150">
                <a:latin typeface="Arial"/>
                <a:cs typeface="Arial"/>
              </a:rPr>
              <a:t> </a:t>
            </a:r>
            <a:r>
              <a:rPr dirty="0" baseline="2314" sz="1800">
                <a:latin typeface="Arial"/>
                <a:cs typeface="Arial"/>
              </a:rPr>
              <a:t>5</a:t>
            </a:r>
            <a:endParaRPr baseline="2314" sz="18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873240" y="4581144"/>
            <a:ext cx="838200" cy="28041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954004" y="4617211"/>
            <a:ext cx="5499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Step</a:t>
            </a:r>
            <a:r>
              <a:rPr dirty="0" sz="1200" spc="-100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10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041135" y="4575047"/>
            <a:ext cx="746760" cy="27736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6121574" y="4608067"/>
            <a:ext cx="5391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Step</a:t>
            </a:r>
            <a:r>
              <a:rPr dirty="0" sz="1200" spc="-95">
                <a:latin typeface="Arial"/>
                <a:cs typeface="Arial"/>
              </a:rPr>
              <a:t> </a:t>
            </a:r>
            <a:r>
              <a:rPr dirty="0" sz="1200" spc="-50">
                <a:latin typeface="Arial"/>
                <a:cs typeface="Arial"/>
              </a:rPr>
              <a:t>11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212079" y="4559808"/>
            <a:ext cx="746760" cy="27736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293060" y="4592828"/>
            <a:ext cx="5499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Step</a:t>
            </a:r>
            <a:r>
              <a:rPr dirty="0" sz="1200" spc="-100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12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63</a:t>
            </a:fld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16176" y="3400063"/>
            <a:ext cx="298450" cy="163830"/>
          </a:xfrm>
          <a:custGeom>
            <a:avLst/>
            <a:gdLst/>
            <a:ahLst/>
            <a:cxnLst/>
            <a:rect l="l" t="t" r="r" b="b"/>
            <a:pathLst>
              <a:path w="298450" h="163829">
                <a:moveTo>
                  <a:pt x="93480" y="34155"/>
                </a:moveTo>
                <a:lnTo>
                  <a:pt x="0" y="163685"/>
                </a:lnTo>
                <a:lnTo>
                  <a:pt x="159711" y="160751"/>
                </a:lnTo>
                <a:lnTo>
                  <a:pt x="138598" y="120394"/>
                </a:lnTo>
                <a:lnTo>
                  <a:pt x="113568" y="120394"/>
                </a:lnTo>
                <a:lnTo>
                  <a:pt x="104935" y="117692"/>
                </a:lnTo>
                <a:lnTo>
                  <a:pt x="97618" y="103708"/>
                </a:lnTo>
                <a:lnTo>
                  <a:pt x="100321" y="95074"/>
                </a:lnTo>
                <a:lnTo>
                  <a:pt x="119972" y="84793"/>
                </a:lnTo>
                <a:lnTo>
                  <a:pt x="93480" y="34155"/>
                </a:lnTo>
                <a:close/>
              </a:path>
              <a:path w="298450" h="163829">
                <a:moveTo>
                  <a:pt x="119972" y="84793"/>
                </a:moveTo>
                <a:lnTo>
                  <a:pt x="100321" y="95074"/>
                </a:lnTo>
                <a:lnTo>
                  <a:pt x="97618" y="103708"/>
                </a:lnTo>
                <a:lnTo>
                  <a:pt x="104935" y="117692"/>
                </a:lnTo>
                <a:lnTo>
                  <a:pt x="113568" y="120394"/>
                </a:lnTo>
                <a:lnTo>
                  <a:pt x="133219" y="110113"/>
                </a:lnTo>
                <a:lnTo>
                  <a:pt x="119972" y="84793"/>
                </a:lnTo>
                <a:close/>
              </a:path>
              <a:path w="298450" h="163829">
                <a:moveTo>
                  <a:pt x="133219" y="110113"/>
                </a:moveTo>
                <a:lnTo>
                  <a:pt x="113568" y="120394"/>
                </a:lnTo>
                <a:lnTo>
                  <a:pt x="138598" y="120394"/>
                </a:lnTo>
                <a:lnTo>
                  <a:pt x="133219" y="110113"/>
                </a:lnTo>
                <a:close/>
              </a:path>
              <a:path w="298450" h="163829">
                <a:moveTo>
                  <a:pt x="282051" y="0"/>
                </a:moveTo>
                <a:lnTo>
                  <a:pt x="119972" y="84793"/>
                </a:lnTo>
                <a:lnTo>
                  <a:pt x="133219" y="110113"/>
                </a:lnTo>
                <a:lnTo>
                  <a:pt x="295299" y="25318"/>
                </a:lnTo>
                <a:lnTo>
                  <a:pt x="298001" y="16685"/>
                </a:lnTo>
                <a:lnTo>
                  <a:pt x="290685" y="2702"/>
                </a:lnTo>
                <a:lnTo>
                  <a:pt x="2820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98581" y="2738079"/>
            <a:ext cx="3560847" cy="3445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62559" y="2929482"/>
            <a:ext cx="400050" cy="73660"/>
          </a:xfrm>
          <a:custGeom>
            <a:avLst/>
            <a:gdLst/>
            <a:ahLst/>
            <a:cxnLst/>
            <a:rect l="l" t="t" r="r" b="b"/>
            <a:pathLst>
              <a:path w="400050" h="73660">
                <a:moveTo>
                  <a:pt x="0" y="73577"/>
                </a:moveTo>
                <a:lnTo>
                  <a:pt x="399482" y="73577"/>
                </a:lnTo>
                <a:lnTo>
                  <a:pt x="399482" y="0"/>
                </a:lnTo>
                <a:lnTo>
                  <a:pt x="0" y="0"/>
                </a:lnTo>
                <a:lnTo>
                  <a:pt x="0" y="735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95569" y="2602732"/>
            <a:ext cx="1272540" cy="241935"/>
          </a:xfrm>
          <a:custGeom>
            <a:avLst/>
            <a:gdLst/>
            <a:ahLst/>
            <a:cxnLst/>
            <a:rect l="l" t="t" r="r" b="b"/>
            <a:pathLst>
              <a:path w="1272539" h="241935">
                <a:moveTo>
                  <a:pt x="0" y="241360"/>
                </a:moveTo>
                <a:lnTo>
                  <a:pt x="1272518" y="241360"/>
                </a:lnTo>
                <a:lnTo>
                  <a:pt x="1272518" y="0"/>
                </a:lnTo>
                <a:lnTo>
                  <a:pt x="0" y="0"/>
                </a:lnTo>
                <a:lnTo>
                  <a:pt x="0" y="2413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52782" y="2844093"/>
            <a:ext cx="1558290" cy="2075814"/>
          </a:xfrm>
          <a:custGeom>
            <a:avLst/>
            <a:gdLst/>
            <a:ahLst/>
            <a:cxnLst/>
            <a:rect l="l" t="t" r="r" b="b"/>
            <a:pathLst>
              <a:path w="1558289" h="2075814">
                <a:moveTo>
                  <a:pt x="0" y="0"/>
                </a:moveTo>
                <a:lnTo>
                  <a:pt x="1558090" y="0"/>
                </a:lnTo>
                <a:lnTo>
                  <a:pt x="1558090" y="2075187"/>
                </a:lnTo>
                <a:lnTo>
                  <a:pt x="0" y="20751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12011" y="3003059"/>
            <a:ext cx="4560431" cy="22719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47267" y="5257087"/>
            <a:ext cx="48260" cy="34290"/>
          </a:xfrm>
          <a:custGeom>
            <a:avLst/>
            <a:gdLst/>
            <a:ahLst/>
            <a:cxnLst/>
            <a:rect l="l" t="t" r="r" b="b"/>
            <a:pathLst>
              <a:path w="48260" h="34289">
                <a:moveTo>
                  <a:pt x="48043" y="0"/>
                </a:moveTo>
                <a:lnTo>
                  <a:pt x="0" y="34100"/>
                </a:lnTo>
              </a:path>
            </a:pathLst>
          </a:custGeom>
          <a:ln w="57150">
            <a:solidFill>
              <a:srgbClr val="64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65858" y="5056365"/>
            <a:ext cx="5715" cy="40005"/>
          </a:xfrm>
          <a:custGeom>
            <a:avLst/>
            <a:gdLst/>
            <a:ahLst/>
            <a:cxnLst/>
            <a:rect l="l" t="t" r="r" b="b"/>
            <a:pathLst>
              <a:path w="5714" h="40004">
                <a:moveTo>
                  <a:pt x="5697" y="0"/>
                </a:moveTo>
                <a:lnTo>
                  <a:pt x="0" y="39438"/>
                </a:lnTo>
              </a:path>
            </a:pathLst>
          </a:custGeom>
          <a:ln w="57150">
            <a:solidFill>
              <a:srgbClr val="64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598740" y="3156204"/>
            <a:ext cx="1105535" cy="77216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1610"/>
              </a:lnSpc>
              <a:spcBef>
                <a:spcPts val="210"/>
              </a:spcBef>
            </a:pPr>
            <a:r>
              <a:rPr dirty="0" sz="1400" spc="-40">
                <a:latin typeface="Arial"/>
                <a:cs typeface="Arial"/>
              </a:rPr>
              <a:t>N</a:t>
            </a:r>
            <a:r>
              <a:rPr dirty="0" sz="1400" spc="-30">
                <a:latin typeface="Arial"/>
                <a:cs typeface="Arial"/>
              </a:rPr>
              <a:t>e</a:t>
            </a:r>
            <a:r>
              <a:rPr dirty="0" sz="1400" spc="-15">
                <a:latin typeface="Arial"/>
                <a:cs typeface="Arial"/>
              </a:rPr>
              <a:t>i</a:t>
            </a:r>
            <a:r>
              <a:rPr dirty="0" sz="1400" spc="-30">
                <a:latin typeface="Arial"/>
                <a:cs typeface="Arial"/>
              </a:rPr>
              <a:t>ghbo</a:t>
            </a:r>
            <a:r>
              <a:rPr dirty="0" sz="1400" spc="-20">
                <a:latin typeface="Arial"/>
                <a:cs typeface="Arial"/>
              </a:rPr>
              <a:t>r</a:t>
            </a:r>
            <a:r>
              <a:rPr dirty="0" sz="1400" spc="-30">
                <a:latin typeface="Arial"/>
                <a:cs typeface="Arial"/>
              </a:rPr>
              <a:t>hoo</a:t>
            </a:r>
            <a:r>
              <a:rPr dirty="0" sz="1400">
                <a:latin typeface="Arial"/>
                <a:cs typeface="Arial"/>
              </a:rPr>
              <a:t>d  </a:t>
            </a:r>
            <a:r>
              <a:rPr dirty="0" sz="1400" spc="-30">
                <a:latin typeface="Arial"/>
                <a:cs typeface="Arial"/>
              </a:rPr>
              <a:t>embeddings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00" spc="-25">
                <a:latin typeface="Arial"/>
                <a:cs typeface="Arial"/>
              </a:rPr>
              <a:t>Motif</a:t>
            </a:r>
            <a:r>
              <a:rPr dirty="0" sz="1400" spc="-9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walk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82751" y="5609335"/>
            <a:ext cx="50673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latin typeface="Times New Roman"/>
                <a:cs typeface="Times New Roman"/>
              </a:rPr>
              <a:t>Step</a:t>
            </a:r>
            <a:r>
              <a:rPr dirty="0" sz="1500" spc="-9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3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83844" y="5094223"/>
            <a:ext cx="6019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latin typeface="Times New Roman"/>
                <a:cs typeface="Times New Roman"/>
              </a:rPr>
              <a:t>Step</a:t>
            </a:r>
            <a:r>
              <a:rPr dirty="0" sz="1500" spc="-9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12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12471" y="5339443"/>
            <a:ext cx="330835" cy="351790"/>
          </a:xfrm>
          <a:custGeom>
            <a:avLst/>
            <a:gdLst/>
            <a:ahLst/>
            <a:cxnLst/>
            <a:rect l="l" t="t" r="r" b="b"/>
            <a:pathLst>
              <a:path w="330835" h="351789">
                <a:moveTo>
                  <a:pt x="93880" y="86057"/>
                </a:moveTo>
                <a:lnTo>
                  <a:pt x="79994" y="99098"/>
                </a:lnTo>
                <a:lnTo>
                  <a:pt x="316548" y="350999"/>
                </a:lnTo>
                <a:lnTo>
                  <a:pt x="322577" y="351189"/>
                </a:lnTo>
                <a:lnTo>
                  <a:pt x="330246" y="343986"/>
                </a:lnTo>
                <a:lnTo>
                  <a:pt x="330436" y="337958"/>
                </a:lnTo>
                <a:lnTo>
                  <a:pt x="93880" y="86057"/>
                </a:lnTo>
                <a:close/>
              </a:path>
              <a:path w="330835" h="351789">
                <a:moveTo>
                  <a:pt x="0" y="0"/>
                </a:moveTo>
                <a:lnTo>
                  <a:pt x="40648" y="136047"/>
                </a:lnTo>
                <a:lnTo>
                  <a:pt x="79994" y="99098"/>
                </a:lnTo>
                <a:lnTo>
                  <a:pt x="67699" y="86005"/>
                </a:lnTo>
                <a:lnTo>
                  <a:pt x="67889" y="79978"/>
                </a:lnTo>
                <a:lnTo>
                  <a:pt x="75558" y="72776"/>
                </a:lnTo>
                <a:lnTo>
                  <a:pt x="108024" y="72776"/>
                </a:lnTo>
                <a:lnTo>
                  <a:pt x="133226" y="49108"/>
                </a:lnTo>
                <a:lnTo>
                  <a:pt x="0" y="0"/>
                </a:lnTo>
                <a:close/>
              </a:path>
              <a:path w="330835" h="351789">
                <a:moveTo>
                  <a:pt x="75558" y="72776"/>
                </a:moveTo>
                <a:lnTo>
                  <a:pt x="67889" y="79978"/>
                </a:lnTo>
                <a:lnTo>
                  <a:pt x="67699" y="86005"/>
                </a:lnTo>
                <a:lnTo>
                  <a:pt x="79994" y="99098"/>
                </a:lnTo>
                <a:lnTo>
                  <a:pt x="93880" y="86057"/>
                </a:lnTo>
                <a:lnTo>
                  <a:pt x="81586" y="72965"/>
                </a:lnTo>
                <a:lnTo>
                  <a:pt x="75558" y="72776"/>
                </a:lnTo>
                <a:close/>
              </a:path>
              <a:path w="330835" h="351789">
                <a:moveTo>
                  <a:pt x="108024" y="72776"/>
                </a:moveTo>
                <a:lnTo>
                  <a:pt x="75558" y="72776"/>
                </a:lnTo>
                <a:lnTo>
                  <a:pt x="81586" y="72965"/>
                </a:lnTo>
                <a:lnTo>
                  <a:pt x="93880" y="86057"/>
                </a:lnTo>
                <a:lnTo>
                  <a:pt x="108024" y="727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 rot="20100000">
            <a:off x="2663504" y="5338609"/>
            <a:ext cx="32509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0"/>
              </a:lnSpc>
            </a:pPr>
            <a:r>
              <a:rPr dirty="0" sz="1800">
                <a:latin typeface="Times New Roman"/>
                <a:cs typeface="Times New Roman"/>
              </a:rPr>
              <a:t>…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10283" y="2479548"/>
            <a:ext cx="309689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45" b="1">
                <a:latin typeface="Arial"/>
                <a:cs typeface="Arial"/>
              </a:rPr>
              <a:t>Walk </a:t>
            </a:r>
            <a:r>
              <a:rPr dirty="0" sz="2000" spc="-10" b="1">
                <a:latin typeface="Arial"/>
                <a:cs typeface="Arial"/>
              </a:rPr>
              <a:t>in </a:t>
            </a:r>
            <a:r>
              <a:rPr dirty="0" sz="2000" spc="-30" b="1">
                <a:latin typeface="Arial"/>
                <a:cs typeface="Arial"/>
              </a:rPr>
              <a:t>Embedding</a:t>
            </a:r>
            <a:r>
              <a:rPr dirty="0" sz="2000" spc="-170" b="1">
                <a:latin typeface="Arial"/>
                <a:cs typeface="Arial"/>
              </a:rPr>
              <a:t> </a:t>
            </a:r>
            <a:r>
              <a:rPr dirty="0" sz="2000" spc="-30" b="1">
                <a:latin typeface="Arial"/>
                <a:cs typeface="Arial"/>
              </a:rPr>
              <a:t>Space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3023" y="347472"/>
            <a:ext cx="7239000" cy="5364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50"/>
              </a:spcBef>
            </a:pPr>
            <a:r>
              <a:rPr dirty="0" sz="2800" spc="-25" b="1">
                <a:solidFill>
                  <a:srgbClr val="C00000"/>
                </a:solidFill>
                <a:latin typeface="Calibri"/>
                <a:cs typeface="Calibri"/>
              </a:rPr>
              <a:t>Termination</a:t>
            </a:r>
            <a:r>
              <a:rPr dirty="0" sz="2800" spc="-25"/>
              <a:t>: </a:t>
            </a:r>
            <a:r>
              <a:rPr dirty="0" sz="2800" spc="-5"/>
              <a:t>Upon </a:t>
            </a:r>
            <a:r>
              <a:rPr dirty="0" sz="2800" spc="-10"/>
              <a:t>reaching </a:t>
            </a:r>
            <a:r>
              <a:rPr dirty="0" sz="2800"/>
              <a:t>a </a:t>
            </a:r>
            <a:r>
              <a:rPr dirty="0" sz="2800" spc="-10"/>
              <a:t>desired </a:t>
            </a:r>
            <a:r>
              <a:rPr dirty="0" sz="2800" spc="-5"/>
              <a:t>motif </a:t>
            </a:r>
            <a:r>
              <a:rPr dirty="0" sz="2800" spc="-20"/>
              <a:t>size, </a:t>
            </a:r>
            <a:r>
              <a:rPr dirty="0" sz="2800" spc="-35"/>
              <a:t>take  </a:t>
            </a:r>
            <a:r>
              <a:rPr dirty="0" sz="2800" spc="-5"/>
              <a:t>the </a:t>
            </a:r>
            <a:r>
              <a:rPr dirty="0" sz="2800" spc="-10"/>
              <a:t>subgraph </a:t>
            </a:r>
            <a:r>
              <a:rPr dirty="0" sz="2800" spc="-5"/>
              <a:t>of the </a:t>
            </a:r>
            <a:r>
              <a:rPr dirty="0" sz="2800" spc="-25"/>
              <a:t>target </a:t>
            </a:r>
            <a:r>
              <a:rPr dirty="0" sz="2800" spc="-15"/>
              <a:t>graph </a:t>
            </a:r>
            <a:r>
              <a:rPr dirty="0" sz="2800" spc="-5"/>
              <a:t>induced </a:t>
            </a:r>
            <a:r>
              <a:rPr dirty="0" sz="2800" spc="-10"/>
              <a:t>by</a:t>
            </a:r>
            <a:r>
              <a:rPr dirty="0" sz="2800" spc="50"/>
              <a:t> </a:t>
            </a:r>
            <a:r>
              <a:rPr dirty="0" sz="2800">
                <a:latin typeface="Cambria Math"/>
                <a:cs typeface="Cambria Math"/>
              </a:rPr>
              <a:t>𝑆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88455" y="6148832"/>
            <a:ext cx="30714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Frequent Subgraph 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Mining by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Walking 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in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Order Embedding</a:t>
            </a:r>
            <a:r>
              <a:rPr dirty="0" sz="900" spc="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Space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45413" y="4393691"/>
            <a:ext cx="4123690" cy="622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35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D60093"/>
                </a:solidFill>
                <a:latin typeface="Arial"/>
                <a:cs typeface="Arial"/>
              </a:rPr>
              <a:t>Identified frequent motif </a:t>
            </a:r>
            <a:r>
              <a:rPr dirty="0" sz="2000" spc="-20" b="1">
                <a:solidFill>
                  <a:srgbClr val="D60093"/>
                </a:solidFill>
                <a:latin typeface="Arial"/>
                <a:cs typeface="Arial"/>
              </a:rPr>
              <a:t>of size</a:t>
            </a:r>
            <a:r>
              <a:rPr dirty="0" sz="2000" spc="-145" b="1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D60093"/>
                </a:solidFill>
                <a:latin typeface="Arial"/>
                <a:cs typeface="Arial"/>
              </a:rPr>
              <a:t>12: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350"/>
              </a:lnSpc>
            </a:pPr>
            <a:r>
              <a:rPr dirty="0" sz="2000" spc="-10">
                <a:solidFill>
                  <a:srgbClr val="0070C0"/>
                </a:solidFill>
                <a:latin typeface="Arial"/>
                <a:cs typeface="Arial"/>
              </a:rPr>
              <a:t>It </a:t>
            </a:r>
            <a:r>
              <a:rPr dirty="0" sz="2000" spc="-20">
                <a:solidFill>
                  <a:srgbClr val="0070C0"/>
                </a:solidFill>
                <a:latin typeface="Arial"/>
                <a:cs typeface="Arial"/>
              </a:rPr>
              <a:t>has </a:t>
            </a:r>
            <a:r>
              <a:rPr dirty="0" sz="2000" spc="-15">
                <a:solidFill>
                  <a:srgbClr val="0070C0"/>
                </a:solidFill>
                <a:latin typeface="Arial"/>
                <a:cs typeface="Arial"/>
              </a:rPr>
              <a:t>the </a:t>
            </a:r>
            <a:r>
              <a:rPr dirty="0" sz="2000" spc="-20">
                <a:solidFill>
                  <a:srgbClr val="0070C0"/>
                </a:solidFill>
                <a:latin typeface="Arial"/>
                <a:cs typeface="Arial"/>
              </a:rPr>
              <a:t>largest </a:t>
            </a:r>
            <a:r>
              <a:rPr dirty="0" sz="2000" spc="-25">
                <a:solidFill>
                  <a:srgbClr val="0070C0"/>
                </a:solidFill>
                <a:latin typeface="Arial"/>
                <a:cs typeface="Arial"/>
              </a:rPr>
              <a:t>number </a:t>
            </a:r>
            <a:r>
              <a:rPr dirty="0" sz="2000" spc="-15">
                <a:solidFill>
                  <a:srgbClr val="0070C0"/>
                </a:solidFill>
                <a:latin typeface="Arial"/>
                <a:cs typeface="Arial"/>
              </a:rPr>
              <a:t>of</a:t>
            </a:r>
            <a:r>
              <a:rPr dirty="0" sz="2000" spc="-22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000" spc="-15">
                <a:solidFill>
                  <a:srgbClr val="0070C0"/>
                </a:solidFill>
                <a:latin typeface="Arial"/>
                <a:cs typeface="Arial"/>
              </a:rPr>
              <a:t>blue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45413" y="4991100"/>
            <a:ext cx="3780154" cy="92773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 marR="5080">
              <a:lnSpc>
                <a:spcPct val="98000"/>
              </a:lnSpc>
              <a:spcBef>
                <a:spcPts val="145"/>
              </a:spcBef>
            </a:pPr>
            <a:r>
              <a:rPr dirty="0" sz="2000" spc="-20">
                <a:solidFill>
                  <a:srgbClr val="0070C0"/>
                </a:solidFill>
                <a:latin typeface="Arial"/>
                <a:cs typeface="Arial"/>
              </a:rPr>
              <a:t>points </a:t>
            </a:r>
            <a:r>
              <a:rPr dirty="0" sz="2000" spc="-5">
                <a:solidFill>
                  <a:srgbClr val="0070C0"/>
                </a:solidFill>
                <a:latin typeface="Arial"/>
                <a:cs typeface="Arial"/>
              </a:rPr>
              <a:t>in </a:t>
            </a:r>
            <a:r>
              <a:rPr dirty="0" sz="2000" spc="-25">
                <a:solidFill>
                  <a:srgbClr val="0070C0"/>
                </a:solidFill>
                <a:latin typeface="Arial"/>
                <a:cs typeface="Arial"/>
              </a:rPr>
              <a:t>super-graph region,  </a:t>
            </a:r>
            <a:r>
              <a:rPr dirty="0" sz="2000" spc="-25">
                <a:solidFill>
                  <a:srgbClr val="008000"/>
                </a:solidFill>
                <a:latin typeface="Arial"/>
                <a:cs typeface="Arial"/>
              </a:rPr>
              <a:t>among </a:t>
            </a:r>
            <a:r>
              <a:rPr dirty="0" sz="2000" spc="-15">
                <a:solidFill>
                  <a:srgbClr val="008000"/>
                </a:solidFill>
                <a:latin typeface="Arial"/>
                <a:cs typeface="Arial"/>
              </a:rPr>
              <a:t>all </a:t>
            </a:r>
            <a:r>
              <a:rPr dirty="0" sz="2000" spc="-25">
                <a:solidFill>
                  <a:srgbClr val="008000"/>
                </a:solidFill>
                <a:latin typeface="Arial"/>
                <a:cs typeface="Arial"/>
              </a:rPr>
              <a:t>embeddings </a:t>
            </a:r>
            <a:r>
              <a:rPr dirty="0" sz="2000" spc="-15">
                <a:solidFill>
                  <a:srgbClr val="008000"/>
                </a:solidFill>
                <a:latin typeface="Arial"/>
                <a:cs typeface="Arial"/>
              </a:rPr>
              <a:t>of</a:t>
            </a:r>
            <a:r>
              <a:rPr dirty="0" sz="2000" spc="-13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008000"/>
                </a:solidFill>
                <a:latin typeface="Arial"/>
                <a:cs typeface="Arial"/>
              </a:rPr>
              <a:t>possible  </a:t>
            </a:r>
            <a:r>
              <a:rPr dirty="0" sz="2000" spc="-25">
                <a:solidFill>
                  <a:srgbClr val="008000"/>
                </a:solidFill>
                <a:latin typeface="Arial"/>
                <a:cs typeface="Arial"/>
              </a:rPr>
              <a:t>subgraphs </a:t>
            </a:r>
            <a:r>
              <a:rPr dirty="0" sz="2000" spc="-15">
                <a:solidFill>
                  <a:srgbClr val="008000"/>
                </a:solidFill>
                <a:latin typeface="Arial"/>
                <a:cs typeface="Arial"/>
              </a:rPr>
              <a:t>of size</a:t>
            </a:r>
            <a:r>
              <a:rPr dirty="0" sz="2000" spc="-17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000" spc="-30">
                <a:solidFill>
                  <a:srgbClr val="008000"/>
                </a:solidFill>
                <a:latin typeface="Arial"/>
                <a:cs typeface="Arial"/>
              </a:rPr>
              <a:t>12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167975" y="3949453"/>
            <a:ext cx="326390" cy="397510"/>
          </a:xfrm>
          <a:custGeom>
            <a:avLst/>
            <a:gdLst/>
            <a:ahLst/>
            <a:cxnLst/>
            <a:rect l="l" t="t" r="r" b="b"/>
            <a:pathLst>
              <a:path w="326389" h="397510">
                <a:moveTo>
                  <a:pt x="244671" y="163114"/>
                </a:moveTo>
                <a:lnTo>
                  <a:pt x="81556" y="163114"/>
                </a:lnTo>
                <a:lnTo>
                  <a:pt x="81556" y="397443"/>
                </a:lnTo>
                <a:lnTo>
                  <a:pt x="244671" y="397443"/>
                </a:lnTo>
                <a:lnTo>
                  <a:pt x="244671" y="163114"/>
                </a:lnTo>
                <a:close/>
              </a:path>
              <a:path w="326389" h="397510">
                <a:moveTo>
                  <a:pt x="163114" y="0"/>
                </a:moveTo>
                <a:lnTo>
                  <a:pt x="0" y="163114"/>
                </a:lnTo>
                <a:lnTo>
                  <a:pt x="326228" y="163114"/>
                </a:lnTo>
                <a:lnTo>
                  <a:pt x="16311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110034" y="3915512"/>
            <a:ext cx="442595" cy="455930"/>
          </a:xfrm>
          <a:custGeom>
            <a:avLst/>
            <a:gdLst/>
            <a:ahLst/>
            <a:cxnLst/>
            <a:rect l="l" t="t" r="r" b="b"/>
            <a:pathLst>
              <a:path w="442595" h="455929">
                <a:moveTo>
                  <a:pt x="221056" y="0"/>
                </a:moveTo>
                <a:lnTo>
                  <a:pt x="0" y="221056"/>
                </a:lnTo>
                <a:lnTo>
                  <a:pt x="115498" y="221056"/>
                </a:lnTo>
                <a:lnTo>
                  <a:pt x="115498" y="455383"/>
                </a:lnTo>
                <a:lnTo>
                  <a:pt x="326613" y="455383"/>
                </a:lnTo>
                <a:lnTo>
                  <a:pt x="326613" y="426584"/>
                </a:lnTo>
                <a:lnTo>
                  <a:pt x="144298" y="426584"/>
                </a:lnTo>
                <a:lnTo>
                  <a:pt x="144298" y="192256"/>
                </a:lnTo>
                <a:lnTo>
                  <a:pt x="69529" y="192256"/>
                </a:lnTo>
                <a:lnTo>
                  <a:pt x="221056" y="40728"/>
                </a:lnTo>
                <a:lnTo>
                  <a:pt x="261784" y="40728"/>
                </a:lnTo>
                <a:lnTo>
                  <a:pt x="221056" y="0"/>
                </a:lnTo>
                <a:close/>
              </a:path>
              <a:path w="442595" h="455929">
                <a:moveTo>
                  <a:pt x="261784" y="40728"/>
                </a:moveTo>
                <a:lnTo>
                  <a:pt x="221056" y="40728"/>
                </a:lnTo>
                <a:lnTo>
                  <a:pt x="372582" y="192256"/>
                </a:lnTo>
                <a:lnTo>
                  <a:pt x="297813" y="192256"/>
                </a:lnTo>
                <a:lnTo>
                  <a:pt x="297813" y="426584"/>
                </a:lnTo>
                <a:lnTo>
                  <a:pt x="326613" y="426584"/>
                </a:lnTo>
                <a:lnTo>
                  <a:pt x="326613" y="221056"/>
                </a:lnTo>
                <a:lnTo>
                  <a:pt x="442111" y="221056"/>
                </a:lnTo>
                <a:lnTo>
                  <a:pt x="261784" y="40728"/>
                </a:lnTo>
                <a:close/>
              </a:path>
              <a:path w="442595" h="455929">
                <a:moveTo>
                  <a:pt x="221056" y="54306"/>
                </a:moveTo>
                <a:lnTo>
                  <a:pt x="92706" y="182656"/>
                </a:lnTo>
                <a:lnTo>
                  <a:pt x="153898" y="182656"/>
                </a:lnTo>
                <a:lnTo>
                  <a:pt x="153898" y="416984"/>
                </a:lnTo>
                <a:lnTo>
                  <a:pt x="288213" y="416984"/>
                </a:lnTo>
                <a:lnTo>
                  <a:pt x="288213" y="407384"/>
                </a:lnTo>
                <a:lnTo>
                  <a:pt x="163498" y="407384"/>
                </a:lnTo>
                <a:lnTo>
                  <a:pt x="163498" y="173055"/>
                </a:lnTo>
                <a:lnTo>
                  <a:pt x="115882" y="173055"/>
                </a:lnTo>
                <a:lnTo>
                  <a:pt x="221056" y="67882"/>
                </a:lnTo>
                <a:lnTo>
                  <a:pt x="234632" y="67882"/>
                </a:lnTo>
                <a:lnTo>
                  <a:pt x="221056" y="54306"/>
                </a:lnTo>
                <a:close/>
              </a:path>
              <a:path w="442595" h="455929">
                <a:moveTo>
                  <a:pt x="234632" y="67882"/>
                </a:moveTo>
                <a:lnTo>
                  <a:pt x="221056" y="67882"/>
                </a:lnTo>
                <a:lnTo>
                  <a:pt x="326229" y="173055"/>
                </a:lnTo>
                <a:lnTo>
                  <a:pt x="278613" y="173055"/>
                </a:lnTo>
                <a:lnTo>
                  <a:pt x="278613" y="407384"/>
                </a:lnTo>
                <a:lnTo>
                  <a:pt x="288213" y="407384"/>
                </a:lnTo>
                <a:lnTo>
                  <a:pt x="288213" y="182656"/>
                </a:lnTo>
                <a:lnTo>
                  <a:pt x="349406" y="182656"/>
                </a:lnTo>
                <a:lnTo>
                  <a:pt x="234632" y="67882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528557" y="5460556"/>
            <a:ext cx="22225" cy="219710"/>
          </a:xfrm>
          <a:custGeom>
            <a:avLst/>
            <a:gdLst/>
            <a:ahLst/>
            <a:cxnLst/>
            <a:rect l="l" t="t" r="r" b="b"/>
            <a:pathLst>
              <a:path w="22225" h="219710">
                <a:moveTo>
                  <a:pt x="22052" y="0"/>
                </a:moveTo>
                <a:lnTo>
                  <a:pt x="0" y="219530"/>
                </a:lnTo>
              </a:path>
            </a:pathLst>
          </a:custGeom>
          <a:ln w="57150">
            <a:solidFill>
              <a:srgbClr val="64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449456" y="5680087"/>
            <a:ext cx="158750" cy="163830"/>
          </a:xfrm>
          <a:custGeom>
            <a:avLst/>
            <a:gdLst/>
            <a:ahLst/>
            <a:cxnLst/>
            <a:rect l="l" t="t" r="r" b="b"/>
            <a:pathLst>
              <a:path w="158750" h="163829">
                <a:moveTo>
                  <a:pt x="79100" y="0"/>
                </a:moveTo>
                <a:lnTo>
                  <a:pt x="48310" y="6422"/>
                </a:lnTo>
                <a:lnTo>
                  <a:pt x="23167" y="23937"/>
                </a:lnTo>
                <a:lnTo>
                  <a:pt x="6216" y="49916"/>
                </a:lnTo>
                <a:lnTo>
                  <a:pt x="0" y="81728"/>
                </a:lnTo>
                <a:lnTo>
                  <a:pt x="6216" y="113541"/>
                </a:lnTo>
                <a:lnTo>
                  <a:pt x="23167" y="139520"/>
                </a:lnTo>
                <a:lnTo>
                  <a:pt x="48310" y="157035"/>
                </a:lnTo>
                <a:lnTo>
                  <a:pt x="79100" y="163458"/>
                </a:lnTo>
                <a:lnTo>
                  <a:pt x="109889" y="157035"/>
                </a:lnTo>
                <a:lnTo>
                  <a:pt x="135033" y="139520"/>
                </a:lnTo>
                <a:lnTo>
                  <a:pt x="151985" y="113541"/>
                </a:lnTo>
                <a:lnTo>
                  <a:pt x="158201" y="81728"/>
                </a:lnTo>
                <a:lnTo>
                  <a:pt x="151985" y="49916"/>
                </a:lnTo>
                <a:lnTo>
                  <a:pt x="135033" y="23937"/>
                </a:lnTo>
                <a:lnTo>
                  <a:pt x="109889" y="6422"/>
                </a:lnTo>
                <a:lnTo>
                  <a:pt x="79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439915" y="5670544"/>
            <a:ext cx="177800" cy="182880"/>
          </a:xfrm>
          <a:custGeom>
            <a:avLst/>
            <a:gdLst/>
            <a:ahLst/>
            <a:cxnLst/>
            <a:rect l="l" t="t" r="r" b="b"/>
            <a:pathLst>
              <a:path w="177800" h="182879">
                <a:moveTo>
                  <a:pt x="88971" y="0"/>
                </a:moveTo>
                <a:lnTo>
                  <a:pt x="88309" y="0"/>
                </a:lnTo>
                <a:lnTo>
                  <a:pt x="71059" y="1796"/>
                </a:lnTo>
                <a:lnTo>
                  <a:pt x="26066" y="26625"/>
                </a:lnTo>
                <a:lnTo>
                  <a:pt x="1846" y="72651"/>
                </a:lnTo>
                <a:lnTo>
                  <a:pt x="0" y="90960"/>
                </a:lnTo>
                <a:lnTo>
                  <a:pt x="59" y="92196"/>
                </a:lnTo>
                <a:lnTo>
                  <a:pt x="14898" y="141931"/>
                </a:lnTo>
                <a:lnTo>
                  <a:pt x="53748" y="175197"/>
                </a:lnTo>
                <a:lnTo>
                  <a:pt x="88309" y="182542"/>
                </a:lnTo>
                <a:lnTo>
                  <a:pt x="88971" y="182542"/>
                </a:lnTo>
                <a:lnTo>
                  <a:pt x="130865" y="171084"/>
                </a:lnTo>
                <a:lnTo>
                  <a:pt x="88640" y="171084"/>
                </a:lnTo>
                <a:lnTo>
                  <a:pt x="73092" y="169465"/>
                </a:lnTo>
                <a:lnTo>
                  <a:pt x="34082" y="147730"/>
                </a:lnTo>
                <a:lnTo>
                  <a:pt x="13025" y="107372"/>
                </a:lnTo>
                <a:lnTo>
                  <a:pt x="11484" y="90960"/>
                </a:lnTo>
                <a:lnTo>
                  <a:pt x="13025" y="75169"/>
                </a:lnTo>
                <a:lnTo>
                  <a:pt x="34082" y="34811"/>
                </a:lnTo>
                <a:lnTo>
                  <a:pt x="73092" y="13076"/>
                </a:lnTo>
                <a:lnTo>
                  <a:pt x="88640" y="11457"/>
                </a:lnTo>
                <a:lnTo>
                  <a:pt x="130865" y="11457"/>
                </a:lnTo>
                <a:lnTo>
                  <a:pt x="123532" y="7344"/>
                </a:lnTo>
                <a:lnTo>
                  <a:pt x="122946" y="7089"/>
                </a:lnTo>
                <a:lnTo>
                  <a:pt x="106865" y="1932"/>
                </a:lnTo>
                <a:lnTo>
                  <a:pt x="106221" y="1796"/>
                </a:lnTo>
                <a:lnTo>
                  <a:pt x="88971" y="0"/>
                </a:lnTo>
                <a:close/>
              </a:path>
              <a:path w="177800" h="182879">
                <a:moveTo>
                  <a:pt x="130865" y="11457"/>
                </a:moveTo>
                <a:lnTo>
                  <a:pt x="88640" y="11457"/>
                </a:lnTo>
                <a:lnTo>
                  <a:pt x="104188" y="13076"/>
                </a:lnTo>
                <a:lnTo>
                  <a:pt x="118664" y="17720"/>
                </a:lnTo>
                <a:lnTo>
                  <a:pt x="152629" y="46622"/>
                </a:lnTo>
                <a:lnTo>
                  <a:pt x="165796" y="90960"/>
                </a:lnTo>
                <a:lnTo>
                  <a:pt x="165736" y="92196"/>
                </a:lnTo>
                <a:lnTo>
                  <a:pt x="152629" y="135919"/>
                </a:lnTo>
                <a:lnTo>
                  <a:pt x="118664" y="164821"/>
                </a:lnTo>
                <a:lnTo>
                  <a:pt x="88640" y="171084"/>
                </a:lnTo>
                <a:lnTo>
                  <a:pt x="130865" y="171084"/>
                </a:lnTo>
                <a:lnTo>
                  <a:pt x="162073" y="142405"/>
                </a:lnTo>
                <a:lnTo>
                  <a:pt x="177220" y="92196"/>
                </a:lnTo>
                <a:lnTo>
                  <a:pt x="177280" y="90960"/>
                </a:lnTo>
                <a:lnTo>
                  <a:pt x="175554" y="73259"/>
                </a:lnTo>
                <a:lnTo>
                  <a:pt x="151637" y="27062"/>
                </a:lnTo>
                <a:lnTo>
                  <a:pt x="138065" y="15495"/>
                </a:lnTo>
                <a:lnTo>
                  <a:pt x="130865" y="11457"/>
                </a:lnTo>
                <a:close/>
              </a:path>
              <a:path w="177800" h="182879">
                <a:moveTo>
                  <a:pt x="88640" y="15288"/>
                </a:moveTo>
                <a:lnTo>
                  <a:pt x="47697" y="28211"/>
                </a:lnTo>
                <a:lnTo>
                  <a:pt x="21071" y="61629"/>
                </a:lnTo>
                <a:lnTo>
                  <a:pt x="15312" y="90960"/>
                </a:lnTo>
                <a:lnTo>
                  <a:pt x="15372" y="92196"/>
                </a:lnTo>
                <a:lnTo>
                  <a:pt x="27854" y="133826"/>
                </a:lnTo>
                <a:lnTo>
                  <a:pt x="60144" y="161311"/>
                </a:lnTo>
                <a:lnTo>
                  <a:pt x="88640" y="167254"/>
                </a:lnTo>
                <a:lnTo>
                  <a:pt x="103400" y="165716"/>
                </a:lnTo>
                <a:lnTo>
                  <a:pt x="110550" y="163423"/>
                </a:lnTo>
                <a:lnTo>
                  <a:pt x="88640" y="163423"/>
                </a:lnTo>
                <a:lnTo>
                  <a:pt x="74668" y="161968"/>
                </a:lnTo>
                <a:lnTo>
                  <a:pt x="39582" y="142405"/>
                </a:lnTo>
                <a:lnTo>
                  <a:pt x="20537" y="105892"/>
                </a:lnTo>
                <a:lnTo>
                  <a:pt x="19141" y="90960"/>
                </a:lnTo>
                <a:lnTo>
                  <a:pt x="20537" y="76650"/>
                </a:lnTo>
                <a:lnTo>
                  <a:pt x="39620" y="40104"/>
                </a:lnTo>
                <a:lnTo>
                  <a:pt x="74668" y="20574"/>
                </a:lnTo>
                <a:lnTo>
                  <a:pt x="88640" y="19118"/>
                </a:lnTo>
                <a:lnTo>
                  <a:pt x="110550" y="19118"/>
                </a:lnTo>
                <a:lnTo>
                  <a:pt x="103400" y="16825"/>
                </a:lnTo>
                <a:lnTo>
                  <a:pt x="88640" y="15288"/>
                </a:lnTo>
                <a:close/>
              </a:path>
              <a:path w="177800" h="182879">
                <a:moveTo>
                  <a:pt x="110550" y="19118"/>
                </a:moveTo>
                <a:lnTo>
                  <a:pt x="88640" y="19118"/>
                </a:lnTo>
                <a:lnTo>
                  <a:pt x="102613" y="20574"/>
                </a:lnTo>
                <a:lnTo>
                  <a:pt x="115608" y="24741"/>
                </a:lnTo>
                <a:lnTo>
                  <a:pt x="146222" y="50809"/>
                </a:lnTo>
                <a:lnTo>
                  <a:pt x="158140" y="90960"/>
                </a:lnTo>
                <a:lnTo>
                  <a:pt x="158080" y="92196"/>
                </a:lnTo>
                <a:lnTo>
                  <a:pt x="146222" y="131732"/>
                </a:lnTo>
                <a:lnTo>
                  <a:pt x="115608" y="157800"/>
                </a:lnTo>
                <a:lnTo>
                  <a:pt x="88640" y="163423"/>
                </a:lnTo>
                <a:lnTo>
                  <a:pt x="110550" y="163423"/>
                </a:lnTo>
                <a:lnTo>
                  <a:pt x="149425" y="133826"/>
                </a:lnTo>
                <a:lnTo>
                  <a:pt x="161908" y="92196"/>
                </a:lnTo>
                <a:lnTo>
                  <a:pt x="161968" y="90960"/>
                </a:lnTo>
                <a:lnTo>
                  <a:pt x="160500" y="75910"/>
                </a:lnTo>
                <a:lnTo>
                  <a:pt x="140449" y="37473"/>
                </a:lnTo>
                <a:lnTo>
                  <a:pt x="117137" y="21230"/>
                </a:lnTo>
                <a:lnTo>
                  <a:pt x="110550" y="19118"/>
                </a:lnTo>
                <a:close/>
              </a:path>
            </a:pathLst>
          </a:custGeom>
          <a:solidFill>
            <a:srgbClr val="64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907363" y="2399386"/>
            <a:ext cx="3297031" cy="14970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050535" y="2432304"/>
            <a:ext cx="697991" cy="2804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891784" y="2432304"/>
            <a:ext cx="691895" cy="2773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720840" y="2426207"/>
            <a:ext cx="691896" cy="2804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131940" y="2465323"/>
            <a:ext cx="21367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1535" algn="l"/>
                <a:tab pos="1682750" algn="l"/>
              </a:tabLst>
            </a:pPr>
            <a:r>
              <a:rPr dirty="0" sz="1200" spc="-5">
                <a:latin typeface="Arial"/>
                <a:cs typeface="Arial"/>
              </a:rPr>
              <a:t>Step </a:t>
            </a:r>
            <a:r>
              <a:rPr dirty="0" sz="1200">
                <a:latin typeface="Arial"/>
                <a:cs typeface="Arial"/>
              </a:rPr>
              <a:t>3	</a:t>
            </a:r>
            <a:r>
              <a:rPr dirty="0" sz="1200" spc="-5">
                <a:latin typeface="Arial"/>
                <a:cs typeface="Arial"/>
              </a:rPr>
              <a:t>Step </a:t>
            </a:r>
            <a:r>
              <a:rPr dirty="0" sz="1200">
                <a:latin typeface="Arial"/>
                <a:cs typeface="Arial"/>
              </a:rPr>
              <a:t>4	</a:t>
            </a:r>
            <a:r>
              <a:rPr dirty="0" baseline="2314" sz="1800" spc="-7">
                <a:latin typeface="Arial"/>
                <a:cs typeface="Arial"/>
              </a:rPr>
              <a:t>Step</a:t>
            </a:r>
            <a:r>
              <a:rPr dirty="0" baseline="2314" sz="1800" spc="-150">
                <a:latin typeface="Arial"/>
                <a:cs typeface="Arial"/>
              </a:rPr>
              <a:t> </a:t>
            </a:r>
            <a:r>
              <a:rPr dirty="0" baseline="2314" sz="1800">
                <a:latin typeface="Arial"/>
                <a:cs typeface="Arial"/>
              </a:rPr>
              <a:t>5</a:t>
            </a:r>
            <a:endParaRPr baseline="2314" sz="18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699504" y="3151632"/>
            <a:ext cx="838200" cy="2804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6778788" y="3187700"/>
            <a:ext cx="5499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Step</a:t>
            </a:r>
            <a:r>
              <a:rPr dirty="0" sz="1200" spc="-100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10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867400" y="3142488"/>
            <a:ext cx="746759" cy="28041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946358" y="3178555"/>
            <a:ext cx="5391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Step</a:t>
            </a:r>
            <a:r>
              <a:rPr dirty="0" sz="1200" spc="-95">
                <a:latin typeface="Arial"/>
                <a:cs typeface="Arial"/>
              </a:rPr>
              <a:t> </a:t>
            </a:r>
            <a:r>
              <a:rPr dirty="0" sz="1200" spc="-50">
                <a:latin typeface="Arial"/>
                <a:cs typeface="Arial"/>
              </a:rPr>
              <a:t>11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038344" y="3127248"/>
            <a:ext cx="743712" cy="28041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117844" y="3163316"/>
            <a:ext cx="5499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Step</a:t>
            </a:r>
            <a:r>
              <a:rPr dirty="0" sz="1200" spc="-100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12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63</a:t>
            </a:fld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7260335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9768" y="1226820"/>
            <a:ext cx="756412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How </a:t>
            </a: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to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pick which node </a:t>
            </a: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to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add </a:t>
            </a:r>
            <a:r>
              <a:rPr dirty="0" spc="-20" b="1">
                <a:solidFill>
                  <a:srgbClr val="D60093"/>
                </a:solidFill>
                <a:latin typeface="Calibri"/>
                <a:cs typeface="Calibri"/>
              </a:rPr>
              <a:t>at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each</a:t>
            </a:r>
            <a:r>
              <a:rPr dirty="0" spc="4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20" b="1">
                <a:solidFill>
                  <a:srgbClr val="D60093"/>
                </a:solidFill>
                <a:latin typeface="Calibri"/>
                <a:cs typeface="Calibri"/>
              </a:rPr>
              <a:t>step?</a:t>
            </a:r>
          </a:p>
        </p:txBody>
      </p:sp>
      <p:sp>
        <p:nvSpPr>
          <p:cNvPr id="4" name="object 4"/>
          <p:cNvSpPr/>
          <p:nvPr/>
        </p:nvSpPr>
        <p:spPr>
          <a:xfrm>
            <a:off x="8832412" y="3461342"/>
            <a:ext cx="298450" cy="163830"/>
          </a:xfrm>
          <a:custGeom>
            <a:avLst/>
            <a:gdLst/>
            <a:ahLst/>
            <a:cxnLst/>
            <a:rect l="l" t="t" r="r" b="b"/>
            <a:pathLst>
              <a:path w="298450" h="163829">
                <a:moveTo>
                  <a:pt x="93480" y="34156"/>
                </a:moveTo>
                <a:lnTo>
                  <a:pt x="0" y="163685"/>
                </a:lnTo>
                <a:lnTo>
                  <a:pt x="159712" y="160752"/>
                </a:lnTo>
                <a:lnTo>
                  <a:pt x="138598" y="120394"/>
                </a:lnTo>
                <a:lnTo>
                  <a:pt x="113568" y="120394"/>
                </a:lnTo>
                <a:lnTo>
                  <a:pt x="104935" y="117692"/>
                </a:lnTo>
                <a:lnTo>
                  <a:pt x="97619" y="103709"/>
                </a:lnTo>
                <a:lnTo>
                  <a:pt x="100322" y="95076"/>
                </a:lnTo>
                <a:lnTo>
                  <a:pt x="119973" y="84795"/>
                </a:lnTo>
                <a:lnTo>
                  <a:pt x="93480" y="34156"/>
                </a:lnTo>
                <a:close/>
              </a:path>
              <a:path w="298450" h="163829">
                <a:moveTo>
                  <a:pt x="119973" y="84795"/>
                </a:moveTo>
                <a:lnTo>
                  <a:pt x="100322" y="95076"/>
                </a:lnTo>
                <a:lnTo>
                  <a:pt x="97619" y="103709"/>
                </a:lnTo>
                <a:lnTo>
                  <a:pt x="104935" y="117692"/>
                </a:lnTo>
                <a:lnTo>
                  <a:pt x="113568" y="120394"/>
                </a:lnTo>
                <a:lnTo>
                  <a:pt x="133219" y="110113"/>
                </a:lnTo>
                <a:lnTo>
                  <a:pt x="119973" y="84795"/>
                </a:lnTo>
                <a:close/>
              </a:path>
              <a:path w="298450" h="163829">
                <a:moveTo>
                  <a:pt x="133219" y="110113"/>
                </a:moveTo>
                <a:lnTo>
                  <a:pt x="113568" y="120394"/>
                </a:lnTo>
                <a:lnTo>
                  <a:pt x="138598" y="120394"/>
                </a:lnTo>
                <a:lnTo>
                  <a:pt x="133219" y="110113"/>
                </a:lnTo>
                <a:close/>
              </a:path>
              <a:path w="298450" h="163829">
                <a:moveTo>
                  <a:pt x="282053" y="0"/>
                </a:moveTo>
                <a:lnTo>
                  <a:pt x="119973" y="84795"/>
                </a:lnTo>
                <a:lnTo>
                  <a:pt x="133219" y="110113"/>
                </a:lnTo>
                <a:lnTo>
                  <a:pt x="295299" y="25319"/>
                </a:lnTo>
                <a:lnTo>
                  <a:pt x="298001" y="16686"/>
                </a:lnTo>
                <a:lnTo>
                  <a:pt x="290685" y="2702"/>
                </a:lnTo>
                <a:lnTo>
                  <a:pt x="2820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514817" y="2799359"/>
            <a:ext cx="3560847" cy="34453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728246" y="2664014"/>
            <a:ext cx="3415753" cy="26722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63503" y="5318368"/>
            <a:ext cx="48260" cy="34290"/>
          </a:xfrm>
          <a:custGeom>
            <a:avLst/>
            <a:gdLst/>
            <a:ahLst/>
            <a:cxnLst/>
            <a:rect l="l" t="t" r="r" b="b"/>
            <a:pathLst>
              <a:path w="48260" h="34289">
                <a:moveTo>
                  <a:pt x="48043" y="0"/>
                </a:moveTo>
                <a:lnTo>
                  <a:pt x="0" y="34100"/>
                </a:lnTo>
              </a:path>
            </a:pathLst>
          </a:custGeom>
          <a:ln w="57150">
            <a:solidFill>
              <a:srgbClr val="64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82094" y="5117646"/>
            <a:ext cx="5715" cy="40005"/>
          </a:xfrm>
          <a:custGeom>
            <a:avLst/>
            <a:gdLst/>
            <a:ahLst/>
            <a:cxnLst/>
            <a:rect l="l" t="t" r="r" b="b"/>
            <a:pathLst>
              <a:path w="5715" h="40004">
                <a:moveTo>
                  <a:pt x="5697" y="0"/>
                </a:moveTo>
                <a:lnTo>
                  <a:pt x="0" y="39438"/>
                </a:lnTo>
              </a:path>
            </a:pathLst>
          </a:custGeom>
          <a:ln w="57150">
            <a:solidFill>
              <a:srgbClr val="64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014976" y="3217164"/>
            <a:ext cx="1105535" cy="77216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1610"/>
              </a:lnSpc>
              <a:spcBef>
                <a:spcPts val="210"/>
              </a:spcBef>
            </a:pPr>
            <a:r>
              <a:rPr dirty="0" sz="1400" spc="-40">
                <a:latin typeface="Arial"/>
                <a:cs typeface="Arial"/>
              </a:rPr>
              <a:t>N</a:t>
            </a:r>
            <a:r>
              <a:rPr dirty="0" sz="1400" spc="-30">
                <a:latin typeface="Arial"/>
                <a:cs typeface="Arial"/>
              </a:rPr>
              <a:t>e</a:t>
            </a:r>
            <a:r>
              <a:rPr dirty="0" sz="1400" spc="-15">
                <a:latin typeface="Arial"/>
                <a:cs typeface="Arial"/>
              </a:rPr>
              <a:t>i</a:t>
            </a:r>
            <a:r>
              <a:rPr dirty="0" sz="1400" spc="-30">
                <a:latin typeface="Arial"/>
                <a:cs typeface="Arial"/>
              </a:rPr>
              <a:t>ghbo</a:t>
            </a:r>
            <a:r>
              <a:rPr dirty="0" sz="1400" spc="-20">
                <a:latin typeface="Arial"/>
                <a:cs typeface="Arial"/>
              </a:rPr>
              <a:t>r</a:t>
            </a:r>
            <a:r>
              <a:rPr dirty="0" sz="1400" spc="-30">
                <a:latin typeface="Arial"/>
                <a:cs typeface="Arial"/>
              </a:rPr>
              <a:t>hoo</a:t>
            </a:r>
            <a:r>
              <a:rPr dirty="0" sz="1400">
                <a:latin typeface="Arial"/>
                <a:cs typeface="Arial"/>
              </a:rPr>
              <a:t>d  </a:t>
            </a:r>
            <a:r>
              <a:rPr dirty="0" sz="1400" spc="-30">
                <a:latin typeface="Arial"/>
                <a:cs typeface="Arial"/>
              </a:rPr>
              <a:t>embeddings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00" spc="-25">
                <a:latin typeface="Arial"/>
                <a:cs typeface="Arial"/>
              </a:rPr>
              <a:t>Motif</a:t>
            </a:r>
            <a:r>
              <a:rPr dirty="0" sz="1400" spc="-9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walk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98987" y="5670296"/>
            <a:ext cx="50673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latin typeface="Times New Roman"/>
                <a:cs typeface="Times New Roman"/>
              </a:rPr>
              <a:t>Step</a:t>
            </a:r>
            <a:r>
              <a:rPr dirty="0" sz="1500" spc="-9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00078" y="5155184"/>
            <a:ext cx="6019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latin typeface="Times New Roman"/>
                <a:cs typeface="Times New Roman"/>
              </a:rPr>
              <a:t>Step</a:t>
            </a:r>
            <a:r>
              <a:rPr dirty="0" sz="1500" spc="-9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12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63501" y="5731147"/>
            <a:ext cx="495934" cy="129539"/>
          </a:xfrm>
          <a:custGeom>
            <a:avLst/>
            <a:gdLst/>
            <a:ahLst/>
            <a:cxnLst/>
            <a:rect l="l" t="t" r="r" b="b"/>
            <a:pathLst>
              <a:path w="495934" h="129539">
                <a:moveTo>
                  <a:pt x="115694" y="3587"/>
                </a:moveTo>
                <a:lnTo>
                  <a:pt x="0" y="85906"/>
                </a:lnTo>
                <a:lnTo>
                  <a:pt x="135271" y="129069"/>
                </a:lnTo>
                <a:lnTo>
                  <a:pt x="127383" y="78508"/>
                </a:lnTo>
                <a:lnTo>
                  <a:pt x="109204" y="78508"/>
                </a:lnTo>
                <a:lnTo>
                  <a:pt x="104334" y="74952"/>
                </a:lnTo>
                <a:lnTo>
                  <a:pt x="102712" y="64557"/>
                </a:lnTo>
                <a:lnTo>
                  <a:pt x="106268" y="59686"/>
                </a:lnTo>
                <a:lnTo>
                  <a:pt x="124014" y="56917"/>
                </a:lnTo>
                <a:lnTo>
                  <a:pt x="115694" y="3587"/>
                </a:lnTo>
                <a:close/>
              </a:path>
              <a:path w="495934" h="129539">
                <a:moveTo>
                  <a:pt x="124014" y="56917"/>
                </a:moveTo>
                <a:lnTo>
                  <a:pt x="106268" y="59686"/>
                </a:lnTo>
                <a:lnTo>
                  <a:pt x="102712" y="64557"/>
                </a:lnTo>
                <a:lnTo>
                  <a:pt x="104334" y="74952"/>
                </a:lnTo>
                <a:lnTo>
                  <a:pt x="109204" y="78508"/>
                </a:lnTo>
                <a:lnTo>
                  <a:pt x="126951" y="75739"/>
                </a:lnTo>
                <a:lnTo>
                  <a:pt x="124014" y="56917"/>
                </a:lnTo>
                <a:close/>
              </a:path>
              <a:path w="495934" h="129539">
                <a:moveTo>
                  <a:pt x="126951" y="75739"/>
                </a:moveTo>
                <a:lnTo>
                  <a:pt x="109204" y="78508"/>
                </a:lnTo>
                <a:lnTo>
                  <a:pt x="127383" y="78508"/>
                </a:lnTo>
                <a:lnTo>
                  <a:pt x="126951" y="75739"/>
                </a:lnTo>
                <a:close/>
              </a:path>
              <a:path w="495934" h="129539">
                <a:moveTo>
                  <a:pt x="488826" y="0"/>
                </a:moveTo>
                <a:lnTo>
                  <a:pt x="124014" y="56917"/>
                </a:lnTo>
                <a:lnTo>
                  <a:pt x="126951" y="75739"/>
                </a:lnTo>
                <a:lnTo>
                  <a:pt x="491763" y="18822"/>
                </a:lnTo>
                <a:lnTo>
                  <a:pt x="495319" y="13951"/>
                </a:lnTo>
                <a:lnTo>
                  <a:pt x="493697" y="3556"/>
                </a:lnTo>
                <a:lnTo>
                  <a:pt x="4888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 rot="20100000">
            <a:off x="7079740" y="5399569"/>
            <a:ext cx="32509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0"/>
              </a:lnSpc>
            </a:pPr>
            <a:r>
              <a:rPr dirty="0" sz="1800">
                <a:latin typeface="Times New Roman"/>
                <a:cs typeface="Times New Roman"/>
              </a:rPr>
              <a:t>…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26520" y="2540507"/>
            <a:ext cx="309689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45" b="1">
                <a:latin typeface="Arial"/>
                <a:cs typeface="Arial"/>
              </a:rPr>
              <a:t>Walk </a:t>
            </a:r>
            <a:r>
              <a:rPr dirty="0" sz="2000" spc="-10" b="1">
                <a:latin typeface="Arial"/>
                <a:cs typeface="Arial"/>
              </a:rPr>
              <a:t>in </a:t>
            </a:r>
            <a:r>
              <a:rPr dirty="0" sz="2000" spc="-30" b="1">
                <a:latin typeface="Arial"/>
                <a:cs typeface="Arial"/>
              </a:rPr>
              <a:t>Embedding</a:t>
            </a:r>
            <a:r>
              <a:rPr dirty="0" sz="2000" spc="-170" b="1">
                <a:latin typeface="Arial"/>
                <a:cs typeface="Arial"/>
              </a:rPr>
              <a:t> </a:t>
            </a:r>
            <a:r>
              <a:rPr dirty="0" sz="2000" spc="-30" b="1">
                <a:latin typeface="Arial"/>
                <a:cs typeface="Arial"/>
              </a:rPr>
              <a:t>Space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3051" y="1768347"/>
            <a:ext cx="4590415" cy="8851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50"/>
              </a:spcBef>
            </a:pPr>
            <a:r>
              <a:rPr dirty="0" sz="2800" spc="-60" b="1">
                <a:solidFill>
                  <a:srgbClr val="C00000"/>
                </a:solidFill>
                <a:latin typeface="Calibri"/>
                <a:cs typeface="Calibri"/>
              </a:rPr>
              <a:t>Total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violation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subgraph </a:t>
            </a:r>
            <a:r>
              <a:rPr dirty="0" sz="2800" spc="50">
                <a:latin typeface="Cambria Math"/>
                <a:cs typeface="Cambria Math"/>
              </a:rPr>
              <a:t>𝐺</a:t>
            </a:r>
            <a:r>
              <a:rPr dirty="0" sz="2800" spc="50">
                <a:latin typeface="Calibri"/>
                <a:cs typeface="Calibri"/>
              </a:rPr>
              <a:t>:  </a:t>
            </a:r>
            <a:r>
              <a:rPr dirty="0" sz="2800" spc="-5">
                <a:latin typeface="Calibri"/>
                <a:cs typeface="Calibri"/>
              </a:rPr>
              <a:t>the number of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neighborhoods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3051" y="2618739"/>
            <a:ext cx="4631690" cy="1231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>
                <a:latin typeface="Calibri"/>
                <a:cs typeface="Calibri"/>
              </a:rPr>
              <a:t>that </a:t>
            </a:r>
            <a:r>
              <a:rPr dirty="0" sz="2800">
                <a:latin typeface="Calibri"/>
                <a:cs typeface="Calibri"/>
              </a:rPr>
              <a:t>do </a:t>
            </a:r>
            <a:r>
              <a:rPr dirty="0" sz="2800" spc="-5">
                <a:latin typeface="Calibri"/>
                <a:cs typeface="Calibri"/>
              </a:rPr>
              <a:t>not </a:t>
            </a:r>
            <a:r>
              <a:rPr dirty="0" sz="2800" spc="-15">
                <a:latin typeface="Calibri"/>
                <a:cs typeface="Calibri"/>
              </a:rPr>
              <a:t>contain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50">
                <a:latin typeface="Cambria Math"/>
                <a:cs typeface="Cambria Math"/>
              </a:rPr>
              <a:t>𝐺.</a:t>
            </a:r>
            <a:endParaRPr sz="28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The </a:t>
            </a:r>
            <a:r>
              <a:rPr dirty="0" sz="2400" spc="-5">
                <a:latin typeface="Calibri"/>
                <a:cs typeface="Calibri"/>
              </a:rPr>
              <a:t>number of neighborhoods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95">
                <a:solidFill>
                  <a:srgbClr val="B48200"/>
                </a:solidFill>
                <a:latin typeface="Cambria Math"/>
                <a:cs typeface="Cambria Math"/>
              </a:rPr>
              <a:t>𝐺</a:t>
            </a:r>
            <a:r>
              <a:rPr dirty="0" baseline="-15432" sz="2700" spc="-142">
                <a:solidFill>
                  <a:srgbClr val="B48200"/>
                </a:solidFill>
                <a:latin typeface="Cambria Math"/>
                <a:cs typeface="Cambria Math"/>
              </a:rPr>
              <a:t>=</a:t>
            </a:r>
            <a:r>
              <a:rPr dirty="0" baseline="-33730" sz="2100" spc="-142">
                <a:solidFill>
                  <a:srgbClr val="B48200"/>
                </a:solidFill>
                <a:latin typeface="Cambria Math"/>
                <a:cs typeface="Cambria Math"/>
              </a:rPr>
              <a:t>$</a:t>
            </a:r>
            <a:endParaRPr baseline="-33730" sz="2100">
              <a:latin typeface="Cambria Math"/>
              <a:cs typeface="Cambria Math"/>
            </a:endParaRPr>
          </a:p>
          <a:p>
            <a:pPr marL="354965">
              <a:lnSpc>
                <a:spcPct val="100000"/>
              </a:lnSpc>
              <a:spcBef>
                <a:spcPts val="240"/>
              </a:spcBef>
            </a:pPr>
            <a:r>
              <a:rPr dirty="0" sz="2400" spc="-10">
                <a:latin typeface="Calibri"/>
                <a:cs typeface="Calibri"/>
              </a:rPr>
              <a:t>that </a:t>
            </a:r>
            <a:r>
              <a:rPr dirty="0" sz="2400">
                <a:latin typeface="Calibri"/>
                <a:cs typeface="Calibri"/>
              </a:rPr>
              <a:t>do </a:t>
            </a:r>
            <a:r>
              <a:rPr dirty="0" sz="2400" spc="-5" b="1">
                <a:latin typeface="Calibri"/>
                <a:cs typeface="Calibri"/>
              </a:rPr>
              <a:t>not </a:t>
            </a:r>
            <a:r>
              <a:rPr dirty="0" sz="2400" spc="-10">
                <a:latin typeface="Calibri"/>
                <a:cs typeface="Calibri"/>
              </a:rPr>
              <a:t>satisfy </a:t>
            </a:r>
            <a:r>
              <a:rPr dirty="0" sz="2400" spc="-80">
                <a:solidFill>
                  <a:srgbClr val="C00000"/>
                </a:solidFill>
                <a:latin typeface="Cambria Math"/>
                <a:cs typeface="Cambria Math"/>
              </a:rPr>
              <a:t>𝑧</a:t>
            </a:r>
            <a:r>
              <a:rPr dirty="0" baseline="-15432" sz="2700" spc="-120">
                <a:solidFill>
                  <a:srgbClr val="C00000"/>
                </a:solidFill>
                <a:latin typeface="Cambria Math"/>
                <a:cs typeface="Cambria Math"/>
              </a:rPr>
              <a:t>&gt;  </a:t>
            </a:r>
            <a:r>
              <a:rPr dirty="0" sz="2400">
                <a:latin typeface="Cambria Math"/>
                <a:cs typeface="Cambria Math"/>
              </a:rPr>
              <a:t>≼</a:t>
            </a:r>
            <a:r>
              <a:rPr dirty="0" sz="2400" spc="30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B48200"/>
                </a:solidFill>
                <a:latin typeface="Cambria Math"/>
                <a:cs typeface="Cambria Math"/>
              </a:rPr>
              <a:t>𝑧</a:t>
            </a:r>
            <a:r>
              <a:rPr dirty="0" baseline="-15432" sz="2700" spc="-37">
                <a:solidFill>
                  <a:srgbClr val="B48200"/>
                </a:solidFill>
                <a:latin typeface="Cambria Math"/>
                <a:cs typeface="Cambria Math"/>
              </a:rPr>
              <a:t>=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3051" y="3695700"/>
            <a:ext cx="4682490" cy="2932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918844">
              <a:lnSpc>
                <a:spcPts val="1455"/>
              </a:lnSpc>
              <a:spcBef>
                <a:spcPts val="100"/>
              </a:spcBef>
            </a:pPr>
            <a:r>
              <a:rPr dirty="0" sz="1400" spc="-185">
                <a:solidFill>
                  <a:srgbClr val="B48200"/>
                </a:solidFill>
                <a:latin typeface="Cambria Math"/>
                <a:cs typeface="Cambria Math"/>
              </a:rPr>
              <a:t>$</a:t>
            </a:r>
            <a:endParaRPr sz="1400">
              <a:latin typeface="Cambria Math"/>
              <a:cs typeface="Cambria Math"/>
            </a:endParaRPr>
          </a:p>
          <a:p>
            <a:pPr marL="355600" indent="-342900">
              <a:lnSpc>
                <a:spcPts val="2655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Calibri"/>
                <a:cs typeface="Calibri"/>
              </a:rPr>
              <a:t>Minimizing </a:t>
            </a:r>
            <a:r>
              <a:rPr dirty="0" sz="2400" spc="-15">
                <a:latin typeface="Calibri"/>
                <a:cs typeface="Calibri"/>
              </a:rPr>
              <a:t>total </a:t>
            </a:r>
            <a:r>
              <a:rPr dirty="0" sz="2400" spc="-10">
                <a:latin typeface="Calibri"/>
                <a:cs typeface="Calibri"/>
              </a:rPr>
              <a:t>violation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  <a:spcBef>
                <a:spcPts val="20"/>
              </a:spcBef>
            </a:pPr>
            <a:r>
              <a:rPr dirty="0" sz="2400" spc="-5">
                <a:latin typeface="Calibri"/>
                <a:cs typeface="Calibri"/>
              </a:rPr>
              <a:t>maximizing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frequency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3335"/>
              </a:lnSpc>
              <a:spcBef>
                <a:spcPts val="2405"/>
              </a:spcBef>
            </a:pPr>
            <a:r>
              <a:rPr dirty="0" sz="2800" spc="-10" b="1">
                <a:latin typeface="Calibri"/>
                <a:cs typeface="Calibri"/>
              </a:rPr>
              <a:t>Greedy </a:t>
            </a:r>
            <a:r>
              <a:rPr dirty="0" sz="2800" spc="-20" b="1">
                <a:latin typeface="Calibri"/>
                <a:cs typeface="Calibri"/>
              </a:rPr>
              <a:t>strategy</a:t>
            </a:r>
            <a:r>
              <a:rPr dirty="0" sz="280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(heuristic)</a:t>
            </a:r>
            <a:r>
              <a:rPr dirty="0" sz="2800" spc="-1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3379"/>
              </a:lnSpc>
              <a:spcBef>
                <a:spcPts val="70"/>
              </a:spcBef>
            </a:pPr>
            <a:r>
              <a:rPr dirty="0" sz="2800" spc="-35">
                <a:latin typeface="Calibri"/>
                <a:cs typeface="Calibri"/>
              </a:rPr>
              <a:t>At </a:t>
            </a:r>
            <a:r>
              <a:rPr dirty="0" sz="2800" spc="-15">
                <a:latin typeface="Calibri"/>
                <a:cs typeface="Calibri"/>
              </a:rPr>
              <a:t>every step, </a:t>
            </a:r>
            <a:r>
              <a:rPr dirty="0" sz="2800" spc="-5">
                <a:latin typeface="Calibri"/>
                <a:cs typeface="Calibri"/>
              </a:rPr>
              <a:t>add the node </a:t>
            </a:r>
            <a:r>
              <a:rPr dirty="0" sz="2800" spc="-10">
                <a:latin typeface="Calibri"/>
                <a:cs typeface="Calibri"/>
              </a:rPr>
              <a:t>that  results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smallest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total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3290"/>
              </a:lnSpc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violation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944792" y="5494456"/>
            <a:ext cx="22225" cy="219710"/>
          </a:xfrm>
          <a:custGeom>
            <a:avLst/>
            <a:gdLst/>
            <a:ahLst/>
            <a:cxnLst/>
            <a:rect l="l" t="t" r="r" b="b"/>
            <a:pathLst>
              <a:path w="22225" h="219710">
                <a:moveTo>
                  <a:pt x="22052" y="0"/>
                </a:moveTo>
                <a:lnTo>
                  <a:pt x="0" y="219530"/>
                </a:lnTo>
              </a:path>
            </a:pathLst>
          </a:custGeom>
          <a:ln w="57150">
            <a:solidFill>
              <a:srgbClr val="64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865691" y="5713986"/>
            <a:ext cx="158750" cy="163830"/>
          </a:xfrm>
          <a:custGeom>
            <a:avLst/>
            <a:gdLst/>
            <a:ahLst/>
            <a:cxnLst/>
            <a:rect l="l" t="t" r="r" b="b"/>
            <a:pathLst>
              <a:path w="158750" h="163829">
                <a:moveTo>
                  <a:pt x="79100" y="0"/>
                </a:moveTo>
                <a:lnTo>
                  <a:pt x="48310" y="6422"/>
                </a:lnTo>
                <a:lnTo>
                  <a:pt x="23167" y="23937"/>
                </a:lnTo>
                <a:lnTo>
                  <a:pt x="6216" y="49916"/>
                </a:lnTo>
                <a:lnTo>
                  <a:pt x="0" y="81729"/>
                </a:lnTo>
                <a:lnTo>
                  <a:pt x="6216" y="113541"/>
                </a:lnTo>
                <a:lnTo>
                  <a:pt x="23167" y="139520"/>
                </a:lnTo>
                <a:lnTo>
                  <a:pt x="48310" y="157035"/>
                </a:lnTo>
                <a:lnTo>
                  <a:pt x="79100" y="163458"/>
                </a:lnTo>
                <a:lnTo>
                  <a:pt x="109889" y="157035"/>
                </a:lnTo>
                <a:lnTo>
                  <a:pt x="135033" y="139520"/>
                </a:lnTo>
                <a:lnTo>
                  <a:pt x="151985" y="113541"/>
                </a:lnTo>
                <a:lnTo>
                  <a:pt x="158201" y="81729"/>
                </a:lnTo>
                <a:lnTo>
                  <a:pt x="151985" y="49916"/>
                </a:lnTo>
                <a:lnTo>
                  <a:pt x="135033" y="23937"/>
                </a:lnTo>
                <a:lnTo>
                  <a:pt x="109889" y="6422"/>
                </a:lnTo>
                <a:lnTo>
                  <a:pt x="79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856151" y="5704444"/>
            <a:ext cx="177800" cy="182880"/>
          </a:xfrm>
          <a:custGeom>
            <a:avLst/>
            <a:gdLst/>
            <a:ahLst/>
            <a:cxnLst/>
            <a:rect l="l" t="t" r="r" b="b"/>
            <a:pathLst>
              <a:path w="177800" h="182879">
                <a:moveTo>
                  <a:pt x="88971" y="0"/>
                </a:moveTo>
                <a:lnTo>
                  <a:pt x="88309" y="0"/>
                </a:lnTo>
                <a:lnTo>
                  <a:pt x="71059" y="1796"/>
                </a:lnTo>
                <a:lnTo>
                  <a:pt x="26066" y="26625"/>
                </a:lnTo>
                <a:lnTo>
                  <a:pt x="1846" y="72651"/>
                </a:lnTo>
                <a:lnTo>
                  <a:pt x="0" y="90960"/>
                </a:lnTo>
                <a:lnTo>
                  <a:pt x="59" y="92196"/>
                </a:lnTo>
                <a:lnTo>
                  <a:pt x="14898" y="141931"/>
                </a:lnTo>
                <a:lnTo>
                  <a:pt x="53748" y="175197"/>
                </a:lnTo>
                <a:lnTo>
                  <a:pt x="88309" y="182542"/>
                </a:lnTo>
                <a:lnTo>
                  <a:pt x="88971" y="182542"/>
                </a:lnTo>
                <a:lnTo>
                  <a:pt x="130865" y="171084"/>
                </a:lnTo>
                <a:lnTo>
                  <a:pt x="88640" y="171084"/>
                </a:lnTo>
                <a:lnTo>
                  <a:pt x="73092" y="169465"/>
                </a:lnTo>
                <a:lnTo>
                  <a:pt x="34082" y="147730"/>
                </a:lnTo>
                <a:lnTo>
                  <a:pt x="13025" y="107372"/>
                </a:lnTo>
                <a:lnTo>
                  <a:pt x="11484" y="90960"/>
                </a:lnTo>
                <a:lnTo>
                  <a:pt x="13025" y="75169"/>
                </a:lnTo>
                <a:lnTo>
                  <a:pt x="34082" y="34811"/>
                </a:lnTo>
                <a:lnTo>
                  <a:pt x="73092" y="13076"/>
                </a:lnTo>
                <a:lnTo>
                  <a:pt x="88640" y="11457"/>
                </a:lnTo>
                <a:lnTo>
                  <a:pt x="130865" y="11457"/>
                </a:lnTo>
                <a:lnTo>
                  <a:pt x="123532" y="7344"/>
                </a:lnTo>
                <a:lnTo>
                  <a:pt x="122946" y="7089"/>
                </a:lnTo>
                <a:lnTo>
                  <a:pt x="106865" y="1932"/>
                </a:lnTo>
                <a:lnTo>
                  <a:pt x="106221" y="1796"/>
                </a:lnTo>
                <a:lnTo>
                  <a:pt x="88971" y="0"/>
                </a:lnTo>
                <a:close/>
              </a:path>
              <a:path w="177800" h="182879">
                <a:moveTo>
                  <a:pt x="130865" y="11457"/>
                </a:moveTo>
                <a:lnTo>
                  <a:pt x="88640" y="11457"/>
                </a:lnTo>
                <a:lnTo>
                  <a:pt x="104188" y="13076"/>
                </a:lnTo>
                <a:lnTo>
                  <a:pt x="118664" y="17720"/>
                </a:lnTo>
                <a:lnTo>
                  <a:pt x="152629" y="46622"/>
                </a:lnTo>
                <a:lnTo>
                  <a:pt x="165796" y="90960"/>
                </a:lnTo>
                <a:lnTo>
                  <a:pt x="165736" y="92196"/>
                </a:lnTo>
                <a:lnTo>
                  <a:pt x="152629" y="135919"/>
                </a:lnTo>
                <a:lnTo>
                  <a:pt x="118664" y="164821"/>
                </a:lnTo>
                <a:lnTo>
                  <a:pt x="88640" y="171084"/>
                </a:lnTo>
                <a:lnTo>
                  <a:pt x="130865" y="171084"/>
                </a:lnTo>
                <a:lnTo>
                  <a:pt x="162073" y="142405"/>
                </a:lnTo>
                <a:lnTo>
                  <a:pt x="177220" y="92196"/>
                </a:lnTo>
                <a:lnTo>
                  <a:pt x="177280" y="90960"/>
                </a:lnTo>
                <a:lnTo>
                  <a:pt x="175553" y="73259"/>
                </a:lnTo>
                <a:lnTo>
                  <a:pt x="151637" y="27062"/>
                </a:lnTo>
                <a:lnTo>
                  <a:pt x="138065" y="15495"/>
                </a:lnTo>
                <a:lnTo>
                  <a:pt x="130865" y="11457"/>
                </a:lnTo>
                <a:close/>
              </a:path>
              <a:path w="177800" h="182879">
                <a:moveTo>
                  <a:pt x="88640" y="15288"/>
                </a:moveTo>
                <a:lnTo>
                  <a:pt x="47697" y="28211"/>
                </a:lnTo>
                <a:lnTo>
                  <a:pt x="21071" y="61629"/>
                </a:lnTo>
                <a:lnTo>
                  <a:pt x="15312" y="90960"/>
                </a:lnTo>
                <a:lnTo>
                  <a:pt x="15372" y="92196"/>
                </a:lnTo>
                <a:lnTo>
                  <a:pt x="27854" y="133826"/>
                </a:lnTo>
                <a:lnTo>
                  <a:pt x="60144" y="161311"/>
                </a:lnTo>
                <a:lnTo>
                  <a:pt x="88640" y="167254"/>
                </a:lnTo>
                <a:lnTo>
                  <a:pt x="103400" y="165716"/>
                </a:lnTo>
                <a:lnTo>
                  <a:pt x="110550" y="163423"/>
                </a:lnTo>
                <a:lnTo>
                  <a:pt x="88640" y="163423"/>
                </a:lnTo>
                <a:lnTo>
                  <a:pt x="74668" y="161968"/>
                </a:lnTo>
                <a:lnTo>
                  <a:pt x="39582" y="142405"/>
                </a:lnTo>
                <a:lnTo>
                  <a:pt x="20537" y="105892"/>
                </a:lnTo>
                <a:lnTo>
                  <a:pt x="19139" y="90960"/>
                </a:lnTo>
                <a:lnTo>
                  <a:pt x="20537" y="76650"/>
                </a:lnTo>
                <a:lnTo>
                  <a:pt x="39620" y="40104"/>
                </a:lnTo>
                <a:lnTo>
                  <a:pt x="74668" y="20574"/>
                </a:lnTo>
                <a:lnTo>
                  <a:pt x="88640" y="19118"/>
                </a:lnTo>
                <a:lnTo>
                  <a:pt x="110550" y="19118"/>
                </a:lnTo>
                <a:lnTo>
                  <a:pt x="103400" y="16825"/>
                </a:lnTo>
                <a:lnTo>
                  <a:pt x="88640" y="15288"/>
                </a:lnTo>
                <a:close/>
              </a:path>
              <a:path w="177800" h="182879">
                <a:moveTo>
                  <a:pt x="110550" y="19118"/>
                </a:moveTo>
                <a:lnTo>
                  <a:pt x="88640" y="19118"/>
                </a:lnTo>
                <a:lnTo>
                  <a:pt x="102613" y="20574"/>
                </a:lnTo>
                <a:lnTo>
                  <a:pt x="115608" y="24741"/>
                </a:lnTo>
                <a:lnTo>
                  <a:pt x="146222" y="50809"/>
                </a:lnTo>
                <a:lnTo>
                  <a:pt x="158140" y="90960"/>
                </a:lnTo>
                <a:lnTo>
                  <a:pt x="158080" y="92196"/>
                </a:lnTo>
                <a:lnTo>
                  <a:pt x="146222" y="131732"/>
                </a:lnTo>
                <a:lnTo>
                  <a:pt x="115608" y="157800"/>
                </a:lnTo>
                <a:lnTo>
                  <a:pt x="88640" y="163423"/>
                </a:lnTo>
                <a:lnTo>
                  <a:pt x="110550" y="163423"/>
                </a:lnTo>
                <a:lnTo>
                  <a:pt x="149425" y="133826"/>
                </a:lnTo>
                <a:lnTo>
                  <a:pt x="161908" y="92196"/>
                </a:lnTo>
                <a:lnTo>
                  <a:pt x="161968" y="90960"/>
                </a:lnTo>
                <a:lnTo>
                  <a:pt x="160500" y="75909"/>
                </a:lnTo>
                <a:lnTo>
                  <a:pt x="140449" y="37473"/>
                </a:lnTo>
                <a:lnTo>
                  <a:pt x="117137" y="21230"/>
                </a:lnTo>
                <a:lnTo>
                  <a:pt x="110550" y="19118"/>
                </a:lnTo>
                <a:close/>
              </a:path>
            </a:pathLst>
          </a:custGeom>
          <a:solidFill>
            <a:srgbClr val="64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63</a:t>
            </a:fld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5114544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8070215" cy="88519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32740" marR="5080" indent="-320040">
              <a:lnSpc>
                <a:spcPct val="101400"/>
              </a:lnSpc>
              <a:spcBef>
                <a:spcPts val="5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solidFill>
                  <a:srgbClr val="672020"/>
                </a:solidFill>
                <a:latin typeface="Calibri"/>
                <a:cs typeface="Calibri"/>
              </a:rPr>
              <a:t>Ground </a:t>
            </a:r>
            <a:r>
              <a:rPr dirty="0" sz="2800" spc="-5" b="1">
                <a:solidFill>
                  <a:srgbClr val="672020"/>
                </a:solidFill>
                <a:latin typeface="Calibri"/>
                <a:cs typeface="Calibri"/>
              </a:rPr>
              <a:t>truth</a:t>
            </a:r>
            <a:r>
              <a:rPr dirty="0" sz="2800" spc="-5" b="1">
                <a:latin typeface="Calibri"/>
                <a:cs typeface="Calibri"/>
              </a:rPr>
              <a:t>: </a:t>
            </a:r>
            <a:r>
              <a:rPr dirty="0" sz="2800" spc="-5"/>
              <a:t>find </a:t>
            </a:r>
            <a:r>
              <a:rPr dirty="0" sz="2800" spc="-10"/>
              <a:t>most </a:t>
            </a:r>
            <a:r>
              <a:rPr dirty="0" sz="2800" spc="-15"/>
              <a:t>frequent </a:t>
            </a:r>
            <a:r>
              <a:rPr dirty="0" sz="2800"/>
              <a:t>10 </a:t>
            </a:r>
            <a:r>
              <a:rPr dirty="0" sz="2800" spc="-15"/>
              <a:t>motifs </a:t>
            </a:r>
            <a:r>
              <a:rPr dirty="0" sz="2800" spc="-10"/>
              <a:t>in  </a:t>
            </a:r>
            <a:r>
              <a:rPr dirty="0" sz="2800" spc="-15"/>
              <a:t>dataset </a:t>
            </a:r>
            <a:r>
              <a:rPr dirty="0" sz="2800" spc="-10"/>
              <a:t>by </a:t>
            </a:r>
            <a:r>
              <a:rPr dirty="0" sz="2800" spc="-20"/>
              <a:t>brute-force </a:t>
            </a:r>
            <a:r>
              <a:rPr dirty="0" sz="2800" spc="-25"/>
              <a:t>exact </a:t>
            </a:r>
            <a:r>
              <a:rPr dirty="0" sz="2800" spc="-15"/>
              <a:t>enumeration</a:t>
            </a:r>
            <a:r>
              <a:rPr dirty="0" sz="2800" spc="125"/>
              <a:t> </a:t>
            </a:r>
            <a:r>
              <a:rPr dirty="0" sz="2800" spc="-15"/>
              <a:t>(expensive)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219451"/>
            <a:ext cx="7653655" cy="1802764"/>
          </a:xfrm>
          <a:prstGeom prst="rect">
            <a:avLst/>
          </a:prstGeom>
        </p:spPr>
        <p:txBody>
          <a:bodyPr wrap="square" lIns="0" tIns="25971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204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Question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Can the model identify </a:t>
            </a:r>
            <a:r>
              <a:rPr dirty="0" sz="2800" spc="-10">
                <a:latin typeface="Calibri"/>
                <a:cs typeface="Calibri"/>
              </a:rPr>
              <a:t>frequent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motifs?</a:t>
            </a:r>
            <a:endParaRPr sz="2800">
              <a:latin typeface="Calibri"/>
              <a:cs typeface="Calibri"/>
            </a:endParaRPr>
          </a:p>
          <a:p>
            <a:pPr marL="332740" marR="165735" indent="-320040">
              <a:lnSpc>
                <a:spcPct val="100699"/>
              </a:lnSpc>
              <a:spcBef>
                <a:spcPts val="192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Result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The model </a:t>
            </a:r>
            <a:r>
              <a:rPr dirty="0" sz="2800" spc="-10">
                <a:latin typeface="Calibri"/>
                <a:cs typeface="Calibri"/>
              </a:rPr>
              <a:t>identifies </a:t>
            </a:r>
            <a:r>
              <a:rPr dirty="0" sz="2800">
                <a:latin typeface="Calibri"/>
                <a:cs typeface="Calibri"/>
              </a:rPr>
              <a:t>9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>
                <a:latin typeface="Calibri"/>
                <a:cs typeface="Calibri"/>
              </a:rPr>
              <a:t>8 </a:t>
            </a:r>
            <a:r>
              <a:rPr dirty="0" sz="2800" spc="-5">
                <a:latin typeface="Calibri"/>
                <a:cs typeface="Calibri"/>
              </a:rPr>
              <a:t>of the </a:t>
            </a:r>
            <a:r>
              <a:rPr dirty="0" sz="2800" spc="-15">
                <a:latin typeface="Calibri"/>
                <a:cs typeface="Calibri"/>
              </a:rPr>
              <a:t>top </a:t>
            </a:r>
            <a:r>
              <a:rPr dirty="0" sz="2800">
                <a:latin typeface="Calibri"/>
                <a:cs typeface="Calibri"/>
              </a:rPr>
              <a:t>10  </a:t>
            </a:r>
            <a:r>
              <a:rPr dirty="0" sz="2800" spc="-10">
                <a:latin typeface="Calibri"/>
                <a:cs typeface="Calibri"/>
              </a:rPr>
              <a:t>motifs,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respectively.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8707" y="4070459"/>
            <a:ext cx="3489092" cy="20779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46434" y="4070459"/>
            <a:ext cx="3467479" cy="20740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695518" y="6333235"/>
            <a:ext cx="2197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 b="1">
                <a:solidFill>
                  <a:srgbClr val="434A5A"/>
                </a:solidFill>
                <a:latin typeface="Arial"/>
                <a:cs typeface="Arial"/>
              </a:rPr>
              <a:t>Traditional</a:t>
            </a:r>
            <a:r>
              <a:rPr dirty="0" sz="1800" spc="-70" b="1">
                <a:solidFill>
                  <a:srgbClr val="434A5A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434A5A"/>
                </a:solidFill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87978" y="6102920"/>
            <a:ext cx="1844675" cy="397510"/>
          </a:xfrm>
          <a:custGeom>
            <a:avLst/>
            <a:gdLst/>
            <a:ahLst/>
            <a:cxnLst/>
            <a:rect l="l" t="t" r="r" b="b"/>
            <a:pathLst>
              <a:path w="1844675" h="397510">
                <a:moveTo>
                  <a:pt x="86876" y="28048"/>
                </a:moveTo>
                <a:lnTo>
                  <a:pt x="81418" y="56097"/>
                </a:lnTo>
                <a:lnTo>
                  <a:pt x="1833816" y="397102"/>
                </a:lnTo>
                <a:lnTo>
                  <a:pt x="1841318" y="392045"/>
                </a:lnTo>
                <a:lnTo>
                  <a:pt x="1844332" y="376554"/>
                </a:lnTo>
                <a:lnTo>
                  <a:pt x="1839274" y="369053"/>
                </a:lnTo>
                <a:lnTo>
                  <a:pt x="86876" y="28048"/>
                </a:lnTo>
                <a:close/>
              </a:path>
              <a:path w="1844675" h="397510">
                <a:moveTo>
                  <a:pt x="92334" y="0"/>
                </a:moveTo>
                <a:lnTo>
                  <a:pt x="0" y="25698"/>
                </a:lnTo>
                <a:lnTo>
                  <a:pt x="75959" y="84146"/>
                </a:lnTo>
                <a:lnTo>
                  <a:pt x="81418" y="56097"/>
                </a:lnTo>
                <a:lnTo>
                  <a:pt x="59649" y="51861"/>
                </a:lnTo>
                <a:lnTo>
                  <a:pt x="54592" y="44360"/>
                </a:lnTo>
                <a:lnTo>
                  <a:pt x="57605" y="28869"/>
                </a:lnTo>
                <a:lnTo>
                  <a:pt x="65106" y="23812"/>
                </a:lnTo>
                <a:lnTo>
                  <a:pt x="87700" y="23812"/>
                </a:lnTo>
                <a:lnTo>
                  <a:pt x="92334" y="0"/>
                </a:lnTo>
                <a:close/>
              </a:path>
              <a:path w="1844675" h="397510">
                <a:moveTo>
                  <a:pt x="65106" y="23812"/>
                </a:moveTo>
                <a:lnTo>
                  <a:pt x="57605" y="28869"/>
                </a:lnTo>
                <a:lnTo>
                  <a:pt x="54592" y="44360"/>
                </a:lnTo>
                <a:lnTo>
                  <a:pt x="59649" y="51861"/>
                </a:lnTo>
                <a:lnTo>
                  <a:pt x="81418" y="56097"/>
                </a:lnTo>
                <a:lnTo>
                  <a:pt x="86876" y="28048"/>
                </a:lnTo>
                <a:lnTo>
                  <a:pt x="65106" y="23812"/>
                </a:lnTo>
                <a:close/>
              </a:path>
              <a:path w="1844675" h="397510">
                <a:moveTo>
                  <a:pt x="87700" y="23812"/>
                </a:moveTo>
                <a:lnTo>
                  <a:pt x="65106" y="23812"/>
                </a:lnTo>
                <a:lnTo>
                  <a:pt x="86876" y="28048"/>
                </a:lnTo>
                <a:lnTo>
                  <a:pt x="87700" y="238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543175" y="6074105"/>
            <a:ext cx="1089660" cy="314325"/>
          </a:xfrm>
          <a:custGeom>
            <a:avLst/>
            <a:gdLst/>
            <a:ahLst/>
            <a:cxnLst/>
            <a:rect l="l" t="t" r="r" b="b"/>
            <a:pathLst>
              <a:path w="1089660" h="314325">
                <a:moveTo>
                  <a:pt x="86568" y="27661"/>
                </a:moveTo>
                <a:lnTo>
                  <a:pt x="79400" y="55322"/>
                </a:lnTo>
                <a:lnTo>
                  <a:pt x="1077658" y="313994"/>
                </a:lnTo>
                <a:lnTo>
                  <a:pt x="1085455" y="309406"/>
                </a:lnTo>
                <a:lnTo>
                  <a:pt x="1089413" y="294129"/>
                </a:lnTo>
                <a:lnTo>
                  <a:pt x="1084826" y="286332"/>
                </a:lnTo>
                <a:lnTo>
                  <a:pt x="86568" y="27661"/>
                </a:lnTo>
                <a:close/>
              </a:path>
              <a:path w="1089660" h="314325">
                <a:moveTo>
                  <a:pt x="93736" y="0"/>
                </a:moveTo>
                <a:lnTo>
                  <a:pt x="0" y="19989"/>
                </a:lnTo>
                <a:lnTo>
                  <a:pt x="72232" y="82984"/>
                </a:lnTo>
                <a:lnTo>
                  <a:pt x="79400" y="55322"/>
                </a:lnTo>
                <a:lnTo>
                  <a:pt x="57931" y="49759"/>
                </a:lnTo>
                <a:lnTo>
                  <a:pt x="53343" y="41962"/>
                </a:lnTo>
                <a:lnTo>
                  <a:pt x="57301" y="26685"/>
                </a:lnTo>
                <a:lnTo>
                  <a:pt x="65098" y="22098"/>
                </a:lnTo>
                <a:lnTo>
                  <a:pt x="88009" y="22098"/>
                </a:lnTo>
                <a:lnTo>
                  <a:pt x="93736" y="0"/>
                </a:lnTo>
                <a:close/>
              </a:path>
              <a:path w="1089660" h="314325">
                <a:moveTo>
                  <a:pt x="65098" y="22098"/>
                </a:moveTo>
                <a:lnTo>
                  <a:pt x="57301" y="26685"/>
                </a:lnTo>
                <a:lnTo>
                  <a:pt x="53343" y="41962"/>
                </a:lnTo>
                <a:lnTo>
                  <a:pt x="57931" y="49759"/>
                </a:lnTo>
                <a:lnTo>
                  <a:pt x="79400" y="55322"/>
                </a:lnTo>
                <a:lnTo>
                  <a:pt x="86568" y="27661"/>
                </a:lnTo>
                <a:lnTo>
                  <a:pt x="65098" y="22098"/>
                </a:lnTo>
                <a:close/>
              </a:path>
              <a:path w="1089660" h="314325">
                <a:moveTo>
                  <a:pt x="88009" y="22098"/>
                </a:moveTo>
                <a:lnTo>
                  <a:pt x="65098" y="22098"/>
                </a:lnTo>
                <a:lnTo>
                  <a:pt x="86568" y="27661"/>
                </a:lnTo>
                <a:lnTo>
                  <a:pt x="88009" y="220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462217" y="6094095"/>
            <a:ext cx="313690" cy="265430"/>
          </a:xfrm>
          <a:custGeom>
            <a:avLst/>
            <a:gdLst/>
            <a:ahLst/>
            <a:cxnLst/>
            <a:rect l="l" t="t" r="r" b="b"/>
            <a:pathLst>
              <a:path w="313689" h="265429">
                <a:moveTo>
                  <a:pt x="238229" y="44129"/>
                </a:moveTo>
                <a:lnTo>
                  <a:pt x="791" y="243207"/>
                </a:lnTo>
                <a:lnTo>
                  <a:pt x="0" y="252219"/>
                </a:lnTo>
                <a:lnTo>
                  <a:pt x="10139" y="264312"/>
                </a:lnTo>
                <a:lnTo>
                  <a:pt x="19151" y="265104"/>
                </a:lnTo>
                <a:lnTo>
                  <a:pt x="256588" y="66026"/>
                </a:lnTo>
                <a:lnTo>
                  <a:pt x="238229" y="44129"/>
                </a:lnTo>
                <a:close/>
              </a:path>
              <a:path w="313689" h="265429">
                <a:moveTo>
                  <a:pt x="300133" y="29880"/>
                </a:moveTo>
                <a:lnTo>
                  <a:pt x="255224" y="29880"/>
                </a:lnTo>
                <a:lnTo>
                  <a:pt x="264236" y="30672"/>
                </a:lnTo>
                <a:lnTo>
                  <a:pt x="274374" y="42765"/>
                </a:lnTo>
                <a:lnTo>
                  <a:pt x="273583" y="51776"/>
                </a:lnTo>
                <a:lnTo>
                  <a:pt x="256588" y="66026"/>
                </a:lnTo>
                <a:lnTo>
                  <a:pt x="274947" y="87922"/>
                </a:lnTo>
                <a:lnTo>
                  <a:pt x="300133" y="29880"/>
                </a:lnTo>
                <a:close/>
              </a:path>
              <a:path w="313689" h="265429">
                <a:moveTo>
                  <a:pt x="255224" y="29880"/>
                </a:moveTo>
                <a:lnTo>
                  <a:pt x="238229" y="44129"/>
                </a:lnTo>
                <a:lnTo>
                  <a:pt x="256588" y="66026"/>
                </a:lnTo>
                <a:lnTo>
                  <a:pt x="273583" y="51776"/>
                </a:lnTo>
                <a:lnTo>
                  <a:pt x="274374" y="42765"/>
                </a:lnTo>
                <a:lnTo>
                  <a:pt x="264236" y="30672"/>
                </a:lnTo>
                <a:lnTo>
                  <a:pt x="255224" y="29880"/>
                </a:lnTo>
                <a:close/>
              </a:path>
              <a:path w="313689" h="265429">
                <a:moveTo>
                  <a:pt x="313099" y="0"/>
                </a:moveTo>
                <a:lnTo>
                  <a:pt x="219870" y="22232"/>
                </a:lnTo>
                <a:lnTo>
                  <a:pt x="238229" y="44129"/>
                </a:lnTo>
                <a:lnTo>
                  <a:pt x="255224" y="29880"/>
                </a:lnTo>
                <a:lnTo>
                  <a:pt x="300133" y="29880"/>
                </a:lnTo>
                <a:lnTo>
                  <a:pt x="3130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78330" y="6120697"/>
            <a:ext cx="471805" cy="380365"/>
          </a:xfrm>
          <a:custGeom>
            <a:avLst/>
            <a:gdLst/>
            <a:ahLst/>
            <a:cxnLst/>
            <a:rect l="l" t="t" r="r" b="b"/>
            <a:pathLst>
              <a:path w="471804" h="380364">
                <a:moveTo>
                  <a:pt x="395561" y="42344"/>
                </a:moveTo>
                <a:lnTo>
                  <a:pt x="1004" y="357556"/>
                </a:lnTo>
                <a:lnTo>
                  <a:pt x="0" y="366546"/>
                </a:lnTo>
                <a:lnTo>
                  <a:pt x="9850" y="378876"/>
                </a:lnTo>
                <a:lnTo>
                  <a:pt x="18840" y="379881"/>
                </a:lnTo>
                <a:lnTo>
                  <a:pt x="413397" y="64669"/>
                </a:lnTo>
                <a:lnTo>
                  <a:pt x="395561" y="42344"/>
                </a:lnTo>
                <a:close/>
              </a:path>
              <a:path w="471804" h="380364">
                <a:moveTo>
                  <a:pt x="458278" y="28501"/>
                </a:moveTo>
                <a:lnTo>
                  <a:pt x="412889" y="28501"/>
                </a:lnTo>
                <a:lnTo>
                  <a:pt x="421880" y="29506"/>
                </a:lnTo>
                <a:lnTo>
                  <a:pt x="431730" y="41836"/>
                </a:lnTo>
                <a:lnTo>
                  <a:pt x="430725" y="50826"/>
                </a:lnTo>
                <a:lnTo>
                  <a:pt x="413397" y="64669"/>
                </a:lnTo>
                <a:lnTo>
                  <a:pt x="431233" y="86995"/>
                </a:lnTo>
                <a:lnTo>
                  <a:pt x="458278" y="28501"/>
                </a:lnTo>
                <a:close/>
              </a:path>
              <a:path w="471804" h="380364">
                <a:moveTo>
                  <a:pt x="412889" y="28501"/>
                </a:moveTo>
                <a:lnTo>
                  <a:pt x="395561" y="42344"/>
                </a:lnTo>
                <a:lnTo>
                  <a:pt x="413397" y="64669"/>
                </a:lnTo>
                <a:lnTo>
                  <a:pt x="430725" y="50826"/>
                </a:lnTo>
                <a:lnTo>
                  <a:pt x="431730" y="41836"/>
                </a:lnTo>
                <a:lnTo>
                  <a:pt x="421880" y="29506"/>
                </a:lnTo>
                <a:lnTo>
                  <a:pt x="412889" y="28501"/>
                </a:lnTo>
                <a:close/>
              </a:path>
              <a:path w="471804" h="380364">
                <a:moveTo>
                  <a:pt x="471455" y="0"/>
                </a:moveTo>
                <a:lnTo>
                  <a:pt x="377725" y="20019"/>
                </a:lnTo>
                <a:lnTo>
                  <a:pt x="395561" y="42344"/>
                </a:lnTo>
                <a:lnTo>
                  <a:pt x="412889" y="28501"/>
                </a:lnTo>
                <a:lnTo>
                  <a:pt x="458278" y="28501"/>
                </a:lnTo>
                <a:lnTo>
                  <a:pt x="4714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257568" y="6375908"/>
            <a:ext cx="1371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672020"/>
                </a:solidFill>
                <a:latin typeface="Arial"/>
                <a:cs typeface="Arial"/>
              </a:rPr>
              <a:t>Groundtruth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934599" y="6077267"/>
            <a:ext cx="201295" cy="282575"/>
          </a:xfrm>
          <a:custGeom>
            <a:avLst/>
            <a:gdLst/>
            <a:ahLst/>
            <a:cxnLst/>
            <a:rect l="l" t="t" r="r" b="b"/>
            <a:pathLst>
              <a:path w="201295" h="282575">
                <a:moveTo>
                  <a:pt x="140445" y="62229"/>
                </a:moveTo>
                <a:lnTo>
                  <a:pt x="0" y="264236"/>
                </a:lnTo>
                <a:lnTo>
                  <a:pt x="1601" y="273140"/>
                </a:lnTo>
                <a:lnTo>
                  <a:pt x="14559" y="282149"/>
                </a:lnTo>
                <a:lnTo>
                  <a:pt x="23461" y="280548"/>
                </a:lnTo>
                <a:lnTo>
                  <a:pt x="163907" y="78541"/>
                </a:lnTo>
                <a:lnTo>
                  <a:pt x="140445" y="62229"/>
                </a:lnTo>
                <a:close/>
              </a:path>
              <a:path w="201295" h="282575">
                <a:moveTo>
                  <a:pt x="194966" y="42419"/>
                </a:moveTo>
                <a:lnTo>
                  <a:pt x="162008" y="42419"/>
                </a:lnTo>
                <a:lnTo>
                  <a:pt x="174966" y="51427"/>
                </a:lnTo>
                <a:lnTo>
                  <a:pt x="176568" y="60331"/>
                </a:lnTo>
                <a:lnTo>
                  <a:pt x="163907" y="78541"/>
                </a:lnTo>
                <a:lnTo>
                  <a:pt x="187369" y="94852"/>
                </a:lnTo>
                <a:lnTo>
                  <a:pt x="194966" y="42419"/>
                </a:lnTo>
                <a:close/>
              </a:path>
              <a:path w="201295" h="282575">
                <a:moveTo>
                  <a:pt x="162008" y="42419"/>
                </a:moveTo>
                <a:lnTo>
                  <a:pt x="153106" y="44019"/>
                </a:lnTo>
                <a:lnTo>
                  <a:pt x="140445" y="62229"/>
                </a:lnTo>
                <a:lnTo>
                  <a:pt x="163907" y="78541"/>
                </a:lnTo>
                <a:lnTo>
                  <a:pt x="176568" y="60331"/>
                </a:lnTo>
                <a:lnTo>
                  <a:pt x="174966" y="51427"/>
                </a:lnTo>
                <a:lnTo>
                  <a:pt x="162008" y="42419"/>
                </a:lnTo>
                <a:close/>
              </a:path>
              <a:path w="201295" h="282575">
                <a:moveTo>
                  <a:pt x="201112" y="0"/>
                </a:moveTo>
                <a:lnTo>
                  <a:pt x="116983" y="45917"/>
                </a:lnTo>
                <a:lnTo>
                  <a:pt x="140445" y="62229"/>
                </a:lnTo>
                <a:lnTo>
                  <a:pt x="153106" y="44019"/>
                </a:lnTo>
                <a:lnTo>
                  <a:pt x="162008" y="42419"/>
                </a:lnTo>
                <a:lnTo>
                  <a:pt x="194966" y="42419"/>
                </a:lnTo>
                <a:lnTo>
                  <a:pt x="2011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787675" y="5842184"/>
            <a:ext cx="853440" cy="325755"/>
          </a:xfrm>
          <a:custGeom>
            <a:avLst/>
            <a:gdLst/>
            <a:ahLst/>
            <a:cxnLst/>
            <a:rect l="l" t="t" r="r" b="b"/>
            <a:pathLst>
              <a:path w="853439" h="325754">
                <a:moveTo>
                  <a:pt x="829102" y="0"/>
                </a:moveTo>
                <a:lnTo>
                  <a:pt x="23999" y="0"/>
                </a:lnTo>
                <a:lnTo>
                  <a:pt x="14657" y="1886"/>
                </a:lnTo>
                <a:lnTo>
                  <a:pt x="7028" y="7029"/>
                </a:lnTo>
                <a:lnTo>
                  <a:pt x="1885" y="14658"/>
                </a:lnTo>
                <a:lnTo>
                  <a:pt x="0" y="24000"/>
                </a:lnTo>
                <a:lnTo>
                  <a:pt x="0" y="301586"/>
                </a:lnTo>
                <a:lnTo>
                  <a:pt x="1885" y="310927"/>
                </a:lnTo>
                <a:lnTo>
                  <a:pt x="7028" y="318556"/>
                </a:lnTo>
                <a:lnTo>
                  <a:pt x="14657" y="323699"/>
                </a:lnTo>
                <a:lnTo>
                  <a:pt x="23999" y="325585"/>
                </a:lnTo>
                <a:lnTo>
                  <a:pt x="829102" y="325585"/>
                </a:lnTo>
                <a:lnTo>
                  <a:pt x="838445" y="323699"/>
                </a:lnTo>
                <a:lnTo>
                  <a:pt x="846073" y="318556"/>
                </a:lnTo>
                <a:lnTo>
                  <a:pt x="851217" y="310927"/>
                </a:lnTo>
                <a:lnTo>
                  <a:pt x="853103" y="301586"/>
                </a:lnTo>
                <a:lnTo>
                  <a:pt x="853103" y="296786"/>
                </a:lnTo>
                <a:lnTo>
                  <a:pt x="28799" y="296786"/>
                </a:lnTo>
                <a:lnTo>
                  <a:pt x="28799" y="28800"/>
                </a:lnTo>
                <a:lnTo>
                  <a:pt x="853103" y="28800"/>
                </a:lnTo>
                <a:lnTo>
                  <a:pt x="853103" y="24000"/>
                </a:lnTo>
                <a:lnTo>
                  <a:pt x="851217" y="14658"/>
                </a:lnTo>
                <a:lnTo>
                  <a:pt x="846073" y="7029"/>
                </a:lnTo>
                <a:lnTo>
                  <a:pt x="838445" y="1886"/>
                </a:lnTo>
                <a:lnTo>
                  <a:pt x="829102" y="0"/>
                </a:lnTo>
                <a:close/>
              </a:path>
              <a:path w="853439" h="325754">
                <a:moveTo>
                  <a:pt x="853103" y="28800"/>
                </a:moveTo>
                <a:lnTo>
                  <a:pt x="824303" y="28800"/>
                </a:lnTo>
                <a:lnTo>
                  <a:pt x="824303" y="296786"/>
                </a:lnTo>
                <a:lnTo>
                  <a:pt x="853103" y="296786"/>
                </a:lnTo>
                <a:lnTo>
                  <a:pt x="853103" y="28800"/>
                </a:lnTo>
                <a:close/>
              </a:path>
              <a:path w="853439" h="325754">
                <a:moveTo>
                  <a:pt x="814703" y="38399"/>
                </a:moveTo>
                <a:lnTo>
                  <a:pt x="38399" y="38399"/>
                </a:lnTo>
                <a:lnTo>
                  <a:pt x="38399" y="287185"/>
                </a:lnTo>
                <a:lnTo>
                  <a:pt x="814703" y="287185"/>
                </a:lnTo>
                <a:lnTo>
                  <a:pt x="814703" y="277586"/>
                </a:lnTo>
                <a:lnTo>
                  <a:pt x="47999" y="277586"/>
                </a:lnTo>
                <a:lnTo>
                  <a:pt x="47999" y="48000"/>
                </a:lnTo>
                <a:lnTo>
                  <a:pt x="814703" y="48000"/>
                </a:lnTo>
                <a:lnTo>
                  <a:pt x="814703" y="38399"/>
                </a:lnTo>
                <a:close/>
              </a:path>
              <a:path w="853439" h="325754">
                <a:moveTo>
                  <a:pt x="814703" y="48000"/>
                </a:moveTo>
                <a:lnTo>
                  <a:pt x="805103" y="48000"/>
                </a:lnTo>
                <a:lnTo>
                  <a:pt x="805103" y="277586"/>
                </a:lnTo>
                <a:lnTo>
                  <a:pt x="814703" y="277586"/>
                </a:lnTo>
                <a:lnTo>
                  <a:pt x="814703" y="4800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797585" y="5829138"/>
            <a:ext cx="863600" cy="325755"/>
          </a:xfrm>
          <a:custGeom>
            <a:avLst/>
            <a:gdLst/>
            <a:ahLst/>
            <a:cxnLst/>
            <a:rect l="l" t="t" r="r" b="b"/>
            <a:pathLst>
              <a:path w="863600" h="325754">
                <a:moveTo>
                  <a:pt x="839186" y="0"/>
                </a:moveTo>
                <a:lnTo>
                  <a:pt x="24000" y="0"/>
                </a:lnTo>
                <a:lnTo>
                  <a:pt x="14658" y="1886"/>
                </a:lnTo>
                <a:lnTo>
                  <a:pt x="7029" y="7029"/>
                </a:lnTo>
                <a:lnTo>
                  <a:pt x="1886" y="14658"/>
                </a:lnTo>
                <a:lnTo>
                  <a:pt x="0" y="23999"/>
                </a:lnTo>
                <a:lnTo>
                  <a:pt x="0" y="301585"/>
                </a:lnTo>
                <a:lnTo>
                  <a:pt x="1886" y="310927"/>
                </a:lnTo>
                <a:lnTo>
                  <a:pt x="7029" y="318556"/>
                </a:lnTo>
                <a:lnTo>
                  <a:pt x="14658" y="323699"/>
                </a:lnTo>
                <a:lnTo>
                  <a:pt x="24000" y="325585"/>
                </a:lnTo>
                <a:lnTo>
                  <a:pt x="839186" y="325585"/>
                </a:lnTo>
                <a:lnTo>
                  <a:pt x="848528" y="323699"/>
                </a:lnTo>
                <a:lnTo>
                  <a:pt x="856157" y="318556"/>
                </a:lnTo>
                <a:lnTo>
                  <a:pt x="861301" y="310927"/>
                </a:lnTo>
                <a:lnTo>
                  <a:pt x="863187" y="301585"/>
                </a:lnTo>
                <a:lnTo>
                  <a:pt x="863187" y="296785"/>
                </a:lnTo>
                <a:lnTo>
                  <a:pt x="28799" y="296785"/>
                </a:lnTo>
                <a:lnTo>
                  <a:pt x="28799" y="28799"/>
                </a:lnTo>
                <a:lnTo>
                  <a:pt x="863187" y="28799"/>
                </a:lnTo>
                <a:lnTo>
                  <a:pt x="863187" y="23999"/>
                </a:lnTo>
                <a:lnTo>
                  <a:pt x="861301" y="14658"/>
                </a:lnTo>
                <a:lnTo>
                  <a:pt x="856157" y="7029"/>
                </a:lnTo>
                <a:lnTo>
                  <a:pt x="848528" y="1886"/>
                </a:lnTo>
                <a:lnTo>
                  <a:pt x="839186" y="0"/>
                </a:lnTo>
                <a:close/>
              </a:path>
              <a:path w="863600" h="325754">
                <a:moveTo>
                  <a:pt x="863187" y="28799"/>
                </a:moveTo>
                <a:lnTo>
                  <a:pt x="834387" y="28799"/>
                </a:lnTo>
                <a:lnTo>
                  <a:pt x="834387" y="296785"/>
                </a:lnTo>
                <a:lnTo>
                  <a:pt x="863187" y="296785"/>
                </a:lnTo>
                <a:lnTo>
                  <a:pt x="863187" y="28799"/>
                </a:lnTo>
                <a:close/>
              </a:path>
              <a:path w="863600" h="325754">
                <a:moveTo>
                  <a:pt x="824787" y="38399"/>
                </a:moveTo>
                <a:lnTo>
                  <a:pt x="38399" y="38399"/>
                </a:lnTo>
                <a:lnTo>
                  <a:pt x="38399" y="287185"/>
                </a:lnTo>
                <a:lnTo>
                  <a:pt x="824787" y="287185"/>
                </a:lnTo>
                <a:lnTo>
                  <a:pt x="824787" y="277585"/>
                </a:lnTo>
                <a:lnTo>
                  <a:pt x="47999" y="277585"/>
                </a:lnTo>
                <a:lnTo>
                  <a:pt x="47999" y="47999"/>
                </a:lnTo>
                <a:lnTo>
                  <a:pt x="824787" y="47999"/>
                </a:lnTo>
                <a:lnTo>
                  <a:pt x="824787" y="38399"/>
                </a:lnTo>
                <a:close/>
              </a:path>
              <a:path w="863600" h="325754">
                <a:moveTo>
                  <a:pt x="824787" y="47999"/>
                </a:moveTo>
                <a:lnTo>
                  <a:pt x="815186" y="47999"/>
                </a:lnTo>
                <a:lnTo>
                  <a:pt x="815186" y="277585"/>
                </a:lnTo>
                <a:lnTo>
                  <a:pt x="824787" y="277585"/>
                </a:lnTo>
                <a:lnTo>
                  <a:pt x="824787" y="47999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63</a:t>
            </a:fld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6483096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76209" cy="1973580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71501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Question</a:t>
            </a:r>
            <a:r>
              <a:rPr dirty="0" spc="-10"/>
              <a:t>: </a:t>
            </a:r>
            <a:r>
              <a:rPr dirty="0" spc="-5"/>
              <a:t>how </a:t>
            </a:r>
            <a:r>
              <a:rPr dirty="0"/>
              <a:t>do the </a:t>
            </a:r>
            <a:r>
              <a:rPr dirty="0" spc="-10"/>
              <a:t>frequencies </a:t>
            </a:r>
            <a:r>
              <a:rPr dirty="0"/>
              <a:t>of the  </a:t>
            </a:r>
            <a:r>
              <a:rPr dirty="0" spc="-5"/>
              <a:t>identified </a:t>
            </a:r>
            <a:r>
              <a:rPr dirty="0"/>
              <a:t>motif</a:t>
            </a:r>
            <a:r>
              <a:rPr dirty="0" spc="-35"/>
              <a:t> </a:t>
            </a:r>
            <a:r>
              <a:rPr dirty="0" spc="-15"/>
              <a:t>compare?</a:t>
            </a:r>
          </a:p>
          <a:p>
            <a:pPr marL="332740" marR="508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008000"/>
                </a:solidFill>
                <a:latin typeface="Calibri"/>
                <a:cs typeface="Calibri"/>
              </a:rPr>
              <a:t>Result</a:t>
            </a:r>
            <a:r>
              <a:rPr dirty="0" spc="-10"/>
              <a:t>: </a:t>
            </a:r>
            <a:r>
              <a:rPr dirty="0" spc="-5"/>
              <a:t>SPMiner identifies </a:t>
            </a:r>
            <a:r>
              <a:rPr dirty="0" spc="-10"/>
              <a:t>motifs that </a:t>
            </a:r>
            <a:r>
              <a:rPr dirty="0" spc="-5"/>
              <a:t>appear </a:t>
            </a:r>
            <a:r>
              <a:rPr dirty="0" spc="-5">
                <a:solidFill>
                  <a:srgbClr val="C00000"/>
                </a:solidFill>
              </a:rPr>
              <a:t> 10-100x </a:t>
            </a:r>
            <a:r>
              <a:rPr dirty="0" spc="-15"/>
              <a:t>more </a:t>
            </a:r>
            <a:r>
              <a:rPr dirty="0" spc="-10"/>
              <a:t>frequently </a:t>
            </a:r>
            <a:r>
              <a:rPr dirty="0"/>
              <a:t>than the</a:t>
            </a:r>
            <a:r>
              <a:rPr dirty="0" spc="-10"/>
              <a:t> </a:t>
            </a:r>
            <a:r>
              <a:rPr dirty="0" spc="-5"/>
              <a:t>baselines</a:t>
            </a:r>
          </a:p>
        </p:txBody>
      </p:sp>
      <p:sp>
        <p:nvSpPr>
          <p:cNvPr id="4" name="object 4"/>
          <p:cNvSpPr/>
          <p:nvPr/>
        </p:nvSpPr>
        <p:spPr>
          <a:xfrm>
            <a:off x="1394305" y="3636506"/>
            <a:ext cx="2902423" cy="21941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151295" y="3636506"/>
            <a:ext cx="2902423" cy="21941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791823" y="3448811"/>
            <a:ext cx="44615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76015" algn="l"/>
              </a:tabLst>
            </a:pPr>
            <a:r>
              <a:rPr dirty="0" sz="1400" spc="-35" b="1">
                <a:latin typeface="Corbel"/>
                <a:cs typeface="Corbel"/>
              </a:rPr>
              <a:t>C</a:t>
            </a:r>
            <a:r>
              <a:rPr dirty="0" sz="1400" spc="-75" b="1">
                <a:latin typeface="Corbel"/>
                <a:cs typeface="Corbel"/>
              </a:rPr>
              <a:t>O</a:t>
            </a:r>
            <a:r>
              <a:rPr dirty="0" sz="1400" spc="-30" b="1">
                <a:latin typeface="Corbel"/>
                <a:cs typeface="Corbel"/>
              </a:rPr>
              <a:t>X</a:t>
            </a:r>
            <a:r>
              <a:rPr dirty="0" sz="1400" b="1">
                <a:latin typeface="Corbel"/>
                <a:cs typeface="Corbel"/>
              </a:rPr>
              <a:t>2	</a:t>
            </a:r>
            <a:r>
              <a:rPr dirty="0" sz="1400" spc="-35" b="1">
                <a:latin typeface="Corbel"/>
                <a:cs typeface="Corbel"/>
              </a:rPr>
              <a:t>EN</a:t>
            </a:r>
            <a:r>
              <a:rPr dirty="0" sz="1400" spc="-30" b="1">
                <a:latin typeface="Corbel"/>
                <a:cs typeface="Corbel"/>
              </a:rPr>
              <a:t>Z</a:t>
            </a:r>
            <a:r>
              <a:rPr dirty="0" sz="1400" spc="-25" b="1">
                <a:latin typeface="Corbel"/>
                <a:cs typeface="Corbel"/>
              </a:rPr>
              <a:t>Y</a:t>
            </a:r>
            <a:r>
              <a:rPr dirty="0" sz="1400" spc="-45" b="1">
                <a:latin typeface="Corbel"/>
                <a:cs typeface="Corbel"/>
              </a:rPr>
              <a:t>M</a:t>
            </a:r>
            <a:r>
              <a:rPr dirty="0" sz="1400" spc="-35" b="1">
                <a:latin typeface="Corbel"/>
                <a:cs typeface="Corbel"/>
              </a:rPr>
              <a:t>ES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63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2183772" y="5906515"/>
            <a:ext cx="17532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Molecule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dataset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73314" y="5906515"/>
            <a:ext cx="1562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Protein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dataset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14747" y="5555996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𝑘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80799" y="5555996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𝑘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71856"/>
            <a:ext cx="2383536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11655"/>
            <a:ext cx="7940675" cy="488124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332740" marR="264160" indent="-320040">
              <a:lnSpc>
                <a:spcPct val="89300"/>
              </a:lnSpc>
              <a:spcBef>
                <a:spcPts val="445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10" b="1">
                <a:solidFill>
                  <a:srgbClr val="C00000"/>
                </a:solidFill>
                <a:latin typeface="Calibri"/>
                <a:cs typeface="Calibri"/>
              </a:rPr>
              <a:t>Subgraphs </a:t>
            </a:r>
            <a:r>
              <a:rPr dirty="0" sz="2700" spc="-10">
                <a:latin typeface="Calibri"/>
                <a:cs typeface="Calibri"/>
              </a:rPr>
              <a:t>and </a:t>
            </a:r>
            <a:r>
              <a:rPr dirty="0" sz="2700" spc="-10" b="1">
                <a:solidFill>
                  <a:srgbClr val="C00000"/>
                </a:solidFill>
                <a:latin typeface="Calibri"/>
                <a:cs typeface="Calibri"/>
              </a:rPr>
              <a:t>motifs </a:t>
            </a:r>
            <a:r>
              <a:rPr dirty="0" sz="2700" spc="-20">
                <a:latin typeface="Calibri"/>
                <a:cs typeface="Calibri"/>
              </a:rPr>
              <a:t>are </a:t>
            </a:r>
            <a:r>
              <a:rPr dirty="0" sz="2700" spc="-15">
                <a:latin typeface="Calibri"/>
                <a:cs typeface="Calibri"/>
              </a:rPr>
              <a:t>important concepts that  provide </a:t>
            </a:r>
            <a:r>
              <a:rPr dirty="0" sz="2700" spc="-10">
                <a:latin typeface="Calibri"/>
                <a:cs typeface="Calibri"/>
              </a:rPr>
              <a:t>insights </a:t>
            </a:r>
            <a:r>
              <a:rPr dirty="0" sz="2700" spc="-20">
                <a:latin typeface="Calibri"/>
                <a:cs typeface="Calibri"/>
              </a:rPr>
              <a:t>into </a:t>
            </a:r>
            <a:r>
              <a:rPr dirty="0" sz="2700" spc="-10">
                <a:latin typeface="Calibri"/>
                <a:cs typeface="Calibri"/>
              </a:rPr>
              <a:t>the </a:t>
            </a:r>
            <a:r>
              <a:rPr dirty="0" sz="2700" spc="-20">
                <a:latin typeface="Calibri"/>
                <a:cs typeface="Calibri"/>
              </a:rPr>
              <a:t>structure </a:t>
            </a:r>
            <a:r>
              <a:rPr dirty="0" sz="2700">
                <a:latin typeface="Calibri"/>
                <a:cs typeface="Calibri"/>
              </a:rPr>
              <a:t>of </a:t>
            </a:r>
            <a:r>
              <a:rPr dirty="0" sz="2700" spc="-15">
                <a:latin typeface="Calibri"/>
                <a:cs typeface="Calibri"/>
              </a:rPr>
              <a:t>graphs. </a:t>
            </a:r>
            <a:r>
              <a:rPr dirty="0" sz="2700" spc="-5">
                <a:latin typeface="Calibri"/>
                <a:cs typeface="Calibri"/>
              </a:rPr>
              <a:t>Their  </a:t>
            </a:r>
            <a:r>
              <a:rPr dirty="0" sz="2700" spc="-15">
                <a:latin typeface="Calibri"/>
                <a:cs typeface="Calibri"/>
              </a:rPr>
              <a:t>counts can </a:t>
            </a:r>
            <a:r>
              <a:rPr dirty="0" sz="2700" spc="-5">
                <a:latin typeface="Calibri"/>
                <a:cs typeface="Calibri"/>
              </a:rPr>
              <a:t>be </a:t>
            </a:r>
            <a:r>
              <a:rPr dirty="0" sz="2700" spc="-10">
                <a:latin typeface="Calibri"/>
                <a:cs typeface="Calibri"/>
              </a:rPr>
              <a:t>used </a:t>
            </a:r>
            <a:r>
              <a:rPr dirty="0" sz="2700" spc="-5">
                <a:latin typeface="Calibri"/>
                <a:cs typeface="Calibri"/>
              </a:rPr>
              <a:t>as </a:t>
            </a:r>
            <a:r>
              <a:rPr dirty="0" sz="2700" spc="-25">
                <a:latin typeface="Calibri"/>
                <a:cs typeface="Calibri"/>
              </a:rPr>
              <a:t>features </a:t>
            </a:r>
            <a:r>
              <a:rPr dirty="0" sz="2700" spc="-20">
                <a:latin typeface="Calibri"/>
                <a:cs typeface="Calibri"/>
              </a:rPr>
              <a:t>for </a:t>
            </a:r>
            <a:r>
              <a:rPr dirty="0" sz="2700" spc="-10">
                <a:latin typeface="Calibri"/>
                <a:cs typeface="Calibri"/>
              </a:rPr>
              <a:t>nodes and</a:t>
            </a:r>
            <a:r>
              <a:rPr dirty="0" sz="2700" spc="40">
                <a:latin typeface="Calibri"/>
                <a:cs typeface="Calibri"/>
              </a:rPr>
              <a:t> </a:t>
            </a:r>
            <a:r>
              <a:rPr dirty="0" sz="2700" spc="-15">
                <a:latin typeface="Calibri"/>
                <a:cs typeface="Calibri"/>
              </a:rPr>
              <a:t>graphs.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0AD00"/>
              </a:buClr>
              <a:buFont typeface="Arial"/>
              <a:buChar char="▪"/>
            </a:pPr>
            <a:endParaRPr sz="2600">
              <a:latin typeface="Times New Roman"/>
              <a:cs typeface="Times New Roman"/>
            </a:endParaRPr>
          </a:p>
          <a:p>
            <a:pPr marL="332740" marR="5080" indent="-320040">
              <a:lnSpc>
                <a:spcPts val="2900"/>
              </a:lnSpc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55">
                <a:latin typeface="Calibri"/>
                <a:cs typeface="Calibri"/>
              </a:rPr>
              <a:t>We </a:t>
            </a:r>
            <a:r>
              <a:rPr dirty="0" sz="2700" spc="-20">
                <a:latin typeface="Calibri"/>
                <a:cs typeface="Calibri"/>
              </a:rPr>
              <a:t>covered </a:t>
            </a:r>
            <a:r>
              <a:rPr dirty="0" sz="2700" spc="-10" b="1">
                <a:solidFill>
                  <a:srgbClr val="008000"/>
                </a:solidFill>
                <a:latin typeface="Calibri"/>
                <a:cs typeface="Calibri"/>
              </a:rPr>
              <a:t>neural </a:t>
            </a:r>
            <a:r>
              <a:rPr dirty="0" sz="2700" spc="-5" b="1">
                <a:solidFill>
                  <a:srgbClr val="008000"/>
                </a:solidFill>
                <a:latin typeface="Calibri"/>
                <a:cs typeface="Calibri"/>
              </a:rPr>
              <a:t>approaches </a:t>
            </a:r>
            <a:r>
              <a:rPr dirty="0" sz="2700" spc="-20">
                <a:latin typeface="Calibri"/>
                <a:cs typeface="Calibri"/>
              </a:rPr>
              <a:t>to </a:t>
            </a:r>
            <a:r>
              <a:rPr dirty="0" sz="2700" spc="-10">
                <a:latin typeface="Calibri"/>
                <a:cs typeface="Calibri"/>
              </a:rPr>
              <a:t>prediction </a:t>
            </a:r>
            <a:r>
              <a:rPr dirty="0" sz="2700" spc="-15">
                <a:latin typeface="Calibri"/>
                <a:cs typeface="Calibri"/>
              </a:rPr>
              <a:t>subgraph  </a:t>
            </a:r>
            <a:r>
              <a:rPr dirty="0" sz="2700" spc="-5">
                <a:latin typeface="Calibri"/>
                <a:cs typeface="Calibri"/>
              </a:rPr>
              <a:t>isomorphism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relationship.</a:t>
            </a:r>
            <a:endParaRPr sz="2700">
              <a:latin typeface="Calibri"/>
              <a:cs typeface="Calibri"/>
            </a:endParaRPr>
          </a:p>
          <a:p>
            <a:pPr marL="332740" marR="187960" indent="-320040">
              <a:lnSpc>
                <a:spcPts val="2880"/>
              </a:lnSpc>
              <a:spcBef>
                <a:spcPts val="2920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10" b="1">
                <a:solidFill>
                  <a:srgbClr val="0070C0"/>
                </a:solidFill>
                <a:latin typeface="Calibri"/>
                <a:cs typeface="Calibri"/>
              </a:rPr>
              <a:t>Order </a:t>
            </a:r>
            <a:r>
              <a:rPr dirty="0" sz="2700" spc="-5" b="1">
                <a:solidFill>
                  <a:srgbClr val="0070C0"/>
                </a:solidFill>
                <a:latin typeface="Calibri"/>
                <a:cs typeface="Calibri"/>
              </a:rPr>
              <a:t>embeddings </a:t>
            </a:r>
            <a:r>
              <a:rPr dirty="0" sz="2700" spc="-25">
                <a:latin typeface="Calibri"/>
                <a:cs typeface="Calibri"/>
              </a:rPr>
              <a:t>have </a:t>
            </a:r>
            <a:r>
              <a:rPr dirty="0" sz="2700" spc="-15">
                <a:latin typeface="Calibri"/>
                <a:cs typeface="Calibri"/>
              </a:rPr>
              <a:t>desirable </a:t>
            </a:r>
            <a:r>
              <a:rPr dirty="0" sz="2700" spc="-10">
                <a:latin typeface="Calibri"/>
                <a:cs typeface="Calibri"/>
              </a:rPr>
              <a:t>properties and </a:t>
            </a:r>
            <a:r>
              <a:rPr dirty="0" sz="2700" spc="-20">
                <a:latin typeface="Calibri"/>
                <a:cs typeface="Calibri"/>
              </a:rPr>
              <a:t>can  </a:t>
            </a:r>
            <a:r>
              <a:rPr dirty="0" sz="2700" spc="-5">
                <a:latin typeface="Calibri"/>
                <a:cs typeface="Calibri"/>
              </a:rPr>
              <a:t>be </a:t>
            </a:r>
            <a:r>
              <a:rPr dirty="0" sz="2700" spc="-10">
                <a:latin typeface="Calibri"/>
                <a:cs typeface="Calibri"/>
              </a:rPr>
              <a:t>used </a:t>
            </a:r>
            <a:r>
              <a:rPr dirty="0" sz="2700" spc="-20">
                <a:latin typeface="Calibri"/>
                <a:cs typeface="Calibri"/>
              </a:rPr>
              <a:t>to </a:t>
            </a:r>
            <a:r>
              <a:rPr dirty="0" sz="2700" spc="-10">
                <a:latin typeface="Calibri"/>
                <a:cs typeface="Calibri"/>
              </a:rPr>
              <a:t>encode </a:t>
            </a:r>
            <a:r>
              <a:rPr dirty="0" sz="2700" spc="-15">
                <a:latin typeface="Calibri"/>
                <a:cs typeface="Calibri"/>
              </a:rPr>
              <a:t>subgraph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 spc="-15">
                <a:latin typeface="Calibri"/>
                <a:cs typeface="Calibri"/>
              </a:rPr>
              <a:t>relations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0AD00"/>
              </a:buClr>
              <a:buFont typeface="Arial"/>
              <a:buChar char="▪"/>
            </a:pPr>
            <a:endParaRPr sz="2600">
              <a:latin typeface="Times New Roman"/>
              <a:cs typeface="Times New Roman"/>
            </a:endParaRPr>
          </a:p>
          <a:p>
            <a:pPr marL="332740" marR="55880" indent="-320040">
              <a:lnSpc>
                <a:spcPts val="2900"/>
              </a:lnSpc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10" b="1">
                <a:solidFill>
                  <a:srgbClr val="0070C0"/>
                </a:solidFill>
                <a:latin typeface="Calibri"/>
                <a:cs typeface="Calibri"/>
              </a:rPr>
              <a:t>Neural </a:t>
            </a:r>
            <a:r>
              <a:rPr dirty="0" sz="2700" spc="-5" b="1">
                <a:solidFill>
                  <a:srgbClr val="0070C0"/>
                </a:solidFill>
                <a:latin typeface="Calibri"/>
                <a:cs typeface="Calibri"/>
              </a:rPr>
              <a:t>embedding-guided </a:t>
            </a:r>
            <a:r>
              <a:rPr dirty="0" sz="2700" spc="-10" b="1">
                <a:solidFill>
                  <a:srgbClr val="0070C0"/>
                </a:solidFill>
                <a:latin typeface="Calibri"/>
                <a:cs typeface="Calibri"/>
              </a:rPr>
              <a:t>search </a:t>
            </a:r>
            <a:r>
              <a:rPr dirty="0" sz="2700">
                <a:latin typeface="Calibri"/>
                <a:cs typeface="Calibri"/>
              </a:rPr>
              <a:t>in </a:t>
            </a:r>
            <a:r>
              <a:rPr dirty="0" sz="2700" spc="-15">
                <a:latin typeface="Calibri"/>
                <a:cs typeface="Calibri"/>
              </a:rPr>
              <a:t>order </a:t>
            </a:r>
            <a:r>
              <a:rPr dirty="0" sz="2700" spc="-10">
                <a:latin typeface="Calibri"/>
                <a:cs typeface="Calibri"/>
              </a:rPr>
              <a:t>embedding  space </a:t>
            </a:r>
            <a:r>
              <a:rPr dirty="0" sz="2700" spc="-15">
                <a:latin typeface="Calibri"/>
                <a:cs typeface="Calibri"/>
              </a:rPr>
              <a:t>can </a:t>
            </a:r>
            <a:r>
              <a:rPr dirty="0" sz="2700" spc="-10">
                <a:latin typeface="Calibri"/>
                <a:cs typeface="Calibri"/>
              </a:rPr>
              <a:t>enable </a:t>
            </a:r>
            <a:r>
              <a:rPr dirty="0" sz="2700">
                <a:latin typeface="Calibri"/>
                <a:cs typeface="Calibri"/>
              </a:rPr>
              <a:t>ML </a:t>
            </a:r>
            <a:r>
              <a:rPr dirty="0" sz="2700" spc="-5">
                <a:latin typeface="Calibri"/>
                <a:cs typeface="Calibri"/>
              </a:rPr>
              <a:t>model </a:t>
            </a:r>
            <a:r>
              <a:rPr dirty="0" sz="2700" spc="-15">
                <a:latin typeface="Calibri"/>
                <a:cs typeface="Calibri"/>
              </a:rPr>
              <a:t>to </a:t>
            </a:r>
            <a:r>
              <a:rPr dirty="0" sz="2700" spc="-10">
                <a:latin typeface="Calibri"/>
                <a:cs typeface="Calibri"/>
              </a:rPr>
              <a:t>identify motifs much  more </a:t>
            </a:r>
            <a:r>
              <a:rPr dirty="0" sz="2700" spc="-15">
                <a:latin typeface="Calibri"/>
                <a:cs typeface="Calibri"/>
              </a:rPr>
              <a:t>frequent </a:t>
            </a:r>
            <a:r>
              <a:rPr dirty="0" sz="2700" spc="-10">
                <a:latin typeface="Calibri"/>
                <a:cs typeface="Calibri"/>
              </a:rPr>
              <a:t>than </a:t>
            </a:r>
            <a:r>
              <a:rPr dirty="0" sz="2700" spc="-15">
                <a:latin typeface="Calibri"/>
                <a:cs typeface="Calibri"/>
              </a:rPr>
              <a:t>existing </a:t>
            </a:r>
            <a:r>
              <a:rPr dirty="0" sz="2700" spc="-10">
                <a:latin typeface="Calibri"/>
                <a:cs typeface="Calibri"/>
              </a:rPr>
              <a:t>methods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2/18/21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2026-10-20T23:55:20Z</dcterms:created>
  <dcterms:modified xsi:type="dcterms:W3CDTF">2026-10-20T23:55:20Z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2021-02-18T00:00:00Z</vt:filetime>
  </property>
  <property fmtid="{D5CDD505-2E9C-101B-9397-08002B2CF9AE}" pid="3" name="LastSaved">
    <vt:filetime>2026-10-20T00:00:00Z</vt:filetime>
  </property>
</Properties>
</file>